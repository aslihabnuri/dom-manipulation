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hari ini kita bahas Chapter 4, yaitu cara menilai kekuatan sebuah perusahaan DARI DALAM. Chapter 3 kemarin menilai dari luar (industri dan pesaing); Chapter 4 menilai isi perusahaannya sendiri.
Lalu kita pakai kerangka itu untuk membedah satu kasus nyata: Manchester United pada Juli 2009, saat klub itu harus menyiapkan pengganti Sir Alex Ferguson.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pembagiannya: separuh pertama teori, separuh kedua praktik. Tekankan bahwa urutannya sengaja sama, supaya audiens bisa melihat framework mana dipakai untuk menjawab apa.
Kalau waktu mepet, bagian A bisa dipercepat di slide 5, 14 dan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jalan seluruh bagian A. Bacakan keenam pertanyaannya sekali, pelan, supaya audiens punya kerangka.
Poin yang perlu ditekankan: urutannya bukan acak. Q1 mengukur HASIL. Q2 sampai Q4 mencari SEBABNYA di dalam perusahaan. Q5 membandingkan dengan pesaing. Q6 memutuskan apa yang harus dikerjakan lebih dulu.
Catatan: banyak edisi lama buku ini hanya punya lima pertanyaan, dengan SWOT ditempel di dalam analisis resource. Edisi 2024 memisahkannya menjadi Q2 tersendiri.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dengan: sebelum menilai strategi, kita harus tahu dulu strateginya apa. Buku menampilkan Figure 4.1 yang memetakan komponen strategi sebuah perusahaan bisnis tunggal: langkah bersaing, strategi fungsional (R&amp;D, produksi, pemasaran, keuangan, SDM, IT), aliansi, cakupan geografis.
Setelah itu baru diukur. Buku menyebut DUA indikator terbaik:
(1) apakah perusahaan mencatat kenaikan kekuatan keuangan dan profitabilitas;
(2) apakah kekuatan bersaing dan posisi pasarnya membaik.
Enam indikator spesifik di slide ini diambil persis dari daftar buku. Perhatikan dua yang sering dilupakan: tingkat retensi pelanggan dan kecepatan akuisisi pelanggan baru. Keduanya sinyal awal, muncul sebelum angka laba berubah.
Kalimat kunci buku: kinerja keuangan yang lesu dan pencapaian pasar yang biasa-biasa saja hampir selalu menandakan strategi lemah, eksekusi lemah, atau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bacakan semua rasio satu per satu; audiens akan bosan. Cukup jelaskan logika keempat kelompoknya:
PROFITABILITAS menjawab: apakah bisnisnya menghasilkan uang?
LIKUIDITAS menjawab: apakah bisa bayar tagihan bulan depan?
LEVERAGE menjawab: seberapa banyak yang dibiayai utang, dan seberapa berisiko itu?
AKTIVITAS menjawab: apakah aset dipakai efisien?
Beberapa patokan dari buku yang enak dikutip:
- ROE 12–15% itu rata-rata.
- Long-term debt-to-capital di bawah 0,25 bagus; di atas 0,50 berarti terlalu bergantung pada utang jangka panjang.
- Times-interest-earned minimal 2,0; di atas 3,0 baru dianggap sehat.
- P/E di atas 20 berarti investor percaya prospeknya; di bawah 12 berarti laba masa depan dianggap berisiko.
Tekankan free cash flow: laba setelah pajak + depresiasi − belanja modal − dividen. Itu uang yang benar-benar bebas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dari slide sebelumnya: angka keuangan memberi tahu APAKAH strategi bekerja, tapi tidak memberi tahu KENAPA. Di situlah SWOT masuk.
Definisi buku: SWOT adalah singkatan dari kekuatan dan kelemahan internal, peluang pasar, dan ancaman eksternal. Nama lainnya Situational Analysis.
Empat pertanyaan pemandu yang dikutip di kolom kanan itu langsung dari buku, dan itulah yang membedakan SWOT yang bagus dari sekadar daftar:
- Apakah kekuatan perusahaan cukup besar untuk menutup kelemahannya?
- Apakah strateginya sudah dibangun di atas kekuatan itu dan melindungi dari kelemahannya?
- Apakah kekuatannya melampaui kekuatan pesaing, atau justru kalah?
- Apakah strateginya efektif menangkal ancaman dan menangkap peluang?
Istilah 'neraca strategis' juga dari buku: kekuatan itu aset bersaing, kelemahan itu kewajiban bersaing. Kondisi ideal adalah asetnya jauh lebih berat dari kewajibannya.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konsep yang paling sering keliru dipakai mahasiswa, jadi pelan-pelan.
COMPETENCE: perusahaan sudah belajar mengerjakan suatu aktivitas dengan cakap. Buku menyebut ini 'a true capability'. Contoh: hampir semua produsen sereal punya kemampuan pemasaran yang memadai.
DISTINCTIVE COMPETENCE: kemampuan yang membuat perusahaan mengerjakan aktivitas itu lebih baik dari para pesaingnya. Kuncinya kata 'lebih baik dari rival'.
CORE COMPETENCE: aktivitas yang dikerjakan dengan cakap DAN berada di pusat strategi perusahaan, serta memberi kontribusi besar pada keberhasilan pasar dan profitabilitasnya. Biasanya juga distinctive.
Kenapa ini penting: core competence sering bisa dipakai membuka pasar baru atau permintaan produk baru — jadi mesin pertumbuhan. Contoh P&amp;G: kemampuan mengelola merek melahirkan portofolio produk pemimpin pasar yang terus bertambah.
Kalau ditanya bedanya dengan capability di Q3 nanti: capability itu istilah umum (buku bilang capability dan competence itu sama). Distinctive dan core adalah dua tingkat di atasnya.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slide ini: SWOT yang berhenti di empat daftar tidak menghasilkan keputusan apa pun. Kalimat buku: 'Simply listing a company's strengths, weaknesses, opportunities, and threats is not enough; the payoff comes from the conclusions and the implications for strategy improvement that flow from the four lists.'
Enam tindakan di bawah itu persis isi kotak kanan Figure 4.2. Sebutkan dua-tiga saja saat presentasi, sisanya biar audiens baca.
Tutup dengan pengakuan bukunya sendiri: keindahan SWOT adalah kesederhanaannya, tapi itu juga keterbatasan utamanya. Untuk analisis yang lebih dalam kita butuh alat berikutnya — dan itulah isi Q3 sampai Q5. Kalimat ini jembatan yang bagus ke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persis dari buku:
RESOURCE adalah aset bersaing yang dimiliki atau dikendalikan perusahaan.
CAPABILITY adalah kapasitas perusahaan mengerjakan suatu aktivitas internal dengan cakap. Buku menyebut capability bisa juga disebut competence.
Hubungannya: capability dibangun dan dijalankan lewat pengerahan resource. Contoh buku — kemampuan Nestlé mengelola lebih dari 2.000 merek bersandar pada pengetahuan manajer mereknya, keahlian departemen pemasarannya, dan relasinya dengan peritel di hampir 200 negara.
Soal Tabel 4.3: human assets sengaja ditaruh di kolom INTANGIBLE, meski orangnya nyata, karena yang bernilai adalah keahlian dan pengetahuannya. Teknologi sebaliknya ditaruh di TANGIBLE menurut konvensi, walaupun beberapa jenis seperti rahasia dagang sebetulnya lebih cocok intangible.
Pesan buku yang penting: yang penting bukan bagaimana sebuah resource dikategorikan, tapi bahwa tidak ada resource yang terlewat saat diinventarisasi. Kategori hanya alat bantu supaya tidak ada yang lolos.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capability lebih sulit ditemukan: buku bilang capability itu entitas yang lebih kompleks dari resource, dan hampir semuanya berbasis pengetahuan — tinggal di kepala orang, di modal intelektual perusahaan, atau di proses dan sistem organisasi.
Contoh buku untuk cara 1: kemampuan pengiriman cepat Amazon bersandar pada pengetahuan manajer fulfillment center-nya, relasinya dengan UPS, dan pengalaman merchandiser-nya memprediksi arus persediaan.
Kelemahan cara 2 (pendekatan fungsional) adalah yang paling penting diingat: banyak capability terpenting justru bersifat lintas fungsi, sehingga tidak akan ketemu kalau kita hanya melihat per departemen.
Definisi resource bundle dari buku: 'a linked and closely integrated set of competitive assets centered around one or more cross-functional capabilities'.
Contoh PetSmart yang bagus untuk dikutip: kemampuan rantai pasok dan pemasarannya diimbangi Petco, tapi PetSmart tetap unggul lewat kemampuan layanan pelanggannya — grooming, layanan dokter hewan, dan penitipan.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lengkapnya di buku: 'the VRIN tests for sustainable competitive advantage'.
Jelaskan pembagiannya dulu, baru satu per satu:
Dua tes pertama (V dan R) menentukan apakah sesuatu bisa MENJADI sumber keunggulan. Dua tes terakhir (I dan N) menentukan apakah keunggulan itu BERTAHAN.
Untuk tes I, dua istilah wajib dijelaskan:
SOCIAL COMPLEXITY — keunggulan melekat pada hal sosial: budaya perusahaan, hubungan antarmanajer, kepercayaan dengan pelanggan atau pemasok. Tidak bisa dibeli.
CAUSAL AMBIGUITY — sebab-akibatnya sendiri sulit diurai. Bahkan perusahaan pemiliknya tidak sepenuhnya tahu kenapa resource itu bekerja. Kalau sebabnya tidak jelas, pesaing tidak tahu apa yang harus ditiru.
Tes N adalah yang paling sulit dinilai, kata buku, karena substitusi lebih sulit dikenali. Caranya: cari resource lain, di perusahaan mana pun, yang bisa menjalankan FUNGSI yang sama.
HATI-HATI dengan salah kaprah yang paling umum: tes N BUKAN bertanya 'kalau resource ini hilang, bisakah perusahaan menggantinya?'. Tes N bertanya 'bisakah PESAING mencapai hasil yang sama dengan resource jenis lain?'. Definisi buku: 'invulnerable to the threat of substitution from different types of resources and capabilities'. Keunggulan bisa hilang 'if rivals possess equivalent substitute resources'. Jadi resource yang tidak punya pengganti setara di tangan pesaing justru LOLOS tes N.
Fakta penting untuk ditutup: sangat sedikit perusahaan punya resource yang lolos keempat tes. Kebanyakan hanya punya campuran — satu dua sangat berharga, beberapa bagus, banyak yang biasa saja. Contoh yang lolos keempatnya: Costco dan Lincoln Electric.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menutup celah VRIN. Keempat tes VRIN hanya menguji ancaman dari LUAR: apakah pesaing bisa meniru, atau mengakali dengan resource lain. VRIN tidak menguji ancaman dari DALAM: resource yang menyusut, usang, atau hilang dari perusahaan sendiri. Buku membahas ancaman dari dalam itu di sini, di bagian 'resources and capabilities must be managed dynamically'. Ini akan sangat penting di kasus Manchester United.
Kalimat pembuka yang bagus: bahkan Costco dan Lincoln Electric — dua perusahaan yang lolos keempat tes VRIN — tidak boleh berpuas diri.
Tiga risiko di kiri itu langsung dari buku. Frasa 'from diamonds to rust' layak dikutip: aset strategis bisa berubah dari berlian jadi karat kalau teknologi, selera pelanggan, atau jalur distribusi berubah.
Tantangan manajemen menurut buku ada dua:
(1) terus memodifikasi aset bersaing yang sudah ada;
(2) waspada mencari peluang membangun jenis capability yang benar-benar baru.
Definisi dynamic capability: kemampuan untuk memodifikasi, memperdalam, atau menambah resource dan capability perusahaan yang sudah ada.
Contoh tambahan kalau ditanya: BMW mengembangkan kemampuan baru di desain mesin hibrida sehingga bisa meluncurkan i4 dan iX. Bristol-Myers Squibb dengan strategi akuisisi 'string of pearls' mengganti paten yang habis masa berlakunya dengan paten dan kemampuan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buku: rantai nilai adalah seluruh aktivitas yang dikerjakan perusahaan secara internal, yang digabungkan menciptakan nilai bagi pembeli.
Penting disampaikan: daftar aktivitas di Figure 4.3 itu ILUSTRATIF, bukan baku. Isinya berbeda-beda per industri. Contoh dari buku:
- Peritel seperti Nordstrom: pemilihan barang, tata letak toko, iklan, layanan pelanggan.
- Operator hotel seperti Marriott: reservasi dan operasi hotel.
- Supply chain management krusial bagi Boeing dan Amazon, tapi bukan komponen rantai nilai di Goldman Sachs atau WhatsApp.
- Pengiriman ke pelanggan krusial bagi Domino's, tidak penting bagi Starbucks.
Tiga selisih di bawah adalah bagian yang paling sering tertukar:
V − P: nilai yang dirasakan pembeli dikurangi harga yang ia bayar. Ini customer value proposition.
P − C: harga dikurangi biaya perusahaan. Ini margin laba, dan buku menekankan margin harus ikut dilacak — tanpa laba yang cukup, perusahaan tidak bisa bertahan lama walau nilainya bagus.
V − C: Total Economic Value, seluruh nilai ekonomi yang tercipta.
Illustration Capsule 4.1 di buku memberi contoh nyata: rincian biaya tiap aktivitas rantai nilai di Everlane Inc., peritel pakaian online Amerika.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Rantai nilai sistem kadang disebut juga vertical chain.
Kenapa rantai pemasok penting: biaya, mutu, dan fitur input yang mereka kirim langsung memengaruhi biaya dan kemampuan diferensiasi kita. Contoh buku — produsen mobil mendorong pemasok komponen membangun pabrik dekat pabrik perakitan supaya pengiriman just-in-time lancar dan biaya gudang turun. Contoh lain: perusahaan irigasi, pemasok alat panen anggur, dan pembuat tong, botol, tutup dan label semuanya berlokasi di wilayah anggur California, dekat 4.400 kilang yang mereka layani.
Kenapa rantai hilir penting: (1) biaya dan margin distributor ikut masuk ke harga yang dibayar konsumen akhir; (2) mutu kerja mereka memengaruhi volume penjualan dan kepuasan pelanggan.
Angka yang enak dikutip: lebih dari 80 persen perusahaan Fortune 500 dilaporkan memakai benchmarking.
Buku punya dua Illustration Capsule di bagian ini — 4.2 tentang benchmarking di industri tenaga surya, yang memakai ukuran Levelized Cost of Energy, dan 4.3 khusus tentang etika benchmarking.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area itu persis sama dengan tiga bagian rantai nilai sistem di slide sebelumnya — tunjukkan hubungannya, jangan biarkan audiens menebak.
Catatan dari buku untuk kolom 1: memperbaiki kerugian biaya internal dengan cara menekan pemasok atau mitra hilir adalah PILIHAN TERAKHIR, bukan langkah pertama.
Satu contoh konkret yang bagus: banyak peritel menemukan bahwa menyumbangkan barang retur ke lembaga amal lalu mengambil potongan pajaknya menghasilkan kerugian lebih kecil dibanding menanggung biaya logistik baliknya.
Untuk bagian hilir, contoh Walmart dan Target: keduanya mewajibkan pemasok tiba dalam jendela dua hari. Itu bukan cuma menaikkan efisiensi pusat distribusi, tapi juga memangkas waktu tunggu bongkar yang mahal bagi si pengirim. Win-win.
Tutup dengan dua jalur di kotak hitam. Tekankan bahwa keduanya menuntut usaha terus-menerus, bukan sekali jadi. Buku bilang reputasi dan merek unggul dibangun pelan-pelan lewat investasi dan pesan yang konsisten.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di slide ini menyalin Tabel 4.4 buku, dengan tiga baris terakhir digabung supaya muat. Baris yang digabung: technological skills, dealer network, dan new product innovation capability — bobot masing-masing 0,05.
Pelajaran paling penting dari contoh ini, dan sering ditanyakan:
ABC punya nilai tinggi di banyak hal — technological skills 10, dealer network 9, inovasi produk 9, mutu 8, reputasi 8. Tapi semua faktor itu bobotnya KECIL. Artinya ABC kuat di area yang tidak banyak berpengaruh di pasar.
Sebaliknya posisi biaya relatif berbobot 0,30, paling besar. Di situ ABC hanya 5 sementara Rival 1 dapat 10. Itulah sebabnya Rival 1 menang telak.
Implikasi strategisnya, langsung dari buku:
- ABC sebaiknya menyerang Rival 2, bukan Rival 1, karena skor Rival 2 jauh lebih rendah dan ABC unggul di lima area tempat Rival 2 lemah.
- Tapi ABC harus hati-hati memotong harga, karena Rival 1 bisa membalas dan pasti menang perang harga.
- Untuk bertahan, ABC perlu mengarahkan sebagian strateginya ke penurunan biaya.
Prinsipnya: kuat di faktor yang bobotnya kecil tidak menghasilkan kekuatan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buku yang paling tegas: 'The final and most important analytic step is to zero in on exactly what strategic issues company managers need to address — and resolve.'
Contoh isi priority list dari buku, bagus untuk dibacakan satu dua:
- bagaimana menahan serangan pesaing asing baru;
- bagaimana melawan diskon harga pesaing;
- bagaimana menurunkan biaya yang terlalu tinggi;
- bagaimana mempertahankan laju pertumbuhan ketika permintaan melambat;
- apakah perlu mengakuisisi pesaing untuk menutup kelemahan;
- apakah perlu masuk pasar luar negeri;
- apa yang harus dilakukan menghadapi produk substitusi;
- apa yang harus dilakukan menghadapi basis pelanggan yang menua.
Tekankan perangkap pertama: daftar ini berisi PERTANYAAN, bukan jawaban. Mahasiswa sering langsung menulis solusi di sini, dan itu keliru menurut buku.
Perangkap kedua adalah diagnosisnya: kalau isu-isunya relatif kecil, berarti strategi sekarang sudah pada jalurnya dan cukup disetel halus. Kalau isunya serius, berarti strategi sekarang tidak cocok untuk jalan ke depan, dan menyusun strategi baru harus jadi prioritas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jujur soal sumber: kasus ini ditulis Robert M. Grant, bukan diambil dari buku Thompson. Yang kita pakai dari Thompson adalah KERANGKANYA, yaitu enam pertanyaan Chapter 4.
Tegaskan waktunya: Juli 2009. Ferguson MASIH menjabat. Semua analisis kita berdiri di titik itu, bukan dengan pengetahuan hari ini.
Ceritakan pembukanya (hlm. 572–573): David Gill ikut tur Asia bersama tim. Pertandingan di Malaysia, Indonesia, Korea, dan Cina resminya latihan pra-musim, tapi kasus menyebut tujuannya hampir seluruhnya komersial. Rutenya ditentukan kesepakatan sponsor: laga Kuala Lumpur adalah imbalan sponsor tur Telekom Malaysia senilai £2 juta.
Tapi yang ada di kepala Gill bukan urusan komersial. Kasus menyebut masalah terbesarnya adalah pensiunnya Ferguson — arsitek utama sukses klub selama 23 tahun, yang sudah membangun seluruh infrastruktur pemanduan bakat, latihan, disiplin tim, serta taktik dan strategi.
Dilema di kotak terakhir dikutip dari hlm. 588. Perhatikan kata kasusnya: manajer seperti Mourinho 'likely' — kemungkinan besar — membongkar 'much of' — sebagian besar — infrastruktur Ferguson. Bukan pasti, bukan seluruhnya.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setting waktunya: Juli 2009, saat tur pramusim Asia. Ferguson masih menjabat; kasus hanya menyebut ia akan berusia 68 tahun pada akhir 2009 dan Gill memperkirakan pensiun akhir musim 2009-10.
Pengambil keputusannya David Gill, Chief Executive. Keputusan yang disiapkan: siapa pengganti Ferguson.
Dilema inti (hlm. 588): orang dalam menjaga sistem tetap jalan tapi wibawanya diragukan; orang luar seperti Mourinho berarti membongkar dan membangun ulang infrastruktur Ferguson.
Tutup dengan pertanyaan yang jadi benang merah Bagian B: aset mana yang milik klub, aset mana yang milik satu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ini satu: audiens paham bahwa sepakbola Eropa adalah industri yang besar tapi merugi. Itu penting, karena Q1 menilai kinerja RELATIF terhadap industri.
Angka 6 dari 10 dari Tabel 6.6 (hlm. 580), ukurannya laba sebelum pajak dibagi pendapatan. Yang merugi: Chelsea (minus 60,4%), Inter (minus 78,4%), Rangers, Juventus, Celtic, Liverpool. Yang untung: MU (12,6%), Arsenal (5,6%), Bayern (4,7%), dan Real Madrid yang nyaris nol (0,4%). Kasus sendiri menyebut hanya MU, Arsenal, dan Bayern yang mencetak laba signifikan.
Mekanisme 'yang kaya makin kaya' (hlm. 575): pendapatan Liga Champions dipakai membeli pemain kelas atas, dan itu memperlebar jurang antara empat klub teratas Inggris dan sisanya.
Kalau ditanya soal kontrak sponsor jersey (hlm. 578): Juventus–Tamoil €110 juta/5 tahun, Arsenal–Emirates £100 juta/15 tahun, MU–Aon £80 juta/4 tahun, Chelsea–Samsung £50 juta/5 tahun. Per tahun dalam pound: MU £20 juta, Chelsea £10 juta, Arsenal sekitar £6,7 juta. Juventus sekitar €22 juta per tahun, tapi tidak bisa dibandingkan langsung karena kasus tidak memberi kurs euro–pound.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angka: Tabel 6.2 (poin Eropa), Tabel 6.1 (juara liga), dan Tabel 6.7 (poin performa, ukuran dan usia skuad).
Bedakan dua kolom poin supaya tidak membingungkan:
- Poin Eropa 2000–09 (Tabel 6.2): berdasarkan prestasi di liga domestik, piala domestik, Liga Champions, dan Intertoto Cup, disesuaikan dengan tingkat kesulitan liga. MU nomor satu.
- Poin performa (Tabel 6.7): ukuran yang dipakai kasus untuk dibandingkan dengan belanja transfer. Di sini MU nomor dua, tipis di bawah Barcelona.
Soal kartu 2008: itu Liga Champions (European Cup) KEDUA di era Ferguson, setelah 1999. Jangan sebut 'gelar Eropa kedua', karena kasus hlm. 584 juga mencatat Piala Winners Eropa 1991 — itu juga gelar Eropa.
Soal ukuran skuad: klaimnya hanya berlaku untuk enam klub di tabel ini. Di Tabel 6.7 lengkap, Roma punya skuad 46 pemain dan Lyon juga 34. Jadi jangan bilang skuad MU terbesar di Eropa.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memakai baris Turnover dari Appendix kasus (hlm. 589). Dua batang merah adalah dua tahun terakhir sebelum kasus ditulis.
Cara membacanya: bandingkan hanya di dalam periode yang sebanding. Dari 2006 ke 2008 pendapatan naik 53%, dari £167,8 juta ke £257,1 juta. Kasus hlm. 587 menyebut perluasan Old Trafford tahun 2006, terutama dari tambahan 7.500 kursi, memberi dorongan besar pada pendapatan. Penurunan 2004 ke 2005 jangan ditafsirkan sebagai kemunduran, karena di titik itulah akuntansi dan periode laporannya berubah.
Kalau ditanya kualitas laba: laba sebelum pajak 2008 (£66,4 juta) sudah termasuk keuntungan penjualan pemain £21,8 juta. Jadi sebagian laba datang dari menjual pemain — itu bagian dari model bisnis MU (slide 29).
PENTING dan sering ditanya dosen — kenapa data tidak sepenuhnya sebanding? Catatan kaki Appendix menyebut dua hal yang TERPISAH:
(1) Entitas pelapor: Manchester United plc untuk 2000–2005, Manchester United Limited untuk 2006–2008.
(2) Periode dan akuntansi: kolom 2000–2004 bertanda 12 bulan sampai 31 Juli, kolom 2005–2008 bertanda 11 bulan sampai 30 Juni, dan kasus menegaskan data 2000–4 tidak sebanding dengan 2005–8 karena perubahan akuntansi.
Karena itu angka laba di kartu pertama sengaja memakai 2006 dan 2008, dua-duanya di periode yang sebanding.
Soal 'tertinggi': Tabel 6.5 hanya memuat 15 klub besar Eropa dari daftar Forbes 2009. Jadi sebut 'tertinggi di tabel', bukan 'tertinggi di dunia'.
Soal utang £616 juta — siapkan jawaban ini. Appendix menampilkan ekuitas £294 juta dan tidak memuat utang sebesar itu. Penjelasan yang paling mungkin (ini dugaan kami, tidak ditulis di kasus): utang akuisisi Glazer berada di perusahaan induk, di atas Manchester United Limited. Yang pasti dari kasus hanya dua hal: akuisisinya dibiayai terutama dengan utang (hlm. 584), dan karena itu MU tidak mendapat suntikan dana pemilik seperti Chelsea atau Man City (hlm. 579).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analisis kami sendiri, bukan tabel yang tercetak di kasus. KATAKAN ITU. Angka mentahnya dari Tabel 6.7; perbandingannya yang kami susun.
Jelaskan pilihan klubnya supaya tidak terkesan memilih-milih: grafik memuat EMPAT klub dengan poin performa tertinggi di Tabel 6.7, yaitu Barcelona (200,0), MU (192,5), Real Madrid (183,0), dan Bayern (179,5). Di antara keempatnya, belanja bersih MU paling kecil.
Jangan klaim MU paling hemat di seluruh tabel — itu tidak benar. Arsenal, Lyon, Juventus, Roma, dan Valencia belanja bersih lebih sedikit, sedangkan AC Milan, Porto, dan PSV malah penjual bersih. Kalimat kasus sendiri (hlm. 586): belanja bersih MU 'relatively modest compared to other leading European clubs'.
Apa itu belanja transfer bersih: total uang untuk membeli pemain dikurangi total uang dari menjual pemain. MU belanja kotor £322 juta, tapi bersihnya £100 juta — artinya MU juga banyak menjual. Kasus: Ferguson mau menjual pemain yang dihargai lebih tinggi oleh klub lain.
Kasus sendiri (hlm. 580) menyebut Real Madrid dan Chelsea 'distinguished by their massive expenditures on star players'. Itu yang membuat perbandingan 4,4 kali lipat relevan.
Tutup dengan menyambung ke Q2 dan Q3: kalau bukan uang, lalu apa? Jawabannya ada di resource dan capability.
Notes: Grafik ditambahkan Chelsea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audiens: SWOT bukan bikin empat daftar. Setelah membacakan daftarnya sekilas, langsung masuk ke kesimpulan di kotak bawah — itu langkah 2 dari Figure 4.2.
Kesimpulannya diuraikan: kekuatan MU terpusat di sisi komersial dan pengembangan pemain. Peluang terbesarnya juga komersial, di Asia. Jadi kekuatan dan peluang cocok — sampai di sini bagus.
Masalahnya ada di kelemahan nomor satu: ketergantungan pada Ferguson. Itu menyerang sisi lapangan. Dan kasus hlm. 573 menyebut, bagi Gill, pendapatan komersial dari jersey, siaran, dan sponsor terus mengalir SELAMA tim menang dan bermain menarik. Jadi kalau sisi lapangan goyah, sisi komersial ikut terancam.
PENTING soal utang, karena sering salah: kasus hlm. 584 menyatakan ketakutan bahwa utang akan membatasi Ferguson membeli pemain 'proved groundless' — tidak terbukti. Jadi jangan bilang utang membatasi pembelian pemain. Yang benar (hlm. 579): karena akuisisinya dibiayai utang, MU tidak mendapat suntikan dana pemilik seperti yang dinikmati Chelsea dan Man City. Itu sebabnya poin itu ada di kolom Threats dalam bentuk 'tak dapat suntikan dana', sementara utangnya sendiri ada di Weaknesses.
Untuk langkah 3 (tindakan), sambungkan: itu yang akan kita bahas di slide priority list dan rekomendasi.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Tabel 4.3 di slide 9. Delapan kotak di slide ini mengikuti persis delapan kategori buku: fisik, finansial, teknologi, organisasional di kiri; human assets, merek dan reputasi, relasi, budaya dan insentif di kanan.
Bukti kekuatan merek yang layak diceritakan lengkap (hlm. 573): David Prosperi, VP Global Public Relations Aon, mengatakan bahwa setahun setelah sponsor AIG dimulai, AIG melompat dari luar daftar 100 merek dunia ke peringkat 47. Kalimatnya: Manchester United tidak ada tandingannya di dunia olahraga soal kesadaran merek global, khususnya di Asia. Itu bukan klaim MU, tapi kesaksian pihak yang membayar.
Kutipan Andy Anson, mantan direktur komersial (hlm. 587): 'We're not just a sports club, we are an international brand.' Sub-mereknya dibagi per usia: Fred the Red untuk anak, MUFC untuk remaja, Red Devil untuk dewasa.
Angka sponsor dari kasus hlm. 587: selain dua sponsor utama Nike dan AIG, ada Budweiser, Audi, Betfred, Hublot, Tri Indonesia, Bharti Airtel, plus tujuh sponsor lain — total 13.
Kalimat penutup slide penting: aset tak berwujud bisa pergi. Ronaldo sudah dijual. Ferguson akan pensiun. Stadion dan merek tidak ke mana-mana.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menerapkan tangga competence dari slide 7. Label CORE, DISTINCTIVE dan COMPETENCE adalah penilaian kelompok kami; jelaskan alasannya.
CORE — dikerjakan sangat baik DAN berada di jantung strategi:
- Mengenali dan mengembangkan bakat. Catatan jujur: kasus (hlm. 580) menyebut Bayern, Barcelona, Arsenal, dan Valencia juga menekankan pengembangan pemain sendiri. Jadi ini core bagi MU, tapi tidak unik. Yang khas MU menurut kasus (hlm. 583) adalah memadukan talenta muda dengan pemain berpengalaman.
- Membentuk dan merotasi tim. Kutipan Ferguson (hlm. 585): 'The best teams stand out because they are teams.' Ia juga disebut pelopor squad rotation.
- Mengubah merek jadi uang. Kasus menyebut MU dan Real Madrid klub paling fokus komersial di Eropa.
DISTINCTIVE — lebih baik dari pesaing, tapi bukan inti strategi:
- Disiplin transfer. Kasus (hlm. 586): Ferguson mau menjual pemain yang dihargai lebih tinggi klub lain — Beckham, Verón, van Nistelrooy, Ronaldo dengan rekor dunia £80 juta.
- Tata kelola. Kasus hlm. 587 menyebut MU salah satu klub Inggris pertama yang go public dan yang paling berhasil membangun tata kelola efektif. 'Paling berhasil' berarti lebih baik dari pesaing, jadi distinctive.
COMPETENCE — dikerjakan baik, tapi tidak membedakan:
- Mengelola stadion. Kasus hlm. 577 menyebut sebagian besar klub papan atas merenovasi stadionnya, dan Arsenal membangun stadion baru. Jadi ini wajar dimiliki klub besar.
Kalimat penutup di kotak bawah adalah jembatan ke slide VRIN.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paling penting di seluruh presentasi. Beri waktu lebih.
Jalankan baris per baris. Hasilnya sama di kedua kolom: empat-empatnya lolos. Itu menjelaskan kenapa MU mendominasi sepakbola Inggris dan Eropa selama dua dekade.
Baris Inimitable — kutip kasusnya langsung, karena ini hadiah dari penulis kasus (hlm. 583): 'the determinants of team performance remained a mystery … depends on a complex mix of factors that defies analysis.' Itu definisi causal ambiguity. Untuk social complexity, kutip Ferguson (hlm. 585): ia ingin membangun hubungan personal dengan semua orang di klub, termasuk pegawai kantor, juru masak, dan petugas binatu.
Baris Nonsubstitutable — jelaskan definisinya dulu, karena paling sering keliru. Tes N BUKAN bertanya 'kalau Ferguson pergi, bisakah MU menggantinya?'. Tes N bertanya 'bisakah PESAING mencapai hasil yang sama dengan resource JENIS LAIN?'. Buku: 'invulnerable to the threat of substitution from different types of resources and capabilities'.
Resource jenis lain yang dipakai pesaing adalah UANG untuk membeli bintang. Kasus menjawab sendiri bahwa jalan itu gagal: 'Real Madrid and Chelsea's lavishing of vast sums of money to build star-studded teams has yielded teams that have failed to achieve greatness.' Kasus juga bilang 'team performance is not simply a product of the quality of the players in the team.' Jadi uang bukan pengganti yang setara.
Catatan jujur kalau ditanya: Chelsea tetap juara liga 2005 dan 2006 (Tabel 6.1) dengan cara itu. Tapi ongkosnya return on sales minus 60,4% (Tabel 6.6). Substitusi bisa berhasil sesaat, tapi tidak setara dan tidak berkelanjutan.
Untuk merek, jalan lain pesaing adalah membeli superstar. Kasus hlm. 578 mengakui itu: Zidane, Beckham dan Ronaldo mendongkrak lisensi dan merchandise Real Madrid. Tapi itu pengganti parsial, karena pemain bisa pergi — Ronaldo sudah dijual MU. Basis fan melekat pada klub, dan Aon sendiri menyebut basis fan Asia sebagai faktor kunci kontrak £80 juta (hlm. 573). Jadi tetap LOLOS, dengan catatan itu.
KESIMPULAN YANG HARUS SAMPAI: kalau keduanya lolos VRIN, di mana masalah MU? Jawabannya ada di luar VRIN. VRIN hanya menguji ancaman dari pesaing. VRIN tidak menguji risiko perusahaan KEHILANGAN resource-nya sendiri. Merek dimiliki klub dan tidak bisa pensiun. Sistem Ferguson dibangun dan dipimpin satu orang yang akhir 2009 berusia 68 tahun. Buku membahas risiko ini di bagian 'resources must be managed dynamically' (slide 12) — dan itulah isi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slide 12: dynamic capability adalah kemampuan memperbarui resource dan capability secara terus-menerus, sampai memperbarui itu sendiri jadi rutinitas.
Tiga siklus di slide ini adalah buktinya. MU tidak sekadar beruntung punya satu generasi emas. MU membongkar dan membangun ulang tiga kali, dan setiap kali menghasilkan tim juara.
Siklus kedua: kasus hlm. 584 menyebut MU juara liga junior Inggris tahun 1990, dengan tim yang berisi Giggs, Beckham, Butt, Gary dan Phil Neville, serta Scholes. Pakai tahun 1990 sesuai kasus.
Siklus ketiga: kasus mencatat pemain inti tim 1999 dijual antara 2003 dan 2008. Ini menunjukkan MU berani melepas ikonnya sendiri.
INI TITIK SAMBUNG DENGAN SLIDE VRIN. Di slide sebelumnya, sistem Ferguson lolos keempat tes VRIN — artinya pesaing tidak bisa meniru atau mengakalinya. Tapi VRIN tidak menjawab pertanyaan di slide ini: apakah kemampuan memperbarui diri itu milik KLUB, atau milik FERGUSON? Buku membahas risiko ini di bagian 'resources and capabilities must be managed dynamically': resource bisa menyusut dan hilang.
Kasus memberi petunjuk yang tidak menyenangkan (hlm. 583): setelah Busby pensiun 1969, MU merosot dan Liverpool menjadi klub terkuat Inggris. Selama 18 tahun sebelum Ferguson datang, MU tidak memenangi satu pun gelar liga. Pola yang sama bisa terulang.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Terjemahkan Figure 4.3 ke bahasa sepakbola dulu, supaya audiens paham:
Supply chain di pabrik artinya membeli bahan baku. Di klub, 'bahan bakunya' adalah pemain — jadi supply chain MU adalah akademi dan pasar transfer.
Operations di pabrik artinya mengolah bahan jadi produk. Di klub, artinya latihan dan pertandingan.
Distribution artinya menyalurkan produk. Di klub, produknya tontonan, disalurkan lewat siaran televisi dan stadion.
Temuan utamanya: keunggulan biaya MU ada di HULU. MU tidak lebih hemat dalam melatih atau beriklan; MU lebih hemat dalam MENDAPATKAN pemain.
Angka gaji dari kasus hlm. 578: rata-rata Premier League 62%, Serie A 68%, La Liga 63%. Chelsea 81%, tertinggi di antara klub Inggris. MU dan Arsenal masing-masing membayar sekitar setengah pendapatannya untuk gaji.
Soal sponsor (hlm. 587): selain Nike dan AIG (yang diganti Aon 2010), ada Budweiser, Audi, Betfred, Hublot, Tri Indonesia, Bharti Airtel, plus tujuh sponsor lain — total 13. Hanya Tri Indonesia dan Bharti Airtel yang khusus satu negara.
Bedakan sumber dua kartu tengah. Akademi menekan kebutuhan MEMBELI: generasi Giggs dan Scholes menjadi inti tim 1994–2003 tanpa biaya transfer (hlm. 584). Penjualan menekan belanja BERSIH: kasus hlm. 586 menyebut Ferguson mau menjual pemain yang dinilai lebih tinggi oleh klub lain, dan 'as a result' belanja bersih MU relatif sederhana. Laba penjualan pemain di Appendix 2008 saja £21,8 juta. Jangan sebut 'menjual di puncak harga' — kasus tidak bilang begitu.
Jangan lupa yang melawan arah: amortisasi pemain naik hampir 50% dari 2005 ke 2008. Angka ini sengaja memakai periode 2005–2008 karena Appendix menyatakan data 2000–2004 tidak sebanding. Amortisasi adalah biaya akuntansi dari pembelian pemain, jadi MU juga makin banyak membeli.
Untuk customer value proposition, ingatkan rumus di slide 13: V dikurangi P. MU punya dua 'pelanggan' dengan V berbeda — pendukung dan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benchmarking. Yang dibandingkan bukan besarnya pendapatan, tapi margin: EBITDA dibagi pendapatan (Table 6.5) dan return on sales (Table 6.6).
Tiga cara mendapat pemain: membeli bintang (Real Madrid, Chelsea) menghasilkan pendapatan tinggi tapi laba rendah atau rugi; mengembangkan sendiri (Barcelona, Arsenal, Bayern) laba positif dengan pendapatan lebih rendah; MU menggabungkan keduanya, membeli lalu menjual saat klub lain menilai lebih tinggi (hlm. 580, 583).
Angka return on sales 2000–2006 (Table 6.6): MU 12,6%, Arsenal 5,6%, Bayern 4,7%, Real Madrid 0,4%, Chelsea −60,4%, Inter −78,4%.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Bilang dari awal: bobot dan rating ini KAMI yang menentukan, berdasarkan data kasus. Itu memang cara kerja alat ini — buku pun memakai contoh hipotetis di Tabel 4.4.
Alasan beberapa rating yang mungkin ditanya:
- Kualitas skuad MU hanya 6, padahal juara. Sebabnya: Tabel 6.3 (peringkat pemain dunia FIFA 2008–09) hanya memuat satu pemain MU, yaitu Ronaldo — dan ia dijual ke Real Madrid sebelum akhir Juni 2009 (Tabel 6.4). Jadi per Juli 2009, MU tidak punya pemain di daftar itu. Barcelona punya empat (Messi, Xavi, Eto'o, Iniesta), ditambah Deco yang tercatat 'Barcelona and Chelsea'. Kasus hlm. 580 menyebut Barcelona dan Chelsea sebagai tim paling bertabur bintang. Real Madrid tetap 9 karena musim panas 2009 membeli Ronaldo, Kaká dan Benzema (Tabel 6.4).
- Kemampuan manajer MU 10, Real Madrid 5. Sebabnya: Ferguson punya masa jabatan di satu klub terpanjang di Tabel 6.8, sementara Real Madrid mengganti 10 pelatih kepala antara 2003 dan Juli 2009 (hlm. 581).
- Keleluasaan finansial MU hanya 4 karena utang £616 juta dan tidak ada suntikan dana pemilik (hlm. 579). Tapi jangan bilang utang membatasi belanja pemain — kasus hlm. 584 menyebut ketakutan itu 'proved groundless'. Arsenal 2 karena utangnya £896 juta, tertinggi di Tabel 6.5.
Sekarang bagian yang paling penting.
MU unggul dari Barcelona hanya 0,25 poin. Dari mana selisih itu? MU unggul di merek (+0,45), lalu di manajer, komersial, dan profitabilitas (masing-masing +0,30). MU kalah di kualitas skuad (−0,60) dan keleluasaan finansial (−0,50). Baris lainnya seri.
Dari semua baris itu, hanya satu yang diperkirakan berubah drastis dalam waktu dekat: baris manajer, karena Ferguson diperkirakan pensiun musim panas 2010 (hlm. 588).
Coba turunkan rating itu dari 10 ke 5, seolah penggantinya manajer rata-rata. Skor MU turun 0,75 menjadi 7,90 — langsung di bawah Barcelona.
Hitung titik impasnya, dengan asumsi baris lain tetap: MU tanpa baris manajer punya 7,15. Supaya totalnya kembali ke 8,40, baris manajer harus menyumbang 1,25. Dengan bobot 0,15, ratingnya minimal 8,3. Artinya penggantinya harus manajer kelas dunia, bukan sekadar bagus.
Ini menghubungkan Q5 kembali ke Q3: baris yang paling rapuh di matriks adalah resource yang lolos VRIN tapi melekat pada satu orang. Itu risiko yang tidak diukur VRIN — dan karena itulah slide 28 membahas dynamic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pembacaan dari matriks. Pertama, MU unggul tipis: 8,65 vs Barcelona 8,40, selisih 0,25. Cukup satu baris turun untuk menghapusnya.
Kedua, kalau rating manajer jatuh dari 10 ke 5 karena ganti pelatih, skor MU turun ke 7,90 dan langsung di bawah Barcelona.
Ketiga, pengganti Ferguson harus mendapat rating minimal 8,3 supaya MU sekadar sejajar Barcelona. Itu standar yang sangat tinggi untuk pelatih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aturan Q6 dari slide 17: priority list berisi PERTANYAAN, bukan jawaban. Kolom kiri semuanya berbentuk 'siapa', 'bagaimana', 'apa yang dilakukan', dan 'apakah perlu' — persis pola buku.
Sumber tiap isu di kasus:
1. Dilema suksesi: hlm. 588, dilema yang disadari Gill saat menimbang calon pengganti.
2. Mempertahankan sistem: hlm. 588 — 'it was important to maintain as much as possible of the system of training, scouting, and team development that Sir Alex had put in place.'
3. Uang penjualan Ronaldo: hlm. 588 — media menyorot apakah uangnya dipakai untuk menawar Franck Ribéry dari Bayern.
4. Director of football: hlm. 581 — lazim di Eropa daratan, tapi di Inggris sering memicu konflik dengan manajer (Chelsea, Newcastle).
5. Ketergantungan komersial: hlm. 573 — bagi Gill, pendapatan komersial terus mengalir selama tim menang dan bermain menarik.
6. Dana pemilik: hlm. 579 — karena Glazer membiayai akuisisinya dengan utang, MU tidak mendapat suntikan dana seperti Chelsea atau Man City.
PENTING soal utang: jangan bilang utang membatasi pembelian pemain. Kasus hlm. 584 justru menyatakan ketakutan itu 'proved groundless'. Isunya adalah tidak adanya suntikan dana pemilik di pasar transfer yang sedang meledak.
Kolom kanan adalah rekomendasi kami, dan itu sudah masuk tahap berikutnya — penyusunan strategi. Pisahkan keduanya saat bicara.
Logika rekomendasi 1: sistem Ferguson lolos VRIN, jadi layak dipertahankan. Masalahnya hanya satu: sistem itu dibangun dan dipimpin satu orang. Solusinya memindahkan sistem itu ke dalam prosedur klub supaya bertahan setelah ia pergi.
Logika rekomendasi 3, dari kasus hlm. 588: jika MU menunjuk manajer berwibawa seperti Mourinho, 'it was likely that this would involve a revolutionary change in coaching strategy in which much of Ferguson's infrastructure would be taken down and rebuilt.' Membongkar aset yang lolos VRIN adalah pilihan yang mahal.
Kalau ada yang berargumen orang dalam kurang berwibawa — itu memang kekhawatiran Gill di kasus, dan kami tidak menyangkalnya. Karena itulah kami mengusulkan masa transisi dengan Ferguson tetap mendampingi.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yang paling mungkin muncul, dan jawabannya:
1. Kenapa enam pertanyaan, bukan lima?
Edisi lama buku ini memakai lima pertanyaan dengan SWOT diselipkan ke dalam analisis resource. Edisi 2024 memisahkan SWOT jadi Q2 tersendiri.
2. Kenapa sistem Ferguson lolos Nonsubstitutable, padahal ia akan pensiun?
Karena tes N bertanya apakah PESAING bisa mencapai hasil yang sama dengan resource jenis lain — bukan apakah MU bisa mengganti Ferguson. Jalan lain pesaing, membeli bintang dengan uang besar, tidak menyamai hasilnya: tim Real Madrid dan Chelsea 'failed to achieve greatness' (hlm. 583). Risiko pensiun itu nyata, tapi tempatnya di luar VRIN: resource harus dikelola secara dinamis (slide 12 dan 28).
3. Kalau sistem Ferguson dan merek sama-sama lolos VRIN, kenapa MU tetap rentan?
Karena VRIN menguji serangan dari pesaing, bukan kehilangan dari dalam. Sistem Ferguson dibangun dan dipimpin satu orang yang diperkirakan pensiun musim panas 2010. Selain itu, kedua keunggulan saling bergantung: menurut pandangan Gill, pendapatan komersial terus mengalir selama tim menang dan bermain menarik (hlm. 573).
4. Kenapa laporan keuangan MU terlihat sehat padahal utangnya £616 juta?
Angka £616 juta berasal dari Tabel 6.5 (data Forbes). Appendix memuat akun Manchester United plc (2000–2005) dan Manchester United Limited (2006–2008), dan tidak memuat utang sebesar itu — bunga bersih 2008 malah tercatat positif, £0,46 juta. Dugaan kami, dan ini tidak ditulis di kasus: utang akuisisi Glazer berada di perusahaan induk, di atas klub.
5. Apakah akademi MU capability organisasi atau perpanjangan tangan Ferguson?
Kasus tidak memberi jawaban pasti. Yang mendukung 'milik organisasi': ada akademi dan lebih dari 20 pemandu bakat. Yang mendukung 'milik Ferguson': seluruh infrastruktur itu ia yang membangun (hlm. 573), dan Gill menilai penting untuk mempertahankannya sebanyak mungkin (hlm. 588).
6. Utang £616 juta itu weakness atau threat?
Weakness, karena sumbernya internal: akuisisi Glazer dibiayai terutama dengan utang (hlm. 584). Threat adalah faktor dari luar. Tapi hati-hati: kasus yang sama menyebut kekhawatiran bahwa utang akan membatasi pembelian pemain 'proved groundless'. Kelemahannya ada di neraca dan di tidak adanya suntikan dana pemilik, bukan di belanja pemain yang terhambat.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image" Target="../media/image-1-3.png"/><Relationship Id="rId8" Type="http://schemas.openxmlformats.org/officeDocument/2006/relationships/image" Target="../media/image-2-8.jp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3-5.png"/><Relationship Id="rId9" Type="http://schemas.openxmlformats.org/officeDocument/2006/relationships/image" Target="../media/image-3-5.png"/><Relationship Id="rId10" Type="http://schemas.openxmlformats.org/officeDocument/2006/relationships/image" Target="../media/image-3-5.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4-5.png"/><Relationship Id="rId6" Type="http://schemas.openxmlformats.org/officeDocument/2006/relationships/image" Target="../media/image-1-3.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1-3.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6-4.pn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6-4.png"/><Relationship Id="rId8" Type="http://schemas.openxmlformats.org/officeDocument/2006/relationships/image" Target="../media/image-3-5.png"/><Relationship Id="rId9" Type="http://schemas.openxmlformats.org/officeDocument/2006/relationships/image" Target="../media/image-1-3.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3-5.png"/><Relationship Id="rId6" Type="http://schemas.openxmlformats.org/officeDocument/2006/relationships/image" Target="../media/image-6-4.png"/><Relationship Id="rId7" Type="http://schemas.openxmlformats.org/officeDocument/2006/relationships/image" Target="../media/image-1-2.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8-4.png"/><Relationship Id="rId5" Type="http://schemas.openxmlformats.org/officeDocument/2006/relationships/image" Target="../media/image-6-4.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0-4.jp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4-7.png"/><Relationship Id="rId8" Type="http://schemas.openxmlformats.org/officeDocument/2006/relationships/image" Target="../media/image-1-3.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1-3.png"/><Relationship Id="rId9" Type="http://schemas.openxmlformats.org/officeDocument/2006/relationships/image" Target="../media/image-1-3.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1-3.png"/><Relationship Id="rId8" Type="http://schemas.openxmlformats.org/officeDocument/2006/relationships/image" Target="../media/image-3-5.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3-5.png"/><Relationship Id="rId9" Type="http://schemas.openxmlformats.org/officeDocument/2006/relationships/image" Target="../media/image-3-5.png"/><Relationship Id="rId10" Type="http://schemas.openxmlformats.org/officeDocument/2006/relationships/image" Target="../media/image-6-4.png"/><Relationship Id="rId11" Type="http://schemas.openxmlformats.org/officeDocument/2006/relationships/image" Target="../media/image-1-2.png"/><Relationship Id="rId12" Type="http://schemas.openxmlformats.org/officeDocument/2006/relationships/image" Target="../media/image-4-7.png"/><Relationship Id="rId13" Type="http://schemas.openxmlformats.org/officeDocument/2006/relationships/image" Target="../media/image-4-7.png"/><Relationship Id="rId14" Type="http://schemas.openxmlformats.org/officeDocument/2006/relationships/image" Target="../media/image-4-7.png"/><Relationship Id="rId15" Type="http://schemas.openxmlformats.org/officeDocument/2006/relationships/image" Target="../media/image-1-3.png"/><Relationship Id="rId16" Type="http://schemas.openxmlformats.org/officeDocument/2006/relationships/image" Target="../media/image-13-16.png"/><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1-3.png"/><Relationship Id="rId8" Type="http://schemas.openxmlformats.org/officeDocument/2006/relationships/image" Target="../media/image-4-7.png"/><Relationship Id="rId9" Type="http://schemas.openxmlformats.org/officeDocument/2006/relationships/image" Target="../media/image-4-7.png"/><Relationship Id="rId10" Type="http://schemas.openxmlformats.org/officeDocument/2006/relationships/image" Target="../media/image-1-3.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1-3.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6-4.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7-4.jpg"/><Relationship Id="rId5" Type="http://schemas.openxmlformats.org/officeDocument/2006/relationships/image" Target="../media/image-6-4.png"/><Relationship Id="rId6" Type="http://schemas.openxmlformats.org/officeDocument/2006/relationships/image" Target="../media/image-3-5.png"/><Relationship Id="rId7" Type="http://schemas.openxmlformats.org/officeDocument/2006/relationships/image" Target="../media/image-1-3.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19-7.jpg"/><Relationship Id="rId8" Type="http://schemas.openxmlformats.org/officeDocument/2006/relationships/image" Target="../media/image-4-7.png"/><Relationship Id="rId9" Type="http://schemas.openxmlformats.org/officeDocument/2006/relationships/image" Target="../media/image-1-3.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20-9.png"/><Relationship Id="rId10" Type="http://schemas.openxmlformats.org/officeDocument/2006/relationships/slideLayout" Target="../slideLayouts/slideLayout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image" Target="../media/image-8-4.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3-5.png"/><Relationship Id="rId6" Type="http://schemas.openxmlformats.org/officeDocument/2006/relationships/image" Target="../media/image-1-3.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1-3.png"/><Relationship Id="rId6" Type="http://schemas.openxmlformats.org/officeDocument/2006/relationships/image" Target="../media/image-4-7.png"/><Relationship Id="rId7" Type="http://schemas.openxmlformats.org/officeDocument/2006/relationships/image" Target="../media/image-1-3.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1-3.png"/><Relationship Id="rId8" Type="http://schemas.openxmlformats.org/officeDocument/2006/relationships/image" Target="../media/image-1-3.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8-4.png"/><Relationship Id="rId5" Type="http://schemas.openxmlformats.org/officeDocument/2006/relationships/image" Target="../media/image-8-4.png"/><Relationship Id="rId6" Type="http://schemas.openxmlformats.org/officeDocument/2006/relationships/image" Target="../media/image-1-3.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4-7.png"/><Relationship Id="rId10" Type="http://schemas.openxmlformats.org/officeDocument/2006/relationships/image" Target="../media/image-1-3.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1-3.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1-3.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6-4.png"/><Relationship Id="rId6" Type="http://schemas.openxmlformats.org/officeDocument/2006/relationships/image" Target="../media/image-3-5.png"/><Relationship Id="rId7" Type="http://schemas.openxmlformats.org/officeDocument/2006/relationships/image" Target="../media/image-3-5.png"/><Relationship Id="rId8" Type="http://schemas.openxmlformats.org/officeDocument/2006/relationships/image" Target="../media/image-3-5.png"/><Relationship Id="rId9" Type="http://schemas.openxmlformats.org/officeDocument/2006/relationships/image" Target="../media/image-3-5.png"/><Relationship Id="rId10" Type="http://schemas.openxmlformats.org/officeDocument/2006/relationships/image" Target="../media/image-1-2.png"/><Relationship Id="rId11" Type="http://schemas.openxmlformats.org/officeDocument/2006/relationships/image" Target="../media/image-4-7.png"/><Relationship Id="rId12" Type="http://schemas.openxmlformats.org/officeDocument/2006/relationships/image" Target="../media/image-4-7.png"/><Relationship Id="rId13" Type="http://schemas.openxmlformats.org/officeDocument/2006/relationships/image" Target="../media/image-4-7.png"/><Relationship Id="rId14" Type="http://schemas.openxmlformats.org/officeDocument/2006/relationships/image" Target="../media/image-3-5.png"/><Relationship Id="rId15" Type="http://schemas.openxmlformats.org/officeDocument/2006/relationships/image" Target="../media/image-29-15.png"/><Relationship Id="rId16" Type="http://schemas.openxmlformats.org/officeDocument/2006/relationships/slideLayout" Target="../slideLayouts/slideLayout1.xml"/><Relationship Id="rId1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4-7.png"/><Relationship Id="rId6" Type="http://schemas.openxmlformats.org/officeDocument/2006/relationships/image" Target="../media/image-1-3.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6-4.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2-7.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4-7.png"/><Relationship Id="rId6" Type="http://schemas.openxmlformats.org/officeDocument/2006/relationships/image" Target="../media/image-4-7.png"/><Relationship Id="rId7" Type="http://schemas.openxmlformats.org/officeDocument/2006/relationships/image" Target="../media/image-1-3.png"/><Relationship Id="rId8" Type="http://schemas.openxmlformats.org/officeDocument/2006/relationships/image" Target="../media/image-4-7.png"/><Relationship Id="rId9" Type="http://schemas.openxmlformats.org/officeDocument/2006/relationships/image" Target="../media/image-4-7.png"/><Relationship Id="rId10" Type="http://schemas.openxmlformats.org/officeDocument/2006/relationships/image" Target="../media/image-1-3.png"/><Relationship Id="rId11" Type="http://schemas.openxmlformats.org/officeDocument/2006/relationships/image" Target="../media/image-33-11.png"/><Relationship Id="rId12" Type="http://schemas.openxmlformats.org/officeDocument/2006/relationships/slideLayout" Target="../slideLayouts/slideLayout1.xml"/><Relationship Id="rId1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opt/black_219.png">    </p:cNvPr>
          <p:cNvPicPr>
            <a:picLocks noChangeAspect="1"/>
          </p:cNvPicPr>
          <p:nvPr/>
        </p:nvPicPr>
        <p:blipFill>
          <a:blip r:embed="rId2"/>
          <a:stretch>
            <a:fillRect/>
          </a:stretch>
        </p:blipFill>
        <p:spPr>
          <a:xfrm>
            <a:off x="640080" y="502920"/>
            <a:ext cx="4937760" cy="402336"/>
          </a:xfrm>
          <a:prstGeom prst="rect">
            <a:avLst/>
          </a:prstGeom>
        </p:spPr>
      </p:pic>
      <p:sp>
        <p:nvSpPr>
          <p:cNvPr id="4" name="Text 0"/>
          <p:cNvSpPr/>
          <p:nvPr/>
        </p:nvSpPr>
        <p:spPr>
          <a:xfrm>
            <a:off x="868680" y="555699"/>
            <a:ext cx="4480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STRATEGIC MANAGEMENT  ·  CHAPTER 4</a:t>
            </a:r>
            <a:endParaRPr lang="en-US" sz="1200" dirty="0"/>
          </a:p>
        </p:txBody>
      </p:sp>
      <p:sp>
        <p:nvSpPr>
          <p:cNvPr id="5" name="Text 1"/>
          <p:cNvSpPr/>
          <p:nvPr/>
        </p:nvSpPr>
        <p:spPr>
          <a:xfrm>
            <a:off x="640080" y="1051560"/>
            <a:ext cx="5212080" cy="2286000"/>
          </a:xfrm>
          <a:prstGeom prst="rect">
            <a:avLst/>
          </a:prstGeom>
          <a:noFill/>
          <a:ln/>
        </p:spPr>
        <p:txBody>
          <a:bodyPr wrap="square" lIns="0" tIns="0" rIns="0" bIns="0" rtlCol="0" anchor="t"/>
          <a:lstStyle/>
          <a:p>
            <a:pPr indent="0" marL="0">
              <a:lnSpc>
                <a:spcPct val="92000"/>
              </a:lnSpc>
              <a:buNone/>
            </a:pPr>
            <a:r>
              <a:rPr lang="en-US" sz="3200" dirty="0">
                <a:solidFill>
                  <a:srgbClr val="FFFFFF"/>
                </a:solidFill>
                <a:latin typeface="Poppins ExtraBold" pitchFamily="34" charset="0"/>
                <a:ea typeface="Poppins ExtraBold" pitchFamily="34" charset="-122"/>
                <a:cs typeface="Poppins ExtraBold" pitchFamily="34" charset="-120"/>
              </a:rPr>
              <a:t>EVALUATING A COMPANY'S RESOURCES, CAPABILITIES, AND COMPETITIVENESS</a:t>
            </a:r>
            <a:endParaRPr lang="en-US" sz="3200" dirty="0"/>
          </a:p>
        </p:txBody>
      </p:sp>
      <p:sp>
        <p:nvSpPr>
          <p:cNvPr id="6" name="Text 2"/>
          <p:cNvSpPr/>
          <p:nvPr/>
        </p:nvSpPr>
        <p:spPr>
          <a:xfrm>
            <a:off x="640080" y="3310128"/>
            <a:ext cx="5212080" cy="548640"/>
          </a:xfrm>
          <a:prstGeom prst="rect">
            <a:avLst/>
          </a:prstGeom>
          <a:noFill/>
          <a:ln/>
        </p:spPr>
        <p:txBody>
          <a:bodyPr wrap="square" lIns="0" tIns="0" rIns="0" bIns="0" rtlCol="0" anchor="t"/>
          <a:lstStyle/>
          <a:p>
            <a:pPr indent="0" marL="0">
              <a:lnSpc>
                <a:spcPct val="115000"/>
              </a:lnSpc>
              <a:buNone/>
            </a:pPr>
            <a:r>
              <a:rPr lang="en-US" sz="1200" dirty="0">
                <a:solidFill>
                  <a:srgbClr val="E9DDD8"/>
                </a:solidFill>
                <a:latin typeface="Poppins" pitchFamily="34" charset="0"/>
                <a:ea typeface="Poppins" pitchFamily="34" charset="-122"/>
                <a:cs typeface="Poppins" pitchFamily="34" charset="-120"/>
              </a:rPr>
              <a:t>Thompson  ·  Peteraf  ·  Gamble  ·  Strickland</a:t>
            </a:r>
            <a:endParaRPr lang="en-US" sz="1200" dirty="0"/>
          </a:p>
          <a:p>
            <a:pPr indent="0" marL="0">
              <a:lnSpc>
                <a:spcPct val="115000"/>
              </a:lnSpc>
              <a:buNone/>
            </a:pPr>
            <a:r>
              <a:rPr lang="en-US" sz="1200" dirty="0">
                <a:solidFill>
                  <a:srgbClr val="E9DDD8"/>
                </a:solidFill>
                <a:latin typeface="Poppins" pitchFamily="34" charset="0"/>
                <a:ea typeface="Poppins" pitchFamily="34" charset="-122"/>
                <a:cs typeface="Poppins" pitchFamily="34" charset="-120"/>
              </a:rPr>
              <a:t>Crafting &amp; Executing Strategy, 2024 Release ISE</a:t>
            </a:r>
            <a:endParaRPr lang="en-US" sz="1200" dirty="0"/>
          </a:p>
        </p:txBody>
      </p:sp>
      <p:pic>
        <p:nvPicPr>
          <p:cNvPr id="7" name="Image 1" descr="opt/red_219.png">    </p:cNvPr>
          <p:cNvPicPr>
            <a:picLocks noChangeAspect="1"/>
          </p:cNvPicPr>
          <p:nvPr/>
        </p:nvPicPr>
        <p:blipFill>
          <a:blip r:embed="rId3"/>
          <a:stretch>
            <a:fillRect/>
          </a:stretch>
        </p:blipFill>
        <p:spPr>
          <a:xfrm rot="-90000">
            <a:off x="502920" y="3657600"/>
            <a:ext cx="5303520" cy="1463040"/>
          </a:xfrm>
          <a:prstGeom prst="rect">
            <a:avLst/>
          </a:prstGeom>
        </p:spPr>
      </p:pic>
      <p:sp>
        <p:nvSpPr>
          <p:cNvPr id="8" name="Text 3"/>
          <p:cNvSpPr/>
          <p:nvPr/>
        </p:nvSpPr>
        <p:spPr>
          <a:xfrm>
            <a:off x="868680" y="3913632"/>
            <a:ext cx="2743200" cy="2286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STUDI KASUS</a:t>
            </a:r>
            <a:endParaRPr lang="en-US" sz="1200" dirty="0"/>
          </a:p>
        </p:txBody>
      </p:sp>
      <p:sp>
        <p:nvSpPr>
          <p:cNvPr id="9" name="Text 4"/>
          <p:cNvSpPr/>
          <p:nvPr/>
        </p:nvSpPr>
        <p:spPr>
          <a:xfrm>
            <a:off x="868680" y="4151376"/>
            <a:ext cx="4572000" cy="566928"/>
          </a:xfrm>
          <a:prstGeom prst="rect">
            <a:avLst/>
          </a:prstGeom>
          <a:noFill/>
          <a:ln/>
        </p:spPr>
        <p:txBody>
          <a:bodyPr wrap="square" lIns="0" tIns="0" rIns="0" bIns="0" rtlCol="0" anchor="t"/>
          <a:lstStyle/>
          <a:p>
            <a:pPr indent="0" marL="0">
              <a:lnSpc>
                <a:spcPct val="98000"/>
              </a:lnSpc>
              <a:buNone/>
            </a:pPr>
            <a:r>
              <a:rPr lang="en-US" sz="1400" dirty="0">
                <a:solidFill>
                  <a:srgbClr val="FFFFFF"/>
                </a:solidFill>
                <a:latin typeface="Poppins ExtraBold" pitchFamily="34" charset="0"/>
                <a:ea typeface="Poppins ExtraBold" pitchFamily="34" charset="-122"/>
                <a:cs typeface="Poppins ExtraBold" pitchFamily="34" charset="-120"/>
              </a:rPr>
              <a:t>Manchester United: Preparing for Life without Ferguson</a:t>
            </a:r>
            <a:endParaRPr lang="en-US" sz="1400" dirty="0"/>
          </a:p>
        </p:txBody>
      </p:sp>
      <p:sp>
        <p:nvSpPr>
          <p:cNvPr id="10" name="Text 5"/>
          <p:cNvSpPr/>
          <p:nvPr/>
        </p:nvSpPr>
        <p:spPr>
          <a:xfrm>
            <a:off x="868680" y="4700016"/>
            <a:ext cx="4572000" cy="207386"/>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Robert M. Grant (2010)   ·   setting Juli 2009</a:t>
            </a:r>
            <a:endParaRPr lang="en-US" sz="1200" dirty="0"/>
          </a:p>
        </p:txBody>
      </p:sp>
      <p:sp>
        <p:nvSpPr>
          <p:cNvPr id="11" name="Text 6"/>
          <p:cNvSpPr/>
          <p:nvPr/>
        </p:nvSpPr>
        <p:spPr>
          <a:xfrm>
            <a:off x="640080" y="5257800"/>
            <a:ext cx="2743200" cy="2286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DOSEN PENGAMPU</a:t>
            </a:r>
            <a:endParaRPr lang="en-US" sz="1200" dirty="0"/>
          </a:p>
        </p:txBody>
      </p:sp>
      <p:sp>
        <p:nvSpPr>
          <p:cNvPr id="12" name="Text 7"/>
          <p:cNvSpPr/>
          <p:nvPr/>
        </p:nvSpPr>
        <p:spPr>
          <a:xfrm>
            <a:off x="640080" y="5477256"/>
            <a:ext cx="5212080" cy="274320"/>
          </a:xfrm>
          <a:prstGeom prst="rect">
            <a:avLst/>
          </a:prstGeom>
          <a:noFill/>
          <a:ln/>
        </p:spPr>
        <p:txBody>
          <a:bodyPr wrap="square" lIns="0" tIns="0" rIns="0" bIns="0" rtlCol="0" anchor="t"/>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Dr. Rangga Almahendra, S.T., M.M.</a:t>
            </a:r>
            <a:endParaRPr lang="en-US" sz="1200" dirty="0"/>
          </a:p>
        </p:txBody>
      </p:sp>
      <p:sp>
        <p:nvSpPr>
          <p:cNvPr id="13" name="Text 8"/>
          <p:cNvSpPr/>
          <p:nvPr/>
        </p:nvSpPr>
        <p:spPr>
          <a:xfrm>
            <a:off x="640080" y="5833872"/>
            <a:ext cx="2743200" cy="2286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KELOMPOK 4</a:t>
            </a:r>
            <a:endParaRPr lang="en-US" sz="1200" dirty="0"/>
          </a:p>
        </p:txBody>
      </p:sp>
      <p:sp>
        <p:nvSpPr>
          <p:cNvPr id="14" name="Text 9"/>
          <p:cNvSpPr/>
          <p:nvPr/>
        </p:nvSpPr>
        <p:spPr>
          <a:xfrm>
            <a:off x="640080" y="6053328"/>
            <a:ext cx="5212080" cy="502920"/>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Poppins Medium" pitchFamily="34" charset="0"/>
                <a:ea typeface="Poppins Medium" pitchFamily="34" charset="-122"/>
                <a:cs typeface="Poppins Medium" pitchFamily="34" charset="-120"/>
              </a:rPr>
              <a:t>Fitra Aidila · Aulia Sisca Rahmadiyanti · Bagaskoro</a:t>
            </a:r>
            <a:endParaRPr lang="en-US" sz="1200" dirty="0"/>
          </a:p>
          <a:p>
            <a:pPr indent="0" marL="0">
              <a:lnSpc>
                <a:spcPct val="110000"/>
              </a:lnSpc>
              <a:buNone/>
            </a:pPr>
            <a:r>
              <a:rPr lang="en-US" sz="1200" dirty="0">
                <a:solidFill>
                  <a:srgbClr val="FFFFFF"/>
                </a:solidFill>
                <a:latin typeface="Poppins Medium" pitchFamily="34" charset="0"/>
                <a:ea typeface="Poppins Medium" pitchFamily="34" charset="-122"/>
                <a:cs typeface="Poppins Medium" pitchFamily="34" charset="-120"/>
              </a:rPr>
              <a:t>Imam Prayudha · Tegar Awanto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537460" cy="402336"/>
          </a:xfrm>
          <a:prstGeom prst="rect">
            <a:avLst/>
          </a:prstGeom>
        </p:spPr>
      </p:pic>
      <p:sp>
        <p:nvSpPr>
          <p:cNvPr id="3" name="Text 0"/>
          <p:cNvSpPr/>
          <p:nvPr/>
        </p:nvSpPr>
        <p:spPr>
          <a:xfrm>
            <a:off x="868680" y="381963"/>
            <a:ext cx="20802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ALUR PRESENTASI</a:t>
            </a:r>
            <a:endParaRPr lang="en-US" sz="1200" dirty="0"/>
          </a:p>
        </p:txBody>
      </p:sp>
      <p:sp>
        <p:nvSpPr>
          <p:cNvPr id="4" name="Text 1"/>
          <p:cNvSpPr/>
          <p:nvPr/>
        </p:nvSpPr>
        <p:spPr>
          <a:xfrm>
            <a:off x="640080" y="859536"/>
            <a:ext cx="1060704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AGENDA</a:t>
            </a:r>
            <a:endParaRPr lang="en-US" sz="2400" dirty="0"/>
          </a:p>
        </p:txBody>
      </p:sp>
      <p:sp>
        <p:nvSpPr>
          <p:cNvPr id="5" name="Text 2"/>
          <p:cNvSpPr/>
          <p:nvPr/>
        </p:nvSpPr>
        <p:spPr>
          <a:xfrm>
            <a:off x="640080" y="1371600"/>
            <a:ext cx="1042416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Teori Chapter 4 dibahas lebih dulu, lalu diterapkan pada kasus Manchester United. Urutannya sengaja sama, supaya terlihat framework mana dipakai untuk menjawab apa.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02</a:t>
            </a:r>
            <a:endParaRPr lang="en-US" sz="1200" dirty="0"/>
          </a:p>
        </p:txBody>
      </p:sp>
      <p:sp>
        <p:nvSpPr>
          <p:cNvPr id="10" name="Text 5"/>
          <p:cNvSpPr/>
          <p:nvPr/>
        </p:nvSpPr>
        <p:spPr>
          <a:xfrm>
            <a:off x="640080" y="1920240"/>
            <a:ext cx="1097280" cy="731520"/>
          </a:xfrm>
          <a:prstGeom prst="rect">
            <a:avLst/>
          </a:prstGeom>
          <a:noFill/>
          <a:ln/>
        </p:spPr>
        <p:txBody>
          <a:bodyPr wrap="square" lIns="0" tIns="0" rIns="0" bIns="0" rtlCol="0" anchor="t"/>
          <a:lstStyle/>
          <a:p>
            <a:pPr indent="0" marL="0">
              <a:buNone/>
            </a:pPr>
            <a:r>
              <a:rPr lang="en-US" sz="3000" dirty="0">
                <a:solidFill>
                  <a:srgbClr val="FBE122"/>
                </a:solidFill>
                <a:latin typeface="Poppins ExtraBold" pitchFamily="34" charset="0"/>
                <a:ea typeface="Poppins ExtraBold" pitchFamily="34" charset="-122"/>
                <a:cs typeface="Poppins ExtraBold" pitchFamily="34" charset="-120"/>
              </a:rPr>
              <a:t>01</a:t>
            </a:r>
            <a:endParaRPr lang="en-US" sz="3000" dirty="0"/>
          </a:p>
        </p:txBody>
      </p:sp>
      <p:sp>
        <p:nvSpPr>
          <p:cNvPr id="11" name="Text 6"/>
          <p:cNvSpPr/>
          <p:nvPr/>
        </p:nvSpPr>
        <p:spPr>
          <a:xfrm>
            <a:off x="1783080" y="1938528"/>
            <a:ext cx="6492240" cy="27432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Framework Chapter 4</a:t>
            </a:r>
            <a:endParaRPr lang="en-US" sz="1400" dirty="0"/>
          </a:p>
        </p:txBody>
      </p:sp>
      <p:sp>
        <p:nvSpPr>
          <p:cNvPr id="12" name="Text 7"/>
          <p:cNvSpPr/>
          <p:nvPr/>
        </p:nvSpPr>
        <p:spPr>
          <a:xfrm>
            <a:off x="1783080" y="2231136"/>
            <a:ext cx="2743200"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SLIDE 3 – 17</a:t>
            </a:r>
            <a:endParaRPr lang="en-US" sz="1200" dirty="0"/>
          </a:p>
        </p:txBody>
      </p:sp>
      <p:sp>
        <p:nvSpPr>
          <p:cNvPr id="13" name="Text 8"/>
          <p:cNvSpPr/>
          <p:nvPr/>
        </p:nvSpPr>
        <p:spPr>
          <a:xfrm>
            <a:off x="1783080" y="2468880"/>
            <a:ext cx="6492240" cy="457200"/>
          </a:xfrm>
          <a:prstGeom prst="rect">
            <a:avLst/>
          </a:prstGeom>
          <a:noFill/>
          <a:ln/>
        </p:spPr>
        <p:txBody>
          <a:bodyPr wrap="square" lIns="0" tIns="0" rIns="0" bIns="0" rtlCol="0" anchor="t"/>
          <a:lstStyle/>
          <a:p>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Enam pertanyaan analisis internal dan alatnya: Table 4.1, SWOT, VRIN Test, Value Chain, Competitive Strength Assessment, Priority List.</a:t>
            </a:r>
            <a:endParaRPr lang="en-US" sz="1200" dirty="0"/>
          </a:p>
        </p:txBody>
      </p:sp>
      <p:pic>
        <p:nvPicPr>
          <p:cNvPr id="14" name="Image 2" descr="opt/red_219.png">    </p:cNvPr>
          <p:cNvPicPr>
            <a:picLocks noChangeAspect="1"/>
          </p:cNvPicPr>
          <p:nvPr/>
        </p:nvPicPr>
        <p:blipFill>
          <a:blip r:embed="rId4"/>
          <a:stretch>
            <a:fillRect/>
          </a:stretch>
        </p:blipFill>
        <p:spPr>
          <a:xfrm>
            <a:off x="640080" y="2926080"/>
            <a:ext cx="822960" cy="91440"/>
          </a:xfrm>
          <a:prstGeom prst="rect">
            <a:avLst/>
          </a:prstGeom>
        </p:spPr>
      </p:pic>
      <p:sp>
        <p:nvSpPr>
          <p:cNvPr id="15" name="Text 9"/>
          <p:cNvSpPr/>
          <p:nvPr/>
        </p:nvSpPr>
        <p:spPr>
          <a:xfrm>
            <a:off x="640080" y="2999232"/>
            <a:ext cx="1097280" cy="731520"/>
          </a:xfrm>
          <a:prstGeom prst="rect">
            <a:avLst/>
          </a:prstGeom>
          <a:noFill/>
          <a:ln/>
        </p:spPr>
        <p:txBody>
          <a:bodyPr wrap="square" lIns="0" tIns="0" rIns="0" bIns="0" rtlCol="0" anchor="t"/>
          <a:lstStyle/>
          <a:p>
            <a:pPr indent="0" marL="0">
              <a:buNone/>
            </a:pPr>
            <a:r>
              <a:rPr lang="en-US" sz="3000" dirty="0">
                <a:solidFill>
                  <a:srgbClr val="DA291C"/>
                </a:solidFill>
                <a:latin typeface="Poppins ExtraBold" pitchFamily="34" charset="0"/>
                <a:ea typeface="Poppins ExtraBold" pitchFamily="34" charset="-122"/>
                <a:cs typeface="Poppins ExtraBold" pitchFamily="34" charset="-120"/>
              </a:rPr>
              <a:t>02</a:t>
            </a:r>
            <a:endParaRPr lang="en-US" sz="3000" dirty="0"/>
          </a:p>
        </p:txBody>
      </p:sp>
      <p:sp>
        <p:nvSpPr>
          <p:cNvPr id="16" name="Text 10"/>
          <p:cNvSpPr/>
          <p:nvPr/>
        </p:nvSpPr>
        <p:spPr>
          <a:xfrm>
            <a:off x="1783080" y="3017520"/>
            <a:ext cx="6492240" cy="27432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Penerapan pada Manchester United</a:t>
            </a:r>
            <a:endParaRPr lang="en-US" sz="1400" dirty="0"/>
          </a:p>
        </p:txBody>
      </p:sp>
      <p:sp>
        <p:nvSpPr>
          <p:cNvPr id="17" name="Text 11"/>
          <p:cNvSpPr/>
          <p:nvPr/>
        </p:nvSpPr>
        <p:spPr>
          <a:xfrm>
            <a:off x="1783080" y="3310128"/>
            <a:ext cx="2743200"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SLIDE 18 – 32</a:t>
            </a:r>
            <a:endParaRPr lang="en-US" sz="1200" dirty="0"/>
          </a:p>
        </p:txBody>
      </p:sp>
      <p:sp>
        <p:nvSpPr>
          <p:cNvPr id="18" name="Text 12"/>
          <p:cNvSpPr/>
          <p:nvPr/>
        </p:nvSpPr>
        <p:spPr>
          <a:xfrm>
            <a:off x="1783080" y="3547872"/>
            <a:ext cx="6492240" cy="457200"/>
          </a:xfrm>
          <a:prstGeom prst="rect">
            <a:avLst/>
          </a:prstGeom>
          <a:noFill/>
          <a:ln/>
        </p:spPr>
        <p:txBody>
          <a:bodyPr wrap="square" lIns="0" tIns="0" rIns="0" bIns="0" rtlCol="0" anchor="t"/>
          <a:lstStyle/>
          <a:p>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Kinerja, SWOT, resource dan capability, VRIN Test, Value Chain, Benchmarking, dan Competitive Strength Assessment MU pada Juli 2009.</a:t>
            </a:r>
            <a:endParaRPr lang="en-US" sz="1200" dirty="0"/>
          </a:p>
        </p:txBody>
      </p:sp>
      <p:pic>
        <p:nvPicPr>
          <p:cNvPr id="19" name="Image 3" descr="opt/red_219.png">    </p:cNvPr>
          <p:cNvPicPr>
            <a:picLocks noChangeAspect="1"/>
          </p:cNvPicPr>
          <p:nvPr/>
        </p:nvPicPr>
        <p:blipFill>
          <a:blip r:embed="rId5"/>
          <a:stretch>
            <a:fillRect/>
          </a:stretch>
        </p:blipFill>
        <p:spPr>
          <a:xfrm>
            <a:off x="640080" y="4005072"/>
            <a:ext cx="822960" cy="91440"/>
          </a:xfrm>
          <a:prstGeom prst="rect">
            <a:avLst/>
          </a:prstGeom>
        </p:spPr>
      </p:pic>
      <p:sp>
        <p:nvSpPr>
          <p:cNvPr id="20" name="Text 13"/>
          <p:cNvSpPr/>
          <p:nvPr/>
        </p:nvSpPr>
        <p:spPr>
          <a:xfrm>
            <a:off x="640080" y="4078224"/>
            <a:ext cx="1097280" cy="731520"/>
          </a:xfrm>
          <a:prstGeom prst="rect">
            <a:avLst/>
          </a:prstGeom>
          <a:noFill/>
          <a:ln/>
        </p:spPr>
        <p:txBody>
          <a:bodyPr wrap="square" lIns="0" tIns="0" rIns="0" bIns="0" rtlCol="0" anchor="t"/>
          <a:lstStyle/>
          <a:p>
            <a:pPr indent="0" marL="0">
              <a:buNone/>
            </a:pPr>
            <a:r>
              <a:rPr lang="en-US" sz="3000" dirty="0">
                <a:solidFill>
                  <a:srgbClr val="DA291C"/>
                </a:solidFill>
                <a:latin typeface="Poppins ExtraBold" pitchFamily="34" charset="0"/>
                <a:ea typeface="Poppins ExtraBold" pitchFamily="34" charset="-122"/>
                <a:cs typeface="Poppins ExtraBold" pitchFamily="34" charset="-120"/>
              </a:rPr>
              <a:t>03</a:t>
            </a:r>
            <a:endParaRPr lang="en-US" sz="3000" dirty="0"/>
          </a:p>
        </p:txBody>
      </p:sp>
      <p:sp>
        <p:nvSpPr>
          <p:cNvPr id="21" name="Text 14"/>
          <p:cNvSpPr/>
          <p:nvPr/>
        </p:nvSpPr>
        <p:spPr>
          <a:xfrm>
            <a:off x="1783080" y="4096512"/>
            <a:ext cx="6492240" cy="27432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Priority List</a:t>
            </a:r>
            <a:endParaRPr lang="en-US" sz="1400" dirty="0"/>
          </a:p>
        </p:txBody>
      </p:sp>
      <p:sp>
        <p:nvSpPr>
          <p:cNvPr id="22" name="Text 15"/>
          <p:cNvSpPr/>
          <p:nvPr/>
        </p:nvSpPr>
        <p:spPr>
          <a:xfrm>
            <a:off x="1783080" y="4389120"/>
            <a:ext cx="2743200"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SLIDE 33</a:t>
            </a:r>
            <a:endParaRPr lang="en-US" sz="1200" dirty="0"/>
          </a:p>
        </p:txBody>
      </p:sp>
      <p:sp>
        <p:nvSpPr>
          <p:cNvPr id="23" name="Text 16"/>
          <p:cNvSpPr/>
          <p:nvPr/>
        </p:nvSpPr>
        <p:spPr>
          <a:xfrm>
            <a:off x="1783080" y="4626864"/>
            <a:ext cx="6492240" cy="457200"/>
          </a:xfrm>
          <a:prstGeom prst="rect">
            <a:avLst/>
          </a:prstGeom>
          <a:noFill/>
          <a:ln/>
        </p:spPr>
        <p:txBody>
          <a:bodyPr wrap="square" lIns="0" tIns="0" rIns="0" bIns="0" rtlCol="0" anchor="t"/>
          <a:lstStyle/>
          <a:p>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Enam isu untuk David Gill, ditulis sebagai pertanyaan sesuai aturan buku.</a:t>
            </a:r>
            <a:endParaRPr lang="en-US" sz="1200" dirty="0"/>
          </a:p>
        </p:txBody>
      </p:sp>
      <p:pic>
        <p:nvPicPr>
          <p:cNvPr id="24" name="Image 4" descr="opt/red_219.png">    </p:cNvPr>
          <p:cNvPicPr>
            <a:picLocks noChangeAspect="1"/>
          </p:cNvPicPr>
          <p:nvPr/>
        </p:nvPicPr>
        <p:blipFill>
          <a:blip r:embed="rId6"/>
          <a:stretch>
            <a:fillRect/>
          </a:stretch>
        </p:blipFill>
        <p:spPr>
          <a:xfrm>
            <a:off x="640080" y="5084064"/>
            <a:ext cx="822960" cy="91440"/>
          </a:xfrm>
          <a:prstGeom prst="rect">
            <a:avLst/>
          </a:prstGeom>
        </p:spPr>
      </p:pic>
      <p:sp>
        <p:nvSpPr>
          <p:cNvPr id="25" name="Text 17"/>
          <p:cNvSpPr/>
          <p:nvPr/>
        </p:nvSpPr>
        <p:spPr>
          <a:xfrm>
            <a:off x="640080" y="5157216"/>
            <a:ext cx="1097280" cy="731520"/>
          </a:xfrm>
          <a:prstGeom prst="rect">
            <a:avLst/>
          </a:prstGeom>
          <a:noFill/>
          <a:ln/>
        </p:spPr>
        <p:txBody>
          <a:bodyPr wrap="square" lIns="0" tIns="0" rIns="0" bIns="0" rtlCol="0" anchor="t"/>
          <a:lstStyle/>
          <a:p>
            <a:pPr indent="0" marL="0">
              <a:buNone/>
            </a:pPr>
            <a:r>
              <a:rPr lang="en-US" sz="3000" dirty="0">
                <a:solidFill>
                  <a:srgbClr val="DA291C"/>
                </a:solidFill>
                <a:latin typeface="Poppins ExtraBold" pitchFamily="34" charset="0"/>
                <a:ea typeface="Poppins ExtraBold" pitchFamily="34" charset="-122"/>
                <a:cs typeface="Poppins ExtraBold" pitchFamily="34" charset="-120"/>
              </a:rPr>
              <a:t>04</a:t>
            </a:r>
            <a:endParaRPr lang="en-US" sz="3000" dirty="0"/>
          </a:p>
        </p:txBody>
      </p:sp>
      <p:sp>
        <p:nvSpPr>
          <p:cNvPr id="26" name="Text 18"/>
          <p:cNvSpPr/>
          <p:nvPr/>
        </p:nvSpPr>
        <p:spPr>
          <a:xfrm>
            <a:off x="1783080" y="5175504"/>
            <a:ext cx="6492240" cy="274320"/>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Diskusi</a:t>
            </a:r>
            <a:endParaRPr lang="en-US" sz="1400" dirty="0"/>
          </a:p>
        </p:txBody>
      </p:sp>
      <p:sp>
        <p:nvSpPr>
          <p:cNvPr id="27" name="Text 19"/>
          <p:cNvSpPr/>
          <p:nvPr/>
        </p:nvSpPr>
        <p:spPr>
          <a:xfrm>
            <a:off x="1783080" y="5468112"/>
            <a:ext cx="2743200"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SLIDE 34</a:t>
            </a:r>
            <a:endParaRPr lang="en-US" sz="1200" dirty="0"/>
          </a:p>
        </p:txBody>
      </p:sp>
      <p:sp>
        <p:nvSpPr>
          <p:cNvPr id="28" name="Text 20"/>
          <p:cNvSpPr/>
          <p:nvPr/>
        </p:nvSpPr>
        <p:spPr>
          <a:xfrm>
            <a:off x="1783080" y="5705856"/>
            <a:ext cx="6492240" cy="457200"/>
          </a:xfrm>
          <a:prstGeom prst="rect">
            <a:avLst/>
          </a:prstGeom>
          <a:noFill/>
          <a:ln/>
        </p:spPr>
        <p:txBody>
          <a:bodyPr wrap="square" lIns="0" tIns="0" rIns="0" bIns="0" rtlCol="0" anchor="t"/>
          <a:lstStyle/>
          <a:p>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Tanya jawab dan diskusi kelas.</a:t>
            </a:r>
            <a:endParaRPr lang="en-US" sz="1200" dirty="0"/>
          </a:p>
        </p:txBody>
      </p:sp>
      <p:pic>
        <p:nvPicPr>
          <p:cNvPr id="29" name="Image 5" descr="opt/red_219.png">    </p:cNvPr>
          <p:cNvPicPr>
            <a:picLocks noChangeAspect="1"/>
          </p:cNvPicPr>
          <p:nvPr/>
        </p:nvPicPr>
        <p:blipFill>
          <a:blip r:embed="rId7"/>
          <a:stretch>
            <a:fillRect/>
          </a:stretch>
        </p:blipFill>
        <p:spPr>
          <a:xfrm>
            <a:off x="640080" y="6163056"/>
            <a:ext cx="822960" cy="91440"/>
          </a:xfrm>
          <a:prstGeom prst="rect">
            <a:avLst/>
          </a:prstGeom>
        </p:spPr>
      </p:pic>
      <p:pic>
        <p:nvPicPr>
          <p:cNvPr id="30" name="Image 6" descr="c_sq_b.jpg">    </p:cNvPr>
          <p:cNvPicPr>
            <a:picLocks noChangeAspect="1"/>
          </p:cNvPicPr>
          <p:nvPr/>
        </p:nvPicPr>
        <p:blipFill>
          <a:blip r:embed="rId8"/>
          <a:stretch>
            <a:fillRect/>
          </a:stretch>
        </p:blipFill>
        <p:spPr>
          <a:xfrm rot="120000">
            <a:off x="8579815" y="1874520"/>
            <a:ext cx="2971800" cy="2971800"/>
          </a:xfrm>
          <a:prstGeom prst="rect">
            <a:avLst/>
          </a:prstGeom>
        </p:spPr>
      </p:pic>
      <p:pic>
        <p:nvPicPr>
          <p:cNvPr id="31" name="Image 7" descr="opt/st_ticket.png">    </p:cNvPr>
          <p:cNvPicPr>
            <a:picLocks noChangeAspect="1"/>
          </p:cNvPicPr>
          <p:nvPr/>
        </p:nvPicPr>
        <p:blipFill>
          <a:blip r:embed="rId9"/>
          <a:stretch>
            <a:fillRect/>
          </a:stretch>
        </p:blipFill>
        <p:spPr>
          <a:xfrm rot="-720000">
            <a:off x="9098280" y="5074920"/>
            <a:ext cx="1463040" cy="9507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1737360" cy="402336"/>
          </a:xfrm>
          <a:prstGeom prst="rect">
            <a:avLst/>
          </a:prstGeom>
        </p:spPr>
      </p:pic>
      <p:sp>
        <p:nvSpPr>
          <p:cNvPr id="3" name="Text 0"/>
          <p:cNvSpPr/>
          <p:nvPr/>
        </p:nvSpPr>
        <p:spPr>
          <a:xfrm>
            <a:off x="868680" y="381963"/>
            <a:ext cx="12801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BAGIAN A</a:t>
            </a:r>
            <a:endParaRPr lang="en-US" sz="1200" dirty="0"/>
          </a:p>
        </p:txBody>
      </p:sp>
      <p:sp>
        <p:nvSpPr>
          <p:cNvPr id="4" name="Text 1"/>
          <p:cNvSpPr/>
          <p:nvPr/>
        </p:nvSpPr>
        <p:spPr>
          <a:xfrm>
            <a:off x="640080" y="859536"/>
            <a:ext cx="1060704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ENAM PERTANYAAN</a:t>
            </a:r>
            <a:endParaRPr lang="en-US" sz="2400" dirty="0"/>
          </a:p>
        </p:txBody>
      </p:sp>
      <p:sp>
        <p:nvSpPr>
          <p:cNvPr id="5" name="Text 2"/>
          <p:cNvSpPr/>
          <p:nvPr/>
        </p:nvSpPr>
        <p:spPr>
          <a:xfrm>
            <a:off x="640080" y="1371600"/>
            <a:ext cx="1042416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Chapter 4 adalah satu alur pemeriksaan dalam enam pertanyaan berurutan. Jawaban pertanyaan sebelumnya jadi bahan pertanyaan berikutnya.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03</a:t>
            </a:r>
            <a:endParaRPr lang="en-US" sz="1200" dirty="0"/>
          </a:p>
        </p:txBody>
      </p:sp>
      <p:pic>
        <p:nvPicPr>
          <p:cNvPr id="10" name="Image 2" descr="c_tall_a.jpg">    </p:cNvPr>
          <p:cNvPicPr>
            <a:picLocks noChangeAspect="1"/>
          </p:cNvPicPr>
          <p:nvPr/>
        </p:nvPicPr>
        <p:blipFill>
          <a:blip r:embed="rId4"/>
          <a:stretch>
            <a:fillRect/>
          </a:stretch>
        </p:blipFill>
        <p:spPr>
          <a:xfrm rot="90000">
            <a:off x="9183745" y="1828800"/>
            <a:ext cx="2322151" cy="4160520"/>
          </a:xfrm>
          <a:prstGeom prst="rect">
            <a:avLst/>
          </a:prstGeom>
        </p:spPr>
      </p:pic>
      <p:pic>
        <p:nvPicPr>
          <p:cNvPr id="11" name="Image 3" descr="opt/paper_43.png">    </p:cNvPr>
          <p:cNvPicPr>
            <a:picLocks noChangeAspect="1"/>
          </p:cNvPicPr>
          <p:nvPr/>
        </p:nvPicPr>
        <p:blipFill>
          <a:blip r:embed="rId5"/>
          <a:stretch>
            <a:fillRect/>
          </a:stretch>
        </p:blipFill>
        <p:spPr>
          <a:xfrm>
            <a:off x="640080" y="1920240"/>
            <a:ext cx="2697480" cy="2011680"/>
          </a:xfrm>
          <a:prstGeom prst="rect">
            <a:avLst/>
          </a:prstGeom>
        </p:spPr>
      </p:pic>
      <p:sp>
        <p:nvSpPr>
          <p:cNvPr id="12" name="Text 5"/>
          <p:cNvSpPr/>
          <p:nvPr/>
        </p:nvSpPr>
        <p:spPr>
          <a:xfrm>
            <a:off x="932688" y="210659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1</a:t>
            </a:r>
            <a:endParaRPr lang="en-US" sz="2800" dirty="0"/>
          </a:p>
        </p:txBody>
      </p:sp>
      <p:sp>
        <p:nvSpPr>
          <p:cNvPr id="13" name="Text 6"/>
          <p:cNvSpPr/>
          <p:nvPr/>
        </p:nvSpPr>
        <p:spPr>
          <a:xfrm>
            <a:off x="932688" y="265176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Seberapa baik strategi yang sekarang bekerja?</a:t>
            </a:r>
            <a:endParaRPr lang="en-US" sz="1200" dirty="0"/>
          </a:p>
        </p:txBody>
      </p:sp>
      <p:sp>
        <p:nvSpPr>
          <p:cNvPr id="14" name="Text 7"/>
          <p:cNvSpPr/>
          <p:nvPr/>
        </p:nvSpPr>
        <p:spPr>
          <a:xfrm>
            <a:off x="932688" y="338328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Performance indicators + Table 4.1</a:t>
            </a:r>
            <a:endParaRPr lang="en-US" sz="1200" dirty="0"/>
          </a:p>
        </p:txBody>
      </p:sp>
      <p:pic>
        <p:nvPicPr>
          <p:cNvPr id="15" name="Image 4" descr="opt/paper_43.png">    </p:cNvPr>
          <p:cNvPicPr>
            <a:picLocks noChangeAspect="1"/>
          </p:cNvPicPr>
          <p:nvPr/>
        </p:nvPicPr>
        <p:blipFill>
          <a:blip r:embed="rId6"/>
          <a:stretch>
            <a:fillRect/>
          </a:stretch>
        </p:blipFill>
        <p:spPr>
          <a:xfrm>
            <a:off x="3502152" y="1920240"/>
            <a:ext cx="2697480" cy="2011680"/>
          </a:xfrm>
          <a:prstGeom prst="rect">
            <a:avLst/>
          </a:prstGeom>
        </p:spPr>
      </p:pic>
      <p:sp>
        <p:nvSpPr>
          <p:cNvPr id="16" name="Text 8"/>
          <p:cNvSpPr/>
          <p:nvPr/>
        </p:nvSpPr>
        <p:spPr>
          <a:xfrm>
            <a:off x="3794760" y="210659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2</a:t>
            </a:r>
            <a:endParaRPr lang="en-US" sz="2800" dirty="0"/>
          </a:p>
        </p:txBody>
      </p:sp>
      <p:sp>
        <p:nvSpPr>
          <p:cNvPr id="17" name="Text 9"/>
          <p:cNvSpPr/>
          <p:nvPr/>
        </p:nvSpPr>
        <p:spPr>
          <a:xfrm>
            <a:off x="3794760" y="265176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Apa kekuatan dan kelemahan kita, dihadapkan pada peluang dan ancaman?</a:t>
            </a:r>
            <a:endParaRPr lang="en-US" sz="1200" dirty="0"/>
          </a:p>
        </p:txBody>
      </p:sp>
      <p:sp>
        <p:nvSpPr>
          <p:cNvPr id="18" name="Text 10"/>
          <p:cNvSpPr/>
          <p:nvPr/>
        </p:nvSpPr>
        <p:spPr>
          <a:xfrm>
            <a:off x="3794760" y="338328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SWOT Analysis</a:t>
            </a:r>
            <a:endParaRPr lang="en-US" sz="1200" dirty="0"/>
          </a:p>
        </p:txBody>
      </p:sp>
      <p:pic>
        <p:nvPicPr>
          <p:cNvPr id="19" name="Image 5" descr="opt/paper_43.png">    </p:cNvPr>
          <p:cNvPicPr>
            <a:picLocks noChangeAspect="1"/>
          </p:cNvPicPr>
          <p:nvPr/>
        </p:nvPicPr>
        <p:blipFill>
          <a:blip r:embed="rId7"/>
          <a:stretch>
            <a:fillRect/>
          </a:stretch>
        </p:blipFill>
        <p:spPr>
          <a:xfrm>
            <a:off x="6364224" y="1920240"/>
            <a:ext cx="2697480" cy="2011680"/>
          </a:xfrm>
          <a:prstGeom prst="rect">
            <a:avLst/>
          </a:prstGeom>
        </p:spPr>
      </p:pic>
      <p:sp>
        <p:nvSpPr>
          <p:cNvPr id="20" name="Text 11"/>
          <p:cNvSpPr/>
          <p:nvPr/>
        </p:nvSpPr>
        <p:spPr>
          <a:xfrm>
            <a:off x="6656832" y="210659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3</a:t>
            </a:r>
            <a:endParaRPr lang="en-US" sz="2800" dirty="0"/>
          </a:p>
        </p:txBody>
      </p:sp>
      <p:sp>
        <p:nvSpPr>
          <p:cNvPr id="21" name="Text 12"/>
          <p:cNvSpPr/>
          <p:nvPr/>
        </p:nvSpPr>
        <p:spPr>
          <a:xfrm>
            <a:off x="6656832" y="265176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Resource dan capability apa yang paling penting, dan apakah tahan lama?</a:t>
            </a:r>
            <a:endParaRPr lang="en-US" sz="1200" dirty="0"/>
          </a:p>
        </p:txBody>
      </p:sp>
      <p:sp>
        <p:nvSpPr>
          <p:cNvPr id="22" name="Text 13"/>
          <p:cNvSpPr/>
          <p:nvPr/>
        </p:nvSpPr>
        <p:spPr>
          <a:xfrm>
            <a:off x="6656832" y="338328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Table 4.3 + VRIN Test</a:t>
            </a:r>
            <a:endParaRPr lang="en-US" sz="1200" dirty="0"/>
          </a:p>
        </p:txBody>
      </p:sp>
      <p:pic>
        <p:nvPicPr>
          <p:cNvPr id="23" name="Image 6" descr="opt/paper_43.png">    </p:cNvPr>
          <p:cNvPicPr>
            <a:picLocks noChangeAspect="1"/>
          </p:cNvPicPr>
          <p:nvPr/>
        </p:nvPicPr>
        <p:blipFill>
          <a:blip r:embed="rId8"/>
          <a:stretch>
            <a:fillRect/>
          </a:stretch>
        </p:blipFill>
        <p:spPr>
          <a:xfrm>
            <a:off x="640080" y="4069080"/>
            <a:ext cx="2697480" cy="2011680"/>
          </a:xfrm>
          <a:prstGeom prst="rect">
            <a:avLst/>
          </a:prstGeom>
        </p:spPr>
      </p:pic>
      <p:sp>
        <p:nvSpPr>
          <p:cNvPr id="24" name="Text 14"/>
          <p:cNvSpPr/>
          <p:nvPr/>
        </p:nvSpPr>
        <p:spPr>
          <a:xfrm>
            <a:off x="932688" y="425543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4</a:t>
            </a:r>
            <a:endParaRPr lang="en-US" sz="2800" dirty="0"/>
          </a:p>
        </p:txBody>
      </p:sp>
      <p:sp>
        <p:nvSpPr>
          <p:cNvPr id="25" name="Text 15"/>
          <p:cNvSpPr/>
          <p:nvPr/>
        </p:nvSpPr>
        <p:spPr>
          <a:xfrm>
            <a:off x="932688" y="480060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Bagaimana aktivitas value chain memengaruhi biaya dan nilai pelanggan?</a:t>
            </a:r>
            <a:endParaRPr lang="en-US" sz="1200" dirty="0"/>
          </a:p>
        </p:txBody>
      </p:sp>
      <p:sp>
        <p:nvSpPr>
          <p:cNvPr id="26" name="Text 16"/>
          <p:cNvSpPr/>
          <p:nvPr/>
        </p:nvSpPr>
        <p:spPr>
          <a:xfrm>
            <a:off x="932688" y="553212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Value Chain + Benchmarking</a:t>
            </a:r>
            <a:endParaRPr lang="en-US" sz="1200" dirty="0"/>
          </a:p>
        </p:txBody>
      </p:sp>
      <p:pic>
        <p:nvPicPr>
          <p:cNvPr id="27" name="Image 7" descr="opt/paper_43.png">    </p:cNvPr>
          <p:cNvPicPr>
            <a:picLocks noChangeAspect="1"/>
          </p:cNvPicPr>
          <p:nvPr/>
        </p:nvPicPr>
        <p:blipFill>
          <a:blip r:embed="rId9"/>
          <a:stretch>
            <a:fillRect/>
          </a:stretch>
        </p:blipFill>
        <p:spPr>
          <a:xfrm>
            <a:off x="3502152" y="4069080"/>
            <a:ext cx="2697480" cy="2011680"/>
          </a:xfrm>
          <a:prstGeom prst="rect">
            <a:avLst/>
          </a:prstGeom>
        </p:spPr>
      </p:pic>
      <p:sp>
        <p:nvSpPr>
          <p:cNvPr id="28" name="Text 17"/>
          <p:cNvSpPr/>
          <p:nvPr/>
        </p:nvSpPr>
        <p:spPr>
          <a:xfrm>
            <a:off x="3794760" y="425543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5</a:t>
            </a:r>
            <a:endParaRPr lang="en-US" sz="2800" dirty="0"/>
          </a:p>
        </p:txBody>
      </p:sp>
      <p:sp>
        <p:nvSpPr>
          <p:cNvPr id="29" name="Text 18"/>
          <p:cNvSpPr/>
          <p:nvPr/>
        </p:nvSpPr>
        <p:spPr>
          <a:xfrm>
            <a:off x="3794760" y="480060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Kita lebih kuat atau lebih lemah dari pesaing utama?</a:t>
            </a:r>
            <a:endParaRPr lang="en-US" sz="1200" dirty="0"/>
          </a:p>
        </p:txBody>
      </p:sp>
      <p:sp>
        <p:nvSpPr>
          <p:cNvPr id="30" name="Text 19"/>
          <p:cNvSpPr/>
          <p:nvPr/>
        </p:nvSpPr>
        <p:spPr>
          <a:xfrm>
            <a:off x="3794760" y="553212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Competitive Strength Assessment</a:t>
            </a:r>
            <a:endParaRPr lang="en-US" sz="1200" dirty="0"/>
          </a:p>
        </p:txBody>
      </p:sp>
      <p:pic>
        <p:nvPicPr>
          <p:cNvPr id="31" name="Image 8" descr="opt/paper_43.png">    </p:cNvPr>
          <p:cNvPicPr>
            <a:picLocks noChangeAspect="1"/>
          </p:cNvPicPr>
          <p:nvPr/>
        </p:nvPicPr>
        <p:blipFill>
          <a:blip r:embed="rId10"/>
          <a:stretch>
            <a:fillRect/>
          </a:stretch>
        </p:blipFill>
        <p:spPr>
          <a:xfrm>
            <a:off x="6364224" y="4069080"/>
            <a:ext cx="2697480" cy="2011680"/>
          </a:xfrm>
          <a:prstGeom prst="rect">
            <a:avLst/>
          </a:prstGeom>
        </p:spPr>
      </p:pic>
      <p:sp>
        <p:nvSpPr>
          <p:cNvPr id="32" name="Text 20"/>
          <p:cNvSpPr/>
          <p:nvPr/>
        </p:nvSpPr>
        <p:spPr>
          <a:xfrm>
            <a:off x="6656832" y="4255435"/>
            <a:ext cx="914400" cy="545165"/>
          </a:xfrm>
          <a:prstGeom prst="rect">
            <a:avLst/>
          </a:prstGeom>
          <a:noFill/>
          <a:ln/>
        </p:spPr>
        <p:txBody>
          <a:bodyPr wrap="square" lIns="0" tIns="0" rIns="0" bIns="0" rtlCol="0" anchor="t"/>
          <a:lstStyle/>
          <a:p>
            <a:pPr indent="0" marL="0">
              <a:buNone/>
            </a:pPr>
            <a:r>
              <a:rPr lang="en-US" sz="2800" dirty="0">
                <a:solidFill>
                  <a:srgbClr val="DA291C"/>
                </a:solidFill>
                <a:latin typeface="Poppins ExtraBold" pitchFamily="34" charset="0"/>
                <a:ea typeface="Poppins ExtraBold" pitchFamily="34" charset="-122"/>
                <a:cs typeface="Poppins ExtraBold" pitchFamily="34" charset="-120"/>
              </a:rPr>
              <a:t>6</a:t>
            </a:r>
            <a:endParaRPr lang="en-US" sz="2800" dirty="0"/>
          </a:p>
        </p:txBody>
      </p:sp>
      <p:sp>
        <p:nvSpPr>
          <p:cNvPr id="33" name="Text 21"/>
          <p:cNvSpPr/>
          <p:nvPr/>
        </p:nvSpPr>
        <p:spPr>
          <a:xfrm>
            <a:off x="6656832" y="4800600"/>
            <a:ext cx="2112264" cy="77724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SemiBold" pitchFamily="34" charset="0"/>
                <a:ea typeface="Poppins SemiBold" pitchFamily="34" charset="-122"/>
                <a:cs typeface="Poppins SemiBold" pitchFamily="34" charset="-120"/>
              </a:rPr>
              <a:t>Isu strategis apa yang harus ditangani lebih dulu?</a:t>
            </a:r>
            <a:endParaRPr lang="en-US" sz="1200" dirty="0"/>
          </a:p>
        </p:txBody>
      </p:sp>
      <p:sp>
        <p:nvSpPr>
          <p:cNvPr id="34" name="Text 22"/>
          <p:cNvSpPr/>
          <p:nvPr/>
        </p:nvSpPr>
        <p:spPr>
          <a:xfrm>
            <a:off x="6656832" y="5532120"/>
            <a:ext cx="2112264" cy="41148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Priority List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194560" cy="402336"/>
          </a:xfrm>
          <a:prstGeom prst="rect">
            <a:avLst/>
          </a:prstGeom>
        </p:spPr>
      </p:pic>
      <p:sp>
        <p:nvSpPr>
          <p:cNvPr id="3" name="Text 0"/>
          <p:cNvSpPr/>
          <p:nvPr/>
        </p:nvSpPr>
        <p:spPr>
          <a:xfrm>
            <a:off x="868680" y="381963"/>
            <a:ext cx="17373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1</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351" dirty="0">
                <a:solidFill>
                  <a:srgbClr val="FFFFFF"/>
                </a:solidFill>
                <a:latin typeface="Poppins ExtraBold" pitchFamily="34" charset="0"/>
                <a:ea typeface="Poppins ExtraBold" pitchFamily="34" charset="-122"/>
                <a:cs typeface="Poppins ExtraBold" pitchFamily="34" charset="-120"/>
              </a:rPr>
              <a:t>KENALI DULU STRATEGI YANG SEDANG DIJALANKAN</a:t>
            </a:r>
            <a:endParaRPr lang="en-US" sz="2351"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Sebelum menilai kinerja, pahami dulu komponen strategi perusahaan seperti dipetakan pada Figure 4.1.</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(2024), Figure 4.1, hlm. 90.</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04</a:t>
            </a:r>
            <a:endParaRPr lang="en-US" sz="1200" dirty="0"/>
          </a:p>
        </p:txBody>
      </p:sp>
      <p:pic>
        <p:nvPicPr>
          <p:cNvPr id="10" name="Image 2" descr="opt/paper_43.png">    </p:cNvPr>
          <p:cNvPicPr>
            <a:picLocks noChangeAspect="1"/>
          </p:cNvPicPr>
          <p:nvPr/>
        </p:nvPicPr>
        <p:blipFill>
          <a:blip r:embed="rId4"/>
          <a:stretch>
            <a:fillRect/>
          </a:stretch>
        </p:blipFill>
        <p:spPr>
          <a:xfrm>
            <a:off x="548640" y="1828800"/>
            <a:ext cx="6035040" cy="4561571"/>
          </a:xfrm>
          <a:prstGeom prst="rect">
            <a:avLst/>
          </a:prstGeom>
        </p:spPr>
      </p:pic>
      <p:pic>
        <p:nvPicPr>
          <p:cNvPr id="11" name="Image 3" descr="fig4_1.png">    </p:cNvPr>
          <p:cNvPicPr>
            <a:picLocks noChangeAspect="1"/>
          </p:cNvPicPr>
          <p:nvPr/>
        </p:nvPicPr>
        <p:blipFill>
          <a:blip r:embed="rId5"/>
          <a:stretch>
            <a:fillRect/>
          </a:stretch>
        </p:blipFill>
        <p:spPr>
          <a:xfrm>
            <a:off x="777240" y="2057400"/>
            <a:ext cx="5577840" cy="4104371"/>
          </a:xfrm>
          <a:prstGeom prst="rect">
            <a:avLst/>
          </a:prstGeom>
        </p:spPr>
      </p:pic>
      <p:pic>
        <p:nvPicPr>
          <p:cNvPr id="12" name="Image 4" descr="opt/red_219.png">    </p:cNvPr>
          <p:cNvPicPr>
            <a:picLocks noChangeAspect="1"/>
          </p:cNvPicPr>
          <p:nvPr/>
        </p:nvPicPr>
        <p:blipFill>
          <a:blip r:embed="rId6"/>
          <a:stretch>
            <a:fillRect/>
          </a:stretch>
        </p:blipFill>
        <p:spPr>
          <a:xfrm>
            <a:off x="6812280" y="1920240"/>
            <a:ext cx="4754880" cy="1543507"/>
          </a:xfrm>
          <a:prstGeom prst="rect">
            <a:avLst/>
          </a:prstGeom>
        </p:spPr>
      </p:pic>
      <p:sp>
        <p:nvSpPr>
          <p:cNvPr id="13" name="Text 5"/>
          <p:cNvSpPr/>
          <p:nvPr/>
        </p:nvSpPr>
        <p:spPr>
          <a:xfrm>
            <a:off x="7141464" y="2157984"/>
            <a:ext cx="4096512"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CONTOH: AIRASIA</a:t>
            </a:r>
            <a:endParaRPr lang="en-US" sz="1200" dirty="0"/>
          </a:p>
        </p:txBody>
      </p:sp>
      <p:sp>
        <p:nvSpPr>
          <p:cNvPr id="14" name="Text 6"/>
          <p:cNvSpPr/>
          <p:nvPr/>
        </p:nvSpPr>
        <p:spPr>
          <a:xfrm>
            <a:off x="7141464" y="2414016"/>
            <a:ext cx="4096512" cy="775411"/>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Strategi biaya rendah terlihat konsisten di tiap fungsi: satu tipe pesawat (A320) di operasi, tiket dijual langsung secara online di pemasaran.</a:t>
            </a:r>
            <a:endParaRPr lang="en-US" sz="1200" dirty="0"/>
          </a:p>
        </p:txBody>
      </p:sp>
      <p:pic>
        <p:nvPicPr>
          <p:cNvPr id="15" name="Image 5" descr="opt/paper_169.png">    </p:cNvPr>
          <p:cNvPicPr>
            <a:picLocks noChangeAspect="1"/>
          </p:cNvPicPr>
          <p:nvPr/>
        </p:nvPicPr>
        <p:blipFill>
          <a:blip r:embed="rId7"/>
          <a:stretch>
            <a:fillRect/>
          </a:stretch>
        </p:blipFill>
        <p:spPr>
          <a:xfrm>
            <a:off x="6812280" y="3600907"/>
            <a:ext cx="4754880" cy="1417320"/>
          </a:xfrm>
          <a:prstGeom prst="rect">
            <a:avLst/>
          </a:prstGeom>
        </p:spPr>
      </p:pic>
      <p:sp>
        <p:nvSpPr>
          <p:cNvPr id="16" name="Text 7"/>
          <p:cNvSpPr/>
          <p:nvPr/>
        </p:nvSpPr>
        <p:spPr>
          <a:xfrm>
            <a:off x="7186087" y="3856939"/>
            <a:ext cx="4050060"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Setelah strategi dikenali</a:t>
            </a:r>
            <a:endParaRPr lang="en-US" sz="1400" dirty="0"/>
          </a:p>
        </p:txBody>
      </p:sp>
      <p:sp>
        <p:nvSpPr>
          <p:cNvPr id="17" name="Text 8"/>
          <p:cNvSpPr/>
          <p:nvPr/>
        </p:nvSpPr>
        <p:spPr>
          <a:xfrm>
            <a:off x="7186087" y="4186123"/>
            <a:ext cx="4050060" cy="64922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Kinerja diukur lewat tren penjualan dan laba, harga saham, kekuatan keuangan, retensi pelanggan, pelanggan baru, dan perbaikan proses internal.</a:t>
            </a:r>
            <a:endParaRPr lang="en-US" sz="1200" dirty="0"/>
          </a:p>
        </p:txBody>
      </p:sp>
      <p:pic>
        <p:nvPicPr>
          <p:cNvPr id="18" name="Image 6" descr="opt/paper_169.png">    </p:cNvPr>
          <p:cNvPicPr>
            <a:picLocks noChangeAspect="1"/>
          </p:cNvPicPr>
          <p:nvPr/>
        </p:nvPicPr>
        <p:blipFill>
          <a:blip r:embed="rId8"/>
          <a:stretch>
            <a:fillRect/>
          </a:stretch>
        </p:blipFill>
        <p:spPr>
          <a:xfrm>
            <a:off x="6812280" y="5155387"/>
            <a:ext cx="4754880" cy="1188720"/>
          </a:xfrm>
          <a:prstGeom prst="rect">
            <a:avLst/>
          </a:prstGeom>
        </p:spPr>
      </p:pic>
      <p:sp>
        <p:nvSpPr>
          <p:cNvPr id="19" name="Text 9"/>
          <p:cNvSpPr/>
          <p:nvPr/>
        </p:nvSpPr>
        <p:spPr>
          <a:xfrm>
            <a:off x="7186087" y="5411419"/>
            <a:ext cx="4050060" cy="219456"/>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CARA PAKAI</a:t>
            </a:r>
            <a:endParaRPr lang="en-US" sz="1200" dirty="0"/>
          </a:p>
        </p:txBody>
      </p:sp>
      <p:sp>
        <p:nvSpPr>
          <p:cNvPr id="20" name="Text 10"/>
          <p:cNvSpPr/>
          <p:nvPr/>
        </p:nvSpPr>
        <p:spPr>
          <a:xfrm>
            <a:off x="7186087" y="5667451"/>
            <a:ext cx="4050060" cy="493776"/>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Isi tiap kotak dengan tindakan nyata perusahaan, lalu periksa apakah semuanya saling mendukung.</a:t>
            </a:r>
            <a:endParaRPr lang="en-US" sz="1200" dirty="0"/>
          </a:p>
        </p:txBody>
      </p:sp>
      <p:pic>
        <p:nvPicPr>
          <p:cNvPr id="21" name="Image 7" descr="opt/st_programme.png">    </p:cNvPr>
          <p:cNvPicPr>
            <a:picLocks noChangeAspect="1"/>
          </p:cNvPicPr>
          <p:nvPr/>
        </p:nvPicPr>
        <p:blipFill>
          <a:blip r:embed="rId9"/>
          <a:stretch>
            <a:fillRect/>
          </a:stretch>
        </p:blipFill>
        <p:spPr>
          <a:xfrm rot="-420000">
            <a:off x="10373055" y="182880"/>
            <a:ext cx="1315720" cy="1691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794760" cy="402336"/>
          </a:xfrm>
          <a:prstGeom prst="rect">
            <a:avLst/>
          </a:prstGeom>
        </p:spPr>
      </p:pic>
      <p:sp>
        <p:nvSpPr>
          <p:cNvPr id="3" name="Text 0"/>
          <p:cNvSpPr/>
          <p:nvPr/>
        </p:nvSpPr>
        <p:spPr>
          <a:xfrm>
            <a:off x="868680" y="381963"/>
            <a:ext cx="3337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1  ·  TABLE 4.1</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FINANCIAL RATIOS: ALAT UKURNYA</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Penilaian tadi perlu bukti angka. Buku mengelompokkan rasio ke dalam empat kategori, plus satu kelompok ukuran tambahan.</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05</a:t>
            </a:r>
            <a:endParaRPr lang="en-US" sz="1200" dirty="0"/>
          </a:p>
        </p:txBody>
      </p:sp>
      <p:pic>
        <p:nvPicPr>
          <p:cNvPr id="10" name="Image 2" descr="opt/paper_43.png">    </p:cNvPr>
          <p:cNvPicPr>
            <a:picLocks noChangeAspect="1"/>
          </p:cNvPicPr>
          <p:nvPr/>
        </p:nvPicPr>
        <p:blipFill>
          <a:blip r:embed="rId4"/>
          <a:stretch>
            <a:fillRect/>
          </a:stretch>
        </p:blipFill>
        <p:spPr>
          <a:xfrm>
            <a:off x="640080" y="1920240"/>
            <a:ext cx="2590038" cy="3017520"/>
          </a:xfrm>
          <a:prstGeom prst="rect">
            <a:avLst/>
          </a:prstGeom>
        </p:spPr>
      </p:pic>
      <p:sp>
        <p:nvSpPr>
          <p:cNvPr id="11" name="Text 5"/>
          <p:cNvSpPr/>
          <p:nvPr/>
        </p:nvSpPr>
        <p:spPr>
          <a:xfrm>
            <a:off x="932688" y="2186056"/>
            <a:ext cx="2004822" cy="310256"/>
          </a:xfrm>
          <a:prstGeom prst="rect">
            <a:avLst/>
          </a:prstGeom>
          <a:noFill/>
          <a:ln/>
        </p:spPr>
        <p:txBody>
          <a:bodyPr wrap="square" lIns="0" tIns="0" rIns="0" bIns="0" rtlCol="0" anchor="t"/>
          <a:lstStyle/>
          <a:p>
            <a:pPr indent="0" marL="0">
              <a:buNone/>
            </a:pPr>
            <a:r>
              <a:rPr lang="en-US" sz="1500" dirty="0">
                <a:solidFill>
                  <a:srgbClr val="DA291C"/>
                </a:solidFill>
                <a:latin typeface="Poppins ExtraBold" pitchFamily="34" charset="0"/>
                <a:ea typeface="Poppins ExtraBold" pitchFamily="34" charset="-122"/>
                <a:cs typeface="Poppins ExtraBold" pitchFamily="34" charset="-120"/>
              </a:rPr>
              <a:t>Profitability</a:t>
            </a:r>
            <a:endParaRPr lang="en-US" sz="1500" dirty="0"/>
          </a:p>
        </p:txBody>
      </p:sp>
      <p:sp>
        <p:nvSpPr>
          <p:cNvPr id="12" name="Text 6"/>
          <p:cNvSpPr/>
          <p:nvPr/>
        </p:nvSpPr>
        <p:spPr>
          <a:xfrm>
            <a:off x="932688" y="2523744"/>
            <a:ext cx="2004822" cy="45720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Seberapa besar laba dihasilkan</a:t>
            </a:r>
            <a:endParaRPr lang="en-US" sz="1200" dirty="0"/>
          </a:p>
        </p:txBody>
      </p:sp>
      <p:sp>
        <p:nvSpPr>
          <p:cNvPr id="13" name="Text 7"/>
          <p:cNvSpPr/>
          <p:nvPr/>
        </p:nvSpPr>
        <p:spPr>
          <a:xfrm>
            <a:off x="932688" y="3035808"/>
            <a:ext cx="2004822" cy="171907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Gross profit margin</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Operating profit margin</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Net profit margin</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Total return on assets</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Net return on assets</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Return on equity</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Return on invested capital</a:t>
            </a:r>
            <a:endParaRPr lang="en-US" sz="1200" dirty="0"/>
          </a:p>
        </p:txBody>
      </p:sp>
      <p:pic>
        <p:nvPicPr>
          <p:cNvPr id="14" name="Image 3" descr="opt/paper_43.png">    </p:cNvPr>
          <p:cNvPicPr>
            <a:picLocks noChangeAspect="1"/>
          </p:cNvPicPr>
          <p:nvPr/>
        </p:nvPicPr>
        <p:blipFill>
          <a:blip r:embed="rId5"/>
          <a:stretch>
            <a:fillRect/>
          </a:stretch>
        </p:blipFill>
        <p:spPr>
          <a:xfrm>
            <a:off x="3412998" y="1920240"/>
            <a:ext cx="2590038" cy="3017520"/>
          </a:xfrm>
          <a:prstGeom prst="rect">
            <a:avLst/>
          </a:prstGeom>
        </p:spPr>
      </p:pic>
      <p:sp>
        <p:nvSpPr>
          <p:cNvPr id="15" name="Text 8"/>
          <p:cNvSpPr/>
          <p:nvPr/>
        </p:nvSpPr>
        <p:spPr>
          <a:xfrm>
            <a:off x="3705606" y="2186056"/>
            <a:ext cx="2004822" cy="310256"/>
          </a:xfrm>
          <a:prstGeom prst="rect">
            <a:avLst/>
          </a:prstGeom>
          <a:noFill/>
          <a:ln/>
        </p:spPr>
        <p:txBody>
          <a:bodyPr wrap="square" lIns="0" tIns="0" rIns="0" bIns="0" rtlCol="0" anchor="t"/>
          <a:lstStyle/>
          <a:p>
            <a:pPr indent="0" marL="0">
              <a:buNone/>
            </a:pPr>
            <a:r>
              <a:rPr lang="en-US" sz="1500" dirty="0">
                <a:solidFill>
                  <a:srgbClr val="DA291C"/>
                </a:solidFill>
                <a:latin typeface="Poppins ExtraBold" pitchFamily="34" charset="0"/>
                <a:ea typeface="Poppins ExtraBold" pitchFamily="34" charset="-122"/>
                <a:cs typeface="Poppins ExtraBold" pitchFamily="34" charset="-120"/>
              </a:rPr>
              <a:t>Liquidity</a:t>
            </a:r>
            <a:endParaRPr lang="en-US" sz="1500" dirty="0"/>
          </a:p>
        </p:txBody>
      </p:sp>
      <p:sp>
        <p:nvSpPr>
          <p:cNvPr id="16" name="Text 9"/>
          <p:cNvSpPr/>
          <p:nvPr/>
        </p:nvSpPr>
        <p:spPr>
          <a:xfrm>
            <a:off x="3705606" y="2523744"/>
            <a:ext cx="2004822" cy="45720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Sanggup bayar utang jangka pendek?</a:t>
            </a:r>
            <a:endParaRPr lang="en-US" sz="1200" dirty="0"/>
          </a:p>
        </p:txBody>
      </p:sp>
      <p:sp>
        <p:nvSpPr>
          <p:cNvPr id="17" name="Text 10"/>
          <p:cNvSpPr/>
          <p:nvPr/>
        </p:nvSpPr>
        <p:spPr>
          <a:xfrm>
            <a:off x="3705606" y="3035808"/>
            <a:ext cx="2004822" cy="171907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Current ratio</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Working capital</a:t>
            </a:r>
            <a:endParaRPr lang="en-US" sz="1200" dirty="0"/>
          </a:p>
        </p:txBody>
      </p:sp>
      <p:pic>
        <p:nvPicPr>
          <p:cNvPr id="18" name="Image 4" descr="opt/paper_43.png">    </p:cNvPr>
          <p:cNvPicPr>
            <a:picLocks noChangeAspect="1"/>
          </p:cNvPicPr>
          <p:nvPr/>
        </p:nvPicPr>
        <p:blipFill>
          <a:blip r:embed="rId6"/>
          <a:stretch>
            <a:fillRect/>
          </a:stretch>
        </p:blipFill>
        <p:spPr>
          <a:xfrm>
            <a:off x="6185916" y="1920240"/>
            <a:ext cx="2590038" cy="3017520"/>
          </a:xfrm>
          <a:prstGeom prst="rect">
            <a:avLst/>
          </a:prstGeom>
        </p:spPr>
      </p:pic>
      <p:sp>
        <p:nvSpPr>
          <p:cNvPr id="19" name="Text 11"/>
          <p:cNvSpPr/>
          <p:nvPr/>
        </p:nvSpPr>
        <p:spPr>
          <a:xfrm>
            <a:off x="6478524" y="2186056"/>
            <a:ext cx="2004822" cy="310256"/>
          </a:xfrm>
          <a:prstGeom prst="rect">
            <a:avLst/>
          </a:prstGeom>
          <a:noFill/>
          <a:ln/>
        </p:spPr>
        <p:txBody>
          <a:bodyPr wrap="square" lIns="0" tIns="0" rIns="0" bIns="0" rtlCol="0" anchor="t"/>
          <a:lstStyle/>
          <a:p>
            <a:pPr indent="0" marL="0">
              <a:buNone/>
            </a:pPr>
            <a:r>
              <a:rPr lang="en-US" sz="1500" dirty="0">
                <a:solidFill>
                  <a:srgbClr val="DA291C"/>
                </a:solidFill>
                <a:latin typeface="Poppins ExtraBold" pitchFamily="34" charset="0"/>
                <a:ea typeface="Poppins ExtraBold" pitchFamily="34" charset="-122"/>
                <a:cs typeface="Poppins ExtraBold" pitchFamily="34" charset="-120"/>
              </a:rPr>
              <a:t>Leverage</a:t>
            </a:r>
            <a:endParaRPr lang="en-US" sz="1500" dirty="0"/>
          </a:p>
        </p:txBody>
      </p:sp>
      <p:sp>
        <p:nvSpPr>
          <p:cNvPr id="20" name="Text 12"/>
          <p:cNvSpPr/>
          <p:nvPr/>
        </p:nvSpPr>
        <p:spPr>
          <a:xfrm>
            <a:off x="6478524" y="2523744"/>
            <a:ext cx="2004822" cy="45720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Seberapa berat beban utang</a:t>
            </a:r>
            <a:endParaRPr lang="en-US" sz="1200" dirty="0"/>
          </a:p>
        </p:txBody>
      </p:sp>
      <p:sp>
        <p:nvSpPr>
          <p:cNvPr id="21" name="Text 13"/>
          <p:cNvSpPr/>
          <p:nvPr/>
        </p:nvSpPr>
        <p:spPr>
          <a:xfrm>
            <a:off x="6478524" y="3035808"/>
            <a:ext cx="2004822" cy="171907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Total debt-to-assets</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Long-term debt-to-capital</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Debt-to-equity</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Long-term debt-to-equity</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Times-interest-earned</a:t>
            </a:r>
            <a:endParaRPr lang="en-US" sz="1200" dirty="0"/>
          </a:p>
        </p:txBody>
      </p:sp>
      <p:pic>
        <p:nvPicPr>
          <p:cNvPr id="22" name="Image 5" descr="opt/paper_43.png">    </p:cNvPr>
          <p:cNvPicPr>
            <a:picLocks noChangeAspect="1"/>
          </p:cNvPicPr>
          <p:nvPr/>
        </p:nvPicPr>
        <p:blipFill>
          <a:blip r:embed="rId7"/>
          <a:stretch>
            <a:fillRect/>
          </a:stretch>
        </p:blipFill>
        <p:spPr>
          <a:xfrm>
            <a:off x="8958834" y="1920240"/>
            <a:ext cx="2590038" cy="3017520"/>
          </a:xfrm>
          <a:prstGeom prst="rect">
            <a:avLst/>
          </a:prstGeom>
        </p:spPr>
      </p:pic>
      <p:sp>
        <p:nvSpPr>
          <p:cNvPr id="23" name="Text 14"/>
          <p:cNvSpPr/>
          <p:nvPr/>
        </p:nvSpPr>
        <p:spPr>
          <a:xfrm>
            <a:off x="9251442" y="2186056"/>
            <a:ext cx="2004822" cy="310256"/>
          </a:xfrm>
          <a:prstGeom prst="rect">
            <a:avLst/>
          </a:prstGeom>
          <a:noFill/>
          <a:ln/>
        </p:spPr>
        <p:txBody>
          <a:bodyPr wrap="square" lIns="0" tIns="0" rIns="0" bIns="0" rtlCol="0" anchor="t"/>
          <a:lstStyle/>
          <a:p>
            <a:pPr indent="0" marL="0">
              <a:buNone/>
            </a:pPr>
            <a:r>
              <a:rPr lang="en-US" sz="1500" dirty="0">
                <a:solidFill>
                  <a:srgbClr val="DA291C"/>
                </a:solidFill>
                <a:latin typeface="Poppins ExtraBold" pitchFamily="34" charset="0"/>
                <a:ea typeface="Poppins ExtraBold" pitchFamily="34" charset="-122"/>
                <a:cs typeface="Poppins ExtraBold" pitchFamily="34" charset="-120"/>
              </a:rPr>
              <a:t>Activity</a:t>
            </a:r>
            <a:endParaRPr lang="en-US" sz="1500" dirty="0"/>
          </a:p>
        </p:txBody>
      </p:sp>
      <p:sp>
        <p:nvSpPr>
          <p:cNvPr id="24" name="Text 15"/>
          <p:cNvSpPr/>
          <p:nvPr/>
        </p:nvSpPr>
        <p:spPr>
          <a:xfrm>
            <a:off x="9251442" y="2523744"/>
            <a:ext cx="2004822" cy="45720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Seberapa efisien aset dikelola</a:t>
            </a:r>
            <a:endParaRPr lang="en-US" sz="1200" dirty="0"/>
          </a:p>
        </p:txBody>
      </p:sp>
      <p:sp>
        <p:nvSpPr>
          <p:cNvPr id="25" name="Text 16"/>
          <p:cNvSpPr/>
          <p:nvPr/>
        </p:nvSpPr>
        <p:spPr>
          <a:xfrm>
            <a:off x="9251442" y="3035808"/>
            <a:ext cx="2004822" cy="171907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Days of inventory</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Inventory turnover</a:t>
            </a:r>
            <a:endParaRPr lang="en-US" sz="1200" dirty="0"/>
          </a:p>
          <a:p>
            <a:pPr marL="177800" indent="-177800">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Average collection period</a:t>
            </a:r>
            <a:endParaRPr lang="en-US" sz="1200" dirty="0"/>
          </a:p>
        </p:txBody>
      </p:sp>
      <p:pic>
        <p:nvPicPr>
          <p:cNvPr id="26" name="Image 6" descr="opt/red_219.png">    </p:cNvPr>
          <p:cNvPicPr>
            <a:picLocks noChangeAspect="1"/>
          </p:cNvPicPr>
          <p:nvPr/>
        </p:nvPicPr>
        <p:blipFill>
          <a:blip r:embed="rId8"/>
          <a:stretch>
            <a:fillRect/>
          </a:stretch>
        </p:blipFill>
        <p:spPr>
          <a:xfrm>
            <a:off x="640080" y="5074920"/>
            <a:ext cx="10908792" cy="1155802"/>
          </a:xfrm>
          <a:prstGeom prst="rect">
            <a:avLst/>
          </a:prstGeom>
        </p:spPr>
      </p:pic>
      <p:sp>
        <p:nvSpPr>
          <p:cNvPr id="27" name="Text 17"/>
          <p:cNvSpPr/>
          <p:nvPr/>
        </p:nvSpPr>
        <p:spPr>
          <a:xfrm>
            <a:off x="1130976" y="5312664"/>
            <a:ext cx="9927001"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UKURAN TAMBAHAN</a:t>
            </a:r>
            <a:endParaRPr lang="en-US" sz="1200" dirty="0"/>
          </a:p>
        </p:txBody>
      </p:sp>
      <p:sp>
        <p:nvSpPr>
          <p:cNvPr id="28" name="Text 18"/>
          <p:cNvSpPr/>
          <p:nvPr/>
        </p:nvSpPr>
        <p:spPr>
          <a:xfrm>
            <a:off x="1130976" y="5568696"/>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Dividend yield, price-to-earnings ratio, dividend payout ratio, internal cash flow, dan free cash flow. Free cash flow paling penting: sisa kas untuk membiayai langkah strategis baru.</a:t>
            </a:r>
            <a:endParaRPr lang="en-US" sz="1200" dirty="0"/>
          </a:p>
        </p:txBody>
      </p:sp>
      <p:pic>
        <p:nvPicPr>
          <p:cNvPr id="29" name="Image 7" descr="opt/st_badges.png">    </p:cNvPr>
          <p:cNvPicPr>
            <a:picLocks noChangeAspect="1"/>
          </p:cNvPicPr>
          <p:nvPr/>
        </p:nvPicPr>
        <p:blipFill>
          <a:blip r:embed="rId9"/>
          <a:stretch>
            <a:fillRect/>
          </a:stretch>
        </p:blipFill>
        <p:spPr>
          <a:xfrm rot="420000">
            <a:off x="9677095" y="182880"/>
            <a:ext cx="2011680" cy="1530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194560" cy="402336"/>
          </a:xfrm>
          <a:prstGeom prst="rect">
            <a:avLst/>
          </a:prstGeom>
        </p:spPr>
      </p:pic>
      <p:sp>
        <p:nvSpPr>
          <p:cNvPr id="3" name="Text 0"/>
          <p:cNvSpPr/>
          <p:nvPr/>
        </p:nvSpPr>
        <p:spPr>
          <a:xfrm>
            <a:off x="868680" y="381963"/>
            <a:ext cx="17373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2</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022" dirty="0">
                <a:solidFill>
                  <a:srgbClr val="FFFFFF"/>
                </a:solidFill>
                <a:latin typeface="Poppins ExtraBold" pitchFamily="34" charset="0"/>
                <a:ea typeface="Poppins ExtraBold" pitchFamily="34" charset="-122"/>
                <a:cs typeface="Poppins ExtraBold" pitchFamily="34" charset="-120"/>
              </a:rPr>
              <a:t>SWOT ANALYSIS: KENAPA STRATEGI BERHASIL ATAU GAGAL</a:t>
            </a:r>
            <a:endParaRPr lang="en-US" sz="2022"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Q1 memberi tahu apakah strategi bekerja, tapi tidak kenapa. SWOT adalah alat paling sederhana untuk mencari sebabnya.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06</a:t>
            </a:r>
            <a:endParaRPr lang="en-US" sz="1200" dirty="0"/>
          </a:p>
        </p:txBody>
      </p:sp>
      <p:pic>
        <p:nvPicPr>
          <p:cNvPr id="10" name="Image 2" descr="opt/red_32.png">    </p:cNvPr>
          <p:cNvPicPr>
            <a:picLocks noChangeAspect="1"/>
          </p:cNvPicPr>
          <p:nvPr/>
        </p:nvPicPr>
        <p:blipFill>
          <a:blip r:embed="rId4"/>
          <a:stretch>
            <a:fillRect/>
          </a:stretch>
        </p:blipFill>
        <p:spPr>
          <a:xfrm>
            <a:off x="640080" y="1920240"/>
            <a:ext cx="2926080" cy="1554480"/>
          </a:xfrm>
          <a:prstGeom prst="rect">
            <a:avLst/>
          </a:prstGeom>
        </p:spPr>
      </p:pic>
      <p:sp>
        <p:nvSpPr>
          <p:cNvPr id="11" name="Text 5"/>
          <p:cNvSpPr/>
          <p:nvPr/>
        </p:nvSpPr>
        <p:spPr>
          <a:xfrm>
            <a:off x="969264" y="2121408"/>
            <a:ext cx="685800" cy="731520"/>
          </a:xfrm>
          <a:prstGeom prst="rect">
            <a:avLst/>
          </a:prstGeom>
          <a:noFill/>
          <a:ln/>
        </p:spPr>
        <p:txBody>
          <a:bodyPr wrap="square" lIns="0" tIns="0" rIns="0" bIns="0" rtlCol="0" anchor="t"/>
          <a:lstStyle/>
          <a:p>
            <a:pPr indent="0" marL="0">
              <a:buNone/>
            </a:pPr>
            <a:r>
              <a:rPr lang="en-US" sz="3600" dirty="0">
                <a:solidFill>
                  <a:srgbClr val="FBE122"/>
                </a:solidFill>
                <a:latin typeface="Poppins ExtraBold" pitchFamily="34" charset="0"/>
                <a:ea typeface="Poppins ExtraBold" pitchFamily="34" charset="-122"/>
                <a:cs typeface="Poppins ExtraBold" pitchFamily="34" charset="-120"/>
              </a:rPr>
              <a:t>S</a:t>
            </a:r>
            <a:endParaRPr lang="en-US" sz="3600" dirty="0"/>
          </a:p>
        </p:txBody>
      </p:sp>
      <p:sp>
        <p:nvSpPr>
          <p:cNvPr id="12" name="Text 6"/>
          <p:cNvSpPr/>
          <p:nvPr/>
        </p:nvSpPr>
        <p:spPr>
          <a:xfrm>
            <a:off x="1645920" y="2176272"/>
            <a:ext cx="1600200" cy="320040"/>
          </a:xfrm>
          <a:prstGeom prst="rect">
            <a:avLst/>
          </a:prstGeom>
          <a:noFill/>
          <a:ln/>
        </p:spPr>
        <p:txBody>
          <a:bodyPr wrap="square" lIns="0" tIns="0" rIns="0" bIns="0" rtlCol="0" anchor="t"/>
          <a:lstStyle/>
          <a:p>
            <a:pPr indent="0" marL="0">
              <a:buNone/>
            </a:pPr>
            <a:r>
              <a:rPr lang="en-US" sz="1400" dirty="0">
                <a:solidFill>
                  <a:srgbClr val="FFFFFF"/>
                </a:solidFill>
                <a:latin typeface="Poppins ExtraBold" pitchFamily="34" charset="0"/>
                <a:ea typeface="Poppins ExtraBold" pitchFamily="34" charset="-122"/>
                <a:cs typeface="Poppins ExtraBold" pitchFamily="34" charset="-120"/>
              </a:rPr>
              <a:t>Strengths</a:t>
            </a:r>
            <a:endParaRPr lang="en-US" sz="1400" dirty="0"/>
          </a:p>
        </p:txBody>
      </p:sp>
      <p:sp>
        <p:nvSpPr>
          <p:cNvPr id="13" name="Text 7"/>
          <p:cNvSpPr/>
          <p:nvPr/>
        </p:nvSpPr>
        <p:spPr>
          <a:xfrm>
            <a:off x="1645920" y="2487168"/>
            <a:ext cx="1600200" cy="749808"/>
          </a:xfrm>
          <a:prstGeom prst="rect">
            <a:avLst/>
          </a:prstGeom>
          <a:noFill/>
          <a:ln/>
        </p:spPr>
        <p:txBody>
          <a:bodyPr wrap="square" lIns="0" tIns="0" rIns="0" bIns="0" rtlCol="0" anchor="t"/>
          <a:lstStyle/>
          <a:p>
            <a:pPr indent="0" marL="0">
              <a:lnSpc>
                <a:spcPct val="104000"/>
              </a:lnSpc>
              <a:buNone/>
            </a:pPr>
            <a:r>
              <a:rPr lang="en-US" sz="1200" dirty="0">
                <a:solidFill>
                  <a:srgbClr val="FFFFFF"/>
                </a:solidFill>
                <a:latin typeface="Poppins" pitchFamily="34" charset="0"/>
                <a:ea typeface="Poppins" pitchFamily="34" charset="-122"/>
                <a:cs typeface="Poppins" pitchFamily="34" charset="-120"/>
              </a:rPr>
              <a:t>Yang dikuasai atau dimiliki, membuat lebih mampu bersaing</a:t>
            </a:r>
            <a:endParaRPr lang="en-US" sz="1200" dirty="0"/>
          </a:p>
        </p:txBody>
      </p:sp>
      <p:pic>
        <p:nvPicPr>
          <p:cNvPr id="14" name="Image 3" descr="opt/paper_169.png">    </p:cNvPr>
          <p:cNvPicPr>
            <a:picLocks noChangeAspect="1"/>
          </p:cNvPicPr>
          <p:nvPr/>
        </p:nvPicPr>
        <p:blipFill>
          <a:blip r:embed="rId5"/>
          <a:stretch>
            <a:fillRect/>
          </a:stretch>
        </p:blipFill>
        <p:spPr>
          <a:xfrm>
            <a:off x="3703320" y="1920240"/>
            <a:ext cx="2926080" cy="1554480"/>
          </a:xfrm>
          <a:prstGeom prst="rect">
            <a:avLst/>
          </a:prstGeom>
        </p:spPr>
      </p:pic>
      <p:sp>
        <p:nvSpPr>
          <p:cNvPr id="15" name="Text 8"/>
          <p:cNvSpPr/>
          <p:nvPr/>
        </p:nvSpPr>
        <p:spPr>
          <a:xfrm>
            <a:off x="4032504" y="2121408"/>
            <a:ext cx="685800" cy="731520"/>
          </a:xfrm>
          <a:prstGeom prst="rect">
            <a:avLst/>
          </a:prstGeom>
          <a:noFill/>
          <a:ln/>
        </p:spPr>
        <p:txBody>
          <a:bodyPr wrap="square" lIns="0" tIns="0" rIns="0" bIns="0" rtlCol="0" anchor="t"/>
          <a:lstStyle/>
          <a:p>
            <a:pPr indent="0" marL="0">
              <a:buNone/>
            </a:pPr>
            <a:r>
              <a:rPr lang="en-US" sz="3600" dirty="0">
                <a:solidFill>
                  <a:srgbClr val="DA291C"/>
                </a:solidFill>
                <a:latin typeface="Poppins ExtraBold" pitchFamily="34" charset="0"/>
                <a:ea typeface="Poppins ExtraBold" pitchFamily="34" charset="-122"/>
                <a:cs typeface="Poppins ExtraBold" pitchFamily="34" charset="-120"/>
              </a:rPr>
              <a:t>W</a:t>
            </a:r>
            <a:endParaRPr lang="en-US" sz="3600" dirty="0"/>
          </a:p>
        </p:txBody>
      </p:sp>
      <p:sp>
        <p:nvSpPr>
          <p:cNvPr id="16" name="Text 9"/>
          <p:cNvSpPr/>
          <p:nvPr/>
        </p:nvSpPr>
        <p:spPr>
          <a:xfrm>
            <a:off x="4709160" y="2176272"/>
            <a:ext cx="1600200" cy="32004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Weaknesses</a:t>
            </a:r>
            <a:endParaRPr lang="en-US" sz="1400" dirty="0"/>
          </a:p>
        </p:txBody>
      </p:sp>
      <p:sp>
        <p:nvSpPr>
          <p:cNvPr id="17" name="Text 10"/>
          <p:cNvSpPr/>
          <p:nvPr/>
        </p:nvSpPr>
        <p:spPr>
          <a:xfrm>
            <a:off x="4709160" y="2487168"/>
            <a:ext cx="1600200" cy="749808"/>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Yang tidak dimiliki atau dikerjakan kurang baik dibanding pesaing</a:t>
            </a:r>
            <a:endParaRPr lang="en-US" sz="1200" dirty="0"/>
          </a:p>
        </p:txBody>
      </p:sp>
      <p:pic>
        <p:nvPicPr>
          <p:cNvPr id="18" name="Image 4" descr="opt/paper_169.png">    </p:cNvPr>
          <p:cNvPicPr>
            <a:picLocks noChangeAspect="1"/>
          </p:cNvPicPr>
          <p:nvPr/>
        </p:nvPicPr>
        <p:blipFill>
          <a:blip r:embed="rId6"/>
          <a:stretch>
            <a:fillRect/>
          </a:stretch>
        </p:blipFill>
        <p:spPr>
          <a:xfrm>
            <a:off x="640080" y="3611880"/>
            <a:ext cx="2926080" cy="1554480"/>
          </a:xfrm>
          <a:prstGeom prst="rect">
            <a:avLst/>
          </a:prstGeom>
        </p:spPr>
      </p:pic>
      <p:sp>
        <p:nvSpPr>
          <p:cNvPr id="19" name="Text 11"/>
          <p:cNvSpPr/>
          <p:nvPr/>
        </p:nvSpPr>
        <p:spPr>
          <a:xfrm>
            <a:off x="969264" y="3813048"/>
            <a:ext cx="685800" cy="731520"/>
          </a:xfrm>
          <a:prstGeom prst="rect">
            <a:avLst/>
          </a:prstGeom>
          <a:noFill/>
          <a:ln/>
        </p:spPr>
        <p:txBody>
          <a:bodyPr wrap="square" lIns="0" tIns="0" rIns="0" bIns="0" rtlCol="0" anchor="t"/>
          <a:lstStyle/>
          <a:p>
            <a:pPr indent="0" marL="0">
              <a:buNone/>
            </a:pPr>
            <a:r>
              <a:rPr lang="en-US" sz="3600" dirty="0">
                <a:solidFill>
                  <a:srgbClr val="DA291C"/>
                </a:solidFill>
                <a:latin typeface="Poppins ExtraBold" pitchFamily="34" charset="0"/>
                <a:ea typeface="Poppins ExtraBold" pitchFamily="34" charset="-122"/>
                <a:cs typeface="Poppins ExtraBold" pitchFamily="34" charset="-120"/>
              </a:rPr>
              <a:t>O</a:t>
            </a:r>
            <a:endParaRPr lang="en-US" sz="3600" dirty="0"/>
          </a:p>
        </p:txBody>
      </p:sp>
      <p:sp>
        <p:nvSpPr>
          <p:cNvPr id="20" name="Text 12"/>
          <p:cNvSpPr/>
          <p:nvPr/>
        </p:nvSpPr>
        <p:spPr>
          <a:xfrm>
            <a:off x="1645920" y="3867912"/>
            <a:ext cx="1600200" cy="320040"/>
          </a:xfrm>
          <a:prstGeom prst="rect">
            <a:avLst/>
          </a:prstGeom>
          <a:noFill/>
          <a:ln/>
        </p:spPr>
        <p:txBody>
          <a:bodyPr wrap="square" lIns="0" tIns="0" rIns="0" bIns="0" rtlCol="0" anchor="t"/>
          <a:lstStyle/>
          <a:p>
            <a:pPr indent="0" marL="0">
              <a:buNone/>
            </a:pPr>
            <a:r>
              <a:rPr lang="en-US" sz="1350" dirty="0">
                <a:solidFill>
                  <a:srgbClr val="160809"/>
                </a:solidFill>
                <a:latin typeface="Poppins ExtraBold" pitchFamily="34" charset="0"/>
                <a:ea typeface="Poppins ExtraBold" pitchFamily="34" charset="-122"/>
                <a:cs typeface="Poppins ExtraBold" pitchFamily="34" charset="-120"/>
              </a:rPr>
              <a:t>Opportunities</a:t>
            </a:r>
            <a:endParaRPr lang="en-US" sz="1350" dirty="0"/>
          </a:p>
        </p:txBody>
      </p:sp>
      <p:sp>
        <p:nvSpPr>
          <p:cNvPr id="21" name="Text 13"/>
          <p:cNvSpPr/>
          <p:nvPr/>
        </p:nvSpPr>
        <p:spPr>
          <a:xfrm>
            <a:off x="1645920" y="4178808"/>
            <a:ext cx="1600200" cy="749808"/>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Peluang pasar: apa yang bisa diambil dari luar</a:t>
            </a:r>
            <a:endParaRPr lang="en-US" sz="1200" dirty="0"/>
          </a:p>
        </p:txBody>
      </p:sp>
      <p:pic>
        <p:nvPicPr>
          <p:cNvPr id="22" name="Image 5" descr="opt/red_32.png">    </p:cNvPr>
          <p:cNvPicPr>
            <a:picLocks noChangeAspect="1"/>
          </p:cNvPicPr>
          <p:nvPr/>
        </p:nvPicPr>
        <p:blipFill>
          <a:blip r:embed="rId7"/>
          <a:stretch>
            <a:fillRect/>
          </a:stretch>
        </p:blipFill>
        <p:spPr>
          <a:xfrm>
            <a:off x="3703320" y="3611880"/>
            <a:ext cx="2926080" cy="1554480"/>
          </a:xfrm>
          <a:prstGeom prst="rect">
            <a:avLst/>
          </a:prstGeom>
        </p:spPr>
      </p:pic>
      <p:sp>
        <p:nvSpPr>
          <p:cNvPr id="23" name="Text 14"/>
          <p:cNvSpPr/>
          <p:nvPr/>
        </p:nvSpPr>
        <p:spPr>
          <a:xfrm>
            <a:off x="4032504" y="3813048"/>
            <a:ext cx="685800" cy="731520"/>
          </a:xfrm>
          <a:prstGeom prst="rect">
            <a:avLst/>
          </a:prstGeom>
          <a:noFill/>
          <a:ln/>
        </p:spPr>
        <p:txBody>
          <a:bodyPr wrap="square" lIns="0" tIns="0" rIns="0" bIns="0" rtlCol="0" anchor="t"/>
          <a:lstStyle/>
          <a:p>
            <a:pPr indent="0" marL="0">
              <a:buNone/>
            </a:pPr>
            <a:r>
              <a:rPr lang="en-US" sz="3600" dirty="0">
                <a:solidFill>
                  <a:srgbClr val="FBE122"/>
                </a:solidFill>
                <a:latin typeface="Poppins ExtraBold" pitchFamily="34" charset="0"/>
                <a:ea typeface="Poppins ExtraBold" pitchFamily="34" charset="-122"/>
                <a:cs typeface="Poppins ExtraBold" pitchFamily="34" charset="-120"/>
              </a:rPr>
              <a:t>T</a:t>
            </a:r>
            <a:endParaRPr lang="en-US" sz="3600" dirty="0"/>
          </a:p>
        </p:txBody>
      </p:sp>
      <p:sp>
        <p:nvSpPr>
          <p:cNvPr id="24" name="Text 15"/>
          <p:cNvSpPr/>
          <p:nvPr/>
        </p:nvSpPr>
        <p:spPr>
          <a:xfrm>
            <a:off x="4709160" y="3867912"/>
            <a:ext cx="1600200" cy="320040"/>
          </a:xfrm>
          <a:prstGeom prst="rect">
            <a:avLst/>
          </a:prstGeom>
          <a:noFill/>
          <a:ln/>
        </p:spPr>
        <p:txBody>
          <a:bodyPr wrap="square" lIns="0" tIns="0" rIns="0" bIns="0" rtlCol="0" anchor="t"/>
          <a:lstStyle/>
          <a:p>
            <a:pPr indent="0" marL="0">
              <a:buNone/>
            </a:pPr>
            <a:r>
              <a:rPr lang="en-US" sz="1400" dirty="0">
                <a:solidFill>
                  <a:srgbClr val="FFFFFF"/>
                </a:solidFill>
                <a:latin typeface="Poppins ExtraBold" pitchFamily="34" charset="0"/>
                <a:ea typeface="Poppins ExtraBold" pitchFamily="34" charset="-122"/>
                <a:cs typeface="Poppins ExtraBold" pitchFamily="34" charset="-120"/>
              </a:rPr>
              <a:t>Threats</a:t>
            </a:r>
            <a:endParaRPr lang="en-US" sz="1400" dirty="0"/>
          </a:p>
        </p:txBody>
      </p:sp>
      <p:sp>
        <p:nvSpPr>
          <p:cNvPr id="25" name="Text 16"/>
          <p:cNvSpPr/>
          <p:nvPr/>
        </p:nvSpPr>
        <p:spPr>
          <a:xfrm>
            <a:off x="4709160" y="4178808"/>
            <a:ext cx="1600200" cy="749808"/>
          </a:xfrm>
          <a:prstGeom prst="rect">
            <a:avLst/>
          </a:prstGeom>
          <a:noFill/>
          <a:ln/>
        </p:spPr>
        <p:txBody>
          <a:bodyPr wrap="square" lIns="0" tIns="0" rIns="0" bIns="0" rtlCol="0" anchor="t"/>
          <a:lstStyle/>
          <a:p>
            <a:pPr indent="0" marL="0">
              <a:lnSpc>
                <a:spcPct val="104000"/>
              </a:lnSpc>
              <a:buNone/>
            </a:pPr>
            <a:r>
              <a:rPr lang="en-US" sz="1200" dirty="0">
                <a:solidFill>
                  <a:srgbClr val="FFFFFF"/>
                </a:solidFill>
                <a:latin typeface="Poppins" pitchFamily="34" charset="0"/>
                <a:ea typeface="Poppins" pitchFamily="34" charset="-122"/>
                <a:cs typeface="Poppins" pitchFamily="34" charset="-120"/>
              </a:rPr>
              <a:t>Ancaman luar yang bisa menggerus laba dan posisi</a:t>
            </a:r>
            <a:endParaRPr lang="en-US" sz="1200" dirty="0"/>
          </a:p>
        </p:txBody>
      </p:sp>
      <p:pic>
        <p:nvPicPr>
          <p:cNvPr id="26" name="Image 6" descr="opt/paper_43.png">    </p:cNvPr>
          <p:cNvPicPr>
            <a:picLocks noChangeAspect="1"/>
          </p:cNvPicPr>
          <p:nvPr/>
        </p:nvPicPr>
        <p:blipFill>
          <a:blip r:embed="rId8"/>
          <a:stretch>
            <a:fillRect/>
          </a:stretch>
        </p:blipFill>
        <p:spPr>
          <a:xfrm>
            <a:off x="6766560" y="1920240"/>
            <a:ext cx="4800600" cy="3246120"/>
          </a:xfrm>
          <a:prstGeom prst="rect">
            <a:avLst/>
          </a:prstGeom>
        </p:spPr>
      </p:pic>
      <p:sp>
        <p:nvSpPr>
          <p:cNvPr id="27" name="Text 17"/>
          <p:cNvSpPr/>
          <p:nvPr/>
        </p:nvSpPr>
        <p:spPr>
          <a:xfrm>
            <a:off x="7095744" y="2249424"/>
            <a:ext cx="4142232" cy="2697480"/>
          </a:xfrm>
          <a:prstGeom prst="rect">
            <a:avLst/>
          </a:prstGeom>
          <a:noFill/>
          <a:ln/>
        </p:spPr>
        <p:txBody>
          <a:bodyPr wrap="square" lIns="0" tIns="0" rIns="0" bIns="0" rtlCol="0" anchor="t"/>
          <a:lstStyle/>
          <a:p>
            <a:pPr indent="0" marL="0">
              <a:lnSpc>
                <a:spcPct val="104000"/>
              </a:lnSpc>
              <a:buNone/>
            </a:pPr>
            <a:r>
              <a:rPr lang="en-US" sz="1200" spc="100" kern="0" dirty="0">
                <a:solidFill>
                  <a:srgbClr val="DA291C"/>
                </a:solidFill>
                <a:latin typeface="Poppins SemiBold" pitchFamily="34" charset="0"/>
                <a:ea typeface="Poppins SemiBold" pitchFamily="34" charset="-122"/>
                <a:cs typeface="Poppins SemiBold" pitchFamily="34" charset="-120"/>
              </a:rPr>
              <a:t>CARA MEMBACANYA
</a:t>
            </a:r>
            <a:pPr indent="0" marL="0">
              <a:lnSpc>
                <a:spcPct val="104000"/>
              </a:lnSpc>
              <a:buNone/>
            </a:pPr>
            <a:r>
              <a:rPr lang="en-US" sz="1300" dirty="0">
                <a:solidFill>
                  <a:srgbClr val="160809"/>
                </a:solidFill>
                <a:latin typeface="Poppins ExtraBold" pitchFamily="34" charset="0"/>
                <a:ea typeface="Poppins ExtraBold" pitchFamily="34" charset="-122"/>
                <a:cs typeface="Poppins ExtraBold" pitchFamily="34" charset="-120"/>
              </a:rPr>
              <a:t>Nama lain SWOT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Situational Analysis, analisis situasi.
</a:t>
            </a:r>
            <a:pPr indent="0" marL="0">
              <a:lnSpc>
                <a:spcPct val="104000"/>
              </a:lnSpc>
              <a:buNone/>
            </a:pPr>
            <a:r>
              <a:rPr lang="en-US" sz="1300" dirty="0">
                <a:solidFill>
                  <a:srgbClr val="160809"/>
                </a:solidFill>
                <a:latin typeface="Poppins ExtraBold" pitchFamily="34" charset="0"/>
                <a:ea typeface="Poppins ExtraBold" pitchFamily="34" charset="-122"/>
                <a:cs typeface="Poppins ExtraBold" pitchFamily="34" charset="-120"/>
              </a:rPr>
              <a:t>Neraca strategis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Kekuatan = aset bersaing. Kelemahan = kewajiban bersaing. Idealnya asetnya jauh lebih berat.
</a:t>
            </a:r>
            <a:pPr indent="0" marL="0">
              <a:lnSpc>
                <a:spcPct val="104000"/>
              </a:lnSpc>
              <a:buNone/>
            </a:pPr>
            <a:r>
              <a:rPr lang="en-US" sz="1300" dirty="0">
                <a:solidFill>
                  <a:srgbClr val="160809"/>
                </a:solidFill>
                <a:latin typeface="Poppins ExtraBold" pitchFamily="34" charset="0"/>
                <a:ea typeface="Poppins ExtraBold" pitchFamily="34" charset="-122"/>
                <a:cs typeface="Poppins ExtraBold" pitchFamily="34" charset="-120"/>
              </a:rPr>
              <a:t>Empat pertanyaan pemandu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Apakah kekuatan menutup kelemahan? Apakah strategi bertumpu pada kekuatan? Apakah kekuatan kita melampaui pesaing? Apakah strategi menangkal ancaman?</a:t>
            </a:r>
            <a:endParaRPr lang="en-US" sz="1200" dirty="0"/>
          </a:p>
        </p:txBody>
      </p:sp>
      <p:pic>
        <p:nvPicPr>
          <p:cNvPr id="28" name="Image 7" descr="opt/red_219.png">    </p:cNvPr>
          <p:cNvPicPr>
            <a:picLocks noChangeAspect="1"/>
          </p:cNvPicPr>
          <p:nvPr/>
        </p:nvPicPr>
        <p:blipFill>
          <a:blip r:embed="rId9"/>
          <a:stretch>
            <a:fillRect/>
          </a:stretch>
        </p:blipFill>
        <p:spPr>
          <a:xfrm>
            <a:off x="640080" y="5303520"/>
            <a:ext cx="10908792" cy="863194"/>
          </a:xfrm>
          <a:prstGeom prst="rect">
            <a:avLst/>
          </a:prstGeom>
        </p:spPr>
      </p:pic>
      <p:sp>
        <p:nvSpPr>
          <p:cNvPr id="29" name="Text 18"/>
          <p:cNvSpPr/>
          <p:nvPr/>
        </p:nvSpPr>
        <p:spPr>
          <a:xfrm>
            <a:off x="1130976" y="5504688"/>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Kenapa SWOT populer: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mudah dipakai dan bisa dipakai dua arah, menilai strategi yang berjalan dan menyusun strategi baru dari nol. Dipakai perusahaan besar sampai sekolah dan lembaga nirlaba.</a:t>
            </a:r>
            <a:endParaRPr lang="en-US" sz="1200" dirty="0"/>
          </a:p>
        </p:txBody>
      </p:sp>
      <p:pic>
        <p:nvPicPr>
          <p:cNvPr id="30" name="Image 8" descr="opt/st_shirt99.png">    </p:cNvPr>
          <p:cNvPicPr>
            <a:picLocks noChangeAspect="1"/>
          </p:cNvPicPr>
          <p:nvPr/>
        </p:nvPicPr>
        <p:blipFill>
          <a:blip r:embed="rId10"/>
          <a:stretch>
            <a:fillRect/>
          </a:stretch>
        </p:blipFill>
        <p:spPr>
          <a:xfrm rot="-420000">
            <a:off x="10332988" y="182880"/>
            <a:ext cx="1355787" cy="1691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4023360" cy="402336"/>
          </a:xfrm>
          <a:prstGeom prst="rect">
            <a:avLst/>
          </a:prstGeom>
        </p:spPr>
      </p:pic>
      <p:sp>
        <p:nvSpPr>
          <p:cNvPr id="3" name="Text 0"/>
          <p:cNvSpPr/>
          <p:nvPr/>
        </p:nvSpPr>
        <p:spPr>
          <a:xfrm>
            <a:off x="868680" y="381963"/>
            <a:ext cx="35661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2  ·  KONSEP INTI</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151" dirty="0">
                <a:solidFill>
                  <a:srgbClr val="FFFFFF"/>
                </a:solidFill>
                <a:latin typeface="Poppins ExtraBold" pitchFamily="34" charset="0"/>
                <a:ea typeface="Poppins ExtraBold" pitchFamily="34" charset="-122"/>
                <a:cs typeface="Poppins ExtraBold" pitchFamily="34" charset="-120"/>
              </a:rPr>
              <a:t>TIGA TINGKAT: COMPETENCE SAMPAI CORE COMPETENCE</a:t>
            </a:r>
            <a:endParaRPr lang="en-US" sz="2151"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Buku memakai tiga tingkatan yang berbeda. Jangan disamakan: hanya tingkat ketiga yang benar-benar berharga.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07</a:t>
            </a:r>
            <a:endParaRPr lang="en-US" sz="1200" dirty="0"/>
          </a:p>
        </p:txBody>
      </p:sp>
      <p:pic>
        <p:nvPicPr>
          <p:cNvPr id="10" name="Image 2" descr="opt/paper_43.png">    </p:cNvPr>
          <p:cNvPicPr>
            <a:picLocks noChangeAspect="1"/>
          </p:cNvPicPr>
          <p:nvPr/>
        </p:nvPicPr>
        <p:blipFill>
          <a:blip r:embed="rId4"/>
          <a:stretch>
            <a:fillRect/>
          </a:stretch>
        </p:blipFill>
        <p:spPr>
          <a:xfrm>
            <a:off x="640080" y="2606040"/>
            <a:ext cx="3514344" cy="2377440"/>
          </a:xfrm>
          <a:prstGeom prst="rect">
            <a:avLst/>
          </a:prstGeom>
        </p:spPr>
      </p:pic>
      <p:sp>
        <p:nvSpPr>
          <p:cNvPr id="11" name="Text 5"/>
          <p:cNvSpPr/>
          <p:nvPr/>
        </p:nvSpPr>
        <p:spPr>
          <a:xfrm>
            <a:off x="932688" y="2935224"/>
            <a:ext cx="914400" cy="594360"/>
          </a:xfrm>
          <a:prstGeom prst="rect">
            <a:avLst/>
          </a:prstGeom>
          <a:noFill/>
          <a:ln/>
        </p:spPr>
        <p:txBody>
          <a:bodyPr wrap="square" lIns="0" tIns="0" rIns="0" bIns="0" rtlCol="0" anchor="t"/>
          <a:lstStyle/>
          <a:p>
            <a:pPr indent="0" marL="0">
              <a:buNone/>
            </a:pPr>
            <a:r>
              <a:rPr lang="en-US" sz="3200" dirty="0">
                <a:solidFill>
                  <a:srgbClr val="DA291C"/>
                </a:solidFill>
                <a:latin typeface="Poppins ExtraBold" pitchFamily="34" charset="0"/>
                <a:ea typeface="Poppins ExtraBold" pitchFamily="34" charset="-122"/>
                <a:cs typeface="Poppins ExtraBold" pitchFamily="34" charset="-120"/>
              </a:rPr>
              <a:t>1</a:t>
            </a:r>
            <a:endParaRPr lang="en-US" sz="3200" dirty="0"/>
          </a:p>
        </p:txBody>
      </p:sp>
      <p:sp>
        <p:nvSpPr>
          <p:cNvPr id="12" name="Text 6"/>
          <p:cNvSpPr/>
          <p:nvPr/>
        </p:nvSpPr>
        <p:spPr>
          <a:xfrm>
            <a:off x="932688" y="3483864"/>
            <a:ext cx="2929128" cy="32004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Competence</a:t>
            </a:r>
            <a:endParaRPr lang="en-US" sz="1400" dirty="0"/>
          </a:p>
        </p:txBody>
      </p:sp>
      <p:sp>
        <p:nvSpPr>
          <p:cNvPr id="13" name="Text 7"/>
          <p:cNvSpPr/>
          <p:nvPr/>
        </p:nvSpPr>
        <p:spPr>
          <a:xfrm>
            <a:off x="932688" y="3794760"/>
            <a:ext cx="2929128" cy="566928"/>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Aktivitas yang dikuasai dan dikerjakan konsisten baik dengan biaya wajar.</a:t>
            </a:r>
            <a:endParaRPr lang="en-US" sz="1200" dirty="0"/>
          </a:p>
        </p:txBody>
      </p:sp>
      <p:sp>
        <p:nvSpPr>
          <p:cNvPr id="14" name="Text 8"/>
          <p:cNvSpPr/>
          <p:nvPr/>
        </p:nvSpPr>
        <p:spPr>
          <a:xfrm>
            <a:off x="932688" y="4434840"/>
            <a:ext cx="2929128" cy="404713"/>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Kemampuan biasa. Banyak perusahaan punya.</a:t>
            </a:r>
            <a:endParaRPr lang="en-US" sz="1200" dirty="0"/>
          </a:p>
        </p:txBody>
      </p:sp>
      <p:pic>
        <p:nvPicPr>
          <p:cNvPr id="15" name="Image 3" descr="opt/paper_43.png">    </p:cNvPr>
          <p:cNvPicPr>
            <a:picLocks noChangeAspect="1"/>
          </p:cNvPicPr>
          <p:nvPr/>
        </p:nvPicPr>
        <p:blipFill>
          <a:blip r:embed="rId5"/>
          <a:stretch>
            <a:fillRect/>
          </a:stretch>
        </p:blipFill>
        <p:spPr>
          <a:xfrm>
            <a:off x="4337304" y="2286000"/>
            <a:ext cx="3514344" cy="2697480"/>
          </a:xfrm>
          <a:prstGeom prst="rect">
            <a:avLst/>
          </a:prstGeom>
        </p:spPr>
      </p:pic>
      <p:sp>
        <p:nvSpPr>
          <p:cNvPr id="16" name="Text 9"/>
          <p:cNvSpPr/>
          <p:nvPr/>
        </p:nvSpPr>
        <p:spPr>
          <a:xfrm>
            <a:off x="4629912" y="2615184"/>
            <a:ext cx="914400" cy="594360"/>
          </a:xfrm>
          <a:prstGeom prst="rect">
            <a:avLst/>
          </a:prstGeom>
          <a:noFill/>
          <a:ln/>
        </p:spPr>
        <p:txBody>
          <a:bodyPr wrap="square" lIns="0" tIns="0" rIns="0" bIns="0" rtlCol="0" anchor="t"/>
          <a:lstStyle/>
          <a:p>
            <a:pPr indent="0" marL="0">
              <a:buNone/>
            </a:pPr>
            <a:r>
              <a:rPr lang="en-US" sz="3200" dirty="0">
                <a:solidFill>
                  <a:srgbClr val="DA291C"/>
                </a:solidFill>
                <a:latin typeface="Poppins ExtraBold" pitchFamily="34" charset="0"/>
                <a:ea typeface="Poppins ExtraBold" pitchFamily="34" charset="-122"/>
                <a:cs typeface="Poppins ExtraBold" pitchFamily="34" charset="-120"/>
              </a:rPr>
              <a:t>2</a:t>
            </a:r>
            <a:endParaRPr lang="en-US" sz="3200" dirty="0"/>
          </a:p>
        </p:txBody>
      </p:sp>
      <p:sp>
        <p:nvSpPr>
          <p:cNvPr id="17" name="Text 10"/>
          <p:cNvSpPr/>
          <p:nvPr/>
        </p:nvSpPr>
        <p:spPr>
          <a:xfrm>
            <a:off x="4629912" y="3163824"/>
            <a:ext cx="2929128" cy="32004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Distinctive Competence</a:t>
            </a:r>
            <a:endParaRPr lang="en-US" sz="1400" dirty="0"/>
          </a:p>
        </p:txBody>
      </p:sp>
      <p:sp>
        <p:nvSpPr>
          <p:cNvPr id="18" name="Text 11"/>
          <p:cNvSpPr/>
          <p:nvPr/>
        </p:nvSpPr>
        <p:spPr>
          <a:xfrm>
            <a:off x="4629912" y="3474720"/>
            <a:ext cx="2929128" cy="566928"/>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Kemampuan mengerjakan aktivitas itu LEBIH BAIK dari pesaing.</a:t>
            </a:r>
            <a:endParaRPr lang="en-US" sz="1200" dirty="0"/>
          </a:p>
        </p:txBody>
      </p:sp>
      <p:sp>
        <p:nvSpPr>
          <p:cNvPr id="19" name="Text 12"/>
          <p:cNvSpPr/>
          <p:nvPr/>
        </p:nvSpPr>
        <p:spPr>
          <a:xfrm>
            <a:off x="4629912" y="4434840"/>
            <a:ext cx="2929128" cy="389031"/>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Sudah membedakan, tapi belum tentu inti strategi.</a:t>
            </a:r>
            <a:endParaRPr lang="en-US" sz="1200" dirty="0"/>
          </a:p>
        </p:txBody>
      </p:sp>
      <p:pic>
        <p:nvPicPr>
          <p:cNvPr id="20" name="Image 4" descr="opt/red_32.png">    </p:cNvPr>
          <p:cNvPicPr>
            <a:picLocks noChangeAspect="1"/>
          </p:cNvPicPr>
          <p:nvPr/>
        </p:nvPicPr>
        <p:blipFill>
          <a:blip r:embed="rId6"/>
          <a:stretch>
            <a:fillRect/>
          </a:stretch>
        </p:blipFill>
        <p:spPr>
          <a:xfrm>
            <a:off x="8034528" y="1965960"/>
            <a:ext cx="3514344" cy="3017520"/>
          </a:xfrm>
          <a:prstGeom prst="rect">
            <a:avLst/>
          </a:prstGeom>
        </p:spPr>
      </p:pic>
      <p:sp>
        <p:nvSpPr>
          <p:cNvPr id="21" name="Text 13"/>
          <p:cNvSpPr/>
          <p:nvPr/>
        </p:nvSpPr>
        <p:spPr>
          <a:xfrm>
            <a:off x="8327136" y="2295144"/>
            <a:ext cx="914400" cy="594360"/>
          </a:xfrm>
          <a:prstGeom prst="rect">
            <a:avLst/>
          </a:prstGeom>
          <a:noFill/>
          <a:ln/>
        </p:spPr>
        <p:txBody>
          <a:bodyPr wrap="square" lIns="0" tIns="0" rIns="0" bIns="0" rtlCol="0" anchor="t"/>
          <a:lstStyle/>
          <a:p>
            <a:pPr indent="0" marL="0">
              <a:buNone/>
            </a:pPr>
            <a:r>
              <a:rPr lang="en-US" sz="3200" dirty="0">
                <a:solidFill>
                  <a:srgbClr val="FBE122"/>
                </a:solidFill>
                <a:latin typeface="Poppins ExtraBold" pitchFamily="34" charset="0"/>
                <a:ea typeface="Poppins ExtraBold" pitchFamily="34" charset="-122"/>
                <a:cs typeface="Poppins ExtraBold" pitchFamily="34" charset="-120"/>
              </a:rPr>
              <a:t>3</a:t>
            </a:r>
            <a:endParaRPr lang="en-US" sz="3200" dirty="0"/>
          </a:p>
        </p:txBody>
      </p:sp>
      <p:sp>
        <p:nvSpPr>
          <p:cNvPr id="22" name="Text 14"/>
          <p:cNvSpPr/>
          <p:nvPr/>
        </p:nvSpPr>
        <p:spPr>
          <a:xfrm>
            <a:off x="8327136" y="2843784"/>
            <a:ext cx="2929128" cy="320040"/>
          </a:xfrm>
          <a:prstGeom prst="rect">
            <a:avLst/>
          </a:prstGeom>
          <a:noFill/>
          <a:ln/>
        </p:spPr>
        <p:txBody>
          <a:bodyPr wrap="square" lIns="0" tIns="0" rIns="0" bIns="0" rtlCol="0" anchor="t"/>
          <a:lstStyle/>
          <a:p>
            <a:pPr indent="0" marL="0">
              <a:buNone/>
            </a:pPr>
            <a:r>
              <a:rPr lang="en-US" sz="1400" dirty="0">
                <a:solidFill>
                  <a:srgbClr val="FFFFFF"/>
                </a:solidFill>
                <a:latin typeface="Poppins ExtraBold" pitchFamily="34" charset="0"/>
                <a:ea typeface="Poppins ExtraBold" pitchFamily="34" charset="-122"/>
                <a:cs typeface="Poppins ExtraBold" pitchFamily="34" charset="-120"/>
              </a:rPr>
              <a:t>Core Competence</a:t>
            </a:r>
            <a:endParaRPr lang="en-US" sz="1400" dirty="0"/>
          </a:p>
        </p:txBody>
      </p:sp>
      <p:sp>
        <p:nvSpPr>
          <p:cNvPr id="23" name="Text 15"/>
          <p:cNvSpPr/>
          <p:nvPr/>
        </p:nvSpPr>
        <p:spPr>
          <a:xfrm>
            <a:off x="8327136" y="3154680"/>
            <a:ext cx="2929128" cy="566928"/>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Aktivitas yang dikuasai dengan baik DAN berada di jantung strategi perusahaan.</a:t>
            </a:r>
            <a:endParaRPr lang="en-US" sz="1200" dirty="0"/>
          </a:p>
        </p:txBody>
      </p:sp>
      <p:sp>
        <p:nvSpPr>
          <p:cNvPr id="24" name="Text 16"/>
          <p:cNvSpPr/>
          <p:nvPr/>
        </p:nvSpPr>
        <p:spPr>
          <a:xfrm>
            <a:off x="8327136" y="4434840"/>
            <a:ext cx="2929128" cy="406542"/>
          </a:xfrm>
          <a:prstGeom prst="rect">
            <a:avLst/>
          </a:prstGeom>
          <a:noFill/>
          <a:ln/>
        </p:spPr>
        <p:txBody>
          <a:bodyPr wrap="square" lIns="0" tIns="0" rIns="0" bIns="0" rtlCol="0" anchor="t"/>
          <a:lstStyle/>
          <a:p>
            <a:pPr indent="0" marL="0">
              <a:lnSpc>
                <a:spcPct val="100000"/>
              </a:lnSpc>
              <a:buNone/>
            </a:pPr>
            <a:r>
              <a:rPr lang="en-US" sz="1200" dirty="0">
                <a:solidFill>
                  <a:srgbClr val="FBE122"/>
                </a:solidFill>
                <a:latin typeface="Poppins SemiBold" pitchFamily="34" charset="0"/>
                <a:ea typeface="Poppins SemiBold" pitchFamily="34" charset="-122"/>
                <a:cs typeface="Poppins SemiBold" pitchFamily="34" charset="-120"/>
              </a:rPr>
              <a:t>Paling berharga. Sering jadi mesin pertumbuhan.</a:t>
            </a:r>
            <a:endParaRPr lang="en-US" sz="1200" dirty="0"/>
          </a:p>
        </p:txBody>
      </p:sp>
      <p:pic>
        <p:nvPicPr>
          <p:cNvPr id="25" name="Image 5" descr="opt/black_219.png">    </p:cNvPr>
          <p:cNvPicPr>
            <a:picLocks noChangeAspect="1"/>
          </p:cNvPicPr>
          <p:nvPr/>
        </p:nvPicPr>
        <p:blipFill>
          <a:blip r:embed="rId7"/>
          <a:stretch>
            <a:fillRect/>
          </a:stretch>
        </p:blipFill>
        <p:spPr>
          <a:xfrm>
            <a:off x="640080" y="5093208"/>
            <a:ext cx="2651760" cy="365760"/>
          </a:xfrm>
          <a:prstGeom prst="rect">
            <a:avLst/>
          </a:prstGeom>
        </p:spPr>
      </p:pic>
      <p:sp>
        <p:nvSpPr>
          <p:cNvPr id="26" name="Text 17"/>
          <p:cNvSpPr/>
          <p:nvPr/>
        </p:nvSpPr>
        <p:spPr>
          <a:xfrm>
            <a:off x="868680" y="5143683"/>
            <a:ext cx="2194560" cy="256032"/>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CONTOH DARI BUKU</a:t>
            </a:r>
            <a:endParaRPr lang="en-US" sz="1200" dirty="0"/>
          </a:p>
        </p:txBody>
      </p:sp>
      <p:sp>
        <p:nvSpPr>
          <p:cNvPr id="27" name="Text 18"/>
          <p:cNvSpPr/>
          <p:nvPr/>
        </p:nvSpPr>
        <p:spPr>
          <a:xfrm>
            <a:off x="640080" y="5532120"/>
            <a:ext cx="3514344" cy="777240"/>
          </a:xfrm>
          <a:prstGeom prst="rect">
            <a:avLst/>
          </a:prstGeom>
          <a:noFill/>
          <a:ln/>
        </p:spPr>
        <p:txBody>
          <a:bodyPr wrap="square" lIns="0" tIns="0" rIns="0" bIns="0" rtlCol="0" anchor="t"/>
          <a:lstStyle/>
          <a:p>
            <a:pPr indent="0" marL="0">
              <a:lnSpc>
                <a:spcPct val="104000"/>
              </a:lnSpc>
              <a:buNone/>
            </a:pPr>
            <a:r>
              <a:rPr lang="en-US" sz="1300" dirty="0">
                <a:solidFill>
                  <a:srgbClr val="FBE122"/>
                </a:solidFill>
                <a:latin typeface="Poppins SemiBold" pitchFamily="34" charset="0"/>
                <a:ea typeface="Poppins SemiBold" pitchFamily="34" charset="-122"/>
                <a:cs typeface="Poppins SemiBold" pitchFamily="34" charset="-120"/>
              </a:rPr>
              <a:t>Procter &amp; Gamble
</a:t>
            </a:r>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Manajemen merek: Tide, Crest, Pampers, Olay, Febreze.</a:t>
            </a:r>
            <a:endParaRPr lang="en-US" sz="1200" dirty="0"/>
          </a:p>
        </p:txBody>
      </p:sp>
      <p:sp>
        <p:nvSpPr>
          <p:cNvPr id="28" name="Text 19"/>
          <p:cNvSpPr/>
          <p:nvPr/>
        </p:nvSpPr>
        <p:spPr>
          <a:xfrm>
            <a:off x="4337304" y="5532120"/>
            <a:ext cx="3514344" cy="777240"/>
          </a:xfrm>
          <a:prstGeom prst="rect">
            <a:avLst/>
          </a:prstGeom>
          <a:noFill/>
          <a:ln/>
        </p:spPr>
        <p:txBody>
          <a:bodyPr wrap="square" lIns="0" tIns="0" rIns="0" bIns="0" rtlCol="0" anchor="t"/>
          <a:lstStyle/>
          <a:p>
            <a:pPr indent="0" marL="0">
              <a:lnSpc>
                <a:spcPct val="104000"/>
              </a:lnSpc>
              <a:buNone/>
            </a:pPr>
            <a:r>
              <a:rPr lang="en-US" sz="1300" dirty="0">
                <a:solidFill>
                  <a:srgbClr val="FBE122"/>
                </a:solidFill>
                <a:latin typeface="Poppins SemiBold" pitchFamily="34" charset="0"/>
                <a:ea typeface="Poppins SemiBold" pitchFamily="34" charset="-122"/>
                <a:cs typeface="Poppins SemiBold" pitchFamily="34" charset="-120"/>
              </a:rPr>
              <a:t>Nike
</a:t>
            </a:r>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Desain dan pemasaran sepatu serta apparel olahraga.</a:t>
            </a:r>
            <a:endParaRPr lang="en-US" sz="1200" dirty="0"/>
          </a:p>
        </p:txBody>
      </p:sp>
      <p:sp>
        <p:nvSpPr>
          <p:cNvPr id="29" name="Text 20"/>
          <p:cNvSpPr/>
          <p:nvPr/>
        </p:nvSpPr>
        <p:spPr>
          <a:xfrm>
            <a:off x="8034528" y="5532120"/>
            <a:ext cx="3514344" cy="777240"/>
          </a:xfrm>
          <a:prstGeom prst="rect">
            <a:avLst/>
          </a:prstGeom>
          <a:noFill/>
          <a:ln/>
        </p:spPr>
        <p:txBody>
          <a:bodyPr wrap="square" lIns="0" tIns="0" rIns="0" bIns="0" rtlCol="0" anchor="t"/>
          <a:lstStyle/>
          <a:p>
            <a:pPr indent="0" marL="0">
              <a:lnSpc>
                <a:spcPct val="104000"/>
              </a:lnSpc>
              <a:buNone/>
            </a:pPr>
            <a:r>
              <a:rPr lang="en-US" sz="1300" dirty="0">
                <a:solidFill>
                  <a:srgbClr val="FBE122"/>
                </a:solidFill>
                <a:latin typeface="Poppins SemiBold" pitchFamily="34" charset="0"/>
                <a:ea typeface="Poppins SemiBold" pitchFamily="34" charset="-122"/>
                <a:cs typeface="Poppins SemiBold" pitchFamily="34" charset="-120"/>
              </a:rPr>
              <a:t>Kellogg
</a:t>
            </a:r>
            <a:pPr indent="0" marL="0">
              <a:lnSpc>
                <a:spcPct val="104000"/>
              </a:lnSpc>
              <a:buNone/>
            </a:pPr>
            <a:r>
              <a:rPr lang="en-US" sz="1200" dirty="0">
                <a:solidFill>
                  <a:srgbClr val="E9DDD8"/>
                </a:solidFill>
                <a:latin typeface="Poppins" pitchFamily="34" charset="0"/>
                <a:ea typeface="Poppins" pitchFamily="34" charset="-122"/>
                <a:cs typeface="Poppins" pitchFamily="34" charset="-120"/>
              </a:rPr>
              <a:t>Pengembangan, produksi, dan pemasaran sereal sarapan.</a:t>
            </a:r>
            <a:endParaRPr lang="en-US" sz="1200" dirty="0"/>
          </a:p>
        </p:txBody>
      </p:sp>
      <p:pic>
        <p:nvPicPr>
          <p:cNvPr id="30" name="Image 6" descr="opt/st_trophy.png">    </p:cNvPr>
          <p:cNvPicPr>
            <a:picLocks noChangeAspect="1"/>
          </p:cNvPicPr>
          <p:nvPr/>
        </p:nvPicPr>
        <p:blipFill>
          <a:blip r:embed="rId8"/>
          <a:stretch>
            <a:fillRect/>
          </a:stretch>
        </p:blipFill>
        <p:spPr>
          <a:xfrm rot="420000">
            <a:off x="10591686" y="182880"/>
            <a:ext cx="1097089" cy="1691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2  ·  FIGURE 4.2</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SWOT BUKAN BIKIN EMPAT DAFTAR</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Nilai SWOT ada pada kesimpulan yang ditarik dari daftarnya, bukan pada daftarnya. Buku menggambarkannya sebagai tiga langkah.</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08</a:t>
            </a:r>
            <a:endParaRPr lang="en-US" sz="1200" dirty="0"/>
          </a:p>
        </p:txBody>
      </p:sp>
      <p:pic>
        <p:nvPicPr>
          <p:cNvPr id="10" name="Image 2" descr="opt/paper_32.png">    </p:cNvPr>
          <p:cNvPicPr>
            <a:picLocks noChangeAspect="1"/>
          </p:cNvPicPr>
          <p:nvPr/>
        </p:nvPicPr>
        <p:blipFill>
          <a:blip r:embed="rId4"/>
          <a:stretch>
            <a:fillRect/>
          </a:stretch>
        </p:blipFill>
        <p:spPr>
          <a:xfrm>
            <a:off x="640080" y="1920240"/>
            <a:ext cx="5303520" cy="3246120"/>
          </a:xfrm>
          <a:prstGeom prst="rect">
            <a:avLst/>
          </a:prstGeom>
        </p:spPr>
      </p:pic>
      <p:sp>
        <p:nvSpPr>
          <p:cNvPr id="11" name="Shape 5"/>
          <p:cNvSpPr/>
          <p:nvPr/>
        </p:nvSpPr>
        <p:spPr>
          <a:xfrm>
            <a:off x="960120" y="2258568"/>
            <a:ext cx="457200" cy="457200"/>
          </a:xfrm>
          <a:prstGeom prst="ellipse">
            <a:avLst/>
          </a:prstGeom>
          <a:solidFill>
            <a:srgbClr val="DA291C"/>
          </a:solidFill>
          <a:ln w="12700">
            <a:solidFill>
              <a:srgbClr val="DA291C"/>
            </a:solidFill>
            <a:prstDash val="solid"/>
          </a:ln>
        </p:spPr>
      </p:sp>
      <p:sp>
        <p:nvSpPr>
          <p:cNvPr id="12" name="Text 6"/>
          <p:cNvSpPr/>
          <p:nvPr/>
        </p:nvSpPr>
        <p:spPr>
          <a:xfrm>
            <a:off x="1057046" y="2258568"/>
            <a:ext cx="360274"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1</a:t>
            </a:r>
            <a:endParaRPr lang="en-US" sz="1300" dirty="0"/>
          </a:p>
        </p:txBody>
      </p:sp>
      <p:sp>
        <p:nvSpPr>
          <p:cNvPr id="13" name="Text 7"/>
          <p:cNvSpPr/>
          <p:nvPr/>
        </p:nvSpPr>
        <p:spPr>
          <a:xfrm>
            <a:off x="1554480" y="2212848"/>
            <a:ext cx="4114800" cy="27432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Identifikasi</a:t>
            </a:r>
            <a:endParaRPr lang="en-US" sz="1400" dirty="0"/>
          </a:p>
        </p:txBody>
      </p:sp>
      <p:sp>
        <p:nvSpPr>
          <p:cNvPr id="14" name="Text 8"/>
          <p:cNvSpPr/>
          <p:nvPr/>
        </p:nvSpPr>
        <p:spPr>
          <a:xfrm>
            <a:off x="1554480" y="2514600"/>
            <a:ext cx="4069080" cy="640080"/>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Susun keempat daftar berdasarkan bukti, bukan opini. Table 4.2 memberi contoh isinya.</a:t>
            </a:r>
            <a:endParaRPr lang="en-US" sz="1200" dirty="0"/>
          </a:p>
        </p:txBody>
      </p:sp>
      <p:sp>
        <p:nvSpPr>
          <p:cNvPr id="15" name="Shape 9"/>
          <p:cNvSpPr/>
          <p:nvPr/>
        </p:nvSpPr>
        <p:spPr>
          <a:xfrm>
            <a:off x="960120" y="3218688"/>
            <a:ext cx="457200" cy="457200"/>
          </a:xfrm>
          <a:prstGeom prst="ellipse">
            <a:avLst/>
          </a:prstGeom>
          <a:solidFill>
            <a:srgbClr val="DA291C"/>
          </a:solidFill>
          <a:ln w="12700">
            <a:solidFill>
              <a:srgbClr val="DA291C"/>
            </a:solidFill>
            <a:prstDash val="solid"/>
          </a:ln>
        </p:spPr>
      </p:sp>
      <p:sp>
        <p:nvSpPr>
          <p:cNvPr id="16" name="Text 10"/>
          <p:cNvSpPr/>
          <p:nvPr/>
        </p:nvSpPr>
        <p:spPr>
          <a:xfrm>
            <a:off x="1057046" y="3218688"/>
            <a:ext cx="360274"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2</a:t>
            </a:r>
            <a:endParaRPr lang="en-US" sz="1300" dirty="0"/>
          </a:p>
        </p:txBody>
      </p:sp>
      <p:sp>
        <p:nvSpPr>
          <p:cNvPr id="17" name="Text 11"/>
          <p:cNvSpPr/>
          <p:nvPr/>
        </p:nvSpPr>
        <p:spPr>
          <a:xfrm>
            <a:off x="1554480" y="3172968"/>
            <a:ext cx="4114800" cy="27432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Tarik kesimpulan</a:t>
            </a:r>
            <a:endParaRPr lang="en-US" sz="1400" dirty="0"/>
          </a:p>
        </p:txBody>
      </p:sp>
      <p:sp>
        <p:nvSpPr>
          <p:cNvPr id="18" name="Text 12"/>
          <p:cNvSpPr/>
          <p:nvPr/>
        </p:nvSpPr>
        <p:spPr>
          <a:xfrm>
            <a:off x="1554480" y="3474720"/>
            <a:ext cx="4069080" cy="640080"/>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Apa sebab berhasil atau gagalnya strategi? Sisi mana dari situasi perusahaan yang menarik, mana yang tidak?</a:t>
            </a:r>
            <a:endParaRPr lang="en-US" sz="1200" dirty="0"/>
          </a:p>
        </p:txBody>
      </p:sp>
      <p:sp>
        <p:nvSpPr>
          <p:cNvPr id="19" name="Shape 13"/>
          <p:cNvSpPr/>
          <p:nvPr/>
        </p:nvSpPr>
        <p:spPr>
          <a:xfrm>
            <a:off x="960120" y="4178808"/>
            <a:ext cx="457200" cy="457200"/>
          </a:xfrm>
          <a:prstGeom prst="ellipse">
            <a:avLst/>
          </a:prstGeom>
          <a:solidFill>
            <a:srgbClr val="DA291C"/>
          </a:solidFill>
          <a:ln w="12700">
            <a:solidFill>
              <a:srgbClr val="DA291C"/>
            </a:solidFill>
            <a:prstDash val="solid"/>
          </a:ln>
        </p:spPr>
      </p:sp>
      <p:sp>
        <p:nvSpPr>
          <p:cNvPr id="20" name="Text 14"/>
          <p:cNvSpPr/>
          <p:nvPr/>
        </p:nvSpPr>
        <p:spPr>
          <a:xfrm>
            <a:off x="1057046" y="4178808"/>
            <a:ext cx="360274"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3</a:t>
            </a:r>
            <a:endParaRPr lang="en-US" sz="1300" dirty="0"/>
          </a:p>
        </p:txBody>
      </p:sp>
      <p:sp>
        <p:nvSpPr>
          <p:cNvPr id="21" name="Text 15"/>
          <p:cNvSpPr/>
          <p:nvPr/>
        </p:nvSpPr>
        <p:spPr>
          <a:xfrm>
            <a:off x="1554480" y="4133088"/>
            <a:ext cx="4114800" cy="27432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Terjemahkan jadi tindakan</a:t>
            </a:r>
            <a:endParaRPr lang="en-US" sz="1400" dirty="0"/>
          </a:p>
        </p:txBody>
      </p:sp>
      <p:sp>
        <p:nvSpPr>
          <p:cNvPr id="22" name="Text 16"/>
          <p:cNvSpPr/>
          <p:nvPr/>
        </p:nvSpPr>
        <p:spPr>
          <a:xfrm>
            <a:off x="1554480" y="4434840"/>
            <a:ext cx="4069080" cy="567751"/>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Ubah kesimpulan itu menjadi langkah strategis yang konkret.</a:t>
            </a:r>
            <a:endParaRPr lang="en-US" sz="1200" dirty="0"/>
          </a:p>
        </p:txBody>
      </p:sp>
      <p:pic>
        <p:nvPicPr>
          <p:cNvPr id="23" name="Image 3" descr="opt/red_32.png">    </p:cNvPr>
          <p:cNvPicPr>
            <a:picLocks noChangeAspect="1"/>
          </p:cNvPicPr>
          <p:nvPr/>
        </p:nvPicPr>
        <p:blipFill>
          <a:blip r:embed="rId5"/>
          <a:stretch>
            <a:fillRect/>
          </a:stretch>
        </p:blipFill>
        <p:spPr>
          <a:xfrm>
            <a:off x="6126480" y="1920240"/>
            <a:ext cx="5440680" cy="3246120"/>
          </a:xfrm>
          <a:prstGeom prst="rect">
            <a:avLst/>
          </a:prstGeom>
        </p:spPr>
      </p:pic>
      <p:sp>
        <p:nvSpPr>
          <p:cNvPr id="24" name="Text 17"/>
          <p:cNvSpPr/>
          <p:nvPr/>
        </p:nvSpPr>
        <p:spPr>
          <a:xfrm>
            <a:off x="6473952" y="2249424"/>
            <a:ext cx="4745736" cy="27432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ENAM TINDAKAN DARI LANGKAH 3</a:t>
            </a:r>
            <a:endParaRPr lang="en-US" sz="1200" dirty="0"/>
          </a:p>
        </p:txBody>
      </p:sp>
      <p:sp>
        <p:nvSpPr>
          <p:cNvPr id="25" name="Text 18"/>
          <p:cNvSpPr/>
          <p:nvPr/>
        </p:nvSpPr>
        <p:spPr>
          <a:xfrm>
            <a:off x="6473952" y="2615184"/>
            <a:ext cx="4745736" cy="2377440"/>
          </a:xfrm>
          <a:prstGeom prst="rect">
            <a:avLst/>
          </a:prstGeom>
          <a:noFill/>
          <a:ln/>
        </p:spPr>
        <p:txBody>
          <a:bodyPr wrap="square" lIns="0" tIns="0" rIns="0" bIns="0" rtlCol="0" anchor="t"/>
          <a:lstStyle/>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Jadikan kekuatan sebagai fondasi strategi</a:t>
            </a:r>
            <a:endParaRPr lang="en-US" sz="1200" dirty="0"/>
          </a:p>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Perbaiki kelemahan yang menghambat strategi</a:t>
            </a:r>
            <a:endParaRPr lang="en-US" sz="1200" dirty="0"/>
          </a:p>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Pakai kekuatan untuk meredam ancaman besar</a:t>
            </a:r>
            <a:endParaRPr lang="en-US" sz="1200" dirty="0"/>
          </a:p>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Kejar peluang yang paling cocok dengan kekuatan</a:t>
            </a:r>
            <a:endParaRPr lang="en-US" sz="1200" dirty="0"/>
          </a:p>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Benahi kelemahan yang menghalangi peluang penting</a:t>
            </a:r>
            <a:endParaRPr lang="en-US" sz="1200" dirty="0"/>
          </a:p>
          <a:p>
            <a:pPr marL="177800" indent="-177800">
              <a:lnSpc>
                <a:spcPct val="106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Tutup kelemahan yang membuat rentan pada ancaman</a:t>
            </a:r>
            <a:endParaRPr lang="en-US" sz="1200" dirty="0"/>
          </a:p>
        </p:txBody>
      </p:sp>
      <p:sp>
        <p:nvSpPr>
          <p:cNvPr id="26" name="Text 19"/>
          <p:cNvSpPr/>
          <p:nvPr/>
        </p:nvSpPr>
        <p:spPr>
          <a:xfrm>
            <a:off x="640080" y="5349240"/>
            <a:ext cx="10881360" cy="640080"/>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Keterbatasan SWOT, diakui bukunya sendiri: </a:t>
            </a:r>
            <a:pPr indent="0" marL="0">
              <a:lnSpc>
                <a:spcPct val="106000"/>
              </a:lnSpc>
              <a:buNone/>
            </a:pPr>
            <a:r>
              <a:rPr lang="en-US" sz="1200" dirty="0">
                <a:solidFill>
                  <a:srgbClr val="E9DDD8"/>
                </a:solidFill>
                <a:latin typeface="Poppins" pitchFamily="34" charset="0"/>
                <a:ea typeface="Poppins" pitchFamily="34" charset="-122"/>
                <a:cs typeface="Poppins" pitchFamily="34" charset="-120"/>
              </a:rPr>
              <a:t>kekuatannya ada pada kesederhanaan, dan itu juga batasnya. Pemahaman lebih dalam butuh alat yang lebih canggih, yaitu Q3 sampai Q5 berikutnya.</a:t>
            </a:r>
            <a:endParaRPr lang="en-US" sz="1200" dirty="0"/>
          </a:p>
        </p:txBody>
      </p:sp>
      <p:pic>
        <p:nvPicPr>
          <p:cNvPr id="27" name="Image 4" descr="opt/st_devil.png">    </p:cNvPr>
          <p:cNvPicPr>
            <a:picLocks noChangeAspect="1"/>
          </p:cNvPicPr>
          <p:nvPr/>
        </p:nvPicPr>
        <p:blipFill>
          <a:blip r:embed="rId6"/>
          <a:stretch>
            <a:fillRect/>
          </a:stretch>
        </p:blipFill>
        <p:spPr>
          <a:xfrm rot="-420000">
            <a:off x="10330365" y="182880"/>
            <a:ext cx="1358411" cy="1691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194560" cy="402336"/>
          </a:xfrm>
          <a:prstGeom prst="rect">
            <a:avLst/>
          </a:prstGeom>
        </p:spPr>
      </p:pic>
      <p:sp>
        <p:nvSpPr>
          <p:cNvPr id="3" name="Text 0"/>
          <p:cNvSpPr/>
          <p:nvPr/>
        </p:nvSpPr>
        <p:spPr>
          <a:xfrm>
            <a:off x="868680" y="381963"/>
            <a:ext cx="17373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RESOURCE DAN CAPABILITY: DUA HAL BERBEDA</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Resource itu sesuatu yang perusahaan PUNYA. Capability itu sesuatu yang perusahaan BISA KERJAKAN, dibangun dengan mengerahkan resource.</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09</a:t>
            </a:r>
            <a:endParaRPr lang="en-US" sz="1200" dirty="0"/>
          </a:p>
        </p:txBody>
      </p:sp>
      <p:pic>
        <p:nvPicPr>
          <p:cNvPr id="10" name="Image 2" descr="opt/red_219.png">    </p:cNvPr>
          <p:cNvPicPr>
            <a:picLocks noChangeAspect="1"/>
          </p:cNvPicPr>
          <p:nvPr/>
        </p:nvPicPr>
        <p:blipFill>
          <a:blip r:embed="rId4"/>
          <a:stretch>
            <a:fillRect/>
          </a:stretch>
        </p:blipFill>
        <p:spPr>
          <a:xfrm>
            <a:off x="640080" y="1920240"/>
            <a:ext cx="5340096" cy="1172261"/>
          </a:xfrm>
          <a:prstGeom prst="rect">
            <a:avLst/>
          </a:prstGeom>
        </p:spPr>
      </p:pic>
      <p:sp>
        <p:nvSpPr>
          <p:cNvPr id="11" name="Text 5"/>
          <p:cNvSpPr/>
          <p:nvPr/>
        </p:nvSpPr>
        <p:spPr>
          <a:xfrm>
            <a:off x="969264" y="2139696"/>
            <a:ext cx="4681728" cy="678485"/>
          </a:xfrm>
          <a:prstGeom prst="rect">
            <a:avLst/>
          </a:prstGeom>
          <a:noFill/>
          <a:ln/>
        </p:spPr>
        <p:txBody>
          <a:bodyPr wrap="square" lIns="0" tIns="0" rIns="0" bIns="0" rtlCol="0" anchor="t"/>
          <a:lstStyle/>
          <a:p>
            <a:pPr indent="0" marL="0">
              <a:lnSpc>
                <a:spcPct val="106000"/>
              </a:lnSpc>
              <a:buNone/>
            </a:pPr>
            <a:r>
              <a:rPr lang="en-US" sz="1400" dirty="0">
                <a:solidFill>
                  <a:srgbClr val="FBE122"/>
                </a:solidFill>
                <a:latin typeface="Poppins ExtraBold" pitchFamily="34" charset="0"/>
                <a:ea typeface="Poppins ExtraBold" pitchFamily="34" charset="-122"/>
                <a:cs typeface="Poppins ExtraBold" pitchFamily="34" charset="-120"/>
              </a:rPr>
              <a:t>Resource  </a:t>
            </a:r>
            <a:pPr indent="0" marL="0">
              <a:lnSpc>
                <a:spcPct val="106000"/>
              </a:lnSpc>
              <a:buNone/>
            </a:pPr>
            <a:r>
              <a:rPr lang="en-US" sz="1200" dirty="0">
                <a:solidFill>
                  <a:srgbClr val="FFFFFF"/>
                </a:solidFill>
                <a:latin typeface="Poppins" pitchFamily="34" charset="0"/>
                <a:ea typeface="Poppins" pitchFamily="34" charset="-122"/>
                <a:cs typeface="Poppins" pitchFamily="34" charset="-120"/>
              </a:rPr>
              <a:t>Aset bersaing yang dimiliki atau dikendalikan perusahaan. Contoh: merek, pabrik, kas, paten, tim R&amp;D.</a:t>
            </a:r>
            <a:endParaRPr lang="en-US" sz="1200" dirty="0"/>
          </a:p>
        </p:txBody>
      </p:sp>
      <p:pic>
        <p:nvPicPr>
          <p:cNvPr id="12" name="Image 3" descr="opt/red_219.png">    </p:cNvPr>
          <p:cNvPicPr>
            <a:picLocks noChangeAspect="1"/>
          </p:cNvPicPr>
          <p:nvPr/>
        </p:nvPicPr>
        <p:blipFill>
          <a:blip r:embed="rId5"/>
          <a:stretch>
            <a:fillRect/>
          </a:stretch>
        </p:blipFill>
        <p:spPr>
          <a:xfrm>
            <a:off x="6208776" y="1920240"/>
            <a:ext cx="5340096" cy="1172261"/>
          </a:xfrm>
          <a:prstGeom prst="rect">
            <a:avLst/>
          </a:prstGeom>
        </p:spPr>
      </p:pic>
      <p:sp>
        <p:nvSpPr>
          <p:cNvPr id="13" name="Text 6"/>
          <p:cNvSpPr/>
          <p:nvPr/>
        </p:nvSpPr>
        <p:spPr>
          <a:xfrm>
            <a:off x="6537960" y="2139696"/>
            <a:ext cx="4681728" cy="678485"/>
          </a:xfrm>
          <a:prstGeom prst="rect">
            <a:avLst/>
          </a:prstGeom>
          <a:noFill/>
          <a:ln/>
        </p:spPr>
        <p:txBody>
          <a:bodyPr wrap="square" lIns="0" tIns="0" rIns="0" bIns="0" rtlCol="0" anchor="t"/>
          <a:lstStyle/>
          <a:p>
            <a:pPr indent="0" marL="0">
              <a:lnSpc>
                <a:spcPct val="106000"/>
              </a:lnSpc>
              <a:buNone/>
            </a:pPr>
            <a:r>
              <a:rPr lang="en-US" sz="1400" dirty="0">
                <a:solidFill>
                  <a:srgbClr val="FBE122"/>
                </a:solidFill>
                <a:latin typeface="Poppins ExtraBold" pitchFamily="34" charset="0"/>
                <a:ea typeface="Poppins ExtraBold" pitchFamily="34" charset="-122"/>
                <a:cs typeface="Poppins ExtraBold" pitchFamily="34" charset="-120"/>
              </a:rPr>
              <a:t>Capability  </a:t>
            </a:r>
            <a:pPr indent="0" marL="0">
              <a:lnSpc>
                <a:spcPct val="106000"/>
              </a:lnSpc>
              <a:buNone/>
            </a:pPr>
            <a:r>
              <a:rPr lang="en-US" sz="1200" dirty="0">
                <a:solidFill>
                  <a:srgbClr val="FFFFFF"/>
                </a:solidFill>
                <a:latin typeface="Poppins" pitchFamily="34" charset="0"/>
                <a:ea typeface="Poppins" pitchFamily="34" charset="-122"/>
                <a:cs typeface="Poppins" pitchFamily="34" charset="-120"/>
              </a:rPr>
              <a:t>Kemampuan mengerjakan aktivitas internal dengan baik; disebut juga competence. Contoh: Starbucks melatih karyawan.</a:t>
            </a:r>
            <a:endParaRPr lang="en-US" sz="1200" dirty="0"/>
          </a:p>
        </p:txBody>
      </p:sp>
      <p:pic>
        <p:nvPicPr>
          <p:cNvPr id="14" name="Image 4" descr="opt/black_219.png">    </p:cNvPr>
          <p:cNvPicPr>
            <a:picLocks noChangeAspect="1"/>
          </p:cNvPicPr>
          <p:nvPr/>
        </p:nvPicPr>
        <p:blipFill>
          <a:blip r:embed="rId6"/>
          <a:stretch>
            <a:fillRect/>
          </a:stretch>
        </p:blipFill>
        <p:spPr>
          <a:xfrm>
            <a:off x="640080" y="3229661"/>
            <a:ext cx="3909060" cy="365760"/>
          </a:xfrm>
          <a:prstGeom prst="rect">
            <a:avLst/>
          </a:prstGeom>
        </p:spPr>
      </p:pic>
      <p:sp>
        <p:nvSpPr>
          <p:cNvPr id="15" name="Text 7"/>
          <p:cNvSpPr/>
          <p:nvPr/>
        </p:nvSpPr>
        <p:spPr>
          <a:xfrm>
            <a:off x="868680" y="3280136"/>
            <a:ext cx="3451860" cy="256032"/>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TABLE 4.3  ·  TIPE RESOURCE</a:t>
            </a:r>
            <a:endParaRPr lang="en-US" sz="1200" dirty="0"/>
          </a:p>
        </p:txBody>
      </p:sp>
      <p:pic>
        <p:nvPicPr>
          <p:cNvPr id="16" name="Image 5" descr="opt/paper_169.png">    </p:cNvPr>
          <p:cNvPicPr>
            <a:picLocks noChangeAspect="1"/>
          </p:cNvPicPr>
          <p:nvPr/>
        </p:nvPicPr>
        <p:blipFill>
          <a:blip r:embed="rId7"/>
          <a:stretch>
            <a:fillRect/>
          </a:stretch>
        </p:blipFill>
        <p:spPr>
          <a:xfrm>
            <a:off x="640080" y="3686861"/>
            <a:ext cx="5340096" cy="2558491"/>
          </a:xfrm>
          <a:prstGeom prst="rect">
            <a:avLst/>
          </a:prstGeom>
        </p:spPr>
      </p:pic>
      <p:sp>
        <p:nvSpPr>
          <p:cNvPr id="17" name="Text 8"/>
          <p:cNvSpPr/>
          <p:nvPr/>
        </p:nvSpPr>
        <p:spPr>
          <a:xfrm>
            <a:off x="1054267" y="3942893"/>
            <a:ext cx="4559784" cy="320040"/>
          </a:xfrm>
          <a:prstGeom prst="rect">
            <a:avLst/>
          </a:prstGeom>
          <a:noFill/>
          <a:ln/>
        </p:spPr>
        <p:txBody>
          <a:bodyPr wrap="square" lIns="0" tIns="0" rIns="0" bIns="0" rtlCol="0" anchor="t"/>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TANGIBLE  </a:t>
            </a:r>
            <a:pPr indent="0" marL="0">
              <a:buNone/>
            </a:pPr>
            <a:r>
              <a:rPr lang="en-US" sz="1200" dirty="0">
                <a:solidFill>
                  <a:srgbClr val="4A2E2A"/>
                </a:solidFill>
                <a:latin typeface="Poppins" pitchFamily="34" charset="0"/>
                <a:ea typeface="Poppins" pitchFamily="34" charset="-122"/>
                <a:cs typeface="Poppins" pitchFamily="34" charset="-120"/>
              </a:rPr>
              <a:t>bisa disentuh atau dihitung</a:t>
            </a:r>
            <a:endParaRPr lang="en-US" sz="1200" dirty="0"/>
          </a:p>
        </p:txBody>
      </p:sp>
      <p:sp>
        <p:nvSpPr>
          <p:cNvPr id="18" name="Shape 9"/>
          <p:cNvSpPr/>
          <p:nvPr/>
        </p:nvSpPr>
        <p:spPr>
          <a:xfrm>
            <a:off x="960120" y="4290365"/>
            <a:ext cx="4700016" cy="13716"/>
          </a:xfrm>
          <a:prstGeom prst="rect">
            <a:avLst/>
          </a:prstGeom>
          <a:solidFill>
            <a:srgbClr val="DA291C"/>
          </a:solidFill>
          <a:ln w="12700">
            <a:solidFill>
              <a:srgbClr val="DA291C"/>
            </a:solidFill>
            <a:prstDash val="solid"/>
          </a:ln>
        </p:spPr>
      </p:sp>
      <p:sp>
        <p:nvSpPr>
          <p:cNvPr id="19" name="Text 10"/>
          <p:cNvSpPr/>
          <p:nvPr/>
        </p:nvSpPr>
        <p:spPr>
          <a:xfrm>
            <a:off x="1054267" y="4400093"/>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Fisik</a:t>
            </a:r>
            <a:endParaRPr lang="en-US" sz="1200" dirty="0"/>
          </a:p>
        </p:txBody>
      </p:sp>
      <p:sp>
        <p:nvSpPr>
          <p:cNvPr id="20" name="Text 11"/>
          <p:cNvSpPr/>
          <p:nvPr/>
        </p:nvSpPr>
        <p:spPr>
          <a:xfrm>
            <a:off x="2743200" y="4400093"/>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tanah, pabrik, peralatan, lokasi, sumber daya alam</a:t>
            </a:r>
            <a:endParaRPr lang="en-US" sz="1200" dirty="0"/>
          </a:p>
        </p:txBody>
      </p:sp>
      <p:sp>
        <p:nvSpPr>
          <p:cNvPr id="21" name="Text 12"/>
          <p:cNvSpPr/>
          <p:nvPr/>
        </p:nvSpPr>
        <p:spPr>
          <a:xfrm>
            <a:off x="1054267" y="4822546"/>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Finansial</a:t>
            </a:r>
            <a:endParaRPr lang="en-US" sz="1200" dirty="0"/>
          </a:p>
        </p:txBody>
      </p:sp>
      <p:sp>
        <p:nvSpPr>
          <p:cNvPr id="22" name="Text 13"/>
          <p:cNvSpPr/>
          <p:nvPr/>
        </p:nvSpPr>
        <p:spPr>
          <a:xfrm>
            <a:off x="2743200" y="4822546"/>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kas, surat berharga, peringkat kredit</a:t>
            </a:r>
            <a:endParaRPr lang="en-US" sz="1200" dirty="0"/>
          </a:p>
        </p:txBody>
      </p:sp>
      <p:sp>
        <p:nvSpPr>
          <p:cNvPr id="23" name="Text 14"/>
          <p:cNvSpPr/>
          <p:nvPr/>
        </p:nvSpPr>
        <p:spPr>
          <a:xfrm>
            <a:off x="1054267" y="5244998"/>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Teknologi</a:t>
            </a:r>
            <a:endParaRPr lang="en-US" sz="1200" dirty="0"/>
          </a:p>
        </p:txBody>
      </p:sp>
      <p:sp>
        <p:nvSpPr>
          <p:cNvPr id="24" name="Text 15"/>
          <p:cNvSpPr/>
          <p:nvPr/>
        </p:nvSpPr>
        <p:spPr>
          <a:xfrm>
            <a:off x="2743200" y="5244998"/>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paten, hak cipta, teknologi produksi dan inovasi</a:t>
            </a:r>
            <a:endParaRPr lang="en-US" sz="1200" dirty="0"/>
          </a:p>
        </p:txBody>
      </p:sp>
      <p:sp>
        <p:nvSpPr>
          <p:cNvPr id="25" name="Text 16"/>
          <p:cNvSpPr/>
          <p:nvPr/>
        </p:nvSpPr>
        <p:spPr>
          <a:xfrm>
            <a:off x="1054267" y="5667451"/>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Organisasional</a:t>
            </a:r>
            <a:endParaRPr lang="en-US" sz="1200" dirty="0"/>
          </a:p>
        </p:txBody>
      </p:sp>
      <p:sp>
        <p:nvSpPr>
          <p:cNvPr id="26" name="Text 17"/>
          <p:cNvSpPr/>
          <p:nvPr/>
        </p:nvSpPr>
        <p:spPr>
          <a:xfrm>
            <a:off x="2743200" y="5667451"/>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sistem IT, sistem kendali, struktur organisasi</a:t>
            </a:r>
            <a:endParaRPr lang="en-US" sz="1200" dirty="0"/>
          </a:p>
        </p:txBody>
      </p:sp>
      <p:pic>
        <p:nvPicPr>
          <p:cNvPr id="27" name="Image 6" descr="opt/paper_169.png">    </p:cNvPr>
          <p:cNvPicPr>
            <a:picLocks noChangeAspect="1"/>
          </p:cNvPicPr>
          <p:nvPr/>
        </p:nvPicPr>
        <p:blipFill>
          <a:blip r:embed="rId8"/>
          <a:stretch>
            <a:fillRect/>
          </a:stretch>
        </p:blipFill>
        <p:spPr>
          <a:xfrm>
            <a:off x="6208776" y="3686861"/>
            <a:ext cx="5340096" cy="2558491"/>
          </a:xfrm>
          <a:prstGeom prst="rect">
            <a:avLst/>
          </a:prstGeom>
        </p:spPr>
      </p:pic>
      <p:sp>
        <p:nvSpPr>
          <p:cNvPr id="28" name="Text 18"/>
          <p:cNvSpPr/>
          <p:nvPr/>
        </p:nvSpPr>
        <p:spPr>
          <a:xfrm>
            <a:off x="6622963" y="3942893"/>
            <a:ext cx="4559784" cy="320040"/>
          </a:xfrm>
          <a:prstGeom prst="rect">
            <a:avLst/>
          </a:prstGeom>
          <a:noFill/>
          <a:ln/>
        </p:spPr>
        <p:txBody>
          <a:bodyPr wrap="square" lIns="0" tIns="0" rIns="0" bIns="0" rtlCol="0" anchor="t"/>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INTANGIBLE  </a:t>
            </a:r>
            <a:pPr indent="0" marL="0">
              <a:buNone/>
            </a:pPr>
            <a:r>
              <a:rPr lang="en-US" sz="1200" dirty="0">
                <a:solidFill>
                  <a:srgbClr val="4A2E2A"/>
                </a:solidFill>
                <a:latin typeface="Poppins" pitchFamily="34" charset="0"/>
                <a:ea typeface="Poppins" pitchFamily="34" charset="-122"/>
                <a:cs typeface="Poppins" pitchFamily="34" charset="-120"/>
              </a:rPr>
              <a:t>tidak berwujud</a:t>
            </a:r>
            <a:endParaRPr lang="en-US" sz="1200" dirty="0"/>
          </a:p>
        </p:txBody>
      </p:sp>
      <p:sp>
        <p:nvSpPr>
          <p:cNvPr id="29" name="Shape 19"/>
          <p:cNvSpPr/>
          <p:nvPr/>
        </p:nvSpPr>
        <p:spPr>
          <a:xfrm>
            <a:off x="6528816" y="4290365"/>
            <a:ext cx="4700016" cy="13716"/>
          </a:xfrm>
          <a:prstGeom prst="rect">
            <a:avLst/>
          </a:prstGeom>
          <a:solidFill>
            <a:srgbClr val="DA291C"/>
          </a:solidFill>
          <a:ln w="12700">
            <a:solidFill>
              <a:srgbClr val="DA291C"/>
            </a:solidFill>
            <a:prstDash val="solid"/>
          </a:ln>
        </p:spPr>
      </p:sp>
      <p:sp>
        <p:nvSpPr>
          <p:cNvPr id="30" name="Text 20"/>
          <p:cNvSpPr/>
          <p:nvPr/>
        </p:nvSpPr>
        <p:spPr>
          <a:xfrm>
            <a:off x="6622963" y="4400093"/>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Human assets</a:t>
            </a:r>
            <a:endParaRPr lang="en-US" sz="1200" dirty="0"/>
          </a:p>
        </p:txBody>
      </p:sp>
      <p:sp>
        <p:nvSpPr>
          <p:cNvPr id="31" name="Text 21"/>
          <p:cNvSpPr/>
          <p:nvPr/>
        </p:nvSpPr>
        <p:spPr>
          <a:xfrm>
            <a:off x="8311896" y="4400093"/>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pendidikan, pengalaman, bakat, pengetahuan</a:t>
            </a:r>
            <a:endParaRPr lang="en-US" sz="1200" dirty="0"/>
          </a:p>
        </p:txBody>
      </p:sp>
      <p:sp>
        <p:nvSpPr>
          <p:cNvPr id="32" name="Text 22"/>
          <p:cNvSpPr/>
          <p:nvPr/>
        </p:nvSpPr>
        <p:spPr>
          <a:xfrm>
            <a:off x="6622963" y="4822546"/>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Merek &amp; reputasi</a:t>
            </a:r>
            <a:endParaRPr lang="en-US" sz="1200" dirty="0"/>
          </a:p>
        </p:txBody>
      </p:sp>
      <p:sp>
        <p:nvSpPr>
          <p:cNvPr id="33" name="Text 23"/>
          <p:cNvSpPr/>
          <p:nvPr/>
        </p:nvSpPr>
        <p:spPr>
          <a:xfrm>
            <a:off x="8311896" y="4822546"/>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nama merek, citra, loyalitas, reputasi mutu</a:t>
            </a:r>
            <a:endParaRPr lang="en-US" sz="1200" dirty="0"/>
          </a:p>
        </p:txBody>
      </p:sp>
      <p:sp>
        <p:nvSpPr>
          <p:cNvPr id="34" name="Text 24"/>
          <p:cNvSpPr/>
          <p:nvPr/>
        </p:nvSpPr>
        <p:spPr>
          <a:xfrm>
            <a:off x="6622963" y="5244998"/>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Relasi</a:t>
            </a:r>
            <a:endParaRPr lang="en-US" sz="1200" dirty="0"/>
          </a:p>
        </p:txBody>
      </p:sp>
      <p:sp>
        <p:nvSpPr>
          <p:cNvPr id="35" name="Text 25"/>
          <p:cNvSpPr/>
          <p:nvPr/>
        </p:nvSpPr>
        <p:spPr>
          <a:xfrm>
            <a:off x="8311896" y="5244998"/>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aliansi, joint venture, jaringan dealer</a:t>
            </a:r>
            <a:endParaRPr lang="en-US" sz="1200" dirty="0"/>
          </a:p>
        </p:txBody>
      </p:sp>
      <p:sp>
        <p:nvSpPr>
          <p:cNvPr id="36" name="Text 26"/>
          <p:cNvSpPr/>
          <p:nvPr/>
        </p:nvSpPr>
        <p:spPr>
          <a:xfrm>
            <a:off x="6622963" y="5667451"/>
            <a:ext cx="1643213" cy="37673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Budaya &amp; insentif</a:t>
            </a:r>
            <a:endParaRPr lang="en-US" sz="1200" dirty="0"/>
          </a:p>
        </p:txBody>
      </p:sp>
      <p:sp>
        <p:nvSpPr>
          <p:cNvPr id="37" name="Text 27"/>
          <p:cNvSpPr/>
          <p:nvPr/>
        </p:nvSpPr>
        <p:spPr>
          <a:xfrm>
            <a:off x="8311896" y="5667451"/>
            <a:ext cx="2870850" cy="376733"/>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norma perilaku, keyakinan bersama, kompensasi</a:t>
            </a:r>
            <a:endParaRPr lang="en-US" sz="1200" dirty="0"/>
          </a:p>
        </p:txBody>
      </p:sp>
      <p:pic>
        <p:nvPicPr>
          <p:cNvPr id="38" name="Image 7" descr="opt/st_boots.png">    </p:cNvPr>
          <p:cNvPicPr>
            <a:picLocks noChangeAspect="1"/>
          </p:cNvPicPr>
          <p:nvPr/>
        </p:nvPicPr>
        <p:blipFill>
          <a:blip r:embed="rId9"/>
          <a:stretch>
            <a:fillRect/>
          </a:stretch>
        </p:blipFill>
        <p:spPr>
          <a:xfrm rot="420000">
            <a:off x="9677095" y="182880"/>
            <a:ext cx="2011680" cy="13310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680460" cy="402336"/>
          </a:xfrm>
          <a:prstGeom prst="rect">
            <a:avLst/>
          </a:prstGeom>
        </p:spPr>
      </p:pic>
      <p:sp>
        <p:nvSpPr>
          <p:cNvPr id="3" name="Text 0"/>
          <p:cNvSpPr/>
          <p:nvPr/>
        </p:nvSpPr>
        <p:spPr>
          <a:xfrm>
            <a:off x="868680" y="381963"/>
            <a:ext cx="32232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LANJUTAN</a:t>
            </a:r>
            <a:endParaRPr lang="en-US" sz="1200" dirty="0"/>
          </a:p>
        </p:txBody>
      </p:sp>
      <p:sp>
        <p:nvSpPr>
          <p:cNvPr id="4" name="Text 1"/>
          <p:cNvSpPr/>
          <p:nvPr/>
        </p:nvSpPr>
        <p:spPr>
          <a:xfrm>
            <a:off x="640080" y="859536"/>
            <a:ext cx="1060704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CARA MENEMUKAN CAPABILITY PERUSAHAAN</a:t>
            </a:r>
            <a:endParaRPr lang="en-US" sz="2400" dirty="0"/>
          </a:p>
        </p:txBody>
      </p:sp>
      <p:sp>
        <p:nvSpPr>
          <p:cNvPr id="5" name="Text 2"/>
          <p:cNvSpPr/>
          <p:nvPr/>
        </p:nvSpPr>
        <p:spPr>
          <a:xfrm>
            <a:off x="640080" y="1371600"/>
            <a:ext cx="1042416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Capability lebih sulit ditemukan daripada resource, karena wujudnya tidak kelihatan. Buku memberi dua cara.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10</a:t>
            </a:r>
            <a:endParaRPr lang="en-US" sz="1200" dirty="0"/>
          </a:p>
        </p:txBody>
      </p:sp>
      <p:pic>
        <p:nvPicPr>
          <p:cNvPr id="10" name="Image 2" descr="c_sq_a.jpg">    </p:cNvPr>
          <p:cNvPicPr>
            <a:picLocks noChangeAspect="1"/>
          </p:cNvPicPr>
          <p:nvPr/>
        </p:nvPicPr>
        <p:blipFill>
          <a:blip r:embed="rId4"/>
          <a:stretch>
            <a:fillRect/>
          </a:stretch>
        </p:blipFill>
        <p:spPr>
          <a:xfrm rot="-120000">
            <a:off x="8915400" y="1874520"/>
            <a:ext cx="2194560" cy="2194560"/>
          </a:xfrm>
          <a:prstGeom prst="rect">
            <a:avLst/>
          </a:prstGeom>
        </p:spPr>
      </p:pic>
      <p:sp>
        <p:nvSpPr>
          <p:cNvPr id="11" name="Text 5"/>
          <p:cNvSpPr/>
          <p:nvPr/>
        </p:nvSpPr>
        <p:spPr>
          <a:xfrm>
            <a:off x="8823960" y="4206240"/>
            <a:ext cx="2377440" cy="1280160"/>
          </a:xfrm>
          <a:prstGeom prst="rect">
            <a:avLst/>
          </a:prstGeom>
          <a:noFill/>
          <a:ln/>
        </p:spPr>
        <p:txBody>
          <a:bodyPr wrap="square" lIns="0" tIns="0" rIns="0" bIns="0" rtlCol="0" anchor="t"/>
          <a:lstStyle/>
          <a:p>
            <a:pPr algn="ctr" indent="0" marL="0">
              <a:lnSpc>
                <a:spcPct val="106000"/>
              </a:lnSpc>
              <a:buNone/>
            </a:pPr>
            <a:r>
              <a:rPr lang="en-US" sz="1200" dirty="0">
                <a:solidFill>
                  <a:srgbClr val="E9DDD8"/>
                </a:solidFill>
                <a:latin typeface="Poppins" pitchFamily="34" charset="0"/>
                <a:ea typeface="Poppins" pitchFamily="34" charset="-122"/>
                <a:cs typeface="Poppins" pitchFamily="34" charset="-120"/>
              </a:rPr>
              <a:t>Capability yang lolos semua saringan adalah yang membawa gelar. Alat ujinya: VRIN Test.</a:t>
            </a:r>
            <a:endParaRPr lang="en-US" sz="1200" dirty="0"/>
          </a:p>
        </p:txBody>
      </p:sp>
      <p:pic>
        <p:nvPicPr>
          <p:cNvPr id="12" name="Image 3" descr="opt/paper_169.png">    </p:cNvPr>
          <p:cNvPicPr>
            <a:picLocks noChangeAspect="1"/>
          </p:cNvPicPr>
          <p:nvPr/>
        </p:nvPicPr>
        <p:blipFill>
          <a:blip r:embed="rId5"/>
          <a:stretch>
            <a:fillRect/>
          </a:stretch>
        </p:blipFill>
        <p:spPr>
          <a:xfrm>
            <a:off x="640080" y="1920240"/>
            <a:ext cx="3886200" cy="1737360"/>
          </a:xfrm>
          <a:prstGeom prst="rect">
            <a:avLst/>
          </a:prstGeom>
        </p:spPr>
      </p:pic>
      <p:sp>
        <p:nvSpPr>
          <p:cNvPr id="13" name="Text 6"/>
          <p:cNvSpPr/>
          <p:nvPr/>
        </p:nvSpPr>
        <p:spPr>
          <a:xfrm>
            <a:off x="969264" y="2176272"/>
            <a:ext cx="3227832" cy="219456"/>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CARA 1</a:t>
            </a:r>
            <a:endParaRPr lang="en-US" sz="1200" dirty="0"/>
          </a:p>
        </p:txBody>
      </p:sp>
      <p:sp>
        <p:nvSpPr>
          <p:cNvPr id="14" name="Text 7"/>
          <p:cNvSpPr/>
          <p:nvPr/>
        </p:nvSpPr>
        <p:spPr>
          <a:xfrm>
            <a:off x="969264" y="2432304"/>
            <a:ext cx="3227832"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Dari daftar resource</a:t>
            </a:r>
            <a:endParaRPr lang="en-US" sz="1400" dirty="0"/>
          </a:p>
        </p:txBody>
      </p:sp>
      <p:sp>
        <p:nvSpPr>
          <p:cNvPr id="15" name="Text 8"/>
          <p:cNvSpPr/>
          <p:nvPr/>
        </p:nvSpPr>
        <p:spPr>
          <a:xfrm>
            <a:off x="969264" y="2761488"/>
            <a:ext cx="3227832" cy="713232"/>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Lihat daftar resource, lalu tanya: kemampuan apa yang tumbuh dari sini? Contoh: armada truk, gudang otomatis.</a:t>
            </a:r>
            <a:endParaRPr lang="en-US" sz="1200" dirty="0"/>
          </a:p>
        </p:txBody>
      </p:sp>
      <p:pic>
        <p:nvPicPr>
          <p:cNvPr id="16" name="Image 4" descr="opt/paper_169.png">    </p:cNvPr>
          <p:cNvPicPr>
            <a:picLocks noChangeAspect="1"/>
          </p:cNvPicPr>
          <p:nvPr/>
        </p:nvPicPr>
        <p:blipFill>
          <a:blip r:embed="rId6"/>
          <a:stretch>
            <a:fillRect/>
          </a:stretch>
        </p:blipFill>
        <p:spPr>
          <a:xfrm>
            <a:off x="4709160" y="1920240"/>
            <a:ext cx="3886200" cy="1737360"/>
          </a:xfrm>
          <a:prstGeom prst="rect">
            <a:avLst/>
          </a:prstGeom>
        </p:spPr>
      </p:pic>
      <p:sp>
        <p:nvSpPr>
          <p:cNvPr id="17" name="Text 9"/>
          <p:cNvSpPr/>
          <p:nvPr/>
        </p:nvSpPr>
        <p:spPr>
          <a:xfrm>
            <a:off x="5038344" y="2176272"/>
            <a:ext cx="3227832" cy="219456"/>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CARA 2</a:t>
            </a:r>
            <a:endParaRPr lang="en-US" sz="1200" dirty="0"/>
          </a:p>
        </p:txBody>
      </p:sp>
      <p:sp>
        <p:nvSpPr>
          <p:cNvPr id="18" name="Text 10"/>
          <p:cNvSpPr/>
          <p:nvPr/>
        </p:nvSpPr>
        <p:spPr>
          <a:xfrm>
            <a:off x="5038344" y="2432304"/>
            <a:ext cx="3227832"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Dari fungsi perusahaan</a:t>
            </a:r>
            <a:endParaRPr lang="en-US" sz="1400" dirty="0"/>
          </a:p>
        </p:txBody>
      </p:sp>
      <p:sp>
        <p:nvSpPr>
          <p:cNvPr id="19" name="Text 11"/>
          <p:cNvSpPr/>
          <p:nvPr/>
        </p:nvSpPr>
        <p:spPr>
          <a:xfrm>
            <a:off x="5038344" y="2761488"/>
            <a:ext cx="3227832" cy="713232"/>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Telusuri tiap fungsi: injection molding di produksi, direct selling di penjualan, pengembangan produk baru di R&amp;D.</a:t>
            </a:r>
            <a:endParaRPr lang="en-US" sz="1200" dirty="0"/>
          </a:p>
        </p:txBody>
      </p:sp>
      <p:pic>
        <p:nvPicPr>
          <p:cNvPr id="20" name="Image 5" descr="opt/paper_169.png">    </p:cNvPr>
          <p:cNvPicPr>
            <a:picLocks noChangeAspect="1"/>
          </p:cNvPicPr>
          <p:nvPr/>
        </p:nvPicPr>
        <p:blipFill>
          <a:blip r:embed="rId7"/>
          <a:stretch>
            <a:fillRect/>
          </a:stretch>
        </p:blipFill>
        <p:spPr>
          <a:xfrm>
            <a:off x="640080" y="3749040"/>
            <a:ext cx="7955280" cy="1097280"/>
          </a:xfrm>
          <a:prstGeom prst="rect">
            <a:avLst/>
          </a:prstGeom>
        </p:spPr>
      </p:pic>
      <p:sp>
        <p:nvSpPr>
          <p:cNvPr id="21" name="Text 12"/>
          <p:cNvSpPr/>
          <p:nvPr/>
        </p:nvSpPr>
        <p:spPr>
          <a:xfrm>
            <a:off x="1234714" y="3950208"/>
            <a:ext cx="6837609"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Masalahnya: capability terpenting justru lintas fungsi</a:t>
            </a:r>
            <a:endParaRPr lang="en-US" sz="1400" dirty="0"/>
          </a:p>
        </p:txBody>
      </p:sp>
      <p:sp>
        <p:nvSpPr>
          <p:cNvPr id="22" name="Text 13"/>
          <p:cNvSpPr/>
          <p:nvPr/>
        </p:nvSpPr>
        <p:spPr>
          <a:xfrm>
            <a:off x="1234714" y="4279392"/>
            <a:ext cx="6837609" cy="384048"/>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Kemampuan desain Warby Parker bukan cuma desainernya, tapi juga riset pasar, rekayasa, dan relasi dengan pemasok serta pabrik.</a:t>
            </a:r>
            <a:endParaRPr lang="en-US" sz="1200" dirty="0"/>
          </a:p>
        </p:txBody>
      </p:sp>
      <p:pic>
        <p:nvPicPr>
          <p:cNvPr id="23" name="Image 6" descr="opt/red_219.png">    </p:cNvPr>
          <p:cNvPicPr>
            <a:picLocks noChangeAspect="1"/>
          </p:cNvPicPr>
          <p:nvPr/>
        </p:nvPicPr>
        <p:blipFill>
          <a:blip r:embed="rId8"/>
          <a:stretch>
            <a:fillRect/>
          </a:stretch>
        </p:blipFill>
        <p:spPr>
          <a:xfrm>
            <a:off x="640080" y="4937760"/>
            <a:ext cx="7955280" cy="1325880"/>
          </a:xfrm>
          <a:prstGeom prst="rect">
            <a:avLst/>
          </a:prstGeom>
        </p:spPr>
      </p:pic>
      <p:sp>
        <p:nvSpPr>
          <p:cNvPr id="24" name="Text 14"/>
          <p:cNvSpPr/>
          <p:nvPr/>
        </p:nvSpPr>
        <p:spPr>
          <a:xfrm>
            <a:off x="998068" y="5175504"/>
            <a:ext cx="7239305"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RESOURCE BUNDLE</a:t>
            </a:r>
            <a:endParaRPr lang="en-US" sz="1200" dirty="0"/>
          </a:p>
        </p:txBody>
      </p:sp>
      <p:sp>
        <p:nvSpPr>
          <p:cNvPr id="25" name="Text 15"/>
          <p:cNvSpPr/>
          <p:nvPr/>
        </p:nvSpPr>
        <p:spPr>
          <a:xfrm>
            <a:off x="998068" y="5431536"/>
            <a:ext cx="7239305" cy="557784"/>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Kumpulan aset bersaing yang terkait erat di sekitar kemampuan lintas fungsi. Bundle bisa lolos VRIN Test meski komponennya tidak. Contoh: paket Nike (styling, riset pasar, endorsement atlet, merek) membuatnya nomor satu lebih dari 20 tahun.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4366260" cy="402336"/>
          </a:xfrm>
          <a:prstGeom prst="rect">
            <a:avLst/>
          </a:prstGeom>
        </p:spPr>
      </p:pic>
      <p:sp>
        <p:nvSpPr>
          <p:cNvPr id="3" name="Text 0"/>
          <p:cNvSpPr/>
          <p:nvPr/>
        </p:nvSpPr>
        <p:spPr>
          <a:xfrm>
            <a:off x="868680" y="381963"/>
            <a:ext cx="39090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FRAMEWORK INTI</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VRIN TEST: EMPAT SARINGAN</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Punya resource saja belum berarti unggul. VRIN Test menguji apakah resource benar-benar memberi keunggulan, dan apakah keunggulan itu bertahan.</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11</a:t>
            </a:r>
            <a:endParaRPr lang="en-US" sz="1200" dirty="0"/>
          </a:p>
        </p:txBody>
      </p:sp>
      <p:pic>
        <p:nvPicPr>
          <p:cNvPr id="10" name="Image 2" descr="opt/paper_43.png">    </p:cNvPr>
          <p:cNvPicPr>
            <a:picLocks noChangeAspect="1"/>
          </p:cNvPicPr>
          <p:nvPr/>
        </p:nvPicPr>
        <p:blipFill>
          <a:blip r:embed="rId4"/>
          <a:stretch>
            <a:fillRect/>
          </a:stretch>
        </p:blipFill>
        <p:spPr>
          <a:xfrm>
            <a:off x="640080" y="1920240"/>
            <a:ext cx="2590038" cy="3063240"/>
          </a:xfrm>
          <a:prstGeom prst="rect">
            <a:avLst/>
          </a:prstGeom>
        </p:spPr>
      </p:pic>
      <p:sp>
        <p:nvSpPr>
          <p:cNvPr id="11" name="Text 5"/>
          <p:cNvSpPr/>
          <p:nvPr/>
        </p:nvSpPr>
        <p:spPr>
          <a:xfrm>
            <a:off x="932688" y="2189668"/>
            <a:ext cx="1097280" cy="626684"/>
          </a:xfrm>
          <a:prstGeom prst="rect">
            <a:avLst/>
          </a:prstGeom>
          <a:noFill/>
          <a:ln/>
        </p:spPr>
        <p:txBody>
          <a:bodyPr wrap="square" lIns="0" tIns="0" rIns="0" bIns="0" rtlCol="0" anchor="t"/>
          <a:lstStyle/>
          <a:p>
            <a:pPr indent="0" marL="0">
              <a:buNone/>
            </a:pPr>
            <a:r>
              <a:rPr lang="en-US" sz="4000" dirty="0">
                <a:solidFill>
                  <a:srgbClr val="DA291C"/>
                </a:solidFill>
                <a:latin typeface="Poppins ExtraBold" pitchFamily="34" charset="0"/>
                <a:ea typeface="Poppins ExtraBold" pitchFamily="34" charset="-122"/>
                <a:cs typeface="Poppins ExtraBold" pitchFamily="34" charset="-120"/>
              </a:rPr>
              <a:t>V</a:t>
            </a:r>
            <a:endParaRPr lang="en-US" sz="4000" dirty="0"/>
          </a:p>
        </p:txBody>
      </p:sp>
      <p:sp>
        <p:nvSpPr>
          <p:cNvPr id="12" name="Text 6"/>
          <p:cNvSpPr/>
          <p:nvPr/>
        </p:nvSpPr>
        <p:spPr>
          <a:xfrm>
            <a:off x="932688" y="2834640"/>
            <a:ext cx="2004822" cy="292608"/>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Valuable</a:t>
            </a:r>
            <a:endParaRPr lang="en-US" sz="1400" dirty="0"/>
          </a:p>
        </p:txBody>
      </p:sp>
      <p:sp>
        <p:nvSpPr>
          <p:cNvPr id="13" name="Text 7"/>
          <p:cNvSpPr/>
          <p:nvPr/>
        </p:nvSpPr>
        <p:spPr>
          <a:xfrm>
            <a:off x="932688" y="3127248"/>
            <a:ext cx="2004822" cy="45720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Bernilai untuk bersaing?</a:t>
            </a:r>
            <a:endParaRPr lang="en-US" sz="1200" dirty="0"/>
          </a:p>
        </p:txBody>
      </p:sp>
      <p:sp>
        <p:nvSpPr>
          <p:cNvPr id="14" name="Text 8"/>
          <p:cNvSpPr/>
          <p:nvPr/>
        </p:nvSpPr>
        <p:spPr>
          <a:xfrm>
            <a:off x="932688" y="3584448"/>
            <a:ext cx="2004822" cy="1221501"/>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Harus menopang strategi. Google Wallet gagal meski memakai teknologi yang membuat Google nomor satu di pencarian.</a:t>
            </a:r>
            <a:endParaRPr lang="en-US" sz="1200" dirty="0"/>
          </a:p>
        </p:txBody>
      </p:sp>
      <p:pic>
        <p:nvPicPr>
          <p:cNvPr id="15" name="Image 3" descr="opt/paper_43.png">    </p:cNvPr>
          <p:cNvPicPr>
            <a:picLocks noChangeAspect="1"/>
          </p:cNvPicPr>
          <p:nvPr/>
        </p:nvPicPr>
        <p:blipFill>
          <a:blip r:embed="rId5"/>
          <a:stretch>
            <a:fillRect/>
          </a:stretch>
        </p:blipFill>
        <p:spPr>
          <a:xfrm>
            <a:off x="3412998" y="1920240"/>
            <a:ext cx="2590038" cy="3063240"/>
          </a:xfrm>
          <a:prstGeom prst="rect">
            <a:avLst/>
          </a:prstGeom>
        </p:spPr>
      </p:pic>
      <p:sp>
        <p:nvSpPr>
          <p:cNvPr id="16" name="Text 9"/>
          <p:cNvSpPr/>
          <p:nvPr/>
        </p:nvSpPr>
        <p:spPr>
          <a:xfrm>
            <a:off x="3705606" y="2189668"/>
            <a:ext cx="1097280" cy="626684"/>
          </a:xfrm>
          <a:prstGeom prst="rect">
            <a:avLst/>
          </a:prstGeom>
          <a:noFill/>
          <a:ln/>
        </p:spPr>
        <p:txBody>
          <a:bodyPr wrap="square" lIns="0" tIns="0" rIns="0" bIns="0" rtlCol="0" anchor="t"/>
          <a:lstStyle/>
          <a:p>
            <a:pPr indent="0" marL="0">
              <a:buNone/>
            </a:pPr>
            <a:r>
              <a:rPr lang="en-US" sz="4000" dirty="0">
                <a:solidFill>
                  <a:srgbClr val="DA291C"/>
                </a:solidFill>
                <a:latin typeface="Poppins ExtraBold" pitchFamily="34" charset="0"/>
                <a:ea typeface="Poppins ExtraBold" pitchFamily="34" charset="-122"/>
                <a:cs typeface="Poppins ExtraBold" pitchFamily="34" charset="-120"/>
              </a:rPr>
              <a:t>R</a:t>
            </a:r>
            <a:endParaRPr lang="en-US" sz="4000" dirty="0"/>
          </a:p>
        </p:txBody>
      </p:sp>
      <p:sp>
        <p:nvSpPr>
          <p:cNvPr id="17" name="Text 10"/>
          <p:cNvSpPr/>
          <p:nvPr/>
        </p:nvSpPr>
        <p:spPr>
          <a:xfrm>
            <a:off x="3705606" y="2834640"/>
            <a:ext cx="2004822" cy="292608"/>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Rare</a:t>
            </a:r>
            <a:endParaRPr lang="en-US" sz="1400" dirty="0"/>
          </a:p>
        </p:txBody>
      </p:sp>
      <p:sp>
        <p:nvSpPr>
          <p:cNvPr id="18" name="Text 11"/>
          <p:cNvSpPr/>
          <p:nvPr/>
        </p:nvSpPr>
        <p:spPr>
          <a:xfrm>
            <a:off x="3705606" y="3127248"/>
            <a:ext cx="2004822" cy="45720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Langka, tidak dimiliki pesaing?</a:t>
            </a:r>
            <a:endParaRPr lang="en-US" sz="1200" dirty="0"/>
          </a:p>
        </p:txBody>
      </p:sp>
      <p:sp>
        <p:nvSpPr>
          <p:cNvPr id="19" name="Text 12"/>
          <p:cNvSpPr/>
          <p:nvPr/>
        </p:nvSpPr>
        <p:spPr>
          <a:xfrm>
            <a:off x="3705606" y="3584448"/>
            <a:ext cx="2004822" cy="1221501"/>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Kalau semua pesaing punya, itu syarat ikut bermain. Kekuatan merek Oreo tidak umum.</a:t>
            </a:r>
            <a:endParaRPr lang="en-US" sz="1200" dirty="0"/>
          </a:p>
        </p:txBody>
      </p:sp>
      <p:pic>
        <p:nvPicPr>
          <p:cNvPr id="20" name="Image 4" descr="opt/paper_43.png">    </p:cNvPr>
          <p:cNvPicPr>
            <a:picLocks noChangeAspect="1"/>
          </p:cNvPicPr>
          <p:nvPr/>
        </p:nvPicPr>
        <p:blipFill>
          <a:blip r:embed="rId6"/>
          <a:stretch>
            <a:fillRect/>
          </a:stretch>
        </p:blipFill>
        <p:spPr>
          <a:xfrm>
            <a:off x="6185916" y="1920240"/>
            <a:ext cx="2590038" cy="3063240"/>
          </a:xfrm>
          <a:prstGeom prst="rect">
            <a:avLst/>
          </a:prstGeom>
        </p:spPr>
      </p:pic>
      <p:sp>
        <p:nvSpPr>
          <p:cNvPr id="21" name="Text 13"/>
          <p:cNvSpPr/>
          <p:nvPr/>
        </p:nvSpPr>
        <p:spPr>
          <a:xfrm>
            <a:off x="6478524" y="2189668"/>
            <a:ext cx="1097280" cy="626684"/>
          </a:xfrm>
          <a:prstGeom prst="rect">
            <a:avLst/>
          </a:prstGeom>
          <a:noFill/>
          <a:ln/>
        </p:spPr>
        <p:txBody>
          <a:bodyPr wrap="square" lIns="0" tIns="0" rIns="0" bIns="0" rtlCol="0" anchor="t"/>
          <a:lstStyle/>
          <a:p>
            <a:pPr indent="0" marL="0">
              <a:buNone/>
            </a:pPr>
            <a:r>
              <a:rPr lang="en-US" sz="4000" dirty="0">
                <a:solidFill>
                  <a:srgbClr val="DA291C"/>
                </a:solidFill>
                <a:latin typeface="Poppins ExtraBold" pitchFamily="34" charset="0"/>
                <a:ea typeface="Poppins ExtraBold" pitchFamily="34" charset="-122"/>
                <a:cs typeface="Poppins ExtraBold" pitchFamily="34" charset="-120"/>
              </a:rPr>
              <a:t>I</a:t>
            </a:r>
            <a:endParaRPr lang="en-US" sz="4000" dirty="0"/>
          </a:p>
        </p:txBody>
      </p:sp>
      <p:sp>
        <p:nvSpPr>
          <p:cNvPr id="22" name="Text 14"/>
          <p:cNvSpPr/>
          <p:nvPr/>
        </p:nvSpPr>
        <p:spPr>
          <a:xfrm>
            <a:off x="6478524" y="2834640"/>
            <a:ext cx="2004822" cy="292608"/>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Inimitable</a:t>
            </a:r>
            <a:endParaRPr lang="en-US" sz="1400" dirty="0"/>
          </a:p>
        </p:txBody>
      </p:sp>
      <p:sp>
        <p:nvSpPr>
          <p:cNvPr id="23" name="Text 15"/>
          <p:cNvSpPr/>
          <p:nvPr/>
        </p:nvSpPr>
        <p:spPr>
          <a:xfrm>
            <a:off x="6478524" y="3127248"/>
            <a:ext cx="2004822" cy="45720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Sulit ditiru?</a:t>
            </a:r>
            <a:endParaRPr lang="en-US" sz="1200" dirty="0"/>
          </a:p>
        </p:txBody>
      </p:sp>
      <p:sp>
        <p:nvSpPr>
          <p:cNvPr id="24" name="Text 16"/>
          <p:cNvSpPr/>
          <p:nvPr/>
        </p:nvSpPr>
        <p:spPr>
          <a:xfrm>
            <a:off x="6478524" y="3584448"/>
            <a:ext cx="2004822" cy="1221501"/>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Unik, butuh bertahun-tahun, biaya sangat besar, atau melibatkan social complexity dan causal ambiguity.</a:t>
            </a:r>
            <a:endParaRPr lang="en-US" sz="1200" dirty="0"/>
          </a:p>
        </p:txBody>
      </p:sp>
      <p:pic>
        <p:nvPicPr>
          <p:cNvPr id="25" name="Image 5" descr="opt/paper_43.png">    </p:cNvPr>
          <p:cNvPicPr>
            <a:picLocks noChangeAspect="1"/>
          </p:cNvPicPr>
          <p:nvPr/>
        </p:nvPicPr>
        <p:blipFill>
          <a:blip r:embed="rId7"/>
          <a:stretch>
            <a:fillRect/>
          </a:stretch>
        </p:blipFill>
        <p:spPr>
          <a:xfrm>
            <a:off x="8958834" y="1920240"/>
            <a:ext cx="2590038" cy="3063240"/>
          </a:xfrm>
          <a:prstGeom prst="rect">
            <a:avLst/>
          </a:prstGeom>
        </p:spPr>
      </p:pic>
      <p:sp>
        <p:nvSpPr>
          <p:cNvPr id="26" name="Text 17"/>
          <p:cNvSpPr/>
          <p:nvPr/>
        </p:nvSpPr>
        <p:spPr>
          <a:xfrm>
            <a:off x="9251442" y="2189668"/>
            <a:ext cx="1097280" cy="626684"/>
          </a:xfrm>
          <a:prstGeom prst="rect">
            <a:avLst/>
          </a:prstGeom>
          <a:noFill/>
          <a:ln/>
        </p:spPr>
        <p:txBody>
          <a:bodyPr wrap="square" lIns="0" tIns="0" rIns="0" bIns="0" rtlCol="0" anchor="t"/>
          <a:lstStyle/>
          <a:p>
            <a:pPr indent="0" marL="0">
              <a:buNone/>
            </a:pPr>
            <a:r>
              <a:rPr lang="en-US" sz="4000" dirty="0">
                <a:solidFill>
                  <a:srgbClr val="DA291C"/>
                </a:solidFill>
                <a:latin typeface="Poppins ExtraBold" pitchFamily="34" charset="0"/>
                <a:ea typeface="Poppins ExtraBold" pitchFamily="34" charset="-122"/>
                <a:cs typeface="Poppins ExtraBold" pitchFamily="34" charset="-120"/>
              </a:rPr>
              <a:t>N</a:t>
            </a:r>
            <a:endParaRPr lang="en-US" sz="4000" dirty="0"/>
          </a:p>
        </p:txBody>
      </p:sp>
      <p:sp>
        <p:nvSpPr>
          <p:cNvPr id="27" name="Text 18"/>
          <p:cNvSpPr/>
          <p:nvPr/>
        </p:nvSpPr>
        <p:spPr>
          <a:xfrm>
            <a:off x="9251442" y="2834640"/>
            <a:ext cx="2004822" cy="292608"/>
          </a:xfrm>
          <a:prstGeom prst="rect">
            <a:avLst/>
          </a:prstGeom>
          <a:noFill/>
          <a:ln/>
        </p:spPr>
        <p:txBody>
          <a:bodyPr wrap="square" lIns="0" tIns="0" rIns="0" bIns="0" rtlCol="0" anchor="t"/>
          <a:lstStyle/>
          <a:p>
            <a:pPr indent="0" marL="0">
              <a:buNone/>
            </a:pPr>
            <a:r>
              <a:rPr lang="en-US" sz="1350" dirty="0">
                <a:solidFill>
                  <a:srgbClr val="160809"/>
                </a:solidFill>
                <a:latin typeface="Poppins ExtraBold" pitchFamily="34" charset="0"/>
                <a:ea typeface="Poppins ExtraBold" pitchFamily="34" charset="-122"/>
                <a:cs typeface="Poppins ExtraBold" pitchFamily="34" charset="-120"/>
              </a:rPr>
              <a:t>Nonsubstitutable</a:t>
            </a:r>
            <a:endParaRPr lang="en-US" sz="1350" dirty="0"/>
          </a:p>
        </p:txBody>
      </p:sp>
      <p:sp>
        <p:nvSpPr>
          <p:cNvPr id="28" name="Text 19"/>
          <p:cNvSpPr/>
          <p:nvPr/>
        </p:nvSpPr>
        <p:spPr>
          <a:xfrm>
            <a:off x="9251442" y="3127248"/>
            <a:ext cx="2004822" cy="457200"/>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Pesaing tak punya jalan lain?</a:t>
            </a:r>
            <a:endParaRPr lang="en-US" sz="1200" dirty="0"/>
          </a:p>
        </p:txBody>
      </p:sp>
      <p:sp>
        <p:nvSpPr>
          <p:cNvPr id="29" name="Text 20"/>
          <p:cNvSpPr/>
          <p:nvPr/>
        </p:nvSpPr>
        <p:spPr>
          <a:xfrm>
            <a:off x="9251442" y="3584448"/>
            <a:ext cx="2004822" cy="1221501"/>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Pesaing memakai resource JENIS LAIN untuk hasil sama: otomasi vs tenaga kerja murah.</a:t>
            </a:r>
            <a:endParaRPr lang="en-US" sz="1200" dirty="0"/>
          </a:p>
        </p:txBody>
      </p:sp>
      <p:pic>
        <p:nvPicPr>
          <p:cNvPr id="30" name="Image 6" descr="opt/red_219.png">    </p:cNvPr>
          <p:cNvPicPr>
            <a:picLocks noChangeAspect="1"/>
          </p:cNvPicPr>
          <p:nvPr/>
        </p:nvPicPr>
        <p:blipFill>
          <a:blip r:embed="rId8"/>
          <a:stretch>
            <a:fillRect/>
          </a:stretch>
        </p:blipFill>
        <p:spPr>
          <a:xfrm>
            <a:off x="640080" y="5120640"/>
            <a:ext cx="5340096" cy="1155802"/>
          </a:xfrm>
          <a:prstGeom prst="rect">
            <a:avLst/>
          </a:prstGeom>
        </p:spPr>
      </p:pic>
      <p:sp>
        <p:nvSpPr>
          <p:cNvPr id="31" name="Text 21"/>
          <p:cNvSpPr/>
          <p:nvPr/>
        </p:nvSpPr>
        <p:spPr>
          <a:xfrm>
            <a:off x="969264" y="5358384"/>
            <a:ext cx="4681728"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V + R</a:t>
            </a:r>
            <a:endParaRPr lang="en-US" sz="1200" dirty="0"/>
          </a:p>
        </p:txBody>
      </p:sp>
      <p:sp>
        <p:nvSpPr>
          <p:cNvPr id="32" name="Text 22"/>
          <p:cNvSpPr/>
          <p:nvPr/>
        </p:nvSpPr>
        <p:spPr>
          <a:xfrm>
            <a:off x="969264" y="5614416"/>
            <a:ext cx="4681728" cy="387706"/>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Apakah resource bisa MENCIPTAKAN keunggulan bersaing.</a:t>
            </a:r>
            <a:endParaRPr lang="en-US" sz="1200" dirty="0"/>
          </a:p>
        </p:txBody>
      </p:sp>
      <p:pic>
        <p:nvPicPr>
          <p:cNvPr id="33" name="Image 7" descr="opt/red_219.png">    </p:cNvPr>
          <p:cNvPicPr>
            <a:picLocks noChangeAspect="1"/>
          </p:cNvPicPr>
          <p:nvPr/>
        </p:nvPicPr>
        <p:blipFill>
          <a:blip r:embed="rId9"/>
          <a:stretch>
            <a:fillRect/>
          </a:stretch>
        </p:blipFill>
        <p:spPr>
          <a:xfrm>
            <a:off x="6208776" y="5120640"/>
            <a:ext cx="5340096" cy="1155802"/>
          </a:xfrm>
          <a:prstGeom prst="rect">
            <a:avLst/>
          </a:prstGeom>
        </p:spPr>
      </p:pic>
      <p:sp>
        <p:nvSpPr>
          <p:cNvPr id="34" name="Text 23"/>
          <p:cNvSpPr/>
          <p:nvPr/>
        </p:nvSpPr>
        <p:spPr>
          <a:xfrm>
            <a:off x="6537960" y="5358384"/>
            <a:ext cx="4681728"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I + N</a:t>
            </a:r>
            <a:endParaRPr lang="en-US" sz="1200" dirty="0"/>
          </a:p>
        </p:txBody>
      </p:sp>
      <p:sp>
        <p:nvSpPr>
          <p:cNvPr id="35" name="Text 24"/>
          <p:cNvSpPr/>
          <p:nvPr/>
        </p:nvSpPr>
        <p:spPr>
          <a:xfrm>
            <a:off x="6537960" y="5614416"/>
            <a:ext cx="4681728" cy="387706"/>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Apakah keunggulan itu BISA BERTAHAN menghadapi serangan pesaing.</a:t>
            </a:r>
            <a:endParaRPr lang="en-US" sz="1200" dirty="0"/>
          </a:p>
        </p:txBody>
      </p:sp>
      <p:pic>
        <p:nvPicPr>
          <p:cNvPr id="36" name="Image 8" descr="opt/st_crest.png">    </p:cNvPr>
          <p:cNvPicPr>
            <a:picLocks noChangeAspect="1"/>
          </p:cNvPicPr>
          <p:nvPr/>
        </p:nvPicPr>
        <p:blipFill>
          <a:blip r:embed="rId10"/>
          <a:stretch>
            <a:fillRect/>
          </a:stretch>
        </p:blipFill>
        <p:spPr>
          <a:xfrm rot="420000">
            <a:off x="10134295" y="182880"/>
            <a:ext cx="1554480" cy="15817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680460" cy="402336"/>
          </a:xfrm>
          <a:prstGeom prst="rect">
            <a:avLst/>
          </a:prstGeom>
        </p:spPr>
      </p:pic>
      <p:sp>
        <p:nvSpPr>
          <p:cNvPr id="3" name="Text 0"/>
          <p:cNvSpPr/>
          <p:nvPr/>
        </p:nvSpPr>
        <p:spPr>
          <a:xfrm>
            <a:off x="868680" y="381963"/>
            <a:ext cx="32232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LANJUTAN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RESOURCE HARUS DIKELOLA SECARA DINAMIS</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VRIN Test menguji serangan dari pesaing. Tapi resource juga bisa menyusut, bahkan hilang, dari dalam perusahaan sendiri.</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12</a:t>
            </a:r>
            <a:endParaRPr lang="en-US" sz="1200" dirty="0"/>
          </a:p>
        </p:txBody>
      </p:sp>
      <p:pic>
        <p:nvPicPr>
          <p:cNvPr id="10" name="Image 2" descr="opt/paper_169.png">    </p:cNvPr>
          <p:cNvPicPr>
            <a:picLocks noChangeAspect="1"/>
          </p:cNvPicPr>
          <p:nvPr/>
        </p:nvPicPr>
        <p:blipFill>
          <a:blip r:embed="rId4"/>
          <a:stretch>
            <a:fillRect/>
          </a:stretch>
        </p:blipFill>
        <p:spPr>
          <a:xfrm>
            <a:off x="640080" y="1920240"/>
            <a:ext cx="3514344" cy="1371600"/>
          </a:xfrm>
          <a:prstGeom prst="rect">
            <a:avLst/>
          </a:prstGeom>
        </p:spPr>
      </p:pic>
      <p:sp>
        <p:nvSpPr>
          <p:cNvPr id="11" name="Text 5"/>
          <p:cNvSpPr/>
          <p:nvPr/>
        </p:nvSpPr>
        <p:spPr>
          <a:xfrm>
            <a:off x="969264" y="2176272"/>
            <a:ext cx="2855976"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Pesaing menyusul</a:t>
            </a:r>
            <a:endParaRPr lang="en-US" sz="1400" dirty="0"/>
          </a:p>
        </p:txBody>
      </p:sp>
      <p:sp>
        <p:nvSpPr>
          <p:cNvPr id="12" name="Text 6"/>
          <p:cNvSpPr/>
          <p:nvPr/>
        </p:nvSpPr>
        <p:spPr>
          <a:xfrm>
            <a:off x="969264" y="2505456"/>
            <a:ext cx="2855976" cy="60350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Yang awalnya tidak bisa meniru, lama-lama menemukan pengganti yang makin baik.</a:t>
            </a:r>
            <a:endParaRPr lang="en-US" sz="1200" dirty="0"/>
          </a:p>
        </p:txBody>
      </p:sp>
      <p:pic>
        <p:nvPicPr>
          <p:cNvPr id="13" name="Image 3" descr="opt/paper_169.png">    </p:cNvPr>
          <p:cNvPicPr>
            <a:picLocks noChangeAspect="1"/>
          </p:cNvPicPr>
          <p:nvPr/>
        </p:nvPicPr>
        <p:blipFill>
          <a:blip r:embed="rId5"/>
          <a:stretch>
            <a:fillRect/>
          </a:stretch>
        </p:blipFill>
        <p:spPr>
          <a:xfrm>
            <a:off x="4337304" y="1920240"/>
            <a:ext cx="3514344" cy="1371600"/>
          </a:xfrm>
          <a:prstGeom prst="rect">
            <a:avLst/>
          </a:prstGeom>
        </p:spPr>
      </p:pic>
      <p:sp>
        <p:nvSpPr>
          <p:cNvPr id="14" name="Text 7"/>
          <p:cNvSpPr/>
          <p:nvPr/>
        </p:nvSpPr>
        <p:spPr>
          <a:xfrm>
            <a:off x="4666488" y="2176272"/>
            <a:ext cx="2855976"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Aset menyusut sendiri</a:t>
            </a:r>
            <a:endParaRPr lang="en-US" sz="1400" dirty="0"/>
          </a:p>
        </p:txBody>
      </p:sp>
      <p:sp>
        <p:nvSpPr>
          <p:cNvPr id="15" name="Text 8"/>
          <p:cNvSpPr/>
          <p:nvPr/>
        </p:nvSpPr>
        <p:spPr>
          <a:xfrm>
            <a:off x="4666488" y="2505456"/>
            <a:ext cx="2855976" cy="60350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Resource terdepresiasi seperti aset lain kalau dibiarkan tanpa perhatian.</a:t>
            </a:r>
            <a:endParaRPr lang="en-US" sz="1200" dirty="0"/>
          </a:p>
        </p:txBody>
      </p:sp>
      <p:pic>
        <p:nvPicPr>
          <p:cNvPr id="16" name="Image 4" descr="opt/paper_169.png">    </p:cNvPr>
          <p:cNvPicPr>
            <a:picLocks noChangeAspect="1"/>
          </p:cNvPicPr>
          <p:nvPr/>
        </p:nvPicPr>
        <p:blipFill>
          <a:blip r:embed="rId6"/>
          <a:stretch>
            <a:fillRect/>
          </a:stretch>
        </p:blipFill>
        <p:spPr>
          <a:xfrm>
            <a:off x="8034528" y="1920240"/>
            <a:ext cx="3514344" cy="1371600"/>
          </a:xfrm>
          <a:prstGeom prst="rect">
            <a:avLst/>
          </a:prstGeom>
        </p:spPr>
      </p:pic>
      <p:sp>
        <p:nvSpPr>
          <p:cNvPr id="17" name="Text 9"/>
          <p:cNvSpPr/>
          <p:nvPr/>
        </p:nvSpPr>
        <p:spPr>
          <a:xfrm>
            <a:off x="8363712" y="2176272"/>
            <a:ext cx="2855976"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Pasar berubah</a:t>
            </a:r>
            <a:endParaRPr lang="en-US" sz="1400" dirty="0"/>
          </a:p>
        </p:txBody>
      </p:sp>
      <p:sp>
        <p:nvSpPr>
          <p:cNvPr id="18" name="Text 10"/>
          <p:cNvSpPr/>
          <p:nvPr/>
        </p:nvSpPr>
        <p:spPr>
          <a:xfrm>
            <a:off x="8363712" y="2505456"/>
            <a:ext cx="2855976" cy="60350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Teknologi, selera, atau jalur distribusi bisa mengubah aset strategis "dari berlian jadi karat".</a:t>
            </a:r>
            <a:endParaRPr lang="en-US" sz="1200" dirty="0"/>
          </a:p>
        </p:txBody>
      </p:sp>
      <p:pic>
        <p:nvPicPr>
          <p:cNvPr id="19" name="Image 5" descr="opt/red_219.png">    </p:cNvPr>
          <p:cNvPicPr>
            <a:picLocks noChangeAspect="1"/>
          </p:cNvPicPr>
          <p:nvPr/>
        </p:nvPicPr>
        <p:blipFill>
          <a:blip r:embed="rId7"/>
          <a:stretch>
            <a:fillRect/>
          </a:stretch>
        </p:blipFill>
        <p:spPr>
          <a:xfrm>
            <a:off x="640080" y="3429000"/>
            <a:ext cx="6766560" cy="2834640"/>
          </a:xfrm>
          <a:prstGeom prst="rect">
            <a:avLst/>
          </a:prstGeom>
        </p:spPr>
      </p:pic>
      <p:sp>
        <p:nvSpPr>
          <p:cNvPr id="20" name="Text 11"/>
          <p:cNvSpPr/>
          <p:nvPr/>
        </p:nvSpPr>
        <p:spPr>
          <a:xfrm>
            <a:off x="987552" y="3782416"/>
            <a:ext cx="4572000" cy="2318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DYNAMIC CAPABILITY</a:t>
            </a:r>
            <a:endParaRPr lang="en-US" sz="1200" dirty="0"/>
          </a:p>
        </p:txBody>
      </p:sp>
      <p:sp>
        <p:nvSpPr>
          <p:cNvPr id="21" name="Text 12"/>
          <p:cNvSpPr/>
          <p:nvPr/>
        </p:nvSpPr>
        <p:spPr>
          <a:xfrm>
            <a:off x="987552" y="4014216"/>
            <a:ext cx="6035040" cy="685800"/>
          </a:xfrm>
          <a:prstGeom prst="rect">
            <a:avLst/>
          </a:prstGeom>
          <a:noFill/>
          <a:ln/>
        </p:spPr>
        <p:txBody>
          <a:bodyPr wrap="square" lIns="0" tIns="0" rIns="0" bIns="0" rtlCol="0" anchor="t"/>
          <a:lstStyle/>
          <a:p>
            <a:pPr indent="0" marL="0">
              <a:lnSpc>
                <a:spcPct val="102000"/>
              </a:lnSpc>
              <a:buNone/>
            </a:pPr>
            <a:r>
              <a:rPr lang="en-US" sz="1400" dirty="0">
                <a:solidFill>
                  <a:srgbClr val="FFFFFF"/>
                </a:solidFill>
                <a:latin typeface="Poppins ExtraBold" pitchFamily="34" charset="0"/>
                <a:ea typeface="Poppins ExtraBold" pitchFamily="34" charset="-122"/>
                <a:cs typeface="Poppins ExtraBold" pitchFamily="34" charset="-120"/>
              </a:rPr>
              <a:t>Kemampuan yang terus berjalan untuk memperbaiki, memperdalam, atau menambah resource dan capability yang sudah ada.</a:t>
            </a:r>
            <a:endParaRPr lang="en-US" sz="1400" dirty="0"/>
          </a:p>
        </p:txBody>
      </p:sp>
      <p:sp>
        <p:nvSpPr>
          <p:cNvPr id="22" name="Text 13"/>
          <p:cNvSpPr/>
          <p:nvPr/>
        </p:nvSpPr>
        <p:spPr>
          <a:xfrm>
            <a:off x="987552" y="4672584"/>
            <a:ext cx="4572000" cy="2286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DUA BENTUKNYA</a:t>
            </a:r>
            <a:endParaRPr lang="en-US" sz="1200" dirty="0"/>
          </a:p>
        </p:txBody>
      </p:sp>
      <p:sp>
        <p:nvSpPr>
          <p:cNvPr id="23" name="Text 14"/>
          <p:cNvSpPr/>
          <p:nvPr/>
        </p:nvSpPr>
        <p:spPr>
          <a:xfrm>
            <a:off x="987552" y="4910328"/>
            <a:ext cx="6035040" cy="96012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Memperbaiki yang ada sedikit demi sedikit: Toyota terus menyempurnakan mesin hibrida dan Toyota Production System.</a:t>
            </a:r>
            <a:endParaRPr lang="en-US" sz="1200" dirty="0"/>
          </a:p>
          <a:p>
            <a:pPr marL="177800" indent="-177800">
              <a:lnSpc>
                <a:spcPct val="102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Menambah yang baru lewat aliansi atau akuisisi: GM bermitra dengan LG dan mendahului Tesla dengan Chevy Bolt EV.</a:t>
            </a:r>
            <a:endParaRPr lang="en-US" sz="1200" dirty="0"/>
          </a:p>
        </p:txBody>
      </p:sp>
      <p:pic>
        <p:nvPicPr>
          <p:cNvPr id="24" name="Image 6" descr="opt/paper_43.png">    </p:cNvPr>
          <p:cNvPicPr>
            <a:picLocks noChangeAspect="1"/>
          </p:cNvPicPr>
          <p:nvPr/>
        </p:nvPicPr>
        <p:blipFill>
          <a:blip r:embed="rId8"/>
          <a:stretch>
            <a:fillRect/>
          </a:stretch>
        </p:blipFill>
        <p:spPr>
          <a:xfrm>
            <a:off x="7635240" y="3429000"/>
            <a:ext cx="3931920" cy="2834640"/>
          </a:xfrm>
          <a:prstGeom prst="rect">
            <a:avLst/>
          </a:prstGeom>
        </p:spPr>
      </p:pic>
      <p:sp>
        <p:nvSpPr>
          <p:cNvPr id="25" name="Text 15"/>
          <p:cNvSpPr/>
          <p:nvPr/>
        </p:nvSpPr>
        <p:spPr>
          <a:xfrm>
            <a:off x="7964424" y="3685032"/>
            <a:ext cx="3273552"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Inti dynamic capability</a:t>
            </a:r>
            <a:endParaRPr lang="en-US" sz="1400" dirty="0"/>
          </a:p>
        </p:txBody>
      </p:sp>
      <p:sp>
        <p:nvSpPr>
          <p:cNvPr id="26" name="Text 16"/>
          <p:cNvSpPr/>
          <p:nvPr/>
        </p:nvSpPr>
        <p:spPr>
          <a:xfrm>
            <a:off x="7964424" y="4014216"/>
            <a:ext cx="3273552" cy="206654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Ketika memperbarui aset dilakukan terus-menerus sampai jadi rutinitas manajemen, kemampuan memperbarui itu sendiri berubah menjadi capability. Di situlah ia disebut dynamic capability.</a:t>
            </a:r>
            <a:endParaRPr lang="en-US" sz="1200" dirty="0"/>
          </a:p>
        </p:txBody>
      </p:sp>
      <p:pic>
        <p:nvPicPr>
          <p:cNvPr id="27" name="Image 7" descr="opt/st_clock.png">    </p:cNvPr>
          <p:cNvPicPr>
            <a:picLocks noChangeAspect="1"/>
          </p:cNvPicPr>
          <p:nvPr/>
        </p:nvPicPr>
        <p:blipFill>
          <a:blip r:embed="rId9"/>
          <a:stretch>
            <a:fillRect/>
          </a:stretch>
        </p:blipFill>
        <p:spPr>
          <a:xfrm rot="-420000">
            <a:off x="10134295" y="182880"/>
            <a:ext cx="1554480" cy="15833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4  ·  FIGURE 4.3</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VALUE CHAIN PERUSAHAAN</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Setiap bisnis adalah kumpulan aktivitas. Value chain memecahnya supaya biaya dan nilai bisa dilacak satu per satu.</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13</a:t>
            </a:r>
            <a:endParaRPr lang="en-US" sz="1200" dirty="0"/>
          </a:p>
        </p:txBody>
      </p:sp>
      <p:pic>
        <p:nvPicPr>
          <p:cNvPr id="10" name="Image 2" descr="opt/black_219.png">    </p:cNvPr>
          <p:cNvPicPr>
            <a:picLocks noChangeAspect="1"/>
          </p:cNvPicPr>
          <p:nvPr/>
        </p:nvPicPr>
        <p:blipFill>
          <a:blip r:embed="rId4"/>
          <a:stretch>
            <a:fillRect/>
          </a:stretch>
        </p:blipFill>
        <p:spPr>
          <a:xfrm>
            <a:off x="640080" y="1920240"/>
            <a:ext cx="5737860" cy="365760"/>
          </a:xfrm>
          <a:prstGeom prst="rect">
            <a:avLst/>
          </a:prstGeom>
        </p:spPr>
      </p:pic>
      <p:sp>
        <p:nvSpPr>
          <p:cNvPr id="11" name="Text 5"/>
          <p:cNvSpPr/>
          <p:nvPr/>
        </p:nvSpPr>
        <p:spPr>
          <a:xfrm>
            <a:off x="868680" y="1970715"/>
            <a:ext cx="5280660" cy="256032"/>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PRIMARY ACTIVITIES  ·  pencipta nilai utama</a:t>
            </a:r>
            <a:endParaRPr lang="en-US" sz="1200" dirty="0"/>
          </a:p>
        </p:txBody>
      </p:sp>
      <p:pic>
        <p:nvPicPr>
          <p:cNvPr id="12" name="Image 3" descr="opt/paper_43.png">    </p:cNvPr>
          <p:cNvPicPr>
            <a:picLocks noChangeAspect="1"/>
          </p:cNvPicPr>
          <p:nvPr/>
        </p:nvPicPr>
        <p:blipFill>
          <a:blip r:embed="rId5"/>
          <a:stretch>
            <a:fillRect/>
          </a:stretch>
        </p:blipFill>
        <p:spPr>
          <a:xfrm>
            <a:off x="640080" y="2377440"/>
            <a:ext cx="1797710" cy="1463040"/>
          </a:xfrm>
          <a:prstGeom prst="rect">
            <a:avLst/>
          </a:prstGeom>
        </p:spPr>
      </p:pic>
      <p:sp>
        <p:nvSpPr>
          <p:cNvPr id="13" name="Text 6"/>
          <p:cNvSpPr/>
          <p:nvPr/>
        </p:nvSpPr>
        <p:spPr>
          <a:xfrm>
            <a:off x="841248" y="2596896"/>
            <a:ext cx="1395374" cy="54864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Supply Chain Management</a:t>
            </a:r>
            <a:endParaRPr lang="en-US" sz="1200" dirty="0"/>
          </a:p>
        </p:txBody>
      </p:sp>
      <p:sp>
        <p:nvSpPr>
          <p:cNvPr id="14" name="Text 7"/>
          <p:cNvSpPr/>
          <p:nvPr/>
        </p:nvSpPr>
        <p:spPr>
          <a:xfrm>
            <a:off x="841248" y="3163824"/>
            <a:ext cx="1395374" cy="577535"/>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Membeli, menerima, menyimpan input</a:t>
            </a:r>
            <a:endParaRPr lang="en-US" sz="1200" dirty="0"/>
          </a:p>
        </p:txBody>
      </p:sp>
      <p:pic>
        <p:nvPicPr>
          <p:cNvPr id="15" name="Image 4" descr="opt/paper_43.png">    </p:cNvPr>
          <p:cNvPicPr>
            <a:picLocks noChangeAspect="1"/>
          </p:cNvPicPr>
          <p:nvPr/>
        </p:nvPicPr>
        <p:blipFill>
          <a:blip r:embed="rId6"/>
          <a:stretch>
            <a:fillRect/>
          </a:stretch>
        </p:blipFill>
        <p:spPr>
          <a:xfrm>
            <a:off x="2547518" y="2377440"/>
            <a:ext cx="1797710" cy="1463040"/>
          </a:xfrm>
          <a:prstGeom prst="rect">
            <a:avLst/>
          </a:prstGeom>
        </p:spPr>
      </p:pic>
      <p:sp>
        <p:nvSpPr>
          <p:cNvPr id="16" name="Text 8"/>
          <p:cNvSpPr/>
          <p:nvPr/>
        </p:nvSpPr>
        <p:spPr>
          <a:xfrm>
            <a:off x="2748686" y="2596896"/>
            <a:ext cx="1395374" cy="54864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Operations</a:t>
            </a:r>
            <a:endParaRPr lang="en-US" sz="1200" dirty="0"/>
          </a:p>
        </p:txBody>
      </p:sp>
      <p:sp>
        <p:nvSpPr>
          <p:cNvPr id="17" name="Text 9"/>
          <p:cNvSpPr/>
          <p:nvPr/>
        </p:nvSpPr>
        <p:spPr>
          <a:xfrm>
            <a:off x="2748686" y="3163824"/>
            <a:ext cx="1395374" cy="577535"/>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Mengubah input jadi produk jadi</a:t>
            </a:r>
            <a:endParaRPr lang="en-US" sz="1200" dirty="0"/>
          </a:p>
        </p:txBody>
      </p:sp>
      <p:pic>
        <p:nvPicPr>
          <p:cNvPr id="18" name="Image 5" descr="opt/paper_43.png">    </p:cNvPr>
          <p:cNvPicPr>
            <a:picLocks noChangeAspect="1"/>
          </p:cNvPicPr>
          <p:nvPr/>
        </p:nvPicPr>
        <p:blipFill>
          <a:blip r:embed="rId7"/>
          <a:stretch>
            <a:fillRect/>
          </a:stretch>
        </p:blipFill>
        <p:spPr>
          <a:xfrm>
            <a:off x="4454957" y="2377440"/>
            <a:ext cx="1797710" cy="1463040"/>
          </a:xfrm>
          <a:prstGeom prst="rect">
            <a:avLst/>
          </a:prstGeom>
        </p:spPr>
      </p:pic>
      <p:sp>
        <p:nvSpPr>
          <p:cNvPr id="19" name="Text 10"/>
          <p:cNvSpPr/>
          <p:nvPr/>
        </p:nvSpPr>
        <p:spPr>
          <a:xfrm>
            <a:off x="4656125" y="2596896"/>
            <a:ext cx="1395374" cy="54864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Distribution</a:t>
            </a:r>
            <a:endParaRPr lang="en-US" sz="1200" dirty="0"/>
          </a:p>
        </p:txBody>
      </p:sp>
      <p:sp>
        <p:nvSpPr>
          <p:cNvPr id="20" name="Text 11"/>
          <p:cNvSpPr/>
          <p:nvPr/>
        </p:nvSpPr>
        <p:spPr>
          <a:xfrm>
            <a:off x="4656125" y="3163824"/>
            <a:ext cx="1395374" cy="577535"/>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Menyimpan dan mengirim ke pembeli</a:t>
            </a:r>
            <a:endParaRPr lang="en-US" sz="1200" dirty="0"/>
          </a:p>
        </p:txBody>
      </p:sp>
      <p:pic>
        <p:nvPicPr>
          <p:cNvPr id="21" name="Image 6" descr="opt/paper_43.png">    </p:cNvPr>
          <p:cNvPicPr>
            <a:picLocks noChangeAspect="1"/>
          </p:cNvPicPr>
          <p:nvPr/>
        </p:nvPicPr>
        <p:blipFill>
          <a:blip r:embed="rId8"/>
          <a:stretch>
            <a:fillRect/>
          </a:stretch>
        </p:blipFill>
        <p:spPr>
          <a:xfrm>
            <a:off x="6362395" y="2377440"/>
            <a:ext cx="1797710" cy="1463040"/>
          </a:xfrm>
          <a:prstGeom prst="rect">
            <a:avLst/>
          </a:prstGeom>
        </p:spPr>
      </p:pic>
      <p:sp>
        <p:nvSpPr>
          <p:cNvPr id="22" name="Text 12"/>
          <p:cNvSpPr/>
          <p:nvPr/>
        </p:nvSpPr>
        <p:spPr>
          <a:xfrm>
            <a:off x="6563563" y="2596896"/>
            <a:ext cx="1395374" cy="54864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Sales &amp; Marketing</a:t>
            </a:r>
            <a:endParaRPr lang="en-US" sz="1200" dirty="0"/>
          </a:p>
        </p:txBody>
      </p:sp>
      <p:sp>
        <p:nvSpPr>
          <p:cNvPr id="23" name="Text 13"/>
          <p:cNvSpPr/>
          <p:nvPr/>
        </p:nvSpPr>
        <p:spPr>
          <a:xfrm>
            <a:off x="6563563" y="3163824"/>
            <a:ext cx="1395374" cy="577535"/>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Tenaga jual, iklan, promosi, dealer</a:t>
            </a:r>
            <a:endParaRPr lang="en-US" sz="1200" dirty="0"/>
          </a:p>
        </p:txBody>
      </p:sp>
      <p:pic>
        <p:nvPicPr>
          <p:cNvPr id="24" name="Image 7" descr="opt/paper_43.png">    </p:cNvPr>
          <p:cNvPicPr>
            <a:picLocks noChangeAspect="1"/>
          </p:cNvPicPr>
          <p:nvPr/>
        </p:nvPicPr>
        <p:blipFill>
          <a:blip r:embed="rId9"/>
          <a:stretch>
            <a:fillRect/>
          </a:stretch>
        </p:blipFill>
        <p:spPr>
          <a:xfrm>
            <a:off x="8269834" y="2377440"/>
            <a:ext cx="1797710" cy="1463040"/>
          </a:xfrm>
          <a:prstGeom prst="rect">
            <a:avLst/>
          </a:prstGeom>
        </p:spPr>
      </p:pic>
      <p:sp>
        <p:nvSpPr>
          <p:cNvPr id="25" name="Text 14"/>
          <p:cNvSpPr/>
          <p:nvPr/>
        </p:nvSpPr>
        <p:spPr>
          <a:xfrm>
            <a:off x="8471002" y="2596896"/>
            <a:ext cx="1395374" cy="54864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Service</a:t>
            </a:r>
            <a:endParaRPr lang="en-US" sz="1200" dirty="0"/>
          </a:p>
        </p:txBody>
      </p:sp>
      <p:sp>
        <p:nvSpPr>
          <p:cNvPr id="26" name="Text 15"/>
          <p:cNvSpPr/>
          <p:nvPr/>
        </p:nvSpPr>
        <p:spPr>
          <a:xfrm>
            <a:off x="8471002" y="3163824"/>
            <a:ext cx="1395374" cy="577535"/>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Pemasangan, perbaikan, layanan</a:t>
            </a:r>
            <a:endParaRPr lang="en-US" sz="1200" dirty="0"/>
          </a:p>
        </p:txBody>
      </p:sp>
      <p:pic>
        <p:nvPicPr>
          <p:cNvPr id="27" name="Image 8" descr="opt/red_32.png">    </p:cNvPr>
          <p:cNvPicPr>
            <a:picLocks noChangeAspect="1"/>
          </p:cNvPicPr>
          <p:nvPr/>
        </p:nvPicPr>
        <p:blipFill>
          <a:blip r:embed="rId10"/>
          <a:stretch>
            <a:fillRect/>
          </a:stretch>
        </p:blipFill>
        <p:spPr>
          <a:xfrm>
            <a:off x="10177272" y="2377440"/>
            <a:ext cx="1371600" cy="1463040"/>
          </a:xfrm>
          <a:prstGeom prst="rect">
            <a:avLst/>
          </a:prstGeom>
        </p:spPr>
      </p:pic>
      <p:sp>
        <p:nvSpPr>
          <p:cNvPr id="28" name="Text 16"/>
          <p:cNvSpPr/>
          <p:nvPr/>
        </p:nvSpPr>
        <p:spPr>
          <a:xfrm>
            <a:off x="10287000" y="2651760"/>
            <a:ext cx="1152144" cy="502920"/>
          </a:xfrm>
          <a:prstGeom prst="rect">
            <a:avLst/>
          </a:prstGeom>
          <a:noFill/>
          <a:ln/>
        </p:spPr>
        <p:txBody>
          <a:bodyPr wrap="square" lIns="0" tIns="0" rIns="0" bIns="0" rtlCol="0" anchor="t"/>
          <a:lstStyle/>
          <a:p>
            <a:pPr algn="ctr" indent="0" marL="0">
              <a:lnSpc>
                <a:spcPct val="98000"/>
              </a:lnSpc>
              <a:buNone/>
            </a:pPr>
            <a:r>
              <a:rPr lang="en-US" sz="1200" dirty="0">
                <a:solidFill>
                  <a:srgbClr val="FFFFFF"/>
                </a:solidFill>
                <a:latin typeface="Poppins SemiBold" pitchFamily="34" charset="0"/>
                <a:ea typeface="Poppins SemiBold" pitchFamily="34" charset="-122"/>
                <a:cs typeface="Poppins SemiBold" pitchFamily="34" charset="-120"/>
              </a:rPr>
              <a:t>Profit Margin</a:t>
            </a:r>
            <a:endParaRPr lang="en-US" sz="1200" dirty="0"/>
          </a:p>
        </p:txBody>
      </p:sp>
      <p:sp>
        <p:nvSpPr>
          <p:cNvPr id="29" name="Text 17"/>
          <p:cNvSpPr/>
          <p:nvPr/>
        </p:nvSpPr>
        <p:spPr>
          <a:xfrm>
            <a:off x="10287000" y="3154680"/>
            <a:ext cx="1152144" cy="457200"/>
          </a:xfrm>
          <a:prstGeom prst="rect">
            <a:avLst/>
          </a:prstGeom>
          <a:noFill/>
          <a:ln/>
        </p:spPr>
        <p:txBody>
          <a:bodyPr wrap="square" lIns="0" tIns="0" rIns="0" bIns="0" rtlCol="0" anchor="t"/>
          <a:lstStyle/>
          <a:p>
            <a:pPr algn="ctr" indent="0" marL="0">
              <a:buNone/>
            </a:pPr>
            <a:r>
              <a:rPr lang="en-US" sz="1800" dirty="0">
                <a:solidFill>
                  <a:srgbClr val="FBE122"/>
                </a:solidFill>
                <a:latin typeface="Poppins ExtraBold" pitchFamily="34" charset="0"/>
                <a:ea typeface="Poppins ExtraBold" pitchFamily="34" charset="-122"/>
                <a:cs typeface="Poppins ExtraBold" pitchFamily="34" charset="-120"/>
              </a:rPr>
              <a:t>P − C</a:t>
            </a:r>
            <a:endParaRPr lang="en-US" sz="1800" dirty="0"/>
          </a:p>
        </p:txBody>
      </p:sp>
      <p:pic>
        <p:nvPicPr>
          <p:cNvPr id="30" name="Image 9" descr="opt/black_219.png">    </p:cNvPr>
          <p:cNvPicPr>
            <a:picLocks noChangeAspect="1"/>
          </p:cNvPicPr>
          <p:nvPr/>
        </p:nvPicPr>
        <p:blipFill>
          <a:blip r:embed="rId11"/>
          <a:stretch>
            <a:fillRect/>
          </a:stretch>
        </p:blipFill>
        <p:spPr>
          <a:xfrm>
            <a:off x="640080" y="3977640"/>
            <a:ext cx="4480560" cy="365760"/>
          </a:xfrm>
          <a:prstGeom prst="rect">
            <a:avLst/>
          </a:prstGeom>
        </p:spPr>
      </p:pic>
      <p:sp>
        <p:nvSpPr>
          <p:cNvPr id="31" name="Text 18"/>
          <p:cNvSpPr/>
          <p:nvPr/>
        </p:nvSpPr>
        <p:spPr>
          <a:xfrm>
            <a:off x="868680" y="4028115"/>
            <a:ext cx="4023360" cy="256032"/>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SUPPORT ACTIVITIES  ·  pendukung</a:t>
            </a:r>
            <a:endParaRPr lang="en-US" sz="1200" dirty="0"/>
          </a:p>
        </p:txBody>
      </p:sp>
      <p:pic>
        <p:nvPicPr>
          <p:cNvPr id="32" name="Image 10" descr="opt/paper_169.png">    </p:cNvPr>
          <p:cNvPicPr>
            <a:picLocks noChangeAspect="1"/>
          </p:cNvPicPr>
          <p:nvPr/>
        </p:nvPicPr>
        <p:blipFill>
          <a:blip r:embed="rId12"/>
          <a:stretch>
            <a:fillRect/>
          </a:stretch>
        </p:blipFill>
        <p:spPr>
          <a:xfrm>
            <a:off x="640080" y="4416552"/>
            <a:ext cx="3514344" cy="868680"/>
          </a:xfrm>
          <a:prstGeom prst="rect">
            <a:avLst/>
          </a:prstGeom>
        </p:spPr>
      </p:pic>
      <p:sp>
        <p:nvSpPr>
          <p:cNvPr id="33" name="Text 19"/>
          <p:cNvSpPr/>
          <p:nvPr/>
        </p:nvSpPr>
        <p:spPr>
          <a:xfrm>
            <a:off x="932688" y="4562856"/>
            <a:ext cx="2929128"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Product R&amp;D, Technology &amp; Systems</a:t>
            </a:r>
            <a:endParaRPr lang="en-US" sz="1200" dirty="0"/>
          </a:p>
        </p:txBody>
      </p:sp>
      <p:sp>
        <p:nvSpPr>
          <p:cNvPr id="34" name="Text 20"/>
          <p:cNvSpPr/>
          <p:nvPr/>
        </p:nvSpPr>
        <p:spPr>
          <a:xfrm>
            <a:off x="932688" y="4846320"/>
            <a:ext cx="2929128" cy="36576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Riset produk dan proses, desain, otomasi</a:t>
            </a:r>
            <a:endParaRPr lang="en-US" sz="1200" dirty="0"/>
          </a:p>
        </p:txBody>
      </p:sp>
      <p:pic>
        <p:nvPicPr>
          <p:cNvPr id="35" name="Image 11" descr="opt/paper_169.png">    </p:cNvPr>
          <p:cNvPicPr>
            <a:picLocks noChangeAspect="1"/>
          </p:cNvPicPr>
          <p:nvPr/>
        </p:nvPicPr>
        <p:blipFill>
          <a:blip r:embed="rId13"/>
          <a:stretch>
            <a:fillRect/>
          </a:stretch>
        </p:blipFill>
        <p:spPr>
          <a:xfrm>
            <a:off x="4337304" y="4416552"/>
            <a:ext cx="3514344" cy="868680"/>
          </a:xfrm>
          <a:prstGeom prst="rect">
            <a:avLst/>
          </a:prstGeom>
        </p:spPr>
      </p:pic>
      <p:sp>
        <p:nvSpPr>
          <p:cNvPr id="36" name="Text 21"/>
          <p:cNvSpPr/>
          <p:nvPr/>
        </p:nvSpPr>
        <p:spPr>
          <a:xfrm>
            <a:off x="4629912" y="4562856"/>
            <a:ext cx="2929128"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Human Resource Management</a:t>
            </a:r>
            <a:endParaRPr lang="en-US" sz="1200" dirty="0"/>
          </a:p>
        </p:txBody>
      </p:sp>
      <p:sp>
        <p:nvSpPr>
          <p:cNvPr id="37" name="Text 22"/>
          <p:cNvSpPr/>
          <p:nvPr/>
        </p:nvSpPr>
        <p:spPr>
          <a:xfrm>
            <a:off x="4629912" y="4846320"/>
            <a:ext cx="2929128" cy="36576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Rekrutmen, pelatihan, kompensasi</a:t>
            </a:r>
            <a:endParaRPr lang="en-US" sz="1200" dirty="0"/>
          </a:p>
        </p:txBody>
      </p:sp>
      <p:pic>
        <p:nvPicPr>
          <p:cNvPr id="38" name="Image 12" descr="opt/paper_169.png">    </p:cNvPr>
          <p:cNvPicPr>
            <a:picLocks noChangeAspect="1"/>
          </p:cNvPicPr>
          <p:nvPr/>
        </p:nvPicPr>
        <p:blipFill>
          <a:blip r:embed="rId14"/>
          <a:stretch>
            <a:fillRect/>
          </a:stretch>
        </p:blipFill>
        <p:spPr>
          <a:xfrm>
            <a:off x="8034528" y="4416552"/>
            <a:ext cx="3514344" cy="868680"/>
          </a:xfrm>
          <a:prstGeom prst="rect">
            <a:avLst/>
          </a:prstGeom>
        </p:spPr>
      </p:pic>
      <p:sp>
        <p:nvSpPr>
          <p:cNvPr id="39" name="Text 23"/>
          <p:cNvSpPr/>
          <p:nvPr/>
        </p:nvSpPr>
        <p:spPr>
          <a:xfrm>
            <a:off x="8327136" y="4562856"/>
            <a:ext cx="2929128"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General Administration</a:t>
            </a:r>
            <a:endParaRPr lang="en-US" sz="1200" dirty="0"/>
          </a:p>
        </p:txBody>
      </p:sp>
      <p:sp>
        <p:nvSpPr>
          <p:cNvPr id="40" name="Text 24"/>
          <p:cNvSpPr/>
          <p:nvPr/>
        </p:nvSpPr>
        <p:spPr>
          <a:xfrm>
            <a:off x="8327136" y="4846320"/>
            <a:ext cx="2929128" cy="36576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Akuntansi, keuangan, hukum, sistem informasi</a:t>
            </a:r>
            <a:endParaRPr lang="en-US" sz="1200" dirty="0"/>
          </a:p>
        </p:txBody>
      </p:sp>
      <p:pic>
        <p:nvPicPr>
          <p:cNvPr id="41" name="Image 13" descr="opt/red_219.png">    </p:cNvPr>
          <p:cNvPicPr>
            <a:picLocks noChangeAspect="1"/>
          </p:cNvPicPr>
          <p:nvPr/>
        </p:nvPicPr>
        <p:blipFill>
          <a:blip r:embed="rId15"/>
          <a:stretch>
            <a:fillRect/>
          </a:stretch>
        </p:blipFill>
        <p:spPr>
          <a:xfrm>
            <a:off x="640080" y="5394960"/>
            <a:ext cx="10908792" cy="863194"/>
          </a:xfrm>
          <a:prstGeom prst="rect">
            <a:avLst/>
          </a:prstGeom>
        </p:spPr>
      </p:pic>
      <p:sp>
        <p:nvSpPr>
          <p:cNvPr id="42" name="Text 25"/>
          <p:cNvSpPr/>
          <p:nvPr/>
        </p:nvSpPr>
        <p:spPr>
          <a:xfrm>
            <a:off x="1130976" y="5596128"/>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Tiga selisih yang harus dibedakan: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V − P = nilai pelanggan.  P − C = margin laba.  V − C = Total Economic Value, seluruh nilai ekonomi yang diciptakan.</a:t>
            </a:r>
            <a:endParaRPr lang="en-US" sz="1200" dirty="0"/>
          </a:p>
        </p:txBody>
      </p:sp>
      <p:pic>
        <p:nvPicPr>
          <p:cNvPr id="43" name="Image 14" descr="opt/st_floodlight.png">    </p:cNvPr>
          <p:cNvPicPr>
            <a:picLocks noChangeAspect="1"/>
          </p:cNvPicPr>
          <p:nvPr/>
        </p:nvPicPr>
        <p:blipFill>
          <a:blip r:embed="rId16"/>
          <a:stretch>
            <a:fillRect/>
          </a:stretch>
        </p:blipFill>
        <p:spPr>
          <a:xfrm rot="420000">
            <a:off x="11244905" y="182880"/>
            <a:ext cx="443871" cy="1691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4  ·  FIGURE 4.4</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VALUE CHAIN SYSTEM DAN BENCHMARKING</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Biaya dan mutu yang sampai ke pembeli ditentukan seluruh rantai dari pemasok sampai penjual akhir, bukan perusahaan sendiri saja.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14</a:t>
            </a:r>
            <a:endParaRPr lang="en-US" sz="1200" dirty="0"/>
          </a:p>
        </p:txBody>
      </p:sp>
      <p:pic>
        <p:nvPicPr>
          <p:cNvPr id="10" name="Image 2" descr="opt/paper_169.png">    </p:cNvPr>
          <p:cNvPicPr>
            <a:picLocks noChangeAspect="1"/>
          </p:cNvPicPr>
          <p:nvPr/>
        </p:nvPicPr>
        <p:blipFill>
          <a:blip r:embed="rId4"/>
          <a:stretch>
            <a:fillRect/>
          </a:stretch>
        </p:blipFill>
        <p:spPr>
          <a:xfrm>
            <a:off x="640080" y="1920240"/>
            <a:ext cx="2521458" cy="1051560"/>
          </a:xfrm>
          <a:prstGeom prst="rect">
            <a:avLst/>
          </a:prstGeom>
        </p:spPr>
      </p:pic>
      <p:sp>
        <p:nvSpPr>
          <p:cNvPr id="11" name="Text 5"/>
          <p:cNvSpPr/>
          <p:nvPr/>
        </p:nvSpPr>
        <p:spPr>
          <a:xfrm>
            <a:off x="868680" y="2121408"/>
            <a:ext cx="2095851"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Value chain PEMASOK</a:t>
            </a:r>
            <a:endParaRPr lang="en-US" sz="1200" dirty="0"/>
          </a:p>
        </p:txBody>
      </p:sp>
      <p:sp>
        <p:nvSpPr>
          <p:cNvPr id="12" name="Text 6"/>
          <p:cNvSpPr/>
          <p:nvPr/>
        </p:nvSpPr>
        <p:spPr>
          <a:xfrm>
            <a:off x="868680" y="2578608"/>
            <a:ext cx="2095851" cy="32004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Biaya dan mutu input</a:t>
            </a:r>
            <a:endParaRPr lang="en-US" sz="1200" dirty="0"/>
          </a:p>
        </p:txBody>
      </p:sp>
      <p:sp>
        <p:nvSpPr>
          <p:cNvPr id="13" name="Shape 7"/>
          <p:cNvSpPr/>
          <p:nvPr/>
        </p:nvSpPr>
        <p:spPr>
          <a:xfrm rot="5400000">
            <a:off x="3225546" y="2322576"/>
            <a:ext cx="146304" cy="164592"/>
          </a:xfrm>
          <a:prstGeom prst="triangle">
            <a:avLst/>
          </a:prstGeom>
          <a:solidFill>
            <a:srgbClr val="FBE122"/>
          </a:solidFill>
          <a:ln w="12700">
            <a:solidFill>
              <a:srgbClr val="FBE122"/>
            </a:solidFill>
            <a:prstDash val="solid"/>
          </a:ln>
        </p:spPr>
      </p:sp>
      <p:pic>
        <p:nvPicPr>
          <p:cNvPr id="14" name="Image 3" descr="opt/paper_169.png">    </p:cNvPr>
          <p:cNvPicPr>
            <a:picLocks noChangeAspect="1"/>
          </p:cNvPicPr>
          <p:nvPr/>
        </p:nvPicPr>
        <p:blipFill>
          <a:blip r:embed="rId5"/>
          <a:stretch>
            <a:fillRect/>
          </a:stretch>
        </p:blipFill>
        <p:spPr>
          <a:xfrm>
            <a:off x="3435858" y="1920240"/>
            <a:ext cx="2521458" cy="1051560"/>
          </a:xfrm>
          <a:prstGeom prst="rect">
            <a:avLst/>
          </a:prstGeom>
        </p:spPr>
      </p:pic>
      <p:sp>
        <p:nvSpPr>
          <p:cNvPr id="15" name="Text 8"/>
          <p:cNvSpPr/>
          <p:nvPr/>
        </p:nvSpPr>
        <p:spPr>
          <a:xfrm>
            <a:off x="3664458" y="2121408"/>
            <a:ext cx="2095851"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Value chain PERUSAHAAN</a:t>
            </a:r>
            <a:endParaRPr lang="en-US" sz="1200" dirty="0"/>
          </a:p>
        </p:txBody>
      </p:sp>
      <p:sp>
        <p:nvSpPr>
          <p:cNvPr id="16" name="Text 9"/>
          <p:cNvSpPr/>
          <p:nvPr/>
        </p:nvSpPr>
        <p:spPr>
          <a:xfrm>
            <a:off x="3664458" y="2578608"/>
            <a:ext cx="2095851" cy="32004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Aktivitas internal sendiri</a:t>
            </a:r>
            <a:endParaRPr lang="en-US" sz="1200" dirty="0"/>
          </a:p>
        </p:txBody>
      </p:sp>
      <p:sp>
        <p:nvSpPr>
          <p:cNvPr id="17" name="Shape 10"/>
          <p:cNvSpPr/>
          <p:nvPr/>
        </p:nvSpPr>
        <p:spPr>
          <a:xfrm rot="5400000">
            <a:off x="6021324" y="2322576"/>
            <a:ext cx="146304" cy="164592"/>
          </a:xfrm>
          <a:prstGeom prst="triangle">
            <a:avLst/>
          </a:prstGeom>
          <a:solidFill>
            <a:srgbClr val="FBE122"/>
          </a:solidFill>
          <a:ln w="12700">
            <a:solidFill>
              <a:srgbClr val="FBE122"/>
            </a:solidFill>
            <a:prstDash val="solid"/>
          </a:ln>
        </p:spPr>
      </p:sp>
      <p:pic>
        <p:nvPicPr>
          <p:cNvPr id="18" name="Image 4" descr="opt/paper_169.png">    </p:cNvPr>
          <p:cNvPicPr>
            <a:picLocks noChangeAspect="1"/>
          </p:cNvPicPr>
          <p:nvPr/>
        </p:nvPicPr>
        <p:blipFill>
          <a:blip r:embed="rId6"/>
          <a:stretch>
            <a:fillRect/>
          </a:stretch>
        </p:blipFill>
        <p:spPr>
          <a:xfrm>
            <a:off x="6231636" y="1920240"/>
            <a:ext cx="2521458" cy="1051560"/>
          </a:xfrm>
          <a:prstGeom prst="rect">
            <a:avLst/>
          </a:prstGeom>
        </p:spPr>
      </p:pic>
      <p:sp>
        <p:nvSpPr>
          <p:cNvPr id="19" name="Text 11"/>
          <p:cNvSpPr/>
          <p:nvPr/>
        </p:nvSpPr>
        <p:spPr>
          <a:xfrm>
            <a:off x="6460236" y="2121408"/>
            <a:ext cx="2095851"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Value chain MITRA HILIR</a:t>
            </a:r>
            <a:endParaRPr lang="en-US" sz="1200" dirty="0"/>
          </a:p>
        </p:txBody>
      </p:sp>
      <p:sp>
        <p:nvSpPr>
          <p:cNvPr id="20" name="Text 12"/>
          <p:cNvSpPr/>
          <p:nvPr/>
        </p:nvSpPr>
        <p:spPr>
          <a:xfrm>
            <a:off x="6460236" y="2578608"/>
            <a:ext cx="2095851" cy="320040"/>
          </a:xfrm>
          <a:prstGeom prst="rect">
            <a:avLst/>
          </a:prstGeom>
          <a:noFill/>
          <a:ln/>
        </p:spPr>
        <p:txBody>
          <a:bodyPr wrap="square" lIns="0" tIns="0" rIns="0" bIns="0" rtlCol="0" anchor="t"/>
          <a:lstStyle/>
          <a:p>
            <a:pPr indent="0" marL="0">
              <a:buNone/>
            </a:pPr>
            <a:r>
              <a:rPr lang="en-US" sz="1200" dirty="0">
                <a:solidFill>
                  <a:srgbClr val="160809"/>
                </a:solidFill>
                <a:latin typeface="Poppins" pitchFamily="34" charset="0"/>
                <a:ea typeface="Poppins" pitchFamily="34" charset="-122"/>
                <a:cs typeface="Poppins" pitchFamily="34" charset="-120"/>
              </a:rPr>
              <a:t>Distributor, dealer, mitra</a:t>
            </a:r>
            <a:endParaRPr lang="en-US" sz="1200" dirty="0"/>
          </a:p>
        </p:txBody>
      </p:sp>
      <p:sp>
        <p:nvSpPr>
          <p:cNvPr id="21" name="Shape 13"/>
          <p:cNvSpPr/>
          <p:nvPr/>
        </p:nvSpPr>
        <p:spPr>
          <a:xfrm rot="5400000">
            <a:off x="8817102" y="2322576"/>
            <a:ext cx="146304" cy="164592"/>
          </a:xfrm>
          <a:prstGeom prst="triangle">
            <a:avLst/>
          </a:prstGeom>
          <a:solidFill>
            <a:srgbClr val="FBE122"/>
          </a:solidFill>
          <a:ln w="12700">
            <a:solidFill>
              <a:srgbClr val="FBE122"/>
            </a:solidFill>
            <a:prstDash val="solid"/>
          </a:ln>
        </p:spPr>
      </p:sp>
      <p:pic>
        <p:nvPicPr>
          <p:cNvPr id="22" name="Image 5" descr="opt/red_219.png">    </p:cNvPr>
          <p:cNvPicPr>
            <a:picLocks noChangeAspect="1"/>
          </p:cNvPicPr>
          <p:nvPr/>
        </p:nvPicPr>
        <p:blipFill>
          <a:blip r:embed="rId7"/>
          <a:stretch>
            <a:fillRect/>
          </a:stretch>
        </p:blipFill>
        <p:spPr>
          <a:xfrm>
            <a:off x="9027414" y="1920240"/>
            <a:ext cx="2521458" cy="1051560"/>
          </a:xfrm>
          <a:prstGeom prst="rect">
            <a:avLst/>
          </a:prstGeom>
        </p:spPr>
      </p:pic>
      <p:sp>
        <p:nvSpPr>
          <p:cNvPr id="23" name="Text 14"/>
          <p:cNvSpPr/>
          <p:nvPr/>
        </p:nvSpPr>
        <p:spPr>
          <a:xfrm>
            <a:off x="9256014" y="2121408"/>
            <a:ext cx="2109978" cy="457200"/>
          </a:xfrm>
          <a:prstGeom prst="rect">
            <a:avLst/>
          </a:prstGeom>
          <a:noFill/>
          <a:ln/>
        </p:spPr>
        <p:txBody>
          <a:bodyPr wrap="square" lIns="0" tIns="0" rIns="0" bIns="0" rtlCol="0" anchor="t"/>
          <a:lstStyle/>
          <a:p>
            <a:pPr indent="0" marL="0">
              <a:lnSpc>
                <a:spcPct val="98000"/>
              </a:lnSpc>
              <a:buNone/>
            </a:pPr>
            <a:r>
              <a:rPr lang="en-US" sz="1200" dirty="0">
                <a:solidFill>
                  <a:srgbClr val="FFFFFF"/>
                </a:solidFill>
                <a:latin typeface="Poppins ExtraBold" pitchFamily="34" charset="0"/>
                <a:ea typeface="Poppins ExtraBold" pitchFamily="34" charset="-122"/>
                <a:cs typeface="Poppins ExtraBold" pitchFamily="34" charset="-120"/>
              </a:rPr>
              <a:t>PEMBELI / PENGGUNA AKHIR</a:t>
            </a:r>
            <a:endParaRPr lang="en-US" sz="1200" dirty="0"/>
          </a:p>
        </p:txBody>
      </p:sp>
      <p:sp>
        <p:nvSpPr>
          <p:cNvPr id="24" name="Text 15"/>
          <p:cNvSpPr/>
          <p:nvPr/>
        </p:nvSpPr>
        <p:spPr>
          <a:xfrm>
            <a:off x="9256014" y="2578608"/>
            <a:ext cx="2109978" cy="232212"/>
          </a:xfrm>
          <a:prstGeom prst="rect">
            <a:avLst/>
          </a:prstGeom>
          <a:noFill/>
          <a:ln/>
        </p:spPr>
        <p:txBody>
          <a:bodyPr wrap="square" lIns="0" tIns="0" rIns="0" bIns="0" rtlCol="0" anchor="t"/>
          <a:lstStyle/>
          <a:p>
            <a:pPr indent="0" marL="0">
              <a:buNone/>
            </a:pPr>
            <a:r>
              <a:rPr lang="en-US" sz="1200" dirty="0">
                <a:solidFill>
                  <a:srgbClr val="FFFFFF"/>
                </a:solidFill>
                <a:latin typeface="Poppins" pitchFamily="34" charset="0"/>
                <a:ea typeface="Poppins" pitchFamily="34" charset="-122"/>
                <a:cs typeface="Poppins" pitchFamily="34" charset="-120"/>
              </a:rPr>
              <a:t>Nilai yang dirasakan</a:t>
            </a:r>
            <a:endParaRPr lang="en-US" sz="1200" dirty="0"/>
          </a:p>
        </p:txBody>
      </p:sp>
      <p:pic>
        <p:nvPicPr>
          <p:cNvPr id="25" name="Image 6" descr="opt/paper_169.png">    </p:cNvPr>
          <p:cNvPicPr>
            <a:picLocks noChangeAspect="1"/>
          </p:cNvPicPr>
          <p:nvPr/>
        </p:nvPicPr>
        <p:blipFill>
          <a:blip r:embed="rId8"/>
          <a:stretch>
            <a:fillRect/>
          </a:stretch>
        </p:blipFill>
        <p:spPr>
          <a:xfrm>
            <a:off x="640080" y="3127248"/>
            <a:ext cx="5257800" cy="2103120"/>
          </a:xfrm>
          <a:prstGeom prst="rect">
            <a:avLst/>
          </a:prstGeom>
        </p:spPr>
      </p:pic>
      <p:sp>
        <p:nvSpPr>
          <p:cNvPr id="26" name="Text 16"/>
          <p:cNvSpPr/>
          <p:nvPr/>
        </p:nvSpPr>
        <p:spPr>
          <a:xfrm>
            <a:off x="1048588" y="3346704"/>
            <a:ext cx="4488104" cy="320040"/>
          </a:xfrm>
          <a:prstGeom prst="rect">
            <a:avLst/>
          </a:prstGeom>
          <a:noFill/>
          <a:ln/>
        </p:spPr>
        <p:txBody>
          <a:bodyPr wrap="square" lIns="0" tIns="0" rIns="0" bIns="0" rtlCol="0" anchor="t"/>
          <a:lstStyle/>
          <a:p>
            <a:pPr indent="0" marL="0">
              <a:buNone/>
            </a:pPr>
            <a:r>
              <a:rPr lang="en-US" sz="1500" dirty="0">
                <a:solidFill>
                  <a:srgbClr val="DA291C"/>
                </a:solidFill>
                <a:latin typeface="Poppins ExtraBold" pitchFamily="34" charset="0"/>
                <a:ea typeface="Poppins ExtraBold" pitchFamily="34" charset="-122"/>
                <a:cs typeface="Poppins ExtraBold" pitchFamily="34" charset="-120"/>
              </a:rPr>
              <a:t>Benchmarking</a:t>
            </a:r>
            <a:endParaRPr lang="en-US" sz="1500" dirty="0"/>
          </a:p>
        </p:txBody>
      </p:sp>
      <p:sp>
        <p:nvSpPr>
          <p:cNvPr id="27" name="Text 17"/>
          <p:cNvSpPr/>
          <p:nvPr/>
        </p:nvSpPr>
        <p:spPr>
          <a:xfrm>
            <a:off x="1048588" y="3675888"/>
            <a:ext cx="4488104" cy="822960"/>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Membandingkan cara perusahaan lain mengerjakan aktivitas yang sama, lalu menirukan cara terbaiknya. Bisa dengan pesaing seindustri, bisa dengan industri lain.</a:t>
            </a:r>
            <a:endParaRPr lang="en-US" sz="1200" dirty="0"/>
          </a:p>
        </p:txBody>
      </p:sp>
      <p:sp>
        <p:nvSpPr>
          <p:cNvPr id="28" name="Text 18"/>
          <p:cNvSpPr/>
          <p:nvPr/>
        </p:nvSpPr>
        <p:spPr>
          <a:xfrm>
            <a:off x="1048588" y="4517136"/>
            <a:ext cx="4488104" cy="624810"/>
          </a:xfrm>
          <a:prstGeom prst="rect">
            <a:avLst/>
          </a:prstGeom>
          <a:noFill/>
          <a:ln/>
        </p:spPr>
        <p:txBody>
          <a:bodyPr wrap="square" lIns="0" tIns="0" rIns="0" bIns="0" rtlCol="0" anchor="t"/>
          <a:lstStyle/>
          <a:p>
            <a:pPr indent="0" marL="0">
              <a:lnSpc>
                <a:spcPct val="104000"/>
              </a:lnSpc>
              <a:buNone/>
            </a:pPr>
            <a:r>
              <a:rPr lang="en-US" sz="1200" dirty="0">
                <a:solidFill>
                  <a:srgbClr val="DA291C"/>
                </a:solidFill>
                <a:latin typeface="Poppins SemiBold" pitchFamily="34" charset="0"/>
                <a:ea typeface="Poppins SemiBold" pitchFamily="34" charset="-122"/>
                <a:cs typeface="Poppins SemiBold" pitchFamily="34" charset="-120"/>
              </a:rPr>
              <a:t>Best practice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 cara yang terbukti konsisten memberi hasil lebih baik, sudah dibuktikan minimal oleh satu perusahaan.</a:t>
            </a:r>
            <a:endParaRPr lang="en-US" sz="1200" dirty="0"/>
          </a:p>
        </p:txBody>
      </p:sp>
      <p:pic>
        <p:nvPicPr>
          <p:cNvPr id="29" name="Image 7" descr="opt/paper_169.png">    </p:cNvPr>
          <p:cNvPicPr>
            <a:picLocks noChangeAspect="1"/>
          </p:cNvPicPr>
          <p:nvPr/>
        </p:nvPicPr>
        <p:blipFill>
          <a:blip r:embed="rId9"/>
          <a:stretch>
            <a:fillRect/>
          </a:stretch>
        </p:blipFill>
        <p:spPr>
          <a:xfrm>
            <a:off x="6126480" y="3127248"/>
            <a:ext cx="5422392" cy="2103120"/>
          </a:xfrm>
          <a:prstGeom prst="rect">
            <a:avLst/>
          </a:prstGeom>
        </p:spPr>
      </p:pic>
      <p:sp>
        <p:nvSpPr>
          <p:cNvPr id="30" name="Text 19"/>
          <p:cNvSpPr/>
          <p:nvPr/>
        </p:nvSpPr>
        <p:spPr>
          <a:xfrm>
            <a:off x="6546345" y="3364992"/>
            <a:ext cx="4631463"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TIGA CONTOH TERKENAL</a:t>
            </a:r>
            <a:endParaRPr lang="en-US" sz="1200" dirty="0"/>
          </a:p>
        </p:txBody>
      </p:sp>
      <p:sp>
        <p:nvSpPr>
          <p:cNvPr id="31" name="Text 20"/>
          <p:cNvSpPr/>
          <p:nvPr/>
        </p:nvSpPr>
        <p:spPr>
          <a:xfrm>
            <a:off x="6546345" y="3639312"/>
            <a:ext cx="1271775" cy="475488"/>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Xerox</a:t>
            </a:r>
            <a:endParaRPr lang="en-US" sz="1200" dirty="0"/>
          </a:p>
        </p:txBody>
      </p:sp>
      <p:sp>
        <p:nvSpPr>
          <p:cNvPr id="32" name="Text 21"/>
          <p:cNvSpPr/>
          <p:nvPr/>
        </p:nvSpPr>
        <p:spPr>
          <a:xfrm>
            <a:off x="7818120" y="3639312"/>
            <a:ext cx="3359688" cy="475488"/>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Pelopornya. Belajar dari perusahaan kelas dunia mana pun.</a:t>
            </a:r>
            <a:endParaRPr lang="en-US" sz="1200" dirty="0"/>
          </a:p>
        </p:txBody>
      </p:sp>
      <p:sp>
        <p:nvSpPr>
          <p:cNvPr id="33" name="Text 22"/>
          <p:cNvSpPr/>
          <p:nvPr/>
        </p:nvSpPr>
        <p:spPr>
          <a:xfrm>
            <a:off x="6546345" y="4151376"/>
            <a:ext cx="1271775" cy="475488"/>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Toyota</a:t>
            </a:r>
            <a:endParaRPr lang="en-US" sz="1200" dirty="0"/>
          </a:p>
        </p:txBody>
      </p:sp>
      <p:sp>
        <p:nvSpPr>
          <p:cNvPr id="34" name="Text 23"/>
          <p:cNvSpPr/>
          <p:nvPr/>
        </p:nvSpPr>
        <p:spPr>
          <a:xfrm>
            <a:off x="7818120" y="4151376"/>
            <a:ext cx="3359688" cy="475488"/>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Just-in-time lahir dari mengamati supermarket Amerika.</a:t>
            </a:r>
            <a:endParaRPr lang="en-US" sz="1200" dirty="0"/>
          </a:p>
        </p:txBody>
      </p:sp>
      <p:sp>
        <p:nvSpPr>
          <p:cNvPr id="35" name="Text 24"/>
          <p:cNvSpPr/>
          <p:nvPr/>
        </p:nvSpPr>
        <p:spPr>
          <a:xfrm>
            <a:off x="6546345" y="4663440"/>
            <a:ext cx="1271775" cy="475488"/>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Southwest</a:t>
            </a:r>
            <a:endParaRPr lang="en-US" sz="1200" dirty="0"/>
          </a:p>
        </p:txBody>
      </p:sp>
      <p:sp>
        <p:nvSpPr>
          <p:cNvPr id="36" name="Text 25"/>
          <p:cNvSpPr/>
          <p:nvPr/>
        </p:nvSpPr>
        <p:spPr>
          <a:xfrm>
            <a:off x="7818120" y="4663440"/>
            <a:ext cx="3359688" cy="475488"/>
          </a:xfrm>
          <a:prstGeom prst="rect">
            <a:avLst/>
          </a:prstGeom>
          <a:noFill/>
          <a:ln/>
        </p:spPr>
        <p:txBody>
          <a:bodyPr wrap="square" lIns="0" tIns="0" rIns="0" bIns="0" rtlCol="0" anchor="ctr"/>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Memangkas waktu parkir pesawat dari kru pit balap mobil.</a:t>
            </a:r>
            <a:endParaRPr lang="en-US" sz="1200" dirty="0"/>
          </a:p>
        </p:txBody>
      </p:sp>
      <p:pic>
        <p:nvPicPr>
          <p:cNvPr id="37" name="Image 8" descr="opt/red_219.png">    </p:cNvPr>
          <p:cNvPicPr>
            <a:picLocks noChangeAspect="1"/>
          </p:cNvPicPr>
          <p:nvPr/>
        </p:nvPicPr>
        <p:blipFill>
          <a:blip r:embed="rId10"/>
          <a:stretch>
            <a:fillRect/>
          </a:stretch>
        </p:blipFill>
        <p:spPr>
          <a:xfrm>
            <a:off x="640080" y="5340096"/>
            <a:ext cx="10908792" cy="863194"/>
          </a:xfrm>
          <a:prstGeom prst="rect">
            <a:avLst/>
          </a:prstGeom>
        </p:spPr>
      </p:pic>
      <p:sp>
        <p:nvSpPr>
          <p:cNvPr id="38" name="Text 26"/>
          <p:cNvSpPr/>
          <p:nvPr/>
        </p:nvSpPr>
        <p:spPr>
          <a:xfrm>
            <a:off x="1130976" y="5541264"/>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Bagian sulitnya bukan memutuskan, tapi mendapat datanya.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Sumber yang sah: laporan publik, asosiasi dagang, firma riset, kunjungan lapangan, konsultan pihak ketiga yang mengumpulkan data secara anonim.</a:t>
            </a:r>
            <a:endParaRPr lang="en-US" sz="1200" dirty="0"/>
          </a:p>
        </p:txBody>
      </p:sp>
      <p:pic>
        <p:nvPicPr>
          <p:cNvPr id="39" name="Image 9" descr="opt/st_pennant.png">    </p:cNvPr>
          <p:cNvPicPr>
            <a:picLocks noChangeAspect="1"/>
          </p:cNvPicPr>
          <p:nvPr/>
        </p:nvPicPr>
        <p:blipFill>
          <a:blip r:embed="rId11"/>
          <a:stretch>
            <a:fillRect/>
          </a:stretch>
        </p:blipFill>
        <p:spPr>
          <a:xfrm rot="-420000">
            <a:off x="10901966" y="182880"/>
            <a:ext cx="786809" cy="1691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680460" cy="402336"/>
          </a:xfrm>
          <a:prstGeom prst="rect">
            <a:avLst/>
          </a:prstGeom>
        </p:spPr>
      </p:pic>
      <p:sp>
        <p:nvSpPr>
          <p:cNvPr id="3" name="Text 0"/>
          <p:cNvSpPr/>
          <p:nvPr/>
        </p:nvSpPr>
        <p:spPr>
          <a:xfrm>
            <a:off x="868680" y="381963"/>
            <a:ext cx="32232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4  ·  TINDAKAN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1982" dirty="0">
                <a:solidFill>
                  <a:srgbClr val="FFFFFF"/>
                </a:solidFill>
                <a:latin typeface="Poppins ExtraBold" pitchFamily="34" charset="0"/>
                <a:ea typeface="Poppins ExtraBold" pitchFamily="34" charset="-122"/>
                <a:cs typeface="Poppins ExtraBold" pitchFamily="34" charset="-120"/>
              </a:rPr>
              <a:t>KALAU BIAYA ATAU NILAINYA KALAH, APA YANG DILAKUKAN</a:t>
            </a:r>
            <a:endParaRPr lang="en-US" sz="1982"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Analisis value chain dan benchmarking bisa menunjukkan kita kalah biaya atau kalah nilai. Buku menunjuk tiga area perbaikan.</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15</a:t>
            </a:r>
            <a:endParaRPr lang="en-US" sz="1200" dirty="0"/>
          </a:p>
        </p:txBody>
      </p:sp>
      <p:pic>
        <p:nvPicPr>
          <p:cNvPr id="10" name="Image 2" descr="opt/paper_43.png">    </p:cNvPr>
          <p:cNvPicPr>
            <a:picLocks noChangeAspect="1"/>
          </p:cNvPicPr>
          <p:nvPr/>
        </p:nvPicPr>
        <p:blipFill>
          <a:blip r:embed="rId4"/>
          <a:stretch>
            <a:fillRect/>
          </a:stretch>
        </p:blipFill>
        <p:spPr>
          <a:xfrm>
            <a:off x="640080" y="1920240"/>
            <a:ext cx="3514344" cy="3154680"/>
          </a:xfrm>
          <a:prstGeom prst="rect">
            <a:avLst/>
          </a:prstGeom>
        </p:spPr>
      </p:pic>
      <p:sp>
        <p:nvSpPr>
          <p:cNvPr id="11" name="Text 5"/>
          <p:cNvSpPr/>
          <p:nvPr/>
        </p:nvSpPr>
        <p:spPr>
          <a:xfrm>
            <a:off x="932688" y="2196892"/>
            <a:ext cx="2929128" cy="299420"/>
          </a:xfrm>
          <a:prstGeom prst="rect">
            <a:avLst/>
          </a:prstGeom>
          <a:noFill/>
          <a:ln/>
        </p:spPr>
        <p:txBody>
          <a:bodyPr wrap="square" lIns="0" tIns="0" rIns="0" bIns="0" rtlCol="0" anchor="t"/>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1. Aktivitas internal</a:t>
            </a:r>
            <a:endParaRPr lang="en-US" sz="1400" dirty="0"/>
          </a:p>
        </p:txBody>
      </p:sp>
      <p:sp>
        <p:nvSpPr>
          <p:cNvPr id="12" name="Text 6"/>
          <p:cNvSpPr/>
          <p:nvPr/>
        </p:nvSpPr>
        <p:spPr>
          <a:xfrm>
            <a:off x="932688" y="2560320"/>
            <a:ext cx="2929128" cy="233172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Terapkan best practice di aktivitas mahal</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Hapus aktivitas yang tidak perlu</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Pindahkan aktivitas ke wilayah berbiaya rendah</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Outsourcing jika pihak luar lebih murah</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Investasi teknologi penaik produktivitas</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Rancang ulang produk agar murah dibuat</a:t>
            </a:r>
            <a:endParaRPr lang="en-US" sz="1200" dirty="0"/>
          </a:p>
        </p:txBody>
      </p:sp>
      <p:pic>
        <p:nvPicPr>
          <p:cNvPr id="13" name="Image 3" descr="opt/paper_43.png">    </p:cNvPr>
          <p:cNvPicPr>
            <a:picLocks noChangeAspect="1"/>
          </p:cNvPicPr>
          <p:nvPr/>
        </p:nvPicPr>
        <p:blipFill>
          <a:blip r:embed="rId5"/>
          <a:stretch>
            <a:fillRect/>
          </a:stretch>
        </p:blipFill>
        <p:spPr>
          <a:xfrm>
            <a:off x="4337304" y="1920240"/>
            <a:ext cx="3514344" cy="3154680"/>
          </a:xfrm>
          <a:prstGeom prst="rect">
            <a:avLst/>
          </a:prstGeom>
        </p:spPr>
      </p:pic>
      <p:sp>
        <p:nvSpPr>
          <p:cNvPr id="14" name="Text 7"/>
          <p:cNvSpPr/>
          <p:nvPr/>
        </p:nvSpPr>
        <p:spPr>
          <a:xfrm>
            <a:off x="4629912" y="2196892"/>
            <a:ext cx="2929128" cy="299420"/>
          </a:xfrm>
          <a:prstGeom prst="rect">
            <a:avLst/>
          </a:prstGeom>
          <a:noFill/>
          <a:ln/>
        </p:spPr>
        <p:txBody>
          <a:bodyPr wrap="square" lIns="0" tIns="0" rIns="0" bIns="0" rtlCol="0" anchor="t"/>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2. Bagian pemasok</a:t>
            </a:r>
            <a:endParaRPr lang="en-US" sz="1400" dirty="0"/>
          </a:p>
        </p:txBody>
      </p:sp>
      <p:sp>
        <p:nvSpPr>
          <p:cNvPr id="15" name="Text 8"/>
          <p:cNvSpPr/>
          <p:nvPr/>
        </p:nvSpPr>
        <p:spPr>
          <a:xfrm>
            <a:off x="4629912" y="2560320"/>
            <a:ext cx="2929128" cy="233172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Tekan harga beli ke pemasok</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Ganti ke input substitusi yang lebih murah</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Kerja sama mencari penghematan bersama</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Integrasi ke belakang: produksi sendiri</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Untuk nilai: pilih pemasok bermutu, libatkan sejak desain</a:t>
            </a:r>
            <a:endParaRPr lang="en-US" sz="1200" dirty="0"/>
          </a:p>
        </p:txBody>
      </p:sp>
      <p:pic>
        <p:nvPicPr>
          <p:cNvPr id="16" name="Image 4" descr="opt/paper_43.png">    </p:cNvPr>
          <p:cNvPicPr>
            <a:picLocks noChangeAspect="1"/>
          </p:cNvPicPr>
          <p:nvPr/>
        </p:nvPicPr>
        <p:blipFill>
          <a:blip r:embed="rId6"/>
          <a:stretch>
            <a:fillRect/>
          </a:stretch>
        </p:blipFill>
        <p:spPr>
          <a:xfrm>
            <a:off x="8034528" y="1920240"/>
            <a:ext cx="3514344" cy="3154680"/>
          </a:xfrm>
          <a:prstGeom prst="rect">
            <a:avLst/>
          </a:prstGeom>
        </p:spPr>
      </p:pic>
      <p:sp>
        <p:nvSpPr>
          <p:cNvPr id="17" name="Text 9"/>
          <p:cNvSpPr/>
          <p:nvPr/>
        </p:nvSpPr>
        <p:spPr>
          <a:xfrm>
            <a:off x="8327136" y="2196892"/>
            <a:ext cx="2929128" cy="299420"/>
          </a:xfrm>
          <a:prstGeom prst="rect">
            <a:avLst/>
          </a:prstGeom>
          <a:noFill/>
          <a:ln/>
        </p:spPr>
        <p:txBody>
          <a:bodyPr wrap="square" lIns="0" tIns="0" rIns="0" bIns="0" rtlCol="0" anchor="t"/>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3. Bagian mitra hilir</a:t>
            </a:r>
            <a:endParaRPr lang="en-US" sz="1400" dirty="0"/>
          </a:p>
        </p:txBody>
      </p:sp>
      <p:sp>
        <p:nvSpPr>
          <p:cNvPr id="18" name="Text 10"/>
          <p:cNvSpPr/>
          <p:nvPr/>
        </p:nvSpPr>
        <p:spPr>
          <a:xfrm>
            <a:off x="8327136" y="2560320"/>
            <a:ext cx="2929128" cy="233172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Tekan biaya dan markup distributor</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Kerja sama penghematan yang saling untung</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Ubah jalur distribusi, termasuk jualan online</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Integrasi ke depan: buka gerai sendiri</a:t>
            </a:r>
            <a:endParaRPr lang="en-US" sz="1200" dirty="0"/>
          </a:p>
          <a:p>
            <a:pPr marL="177800" indent="-177800">
              <a:lnSpc>
                <a:spcPct val="102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Untuk nilai: iklan bersama, eksklusivitas, pelatihan mitra</a:t>
            </a:r>
            <a:endParaRPr lang="en-US" sz="1200" dirty="0"/>
          </a:p>
        </p:txBody>
      </p:sp>
      <p:pic>
        <p:nvPicPr>
          <p:cNvPr id="19" name="Image 5" descr="opt/red_219.png">    </p:cNvPr>
          <p:cNvPicPr>
            <a:picLocks noChangeAspect="1"/>
          </p:cNvPicPr>
          <p:nvPr/>
        </p:nvPicPr>
        <p:blipFill>
          <a:blip r:embed="rId7"/>
          <a:stretch>
            <a:fillRect/>
          </a:stretch>
        </p:blipFill>
        <p:spPr>
          <a:xfrm>
            <a:off x="640080" y="5193792"/>
            <a:ext cx="10908792" cy="1057046"/>
          </a:xfrm>
          <a:prstGeom prst="rect">
            <a:avLst/>
          </a:prstGeom>
        </p:spPr>
      </p:pic>
      <p:sp>
        <p:nvSpPr>
          <p:cNvPr id="20" name="Text 11"/>
          <p:cNvSpPr/>
          <p:nvPr/>
        </p:nvSpPr>
        <p:spPr>
          <a:xfrm>
            <a:off x="1130976" y="5394960"/>
            <a:ext cx="9927001" cy="581558"/>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Hanya dua jalan menjadikan value chain keunggulan bersaing: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(1) lebih efisien sehingga biaya lebih rendah: Ryanair, Nucor, TJX; (2) jadi dasar diferensiasi sehingga pelanggan mau bayar lebih: Rolex, Braun, L.L. Bean, FedEx.</a:t>
            </a:r>
            <a:endParaRPr lang="en-US" sz="1200" dirty="0"/>
          </a:p>
        </p:txBody>
      </p:sp>
      <p:pic>
        <p:nvPicPr>
          <p:cNvPr id="21" name="Image 6" descr="opt/st_scarf.png">    </p:cNvPr>
          <p:cNvPicPr>
            <a:picLocks noChangeAspect="1"/>
          </p:cNvPicPr>
          <p:nvPr/>
        </p:nvPicPr>
        <p:blipFill>
          <a:blip r:embed="rId8"/>
          <a:stretch>
            <a:fillRect/>
          </a:stretch>
        </p:blipFill>
        <p:spPr>
          <a:xfrm rot="420000">
            <a:off x="9677095" y="182880"/>
            <a:ext cx="2011680" cy="13349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794760" cy="402336"/>
          </a:xfrm>
          <a:prstGeom prst="rect">
            <a:avLst/>
          </a:prstGeom>
        </p:spPr>
      </p:pic>
      <p:sp>
        <p:nvSpPr>
          <p:cNvPr id="3" name="Text 0"/>
          <p:cNvSpPr/>
          <p:nvPr/>
        </p:nvSpPr>
        <p:spPr>
          <a:xfrm>
            <a:off x="868680" y="381963"/>
            <a:ext cx="3337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5  ·  TABLE 4.4</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COMPETITIVE STRENGTH ASSESSMENT</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Alat untuk mengubah penilaian kualitatif menjadi satu angka yang bisa langsung dibandingkan dengan pesaing.</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16</a:t>
            </a:r>
            <a:endParaRPr lang="en-US" sz="1200" dirty="0"/>
          </a:p>
        </p:txBody>
      </p:sp>
      <p:sp>
        <p:nvSpPr>
          <p:cNvPr id="10" name="Shape 5"/>
          <p:cNvSpPr/>
          <p:nvPr/>
        </p:nvSpPr>
        <p:spPr>
          <a:xfrm>
            <a:off x="640080" y="1938528"/>
            <a:ext cx="420624" cy="420624"/>
          </a:xfrm>
          <a:prstGeom prst="ellipse">
            <a:avLst/>
          </a:prstGeom>
          <a:solidFill>
            <a:srgbClr val="DA291C"/>
          </a:solidFill>
          <a:ln w="12700">
            <a:solidFill>
              <a:srgbClr val="DA291C"/>
            </a:solidFill>
            <a:prstDash val="solid"/>
          </a:ln>
        </p:spPr>
      </p:sp>
      <p:sp>
        <p:nvSpPr>
          <p:cNvPr id="11" name="Text 6"/>
          <p:cNvSpPr/>
          <p:nvPr/>
        </p:nvSpPr>
        <p:spPr>
          <a:xfrm>
            <a:off x="640080" y="1938528"/>
            <a:ext cx="420624" cy="420624"/>
          </a:xfrm>
          <a:prstGeom prst="rect">
            <a:avLst/>
          </a:prstGeom>
          <a:noFill/>
          <a:ln/>
        </p:spPr>
        <p:txBody>
          <a:bodyPr wrap="square" lIns="0" tIns="0" rIns="0" bIns="0" rtlCol="0" anchor="ctr"/>
          <a:lstStyle/>
          <a:p>
            <a:pPr algn="ctr" indent="0" marL="0">
              <a:buNone/>
            </a:pPr>
            <a:r>
              <a:rPr lang="en-US" sz="1200" dirty="0">
                <a:solidFill>
                  <a:srgbClr val="FFFFFF"/>
                </a:solidFill>
                <a:latin typeface="Poppins ExtraBold" pitchFamily="34" charset="0"/>
                <a:ea typeface="Poppins ExtraBold" pitchFamily="34" charset="-122"/>
                <a:cs typeface="Poppins ExtraBold" pitchFamily="34" charset="-120"/>
              </a:rPr>
              <a:t>1</a:t>
            </a:r>
            <a:endParaRPr lang="en-US" sz="1200" dirty="0"/>
          </a:p>
        </p:txBody>
      </p:sp>
      <p:sp>
        <p:nvSpPr>
          <p:cNvPr id="12" name="Text 7"/>
          <p:cNvSpPr/>
          <p:nvPr/>
        </p:nvSpPr>
        <p:spPr>
          <a:xfrm>
            <a:off x="1170432" y="1920240"/>
            <a:ext cx="1523390"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Daftar KSF</a:t>
            </a:r>
            <a:endParaRPr lang="en-US" sz="1200" dirty="0"/>
          </a:p>
        </p:txBody>
      </p:sp>
      <p:sp>
        <p:nvSpPr>
          <p:cNvPr id="13" name="Text 8"/>
          <p:cNvSpPr/>
          <p:nvPr/>
        </p:nvSpPr>
        <p:spPr>
          <a:xfrm>
            <a:off x="1170432" y="2194560"/>
            <a:ext cx="1523390" cy="502920"/>
          </a:xfrm>
          <a:prstGeom prst="rect">
            <a:avLst/>
          </a:prstGeom>
          <a:noFill/>
          <a:ln/>
        </p:spPr>
        <p:txBody>
          <a:bodyPr wrap="square" lIns="0" tIns="0" rIns="0" bIns="0" rtlCol="0" anchor="t"/>
          <a:lstStyle/>
          <a:p>
            <a:pPr indent="0" marL="0">
              <a:lnSpc>
                <a:spcPct val="100000"/>
              </a:lnSpc>
              <a:buNone/>
            </a:pPr>
            <a:r>
              <a:rPr lang="en-US" sz="1200" dirty="0">
                <a:solidFill>
                  <a:srgbClr val="E9DDD8"/>
                </a:solidFill>
                <a:latin typeface="Poppins" pitchFamily="34" charset="0"/>
                <a:ea typeface="Poppins" pitchFamily="34" charset="-122"/>
                <a:cs typeface="Poppins" pitchFamily="34" charset="-120"/>
              </a:rPr>
              <a:t>Key success factor industri</a:t>
            </a:r>
            <a:endParaRPr lang="en-US" sz="1200" dirty="0"/>
          </a:p>
        </p:txBody>
      </p:sp>
      <p:sp>
        <p:nvSpPr>
          <p:cNvPr id="14" name="Shape 9"/>
          <p:cNvSpPr/>
          <p:nvPr/>
        </p:nvSpPr>
        <p:spPr>
          <a:xfrm>
            <a:off x="2849270" y="1938528"/>
            <a:ext cx="420624" cy="420624"/>
          </a:xfrm>
          <a:prstGeom prst="ellipse">
            <a:avLst/>
          </a:prstGeom>
          <a:solidFill>
            <a:srgbClr val="DA291C"/>
          </a:solidFill>
          <a:ln w="12700">
            <a:solidFill>
              <a:srgbClr val="DA291C"/>
            </a:solidFill>
            <a:prstDash val="solid"/>
          </a:ln>
        </p:spPr>
      </p:sp>
      <p:sp>
        <p:nvSpPr>
          <p:cNvPr id="15" name="Text 10"/>
          <p:cNvSpPr/>
          <p:nvPr/>
        </p:nvSpPr>
        <p:spPr>
          <a:xfrm>
            <a:off x="2849270" y="1938528"/>
            <a:ext cx="420624" cy="420624"/>
          </a:xfrm>
          <a:prstGeom prst="rect">
            <a:avLst/>
          </a:prstGeom>
          <a:noFill/>
          <a:ln/>
        </p:spPr>
        <p:txBody>
          <a:bodyPr wrap="square" lIns="0" tIns="0" rIns="0" bIns="0" rtlCol="0" anchor="ctr"/>
          <a:lstStyle/>
          <a:p>
            <a:pPr algn="ctr" indent="0" marL="0">
              <a:buNone/>
            </a:pPr>
            <a:r>
              <a:rPr lang="en-US" sz="1200" dirty="0">
                <a:solidFill>
                  <a:srgbClr val="FFFFFF"/>
                </a:solidFill>
                <a:latin typeface="Poppins ExtraBold" pitchFamily="34" charset="0"/>
                <a:ea typeface="Poppins ExtraBold" pitchFamily="34" charset="-122"/>
                <a:cs typeface="Poppins ExtraBold" pitchFamily="34" charset="-120"/>
              </a:rPr>
              <a:t>2</a:t>
            </a:r>
            <a:endParaRPr lang="en-US" sz="1200" dirty="0"/>
          </a:p>
        </p:txBody>
      </p:sp>
      <p:sp>
        <p:nvSpPr>
          <p:cNvPr id="16" name="Text 11"/>
          <p:cNvSpPr/>
          <p:nvPr/>
        </p:nvSpPr>
        <p:spPr>
          <a:xfrm>
            <a:off x="3379622" y="1920240"/>
            <a:ext cx="1523390"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Beri bobot</a:t>
            </a:r>
            <a:endParaRPr lang="en-US" sz="1200" dirty="0"/>
          </a:p>
        </p:txBody>
      </p:sp>
      <p:sp>
        <p:nvSpPr>
          <p:cNvPr id="17" name="Text 12"/>
          <p:cNvSpPr/>
          <p:nvPr/>
        </p:nvSpPr>
        <p:spPr>
          <a:xfrm>
            <a:off x="3379622" y="2194560"/>
            <a:ext cx="1523390" cy="502920"/>
          </a:xfrm>
          <a:prstGeom prst="rect">
            <a:avLst/>
          </a:prstGeom>
          <a:noFill/>
          <a:ln/>
        </p:spPr>
        <p:txBody>
          <a:bodyPr wrap="square" lIns="0" tIns="0" rIns="0" bIns="0" rtlCol="0" anchor="t"/>
          <a:lstStyle/>
          <a:p>
            <a:pPr indent="0" marL="0">
              <a:lnSpc>
                <a:spcPct val="100000"/>
              </a:lnSpc>
              <a:buNone/>
            </a:pPr>
            <a:r>
              <a:rPr lang="en-US" sz="1200" dirty="0">
                <a:solidFill>
                  <a:srgbClr val="E9DDD8"/>
                </a:solidFill>
                <a:latin typeface="Poppins" pitchFamily="34" charset="0"/>
                <a:ea typeface="Poppins" pitchFamily="34" charset="-122"/>
                <a:cs typeface="Poppins" pitchFamily="34" charset="-120"/>
              </a:rPr>
              <a:t>Total harus 1,00</a:t>
            </a:r>
            <a:endParaRPr lang="en-US" sz="1200" dirty="0"/>
          </a:p>
        </p:txBody>
      </p:sp>
      <p:sp>
        <p:nvSpPr>
          <p:cNvPr id="18" name="Shape 13"/>
          <p:cNvSpPr/>
          <p:nvPr/>
        </p:nvSpPr>
        <p:spPr>
          <a:xfrm>
            <a:off x="5058461" y="1938528"/>
            <a:ext cx="420624" cy="420624"/>
          </a:xfrm>
          <a:prstGeom prst="ellipse">
            <a:avLst/>
          </a:prstGeom>
          <a:solidFill>
            <a:srgbClr val="DA291C"/>
          </a:solidFill>
          <a:ln w="12700">
            <a:solidFill>
              <a:srgbClr val="DA291C"/>
            </a:solidFill>
            <a:prstDash val="solid"/>
          </a:ln>
        </p:spPr>
      </p:sp>
      <p:sp>
        <p:nvSpPr>
          <p:cNvPr id="19" name="Text 14"/>
          <p:cNvSpPr/>
          <p:nvPr/>
        </p:nvSpPr>
        <p:spPr>
          <a:xfrm>
            <a:off x="5058461" y="1938528"/>
            <a:ext cx="420624" cy="420624"/>
          </a:xfrm>
          <a:prstGeom prst="rect">
            <a:avLst/>
          </a:prstGeom>
          <a:noFill/>
          <a:ln/>
        </p:spPr>
        <p:txBody>
          <a:bodyPr wrap="square" lIns="0" tIns="0" rIns="0" bIns="0" rtlCol="0" anchor="ctr"/>
          <a:lstStyle/>
          <a:p>
            <a:pPr algn="ctr" indent="0" marL="0">
              <a:buNone/>
            </a:pPr>
            <a:r>
              <a:rPr lang="en-US" sz="1200" dirty="0">
                <a:solidFill>
                  <a:srgbClr val="FFFFFF"/>
                </a:solidFill>
                <a:latin typeface="Poppins ExtraBold" pitchFamily="34" charset="0"/>
                <a:ea typeface="Poppins ExtraBold" pitchFamily="34" charset="-122"/>
                <a:cs typeface="Poppins ExtraBold" pitchFamily="34" charset="-120"/>
              </a:rPr>
              <a:t>3</a:t>
            </a:r>
            <a:endParaRPr lang="en-US" sz="1200" dirty="0"/>
          </a:p>
        </p:txBody>
      </p:sp>
      <p:sp>
        <p:nvSpPr>
          <p:cNvPr id="20" name="Text 15"/>
          <p:cNvSpPr/>
          <p:nvPr/>
        </p:nvSpPr>
        <p:spPr>
          <a:xfrm>
            <a:off x="5588813" y="1920240"/>
            <a:ext cx="1523390"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Beri rating</a:t>
            </a:r>
            <a:endParaRPr lang="en-US" sz="1200" dirty="0"/>
          </a:p>
        </p:txBody>
      </p:sp>
      <p:sp>
        <p:nvSpPr>
          <p:cNvPr id="21" name="Text 16"/>
          <p:cNvSpPr/>
          <p:nvPr/>
        </p:nvSpPr>
        <p:spPr>
          <a:xfrm>
            <a:off x="5588813" y="2194560"/>
            <a:ext cx="1523390" cy="502920"/>
          </a:xfrm>
          <a:prstGeom prst="rect">
            <a:avLst/>
          </a:prstGeom>
          <a:noFill/>
          <a:ln/>
        </p:spPr>
        <p:txBody>
          <a:bodyPr wrap="square" lIns="0" tIns="0" rIns="0" bIns="0" rtlCol="0" anchor="t"/>
          <a:lstStyle/>
          <a:p>
            <a:pPr indent="0" marL="0">
              <a:lnSpc>
                <a:spcPct val="100000"/>
              </a:lnSpc>
              <a:buNone/>
            </a:pPr>
            <a:r>
              <a:rPr lang="en-US" sz="1200" dirty="0">
                <a:solidFill>
                  <a:srgbClr val="E9DDD8"/>
                </a:solidFill>
                <a:latin typeface="Poppins" pitchFamily="34" charset="0"/>
                <a:ea typeface="Poppins" pitchFamily="34" charset="-122"/>
                <a:cs typeface="Poppins" pitchFamily="34" charset="-120"/>
              </a:rPr>
              <a:t>Skala 1 (lemah) sampai 10 (kuat)</a:t>
            </a:r>
            <a:endParaRPr lang="en-US" sz="1200" dirty="0"/>
          </a:p>
        </p:txBody>
      </p:sp>
      <p:sp>
        <p:nvSpPr>
          <p:cNvPr id="22" name="Shape 17"/>
          <p:cNvSpPr/>
          <p:nvPr/>
        </p:nvSpPr>
        <p:spPr>
          <a:xfrm>
            <a:off x="7267651" y="1938528"/>
            <a:ext cx="420624" cy="420624"/>
          </a:xfrm>
          <a:prstGeom prst="ellipse">
            <a:avLst/>
          </a:prstGeom>
          <a:solidFill>
            <a:srgbClr val="DA291C"/>
          </a:solidFill>
          <a:ln w="12700">
            <a:solidFill>
              <a:srgbClr val="DA291C"/>
            </a:solidFill>
            <a:prstDash val="solid"/>
          </a:ln>
        </p:spPr>
      </p:sp>
      <p:sp>
        <p:nvSpPr>
          <p:cNvPr id="23" name="Text 18"/>
          <p:cNvSpPr/>
          <p:nvPr/>
        </p:nvSpPr>
        <p:spPr>
          <a:xfrm>
            <a:off x="7267651" y="1938528"/>
            <a:ext cx="420624" cy="420624"/>
          </a:xfrm>
          <a:prstGeom prst="rect">
            <a:avLst/>
          </a:prstGeom>
          <a:noFill/>
          <a:ln/>
        </p:spPr>
        <p:txBody>
          <a:bodyPr wrap="square" lIns="0" tIns="0" rIns="0" bIns="0" rtlCol="0" anchor="ctr"/>
          <a:lstStyle/>
          <a:p>
            <a:pPr algn="ctr" indent="0" marL="0">
              <a:buNone/>
            </a:pPr>
            <a:r>
              <a:rPr lang="en-US" sz="1200" dirty="0">
                <a:solidFill>
                  <a:srgbClr val="FFFFFF"/>
                </a:solidFill>
                <a:latin typeface="Poppins ExtraBold" pitchFamily="34" charset="0"/>
                <a:ea typeface="Poppins ExtraBold" pitchFamily="34" charset="-122"/>
                <a:cs typeface="Poppins ExtraBold" pitchFamily="34" charset="-120"/>
              </a:rPr>
              <a:t>4</a:t>
            </a:r>
            <a:endParaRPr lang="en-US" sz="1200" dirty="0"/>
          </a:p>
        </p:txBody>
      </p:sp>
      <p:sp>
        <p:nvSpPr>
          <p:cNvPr id="24" name="Text 19"/>
          <p:cNvSpPr/>
          <p:nvPr/>
        </p:nvSpPr>
        <p:spPr>
          <a:xfrm>
            <a:off x="7798003" y="1920240"/>
            <a:ext cx="1523390"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Kalikan</a:t>
            </a:r>
            <a:endParaRPr lang="en-US" sz="1200" dirty="0"/>
          </a:p>
        </p:txBody>
      </p:sp>
      <p:sp>
        <p:nvSpPr>
          <p:cNvPr id="25" name="Text 20"/>
          <p:cNvSpPr/>
          <p:nvPr/>
        </p:nvSpPr>
        <p:spPr>
          <a:xfrm>
            <a:off x="7798003" y="2194560"/>
            <a:ext cx="1523390" cy="502920"/>
          </a:xfrm>
          <a:prstGeom prst="rect">
            <a:avLst/>
          </a:prstGeom>
          <a:noFill/>
          <a:ln/>
        </p:spPr>
        <p:txBody>
          <a:bodyPr wrap="square" lIns="0" tIns="0" rIns="0" bIns="0" rtlCol="0" anchor="t"/>
          <a:lstStyle/>
          <a:p>
            <a:pPr indent="0" marL="0">
              <a:lnSpc>
                <a:spcPct val="100000"/>
              </a:lnSpc>
              <a:buNone/>
            </a:pPr>
            <a:r>
              <a:rPr lang="en-US" sz="1200" dirty="0">
                <a:solidFill>
                  <a:srgbClr val="E9DDD8"/>
                </a:solidFill>
                <a:latin typeface="Poppins" pitchFamily="34" charset="0"/>
                <a:ea typeface="Poppins" pitchFamily="34" charset="-122"/>
                <a:cs typeface="Poppins" pitchFamily="34" charset="-120"/>
              </a:rPr>
              <a:t>Rating × bobot = skor</a:t>
            </a:r>
            <a:endParaRPr lang="en-US" sz="1200" dirty="0"/>
          </a:p>
        </p:txBody>
      </p:sp>
      <p:sp>
        <p:nvSpPr>
          <p:cNvPr id="26" name="Shape 21"/>
          <p:cNvSpPr/>
          <p:nvPr/>
        </p:nvSpPr>
        <p:spPr>
          <a:xfrm>
            <a:off x="9476842" y="1938528"/>
            <a:ext cx="420624" cy="420624"/>
          </a:xfrm>
          <a:prstGeom prst="ellipse">
            <a:avLst/>
          </a:prstGeom>
          <a:solidFill>
            <a:srgbClr val="DA291C"/>
          </a:solidFill>
          <a:ln w="12700">
            <a:solidFill>
              <a:srgbClr val="DA291C"/>
            </a:solidFill>
            <a:prstDash val="solid"/>
          </a:ln>
        </p:spPr>
      </p:sp>
      <p:sp>
        <p:nvSpPr>
          <p:cNvPr id="27" name="Text 22"/>
          <p:cNvSpPr/>
          <p:nvPr/>
        </p:nvSpPr>
        <p:spPr>
          <a:xfrm>
            <a:off x="9476842" y="1938528"/>
            <a:ext cx="420624" cy="420624"/>
          </a:xfrm>
          <a:prstGeom prst="rect">
            <a:avLst/>
          </a:prstGeom>
          <a:noFill/>
          <a:ln/>
        </p:spPr>
        <p:txBody>
          <a:bodyPr wrap="square" lIns="0" tIns="0" rIns="0" bIns="0" rtlCol="0" anchor="ctr"/>
          <a:lstStyle/>
          <a:p>
            <a:pPr algn="ctr" indent="0" marL="0">
              <a:buNone/>
            </a:pPr>
            <a:r>
              <a:rPr lang="en-US" sz="1200" dirty="0">
                <a:solidFill>
                  <a:srgbClr val="FFFFFF"/>
                </a:solidFill>
                <a:latin typeface="Poppins ExtraBold" pitchFamily="34" charset="0"/>
                <a:ea typeface="Poppins ExtraBold" pitchFamily="34" charset="-122"/>
                <a:cs typeface="Poppins ExtraBold" pitchFamily="34" charset="-120"/>
              </a:rPr>
              <a:t>5</a:t>
            </a:r>
            <a:endParaRPr lang="en-US" sz="1200" dirty="0"/>
          </a:p>
        </p:txBody>
      </p:sp>
      <p:sp>
        <p:nvSpPr>
          <p:cNvPr id="28" name="Text 23"/>
          <p:cNvSpPr/>
          <p:nvPr/>
        </p:nvSpPr>
        <p:spPr>
          <a:xfrm>
            <a:off x="10007194" y="1920240"/>
            <a:ext cx="1523390"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Jumlahkan</a:t>
            </a:r>
            <a:endParaRPr lang="en-US" sz="1200" dirty="0"/>
          </a:p>
        </p:txBody>
      </p:sp>
      <p:sp>
        <p:nvSpPr>
          <p:cNvPr id="29" name="Text 24"/>
          <p:cNvSpPr/>
          <p:nvPr/>
        </p:nvSpPr>
        <p:spPr>
          <a:xfrm>
            <a:off x="10007194" y="2194560"/>
            <a:ext cx="1523390" cy="502920"/>
          </a:xfrm>
          <a:prstGeom prst="rect">
            <a:avLst/>
          </a:prstGeom>
          <a:noFill/>
          <a:ln/>
        </p:spPr>
        <p:txBody>
          <a:bodyPr wrap="square" lIns="0" tIns="0" rIns="0" bIns="0" rtlCol="0" anchor="t"/>
          <a:lstStyle/>
          <a:p>
            <a:pPr indent="0" marL="0">
              <a:lnSpc>
                <a:spcPct val="100000"/>
              </a:lnSpc>
              <a:buNone/>
            </a:pPr>
            <a:r>
              <a:rPr lang="en-US" sz="1200" dirty="0">
                <a:solidFill>
                  <a:srgbClr val="E9DDD8"/>
                </a:solidFill>
                <a:latin typeface="Poppins" pitchFamily="34" charset="0"/>
                <a:ea typeface="Poppins" pitchFamily="34" charset="-122"/>
                <a:cs typeface="Poppins" pitchFamily="34" charset="-120"/>
              </a:rPr>
              <a:t>Ukuran kekuatan keseluruhan</a:t>
            </a:r>
            <a:endParaRPr lang="en-US" sz="1200" dirty="0"/>
          </a:p>
        </p:txBody>
      </p:sp>
      <p:pic>
        <p:nvPicPr>
          <p:cNvPr id="30" name="Image 2" descr="opt/paper_169.png">    </p:cNvPr>
          <p:cNvPicPr>
            <a:picLocks noChangeAspect="1"/>
          </p:cNvPicPr>
          <p:nvPr/>
        </p:nvPicPr>
        <p:blipFill>
          <a:blip r:embed="rId4"/>
          <a:stretch>
            <a:fillRect/>
          </a:stretch>
        </p:blipFill>
        <p:spPr>
          <a:xfrm>
            <a:off x="502920" y="2679192"/>
            <a:ext cx="7315200" cy="3529584"/>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880360"/>
          <a:ext cx="7040880" cy="914400"/>
        </p:xfrm>
        <a:graphic>
          <a:graphicData uri="http://schemas.openxmlformats.org/drawingml/2006/table">
            <a:tbl>
              <a:tblPr/>
              <a:tblGrid>
                <a:gridCol w="2651760"/>
                <a:gridCol w="822960"/>
                <a:gridCol w="1188720"/>
                <a:gridCol w="1188720"/>
                <a:gridCol w="1188720"/>
              </a:tblGrid>
              <a:tr h="310896">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Key Success Factor</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Bobot</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ABC Co.</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Rival 1</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Rival 2</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Mutu / performa produk</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0,80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 / 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Reputasi dan citra</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0,80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0,70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 / 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Kemampuan produksi</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2 / 0,20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Sumber daya keuangan</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3 / 0,30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Posisi biaya relatif</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0,30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1,50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3,00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 / 0,30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Layanan pelanggan</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0,75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1,05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 / 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10896">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Faktor lain (tiga baris)</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1,40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0,45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0,65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10896">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TOTAL SKOR TERTIMBANG</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1,00</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5,95</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7,70</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2,10</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r>
            </a:tbl>
          </a:graphicData>
        </a:graphic>
      </p:graphicFrame>
      <p:sp>
        <p:nvSpPr>
          <p:cNvPr id="32" name="Text 25"/>
          <p:cNvSpPr/>
          <p:nvPr/>
        </p:nvSpPr>
        <p:spPr>
          <a:xfrm>
            <a:off x="1053389" y="5769864"/>
            <a:ext cx="6280099" cy="274320"/>
          </a:xfrm>
          <a:prstGeom prst="rect">
            <a:avLst/>
          </a:prstGeom>
          <a:noFill/>
          <a:ln/>
        </p:spPr>
        <p:txBody>
          <a:bodyPr wrap="square" lIns="0" tIns="0" rIns="0" bIns="0" rtlCol="0" anchor="t"/>
          <a:lstStyle/>
          <a:p>
            <a:pPr indent="0" marL="0">
              <a:buNone/>
            </a:pPr>
            <a:r>
              <a:rPr lang="en-US" sz="1200" dirty="0">
                <a:solidFill>
                  <a:srgbClr val="4A2E2A"/>
                </a:solidFill>
                <a:latin typeface="Poppins" pitchFamily="34" charset="0"/>
                <a:ea typeface="Poppins" pitchFamily="34" charset="-122"/>
                <a:cs typeface="Poppins" pitchFamily="34" charset="-120"/>
              </a:rPr>
              <a:t>Contoh Table 4.4 buku. Isi sel: rating / skor tertimbang.</a:t>
            </a:r>
            <a:endParaRPr lang="en-US" sz="1200" dirty="0"/>
          </a:p>
        </p:txBody>
      </p:sp>
      <p:pic>
        <p:nvPicPr>
          <p:cNvPr id="33" name="Image 3" descr="opt/red_32.png">    </p:cNvPr>
          <p:cNvPicPr>
            <a:picLocks noChangeAspect="1"/>
          </p:cNvPicPr>
          <p:nvPr/>
        </p:nvPicPr>
        <p:blipFill>
          <a:blip r:embed="rId5"/>
          <a:stretch>
            <a:fillRect/>
          </a:stretch>
        </p:blipFill>
        <p:spPr>
          <a:xfrm>
            <a:off x="8046720" y="2679192"/>
            <a:ext cx="3502152" cy="3529584"/>
          </a:xfrm>
          <a:prstGeom prst="rect">
            <a:avLst/>
          </a:prstGeom>
        </p:spPr>
      </p:pic>
      <p:sp>
        <p:nvSpPr>
          <p:cNvPr id="34" name="Text 26"/>
          <p:cNvSpPr/>
          <p:nvPr/>
        </p:nvSpPr>
        <p:spPr>
          <a:xfrm>
            <a:off x="8375904" y="3044952"/>
            <a:ext cx="2843784"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CARA MEMBACA ANGKANYA</a:t>
            </a:r>
            <a:endParaRPr lang="en-US" sz="1200" dirty="0"/>
          </a:p>
        </p:txBody>
      </p:sp>
      <p:sp>
        <p:nvSpPr>
          <p:cNvPr id="35" name="Text 27"/>
          <p:cNvSpPr/>
          <p:nvPr/>
        </p:nvSpPr>
        <p:spPr>
          <a:xfrm>
            <a:off x="8375904" y="3300984"/>
            <a:ext cx="2843784" cy="2496312"/>
          </a:xfrm>
          <a:prstGeom prst="rect">
            <a:avLst/>
          </a:prstGeom>
          <a:noFill/>
          <a:ln/>
        </p:spPr>
        <p:txBody>
          <a:bodyPr wrap="square" lIns="0" tIns="0" rIns="0" bIns="0" rtlCol="0" anchor="t"/>
          <a:lstStyle/>
          <a:p>
            <a:pPr indent="0" marL="0">
              <a:lnSpc>
                <a:spcPct val="106000"/>
              </a:lnSpc>
              <a:buNone/>
            </a:pPr>
            <a:r>
              <a:rPr lang="en-US" sz="1300" dirty="0">
                <a:solidFill>
                  <a:srgbClr val="FFFFFF"/>
                </a:solidFill>
                <a:latin typeface="Poppins ExtraBold" pitchFamily="34" charset="0"/>
                <a:ea typeface="Poppins ExtraBold" pitchFamily="34" charset="-122"/>
                <a:cs typeface="Poppins ExtraBold" pitchFamily="34" charset="-120"/>
              </a:rPr>
              <a:t>Selisih total skor
</a:t>
            </a:r>
            <a:pPr indent="0" marL="0">
              <a:lnSpc>
                <a:spcPct val="106000"/>
              </a:lnSpc>
              <a:spcAft>
                <a:spcPts val="600"/>
              </a:spcAft>
              <a:buNone/>
            </a:pPr>
            <a:r>
              <a:rPr lang="en-US" sz="1200" dirty="0">
                <a:solidFill>
                  <a:srgbClr val="FFFFFF"/>
                </a:solidFill>
                <a:latin typeface="Poppins" pitchFamily="34" charset="0"/>
                <a:ea typeface="Poppins" pitchFamily="34" charset="-122"/>
                <a:cs typeface="Poppins" pitchFamily="34" charset="-120"/>
              </a:rPr>
              <a:t>Rival 1 (7,70) jauh di atas Rival 2 (2,10): net competitive advantage.
</a:t>
            </a:r>
            <a:pPr indent="0" marL="0">
              <a:lnSpc>
                <a:spcPct val="106000"/>
              </a:lnSpc>
              <a:buNone/>
            </a:pPr>
            <a:r>
              <a:rPr lang="en-US" sz="1300" dirty="0">
                <a:solidFill>
                  <a:srgbClr val="FFFFFF"/>
                </a:solidFill>
                <a:latin typeface="Poppins ExtraBold" pitchFamily="34" charset="0"/>
                <a:ea typeface="Poppins ExtraBold" pitchFamily="34" charset="-122"/>
                <a:cs typeface="Poppins ExtraBold" pitchFamily="34" charset="-120"/>
              </a:rPr>
              <a:t>Serang di mana
</a:t>
            </a:r>
            <a:pPr indent="0" marL="0">
              <a:lnSpc>
                <a:spcPct val="106000"/>
              </a:lnSpc>
              <a:spcAft>
                <a:spcPts val="600"/>
              </a:spcAft>
              <a:buNone/>
            </a:pPr>
            <a:r>
              <a:rPr lang="en-US" sz="1200" dirty="0">
                <a:solidFill>
                  <a:srgbClr val="FFFFFF"/>
                </a:solidFill>
                <a:latin typeface="Poppins" pitchFamily="34" charset="0"/>
                <a:ea typeface="Poppins" pitchFamily="34" charset="-122"/>
                <a:cs typeface="Poppins" pitchFamily="34" charset="-120"/>
              </a:rPr>
              <a:t>Serang pesaing berskor rendah di faktor tempat kita kuat.
</a:t>
            </a:r>
            <a:pPr indent="0" marL="0">
              <a:lnSpc>
                <a:spcPct val="106000"/>
              </a:lnSpc>
              <a:buNone/>
            </a:pPr>
            <a:r>
              <a:rPr lang="en-US" sz="1300" dirty="0">
                <a:solidFill>
                  <a:srgbClr val="FFFFFF"/>
                </a:solidFill>
                <a:latin typeface="Poppins ExtraBold" pitchFamily="34" charset="0"/>
                <a:ea typeface="Poppins ExtraBold" pitchFamily="34" charset="-122"/>
                <a:cs typeface="Poppins ExtraBold" pitchFamily="34" charset="-120"/>
              </a:rPr>
              <a:t>Bertahan di mana
</a:t>
            </a:r>
            <a:pPr indent="0" marL="0">
              <a:lnSpc>
                <a:spcPct val="106000"/>
              </a:lnSpc>
              <a:spcAft>
                <a:spcPts val="600"/>
              </a:spcAft>
              <a:buNone/>
            </a:pPr>
            <a:r>
              <a:rPr lang="en-US" sz="1200" dirty="0">
                <a:solidFill>
                  <a:srgbClr val="FFFFFF"/>
                </a:solidFill>
                <a:latin typeface="Poppins" pitchFamily="34" charset="0"/>
                <a:ea typeface="Poppins" pitchFamily="34" charset="-122"/>
                <a:cs typeface="Poppins" pitchFamily="34" charset="-120"/>
              </a:rPr>
              <a:t>Kalau lemah di faktor tempat pesaing kuat, siapkan pertahanan.</a:t>
            </a:r>
            <a:endParaRPr lang="en-US" sz="1200" dirty="0"/>
          </a:p>
        </p:txBody>
      </p:sp>
      <p:pic>
        <p:nvPicPr>
          <p:cNvPr id="36" name="Image 4" descr="opt/st_facup.png">    </p:cNvPr>
          <p:cNvPicPr>
            <a:picLocks noChangeAspect="1"/>
          </p:cNvPicPr>
          <p:nvPr/>
        </p:nvPicPr>
        <p:blipFill>
          <a:blip r:embed="rId6"/>
          <a:stretch>
            <a:fillRect/>
          </a:stretch>
        </p:blipFill>
        <p:spPr>
          <a:xfrm rot="-420000">
            <a:off x="10645880" y="182880"/>
            <a:ext cx="1042895" cy="1691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194560" cy="402336"/>
          </a:xfrm>
          <a:prstGeom prst="rect">
            <a:avLst/>
          </a:prstGeom>
        </p:spPr>
      </p:pic>
      <p:sp>
        <p:nvSpPr>
          <p:cNvPr id="3" name="Text 0"/>
          <p:cNvSpPr/>
          <p:nvPr/>
        </p:nvSpPr>
        <p:spPr>
          <a:xfrm>
            <a:off x="868680" y="381963"/>
            <a:ext cx="17373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6</a:t>
            </a:r>
            <a:endParaRPr lang="en-US" sz="1200" dirty="0"/>
          </a:p>
        </p:txBody>
      </p:sp>
      <p:sp>
        <p:nvSpPr>
          <p:cNvPr id="4" name="Text 1"/>
          <p:cNvSpPr/>
          <p:nvPr/>
        </p:nvSpPr>
        <p:spPr>
          <a:xfrm>
            <a:off x="640080" y="859536"/>
            <a:ext cx="1060704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ISU APA YANG HARUS DITANGANI LEBIH DULU?</a:t>
            </a:r>
            <a:endParaRPr lang="en-US" sz="2400" dirty="0"/>
          </a:p>
        </p:txBody>
      </p:sp>
      <p:sp>
        <p:nvSpPr>
          <p:cNvPr id="5" name="Text 2"/>
          <p:cNvSpPr/>
          <p:nvPr/>
        </p:nvSpPr>
        <p:spPr>
          <a:xfrm>
            <a:off x="640080" y="1371600"/>
            <a:ext cx="1042416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Langkah terakhir dan paling penting. Semua temuan Q1 sampai Q5, ditambah analisis industri Chapter 3, dikerucutkan jadi satu daftar prioritas.</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Thompson dkk., Crafting &amp; Executing Strategy (2024), Chapter 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17</a:t>
            </a:r>
            <a:endParaRPr lang="en-US" sz="1200" dirty="0"/>
          </a:p>
        </p:txBody>
      </p:sp>
      <p:pic>
        <p:nvPicPr>
          <p:cNvPr id="10" name="Image 2" descr="c_tall_b.jpg">    </p:cNvPr>
          <p:cNvPicPr>
            <a:picLocks noChangeAspect="1"/>
          </p:cNvPicPr>
          <p:nvPr/>
        </p:nvPicPr>
        <p:blipFill>
          <a:blip r:embed="rId4"/>
          <a:stretch>
            <a:fillRect/>
          </a:stretch>
        </p:blipFill>
        <p:spPr>
          <a:xfrm rot="120000">
            <a:off x="9821698" y="1920240"/>
            <a:ext cx="1684197" cy="3017520"/>
          </a:xfrm>
          <a:prstGeom prst="rect">
            <a:avLst/>
          </a:prstGeom>
        </p:spPr>
      </p:pic>
      <p:pic>
        <p:nvPicPr>
          <p:cNvPr id="11" name="Image 3" descr="opt/red_32.png">    </p:cNvPr>
          <p:cNvPicPr>
            <a:picLocks noChangeAspect="1"/>
          </p:cNvPicPr>
          <p:nvPr/>
        </p:nvPicPr>
        <p:blipFill>
          <a:blip r:embed="rId5"/>
          <a:stretch>
            <a:fillRect/>
          </a:stretch>
        </p:blipFill>
        <p:spPr>
          <a:xfrm>
            <a:off x="640080" y="1920240"/>
            <a:ext cx="4480560" cy="3017520"/>
          </a:xfrm>
          <a:prstGeom prst="rect">
            <a:avLst/>
          </a:prstGeom>
        </p:spPr>
      </p:pic>
      <p:sp>
        <p:nvSpPr>
          <p:cNvPr id="12" name="Text 5"/>
          <p:cNvSpPr/>
          <p:nvPr/>
        </p:nvSpPr>
        <p:spPr>
          <a:xfrm>
            <a:off x="987552" y="2267712"/>
            <a:ext cx="3657600" cy="27432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PRIORITY LIST</a:t>
            </a:r>
            <a:endParaRPr lang="en-US" sz="1200" dirty="0"/>
          </a:p>
        </p:txBody>
      </p:sp>
      <p:sp>
        <p:nvSpPr>
          <p:cNvPr id="13" name="Text 6"/>
          <p:cNvSpPr/>
          <p:nvPr/>
        </p:nvSpPr>
        <p:spPr>
          <a:xfrm>
            <a:off x="987552" y="2578608"/>
            <a:ext cx="3794760" cy="1325880"/>
          </a:xfrm>
          <a:prstGeom prst="rect">
            <a:avLst/>
          </a:prstGeom>
          <a:noFill/>
          <a:ln/>
        </p:spPr>
        <p:txBody>
          <a:bodyPr wrap="square" lIns="0" tIns="0" rIns="0" bIns="0" rtlCol="0" anchor="t"/>
          <a:lstStyle/>
          <a:p>
            <a:pPr indent="0" marL="0">
              <a:lnSpc>
                <a:spcPct val="102000"/>
              </a:lnSpc>
              <a:buNone/>
            </a:pPr>
            <a:r>
              <a:rPr lang="en-US" sz="1300" dirty="0">
                <a:solidFill>
                  <a:srgbClr val="FFFFFF"/>
                </a:solidFill>
                <a:latin typeface="Poppins ExtraBold" pitchFamily="34" charset="0"/>
                <a:ea typeface="Poppins ExtraBold" pitchFamily="34" charset="-122"/>
                <a:cs typeface="Poppins ExtraBold" pitchFamily="34" charset="-120"/>
              </a:rPr>
              <a:t>Daftar isu dan masalah yang harus dituntaskan manajemen agar perusahaan lebih berhasil, secara keuangan maupun bersaing, di tahun-tahun mendatang.</a:t>
            </a:r>
            <a:endParaRPr lang="en-US" sz="1300" dirty="0"/>
          </a:p>
        </p:txBody>
      </p:sp>
      <p:sp>
        <p:nvSpPr>
          <p:cNvPr id="14" name="Text 7"/>
          <p:cNvSpPr/>
          <p:nvPr/>
        </p:nvSpPr>
        <p:spPr>
          <a:xfrm>
            <a:off x="987552" y="3931920"/>
            <a:ext cx="3794760" cy="863742"/>
          </a:xfrm>
          <a:prstGeom prst="rect">
            <a:avLst/>
          </a:prstGeom>
          <a:noFill/>
          <a:ln/>
        </p:spPr>
        <p:txBody>
          <a:bodyPr wrap="square" lIns="0" tIns="0" rIns="0" bIns="0" rtlCol="0" anchor="t"/>
          <a:lstStyle/>
          <a:p>
            <a:pPr indent="0" marL="0">
              <a:lnSpc>
                <a:spcPct val="104000"/>
              </a:lnSpc>
              <a:buNone/>
            </a:pPr>
            <a:r>
              <a:rPr lang="en-US" sz="1200" dirty="0">
                <a:solidFill>
                  <a:srgbClr val="FFFFFF"/>
                </a:solidFill>
                <a:latin typeface="Poppins" pitchFamily="34" charset="0"/>
                <a:ea typeface="Poppins" pitchFamily="34" charset="-122"/>
                <a:cs typeface="Poppins" pitchFamily="34" charset="-120"/>
              </a:rPr>
              <a:t>Isinya selalu berbentuk "bagaimana caranya…", "apa yang harus dilakukan soal…", dan "apakah perlu…".</a:t>
            </a:r>
            <a:endParaRPr lang="en-US" sz="1200" dirty="0"/>
          </a:p>
        </p:txBody>
      </p:sp>
      <p:pic>
        <p:nvPicPr>
          <p:cNvPr id="15" name="Image 4" descr="opt/paper_43.png">    </p:cNvPr>
          <p:cNvPicPr>
            <a:picLocks noChangeAspect="1"/>
          </p:cNvPicPr>
          <p:nvPr/>
        </p:nvPicPr>
        <p:blipFill>
          <a:blip r:embed="rId6"/>
          <a:stretch>
            <a:fillRect/>
          </a:stretch>
        </p:blipFill>
        <p:spPr>
          <a:xfrm>
            <a:off x="5303520" y="1920240"/>
            <a:ext cx="4289578" cy="3017520"/>
          </a:xfrm>
          <a:prstGeom prst="rect">
            <a:avLst/>
          </a:prstGeom>
        </p:spPr>
      </p:pic>
      <p:sp>
        <p:nvSpPr>
          <p:cNvPr id="16" name="Text 8"/>
          <p:cNvSpPr/>
          <p:nvPr/>
        </p:nvSpPr>
        <p:spPr>
          <a:xfrm>
            <a:off x="5623560" y="2194560"/>
            <a:ext cx="3649498" cy="2560320"/>
          </a:xfrm>
          <a:prstGeom prst="rect">
            <a:avLst/>
          </a:prstGeom>
          <a:noFill/>
          <a:ln/>
        </p:spPr>
        <p:txBody>
          <a:bodyPr wrap="square" lIns="0" tIns="0" rIns="0" bIns="0" rtlCol="0" anchor="t"/>
          <a:lstStyle/>
          <a:p>
            <a:pPr indent="0" marL="0">
              <a:lnSpc>
                <a:spcPct val="104000"/>
              </a:lnSpc>
              <a:buNone/>
            </a:pPr>
            <a:r>
              <a:rPr lang="en-US" sz="1200" spc="100" kern="0" dirty="0">
                <a:solidFill>
                  <a:srgbClr val="DA291C"/>
                </a:solidFill>
                <a:latin typeface="Poppins SemiBold" pitchFamily="34" charset="0"/>
                <a:ea typeface="Poppins SemiBold" pitchFamily="34" charset="-122"/>
                <a:cs typeface="Poppins SemiBold" pitchFamily="34" charset="-120"/>
              </a:rPr>
              <a:t>DUA HAL YANG SERING KELIRU
</a:t>
            </a:r>
            <a:pPr indent="0" marL="0">
              <a:lnSpc>
                <a:spcPct val="104000"/>
              </a:lnSpc>
              <a:buNone/>
            </a:pPr>
            <a:r>
              <a:rPr lang="en-US" sz="1300" dirty="0">
                <a:solidFill>
                  <a:srgbClr val="160809"/>
                </a:solidFill>
                <a:latin typeface="Poppins ExtraBold" pitchFamily="34" charset="0"/>
                <a:ea typeface="Poppins ExtraBold" pitchFamily="34" charset="-122"/>
                <a:cs typeface="Poppins ExtraBold" pitchFamily="34" charset="-120"/>
              </a:rPr>
              <a:t>Ini bukan daftar solusi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Tujuannya mengidentifikasi ISU, bukan memutuskan tindakan. Keputusan tindakan datang saat menyusun strategi.
</a:t>
            </a:r>
            <a:pPr indent="0" marL="0">
              <a:lnSpc>
                <a:spcPct val="104000"/>
              </a:lnSpc>
              <a:buNone/>
            </a:pPr>
            <a:r>
              <a:rPr lang="en-US" sz="1300" dirty="0">
                <a:solidFill>
                  <a:srgbClr val="160809"/>
                </a:solidFill>
                <a:latin typeface="Poppins ExtraBold" pitchFamily="34" charset="0"/>
                <a:ea typeface="Poppins ExtraBold" pitchFamily="34" charset="-122"/>
                <a:cs typeface="Poppins ExtraBold" pitchFamily="34" charset="-120"/>
              </a:rPr>
              <a:t>Panjang daftar itu diagnosis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Isinya ringan: strategi sekarang cukup, tinggal disetel. Isinya berat: strategi baru jadi agenda nomor satu.</a:t>
            </a:r>
            <a:endParaRPr lang="en-US" sz="1200" dirty="0"/>
          </a:p>
        </p:txBody>
      </p:sp>
      <p:pic>
        <p:nvPicPr>
          <p:cNvPr id="17" name="Image 5" descr="opt/red_219.png">    </p:cNvPr>
          <p:cNvPicPr>
            <a:picLocks noChangeAspect="1"/>
          </p:cNvPicPr>
          <p:nvPr/>
        </p:nvPicPr>
        <p:blipFill>
          <a:blip r:embed="rId7"/>
          <a:stretch>
            <a:fillRect/>
          </a:stretch>
        </p:blipFill>
        <p:spPr>
          <a:xfrm>
            <a:off x="640080" y="5074920"/>
            <a:ext cx="10908792" cy="1155802"/>
          </a:xfrm>
          <a:prstGeom prst="rect">
            <a:avLst/>
          </a:prstGeom>
        </p:spPr>
      </p:pic>
      <p:sp>
        <p:nvSpPr>
          <p:cNvPr id="18" name="Text 9"/>
          <p:cNvSpPr/>
          <p:nvPr/>
        </p:nvSpPr>
        <p:spPr>
          <a:xfrm>
            <a:off x="1130976" y="5312664"/>
            <a:ext cx="9927001"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UJI AKHIR CHAPTER 4</a:t>
            </a:r>
            <a:endParaRPr lang="en-US" sz="1200" dirty="0"/>
          </a:p>
        </p:txBody>
      </p:sp>
      <p:sp>
        <p:nvSpPr>
          <p:cNvPr id="19" name="Text 10"/>
          <p:cNvSpPr/>
          <p:nvPr/>
        </p:nvSpPr>
        <p:spPr>
          <a:xfrm>
            <a:off x="1130976" y="5568696"/>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Strategi yang baik wajib memuat cara menangani SEMUA isu pada daftar prioritas itu. Di sinilah analisis berhenti dan penyusunan strategi dimulai.</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opt/red_219.png">    </p:cNvPr>
          <p:cNvPicPr>
            <a:picLocks noChangeAspect="1"/>
          </p:cNvPicPr>
          <p:nvPr/>
        </p:nvPicPr>
        <p:blipFill>
          <a:blip r:embed="rId2"/>
          <a:stretch>
            <a:fillRect/>
          </a:stretch>
        </p:blipFill>
        <p:spPr>
          <a:xfrm rot="-60000">
            <a:off x="-274320" y="3794760"/>
            <a:ext cx="8412480" cy="1371600"/>
          </a:xfrm>
          <a:prstGeom prst="rect">
            <a:avLst/>
          </a:prstGeom>
        </p:spPr>
      </p:pic>
      <p:sp>
        <p:nvSpPr>
          <p:cNvPr id="4" name="Text 0"/>
          <p:cNvSpPr/>
          <p:nvPr/>
        </p:nvSpPr>
        <p:spPr>
          <a:xfrm>
            <a:off x="640080" y="4005072"/>
            <a:ext cx="5486400" cy="274320"/>
          </a:xfrm>
          <a:prstGeom prst="rect">
            <a:avLst/>
          </a:prstGeom>
          <a:noFill/>
          <a:ln/>
        </p:spPr>
        <p:txBody>
          <a:bodyPr wrap="square" lIns="0" tIns="0" rIns="0" bIns="0" rtlCol="0" anchor="t"/>
          <a:lstStyle/>
          <a:p>
            <a:pPr indent="0" marL="0">
              <a:buNone/>
            </a:pPr>
            <a:r>
              <a:rPr lang="en-US" sz="1200" spc="200" kern="0" dirty="0">
                <a:solidFill>
                  <a:srgbClr val="FBE122"/>
                </a:solidFill>
                <a:latin typeface="Poppins SemiBold" pitchFamily="34" charset="0"/>
                <a:ea typeface="Poppins SemiBold" pitchFamily="34" charset="-122"/>
                <a:cs typeface="Poppins SemiBold" pitchFamily="34" charset="-120"/>
              </a:rPr>
              <a:t>BAGIAN B  ·  STUDI KASUS</a:t>
            </a:r>
            <a:endParaRPr lang="en-US" sz="1200" dirty="0"/>
          </a:p>
        </p:txBody>
      </p:sp>
      <p:sp>
        <p:nvSpPr>
          <p:cNvPr id="5" name="Text 1"/>
          <p:cNvSpPr/>
          <p:nvPr/>
        </p:nvSpPr>
        <p:spPr>
          <a:xfrm>
            <a:off x="640080" y="4251960"/>
            <a:ext cx="6949440" cy="594360"/>
          </a:xfrm>
          <a:prstGeom prst="rect">
            <a:avLst/>
          </a:prstGeom>
          <a:noFill/>
          <a:ln/>
        </p:spPr>
        <p:txBody>
          <a:bodyPr wrap="square" lIns="0" tIns="0" rIns="0" bIns="0" rtlCol="0" anchor="t"/>
          <a:lstStyle/>
          <a:p>
            <a:pPr indent="0" marL="0">
              <a:buNone/>
            </a:pPr>
            <a:r>
              <a:rPr lang="en-US" sz="3200" dirty="0">
                <a:solidFill>
                  <a:srgbClr val="FFFFFF"/>
                </a:solidFill>
                <a:latin typeface="Poppins ExtraBold" pitchFamily="34" charset="0"/>
                <a:ea typeface="Poppins ExtraBold" pitchFamily="34" charset="-122"/>
                <a:cs typeface="Poppins ExtraBold" pitchFamily="34" charset="-120"/>
              </a:rPr>
              <a:t>MANCHESTER UNITED</a:t>
            </a:r>
            <a:endParaRPr lang="en-US" sz="3200" dirty="0"/>
          </a:p>
        </p:txBody>
      </p:sp>
      <p:sp>
        <p:nvSpPr>
          <p:cNvPr id="6" name="Text 2"/>
          <p:cNvSpPr/>
          <p:nvPr/>
        </p:nvSpPr>
        <p:spPr>
          <a:xfrm>
            <a:off x="640080" y="4773168"/>
            <a:ext cx="6949440" cy="191567"/>
          </a:xfrm>
          <a:prstGeom prst="rect">
            <a:avLst/>
          </a:prstGeom>
          <a:noFill/>
          <a:ln/>
        </p:spPr>
        <p:txBody>
          <a:bodyPr wrap="square" lIns="0" tIns="0" rIns="0" bIns="0" rtlCol="0" anchor="t"/>
          <a:lstStyle/>
          <a:p>
            <a:pPr indent="0" marL="0">
              <a:buNone/>
            </a:pPr>
            <a:r>
              <a:rPr lang="en-US" sz="1250" dirty="0">
                <a:solidFill>
                  <a:srgbClr val="FFFFFF"/>
                </a:solidFill>
                <a:latin typeface="Poppins Medium" pitchFamily="34" charset="0"/>
                <a:ea typeface="Poppins Medium" pitchFamily="34" charset="-122"/>
                <a:cs typeface="Poppins Medium" pitchFamily="34" charset="-120"/>
              </a:rPr>
              <a:t>Preparing for Life without Ferguson</a:t>
            </a:r>
            <a:endParaRPr lang="en-US" sz="1250" dirty="0"/>
          </a:p>
        </p:txBody>
      </p:sp>
      <p:pic>
        <p:nvPicPr>
          <p:cNvPr id="7" name="Image 1" descr="opt/black_219.png">    </p:cNvPr>
          <p:cNvPicPr>
            <a:picLocks noChangeAspect="1"/>
          </p:cNvPicPr>
          <p:nvPr/>
        </p:nvPicPr>
        <p:blipFill>
          <a:blip r:embed="rId3"/>
          <a:stretch>
            <a:fillRect/>
          </a:stretch>
        </p:blipFill>
        <p:spPr>
          <a:xfrm>
            <a:off x="457200" y="320040"/>
            <a:ext cx="5852160" cy="868680"/>
          </a:xfrm>
          <a:prstGeom prst="rect">
            <a:avLst/>
          </a:prstGeom>
        </p:spPr>
      </p:pic>
      <p:sp>
        <p:nvSpPr>
          <p:cNvPr id="8" name="Text 3"/>
          <p:cNvSpPr/>
          <p:nvPr/>
        </p:nvSpPr>
        <p:spPr>
          <a:xfrm>
            <a:off x="777240" y="402199"/>
            <a:ext cx="5257800" cy="683514"/>
          </a:xfrm>
          <a:prstGeom prst="rect">
            <a:avLst/>
          </a:prstGeom>
          <a:noFill/>
          <a:ln/>
        </p:spPr>
        <p:txBody>
          <a:bodyPr wrap="square" lIns="0" tIns="0" rIns="0" bIns="0" rtlCol="0" anchor="ctr"/>
          <a:lstStyle/>
          <a:p>
            <a:pPr indent="0" marL="0">
              <a:lnSpc>
                <a:spcPct val="104000"/>
              </a:lnSpc>
              <a:buNone/>
            </a:pPr>
            <a:r>
              <a:rPr lang="en-US" sz="1200" dirty="0">
                <a:solidFill>
                  <a:srgbClr val="FFFFFF"/>
                </a:solidFill>
                <a:latin typeface="Poppins" pitchFamily="34" charset="0"/>
                <a:ea typeface="Poppins" pitchFamily="34" charset="-122"/>
                <a:cs typeface="Poppins" pitchFamily="34" charset="-120"/>
              </a:rPr>
              <a:t>Ditulis Robert M. Grant, dibantu Simon I. Peck, Christopher Carr dan Timothy Smith (2010). Kasus ini bukan dari buku Thompson; kami pakai kerangka Chapter 4 untuk membedahnya.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2766060" cy="402336"/>
          </a:xfrm>
          <a:prstGeom prst="rect">
            <a:avLst/>
          </a:prstGeom>
        </p:spPr>
      </p:pic>
      <p:sp>
        <p:nvSpPr>
          <p:cNvPr id="3" name="Text 0"/>
          <p:cNvSpPr/>
          <p:nvPr/>
        </p:nvSpPr>
        <p:spPr>
          <a:xfrm>
            <a:off x="868680" y="381963"/>
            <a:ext cx="2308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KASUS  ·  SITUASI</a:t>
            </a:r>
            <a:endParaRPr lang="en-US" sz="1200" dirty="0"/>
          </a:p>
        </p:txBody>
      </p:sp>
      <p:sp>
        <p:nvSpPr>
          <p:cNvPr id="4" name="Text 1"/>
          <p:cNvSpPr/>
          <p:nvPr/>
        </p:nvSpPr>
        <p:spPr>
          <a:xfrm>
            <a:off x="640080" y="859536"/>
            <a:ext cx="1060704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JULI 2009: KEPUTUSAN YANG DIHADAPI DAVID GILL</a:t>
            </a:r>
            <a:endParaRPr lang="en-US" sz="2400" dirty="0"/>
          </a:p>
        </p:txBody>
      </p:sp>
      <p:pic>
        <p:nvPicPr>
          <p:cNvPr id="5"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6" name="Text 2"/>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hlm. 573 dan 588.</a:t>
            </a:r>
            <a:endParaRPr lang="en-US" sz="1200" dirty="0"/>
          </a:p>
        </p:txBody>
      </p:sp>
      <p:sp>
        <p:nvSpPr>
          <p:cNvPr id="7" name="Text 3"/>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19</a:t>
            </a:r>
            <a:endParaRPr lang="en-US" sz="1200" dirty="0"/>
          </a:p>
        </p:txBody>
      </p:sp>
      <p:pic>
        <p:nvPicPr>
          <p:cNvPr id="9" name="Image 2" descr="opt/paper_43.png">    </p:cNvPr>
          <p:cNvPicPr>
            <a:picLocks noChangeAspect="1"/>
          </p:cNvPicPr>
          <p:nvPr/>
        </p:nvPicPr>
        <p:blipFill>
          <a:blip r:embed="rId4"/>
          <a:stretch>
            <a:fillRect/>
          </a:stretch>
        </p:blipFill>
        <p:spPr>
          <a:xfrm>
            <a:off x="640080" y="1417320"/>
            <a:ext cx="2560320" cy="2148840"/>
          </a:xfrm>
          <a:prstGeom prst="rect">
            <a:avLst/>
          </a:prstGeom>
        </p:spPr>
      </p:pic>
      <p:sp>
        <p:nvSpPr>
          <p:cNvPr id="10" name="Text 4"/>
          <p:cNvSpPr/>
          <p:nvPr/>
        </p:nvSpPr>
        <p:spPr>
          <a:xfrm>
            <a:off x="969264" y="1673352"/>
            <a:ext cx="1901952"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Waktu</a:t>
            </a:r>
            <a:endParaRPr lang="en-US" sz="1400" dirty="0"/>
          </a:p>
        </p:txBody>
      </p:sp>
      <p:sp>
        <p:nvSpPr>
          <p:cNvPr id="11" name="Text 5"/>
          <p:cNvSpPr/>
          <p:nvPr/>
        </p:nvSpPr>
        <p:spPr>
          <a:xfrm>
            <a:off x="969264" y="2002536"/>
            <a:ext cx="1901952" cy="138074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Juli 2009, tur pramusim ke Malaysia, Indonesia, Korea, dan China. Skuad pulang 28 Juli 2009.</a:t>
            </a:r>
            <a:endParaRPr lang="en-US" sz="1200" dirty="0"/>
          </a:p>
        </p:txBody>
      </p:sp>
      <p:pic>
        <p:nvPicPr>
          <p:cNvPr id="12" name="Image 3" descr="opt/paper_43.png">    </p:cNvPr>
          <p:cNvPicPr>
            <a:picLocks noChangeAspect="1"/>
          </p:cNvPicPr>
          <p:nvPr/>
        </p:nvPicPr>
        <p:blipFill>
          <a:blip r:embed="rId5"/>
          <a:stretch>
            <a:fillRect/>
          </a:stretch>
        </p:blipFill>
        <p:spPr>
          <a:xfrm>
            <a:off x="3337560" y="1417320"/>
            <a:ext cx="2560320" cy="2148840"/>
          </a:xfrm>
          <a:prstGeom prst="rect">
            <a:avLst/>
          </a:prstGeom>
        </p:spPr>
      </p:pic>
      <p:sp>
        <p:nvSpPr>
          <p:cNvPr id="13" name="Text 6"/>
          <p:cNvSpPr/>
          <p:nvPr/>
        </p:nvSpPr>
        <p:spPr>
          <a:xfrm>
            <a:off x="3666744" y="1673352"/>
            <a:ext cx="1901952" cy="274320"/>
          </a:xfrm>
          <a:prstGeom prst="rect">
            <a:avLst/>
          </a:prstGeom>
          <a:noFill/>
          <a:ln/>
        </p:spPr>
        <p:txBody>
          <a:bodyPr wrap="square" lIns="0" tIns="0" rIns="0" bIns="0" rtlCol="0" anchor="t"/>
          <a:lstStyle/>
          <a:p>
            <a:pPr indent="0" marL="0">
              <a:lnSpc>
                <a:spcPct val="95000"/>
              </a:lnSpc>
              <a:buNone/>
            </a:pPr>
            <a:r>
              <a:rPr lang="en-US" sz="1250" dirty="0">
                <a:solidFill>
                  <a:srgbClr val="160809"/>
                </a:solidFill>
                <a:latin typeface="Poppins ExtraBold" pitchFamily="34" charset="0"/>
                <a:ea typeface="Poppins ExtraBold" pitchFamily="34" charset="-122"/>
                <a:cs typeface="Poppins ExtraBold" pitchFamily="34" charset="-120"/>
              </a:rPr>
              <a:t>Pengambil keputusan</a:t>
            </a:r>
            <a:endParaRPr lang="en-US" sz="1250" dirty="0"/>
          </a:p>
        </p:txBody>
      </p:sp>
      <p:sp>
        <p:nvSpPr>
          <p:cNvPr id="14" name="Text 7"/>
          <p:cNvSpPr/>
          <p:nvPr/>
        </p:nvSpPr>
        <p:spPr>
          <a:xfrm>
            <a:off x="3666744" y="2002536"/>
            <a:ext cx="1901952" cy="138074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David Gill, Chief Executive Manchester United Football Club Limited.</a:t>
            </a:r>
            <a:endParaRPr lang="en-US" sz="1200" dirty="0"/>
          </a:p>
        </p:txBody>
      </p:sp>
      <p:pic>
        <p:nvPicPr>
          <p:cNvPr id="15" name="Image 4" descr="opt/paper_43.png">    </p:cNvPr>
          <p:cNvPicPr>
            <a:picLocks noChangeAspect="1"/>
          </p:cNvPicPr>
          <p:nvPr/>
        </p:nvPicPr>
        <p:blipFill>
          <a:blip r:embed="rId6"/>
          <a:stretch>
            <a:fillRect/>
          </a:stretch>
        </p:blipFill>
        <p:spPr>
          <a:xfrm>
            <a:off x="6035040" y="1417320"/>
            <a:ext cx="2560320" cy="2148840"/>
          </a:xfrm>
          <a:prstGeom prst="rect">
            <a:avLst/>
          </a:prstGeom>
        </p:spPr>
      </p:pic>
      <p:sp>
        <p:nvSpPr>
          <p:cNvPr id="16" name="Text 8"/>
          <p:cNvSpPr/>
          <p:nvPr/>
        </p:nvSpPr>
        <p:spPr>
          <a:xfrm>
            <a:off x="6364224" y="1673352"/>
            <a:ext cx="1901952"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Keputusan</a:t>
            </a:r>
            <a:endParaRPr lang="en-US" sz="1400" dirty="0"/>
          </a:p>
        </p:txBody>
      </p:sp>
      <p:sp>
        <p:nvSpPr>
          <p:cNvPr id="17" name="Text 9"/>
          <p:cNvSpPr/>
          <p:nvPr/>
        </p:nvSpPr>
        <p:spPr>
          <a:xfrm>
            <a:off x="6364224" y="2002536"/>
            <a:ext cx="1901952" cy="138074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Menyiapkan pengganti Ferguson, yang akhir 2009 berusia 68 tahun. Gill memperkirakan ia pensiun akhir musim 2009–10.</a:t>
            </a:r>
            <a:endParaRPr lang="en-US" sz="1200" dirty="0"/>
          </a:p>
        </p:txBody>
      </p:sp>
      <p:pic>
        <p:nvPicPr>
          <p:cNvPr id="18" name="Image 5" descr="c_land.jpg">    </p:cNvPr>
          <p:cNvPicPr>
            <a:picLocks noChangeAspect="1"/>
          </p:cNvPicPr>
          <p:nvPr/>
        </p:nvPicPr>
        <p:blipFill>
          <a:blip r:embed="rId7"/>
          <a:stretch>
            <a:fillRect/>
          </a:stretch>
        </p:blipFill>
        <p:spPr>
          <a:xfrm rot="120000">
            <a:off x="8778240" y="1371600"/>
            <a:ext cx="2788920" cy="1874520"/>
          </a:xfrm>
          <a:prstGeom prst="rect">
            <a:avLst/>
          </a:prstGeom>
        </p:spPr>
      </p:pic>
      <p:sp>
        <p:nvSpPr>
          <p:cNvPr id="19" name="Text 10"/>
          <p:cNvSpPr/>
          <p:nvPr/>
        </p:nvSpPr>
        <p:spPr>
          <a:xfrm>
            <a:off x="8778240" y="3319272"/>
            <a:ext cx="2788920" cy="274320"/>
          </a:xfrm>
          <a:prstGeom prst="rect">
            <a:avLst/>
          </a:prstGeom>
          <a:noFill/>
          <a:ln/>
        </p:spPr>
        <p:txBody>
          <a:bodyPr wrap="square" lIns="0" tIns="0" rIns="0" bIns="0" rtlCol="0" anchor="t"/>
          <a:lstStyle/>
          <a:p>
            <a:pPr indent="0" marL="0">
              <a:buNone/>
            </a:pPr>
            <a:r>
              <a:rPr lang="en-US" sz="1200" dirty="0">
                <a:solidFill>
                  <a:srgbClr val="B8A5A0"/>
                </a:solidFill>
                <a:latin typeface="Poppins" pitchFamily="34" charset="0"/>
                <a:ea typeface="Poppins" pitchFamily="34" charset="-122"/>
                <a:cs typeface="Poppins" pitchFamily="34" charset="-120"/>
              </a:rPr>
              <a:t>Old Trafford, Theatre of Dreams</a:t>
            </a:r>
            <a:endParaRPr lang="en-US" sz="1200" dirty="0"/>
          </a:p>
        </p:txBody>
      </p:sp>
      <p:pic>
        <p:nvPicPr>
          <p:cNvPr id="20" name="Image 6" descr="opt/paper_169.png">    </p:cNvPr>
          <p:cNvPicPr>
            <a:picLocks noChangeAspect="1"/>
          </p:cNvPicPr>
          <p:nvPr/>
        </p:nvPicPr>
        <p:blipFill>
          <a:blip r:embed="rId8"/>
          <a:stretch>
            <a:fillRect/>
          </a:stretch>
        </p:blipFill>
        <p:spPr>
          <a:xfrm>
            <a:off x="640080" y="3703320"/>
            <a:ext cx="10927080" cy="2560320"/>
          </a:xfrm>
          <a:prstGeom prst="rect">
            <a:avLst/>
          </a:prstGeom>
        </p:spPr>
      </p:pic>
      <p:sp>
        <p:nvSpPr>
          <p:cNvPr id="21" name="Text 11"/>
          <p:cNvSpPr/>
          <p:nvPr/>
        </p:nvSpPr>
        <p:spPr>
          <a:xfrm>
            <a:off x="1439769" y="3977640"/>
            <a:ext cx="5235351"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DILEMA INTI  ·  KASUS HLM. 588</a:t>
            </a:r>
            <a:endParaRPr lang="en-US" sz="1200" dirty="0"/>
          </a:p>
        </p:txBody>
      </p:sp>
      <p:sp>
        <p:nvSpPr>
          <p:cNvPr id="22" name="Text 12"/>
          <p:cNvSpPr/>
          <p:nvPr/>
        </p:nvSpPr>
        <p:spPr>
          <a:xfrm>
            <a:off x="1439769" y="4270248"/>
            <a:ext cx="4549551" cy="914400"/>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ExtraBold" pitchFamily="34" charset="0"/>
                <a:ea typeface="Poppins ExtraBold" pitchFamily="34" charset="-122"/>
                <a:cs typeface="Poppins ExtraBold" pitchFamily="34" charset="-120"/>
              </a:rPr>
              <a:t>Pilih orang dalam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(Queiroz, Phelan, Solskjær, McClair): sistem latihan, pemanduan bakat, dan pengembangan tim tetap jalan. Tapi cukup berwibawakah mereka di depan pemain bintang?</a:t>
            </a:r>
            <a:endParaRPr lang="en-US" sz="1200" dirty="0"/>
          </a:p>
        </p:txBody>
      </p:sp>
      <p:sp>
        <p:nvSpPr>
          <p:cNvPr id="23" name="Text 13"/>
          <p:cNvSpPr/>
          <p:nvPr/>
        </p:nvSpPr>
        <p:spPr>
          <a:xfrm>
            <a:off x="6263640" y="4270248"/>
            <a:ext cx="4602175" cy="914400"/>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ExtraBold" pitchFamily="34" charset="0"/>
                <a:ea typeface="Poppins ExtraBold" pitchFamily="34" charset="-122"/>
                <a:cs typeface="Poppins ExtraBold" pitchFamily="34" charset="-120"/>
              </a:rPr>
              <a:t>Pilih orang luar berwibawa </a:t>
            </a:r>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seperti Mourinho: "a revolutionary change in coaching strategy in which much of Ferguson's infrastructure would be taken down and rebuilt".</a:t>
            </a:r>
            <a:endParaRPr lang="en-US" sz="1200" dirty="0"/>
          </a:p>
        </p:txBody>
      </p:sp>
      <p:pic>
        <p:nvPicPr>
          <p:cNvPr id="24" name="Image 7" descr="opt/red_219.png">    </p:cNvPr>
          <p:cNvPicPr>
            <a:picLocks noChangeAspect="1"/>
          </p:cNvPicPr>
          <p:nvPr/>
        </p:nvPicPr>
        <p:blipFill>
          <a:blip r:embed="rId9"/>
          <a:stretch>
            <a:fillRect/>
          </a:stretch>
        </p:blipFill>
        <p:spPr>
          <a:xfrm>
            <a:off x="1051560" y="5440680"/>
            <a:ext cx="10104120" cy="502920"/>
          </a:xfrm>
          <a:prstGeom prst="rect">
            <a:avLst/>
          </a:prstGeom>
        </p:spPr>
      </p:pic>
      <p:sp>
        <p:nvSpPr>
          <p:cNvPr id="25" name="Text 14"/>
          <p:cNvSpPr/>
          <p:nvPr/>
        </p:nvSpPr>
        <p:spPr>
          <a:xfrm>
            <a:off x="1371600" y="5525948"/>
            <a:ext cx="9509760" cy="326349"/>
          </a:xfrm>
          <a:prstGeom prst="rect">
            <a:avLst/>
          </a:prstGeom>
          <a:noFill/>
          <a:ln/>
        </p:spPr>
        <p:txBody>
          <a:bodyPr wrap="square" lIns="0" tIns="0" rIns="0" bIns="0" rtlCol="0" anchor="ctr"/>
          <a:lstStyle/>
          <a:p>
            <a:pPr indent="0" marL="0">
              <a:buNone/>
            </a:pPr>
            <a:r>
              <a:rPr lang="en-US" sz="1200" dirty="0">
                <a:solidFill>
                  <a:srgbClr val="FFFFFF"/>
                </a:solidFill>
                <a:latin typeface="Poppins SemiBold" pitchFamily="34" charset="0"/>
                <a:ea typeface="Poppins SemiBold" pitchFamily="34" charset="-122"/>
                <a:cs typeface="Poppins SemiBold" pitchFamily="34" charset="-120"/>
              </a:rPr>
              <a:t>Pertanyaan Chapter 4 di baliknya: aset mana yang milik klub, dan aset mana yang milik satu orang?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1623060" cy="402336"/>
          </a:xfrm>
          <a:prstGeom prst="rect">
            <a:avLst/>
          </a:prstGeom>
        </p:spPr>
      </p:pic>
      <p:sp>
        <p:nvSpPr>
          <p:cNvPr id="3" name="Text 0"/>
          <p:cNvSpPr/>
          <p:nvPr/>
        </p:nvSpPr>
        <p:spPr>
          <a:xfrm>
            <a:off x="868680" y="381963"/>
            <a:ext cx="1165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KONTEKS</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SEPAKBOLA EROPA SEBAGAI INDUSTRI</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Q1 menuntut perbandingan dengan pesaing. Jadi kita perlu tahu dulu industrinya seperti apa.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Table 6.6 dan teks kasus.</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20</a:t>
            </a:r>
            <a:endParaRPr lang="en-US" sz="1200" dirty="0"/>
          </a:p>
        </p:txBody>
      </p:sp>
      <p:sp>
        <p:nvSpPr>
          <p:cNvPr id="10" name="Text 5"/>
          <p:cNvSpPr/>
          <p:nvPr/>
        </p:nvSpPr>
        <p:spPr>
          <a:xfrm>
            <a:off x="640080" y="1874520"/>
            <a:ext cx="3483864" cy="548640"/>
          </a:xfrm>
          <a:prstGeom prst="rect">
            <a:avLst/>
          </a:prstGeom>
          <a:noFill/>
          <a:ln/>
        </p:spPr>
        <p:txBody>
          <a:bodyPr wrap="square" lIns="0" tIns="0" rIns="0" bIns="0" rtlCol="0" anchor="t"/>
          <a:lstStyle/>
          <a:p>
            <a:pPr indent="0" marL="0">
              <a:buNone/>
            </a:pPr>
            <a:r>
              <a:rPr lang="en-US" sz="2600" dirty="0">
                <a:solidFill>
                  <a:srgbClr val="FFFFFF"/>
                </a:solidFill>
                <a:latin typeface="Poppins ExtraBold" pitchFamily="34" charset="0"/>
                <a:ea typeface="Poppins ExtraBold" pitchFamily="34" charset="-122"/>
                <a:cs typeface="Poppins ExtraBold" pitchFamily="34" charset="-120"/>
              </a:rPr>
              <a:t>€2,4 M</a:t>
            </a:r>
            <a:endParaRPr lang="en-US" sz="2600" dirty="0"/>
          </a:p>
        </p:txBody>
      </p:sp>
      <p:pic>
        <p:nvPicPr>
          <p:cNvPr id="11" name="Image 2" descr="opt/red_219.png">    </p:cNvPr>
          <p:cNvPicPr>
            <a:picLocks noChangeAspect="1"/>
          </p:cNvPicPr>
          <p:nvPr/>
        </p:nvPicPr>
        <p:blipFill>
          <a:blip r:embed="rId4"/>
          <a:stretch>
            <a:fillRect/>
          </a:stretch>
        </p:blipFill>
        <p:spPr>
          <a:xfrm>
            <a:off x="640080" y="2468880"/>
            <a:ext cx="1463040" cy="91440"/>
          </a:xfrm>
          <a:prstGeom prst="rect">
            <a:avLst/>
          </a:prstGeom>
        </p:spPr>
      </p:pic>
      <p:sp>
        <p:nvSpPr>
          <p:cNvPr id="12" name="Text 6"/>
          <p:cNvSpPr/>
          <p:nvPr/>
        </p:nvSpPr>
        <p:spPr>
          <a:xfrm>
            <a:off x="640080" y="2633472"/>
            <a:ext cx="3483864"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Pendapatan Premier League 2007–08</a:t>
            </a:r>
            <a:endParaRPr lang="en-US" sz="1200" dirty="0"/>
          </a:p>
        </p:txBody>
      </p:sp>
      <p:sp>
        <p:nvSpPr>
          <p:cNvPr id="13" name="Text 7"/>
          <p:cNvSpPr/>
          <p:nvPr/>
        </p:nvSpPr>
        <p:spPr>
          <a:xfrm>
            <a:off x="640080" y="2907792"/>
            <a:ext cx="3300984" cy="6400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Terbesar di Eropa. Serie A, La Liga, Bundesliga masing-masing sekitar €1,4 miliar.</a:t>
            </a:r>
            <a:endParaRPr lang="en-US" sz="1200" dirty="0"/>
          </a:p>
        </p:txBody>
      </p:sp>
      <p:sp>
        <p:nvSpPr>
          <p:cNvPr id="14" name="Text 8"/>
          <p:cNvSpPr/>
          <p:nvPr/>
        </p:nvSpPr>
        <p:spPr>
          <a:xfrm>
            <a:off x="4352544" y="1874520"/>
            <a:ext cx="3483864" cy="548640"/>
          </a:xfrm>
          <a:prstGeom prst="rect">
            <a:avLst/>
          </a:prstGeom>
          <a:noFill/>
          <a:ln/>
        </p:spPr>
        <p:txBody>
          <a:bodyPr wrap="square" lIns="0" tIns="0" rIns="0" bIns="0" rtlCol="0" anchor="t"/>
          <a:lstStyle/>
          <a:p>
            <a:pPr indent="0" marL="0">
              <a:buNone/>
            </a:pPr>
            <a:r>
              <a:rPr lang="en-US" sz="2600" dirty="0">
                <a:solidFill>
                  <a:srgbClr val="FFFFFF"/>
                </a:solidFill>
                <a:latin typeface="Poppins ExtraBold" pitchFamily="34" charset="0"/>
                <a:ea typeface="Poppins ExtraBold" pitchFamily="34" charset="-122"/>
                <a:cs typeface="Poppins ExtraBold" pitchFamily="34" charset="-120"/>
              </a:rPr>
              <a:t>62%</a:t>
            </a:r>
            <a:endParaRPr lang="en-US" sz="2600" dirty="0"/>
          </a:p>
        </p:txBody>
      </p:sp>
      <p:pic>
        <p:nvPicPr>
          <p:cNvPr id="15" name="Image 3" descr="opt/red_219.png">    </p:cNvPr>
          <p:cNvPicPr>
            <a:picLocks noChangeAspect="1"/>
          </p:cNvPicPr>
          <p:nvPr/>
        </p:nvPicPr>
        <p:blipFill>
          <a:blip r:embed="rId5"/>
          <a:stretch>
            <a:fillRect/>
          </a:stretch>
        </p:blipFill>
        <p:spPr>
          <a:xfrm>
            <a:off x="4352544" y="2468880"/>
            <a:ext cx="1463040" cy="91440"/>
          </a:xfrm>
          <a:prstGeom prst="rect">
            <a:avLst/>
          </a:prstGeom>
        </p:spPr>
      </p:pic>
      <p:sp>
        <p:nvSpPr>
          <p:cNvPr id="16" name="Text 9"/>
          <p:cNvSpPr/>
          <p:nvPr/>
        </p:nvSpPr>
        <p:spPr>
          <a:xfrm>
            <a:off x="4352544" y="2633472"/>
            <a:ext cx="3483864"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Porsi gaji terhadap pendapatan</a:t>
            </a:r>
            <a:endParaRPr lang="en-US" sz="1200" dirty="0"/>
          </a:p>
        </p:txBody>
      </p:sp>
      <p:sp>
        <p:nvSpPr>
          <p:cNvPr id="17" name="Text 10"/>
          <p:cNvSpPr/>
          <p:nvPr/>
        </p:nvSpPr>
        <p:spPr>
          <a:xfrm>
            <a:off x="4352544" y="2907792"/>
            <a:ext cx="3300984" cy="6400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Premier League. Serie A 68%, La Liga 63%. Gaji adalah pos biaya terbesar klub Eropa.</a:t>
            </a:r>
            <a:endParaRPr lang="en-US" sz="1200" dirty="0"/>
          </a:p>
        </p:txBody>
      </p:sp>
      <p:sp>
        <p:nvSpPr>
          <p:cNvPr id="18" name="Text 11"/>
          <p:cNvSpPr/>
          <p:nvPr/>
        </p:nvSpPr>
        <p:spPr>
          <a:xfrm>
            <a:off x="8065008" y="1874520"/>
            <a:ext cx="3483864" cy="548640"/>
          </a:xfrm>
          <a:prstGeom prst="rect">
            <a:avLst/>
          </a:prstGeom>
          <a:noFill/>
          <a:ln/>
        </p:spPr>
        <p:txBody>
          <a:bodyPr wrap="square" lIns="0" tIns="0" rIns="0" bIns="0" rtlCol="0" anchor="t"/>
          <a:lstStyle/>
          <a:p>
            <a:pPr indent="0" marL="0">
              <a:buNone/>
            </a:pPr>
            <a:r>
              <a:rPr lang="en-US" sz="2600" dirty="0">
                <a:solidFill>
                  <a:srgbClr val="FBE122"/>
                </a:solidFill>
                <a:latin typeface="Poppins ExtraBold" pitchFamily="34" charset="0"/>
                <a:ea typeface="Poppins ExtraBold" pitchFamily="34" charset="-122"/>
                <a:cs typeface="Poppins ExtraBold" pitchFamily="34" charset="-120"/>
              </a:rPr>
              <a:t>6 dari 10</a:t>
            </a:r>
            <a:endParaRPr lang="en-US" sz="2600" dirty="0"/>
          </a:p>
        </p:txBody>
      </p:sp>
      <p:pic>
        <p:nvPicPr>
          <p:cNvPr id="19" name="Image 4" descr="opt/red_219.png">    </p:cNvPr>
          <p:cNvPicPr>
            <a:picLocks noChangeAspect="1"/>
          </p:cNvPicPr>
          <p:nvPr/>
        </p:nvPicPr>
        <p:blipFill>
          <a:blip r:embed="rId6"/>
          <a:stretch>
            <a:fillRect/>
          </a:stretch>
        </p:blipFill>
        <p:spPr>
          <a:xfrm>
            <a:off x="8065008" y="2468880"/>
            <a:ext cx="1463040" cy="91440"/>
          </a:xfrm>
          <a:prstGeom prst="rect">
            <a:avLst/>
          </a:prstGeom>
        </p:spPr>
      </p:pic>
      <p:sp>
        <p:nvSpPr>
          <p:cNvPr id="20" name="Text 12"/>
          <p:cNvSpPr/>
          <p:nvPr/>
        </p:nvSpPr>
        <p:spPr>
          <a:xfrm>
            <a:off x="8065008" y="2633472"/>
            <a:ext cx="3483864"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Klub besar di Table 6.6 merugi</a:t>
            </a:r>
            <a:endParaRPr lang="en-US" sz="1200" dirty="0"/>
          </a:p>
        </p:txBody>
      </p:sp>
      <p:sp>
        <p:nvSpPr>
          <p:cNvPr id="21" name="Text 13"/>
          <p:cNvSpPr/>
          <p:nvPr/>
        </p:nvSpPr>
        <p:spPr>
          <a:xfrm>
            <a:off x="8065008" y="2907792"/>
            <a:ext cx="3300984" cy="6400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Selama 2000–2006. Industri ini tumbuh pesat, tapi sangat tidak menguntungkan.</a:t>
            </a:r>
            <a:endParaRPr lang="en-US" sz="1200" dirty="0"/>
          </a:p>
        </p:txBody>
      </p:sp>
      <p:pic>
        <p:nvPicPr>
          <p:cNvPr id="22" name="Image 5" descr="opt/paper_169.png">    </p:cNvPr>
          <p:cNvPicPr>
            <a:picLocks noChangeAspect="1"/>
          </p:cNvPicPr>
          <p:nvPr/>
        </p:nvPicPr>
        <p:blipFill>
          <a:blip r:embed="rId7"/>
          <a:stretch>
            <a:fillRect/>
          </a:stretch>
        </p:blipFill>
        <p:spPr>
          <a:xfrm>
            <a:off x="640080" y="3611880"/>
            <a:ext cx="5852160" cy="2651760"/>
          </a:xfrm>
          <a:prstGeom prst="rect">
            <a:avLst/>
          </a:prstGeom>
        </p:spPr>
      </p:pic>
      <p:sp>
        <p:nvSpPr>
          <p:cNvPr id="23" name="Text 14"/>
          <p:cNvSpPr/>
          <p:nvPr/>
        </p:nvSpPr>
        <p:spPr>
          <a:xfrm>
            <a:off x="1089599" y="3922776"/>
            <a:ext cx="5005791"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TIGA SUMBER PENDAPATAN  ·  PREMIER LEAGUE 2007–08</a:t>
            </a:r>
            <a:endParaRPr lang="en-US" sz="1200" dirty="0"/>
          </a:p>
        </p:txBody>
      </p:sp>
      <p:sp>
        <p:nvSpPr>
          <p:cNvPr id="24" name="Text 15"/>
          <p:cNvSpPr/>
          <p:nvPr/>
        </p:nvSpPr>
        <p:spPr>
          <a:xfrm>
            <a:off x="1089599" y="4233672"/>
            <a:ext cx="1333561"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Matchday</a:t>
            </a:r>
            <a:endParaRPr lang="en-US" sz="1200" dirty="0"/>
          </a:p>
        </p:txBody>
      </p:sp>
      <p:sp>
        <p:nvSpPr>
          <p:cNvPr id="25" name="Text 16"/>
          <p:cNvSpPr/>
          <p:nvPr/>
        </p:nvSpPr>
        <p:spPr>
          <a:xfrm>
            <a:off x="1089599" y="4507992"/>
            <a:ext cx="1333561" cy="274320"/>
          </a:xfrm>
          <a:prstGeom prst="rect">
            <a:avLst/>
          </a:prstGeom>
          <a:noFill/>
          <a:ln/>
        </p:spPr>
        <p:txBody>
          <a:bodyPr wrap="square" lIns="0" tIns="0" rIns="0" bIns="0" rtlCol="0" anchor="t"/>
          <a:lstStyle/>
          <a:p>
            <a:pPr indent="0" marL="0">
              <a:buNone/>
            </a:pPr>
            <a:r>
              <a:rPr lang="en-US" sz="1300" dirty="0">
                <a:solidFill>
                  <a:srgbClr val="DA291C"/>
                </a:solidFill>
                <a:latin typeface="Poppins ExtraBold" pitchFamily="34" charset="0"/>
                <a:ea typeface="Poppins ExtraBold" pitchFamily="34" charset="-122"/>
                <a:cs typeface="Poppins ExtraBold" pitchFamily="34" charset="-120"/>
              </a:rPr>
              <a:t>£554 jt</a:t>
            </a:r>
            <a:endParaRPr lang="en-US" sz="1300" dirty="0"/>
          </a:p>
        </p:txBody>
      </p:sp>
      <p:sp>
        <p:nvSpPr>
          <p:cNvPr id="26" name="Text 17"/>
          <p:cNvSpPr/>
          <p:nvPr/>
        </p:nvSpPr>
        <p:spPr>
          <a:xfrm>
            <a:off x="2468880" y="4233672"/>
            <a:ext cx="3626510" cy="5821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Tiket dan hospitality. Dibatasi kapasitas stadion, sebabnya klub besar membangun stadion baru.</a:t>
            </a:r>
            <a:endParaRPr lang="en-US" sz="1200" dirty="0"/>
          </a:p>
        </p:txBody>
      </p:sp>
      <p:sp>
        <p:nvSpPr>
          <p:cNvPr id="27" name="Text 18"/>
          <p:cNvSpPr/>
          <p:nvPr/>
        </p:nvSpPr>
        <p:spPr>
          <a:xfrm>
            <a:off x="1089599" y="4861560"/>
            <a:ext cx="1333561"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Broadcasting</a:t>
            </a:r>
            <a:endParaRPr lang="en-US" sz="1200" dirty="0"/>
          </a:p>
        </p:txBody>
      </p:sp>
      <p:sp>
        <p:nvSpPr>
          <p:cNvPr id="28" name="Text 19"/>
          <p:cNvSpPr/>
          <p:nvPr/>
        </p:nvSpPr>
        <p:spPr>
          <a:xfrm>
            <a:off x="1089599" y="5135880"/>
            <a:ext cx="1333561" cy="274320"/>
          </a:xfrm>
          <a:prstGeom prst="rect">
            <a:avLst/>
          </a:prstGeom>
          <a:noFill/>
          <a:ln/>
        </p:spPr>
        <p:txBody>
          <a:bodyPr wrap="square" lIns="0" tIns="0" rIns="0" bIns="0" rtlCol="0" anchor="t"/>
          <a:lstStyle/>
          <a:p>
            <a:pPr indent="0" marL="0">
              <a:buNone/>
            </a:pPr>
            <a:r>
              <a:rPr lang="en-US" sz="1300" dirty="0">
                <a:solidFill>
                  <a:srgbClr val="DA291C"/>
                </a:solidFill>
                <a:latin typeface="Poppins ExtraBold" pitchFamily="34" charset="0"/>
                <a:ea typeface="Poppins ExtraBold" pitchFamily="34" charset="-122"/>
                <a:cs typeface="Poppins ExtraBold" pitchFamily="34" charset="-120"/>
              </a:rPr>
              <a:t>£931 jt</a:t>
            </a:r>
            <a:endParaRPr lang="en-US" sz="1300" dirty="0"/>
          </a:p>
        </p:txBody>
      </p:sp>
      <p:sp>
        <p:nvSpPr>
          <p:cNvPr id="29" name="Text 20"/>
          <p:cNvSpPr/>
          <p:nvPr/>
        </p:nvSpPr>
        <p:spPr>
          <a:xfrm>
            <a:off x="2468880" y="4861560"/>
            <a:ext cx="3626510" cy="5821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Hak siar dinegosiasikan liga. Kontrak 2006 £2,7 miliar; tiap klub rata-rata £45 juta per tahun.</a:t>
            </a:r>
            <a:endParaRPr lang="en-US" sz="1200" dirty="0"/>
          </a:p>
        </p:txBody>
      </p:sp>
      <p:sp>
        <p:nvSpPr>
          <p:cNvPr id="30" name="Text 21"/>
          <p:cNvSpPr/>
          <p:nvPr/>
        </p:nvSpPr>
        <p:spPr>
          <a:xfrm>
            <a:off x="1089599" y="5489448"/>
            <a:ext cx="1333561" cy="274320"/>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Commercial</a:t>
            </a:r>
            <a:endParaRPr lang="en-US" sz="1200" dirty="0"/>
          </a:p>
        </p:txBody>
      </p:sp>
      <p:sp>
        <p:nvSpPr>
          <p:cNvPr id="31" name="Text 22"/>
          <p:cNvSpPr/>
          <p:nvPr/>
        </p:nvSpPr>
        <p:spPr>
          <a:xfrm>
            <a:off x="1089599" y="5763768"/>
            <a:ext cx="1333561" cy="274320"/>
          </a:xfrm>
          <a:prstGeom prst="rect">
            <a:avLst/>
          </a:prstGeom>
          <a:noFill/>
          <a:ln/>
        </p:spPr>
        <p:txBody>
          <a:bodyPr wrap="square" lIns="0" tIns="0" rIns="0" bIns="0" rtlCol="0" anchor="t"/>
          <a:lstStyle/>
          <a:p>
            <a:pPr indent="0" marL="0">
              <a:buNone/>
            </a:pPr>
            <a:r>
              <a:rPr lang="en-US" sz="1300" dirty="0">
                <a:solidFill>
                  <a:srgbClr val="DA291C"/>
                </a:solidFill>
                <a:latin typeface="Poppins ExtraBold" pitchFamily="34" charset="0"/>
                <a:ea typeface="Poppins ExtraBold" pitchFamily="34" charset="-122"/>
                <a:cs typeface="Poppins ExtraBold" pitchFamily="34" charset="-120"/>
              </a:rPr>
              <a:t>£447 jt</a:t>
            </a:r>
            <a:endParaRPr lang="en-US" sz="1300" dirty="0"/>
          </a:p>
        </p:txBody>
      </p:sp>
      <p:sp>
        <p:nvSpPr>
          <p:cNvPr id="32" name="Text 23"/>
          <p:cNvSpPr/>
          <p:nvPr/>
        </p:nvSpPr>
        <p:spPr>
          <a:xfrm>
            <a:off x="2468880" y="5489448"/>
            <a:ext cx="3626510" cy="5821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Sponsor, merchandise, iklan. Terpusat di sedikit klub: Real Madrid dan Barcelona 60% sponsor La Liga.</a:t>
            </a:r>
            <a:endParaRPr lang="en-US" sz="1200" dirty="0"/>
          </a:p>
        </p:txBody>
      </p:sp>
      <p:pic>
        <p:nvPicPr>
          <p:cNvPr id="33" name="Image 6" descr="opt/paper_169.png">    </p:cNvPr>
          <p:cNvPicPr>
            <a:picLocks noChangeAspect="1"/>
          </p:cNvPicPr>
          <p:nvPr/>
        </p:nvPicPr>
        <p:blipFill>
          <a:blip r:embed="rId8"/>
          <a:stretch>
            <a:fillRect/>
          </a:stretch>
        </p:blipFill>
        <p:spPr>
          <a:xfrm>
            <a:off x="6766560" y="3611880"/>
            <a:ext cx="4782312" cy="2651760"/>
          </a:xfrm>
          <a:prstGeom prst="rect">
            <a:avLst/>
          </a:prstGeom>
        </p:spPr>
      </p:pic>
      <p:sp>
        <p:nvSpPr>
          <p:cNvPr id="34" name="Text 24"/>
          <p:cNvSpPr/>
          <p:nvPr/>
        </p:nvSpPr>
        <p:spPr>
          <a:xfrm>
            <a:off x="7142260" y="3922776"/>
            <a:ext cx="4073954"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ATURAN MAIN DAN LOGIKA EKONOMINYA</a:t>
            </a:r>
            <a:endParaRPr lang="en-US" sz="1200" dirty="0"/>
          </a:p>
        </p:txBody>
      </p:sp>
      <p:sp>
        <p:nvSpPr>
          <p:cNvPr id="35" name="Text 25"/>
          <p:cNvSpPr/>
          <p:nvPr/>
        </p:nvSpPr>
        <p:spPr>
          <a:xfrm>
            <a:off x="7142260" y="4233672"/>
            <a:ext cx="407395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Struktur kompetisi</a:t>
            </a:r>
            <a:endParaRPr lang="en-US" sz="1200" dirty="0"/>
          </a:p>
        </p:txBody>
      </p:sp>
      <p:sp>
        <p:nvSpPr>
          <p:cNvPr id="36" name="Text 26"/>
          <p:cNvSpPr/>
          <p:nvPr/>
        </p:nvSpPr>
        <p:spPr>
          <a:xfrm>
            <a:off x="7142260" y="4480560"/>
            <a:ext cx="4073954" cy="3535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Tiga terbawah turun kasta; empat teratas lolos Champions League (32 klub terbaik Eropa).</a:t>
            </a:r>
            <a:endParaRPr lang="en-US" sz="1200" dirty="0"/>
          </a:p>
        </p:txBody>
      </p:sp>
      <p:sp>
        <p:nvSpPr>
          <p:cNvPr id="37" name="Text 27"/>
          <p:cNvSpPr/>
          <p:nvPr/>
        </p:nvSpPr>
        <p:spPr>
          <a:xfrm>
            <a:off x="7142260" y="4861560"/>
            <a:ext cx="407395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Yang kaya makin kaya</a:t>
            </a:r>
            <a:endParaRPr lang="en-US" sz="1200" dirty="0"/>
          </a:p>
        </p:txBody>
      </p:sp>
      <p:sp>
        <p:nvSpPr>
          <p:cNvPr id="38" name="Text 28"/>
          <p:cNvSpPr/>
          <p:nvPr/>
        </p:nvSpPr>
        <p:spPr>
          <a:xfrm>
            <a:off x="7142260" y="5108448"/>
            <a:ext cx="4073954" cy="3535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Sejak UCL 1992, muncul jurang keuangan antara MU, Chelsea, Liverpool, Arsenal dan sisanya.</a:t>
            </a:r>
            <a:endParaRPr lang="en-US" sz="1200" dirty="0"/>
          </a:p>
        </p:txBody>
      </p:sp>
      <p:sp>
        <p:nvSpPr>
          <p:cNvPr id="39" name="Text 29"/>
          <p:cNvSpPr/>
          <p:nvPr/>
        </p:nvSpPr>
        <p:spPr>
          <a:xfrm>
            <a:off x="7142260" y="5489448"/>
            <a:ext cx="407395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Harga pemain meledak</a:t>
            </a:r>
            <a:endParaRPr lang="en-US" sz="1200" dirty="0"/>
          </a:p>
        </p:txBody>
      </p:sp>
      <p:sp>
        <p:nvSpPr>
          <p:cNvPr id="40" name="Text 30"/>
          <p:cNvSpPr/>
          <p:nvPr/>
        </p:nvSpPr>
        <p:spPr>
          <a:xfrm>
            <a:off x="7142260" y="5736336"/>
            <a:ext cx="4073954" cy="353568"/>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Rekor transfer baru musim panas 2009 meski resesi: Real Madrid, Chelsea, Manchester City.</a:t>
            </a:r>
            <a:endParaRPr lang="en-US" sz="1200" dirty="0"/>
          </a:p>
        </p:txBody>
      </p:sp>
      <p:pic>
        <p:nvPicPr>
          <p:cNvPr id="41" name="Image 7" descr="opt/st_flare_crowd.png">    </p:cNvPr>
          <p:cNvPicPr>
            <a:picLocks noChangeAspect="1"/>
          </p:cNvPicPr>
          <p:nvPr/>
        </p:nvPicPr>
        <p:blipFill>
          <a:blip r:embed="rId9"/>
          <a:stretch>
            <a:fillRect/>
          </a:stretch>
        </p:blipFill>
        <p:spPr>
          <a:xfrm rot="-420000">
            <a:off x="9677095" y="182880"/>
            <a:ext cx="2011680" cy="14779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1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DI LAPANGAN: JELAS DI ATAS RATA-RATA</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Indikator kedua Thompson, apakah posisi dan kekuatan bersaingnya membaik, dijawab data kompetisi kasus.</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Table 6.1, 6.2 dan 6.7.</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21</a:t>
            </a:r>
            <a:endParaRPr lang="en-US" sz="1200" dirty="0"/>
          </a:p>
        </p:txBody>
      </p:sp>
      <p:sp>
        <p:nvSpPr>
          <p:cNvPr id="10" name="Text 5"/>
          <p:cNvSpPr/>
          <p:nvPr/>
        </p:nvSpPr>
        <p:spPr>
          <a:xfrm>
            <a:off x="640080" y="1874520"/>
            <a:ext cx="3931920" cy="548640"/>
          </a:xfrm>
          <a:prstGeom prst="rect">
            <a:avLst/>
          </a:prstGeom>
          <a:noFill/>
          <a:ln/>
        </p:spPr>
        <p:txBody>
          <a:bodyPr wrap="square" lIns="0" tIns="0" rIns="0" bIns="0" rtlCol="0" anchor="t"/>
          <a:lstStyle/>
          <a:p>
            <a:pPr indent="0" marL="0">
              <a:buNone/>
            </a:pPr>
            <a:r>
              <a:rPr lang="en-US" sz="2600" dirty="0">
                <a:solidFill>
                  <a:srgbClr val="FFFFFF"/>
                </a:solidFill>
                <a:latin typeface="Poppins ExtraBold" pitchFamily="34" charset="0"/>
                <a:ea typeface="Poppins ExtraBold" pitchFamily="34" charset="-122"/>
                <a:cs typeface="Poppins ExtraBold" pitchFamily="34" charset="-120"/>
              </a:rPr>
              <a:t>1.460</a:t>
            </a:r>
            <a:endParaRPr lang="en-US" sz="2600" dirty="0"/>
          </a:p>
        </p:txBody>
      </p:sp>
      <p:pic>
        <p:nvPicPr>
          <p:cNvPr id="11" name="Image 2" descr="opt/red_219.png">    </p:cNvPr>
          <p:cNvPicPr>
            <a:picLocks noChangeAspect="1"/>
          </p:cNvPicPr>
          <p:nvPr/>
        </p:nvPicPr>
        <p:blipFill>
          <a:blip r:embed="rId4"/>
          <a:stretch>
            <a:fillRect/>
          </a:stretch>
        </p:blipFill>
        <p:spPr>
          <a:xfrm>
            <a:off x="640080" y="2468880"/>
            <a:ext cx="1280160" cy="91440"/>
          </a:xfrm>
          <a:prstGeom prst="rect">
            <a:avLst/>
          </a:prstGeom>
        </p:spPr>
      </p:pic>
      <p:sp>
        <p:nvSpPr>
          <p:cNvPr id="12" name="Text 6"/>
          <p:cNvSpPr/>
          <p:nvPr/>
        </p:nvSpPr>
        <p:spPr>
          <a:xfrm>
            <a:off x="640080" y="2615184"/>
            <a:ext cx="3931920"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Poin Eropa 2000–2009, tertinggi  ·  Table 6.2</a:t>
            </a:r>
            <a:endParaRPr lang="en-US" sz="1200" dirty="0"/>
          </a:p>
        </p:txBody>
      </p:sp>
      <p:sp>
        <p:nvSpPr>
          <p:cNvPr id="13" name="Text 7"/>
          <p:cNvSpPr/>
          <p:nvPr/>
        </p:nvSpPr>
        <p:spPr>
          <a:xfrm>
            <a:off x="640080" y="2871216"/>
            <a:ext cx="3931920" cy="4114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Barcelona 1.411 · Real Madrid 1.314 · Arsenal 1.310</a:t>
            </a:r>
            <a:endParaRPr lang="en-US" sz="1200" dirty="0"/>
          </a:p>
        </p:txBody>
      </p:sp>
      <p:sp>
        <p:nvSpPr>
          <p:cNvPr id="14" name="Text 8"/>
          <p:cNvSpPr/>
          <p:nvPr/>
        </p:nvSpPr>
        <p:spPr>
          <a:xfrm>
            <a:off x="640080" y="3291840"/>
            <a:ext cx="3931920" cy="548640"/>
          </a:xfrm>
          <a:prstGeom prst="rect">
            <a:avLst/>
          </a:prstGeom>
          <a:noFill/>
          <a:ln/>
        </p:spPr>
        <p:txBody>
          <a:bodyPr wrap="square" lIns="0" tIns="0" rIns="0" bIns="0" rtlCol="0" anchor="t"/>
          <a:lstStyle/>
          <a:p>
            <a:pPr indent="0" marL="0">
              <a:buNone/>
            </a:pPr>
            <a:r>
              <a:rPr lang="en-US" sz="2600" dirty="0">
                <a:solidFill>
                  <a:srgbClr val="FFFFFF"/>
                </a:solidFill>
                <a:latin typeface="Poppins ExtraBold" pitchFamily="34" charset="0"/>
                <a:ea typeface="Poppins ExtraBold" pitchFamily="34" charset="-122"/>
                <a:cs typeface="Poppins ExtraBold" pitchFamily="34" charset="-120"/>
              </a:rPr>
              <a:t>3</a:t>
            </a:r>
            <a:endParaRPr lang="en-US" sz="2600" dirty="0"/>
          </a:p>
        </p:txBody>
      </p:sp>
      <p:pic>
        <p:nvPicPr>
          <p:cNvPr id="15" name="Image 3" descr="opt/red_219.png">    </p:cNvPr>
          <p:cNvPicPr>
            <a:picLocks noChangeAspect="1"/>
          </p:cNvPicPr>
          <p:nvPr/>
        </p:nvPicPr>
        <p:blipFill>
          <a:blip r:embed="rId5"/>
          <a:stretch>
            <a:fillRect/>
          </a:stretch>
        </p:blipFill>
        <p:spPr>
          <a:xfrm>
            <a:off x="640080" y="3886200"/>
            <a:ext cx="1280160" cy="91440"/>
          </a:xfrm>
          <a:prstGeom prst="rect">
            <a:avLst/>
          </a:prstGeom>
        </p:spPr>
      </p:pic>
      <p:sp>
        <p:nvSpPr>
          <p:cNvPr id="16" name="Text 9"/>
          <p:cNvSpPr/>
          <p:nvPr/>
        </p:nvSpPr>
        <p:spPr>
          <a:xfrm>
            <a:off x="640080" y="4032504"/>
            <a:ext cx="3931920"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Gelar liga beruntun 2007–2009  ·  Table 6.1</a:t>
            </a:r>
            <a:endParaRPr lang="en-US" sz="1200" dirty="0"/>
          </a:p>
        </p:txBody>
      </p:sp>
      <p:sp>
        <p:nvSpPr>
          <p:cNvPr id="17" name="Text 10"/>
          <p:cNvSpPr/>
          <p:nvPr/>
        </p:nvSpPr>
        <p:spPr>
          <a:xfrm>
            <a:off x="640080" y="4288536"/>
            <a:ext cx="3931920" cy="4114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Total 11 gelar liga sejak 1993 dalam rentang kasus</a:t>
            </a:r>
            <a:endParaRPr lang="en-US" sz="1200" dirty="0"/>
          </a:p>
        </p:txBody>
      </p:sp>
      <p:sp>
        <p:nvSpPr>
          <p:cNvPr id="18" name="Text 11"/>
          <p:cNvSpPr/>
          <p:nvPr/>
        </p:nvSpPr>
        <p:spPr>
          <a:xfrm>
            <a:off x="640080" y="4709160"/>
            <a:ext cx="3931920" cy="548640"/>
          </a:xfrm>
          <a:prstGeom prst="rect">
            <a:avLst/>
          </a:prstGeom>
          <a:noFill/>
          <a:ln/>
        </p:spPr>
        <p:txBody>
          <a:bodyPr wrap="square" lIns="0" tIns="0" rIns="0" bIns="0" rtlCol="0" anchor="t"/>
          <a:lstStyle/>
          <a:p>
            <a:pPr indent="0" marL="0">
              <a:buNone/>
            </a:pPr>
            <a:r>
              <a:rPr lang="en-US" sz="2600" dirty="0">
                <a:solidFill>
                  <a:srgbClr val="FFFFFF"/>
                </a:solidFill>
                <a:latin typeface="Poppins ExtraBold" pitchFamily="34" charset="0"/>
                <a:ea typeface="Poppins ExtraBold" pitchFamily="34" charset="-122"/>
                <a:cs typeface="Poppins ExtraBold" pitchFamily="34" charset="-120"/>
              </a:rPr>
              <a:t>2008</a:t>
            </a:r>
            <a:endParaRPr lang="en-US" sz="2600" dirty="0"/>
          </a:p>
        </p:txBody>
      </p:sp>
      <p:pic>
        <p:nvPicPr>
          <p:cNvPr id="19" name="Image 4" descr="opt/red_219.png">    </p:cNvPr>
          <p:cNvPicPr>
            <a:picLocks noChangeAspect="1"/>
          </p:cNvPicPr>
          <p:nvPr/>
        </p:nvPicPr>
        <p:blipFill>
          <a:blip r:embed="rId6"/>
          <a:stretch>
            <a:fillRect/>
          </a:stretch>
        </p:blipFill>
        <p:spPr>
          <a:xfrm>
            <a:off x="640080" y="5303520"/>
            <a:ext cx="1280160" cy="91440"/>
          </a:xfrm>
          <a:prstGeom prst="rect">
            <a:avLst/>
          </a:prstGeom>
        </p:spPr>
      </p:pic>
      <p:sp>
        <p:nvSpPr>
          <p:cNvPr id="20" name="Text 12"/>
          <p:cNvSpPr/>
          <p:nvPr/>
        </p:nvSpPr>
        <p:spPr>
          <a:xfrm>
            <a:off x="640080" y="5449824"/>
            <a:ext cx="3931920" cy="274320"/>
          </a:xfrm>
          <a:prstGeom prst="rect">
            <a:avLst/>
          </a:prstGeom>
          <a:noFill/>
          <a:ln/>
        </p:spPr>
        <p:txBody>
          <a:bodyPr wrap="square" lIns="0" tIns="0" rIns="0" bIns="0" rtlCol="0" anchor="t"/>
          <a:lstStyle/>
          <a:p>
            <a:pPr indent="0" marL="0">
              <a:buNone/>
            </a:pPr>
            <a:r>
              <a:rPr lang="en-US" sz="1200" dirty="0">
                <a:solidFill>
                  <a:srgbClr val="FBE122"/>
                </a:solidFill>
                <a:latin typeface="Poppins SemiBold" pitchFamily="34" charset="0"/>
                <a:ea typeface="Poppins SemiBold" pitchFamily="34" charset="-122"/>
                <a:cs typeface="Poppins SemiBold" pitchFamily="34" charset="-120"/>
              </a:rPr>
              <a:t>Liga Champions kedua era Ferguson  ·  hlm. 584</a:t>
            </a:r>
            <a:endParaRPr lang="en-US" sz="1200" dirty="0"/>
          </a:p>
        </p:txBody>
      </p:sp>
      <p:sp>
        <p:nvSpPr>
          <p:cNvPr id="21" name="Text 13"/>
          <p:cNvSpPr/>
          <p:nvPr/>
        </p:nvSpPr>
        <p:spPr>
          <a:xfrm>
            <a:off x="640080" y="5705856"/>
            <a:ext cx="3931920" cy="411480"/>
          </a:xfrm>
          <a:prstGeom prst="rect">
            <a:avLst/>
          </a:prstGeom>
          <a:noFill/>
          <a:ln/>
        </p:spPr>
        <p:txBody>
          <a:bodyPr wrap="square" lIns="0" tIns="0" rIns="0" bIns="0" rtlCol="0" anchor="t"/>
          <a:lstStyle/>
          <a:p>
            <a:pPr indent="0" marL="0">
              <a:lnSpc>
                <a:spcPct val="102000"/>
              </a:lnSpc>
              <a:buNone/>
            </a:pPr>
            <a:r>
              <a:rPr lang="en-US" sz="1200" dirty="0">
                <a:solidFill>
                  <a:srgbClr val="E9DDD8"/>
                </a:solidFill>
                <a:latin typeface="Poppins" pitchFamily="34" charset="0"/>
                <a:ea typeface="Poppins" pitchFamily="34" charset="-122"/>
                <a:cs typeface="Poppins" pitchFamily="34" charset="-120"/>
              </a:rPr>
              <a:t>Yang pertama 1999, bersama gelar liga dan FA Cup</a:t>
            </a:r>
            <a:endParaRPr lang="en-US" sz="1200" dirty="0"/>
          </a:p>
        </p:txBody>
      </p:sp>
      <p:pic>
        <p:nvPicPr>
          <p:cNvPr id="22" name="Image 5" descr="opt/paper_32.png">    </p:cNvPr>
          <p:cNvPicPr>
            <a:picLocks noChangeAspect="1"/>
          </p:cNvPicPr>
          <p:nvPr/>
        </p:nvPicPr>
        <p:blipFill>
          <a:blip r:embed="rId7"/>
          <a:stretch>
            <a:fillRect/>
          </a:stretch>
        </p:blipFill>
        <p:spPr>
          <a:xfrm>
            <a:off x="4846320" y="1874520"/>
            <a:ext cx="6720840" cy="4297680"/>
          </a:xfrm>
          <a:prstGeom prst="rect">
            <a:avLst/>
          </a:prstGeom>
        </p:spPr>
      </p:pic>
      <p:sp>
        <p:nvSpPr>
          <p:cNvPr id="23" name="Text 14"/>
          <p:cNvSpPr/>
          <p:nvPr/>
        </p:nvSpPr>
        <p:spPr>
          <a:xfrm>
            <a:off x="5362499" y="2286000"/>
            <a:ext cx="5838901"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POIN PERFORMA EROPA 2000–09  ·  TABLE 6.2</a:t>
            </a:r>
            <a:endParaRPr lang="en-US" sz="1200" dirty="0"/>
          </a:p>
        </p:txBody>
      </p:sp>
      <p:sp>
        <p:nvSpPr>
          <p:cNvPr id="24" name="Text 15"/>
          <p:cNvSpPr/>
          <p:nvPr/>
        </p:nvSpPr>
        <p:spPr>
          <a:xfrm>
            <a:off x="5362499" y="264619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ExtraBold" pitchFamily="34" charset="0"/>
                <a:ea typeface="Poppins ExtraBold" pitchFamily="34" charset="-122"/>
                <a:cs typeface="Poppins ExtraBold" pitchFamily="34" charset="-120"/>
              </a:rPr>
              <a:t>Man United</a:t>
            </a:r>
            <a:endParaRPr lang="en-US" sz="1200" dirty="0"/>
          </a:p>
        </p:txBody>
      </p:sp>
      <p:sp>
        <p:nvSpPr>
          <p:cNvPr id="25" name="Shape 16"/>
          <p:cNvSpPr/>
          <p:nvPr/>
        </p:nvSpPr>
        <p:spPr>
          <a:xfrm>
            <a:off x="6766560" y="2682773"/>
            <a:ext cx="3611880" cy="250393"/>
          </a:xfrm>
          <a:prstGeom prst="rect">
            <a:avLst/>
          </a:prstGeom>
          <a:solidFill>
            <a:srgbClr val="DA291C"/>
          </a:solidFill>
          <a:ln w="12700">
            <a:solidFill>
              <a:srgbClr val="DA291C"/>
            </a:solidFill>
            <a:prstDash val="solid"/>
          </a:ln>
        </p:spPr>
      </p:sp>
      <p:sp>
        <p:nvSpPr>
          <p:cNvPr id="26" name="Text 17"/>
          <p:cNvSpPr/>
          <p:nvPr/>
        </p:nvSpPr>
        <p:spPr>
          <a:xfrm>
            <a:off x="10451592" y="2646197"/>
            <a:ext cx="731520" cy="323545"/>
          </a:xfrm>
          <a:prstGeom prst="rect">
            <a:avLst/>
          </a:prstGeom>
          <a:noFill/>
          <a:ln/>
        </p:spPr>
        <p:txBody>
          <a:bodyPr wrap="square" lIns="0" tIns="0" rIns="0" bIns="0" rtlCol="0" anchor="ctr"/>
          <a:lstStyle/>
          <a:p>
            <a:pPr indent="0" marL="0">
              <a:buNone/>
            </a:pPr>
            <a:r>
              <a:rPr lang="en-US" sz="1200" dirty="0">
                <a:solidFill>
                  <a:srgbClr val="DA291C"/>
                </a:solidFill>
                <a:latin typeface="Poppins SemiBold" pitchFamily="34" charset="0"/>
                <a:ea typeface="Poppins SemiBold" pitchFamily="34" charset="-122"/>
                <a:cs typeface="Poppins SemiBold" pitchFamily="34" charset="-120"/>
              </a:rPr>
              <a:t>1.460</a:t>
            </a:r>
            <a:endParaRPr lang="en-US" sz="1200" dirty="0"/>
          </a:p>
        </p:txBody>
      </p:sp>
      <p:sp>
        <p:nvSpPr>
          <p:cNvPr id="27" name="Text 18"/>
          <p:cNvSpPr/>
          <p:nvPr/>
        </p:nvSpPr>
        <p:spPr>
          <a:xfrm>
            <a:off x="5362499" y="305005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Barcelona</a:t>
            </a:r>
            <a:endParaRPr lang="en-US" sz="1200" dirty="0"/>
          </a:p>
        </p:txBody>
      </p:sp>
      <p:sp>
        <p:nvSpPr>
          <p:cNvPr id="28" name="Shape 19"/>
          <p:cNvSpPr/>
          <p:nvPr/>
        </p:nvSpPr>
        <p:spPr>
          <a:xfrm>
            <a:off x="6766560" y="3086633"/>
            <a:ext cx="3490659" cy="250393"/>
          </a:xfrm>
          <a:prstGeom prst="rect">
            <a:avLst/>
          </a:prstGeom>
          <a:solidFill>
            <a:srgbClr val="4A2E2A"/>
          </a:solidFill>
          <a:ln w="12700">
            <a:solidFill>
              <a:srgbClr val="4A2E2A"/>
            </a:solidFill>
            <a:prstDash val="solid"/>
          </a:ln>
        </p:spPr>
      </p:sp>
      <p:sp>
        <p:nvSpPr>
          <p:cNvPr id="29" name="Text 20"/>
          <p:cNvSpPr/>
          <p:nvPr/>
        </p:nvSpPr>
        <p:spPr>
          <a:xfrm>
            <a:off x="10330371" y="3050057"/>
            <a:ext cx="731520" cy="32354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1.411</a:t>
            </a:r>
            <a:endParaRPr lang="en-US" sz="1200" dirty="0"/>
          </a:p>
        </p:txBody>
      </p:sp>
      <p:sp>
        <p:nvSpPr>
          <p:cNvPr id="30" name="Text 21"/>
          <p:cNvSpPr/>
          <p:nvPr/>
        </p:nvSpPr>
        <p:spPr>
          <a:xfrm>
            <a:off x="5362499" y="345391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Real Madrid</a:t>
            </a:r>
            <a:endParaRPr lang="en-US" sz="1200" dirty="0"/>
          </a:p>
        </p:txBody>
      </p:sp>
      <p:sp>
        <p:nvSpPr>
          <p:cNvPr id="31" name="Shape 22"/>
          <p:cNvSpPr/>
          <p:nvPr/>
        </p:nvSpPr>
        <p:spPr>
          <a:xfrm>
            <a:off x="6766560" y="3490493"/>
            <a:ext cx="3250692" cy="250393"/>
          </a:xfrm>
          <a:prstGeom prst="rect">
            <a:avLst/>
          </a:prstGeom>
          <a:solidFill>
            <a:srgbClr val="4A2E2A"/>
          </a:solidFill>
          <a:ln w="12700">
            <a:solidFill>
              <a:srgbClr val="4A2E2A"/>
            </a:solidFill>
            <a:prstDash val="solid"/>
          </a:ln>
        </p:spPr>
      </p:sp>
      <p:sp>
        <p:nvSpPr>
          <p:cNvPr id="32" name="Text 23"/>
          <p:cNvSpPr/>
          <p:nvPr/>
        </p:nvSpPr>
        <p:spPr>
          <a:xfrm>
            <a:off x="10090404" y="3453917"/>
            <a:ext cx="731520" cy="32354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1.314</a:t>
            </a:r>
            <a:endParaRPr lang="en-US" sz="1200" dirty="0"/>
          </a:p>
        </p:txBody>
      </p:sp>
      <p:sp>
        <p:nvSpPr>
          <p:cNvPr id="33" name="Text 24"/>
          <p:cNvSpPr/>
          <p:nvPr/>
        </p:nvSpPr>
        <p:spPr>
          <a:xfrm>
            <a:off x="5362499" y="385777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Bayern</a:t>
            </a:r>
            <a:endParaRPr lang="en-US" sz="1200" dirty="0"/>
          </a:p>
        </p:txBody>
      </p:sp>
      <p:sp>
        <p:nvSpPr>
          <p:cNvPr id="34" name="Shape 25"/>
          <p:cNvSpPr/>
          <p:nvPr/>
        </p:nvSpPr>
        <p:spPr>
          <a:xfrm>
            <a:off x="6766560" y="3894353"/>
            <a:ext cx="3250692" cy="250393"/>
          </a:xfrm>
          <a:prstGeom prst="rect">
            <a:avLst/>
          </a:prstGeom>
          <a:solidFill>
            <a:srgbClr val="4A2E2A"/>
          </a:solidFill>
          <a:ln w="12700">
            <a:solidFill>
              <a:srgbClr val="4A2E2A"/>
            </a:solidFill>
            <a:prstDash val="solid"/>
          </a:ln>
        </p:spPr>
      </p:sp>
      <p:sp>
        <p:nvSpPr>
          <p:cNvPr id="35" name="Text 26"/>
          <p:cNvSpPr/>
          <p:nvPr/>
        </p:nvSpPr>
        <p:spPr>
          <a:xfrm>
            <a:off x="10090404" y="3857777"/>
            <a:ext cx="731520" cy="32354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1.314</a:t>
            </a:r>
            <a:endParaRPr lang="en-US" sz="1200" dirty="0"/>
          </a:p>
        </p:txBody>
      </p:sp>
      <p:sp>
        <p:nvSpPr>
          <p:cNvPr id="36" name="Text 27"/>
          <p:cNvSpPr/>
          <p:nvPr/>
        </p:nvSpPr>
        <p:spPr>
          <a:xfrm>
            <a:off x="5362499" y="426163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Arsenal</a:t>
            </a:r>
            <a:endParaRPr lang="en-US" sz="1200" dirty="0"/>
          </a:p>
        </p:txBody>
      </p:sp>
      <p:sp>
        <p:nvSpPr>
          <p:cNvPr id="37" name="Shape 28"/>
          <p:cNvSpPr/>
          <p:nvPr/>
        </p:nvSpPr>
        <p:spPr>
          <a:xfrm>
            <a:off x="6766560" y="4298213"/>
            <a:ext cx="3240796" cy="250393"/>
          </a:xfrm>
          <a:prstGeom prst="rect">
            <a:avLst/>
          </a:prstGeom>
          <a:solidFill>
            <a:srgbClr val="4A2E2A"/>
          </a:solidFill>
          <a:ln w="12700">
            <a:solidFill>
              <a:srgbClr val="4A2E2A"/>
            </a:solidFill>
            <a:prstDash val="solid"/>
          </a:ln>
        </p:spPr>
      </p:sp>
      <p:sp>
        <p:nvSpPr>
          <p:cNvPr id="38" name="Text 29"/>
          <p:cNvSpPr/>
          <p:nvPr/>
        </p:nvSpPr>
        <p:spPr>
          <a:xfrm>
            <a:off x="10080508" y="4261637"/>
            <a:ext cx="731520" cy="32354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1.310</a:t>
            </a:r>
            <a:endParaRPr lang="en-US" sz="1200" dirty="0"/>
          </a:p>
        </p:txBody>
      </p:sp>
      <p:sp>
        <p:nvSpPr>
          <p:cNvPr id="39" name="Text 30"/>
          <p:cNvSpPr/>
          <p:nvPr/>
        </p:nvSpPr>
        <p:spPr>
          <a:xfrm>
            <a:off x="5362499" y="4665497"/>
            <a:ext cx="1266901" cy="32354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Chelsea</a:t>
            </a:r>
            <a:endParaRPr lang="en-US" sz="1200" dirty="0"/>
          </a:p>
        </p:txBody>
      </p:sp>
      <p:sp>
        <p:nvSpPr>
          <p:cNvPr id="40" name="Shape 31"/>
          <p:cNvSpPr/>
          <p:nvPr/>
        </p:nvSpPr>
        <p:spPr>
          <a:xfrm>
            <a:off x="6766560" y="4702073"/>
            <a:ext cx="3156684" cy="250393"/>
          </a:xfrm>
          <a:prstGeom prst="rect">
            <a:avLst/>
          </a:prstGeom>
          <a:solidFill>
            <a:srgbClr val="4A2E2A"/>
          </a:solidFill>
          <a:ln w="12700">
            <a:solidFill>
              <a:srgbClr val="4A2E2A"/>
            </a:solidFill>
            <a:prstDash val="solid"/>
          </a:ln>
        </p:spPr>
      </p:sp>
      <p:sp>
        <p:nvSpPr>
          <p:cNvPr id="41" name="Text 32"/>
          <p:cNvSpPr/>
          <p:nvPr/>
        </p:nvSpPr>
        <p:spPr>
          <a:xfrm>
            <a:off x="9996396" y="4665497"/>
            <a:ext cx="731520" cy="32354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1.276</a:t>
            </a:r>
            <a:endParaRPr lang="en-US" sz="1200" dirty="0"/>
          </a:p>
        </p:txBody>
      </p:sp>
      <p:sp>
        <p:nvSpPr>
          <p:cNvPr id="42" name="Shape 33"/>
          <p:cNvSpPr/>
          <p:nvPr/>
        </p:nvSpPr>
        <p:spPr>
          <a:xfrm>
            <a:off x="6766560" y="2606040"/>
            <a:ext cx="9144" cy="2423160"/>
          </a:xfrm>
          <a:prstGeom prst="rect">
            <a:avLst/>
          </a:prstGeom>
          <a:solidFill>
            <a:srgbClr val="4A2E2A"/>
          </a:solidFill>
          <a:ln w="12700">
            <a:solidFill>
              <a:srgbClr val="4A2E2A"/>
            </a:solidFill>
            <a:prstDash val="solid"/>
          </a:ln>
        </p:spPr>
      </p:sp>
      <p:sp>
        <p:nvSpPr>
          <p:cNvPr id="43" name="Text 34"/>
          <p:cNvSpPr/>
          <p:nvPr/>
        </p:nvSpPr>
        <p:spPr>
          <a:xfrm>
            <a:off x="5362499" y="5120640"/>
            <a:ext cx="5884621" cy="843625"/>
          </a:xfrm>
          <a:prstGeom prst="rect">
            <a:avLst/>
          </a:prstGeom>
          <a:noFill/>
          <a:ln/>
        </p:spPr>
        <p:txBody>
          <a:bodyPr wrap="square" lIns="0" tIns="0" rIns="0" bIns="0" rtlCol="0" anchor="t"/>
          <a:lstStyle/>
          <a:p>
            <a:pPr indent="0" marL="0">
              <a:lnSpc>
                <a:spcPct val="104000"/>
              </a:lnSpc>
              <a:buNone/>
            </a:pPr>
            <a:r>
              <a:rPr lang="en-US" sz="1200" dirty="0">
                <a:solidFill>
                  <a:srgbClr val="160809"/>
                </a:solidFill>
                <a:latin typeface="Poppins" pitchFamily="34" charset="0"/>
                <a:ea typeface="Poppins" pitchFamily="34" charset="-122"/>
                <a:cs typeface="Poppins" pitchFamily="34" charset="-120"/>
              </a:rPr>
              <a:t>Di antara enam klub ini, skuad MU paling besar (34 pemain) dan termuda kedua (25,6 tahun) setelah Arsenal. Cocok dengan strategi memadukan pemain muda dan berpengalaman (Table 6.7).</a:t>
            </a:r>
            <a:endParaRPr lang="en-US" sz="1200" dirty="0"/>
          </a:p>
        </p:txBody>
      </p:sp>
      <p:pic>
        <p:nvPicPr>
          <p:cNvPr id="44" name="Image 6" descr="opt/st_bus.png">    </p:cNvPr>
          <p:cNvPicPr>
            <a:picLocks noChangeAspect="1"/>
          </p:cNvPicPr>
          <p:nvPr/>
        </p:nvPicPr>
        <p:blipFill>
          <a:blip r:embed="rId8"/>
          <a:stretch>
            <a:fillRect/>
          </a:stretch>
        </p:blipFill>
        <p:spPr>
          <a:xfrm rot="420000">
            <a:off x="10134295" y="182880"/>
            <a:ext cx="1554480" cy="125572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1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151" dirty="0">
                <a:solidFill>
                  <a:srgbClr val="FFFFFF"/>
                </a:solidFill>
                <a:latin typeface="Poppins ExtraBold" pitchFamily="34" charset="0"/>
                <a:ea typeface="Poppins ExtraBold" pitchFamily="34" charset="-122"/>
                <a:cs typeface="Poppins ExtraBold" pitchFamily="34" charset="-120"/>
              </a:rPr>
              <a:t>DI KEUANGAN: PALING UNTUNG DI ANTARA KLUB BESAR</a:t>
            </a:r>
            <a:endParaRPr lang="en-US" sz="2151"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Indikator pertama Thompson, apakah kekuatan keuangan dan labanya membaik, dijawab Appendix kasus serta Table 6.5 dan 6.6.</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Appendix hlm. 589, Table 6.5 dan 6.6.</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22</a:t>
            </a:r>
            <a:endParaRPr lang="en-US" sz="1200" dirty="0"/>
          </a:p>
        </p:txBody>
      </p:sp>
      <p:pic>
        <p:nvPicPr>
          <p:cNvPr id="10" name="Image 2" descr="opt/paper_169.png">    </p:cNvPr>
          <p:cNvPicPr>
            <a:picLocks noChangeAspect="1"/>
          </p:cNvPicPr>
          <p:nvPr/>
        </p:nvPicPr>
        <p:blipFill>
          <a:blip r:embed="rId4"/>
          <a:stretch>
            <a:fillRect/>
          </a:stretch>
        </p:blipFill>
        <p:spPr>
          <a:xfrm>
            <a:off x="640080" y="1920240"/>
            <a:ext cx="6675120" cy="3291840"/>
          </a:xfrm>
          <a:prstGeom prst="rect">
            <a:avLst/>
          </a:prstGeom>
        </p:spPr>
      </p:pic>
      <p:sp>
        <p:nvSpPr>
          <p:cNvPr id="11" name="Text 5"/>
          <p:cNvSpPr/>
          <p:nvPr/>
        </p:nvSpPr>
        <p:spPr>
          <a:xfrm>
            <a:off x="1146383" y="2249424"/>
            <a:ext cx="5722590"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PENDAPATAN MU, £ JUTA  ·  NAIK 53% DARI 2006 KE 2008</a:t>
            </a:r>
            <a:endParaRPr lang="en-US" sz="1200" dirty="0"/>
          </a:p>
        </p:txBody>
      </p:sp>
      <p:sp>
        <p:nvSpPr>
          <p:cNvPr id="12" name="Shape 6"/>
          <p:cNvSpPr/>
          <p:nvPr/>
        </p:nvSpPr>
        <p:spPr>
          <a:xfrm>
            <a:off x="1131316" y="3500633"/>
            <a:ext cx="409448" cy="577591"/>
          </a:xfrm>
          <a:prstGeom prst="rect">
            <a:avLst/>
          </a:prstGeom>
          <a:solidFill>
            <a:srgbClr val="4A2E2A"/>
          </a:solidFill>
          <a:ln w="12700">
            <a:solidFill>
              <a:srgbClr val="4A2E2A"/>
            </a:solidFill>
            <a:prstDash val="solid"/>
          </a:ln>
        </p:spPr>
      </p:sp>
      <p:sp>
        <p:nvSpPr>
          <p:cNvPr id="13" name="Text 7"/>
          <p:cNvSpPr/>
          <p:nvPr/>
        </p:nvSpPr>
        <p:spPr>
          <a:xfrm>
            <a:off x="1146383" y="3226313"/>
            <a:ext cx="519857"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116,0</a:t>
            </a:r>
            <a:endParaRPr lang="en-US" sz="1200" dirty="0"/>
          </a:p>
        </p:txBody>
      </p:sp>
      <p:sp>
        <p:nvSpPr>
          <p:cNvPr id="14" name="Text 8"/>
          <p:cNvSpPr/>
          <p:nvPr/>
        </p:nvSpPr>
        <p:spPr>
          <a:xfrm>
            <a:off x="1146383" y="4123944"/>
            <a:ext cx="519857"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2000</a:t>
            </a:r>
            <a:endParaRPr lang="en-US" sz="1200" dirty="0"/>
          </a:p>
        </p:txBody>
      </p:sp>
      <p:sp>
        <p:nvSpPr>
          <p:cNvPr id="15" name="Shape 9"/>
          <p:cNvSpPr/>
          <p:nvPr/>
        </p:nvSpPr>
        <p:spPr>
          <a:xfrm>
            <a:off x="1791716" y="3432916"/>
            <a:ext cx="409448" cy="645308"/>
          </a:xfrm>
          <a:prstGeom prst="rect">
            <a:avLst/>
          </a:prstGeom>
          <a:solidFill>
            <a:srgbClr val="4A2E2A"/>
          </a:solidFill>
          <a:ln w="12700">
            <a:solidFill>
              <a:srgbClr val="4A2E2A"/>
            </a:solidFill>
            <a:prstDash val="solid"/>
          </a:ln>
        </p:spPr>
      </p:sp>
      <p:sp>
        <p:nvSpPr>
          <p:cNvPr id="16" name="Text 10"/>
          <p:cNvSpPr/>
          <p:nvPr/>
        </p:nvSpPr>
        <p:spPr>
          <a:xfrm>
            <a:off x="1666240" y="3158596"/>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129,6</a:t>
            </a:r>
            <a:endParaRPr lang="en-US" sz="1200" dirty="0"/>
          </a:p>
        </p:txBody>
      </p:sp>
      <p:sp>
        <p:nvSpPr>
          <p:cNvPr id="17" name="Text 11"/>
          <p:cNvSpPr/>
          <p:nvPr/>
        </p:nvSpPr>
        <p:spPr>
          <a:xfrm>
            <a:off x="16662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2001</a:t>
            </a:r>
            <a:endParaRPr lang="en-US" sz="1200" dirty="0"/>
          </a:p>
        </p:txBody>
      </p:sp>
      <p:sp>
        <p:nvSpPr>
          <p:cNvPr id="18" name="Shape 12"/>
          <p:cNvSpPr/>
          <p:nvPr/>
        </p:nvSpPr>
        <p:spPr>
          <a:xfrm>
            <a:off x="2452116" y="3350759"/>
            <a:ext cx="409448" cy="727465"/>
          </a:xfrm>
          <a:prstGeom prst="rect">
            <a:avLst/>
          </a:prstGeom>
          <a:solidFill>
            <a:srgbClr val="4A2E2A"/>
          </a:solidFill>
          <a:ln w="12700">
            <a:solidFill>
              <a:srgbClr val="4A2E2A"/>
            </a:solidFill>
            <a:prstDash val="solid"/>
          </a:ln>
        </p:spPr>
      </p:sp>
      <p:sp>
        <p:nvSpPr>
          <p:cNvPr id="19" name="Text 13"/>
          <p:cNvSpPr/>
          <p:nvPr/>
        </p:nvSpPr>
        <p:spPr>
          <a:xfrm>
            <a:off x="2326640" y="3076439"/>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146,1</a:t>
            </a:r>
            <a:endParaRPr lang="en-US" sz="1200" dirty="0"/>
          </a:p>
        </p:txBody>
      </p:sp>
      <p:sp>
        <p:nvSpPr>
          <p:cNvPr id="20" name="Text 14"/>
          <p:cNvSpPr/>
          <p:nvPr/>
        </p:nvSpPr>
        <p:spPr>
          <a:xfrm>
            <a:off x="23266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2002</a:t>
            </a:r>
            <a:endParaRPr lang="en-US" sz="1200" dirty="0"/>
          </a:p>
        </p:txBody>
      </p:sp>
      <p:sp>
        <p:nvSpPr>
          <p:cNvPr id="21" name="Shape 15"/>
          <p:cNvSpPr/>
          <p:nvPr/>
        </p:nvSpPr>
        <p:spPr>
          <a:xfrm>
            <a:off x="3112516" y="3216817"/>
            <a:ext cx="409448" cy="861407"/>
          </a:xfrm>
          <a:prstGeom prst="rect">
            <a:avLst/>
          </a:prstGeom>
          <a:solidFill>
            <a:srgbClr val="4A2E2A"/>
          </a:solidFill>
          <a:ln w="12700">
            <a:solidFill>
              <a:srgbClr val="4A2E2A"/>
            </a:solidFill>
            <a:prstDash val="solid"/>
          </a:ln>
        </p:spPr>
      </p:sp>
      <p:sp>
        <p:nvSpPr>
          <p:cNvPr id="22" name="Text 16"/>
          <p:cNvSpPr/>
          <p:nvPr/>
        </p:nvSpPr>
        <p:spPr>
          <a:xfrm>
            <a:off x="2987040" y="2942497"/>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173,0</a:t>
            </a:r>
            <a:endParaRPr lang="en-US" sz="1200" dirty="0"/>
          </a:p>
        </p:txBody>
      </p:sp>
      <p:sp>
        <p:nvSpPr>
          <p:cNvPr id="23" name="Text 17"/>
          <p:cNvSpPr/>
          <p:nvPr/>
        </p:nvSpPr>
        <p:spPr>
          <a:xfrm>
            <a:off x="29870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2003</a:t>
            </a:r>
            <a:endParaRPr lang="en-US" sz="1200" dirty="0"/>
          </a:p>
        </p:txBody>
      </p:sp>
      <p:sp>
        <p:nvSpPr>
          <p:cNvPr id="24" name="Shape 18"/>
          <p:cNvSpPr/>
          <p:nvPr/>
        </p:nvSpPr>
        <p:spPr>
          <a:xfrm>
            <a:off x="3772916" y="3236236"/>
            <a:ext cx="409448" cy="841988"/>
          </a:xfrm>
          <a:prstGeom prst="rect">
            <a:avLst/>
          </a:prstGeom>
          <a:solidFill>
            <a:srgbClr val="4A2E2A"/>
          </a:solidFill>
          <a:ln w="12700">
            <a:solidFill>
              <a:srgbClr val="4A2E2A"/>
            </a:solidFill>
            <a:prstDash val="solid"/>
          </a:ln>
        </p:spPr>
      </p:sp>
      <p:sp>
        <p:nvSpPr>
          <p:cNvPr id="25" name="Text 19"/>
          <p:cNvSpPr/>
          <p:nvPr/>
        </p:nvSpPr>
        <p:spPr>
          <a:xfrm>
            <a:off x="3647440" y="2961916"/>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169,1</a:t>
            </a:r>
            <a:endParaRPr lang="en-US" sz="1200" dirty="0"/>
          </a:p>
        </p:txBody>
      </p:sp>
      <p:sp>
        <p:nvSpPr>
          <p:cNvPr id="26" name="Text 20"/>
          <p:cNvSpPr/>
          <p:nvPr/>
        </p:nvSpPr>
        <p:spPr>
          <a:xfrm>
            <a:off x="36474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2004</a:t>
            </a:r>
            <a:endParaRPr lang="en-US" sz="1200" dirty="0"/>
          </a:p>
        </p:txBody>
      </p:sp>
      <p:sp>
        <p:nvSpPr>
          <p:cNvPr id="27" name="Shape 21"/>
          <p:cNvSpPr/>
          <p:nvPr/>
        </p:nvSpPr>
        <p:spPr>
          <a:xfrm>
            <a:off x="4433316" y="3295489"/>
            <a:ext cx="409448" cy="782735"/>
          </a:xfrm>
          <a:prstGeom prst="rect">
            <a:avLst/>
          </a:prstGeom>
          <a:solidFill>
            <a:srgbClr val="4A2E2A"/>
          </a:solidFill>
          <a:ln w="12700">
            <a:solidFill>
              <a:srgbClr val="4A2E2A"/>
            </a:solidFill>
            <a:prstDash val="solid"/>
          </a:ln>
        </p:spPr>
      </p:sp>
      <p:sp>
        <p:nvSpPr>
          <p:cNvPr id="28" name="Text 22"/>
          <p:cNvSpPr/>
          <p:nvPr/>
        </p:nvSpPr>
        <p:spPr>
          <a:xfrm>
            <a:off x="4307840" y="3021169"/>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157,2</a:t>
            </a:r>
            <a:endParaRPr lang="en-US" sz="1200" dirty="0"/>
          </a:p>
        </p:txBody>
      </p:sp>
      <p:sp>
        <p:nvSpPr>
          <p:cNvPr id="29" name="Text 23"/>
          <p:cNvSpPr/>
          <p:nvPr/>
        </p:nvSpPr>
        <p:spPr>
          <a:xfrm>
            <a:off x="43078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2005</a:t>
            </a:r>
            <a:endParaRPr lang="en-US" sz="1200" dirty="0"/>
          </a:p>
        </p:txBody>
      </p:sp>
      <p:sp>
        <p:nvSpPr>
          <p:cNvPr id="30" name="Shape 24"/>
          <p:cNvSpPr/>
          <p:nvPr/>
        </p:nvSpPr>
        <p:spPr>
          <a:xfrm>
            <a:off x="5093716" y="3242709"/>
            <a:ext cx="409448" cy="835515"/>
          </a:xfrm>
          <a:prstGeom prst="rect">
            <a:avLst/>
          </a:prstGeom>
          <a:solidFill>
            <a:srgbClr val="4A2E2A"/>
          </a:solidFill>
          <a:ln w="12700">
            <a:solidFill>
              <a:srgbClr val="4A2E2A"/>
            </a:solidFill>
            <a:prstDash val="solid"/>
          </a:ln>
        </p:spPr>
      </p:sp>
      <p:sp>
        <p:nvSpPr>
          <p:cNvPr id="31" name="Text 25"/>
          <p:cNvSpPr/>
          <p:nvPr/>
        </p:nvSpPr>
        <p:spPr>
          <a:xfrm>
            <a:off x="4968240" y="2968389"/>
            <a:ext cx="660400" cy="274320"/>
          </a:xfrm>
          <a:prstGeom prst="rect">
            <a:avLst/>
          </a:prstGeom>
          <a:noFill/>
          <a:ln/>
        </p:spPr>
        <p:txBody>
          <a:bodyPr wrap="square" lIns="0" tIns="0" rIns="0" bIns="0" rtlCol="0" anchor="b"/>
          <a:lstStyle/>
          <a:p>
            <a:pPr algn="ctr" indent="0" marL="0">
              <a:buNone/>
            </a:pPr>
            <a:r>
              <a:rPr lang="en-US" sz="1200" dirty="0">
                <a:solidFill>
                  <a:srgbClr val="160809"/>
                </a:solidFill>
                <a:latin typeface="Poppins SemiBold" pitchFamily="34" charset="0"/>
                <a:ea typeface="Poppins SemiBold" pitchFamily="34" charset="-122"/>
                <a:cs typeface="Poppins SemiBold" pitchFamily="34" charset="-120"/>
              </a:rPr>
              <a:t>167,8</a:t>
            </a:r>
            <a:endParaRPr lang="en-US" sz="1200" dirty="0"/>
          </a:p>
        </p:txBody>
      </p:sp>
      <p:sp>
        <p:nvSpPr>
          <p:cNvPr id="32" name="Text 26"/>
          <p:cNvSpPr/>
          <p:nvPr/>
        </p:nvSpPr>
        <p:spPr>
          <a:xfrm>
            <a:off x="49682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2006</a:t>
            </a:r>
            <a:endParaRPr lang="en-US" sz="1200" dirty="0"/>
          </a:p>
        </p:txBody>
      </p:sp>
      <p:sp>
        <p:nvSpPr>
          <p:cNvPr id="33" name="Shape 27"/>
          <p:cNvSpPr/>
          <p:nvPr/>
        </p:nvSpPr>
        <p:spPr>
          <a:xfrm>
            <a:off x="5754116" y="3021631"/>
            <a:ext cx="409448" cy="1056593"/>
          </a:xfrm>
          <a:prstGeom prst="rect">
            <a:avLst/>
          </a:prstGeom>
          <a:solidFill>
            <a:srgbClr val="DA291C"/>
          </a:solidFill>
          <a:ln w="12700">
            <a:solidFill>
              <a:srgbClr val="DA291C"/>
            </a:solidFill>
            <a:prstDash val="solid"/>
          </a:ln>
        </p:spPr>
      </p:sp>
      <p:sp>
        <p:nvSpPr>
          <p:cNvPr id="34" name="Text 28"/>
          <p:cNvSpPr/>
          <p:nvPr/>
        </p:nvSpPr>
        <p:spPr>
          <a:xfrm>
            <a:off x="5628640" y="2747311"/>
            <a:ext cx="660400" cy="274320"/>
          </a:xfrm>
          <a:prstGeom prst="rect">
            <a:avLst/>
          </a:prstGeom>
          <a:noFill/>
          <a:ln/>
        </p:spPr>
        <p:txBody>
          <a:bodyPr wrap="square" lIns="0" tIns="0" rIns="0" bIns="0" rtlCol="0" anchor="b"/>
          <a:lstStyle/>
          <a:p>
            <a:pPr algn="ctr" indent="0" marL="0">
              <a:buNone/>
            </a:pPr>
            <a:r>
              <a:rPr lang="en-US" sz="1200" dirty="0">
                <a:solidFill>
                  <a:srgbClr val="DA291C"/>
                </a:solidFill>
                <a:latin typeface="Poppins SemiBold" pitchFamily="34" charset="0"/>
                <a:ea typeface="Poppins SemiBold" pitchFamily="34" charset="-122"/>
                <a:cs typeface="Poppins SemiBold" pitchFamily="34" charset="-120"/>
              </a:rPr>
              <a:t>212,2</a:t>
            </a:r>
            <a:endParaRPr lang="en-US" sz="1200" dirty="0"/>
          </a:p>
        </p:txBody>
      </p:sp>
      <p:sp>
        <p:nvSpPr>
          <p:cNvPr id="35" name="Text 29"/>
          <p:cNvSpPr/>
          <p:nvPr/>
        </p:nvSpPr>
        <p:spPr>
          <a:xfrm>
            <a:off x="5628640" y="4123944"/>
            <a:ext cx="660400"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2007</a:t>
            </a:r>
            <a:endParaRPr lang="en-US" sz="1200" dirty="0"/>
          </a:p>
        </p:txBody>
      </p:sp>
      <p:sp>
        <p:nvSpPr>
          <p:cNvPr id="36" name="Shape 30"/>
          <p:cNvSpPr/>
          <p:nvPr/>
        </p:nvSpPr>
        <p:spPr>
          <a:xfrm>
            <a:off x="6414516" y="2798064"/>
            <a:ext cx="409448" cy="1280160"/>
          </a:xfrm>
          <a:prstGeom prst="rect">
            <a:avLst/>
          </a:prstGeom>
          <a:solidFill>
            <a:srgbClr val="DA291C"/>
          </a:solidFill>
          <a:ln w="12700">
            <a:solidFill>
              <a:srgbClr val="DA291C"/>
            </a:solidFill>
            <a:prstDash val="solid"/>
          </a:ln>
        </p:spPr>
      </p:sp>
      <p:sp>
        <p:nvSpPr>
          <p:cNvPr id="37" name="Text 31"/>
          <p:cNvSpPr/>
          <p:nvPr/>
        </p:nvSpPr>
        <p:spPr>
          <a:xfrm>
            <a:off x="6289040" y="2523744"/>
            <a:ext cx="579933" cy="274320"/>
          </a:xfrm>
          <a:prstGeom prst="rect">
            <a:avLst/>
          </a:prstGeom>
          <a:noFill/>
          <a:ln/>
        </p:spPr>
        <p:txBody>
          <a:bodyPr wrap="square" lIns="0" tIns="0" rIns="0" bIns="0" rtlCol="0" anchor="b"/>
          <a:lstStyle/>
          <a:p>
            <a:pPr algn="ctr" indent="0" marL="0">
              <a:buNone/>
            </a:pPr>
            <a:r>
              <a:rPr lang="en-US" sz="1200" dirty="0">
                <a:solidFill>
                  <a:srgbClr val="DA291C"/>
                </a:solidFill>
                <a:latin typeface="Poppins SemiBold" pitchFamily="34" charset="0"/>
                <a:ea typeface="Poppins SemiBold" pitchFamily="34" charset="-122"/>
                <a:cs typeface="Poppins SemiBold" pitchFamily="34" charset="-120"/>
              </a:rPr>
              <a:t>257,1</a:t>
            </a:r>
            <a:endParaRPr lang="en-US" sz="1200" dirty="0"/>
          </a:p>
        </p:txBody>
      </p:sp>
      <p:sp>
        <p:nvSpPr>
          <p:cNvPr id="38" name="Text 32"/>
          <p:cNvSpPr/>
          <p:nvPr/>
        </p:nvSpPr>
        <p:spPr>
          <a:xfrm>
            <a:off x="6289040" y="4123944"/>
            <a:ext cx="579933" cy="274320"/>
          </a:xfrm>
          <a:prstGeom prst="rect">
            <a:avLst/>
          </a:prstGeom>
          <a:noFill/>
          <a:ln/>
        </p:spPr>
        <p:txBody>
          <a:bodyPr wrap="square" lIns="0" tIns="0" rIns="0" bIns="0" rtlCol="0" anchor="t"/>
          <a:lstStyle/>
          <a:p>
            <a:pPr algn="ctr" indent="0" marL="0">
              <a:buNone/>
            </a:pPr>
            <a:r>
              <a:rPr lang="en-US" sz="1200" dirty="0">
                <a:solidFill>
                  <a:srgbClr val="160809"/>
                </a:solidFill>
                <a:latin typeface="Poppins" pitchFamily="34" charset="0"/>
                <a:ea typeface="Poppins" pitchFamily="34" charset="-122"/>
                <a:cs typeface="Poppins" pitchFamily="34" charset="-120"/>
              </a:rPr>
              <a:t>2008</a:t>
            </a:r>
            <a:endParaRPr lang="en-US" sz="1200" dirty="0"/>
          </a:p>
        </p:txBody>
      </p:sp>
      <p:sp>
        <p:nvSpPr>
          <p:cNvPr id="39" name="Shape 33"/>
          <p:cNvSpPr/>
          <p:nvPr/>
        </p:nvSpPr>
        <p:spPr>
          <a:xfrm>
            <a:off x="1005840" y="4078224"/>
            <a:ext cx="5943600" cy="9144"/>
          </a:xfrm>
          <a:prstGeom prst="rect">
            <a:avLst/>
          </a:prstGeom>
          <a:solidFill>
            <a:srgbClr val="4A2E2A"/>
          </a:solidFill>
          <a:ln w="12700">
            <a:solidFill>
              <a:srgbClr val="4A2E2A"/>
            </a:solidFill>
            <a:prstDash val="solid"/>
          </a:ln>
        </p:spPr>
      </p:sp>
      <p:sp>
        <p:nvSpPr>
          <p:cNvPr id="40" name="Text 34"/>
          <p:cNvSpPr/>
          <p:nvPr/>
        </p:nvSpPr>
        <p:spPr>
          <a:xfrm>
            <a:off x="1146383" y="4407408"/>
            <a:ext cx="5722590" cy="64008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Entitas plc 2000–2005, Limited 2006–2008. Tahun buku 2000–04 sampai 31 Juli, 2005–08 sampai 30 Juni; kasus menyebut data 2000–04 tidak sebanding dengan 2005–08.</a:t>
            </a:r>
            <a:endParaRPr lang="en-US" sz="1200" dirty="0"/>
          </a:p>
        </p:txBody>
      </p:sp>
      <p:pic>
        <p:nvPicPr>
          <p:cNvPr id="41" name="Image 3" descr="opt/paper_43.png">    </p:cNvPr>
          <p:cNvPicPr>
            <a:picLocks noChangeAspect="1"/>
          </p:cNvPicPr>
          <p:nvPr/>
        </p:nvPicPr>
        <p:blipFill>
          <a:blip r:embed="rId5"/>
          <a:stretch>
            <a:fillRect/>
          </a:stretch>
        </p:blipFill>
        <p:spPr>
          <a:xfrm>
            <a:off x="7543800" y="1920240"/>
            <a:ext cx="4005072" cy="3291840"/>
          </a:xfrm>
          <a:prstGeom prst="rect">
            <a:avLst/>
          </a:prstGeom>
        </p:spPr>
      </p:pic>
      <p:sp>
        <p:nvSpPr>
          <p:cNvPr id="42" name="Text 35"/>
          <p:cNvSpPr/>
          <p:nvPr/>
        </p:nvSpPr>
        <p:spPr>
          <a:xfrm>
            <a:off x="7872984" y="2249424"/>
            <a:ext cx="3346704"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BUKTI PENDUKUNG</a:t>
            </a:r>
            <a:endParaRPr lang="en-US" sz="1200" dirty="0"/>
          </a:p>
        </p:txBody>
      </p:sp>
      <p:sp>
        <p:nvSpPr>
          <p:cNvPr id="43" name="Text 36"/>
          <p:cNvSpPr/>
          <p:nvPr/>
        </p:nvSpPr>
        <p:spPr>
          <a:xfrm>
            <a:off x="7872984" y="2542032"/>
            <a:ext cx="1188720" cy="571500"/>
          </a:xfrm>
          <a:prstGeom prst="rect">
            <a:avLst/>
          </a:prstGeom>
          <a:noFill/>
          <a:ln/>
        </p:spPr>
        <p:txBody>
          <a:bodyPr wrap="square" lIns="0" tIns="0" rIns="0" bIns="0" rtlCol="0" anchor="ctr"/>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×2,2</a:t>
            </a:r>
            <a:endParaRPr lang="en-US" sz="1400" dirty="0"/>
          </a:p>
        </p:txBody>
      </p:sp>
      <p:sp>
        <p:nvSpPr>
          <p:cNvPr id="44" name="Text 37"/>
          <p:cNvSpPr/>
          <p:nvPr/>
        </p:nvSpPr>
        <p:spPr>
          <a:xfrm>
            <a:off x="9098280" y="2542032"/>
            <a:ext cx="2130552" cy="5715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Laba bersih £21,6 jt (2006) ke £46,8 jt (2008). Margin bersih 18,2%</a:t>
            </a:r>
            <a:endParaRPr lang="en-US" sz="1200" dirty="0"/>
          </a:p>
        </p:txBody>
      </p:sp>
      <p:sp>
        <p:nvSpPr>
          <p:cNvPr id="45" name="Text 38"/>
          <p:cNvSpPr/>
          <p:nvPr/>
        </p:nvSpPr>
        <p:spPr>
          <a:xfrm>
            <a:off x="7872984" y="3159252"/>
            <a:ext cx="1188720" cy="571500"/>
          </a:xfrm>
          <a:prstGeom prst="rect">
            <a:avLst/>
          </a:prstGeom>
          <a:noFill/>
          <a:ln/>
        </p:spPr>
        <p:txBody>
          <a:bodyPr wrap="square" lIns="0" tIns="0" rIns="0" bIns="0" rtlCol="0" anchor="ctr"/>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12,6%</a:t>
            </a:r>
            <a:endParaRPr lang="en-US" sz="1400" dirty="0"/>
          </a:p>
        </p:txBody>
      </p:sp>
      <p:sp>
        <p:nvSpPr>
          <p:cNvPr id="46" name="Text 39"/>
          <p:cNvSpPr/>
          <p:nvPr/>
        </p:nvSpPr>
        <p:spPr>
          <a:xfrm>
            <a:off x="9098280" y="3159252"/>
            <a:ext cx="2130552" cy="5715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Return on sales 2000–06, tertinggi dari 10 klub. Real Madrid 0,4%</a:t>
            </a:r>
            <a:endParaRPr lang="en-US" sz="1200" dirty="0"/>
          </a:p>
        </p:txBody>
      </p:sp>
      <p:sp>
        <p:nvSpPr>
          <p:cNvPr id="47" name="Text 40"/>
          <p:cNvSpPr/>
          <p:nvPr/>
        </p:nvSpPr>
        <p:spPr>
          <a:xfrm>
            <a:off x="7872984" y="3776472"/>
            <a:ext cx="1188720" cy="571500"/>
          </a:xfrm>
          <a:prstGeom prst="rect">
            <a:avLst/>
          </a:prstGeom>
          <a:noFill/>
          <a:ln/>
        </p:spPr>
        <p:txBody>
          <a:bodyPr wrap="square" lIns="0" tIns="0" rIns="0" bIns="0" rtlCol="0" anchor="ctr"/>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€101,9 jt</a:t>
            </a:r>
            <a:endParaRPr lang="en-US" sz="1400" dirty="0"/>
          </a:p>
        </p:txBody>
      </p:sp>
      <p:sp>
        <p:nvSpPr>
          <p:cNvPr id="48" name="Text 41"/>
          <p:cNvSpPr/>
          <p:nvPr/>
        </p:nvSpPr>
        <p:spPr>
          <a:xfrm>
            <a:off x="9098280" y="3776472"/>
            <a:ext cx="2130552" cy="5715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EBITDA tertinggi Table 6.5. Margin 31,4% vs Barcelona 22,3%</a:t>
            </a:r>
            <a:endParaRPr lang="en-US" sz="1200" dirty="0"/>
          </a:p>
        </p:txBody>
      </p:sp>
      <p:sp>
        <p:nvSpPr>
          <p:cNvPr id="49" name="Text 42"/>
          <p:cNvSpPr/>
          <p:nvPr/>
        </p:nvSpPr>
        <p:spPr>
          <a:xfrm>
            <a:off x="7872984" y="4393692"/>
            <a:ext cx="1188720" cy="571500"/>
          </a:xfrm>
          <a:prstGeom prst="rect">
            <a:avLst/>
          </a:prstGeom>
          <a:noFill/>
          <a:ln/>
        </p:spPr>
        <p:txBody>
          <a:bodyPr wrap="square" lIns="0" tIns="0" rIns="0" bIns="0" rtlCol="0" anchor="ctr"/>
          <a:lstStyle/>
          <a:p>
            <a:pPr indent="0" marL="0">
              <a:buNone/>
            </a:pPr>
            <a:r>
              <a:rPr lang="en-US" sz="1400" dirty="0">
                <a:solidFill>
                  <a:srgbClr val="DA291C"/>
                </a:solidFill>
                <a:latin typeface="Poppins ExtraBold" pitchFamily="34" charset="0"/>
                <a:ea typeface="Poppins ExtraBold" pitchFamily="34" charset="-122"/>
                <a:cs typeface="Poppins ExtraBold" pitchFamily="34" charset="-120"/>
              </a:rPr>
              <a:t>£1,14 M</a:t>
            </a:r>
            <a:endParaRPr lang="en-US" sz="1400" dirty="0"/>
          </a:p>
        </p:txBody>
      </p:sp>
      <p:sp>
        <p:nvSpPr>
          <p:cNvPr id="50" name="Text 43"/>
          <p:cNvSpPr/>
          <p:nvPr/>
        </p:nvSpPr>
        <p:spPr>
          <a:xfrm>
            <a:off x="9098280" y="4393692"/>
            <a:ext cx="2130552" cy="5715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Nilai klub tertinggi Table 6.5, di atas Barcelona £960 jt</a:t>
            </a:r>
            <a:endParaRPr lang="en-US" sz="1200" dirty="0"/>
          </a:p>
        </p:txBody>
      </p:sp>
      <p:pic>
        <p:nvPicPr>
          <p:cNvPr id="51" name="Image 4" descr="opt/red_219.png">    </p:cNvPr>
          <p:cNvPicPr>
            <a:picLocks noChangeAspect="1"/>
          </p:cNvPicPr>
          <p:nvPr/>
        </p:nvPicPr>
        <p:blipFill>
          <a:blip r:embed="rId6"/>
          <a:stretch>
            <a:fillRect/>
          </a:stretch>
        </p:blipFill>
        <p:spPr>
          <a:xfrm>
            <a:off x="640080" y="5321808"/>
            <a:ext cx="10908792" cy="863194"/>
          </a:xfrm>
          <a:prstGeom prst="rect">
            <a:avLst/>
          </a:prstGeom>
        </p:spPr>
      </p:pic>
      <p:sp>
        <p:nvSpPr>
          <p:cNvPr id="52" name="Text 44"/>
          <p:cNvSpPr/>
          <p:nvPr/>
        </p:nvSpPr>
        <p:spPr>
          <a:xfrm>
            <a:off x="1130976" y="5522976"/>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Satu angka yang merusak gambaran ini: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utang £616 juta, tertinggi kedua di Table 6.5 setelah Arsenal (£896 juta). Akuisisi Glazer 2005 dibiayai terutama dengan utang (hlm. 584).</a:t>
            </a:r>
            <a:endParaRPr lang="en-US" sz="1200" dirty="0"/>
          </a:p>
        </p:txBody>
      </p:sp>
      <p:pic>
        <p:nvPicPr>
          <p:cNvPr id="53" name="Image 5" descr="opt/st_ball_vintage.png">    </p:cNvPr>
          <p:cNvPicPr>
            <a:picLocks noChangeAspect="1"/>
          </p:cNvPicPr>
          <p:nvPr/>
        </p:nvPicPr>
        <p:blipFill>
          <a:blip r:embed="rId7"/>
          <a:stretch>
            <a:fillRect/>
          </a:stretch>
        </p:blipFill>
        <p:spPr>
          <a:xfrm rot="-420000">
            <a:off x="10134295" y="182880"/>
            <a:ext cx="1554480" cy="15577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1  ·  KESIMPULAN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PRESTASI PUNCAK, BELANJA RELATIF HEMAT</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Analisis turunan kami dari Table 6.7: dari empat klub berprestasi tertinggi, belanja bersih MU yang paling kecil.</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Table 6.7; perbandingan disusun kelompok.</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23</a:t>
            </a:r>
            <a:endParaRPr lang="en-US" sz="1200" dirty="0"/>
          </a:p>
        </p:txBody>
      </p:sp>
      <p:pic>
        <p:nvPicPr>
          <p:cNvPr id="10" name="Image 2" descr="opt/paper_169.png">    </p:cNvPr>
          <p:cNvPicPr>
            <a:picLocks noChangeAspect="1"/>
          </p:cNvPicPr>
          <p:nvPr/>
        </p:nvPicPr>
        <p:blipFill>
          <a:blip r:embed="rId4"/>
          <a:stretch>
            <a:fillRect/>
          </a:stretch>
        </p:blipFill>
        <p:spPr>
          <a:xfrm>
            <a:off x="640080" y="1920240"/>
            <a:ext cx="6675120" cy="3291840"/>
          </a:xfrm>
          <a:prstGeom prst="rect">
            <a:avLst/>
          </a:prstGeom>
        </p:spPr>
      </p:pic>
      <p:sp>
        <p:nvSpPr>
          <p:cNvPr id="11" name="Text 5"/>
          <p:cNvSpPr/>
          <p:nvPr/>
        </p:nvSpPr>
        <p:spPr>
          <a:xfrm>
            <a:off x="1146383" y="2249424"/>
            <a:ext cx="5722590"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BELANJA TRANSFER BERSIH 2003–09, £ JUTA</a:t>
            </a:r>
            <a:endParaRPr lang="en-US" sz="1200" dirty="0"/>
          </a:p>
        </p:txBody>
      </p:sp>
      <p:sp>
        <p:nvSpPr>
          <p:cNvPr id="12" name="Text 6"/>
          <p:cNvSpPr/>
          <p:nvPr/>
        </p:nvSpPr>
        <p:spPr>
          <a:xfrm>
            <a:off x="1146383" y="2624557"/>
            <a:ext cx="2236897" cy="342443"/>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Real Madrid (183,0 poin)</a:t>
            </a:r>
            <a:endParaRPr lang="en-US" sz="1200" dirty="0"/>
          </a:p>
        </p:txBody>
      </p:sp>
      <p:sp>
        <p:nvSpPr>
          <p:cNvPr id="13" name="Shape 7"/>
          <p:cNvSpPr/>
          <p:nvPr/>
        </p:nvSpPr>
        <p:spPr>
          <a:xfrm>
            <a:off x="3520440" y="2661133"/>
            <a:ext cx="2606040" cy="269291"/>
          </a:xfrm>
          <a:prstGeom prst="rect">
            <a:avLst/>
          </a:prstGeom>
          <a:solidFill>
            <a:srgbClr val="4A2E2A"/>
          </a:solidFill>
          <a:ln w="12700">
            <a:solidFill>
              <a:srgbClr val="4A2E2A"/>
            </a:solidFill>
            <a:prstDash val="solid"/>
          </a:ln>
        </p:spPr>
      </p:sp>
      <p:sp>
        <p:nvSpPr>
          <p:cNvPr id="14" name="Text 8"/>
          <p:cNvSpPr/>
          <p:nvPr/>
        </p:nvSpPr>
        <p:spPr>
          <a:xfrm>
            <a:off x="6199632" y="2624557"/>
            <a:ext cx="669341" cy="34244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438</a:t>
            </a:r>
            <a:endParaRPr lang="en-US" sz="1200" dirty="0"/>
          </a:p>
        </p:txBody>
      </p:sp>
      <p:sp>
        <p:nvSpPr>
          <p:cNvPr id="15" name="Text 9"/>
          <p:cNvSpPr/>
          <p:nvPr/>
        </p:nvSpPr>
        <p:spPr>
          <a:xfrm>
            <a:off x="1146383" y="3058897"/>
            <a:ext cx="2236897" cy="342443"/>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Barcelona (200,0 poin)</a:t>
            </a:r>
            <a:endParaRPr lang="en-US" sz="1200" dirty="0"/>
          </a:p>
        </p:txBody>
      </p:sp>
      <p:sp>
        <p:nvSpPr>
          <p:cNvPr id="16" name="Shape 10"/>
          <p:cNvSpPr/>
          <p:nvPr/>
        </p:nvSpPr>
        <p:spPr>
          <a:xfrm>
            <a:off x="3520440" y="3095473"/>
            <a:ext cx="1481516" cy="269291"/>
          </a:xfrm>
          <a:prstGeom prst="rect">
            <a:avLst/>
          </a:prstGeom>
          <a:solidFill>
            <a:srgbClr val="4A2E2A"/>
          </a:solidFill>
          <a:ln w="12700">
            <a:solidFill>
              <a:srgbClr val="4A2E2A"/>
            </a:solidFill>
            <a:prstDash val="solid"/>
          </a:ln>
        </p:spPr>
      </p:sp>
      <p:sp>
        <p:nvSpPr>
          <p:cNvPr id="17" name="Text 11"/>
          <p:cNvSpPr/>
          <p:nvPr/>
        </p:nvSpPr>
        <p:spPr>
          <a:xfrm>
            <a:off x="5075108" y="3058897"/>
            <a:ext cx="731520" cy="34244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249</a:t>
            </a:r>
            <a:endParaRPr lang="en-US" sz="1200" dirty="0"/>
          </a:p>
        </p:txBody>
      </p:sp>
      <p:sp>
        <p:nvSpPr>
          <p:cNvPr id="18" name="Text 12"/>
          <p:cNvSpPr/>
          <p:nvPr/>
        </p:nvSpPr>
        <p:spPr>
          <a:xfrm>
            <a:off x="1146383" y="3493237"/>
            <a:ext cx="2236897" cy="342443"/>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Bayern (179,5 poin)</a:t>
            </a:r>
            <a:endParaRPr lang="en-US" sz="1200" dirty="0"/>
          </a:p>
        </p:txBody>
      </p:sp>
      <p:sp>
        <p:nvSpPr>
          <p:cNvPr id="19" name="Shape 13"/>
          <p:cNvSpPr/>
          <p:nvPr/>
        </p:nvSpPr>
        <p:spPr>
          <a:xfrm>
            <a:off x="3520440" y="3529813"/>
            <a:ext cx="725883" cy="269291"/>
          </a:xfrm>
          <a:prstGeom prst="rect">
            <a:avLst/>
          </a:prstGeom>
          <a:solidFill>
            <a:srgbClr val="4A2E2A"/>
          </a:solidFill>
          <a:ln w="12700">
            <a:solidFill>
              <a:srgbClr val="4A2E2A"/>
            </a:solidFill>
            <a:prstDash val="solid"/>
          </a:ln>
        </p:spPr>
      </p:sp>
      <p:sp>
        <p:nvSpPr>
          <p:cNvPr id="20" name="Text 14"/>
          <p:cNvSpPr/>
          <p:nvPr/>
        </p:nvSpPr>
        <p:spPr>
          <a:xfrm>
            <a:off x="4319475" y="3493237"/>
            <a:ext cx="731520" cy="34244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122</a:t>
            </a:r>
            <a:endParaRPr lang="en-US" sz="1200" dirty="0"/>
          </a:p>
        </p:txBody>
      </p:sp>
      <p:sp>
        <p:nvSpPr>
          <p:cNvPr id="21" name="Text 15"/>
          <p:cNvSpPr/>
          <p:nvPr/>
        </p:nvSpPr>
        <p:spPr>
          <a:xfrm>
            <a:off x="1146383" y="3927577"/>
            <a:ext cx="2236897" cy="342443"/>
          </a:xfrm>
          <a:prstGeom prst="rect">
            <a:avLst/>
          </a:prstGeom>
          <a:noFill/>
          <a:ln/>
        </p:spPr>
        <p:txBody>
          <a:bodyPr wrap="square" lIns="0" tIns="0" rIns="0" bIns="0" rtlCol="0" anchor="ctr"/>
          <a:lstStyle/>
          <a:p>
            <a:pPr algn="r" indent="0" marL="0">
              <a:buNone/>
            </a:pPr>
            <a:r>
              <a:rPr lang="en-US" sz="1200" dirty="0">
                <a:solidFill>
                  <a:srgbClr val="160809"/>
                </a:solidFill>
                <a:latin typeface="Poppins ExtraBold" pitchFamily="34" charset="0"/>
                <a:ea typeface="Poppins ExtraBold" pitchFamily="34" charset="-122"/>
                <a:cs typeface="Poppins ExtraBold" pitchFamily="34" charset="-120"/>
              </a:rPr>
              <a:t>Man United (192,5 poin)</a:t>
            </a:r>
            <a:endParaRPr lang="en-US" sz="1200" dirty="0"/>
          </a:p>
        </p:txBody>
      </p:sp>
      <p:sp>
        <p:nvSpPr>
          <p:cNvPr id="22" name="Shape 16"/>
          <p:cNvSpPr/>
          <p:nvPr/>
        </p:nvSpPr>
        <p:spPr>
          <a:xfrm>
            <a:off x="3520440" y="3964153"/>
            <a:ext cx="594986" cy="269291"/>
          </a:xfrm>
          <a:prstGeom prst="rect">
            <a:avLst/>
          </a:prstGeom>
          <a:solidFill>
            <a:srgbClr val="DA291C"/>
          </a:solidFill>
          <a:ln w="12700">
            <a:solidFill>
              <a:srgbClr val="DA291C"/>
            </a:solidFill>
            <a:prstDash val="solid"/>
          </a:ln>
        </p:spPr>
      </p:sp>
      <p:sp>
        <p:nvSpPr>
          <p:cNvPr id="23" name="Text 17"/>
          <p:cNvSpPr/>
          <p:nvPr/>
        </p:nvSpPr>
        <p:spPr>
          <a:xfrm>
            <a:off x="4188578" y="3927577"/>
            <a:ext cx="731520" cy="342443"/>
          </a:xfrm>
          <a:prstGeom prst="rect">
            <a:avLst/>
          </a:prstGeom>
          <a:noFill/>
          <a:ln/>
        </p:spPr>
        <p:txBody>
          <a:bodyPr wrap="square" lIns="0" tIns="0" rIns="0" bIns="0" rtlCol="0" anchor="ctr"/>
          <a:lstStyle/>
          <a:p>
            <a:pPr indent="0" marL="0">
              <a:buNone/>
            </a:pPr>
            <a:r>
              <a:rPr lang="en-US" sz="1200" dirty="0">
                <a:solidFill>
                  <a:srgbClr val="DA291C"/>
                </a:solidFill>
                <a:latin typeface="Poppins SemiBold" pitchFamily="34" charset="0"/>
                <a:ea typeface="Poppins SemiBold" pitchFamily="34" charset="-122"/>
                <a:cs typeface="Poppins SemiBold" pitchFamily="34" charset="-120"/>
              </a:rPr>
              <a:t>100</a:t>
            </a:r>
            <a:endParaRPr lang="en-US" sz="1200" dirty="0"/>
          </a:p>
        </p:txBody>
      </p:sp>
      <p:sp>
        <p:nvSpPr>
          <p:cNvPr id="24" name="Shape 18"/>
          <p:cNvSpPr/>
          <p:nvPr/>
        </p:nvSpPr>
        <p:spPr>
          <a:xfrm>
            <a:off x="3520440" y="2578608"/>
            <a:ext cx="9144" cy="1737360"/>
          </a:xfrm>
          <a:prstGeom prst="rect">
            <a:avLst/>
          </a:prstGeom>
          <a:solidFill>
            <a:srgbClr val="4A2E2A"/>
          </a:solidFill>
          <a:ln w="12700">
            <a:solidFill>
              <a:srgbClr val="4A2E2A"/>
            </a:solidFill>
            <a:prstDash val="solid"/>
          </a:ln>
        </p:spPr>
      </p:sp>
      <p:sp>
        <p:nvSpPr>
          <p:cNvPr id="25" name="Text 19"/>
          <p:cNvSpPr/>
          <p:nvPr/>
        </p:nvSpPr>
        <p:spPr>
          <a:xfrm>
            <a:off x="1146383" y="4434840"/>
            <a:ext cx="5722590" cy="640080"/>
          </a:xfrm>
          <a:prstGeom prst="rect">
            <a:avLst/>
          </a:prstGeom>
          <a:noFill/>
          <a:ln/>
        </p:spPr>
        <p:txBody>
          <a:bodyPr wrap="square" lIns="0" tIns="0" rIns="0" bIns="0" rtlCol="0" anchor="t"/>
          <a:lstStyle/>
          <a:p>
            <a:pPr indent="0" marL="0">
              <a:lnSpc>
                <a:spcPct val="102000"/>
              </a:lnSpc>
              <a:buNone/>
            </a:pPr>
            <a:r>
              <a:rPr lang="en-US" sz="1200" dirty="0">
                <a:solidFill>
                  <a:srgbClr val="4A2E2A"/>
                </a:solidFill>
                <a:latin typeface="Poppins" pitchFamily="34" charset="0"/>
                <a:ea typeface="Poppins" pitchFamily="34" charset="-122"/>
                <a:cs typeface="Poppins" pitchFamily="34" charset="-120"/>
              </a:rPr>
              <a:t>Arsenal belanja lebih sedikit (£22 jt) dan AC Milan penjual bersih (−£66 jt), tapi poinnya 162,0 dan 169,0, di bawah MU.</a:t>
            </a:r>
            <a:endParaRPr lang="en-US" sz="1200" dirty="0"/>
          </a:p>
        </p:txBody>
      </p:sp>
      <p:pic>
        <p:nvPicPr>
          <p:cNvPr id="26" name="Image 3" descr="opt/red_219.png">    </p:cNvPr>
          <p:cNvPicPr>
            <a:picLocks noChangeAspect="1"/>
          </p:cNvPicPr>
          <p:nvPr/>
        </p:nvPicPr>
        <p:blipFill>
          <a:blip r:embed="rId5"/>
          <a:stretch>
            <a:fillRect/>
          </a:stretch>
        </p:blipFill>
        <p:spPr>
          <a:xfrm>
            <a:off x="7543800" y="1920240"/>
            <a:ext cx="4005072" cy="1417320"/>
          </a:xfrm>
          <a:prstGeom prst="rect">
            <a:avLst/>
          </a:prstGeom>
        </p:spPr>
      </p:pic>
      <p:sp>
        <p:nvSpPr>
          <p:cNvPr id="27" name="Text 20"/>
          <p:cNvSpPr/>
          <p:nvPr/>
        </p:nvSpPr>
        <p:spPr>
          <a:xfrm>
            <a:off x="7836408" y="2110664"/>
            <a:ext cx="1828800" cy="458800"/>
          </a:xfrm>
          <a:prstGeom prst="rect">
            <a:avLst/>
          </a:prstGeom>
          <a:noFill/>
          <a:ln/>
        </p:spPr>
        <p:txBody>
          <a:bodyPr wrap="square" lIns="0" tIns="0" rIns="0" bIns="0" rtlCol="0" anchor="t"/>
          <a:lstStyle/>
          <a:p>
            <a:pPr indent="0" marL="0">
              <a:buNone/>
            </a:pPr>
            <a:r>
              <a:rPr lang="en-US" sz="2600" dirty="0">
                <a:solidFill>
                  <a:srgbClr val="FBE122"/>
                </a:solidFill>
                <a:latin typeface="Poppins ExtraBold" pitchFamily="34" charset="0"/>
                <a:ea typeface="Poppins ExtraBold" pitchFamily="34" charset="-122"/>
                <a:cs typeface="Poppins ExtraBold" pitchFamily="34" charset="-120"/>
              </a:rPr>
              <a:t>4,4×</a:t>
            </a:r>
            <a:endParaRPr lang="en-US" sz="2600" dirty="0"/>
          </a:p>
        </p:txBody>
      </p:sp>
      <p:sp>
        <p:nvSpPr>
          <p:cNvPr id="28" name="Text 21"/>
          <p:cNvSpPr/>
          <p:nvPr/>
        </p:nvSpPr>
        <p:spPr>
          <a:xfrm>
            <a:off x="7836408" y="2560320"/>
            <a:ext cx="3419856" cy="569808"/>
          </a:xfrm>
          <a:prstGeom prst="rect">
            <a:avLst/>
          </a:prstGeom>
          <a:noFill/>
          <a:ln/>
        </p:spPr>
        <p:txBody>
          <a:bodyPr wrap="square" lIns="0" tIns="0" rIns="0" bIns="0" rtlCol="0" anchor="t"/>
          <a:lstStyle/>
          <a:p>
            <a:pPr indent="0" marL="0">
              <a:lnSpc>
                <a:spcPct val="102000"/>
              </a:lnSpc>
              <a:buNone/>
            </a:pPr>
            <a:r>
              <a:rPr lang="en-US" sz="1200" dirty="0">
                <a:solidFill>
                  <a:srgbClr val="FFFFFF"/>
                </a:solidFill>
                <a:latin typeface="Poppins Medium" pitchFamily="34" charset="0"/>
                <a:ea typeface="Poppins Medium" pitchFamily="34" charset="-122"/>
                <a:cs typeface="Poppins Medium" pitchFamily="34" charset="-120"/>
              </a:rPr>
              <a:t>Real Madrid belanja 4,4 kali lipat MU (£438 jt vs £100 jt), tapi poin performanya lebih rendah: 183,0 vs 192,5.</a:t>
            </a:r>
            <a:endParaRPr lang="en-US" sz="1200" dirty="0"/>
          </a:p>
        </p:txBody>
      </p:sp>
      <p:pic>
        <p:nvPicPr>
          <p:cNvPr id="29" name="Image 4" descr="opt/paper_169.png">    </p:cNvPr>
          <p:cNvPicPr>
            <a:picLocks noChangeAspect="1"/>
          </p:cNvPicPr>
          <p:nvPr/>
        </p:nvPicPr>
        <p:blipFill>
          <a:blip r:embed="rId6"/>
          <a:stretch>
            <a:fillRect/>
          </a:stretch>
        </p:blipFill>
        <p:spPr>
          <a:xfrm>
            <a:off x="7543800" y="3429000"/>
            <a:ext cx="4005072" cy="1783080"/>
          </a:xfrm>
          <a:prstGeom prst="rect">
            <a:avLst/>
          </a:prstGeom>
        </p:spPr>
      </p:pic>
      <p:sp>
        <p:nvSpPr>
          <p:cNvPr id="30" name="Text 22"/>
          <p:cNvSpPr/>
          <p:nvPr/>
        </p:nvSpPr>
        <p:spPr>
          <a:xfrm>
            <a:off x="7865870" y="3657600"/>
            <a:ext cx="1159258" cy="45720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Chelsea</a:t>
            </a:r>
            <a:endParaRPr lang="en-US" sz="1200" dirty="0"/>
          </a:p>
        </p:txBody>
      </p:sp>
      <p:sp>
        <p:nvSpPr>
          <p:cNvPr id="31" name="Text 23"/>
          <p:cNvSpPr/>
          <p:nvPr/>
        </p:nvSpPr>
        <p:spPr>
          <a:xfrm>
            <a:off x="9052560" y="3657600"/>
            <a:ext cx="2176272" cy="4572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£430 jt belanja bersih, hanya 144,5 poin.</a:t>
            </a:r>
            <a:endParaRPr lang="en-US" sz="1200" dirty="0"/>
          </a:p>
        </p:txBody>
      </p:sp>
      <p:sp>
        <p:nvSpPr>
          <p:cNvPr id="32" name="Text 24"/>
          <p:cNvSpPr/>
          <p:nvPr/>
        </p:nvSpPr>
        <p:spPr>
          <a:xfrm>
            <a:off x="7865870" y="4160520"/>
            <a:ext cx="1159258" cy="45720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Barcelona</a:t>
            </a:r>
            <a:endParaRPr lang="en-US" sz="1200" dirty="0"/>
          </a:p>
        </p:txBody>
      </p:sp>
      <p:sp>
        <p:nvSpPr>
          <p:cNvPr id="33" name="Text 25"/>
          <p:cNvSpPr/>
          <p:nvPr/>
        </p:nvSpPr>
        <p:spPr>
          <a:xfrm>
            <a:off x="9052560" y="4160520"/>
            <a:ext cx="2176272" cy="4572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Satu-satunya di atas MU, belanja 2,5× lipat.</a:t>
            </a:r>
            <a:endParaRPr lang="en-US" sz="1200" dirty="0"/>
          </a:p>
        </p:txBody>
      </p:sp>
      <p:sp>
        <p:nvSpPr>
          <p:cNvPr id="34" name="Text 26"/>
          <p:cNvSpPr/>
          <p:nvPr/>
        </p:nvSpPr>
        <p:spPr>
          <a:xfrm>
            <a:off x="7865870" y="4663440"/>
            <a:ext cx="1159258" cy="45720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Kata kasus</a:t>
            </a:r>
            <a:endParaRPr lang="en-US" sz="1200" dirty="0"/>
          </a:p>
        </p:txBody>
      </p:sp>
      <p:sp>
        <p:nvSpPr>
          <p:cNvPr id="35" name="Text 27"/>
          <p:cNvSpPr/>
          <p:nvPr/>
        </p:nvSpPr>
        <p:spPr>
          <a:xfrm>
            <a:off x="9052560" y="4663440"/>
            <a:ext cx="2176272" cy="45720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Belanja bersih MU "relatif sederhana" (hlm. 586).</a:t>
            </a:r>
            <a:endParaRPr lang="en-US" sz="1200" dirty="0"/>
          </a:p>
        </p:txBody>
      </p:sp>
      <p:pic>
        <p:nvPicPr>
          <p:cNvPr id="36" name="Image 5" descr="opt/red_219.png">    </p:cNvPr>
          <p:cNvPicPr>
            <a:picLocks noChangeAspect="1"/>
          </p:cNvPicPr>
          <p:nvPr/>
        </p:nvPicPr>
        <p:blipFill>
          <a:blip r:embed="rId7"/>
          <a:stretch>
            <a:fillRect/>
          </a:stretch>
        </p:blipFill>
        <p:spPr>
          <a:xfrm>
            <a:off x="640080" y="5321808"/>
            <a:ext cx="10908792" cy="863194"/>
          </a:xfrm>
          <a:prstGeom prst="rect">
            <a:avLst/>
          </a:prstGeom>
        </p:spPr>
      </p:pic>
      <p:sp>
        <p:nvSpPr>
          <p:cNvPr id="37" name="Text 28"/>
          <p:cNvSpPr/>
          <p:nvPr/>
        </p:nvSpPr>
        <p:spPr>
          <a:xfrm>
            <a:off x="1130976" y="5522976"/>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Jawaban Q1: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strategi MU bekerja sangat baik. Kedua indikator Thompson terpenuhi, di industri yang mayoritas pelakunya merugi. Pertanyaan berikutnya: kenapa bisa begitu.</a:t>
            </a:r>
            <a:endParaRPr lang="en-US" sz="1200" dirty="0"/>
          </a:p>
        </p:txBody>
      </p:sp>
      <p:pic>
        <p:nvPicPr>
          <p:cNvPr id="38" name="Image 6" descr="opt/st_shirt68.png">    </p:cNvPr>
          <p:cNvPicPr>
            <a:picLocks noChangeAspect="1"/>
          </p:cNvPicPr>
          <p:nvPr/>
        </p:nvPicPr>
        <p:blipFill>
          <a:blip r:embed="rId8"/>
          <a:stretch>
            <a:fillRect/>
          </a:stretch>
        </p:blipFill>
        <p:spPr>
          <a:xfrm rot="420000">
            <a:off x="10277366" y="182880"/>
            <a:ext cx="1411409" cy="1691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2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SWOT MANCHESTER UNITED, JULI 2009</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Temuan Q1 dirangkum, lalu ditarik kesimpulan sesuai langkah 2 dan 3 Figure 4.2, bukan berhenti di daftar.</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Manchester United.</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24</a:t>
            </a:r>
            <a:endParaRPr lang="en-US" sz="1200" dirty="0"/>
          </a:p>
        </p:txBody>
      </p:sp>
      <p:pic>
        <p:nvPicPr>
          <p:cNvPr id="10" name="Image 2" descr="opt/red_219.png">    </p:cNvPr>
          <p:cNvPicPr>
            <a:picLocks noChangeAspect="1"/>
          </p:cNvPicPr>
          <p:nvPr/>
        </p:nvPicPr>
        <p:blipFill>
          <a:blip r:embed="rId4"/>
          <a:stretch>
            <a:fillRect/>
          </a:stretch>
        </p:blipFill>
        <p:spPr>
          <a:xfrm>
            <a:off x="640080" y="1920240"/>
            <a:ext cx="5362956" cy="1572768"/>
          </a:xfrm>
          <a:prstGeom prst="rect">
            <a:avLst/>
          </a:prstGeom>
        </p:spPr>
      </p:pic>
      <p:sp>
        <p:nvSpPr>
          <p:cNvPr id="11" name="Text 5"/>
          <p:cNvSpPr/>
          <p:nvPr/>
        </p:nvSpPr>
        <p:spPr>
          <a:xfrm>
            <a:off x="932688" y="2128540"/>
            <a:ext cx="713232" cy="706100"/>
          </a:xfrm>
          <a:prstGeom prst="rect">
            <a:avLst/>
          </a:prstGeom>
          <a:noFill/>
          <a:ln/>
        </p:spPr>
        <p:txBody>
          <a:bodyPr wrap="square" lIns="0" tIns="0" rIns="0" bIns="0" rtlCol="0" anchor="t"/>
          <a:lstStyle/>
          <a:p>
            <a:pPr indent="0" marL="0">
              <a:buNone/>
            </a:pPr>
            <a:r>
              <a:rPr lang="en-US" sz="3400" dirty="0">
                <a:solidFill>
                  <a:srgbClr val="FBE122"/>
                </a:solidFill>
                <a:latin typeface="Poppins ExtraBold" pitchFamily="34" charset="0"/>
                <a:ea typeface="Poppins ExtraBold" pitchFamily="34" charset="-122"/>
                <a:cs typeface="Poppins ExtraBold" pitchFamily="34" charset="-120"/>
              </a:rPr>
              <a:t>S</a:t>
            </a:r>
            <a:endParaRPr lang="en-US" sz="3400" dirty="0"/>
          </a:p>
        </p:txBody>
      </p:sp>
      <p:sp>
        <p:nvSpPr>
          <p:cNvPr id="12" name="Text 6"/>
          <p:cNvSpPr/>
          <p:nvPr/>
        </p:nvSpPr>
        <p:spPr>
          <a:xfrm>
            <a:off x="1691640" y="2139696"/>
            <a:ext cx="2743200" cy="274320"/>
          </a:xfrm>
          <a:prstGeom prst="rect">
            <a:avLst/>
          </a:prstGeom>
          <a:noFill/>
          <a:ln/>
        </p:spPr>
        <p:txBody>
          <a:bodyPr wrap="square" lIns="0" tIns="0" rIns="0" bIns="0" rtlCol="0" anchor="t"/>
          <a:lstStyle/>
          <a:p>
            <a:pPr indent="0" marL="0">
              <a:buNone/>
            </a:pPr>
            <a:r>
              <a:rPr lang="en-US" sz="1400" dirty="0">
                <a:solidFill>
                  <a:srgbClr val="FFFFFF"/>
                </a:solidFill>
                <a:latin typeface="Poppins ExtraBold" pitchFamily="34" charset="0"/>
                <a:ea typeface="Poppins ExtraBold" pitchFamily="34" charset="-122"/>
                <a:cs typeface="Poppins ExtraBold" pitchFamily="34" charset="-120"/>
              </a:rPr>
              <a:t>Strengths</a:t>
            </a:r>
            <a:endParaRPr lang="en-US" sz="1400" dirty="0"/>
          </a:p>
        </p:txBody>
      </p:sp>
      <p:sp>
        <p:nvSpPr>
          <p:cNvPr id="13" name="Text 7"/>
          <p:cNvSpPr/>
          <p:nvPr/>
        </p:nvSpPr>
        <p:spPr>
          <a:xfrm>
            <a:off x="1691640" y="2377440"/>
            <a:ext cx="3991356" cy="888394"/>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Merek global, 80 juta pendukung di Asia</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Laba tertinggi: EBITDA €101,9 jt, RoS 12,6%</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Akademi dan pemandu bakat yang matang</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Disiplin transfer: belanja bersih £100 jt</a:t>
            </a:r>
            <a:endParaRPr lang="en-US" sz="1200" dirty="0"/>
          </a:p>
        </p:txBody>
      </p:sp>
      <p:pic>
        <p:nvPicPr>
          <p:cNvPr id="14" name="Image 3" descr="opt/paper_169.png">    </p:cNvPr>
          <p:cNvPicPr>
            <a:picLocks noChangeAspect="1"/>
          </p:cNvPicPr>
          <p:nvPr/>
        </p:nvPicPr>
        <p:blipFill>
          <a:blip r:embed="rId5"/>
          <a:stretch>
            <a:fillRect/>
          </a:stretch>
        </p:blipFill>
        <p:spPr>
          <a:xfrm>
            <a:off x="6185916" y="1920240"/>
            <a:ext cx="5362956" cy="1572768"/>
          </a:xfrm>
          <a:prstGeom prst="rect">
            <a:avLst/>
          </a:prstGeom>
        </p:spPr>
      </p:pic>
      <p:sp>
        <p:nvSpPr>
          <p:cNvPr id="15" name="Text 8"/>
          <p:cNvSpPr/>
          <p:nvPr/>
        </p:nvSpPr>
        <p:spPr>
          <a:xfrm>
            <a:off x="6601680" y="2103120"/>
            <a:ext cx="590076" cy="731520"/>
          </a:xfrm>
          <a:prstGeom prst="rect">
            <a:avLst/>
          </a:prstGeom>
          <a:noFill/>
          <a:ln/>
        </p:spPr>
        <p:txBody>
          <a:bodyPr wrap="square" lIns="0" tIns="0" rIns="0" bIns="0" rtlCol="0" anchor="t"/>
          <a:lstStyle/>
          <a:p>
            <a:pPr indent="0" marL="0">
              <a:buNone/>
            </a:pPr>
            <a:r>
              <a:rPr lang="en-US" sz="3400" dirty="0">
                <a:solidFill>
                  <a:srgbClr val="DA291C"/>
                </a:solidFill>
                <a:latin typeface="Poppins ExtraBold" pitchFamily="34" charset="0"/>
                <a:ea typeface="Poppins ExtraBold" pitchFamily="34" charset="-122"/>
                <a:cs typeface="Poppins ExtraBold" pitchFamily="34" charset="-120"/>
              </a:rPr>
              <a:t>W</a:t>
            </a:r>
            <a:endParaRPr lang="en-US" sz="3400" dirty="0"/>
          </a:p>
        </p:txBody>
      </p:sp>
      <p:sp>
        <p:nvSpPr>
          <p:cNvPr id="16" name="Text 9"/>
          <p:cNvSpPr/>
          <p:nvPr/>
        </p:nvSpPr>
        <p:spPr>
          <a:xfrm>
            <a:off x="7237476" y="2139696"/>
            <a:ext cx="2743200" cy="27432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Weaknesses</a:t>
            </a:r>
            <a:endParaRPr lang="en-US" sz="1400" dirty="0"/>
          </a:p>
        </p:txBody>
      </p:sp>
      <p:sp>
        <p:nvSpPr>
          <p:cNvPr id="17" name="Text 10"/>
          <p:cNvSpPr/>
          <p:nvPr/>
        </p:nvSpPr>
        <p:spPr>
          <a:xfrm>
            <a:off x="7237476" y="2377440"/>
            <a:ext cx="3943899" cy="914400"/>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Bergantung pada Ferguson, 68 tahun akhir 2009</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Belum ada keputusan suksesi</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Ronaldo, pemain peringkat FIFA, baru dijual</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Utang £616 jt dari akuisisi Glazer 2005</a:t>
            </a:r>
            <a:endParaRPr lang="en-US" sz="1200" dirty="0"/>
          </a:p>
        </p:txBody>
      </p:sp>
      <p:pic>
        <p:nvPicPr>
          <p:cNvPr id="18" name="Image 4" descr="opt/paper_169.png">    </p:cNvPr>
          <p:cNvPicPr>
            <a:picLocks noChangeAspect="1"/>
          </p:cNvPicPr>
          <p:nvPr/>
        </p:nvPicPr>
        <p:blipFill>
          <a:blip r:embed="rId6"/>
          <a:stretch>
            <a:fillRect/>
          </a:stretch>
        </p:blipFill>
        <p:spPr>
          <a:xfrm>
            <a:off x="640080" y="3547872"/>
            <a:ext cx="5362956" cy="1572768"/>
          </a:xfrm>
          <a:prstGeom prst="rect">
            <a:avLst/>
          </a:prstGeom>
        </p:spPr>
      </p:pic>
      <p:sp>
        <p:nvSpPr>
          <p:cNvPr id="19" name="Text 11"/>
          <p:cNvSpPr/>
          <p:nvPr/>
        </p:nvSpPr>
        <p:spPr>
          <a:xfrm>
            <a:off x="1055844" y="3730752"/>
            <a:ext cx="590076" cy="731520"/>
          </a:xfrm>
          <a:prstGeom prst="rect">
            <a:avLst/>
          </a:prstGeom>
          <a:noFill/>
          <a:ln/>
        </p:spPr>
        <p:txBody>
          <a:bodyPr wrap="square" lIns="0" tIns="0" rIns="0" bIns="0" rtlCol="0" anchor="t"/>
          <a:lstStyle/>
          <a:p>
            <a:pPr indent="0" marL="0">
              <a:buNone/>
            </a:pPr>
            <a:r>
              <a:rPr lang="en-US" sz="3400" dirty="0">
                <a:solidFill>
                  <a:srgbClr val="DA291C"/>
                </a:solidFill>
                <a:latin typeface="Poppins ExtraBold" pitchFamily="34" charset="0"/>
                <a:ea typeface="Poppins ExtraBold" pitchFamily="34" charset="-122"/>
                <a:cs typeface="Poppins ExtraBold" pitchFamily="34" charset="-120"/>
              </a:rPr>
              <a:t>O</a:t>
            </a:r>
            <a:endParaRPr lang="en-US" sz="3400" dirty="0"/>
          </a:p>
        </p:txBody>
      </p:sp>
      <p:sp>
        <p:nvSpPr>
          <p:cNvPr id="20" name="Text 12"/>
          <p:cNvSpPr/>
          <p:nvPr/>
        </p:nvSpPr>
        <p:spPr>
          <a:xfrm>
            <a:off x="1691640" y="3767328"/>
            <a:ext cx="2743200" cy="274320"/>
          </a:xfrm>
          <a:prstGeom prst="rect">
            <a:avLst/>
          </a:prstGeom>
          <a:noFill/>
          <a:ln/>
        </p:spPr>
        <p:txBody>
          <a:bodyPr wrap="square" lIns="0" tIns="0" rIns="0" bIns="0" rtlCol="0" anchor="t"/>
          <a:lstStyle/>
          <a:p>
            <a:pPr indent="0" marL="0">
              <a:buNone/>
            </a:pPr>
            <a:r>
              <a:rPr lang="en-US" sz="1400" dirty="0">
                <a:solidFill>
                  <a:srgbClr val="160809"/>
                </a:solidFill>
                <a:latin typeface="Poppins ExtraBold" pitchFamily="34" charset="0"/>
                <a:ea typeface="Poppins ExtraBold" pitchFamily="34" charset="-122"/>
                <a:cs typeface="Poppins ExtraBold" pitchFamily="34" charset="-120"/>
              </a:rPr>
              <a:t>Opportunities</a:t>
            </a:r>
            <a:endParaRPr lang="en-US" sz="1400" dirty="0"/>
          </a:p>
        </p:txBody>
      </p:sp>
      <p:sp>
        <p:nvSpPr>
          <p:cNvPr id="21" name="Text 13"/>
          <p:cNvSpPr/>
          <p:nvPr/>
        </p:nvSpPr>
        <p:spPr>
          <a:xfrm>
            <a:off x="1691640" y="4005072"/>
            <a:ext cx="3943899" cy="914400"/>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Pasar Asia: India dan Cina target Aon</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Sponsor per negara bisa diperbanyak</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Hak siar Premier League naik 43% setahun</a:t>
            </a:r>
            <a:endParaRPr lang="en-US" sz="1200" dirty="0"/>
          </a:p>
          <a:p>
            <a:pPr marL="177800" indent="-177800">
              <a:lnSpc>
                <a:spcPct val="100000"/>
              </a:lnSpc>
              <a:spcAft>
                <a:spcPts val="300"/>
              </a:spcAft>
              <a:buSzPct val="100000"/>
              <a:buChar char="•"/>
            </a:pPr>
            <a:r>
              <a:rPr lang="en-US" sz="1200" dirty="0">
                <a:solidFill>
                  <a:srgbClr val="160809"/>
                </a:solidFill>
                <a:latin typeface="Poppins" pitchFamily="34" charset="0"/>
                <a:ea typeface="Poppins" pitchFamily="34" charset="-122"/>
                <a:cs typeface="Poppins" pitchFamily="34" charset="-120"/>
              </a:rPr>
              <a:t>Kanal digital: MUTV, MU Mobile, toko online</a:t>
            </a:r>
            <a:endParaRPr lang="en-US" sz="1200" dirty="0"/>
          </a:p>
        </p:txBody>
      </p:sp>
      <p:pic>
        <p:nvPicPr>
          <p:cNvPr id="22" name="Image 5" descr="opt/red_219.png">    </p:cNvPr>
          <p:cNvPicPr>
            <a:picLocks noChangeAspect="1"/>
          </p:cNvPicPr>
          <p:nvPr/>
        </p:nvPicPr>
        <p:blipFill>
          <a:blip r:embed="rId7"/>
          <a:stretch>
            <a:fillRect/>
          </a:stretch>
        </p:blipFill>
        <p:spPr>
          <a:xfrm>
            <a:off x="6185916" y="3547872"/>
            <a:ext cx="5362956" cy="1572768"/>
          </a:xfrm>
          <a:prstGeom prst="rect">
            <a:avLst/>
          </a:prstGeom>
        </p:spPr>
      </p:pic>
      <p:sp>
        <p:nvSpPr>
          <p:cNvPr id="23" name="Text 14"/>
          <p:cNvSpPr/>
          <p:nvPr/>
        </p:nvSpPr>
        <p:spPr>
          <a:xfrm>
            <a:off x="6478524" y="3756172"/>
            <a:ext cx="713232" cy="706100"/>
          </a:xfrm>
          <a:prstGeom prst="rect">
            <a:avLst/>
          </a:prstGeom>
          <a:noFill/>
          <a:ln/>
        </p:spPr>
        <p:txBody>
          <a:bodyPr wrap="square" lIns="0" tIns="0" rIns="0" bIns="0" rtlCol="0" anchor="t"/>
          <a:lstStyle/>
          <a:p>
            <a:pPr indent="0" marL="0">
              <a:buNone/>
            </a:pPr>
            <a:r>
              <a:rPr lang="en-US" sz="3400" dirty="0">
                <a:solidFill>
                  <a:srgbClr val="FBE122"/>
                </a:solidFill>
                <a:latin typeface="Poppins ExtraBold" pitchFamily="34" charset="0"/>
                <a:ea typeface="Poppins ExtraBold" pitchFamily="34" charset="-122"/>
                <a:cs typeface="Poppins ExtraBold" pitchFamily="34" charset="-120"/>
              </a:rPr>
              <a:t>T</a:t>
            </a:r>
            <a:endParaRPr lang="en-US" sz="3400" dirty="0"/>
          </a:p>
        </p:txBody>
      </p:sp>
      <p:sp>
        <p:nvSpPr>
          <p:cNvPr id="24" name="Text 15"/>
          <p:cNvSpPr/>
          <p:nvPr/>
        </p:nvSpPr>
        <p:spPr>
          <a:xfrm>
            <a:off x="7237476" y="3767328"/>
            <a:ext cx="2743200" cy="274320"/>
          </a:xfrm>
          <a:prstGeom prst="rect">
            <a:avLst/>
          </a:prstGeom>
          <a:noFill/>
          <a:ln/>
        </p:spPr>
        <p:txBody>
          <a:bodyPr wrap="square" lIns="0" tIns="0" rIns="0" bIns="0" rtlCol="0" anchor="t"/>
          <a:lstStyle/>
          <a:p>
            <a:pPr indent="0" marL="0">
              <a:buNone/>
            </a:pPr>
            <a:r>
              <a:rPr lang="en-US" sz="1400" dirty="0">
                <a:solidFill>
                  <a:srgbClr val="FFFFFF"/>
                </a:solidFill>
                <a:latin typeface="Poppins ExtraBold" pitchFamily="34" charset="0"/>
                <a:ea typeface="Poppins ExtraBold" pitchFamily="34" charset="-122"/>
                <a:cs typeface="Poppins ExtraBold" pitchFamily="34" charset="-120"/>
              </a:rPr>
              <a:t>Threats</a:t>
            </a:r>
            <a:endParaRPr lang="en-US" sz="1400" dirty="0"/>
          </a:p>
        </p:txBody>
      </p:sp>
      <p:sp>
        <p:nvSpPr>
          <p:cNvPr id="25" name="Text 16"/>
          <p:cNvSpPr/>
          <p:nvPr/>
        </p:nvSpPr>
        <p:spPr>
          <a:xfrm>
            <a:off x="7237476" y="4005072"/>
            <a:ext cx="3991356" cy="888394"/>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Harga pemain meledak; City belanja £185 jt</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Pemilik super kaya: Abramovich, Mansour</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MU tak dapat suntikan dana pemilik</a:t>
            </a:r>
            <a:endParaRPr lang="en-US" sz="1200" dirty="0"/>
          </a:p>
          <a:p>
            <a:pPr marL="177800" indent="-177800">
              <a:lnSpc>
                <a:spcPct val="100000"/>
              </a:lnSpc>
              <a:spcAft>
                <a:spcPts val="300"/>
              </a:spcAft>
              <a:buSzPct val="100000"/>
              <a:buChar char="•"/>
            </a:pPr>
            <a:r>
              <a:rPr lang="en-US" sz="1200" dirty="0">
                <a:solidFill>
                  <a:srgbClr val="FFFFFF"/>
                </a:solidFill>
                <a:latin typeface="Poppins" pitchFamily="34" charset="0"/>
                <a:ea typeface="Poppins" pitchFamily="34" charset="-122"/>
                <a:cs typeface="Poppins" pitchFamily="34" charset="-120"/>
              </a:rPr>
              <a:t>Barcelona unggul poin 200,0 vs 192,5</a:t>
            </a:r>
            <a:endParaRPr lang="en-US" sz="1200" dirty="0"/>
          </a:p>
        </p:txBody>
      </p:sp>
      <p:pic>
        <p:nvPicPr>
          <p:cNvPr id="26" name="Image 6" descr="opt/red_219.png">    </p:cNvPr>
          <p:cNvPicPr>
            <a:picLocks noChangeAspect="1"/>
          </p:cNvPicPr>
          <p:nvPr/>
        </p:nvPicPr>
        <p:blipFill>
          <a:blip r:embed="rId8"/>
          <a:stretch>
            <a:fillRect/>
          </a:stretch>
        </p:blipFill>
        <p:spPr>
          <a:xfrm>
            <a:off x="640080" y="5212080"/>
            <a:ext cx="10908792" cy="863194"/>
          </a:xfrm>
          <a:prstGeom prst="rect">
            <a:avLst/>
          </a:prstGeom>
        </p:spPr>
      </p:pic>
      <p:sp>
        <p:nvSpPr>
          <p:cNvPr id="27" name="Text 17"/>
          <p:cNvSpPr/>
          <p:nvPr/>
        </p:nvSpPr>
        <p:spPr>
          <a:xfrm>
            <a:off x="1130976" y="5413248"/>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Kesimpulan (langkah 2):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kekuatan MU cukup untuk menangkap peluang komersial Asia. Tapi kelemahan terbesarnya, ketergantungan pada Ferguson, menyerang sisi lapangan, syarat mengalirnya pendapatan komersial.</a:t>
            </a:r>
            <a:endParaRPr lang="en-US" sz="1200" dirty="0"/>
          </a:p>
        </p:txBody>
      </p:sp>
      <p:pic>
        <p:nvPicPr>
          <p:cNvPr id="28" name="Image 7" descr="opt/st_stretford.png">    </p:cNvPr>
          <p:cNvPicPr>
            <a:picLocks noChangeAspect="1"/>
          </p:cNvPicPr>
          <p:nvPr/>
        </p:nvPicPr>
        <p:blipFill>
          <a:blip r:embed="rId9"/>
          <a:stretch>
            <a:fillRect/>
          </a:stretch>
        </p:blipFill>
        <p:spPr>
          <a:xfrm rot="-420000">
            <a:off x="9677095" y="182880"/>
            <a:ext cx="2011680" cy="146899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INVENTARISASI RESOURCE MANCHESTER UNITED</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Langkah pertama Q3: mendaftar aset bersaing klub memakai delapan kategori Table 4.3, semuanya dari bukti kasus.</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Manchester United.</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25</a:t>
            </a:r>
            <a:endParaRPr lang="en-US" sz="1200" dirty="0"/>
          </a:p>
        </p:txBody>
      </p:sp>
      <p:pic>
        <p:nvPicPr>
          <p:cNvPr id="10" name="Image 2" descr="opt/paper_32.png">    </p:cNvPr>
          <p:cNvPicPr>
            <a:picLocks noChangeAspect="1"/>
          </p:cNvPicPr>
          <p:nvPr/>
        </p:nvPicPr>
        <p:blipFill>
          <a:blip r:embed="rId4"/>
          <a:stretch>
            <a:fillRect/>
          </a:stretch>
        </p:blipFill>
        <p:spPr>
          <a:xfrm>
            <a:off x="640080" y="1920240"/>
            <a:ext cx="5340096" cy="3200400"/>
          </a:xfrm>
          <a:prstGeom prst="rect">
            <a:avLst/>
          </a:prstGeom>
        </p:spPr>
      </p:pic>
      <p:sp>
        <p:nvSpPr>
          <p:cNvPr id="11" name="Text 5"/>
          <p:cNvSpPr/>
          <p:nvPr/>
        </p:nvSpPr>
        <p:spPr>
          <a:xfrm>
            <a:off x="1059607" y="2187702"/>
            <a:ext cx="4600529" cy="244602"/>
          </a:xfrm>
          <a:prstGeom prst="rect">
            <a:avLst/>
          </a:prstGeom>
          <a:noFill/>
          <a:ln/>
        </p:spPr>
        <p:txBody>
          <a:bodyPr wrap="square" lIns="0" tIns="0" rIns="0" bIns="0" rtlCol="0" anchor="t"/>
          <a:lstStyle/>
          <a:p>
            <a:pPr indent="0" marL="0">
              <a:buNone/>
            </a:pPr>
            <a:r>
              <a:rPr lang="en-US" sz="1300" spc="200" kern="0" dirty="0">
                <a:solidFill>
                  <a:srgbClr val="DA291C"/>
                </a:solidFill>
                <a:latin typeface="Poppins ExtraBold" pitchFamily="34" charset="0"/>
                <a:ea typeface="Poppins ExtraBold" pitchFamily="34" charset="-122"/>
                <a:cs typeface="Poppins ExtraBold" pitchFamily="34" charset="-120"/>
              </a:rPr>
              <a:t>TANGIBLE</a:t>
            </a:r>
            <a:endParaRPr lang="en-US" sz="1300" dirty="0"/>
          </a:p>
        </p:txBody>
      </p:sp>
      <p:sp>
        <p:nvSpPr>
          <p:cNvPr id="12" name="Shape 6"/>
          <p:cNvSpPr/>
          <p:nvPr/>
        </p:nvSpPr>
        <p:spPr>
          <a:xfrm>
            <a:off x="960120" y="2468880"/>
            <a:ext cx="4700016" cy="13716"/>
          </a:xfrm>
          <a:prstGeom prst="rect">
            <a:avLst/>
          </a:prstGeom>
          <a:solidFill>
            <a:srgbClr val="DA291C"/>
          </a:solidFill>
          <a:ln w="12700">
            <a:solidFill>
              <a:srgbClr val="DA291C"/>
            </a:solidFill>
            <a:prstDash val="solid"/>
          </a:ln>
        </p:spPr>
      </p:sp>
      <p:sp>
        <p:nvSpPr>
          <p:cNvPr id="13" name="Text 7"/>
          <p:cNvSpPr/>
          <p:nvPr/>
        </p:nvSpPr>
        <p:spPr>
          <a:xfrm>
            <a:off x="1059607" y="257860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Finansial</a:t>
            </a:r>
            <a:endParaRPr lang="en-US" sz="1200" dirty="0"/>
          </a:p>
        </p:txBody>
      </p:sp>
      <p:sp>
        <p:nvSpPr>
          <p:cNvPr id="14" name="Text 8"/>
          <p:cNvSpPr/>
          <p:nvPr/>
        </p:nvSpPr>
        <p:spPr>
          <a:xfrm>
            <a:off x="2423160" y="257860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EBITDA €101,9 jt, tertinggi Table 6.5; laba bersih 2008 £46,8 jt; ekuitas £294 jt.</a:t>
            </a:r>
            <a:endParaRPr lang="en-US" sz="1200" dirty="0"/>
          </a:p>
        </p:txBody>
      </p:sp>
      <p:sp>
        <p:nvSpPr>
          <p:cNvPr id="15" name="Text 9"/>
          <p:cNvSpPr/>
          <p:nvPr/>
        </p:nvSpPr>
        <p:spPr>
          <a:xfrm>
            <a:off x="1059607" y="316153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Fisik</a:t>
            </a:r>
            <a:endParaRPr lang="en-US" sz="1200" dirty="0"/>
          </a:p>
        </p:txBody>
      </p:sp>
      <p:sp>
        <p:nvSpPr>
          <p:cNvPr id="16" name="Text 10"/>
          <p:cNvSpPr/>
          <p:nvPr/>
        </p:nvSpPr>
        <p:spPr>
          <a:xfrm>
            <a:off x="2423160" y="316153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Old Trafford, diperluas 2006 (+7.500 kursi); museum, tur stadion, suite, ballroom.</a:t>
            </a:r>
            <a:endParaRPr lang="en-US" sz="1200" dirty="0"/>
          </a:p>
        </p:txBody>
      </p:sp>
      <p:sp>
        <p:nvSpPr>
          <p:cNvPr id="17" name="Text 11"/>
          <p:cNvSpPr/>
          <p:nvPr/>
        </p:nvSpPr>
        <p:spPr>
          <a:xfrm>
            <a:off x="1059607" y="374446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Teknologi</a:t>
            </a:r>
            <a:endParaRPr lang="en-US" sz="1200" dirty="0"/>
          </a:p>
        </p:txBody>
      </p:sp>
      <p:sp>
        <p:nvSpPr>
          <p:cNvPr id="18" name="Text 12"/>
          <p:cNvSpPr/>
          <p:nvPr/>
        </p:nvSpPr>
        <p:spPr>
          <a:xfrm>
            <a:off x="2423160" y="374446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MUTV (siaran web), MU Mobile (SMS dan video), toko online store.manutd.com.</a:t>
            </a:r>
            <a:endParaRPr lang="en-US" sz="1200" dirty="0"/>
          </a:p>
        </p:txBody>
      </p:sp>
      <p:sp>
        <p:nvSpPr>
          <p:cNvPr id="19" name="Text 13"/>
          <p:cNvSpPr/>
          <p:nvPr/>
        </p:nvSpPr>
        <p:spPr>
          <a:xfrm>
            <a:off x="1059607" y="432739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Organisasional</a:t>
            </a:r>
            <a:endParaRPr lang="en-US" sz="1200" dirty="0"/>
          </a:p>
        </p:txBody>
      </p:sp>
      <p:sp>
        <p:nvSpPr>
          <p:cNvPr id="20" name="Text 14"/>
          <p:cNvSpPr/>
          <p:nvPr/>
        </p:nvSpPr>
        <p:spPr>
          <a:xfrm>
            <a:off x="2423160" y="432739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Urusan tim (Ferguson) terpisah dari komersial (Gill, Richard Arnold); MU International.</a:t>
            </a:r>
            <a:endParaRPr lang="en-US" sz="1200" dirty="0"/>
          </a:p>
        </p:txBody>
      </p:sp>
      <p:pic>
        <p:nvPicPr>
          <p:cNvPr id="21" name="Image 3" descr="opt/paper_32.png">    </p:cNvPr>
          <p:cNvPicPr>
            <a:picLocks noChangeAspect="1"/>
          </p:cNvPicPr>
          <p:nvPr/>
        </p:nvPicPr>
        <p:blipFill>
          <a:blip r:embed="rId5"/>
          <a:stretch>
            <a:fillRect/>
          </a:stretch>
        </p:blipFill>
        <p:spPr>
          <a:xfrm>
            <a:off x="6208776" y="1920240"/>
            <a:ext cx="5340096" cy="3200400"/>
          </a:xfrm>
          <a:prstGeom prst="rect">
            <a:avLst/>
          </a:prstGeom>
        </p:spPr>
      </p:pic>
      <p:sp>
        <p:nvSpPr>
          <p:cNvPr id="22" name="Text 15"/>
          <p:cNvSpPr/>
          <p:nvPr/>
        </p:nvSpPr>
        <p:spPr>
          <a:xfrm>
            <a:off x="6628303" y="2187702"/>
            <a:ext cx="4600529" cy="244602"/>
          </a:xfrm>
          <a:prstGeom prst="rect">
            <a:avLst/>
          </a:prstGeom>
          <a:noFill/>
          <a:ln/>
        </p:spPr>
        <p:txBody>
          <a:bodyPr wrap="square" lIns="0" tIns="0" rIns="0" bIns="0" rtlCol="0" anchor="t"/>
          <a:lstStyle/>
          <a:p>
            <a:pPr indent="0" marL="0">
              <a:buNone/>
            </a:pPr>
            <a:r>
              <a:rPr lang="en-US" sz="1300" spc="200" kern="0" dirty="0">
                <a:solidFill>
                  <a:srgbClr val="DA291C"/>
                </a:solidFill>
                <a:latin typeface="Poppins ExtraBold" pitchFamily="34" charset="0"/>
                <a:ea typeface="Poppins ExtraBold" pitchFamily="34" charset="-122"/>
                <a:cs typeface="Poppins ExtraBold" pitchFamily="34" charset="-120"/>
              </a:rPr>
              <a:t>INTANGIBLE</a:t>
            </a:r>
            <a:endParaRPr lang="en-US" sz="1300" dirty="0"/>
          </a:p>
        </p:txBody>
      </p:sp>
      <p:sp>
        <p:nvSpPr>
          <p:cNvPr id="23" name="Shape 16"/>
          <p:cNvSpPr/>
          <p:nvPr/>
        </p:nvSpPr>
        <p:spPr>
          <a:xfrm>
            <a:off x="6528816" y="2468880"/>
            <a:ext cx="4700016" cy="13716"/>
          </a:xfrm>
          <a:prstGeom prst="rect">
            <a:avLst/>
          </a:prstGeom>
          <a:solidFill>
            <a:srgbClr val="DA291C"/>
          </a:solidFill>
          <a:ln w="12700">
            <a:solidFill>
              <a:srgbClr val="DA291C"/>
            </a:solidFill>
            <a:prstDash val="solid"/>
          </a:ln>
        </p:spPr>
      </p:sp>
      <p:sp>
        <p:nvSpPr>
          <p:cNvPr id="24" name="Text 17"/>
          <p:cNvSpPr/>
          <p:nvPr/>
        </p:nvSpPr>
        <p:spPr>
          <a:xfrm>
            <a:off x="6628303" y="257860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Human assets</a:t>
            </a:r>
            <a:endParaRPr lang="en-US" sz="1200" dirty="0"/>
          </a:p>
        </p:txBody>
      </p:sp>
      <p:sp>
        <p:nvSpPr>
          <p:cNvPr id="25" name="Text 18"/>
          <p:cNvSpPr/>
          <p:nvPr/>
        </p:nvSpPr>
        <p:spPr>
          <a:xfrm>
            <a:off x="7991856" y="257860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Ferguson sejak 1986; skuad 34 pemain; 20+ pemandu bakat. Ronaldo, peringkat 1 FIFA, dijual 2009.</a:t>
            </a:r>
            <a:endParaRPr lang="en-US" sz="1200" dirty="0"/>
          </a:p>
        </p:txBody>
      </p:sp>
      <p:sp>
        <p:nvSpPr>
          <p:cNvPr id="26" name="Text 19"/>
          <p:cNvSpPr/>
          <p:nvPr/>
        </p:nvSpPr>
        <p:spPr>
          <a:xfrm>
            <a:off x="6628303" y="316153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Merek &amp; reputasi</a:t>
            </a:r>
            <a:endParaRPr lang="en-US" sz="1200" dirty="0"/>
          </a:p>
        </p:txBody>
      </p:sp>
      <p:sp>
        <p:nvSpPr>
          <p:cNvPr id="27" name="Text 20"/>
          <p:cNvSpPr/>
          <p:nvPr/>
        </p:nvSpPr>
        <p:spPr>
          <a:xfrm>
            <a:off x="7991856" y="316153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80 juta pendukung di Asia; sub-merek Fred the Red, MUFC, Red Devil. Aon: tak tertandingi.</a:t>
            </a:r>
            <a:endParaRPr lang="en-US" sz="1200" dirty="0"/>
          </a:p>
        </p:txBody>
      </p:sp>
      <p:sp>
        <p:nvSpPr>
          <p:cNvPr id="28" name="Text 21"/>
          <p:cNvSpPr/>
          <p:nvPr/>
        </p:nvSpPr>
        <p:spPr>
          <a:xfrm>
            <a:off x="6628303" y="374446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Relasi</a:t>
            </a:r>
            <a:endParaRPr lang="en-US" sz="1200" dirty="0"/>
          </a:p>
        </p:txBody>
      </p:sp>
      <p:sp>
        <p:nvSpPr>
          <p:cNvPr id="29" name="Text 22"/>
          <p:cNvSpPr/>
          <p:nvPr/>
        </p:nvSpPr>
        <p:spPr>
          <a:xfrm>
            <a:off x="7991856" y="374446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Nike dan AIG (diganti Aon, £80 jt/4 tahun), 13 sponsor lain termasuk Tri Indonesia, Bharti Airtel.</a:t>
            </a:r>
            <a:endParaRPr lang="en-US" sz="1200" dirty="0"/>
          </a:p>
        </p:txBody>
      </p:sp>
      <p:sp>
        <p:nvSpPr>
          <p:cNvPr id="30" name="Text 23"/>
          <p:cNvSpPr/>
          <p:nvPr/>
        </p:nvSpPr>
        <p:spPr>
          <a:xfrm>
            <a:off x="6628303" y="4327398"/>
            <a:ext cx="1317833" cy="537210"/>
          </a:xfrm>
          <a:prstGeom prst="rect">
            <a:avLst/>
          </a:prstGeom>
          <a:noFill/>
          <a:ln/>
        </p:spPr>
        <p:txBody>
          <a:bodyPr wrap="square" lIns="0" tIns="0" rIns="0" bIns="0" rtlCol="0" anchor="ctr"/>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Budaya &amp; insentif</a:t>
            </a:r>
            <a:endParaRPr lang="en-US" sz="1200" dirty="0"/>
          </a:p>
        </p:txBody>
      </p:sp>
      <p:sp>
        <p:nvSpPr>
          <p:cNvPr id="31" name="Text 24"/>
          <p:cNvSpPr/>
          <p:nvPr/>
        </p:nvSpPr>
        <p:spPr>
          <a:xfrm>
            <a:off x="7991856" y="4327398"/>
            <a:ext cx="3236976" cy="537210"/>
          </a:xfrm>
          <a:prstGeom prst="rect">
            <a:avLst/>
          </a:prstGeom>
          <a:noFill/>
          <a:ln/>
        </p:spPr>
        <p:txBody>
          <a:bodyPr wrap="square" lIns="0" tIns="0" rIns="0" bIns="0" rtlCol="0" anchor="ctr"/>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Disiplin latihan ketat, perang terhadap alkohol, "tidak ada pemain lebih besar dari klub".</a:t>
            </a:r>
            <a:endParaRPr lang="en-US" sz="1200" dirty="0"/>
          </a:p>
        </p:txBody>
      </p:sp>
      <p:pic>
        <p:nvPicPr>
          <p:cNvPr id="32" name="Image 4" descr="opt/red_219.png">    </p:cNvPr>
          <p:cNvPicPr>
            <a:picLocks noChangeAspect="1"/>
          </p:cNvPicPr>
          <p:nvPr/>
        </p:nvPicPr>
        <p:blipFill>
          <a:blip r:embed="rId6"/>
          <a:stretch>
            <a:fillRect/>
          </a:stretch>
        </p:blipFill>
        <p:spPr>
          <a:xfrm>
            <a:off x="640080" y="5230368"/>
            <a:ext cx="10908792" cy="863194"/>
          </a:xfrm>
          <a:prstGeom prst="rect">
            <a:avLst/>
          </a:prstGeom>
        </p:spPr>
      </p:pic>
      <p:sp>
        <p:nvSpPr>
          <p:cNvPr id="33" name="Text 25"/>
          <p:cNvSpPr/>
          <p:nvPr/>
        </p:nvSpPr>
        <p:spPr>
          <a:xfrm>
            <a:off x="1130976" y="5431536"/>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Perhatikan komposisinya: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aset yang paling membedakan MU ada di kolom kanan, yang tak berwujud. Itu yang membuat klub unggul sekaligus rapuh: sebagian melekat pada orang, dan orang bisa pergi.</a:t>
            </a:r>
            <a:endParaRPr lang="en-US" sz="1200" dirty="0"/>
          </a:p>
        </p:txBody>
      </p:sp>
      <p:pic>
        <p:nvPicPr>
          <p:cNvPr id="34" name="Image 5" descr="opt/st_players.png">    </p:cNvPr>
          <p:cNvPicPr>
            <a:picLocks noChangeAspect="1"/>
          </p:cNvPicPr>
          <p:nvPr/>
        </p:nvPicPr>
        <p:blipFill>
          <a:blip r:embed="rId7"/>
          <a:stretch>
            <a:fillRect/>
          </a:stretch>
        </p:blipFill>
        <p:spPr>
          <a:xfrm rot="420000">
            <a:off x="9677095" y="182880"/>
            <a:ext cx="2011680" cy="139519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297" dirty="0">
                <a:solidFill>
                  <a:srgbClr val="FFFFFF"/>
                </a:solidFill>
                <a:latin typeface="Poppins ExtraBold" pitchFamily="34" charset="0"/>
                <a:ea typeface="Poppins ExtraBold" pitchFamily="34" charset="-122"/>
                <a:cs typeface="Poppins ExtraBold" pitchFamily="34" charset="-120"/>
              </a:rPr>
              <a:t>CAPABILITY MU, DAN MANA YANG CORE COMPETENCE</a:t>
            </a:r>
            <a:endParaRPr lang="en-US" sz="2297"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Kami pakai tingkatan di slide 7: mana yang competence, mana distinctive, dan mana yang benar-benar core competence.</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Manchester United.</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26</a:t>
            </a:r>
            <a:endParaRPr lang="en-US" sz="1200" dirty="0"/>
          </a:p>
        </p:txBody>
      </p:sp>
      <p:pic>
        <p:nvPicPr>
          <p:cNvPr id="10" name="Image 2" descr="opt/red_219.png">    </p:cNvPr>
          <p:cNvPicPr>
            <a:picLocks noChangeAspect="1"/>
          </p:cNvPicPr>
          <p:nvPr/>
        </p:nvPicPr>
        <p:blipFill>
          <a:blip r:embed="rId4"/>
          <a:stretch>
            <a:fillRect/>
          </a:stretch>
        </p:blipFill>
        <p:spPr>
          <a:xfrm>
            <a:off x="640080" y="1920240"/>
            <a:ext cx="3514344" cy="1600200"/>
          </a:xfrm>
          <a:prstGeom prst="rect">
            <a:avLst/>
          </a:prstGeom>
        </p:spPr>
      </p:pic>
      <p:sp>
        <p:nvSpPr>
          <p:cNvPr id="11" name="Text 5"/>
          <p:cNvSpPr/>
          <p:nvPr/>
        </p:nvSpPr>
        <p:spPr>
          <a:xfrm>
            <a:off x="932688" y="2139696"/>
            <a:ext cx="2929128"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CORE COMPETENCE</a:t>
            </a:r>
            <a:endParaRPr lang="en-US" sz="1200" dirty="0"/>
          </a:p>
        </p:txBody>
      </p:sp>
      <p:sp>
        <p:nvSpPr>
          <p:cNvPr id="12" name="Text 6"/>
          <p:cNvSpPr/>
          <p:nvPr/>
        </p:nvSpPr>
        <p:spPr>
          <a:xfrm>
            <a:off x="932688" y="2395728"/>
            <a:ext cx="2929128"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Mengenali dan membina bakat</a:t>
            </a:r>
            <a:endParaRPr lang="en-US" sz="1200" dirty="0"/>
          </a:p>
        </p:txBody>
      </p:sp>
      <p:sp>
        <p:nvSpPr>
          <p:cNvPr id="13" name="Text 7"/>
          <p:cNvSpPr/>
          <p:nvPr/>
        </p:nvSpPr>
        <p:spPr>
          <a:xfrm>
            <a:off x="932688" y="2706624"/>
            <a:ext cx="2929128" cy="583159"/>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Pemandu bakat dari 5 jadi 20+; Youth Academy; dua pemandu di Brasil.</a:t>
            </a:r>
            <a:endParaRPr lang="en-US" sz="1200" dirty="0"/>
          </a:p>
        </p:txBody>
      </p:sp>
      <p:pic>
        <p:nvPicPr>
          <p:cNvPr id="14" name="Image 3" descr="opt/red_219.png">    </p:cNvPr>
          <p:cNvPicPr>
            <a:picLocks noChangeAspect="1"/>
          </p:cNvPicPr>
          <p:nvPr/>
        </p:nvPicPr>
        <p:blipFill>
          <a:blip r:embed="rId5"/>
          <a:stretch>
            <a:fillRect/>
          </a:stretch>
        </p:blipFill>
        <p:spPr>
          <a:xfrm>
            <a:off x="4337304" y="1920240"/>
            <a:ext cx="3514344" cy="1600200"/>
          </a:xfrm>
          <a:prstGeom prst="rect">
            <a:avLst/>
          </a:prstGeom>
        </p:spPr>
      </p:pic>
      <p:sp>
        <p:nvSpPr>
          <p:cNvPr id="15" name="Text 8"/>
          <p:cNvSpPr/>
          <p:nvPr/>
        </p:nvSpPr>
        <p:spPr>
          <a:xfrm>
            <a:off x="4629912" y="2139696"/>
            <a:ext cx="2929128"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CORE COMPETENCE</a:t>
            </a:r>
            <a:endParaRPr lang="en-US" sz="1200" dirty="0"/>
          </a:p>
        </p:txBody>
      </p:sp>
      <p:sp>
        <p:nvSpPr>
          <p:cNvPr id="16" name="Text 9"/>
          <p:cNvSpPr/>
          <p:nvPr/>
        </p:nvSpPr>
        <p:spPr>
          <a:xfrm>
            <a:off x="4629912" y="2395728"/>
            <a:ext cx="2929128"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Membentuk dan merotasi tim</a:t>
            </a:r>
            <a:endParaRPr lang="en-US" sz="1200" dirty="0"/>
          </a:p>
        </p:txBody>
      </p:sp>
      <p:sp>
        <p:nvSpPr>
          <p:cNvPr id="17" name="Text 10"/>
          <p:cNvSpPr/>
          <p:nvPr/>
        </p:nvSpPr>
        <p:spPr>
          <a:xfrm>
            <a:off x="4629912" y="2706624"/>
            <a:ext cx="2929128" cy="583159"/>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Memadukan pemain muda dan berpengalaman; pelopor rotasi skuad.</a:t>
            </a:r>
            <a:endParaRPr lang="en-US" sz="1200" dirty="0"/>
          </a:p>
        </p:txBody>
      </p:sp>
      <p:pic>
        <p:nvPicPr>
          <p:cNvPr id="18" name="Image 4" descr="opt/red_219.png">    </p:cNvPr>
          <p:cNvPicPr>
            <a:picLocks noChangeAspect="1"/>
          </p:cNvPicPr>
          <p:nvPr/>
        </p:nvPicPr>
        <p:blipFill>
          <a:blip r:embed="rId6"/>
          <a:stretch>
            <a:fillRect/>
          </a:stretch>
        </p:blipFill>
        <p:spPr>
          <a:xfrm>
            <a:off x="8034528" y="1920240"/>
            <a:ext cx="3514344" cy="1600200"/>
          </a:xfrm>
          <a:prstGeom prst="rect">
            <a:avLst/>
          </a:prstGeom>
        </p:spPr>
      </p:pic>
      <p:sp>
        <p:nvSpPr>
          <p:cNvPr id="19" name="Text 11"/>
          <p:cNvSpPr/>
          <p:nvPr/>
        </p:nvSpPr>
        <p:spPr>
          <a:xfrm>
            <a:off x="8327136" y="2139696"/>
            <a:ext cx="2929128"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CORE COMPETENCE</a:t>
            </a:r>
            <a:endParaRPr lang="en-US" sz="1200" dirty="0"/>
          </a:p>
        </p:txBody>
      </p:sp>
      <p:sp>
        <p:nvSpPr>
          <p:cNvPr id="20" name="Text 12"/>
          <p:cNvSpPr/>
          <p:nvPr/>
        </p:nvSpPr>
        <p:spPr>
          <a:xfrm>
            <a:off x="8327136" y="2395728"/>
            <a:ext cx="2929128"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Mengubah merek jadi uang</a:t>
            </a:r>
            <a:endParaRPr lang="en-US" sz="1200" dirty="0"/>
          </a:p>
        </p:txBody>
      </p:sp>
      <p:sp>
        <p:nvSpPr>
          <p:cNvPr id="21" name="Text 13"/>
          <p:cNvSpPr/>
          <p:nvPr/>
        </p:nvSpPr>
        <p:spPr>
          <a:xfrm>
            <a:off x="8327136" y="2706624"/>
            <a:ext cx="2929128" cy="583159"/>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Sponsor per negara, sub-merek per usia, MU Finance, MUTV, tur Asia.</a:t>
            </a:r>
            <a:endParaRPr lang="en-US" sz="1200" dirty="0"/>
          </a:p>
        </p:txBody>
      </p:sp>
      <p:pic>
        <p:nvPicPr>
          <p:cNvPr id="22" name="Image 5" descr="opt/paper_169.png">    </p:cNvPr>
          <p:cNvPicPr>
            <a:picLocks noChangeAspect="1"/>
          </p:cNvPicPr>
          <p:nvPr/>
        </p:nvPicPr>
        <p:blipFill>
          <a:blip r:embed="rId7"/>
          <a:stretch>
            <a:fillRect/>
          </a:stretch>
        </p:blipFill>
        <p:spPr>
          <a:xfrm>
            <a:off x="640080" y="3630168"/>
            <a:ext cx="3514344" cy="1600200"/>
          </a:xfrm>
          <a:prstGeom prst="rect">
            <a:avLst/>
          </a:prstGeom>
        </p:spPr>
      </p:pic>
      <p:sp>
        <p:nvSpPr>
          <p:cNvPr id="23" name="Text 14"/>
          <p:cNvSpPr/>
          <p:nvPr/>
        </p:nvSpPr>
        <p:spPr>
          <a:xfrm>
            <a:off x="969264" y="3849624"/>
            <a:ext cx="2855976" cy="219456"/>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DISTINCTIVE</a:t>
            </a:r>
            <a:endParaRPr lang="en-US" sz="1200" dirty="0"/>
          </a:p>
        </p:txBody>
      </p:sp>
      <p:sp>
        <p:nvSpPr>
          <p:cNvPr id="24" name="Text 15"/>
          <p:cNvSpPr/>
          <p:nvPr/>
        </p:nvSpPr>
        <p:spPr>
          <a:xfrm>
            <a:off x="969264" y="4105656"/>
            <a:ext cx="2855976" cy="274320"/>
          </a:xfrm>
          <a:prstGeom prst="rect">
            <a:avLst/>
          </a:prstGeom>
          <a:noFill/>
          <a:ln/>
        </p:spPr>
        <p:txBody>
          <a:bodyPr wrap="square" lIns="0" tIns="0" rIns="0" bIns="0" rtlCol="0" anchor="t"/>
          <a:lstStyle/>
          <a:p>
            <a:pPr indent="0" marL="0">
              <a:lnSpc>
                <a:spcPct val="95000"/>
              </a:lnSpc>
              <a:buNone/>
            </a:pPr>
            <a:r>
              <a:rPr lang="en-US" sz="1200" dirty="0">
                <a:solidFill>
                  <a:srgbClr val="160809"/>
                </a:solidFill>
                <a:latin typeface="Poppins ExtraBold" pitchFamily="34" charset="0"/>
                <a:ea typeface="Poppins ExtraBold" pitchFamily="34" charset="-122"/>
                <a:cs typeface="Poppins ExtraBold" pitchFamily="34" charset="-120"/>
              </a:rPr>
              <a:t>Disiplin di pasar transfer</a:t>
            </a:r>
            <a:endParaRPr lang="en-US" sz="1200" dirty="0"/>
          </a:p>
        </p:txBody>
      </p:sp>
      <p:sp>
        <p:nvSpPr>
          <p:cNvPr id="25" name="Text 16"/>
          <p:cNvSpPr/>
          <p:nvPr/>
        </p:nvSpPr>
        <p:spPr>
          <a:xfrm>
            <a:off x="969264" y="4434840"/>
            <a:ext cx="2855976" cy="612648"/>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Belanja kotor £322 jt, bersih £100 jt. Mau menjual pemain yang dihargai tinggi: Ronaldo £80 jt.</a:t>
            </a:r>
            <a:endParaRPr lang="en-US" sz="1200" dirty="0"/>
          </a:p>
        </p:txBody>
      </p:sp>
      <p:pic>
        <p:nvPicPr>
          <p:cNvPr id="26" name="Image 6" descr="opt/paper_169.png">    </p:cNvPr>
          <p:cNvPicPr>
            <a:picLocks noChangeAspect="1"/>
          </p:cNvPicPr>
          <p:nvPr/>
        </p:nvPicPr>
        <p:blipFill>
          <a:blip r:embed="rId8"/>
          <a:stretch>
            <a:fillRect/>
          </a:stretch>
        </p:blipFill>
        <p:spPr>
          <a:xfrm>
            <a:off x="4337304" y="3630168"/>
            <a:ext cx="3514344" cy="1600200"/>
          </a:xfrm>
          <a:prstGeom prst="rect">
            <a:avLst/>
          </a:prstGeom>
        </p:spPr>
      </p:pic>
      <p:sp>
        <p:nvSpPr>
          <p:cNvPr id="27" name="Text 17"/>
          <p:cNvSpPr/>
          <p:nvPr/>
        </p:nvSpPr>
        <p:spPr>
          <a:xfrm>
            <a:off x="4666488" y="3849624"/>
            <a:ext cx="2855976" cy="219456"/>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DISTINCTIVE</a:t>
            </a:r>
            <a:endParaRPr lang="en-US" sz="1200" dirty="0"/>
          </a:p>
        </p:txBody>
      </p:sp>
      <p:sp>
        <p:nvSpPr>
          <p:cNvPr id="28" name="Text 18"/>
          <p:cNvSpPr/>
          <p:nvPr/>
        </p:nvSpPr>
        <p:spPr>
          <a:xfrm>
            <a:off x="4666488" y="4105656"/>
            <a:ext cx="2855976" cy="274320"/>
          </a:xfrm>
          <a:prstGeom prst="rect">
            <a:avLst/>
          </a:prstGeom>
          <a:noFill/>
          <a:ln/>
        </p:spPr>
        <p:txBody>
          <a:bodyPr wrap="square" lIns="0" tIns="0" rIns="0" bIns="0" rtlCol="0" anchor="t"/>
          <a:lstStyle/>
          <a:p>
            <a:pPr indent="0" marL="0">
              <a:lnSpc>
                <a:spcPct val="95000"/>
              </a:lnSpc>
              <a:buNone/>
            </a:pPr>
            <a:r>
              <a:rPr lang="en-US" sz="1200" dirty="0">
                <a:solidFill>
                  <a:srgbClr val="160809"/>
                </a:solidFill>
                <a:latin typeface="Poppins ExtraBold" pitchFamily="34" charset="0"/>
                <a:ea typeface="Poppins ExtraBold" pitchFamily="34" charset="-122"/>
                <a:cs typeface="Poppins ExtraBold" pitchFamily="34" charset="-120"/>
              </a:rPr>
              <a:t>Tata kelola klub</a:t>
            </a:r>
            <a:endParaRPr lang="en-US" sz="1200" dirty="0"/>
          </a:p>
        </p:txBody>
      </p:sp>
      <p:sp>
        <p:nvSpPr>
          <p:cNvPr id="29" name="Text 19"/>
          <p:cNvSpPr/>
          <p:nvPr/>
        </p:nvSpPr>
        <p:spPr>
          <a:xfrm>
            <a:off x="4666488" y="4434840"/>
            <a:ext cx="2855976" cy="612648"/>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Klub Inggris "paling berhasil membangun tata kelola efektif". Glazer memilih peran pasif.</a:t>
            </a:r>
            <a:endParaRPr lang="en-US" sz="1200" dirty="0"/>
          </a:p>
        </p:txBody>
      </p:sp>
      <p:pic>
        <p:nvPicPr>
          <p:cNvPr id="30" name="Image 7" descr="opt/paper_169.png">    </p:cNvPr>
          <p:cNvPicPr>
            <a:picLocks noChangeAspect="1"/>
          </p:cNvPicPr>
          <p:nvPr/>
        </p:nvPicPr>
        <p:blipFill>
          <a:blip r:embed="rId9"/>
          <a:stretch>
            <a:fillRect/>
          </a:stretch>
        </p:blipFill>
        <p:spPr>
          <a:xfrm>
            <a:off x="8034528" y="3630168"/>
            <a:ext cx="3514344" cy="1600200"/>
          </a:xfrm>
          <a:prstGeom prst="rect">
            <a:avLst/>
          </a:prstGeom>
        </p:spPr>
      </p:pic>
      <p:sp>
        <p:nvSpPr>
          <p:cNvPr id="31" name="Text 20"/>
          <p:cNvSpPr/>
          <p:nvPr/>
        </p:nvSpPr>
        <p:spPr>
          <a:xfrm>
            <a:off x="8363712" y="3849624"/>
            <a:ext cx="2855976" cy="219456"/>
          </a:xfrm>
          <a:prstGeom prst="rect">
            <a:avLst/>
          </a:prstGeom>
          <a:noFill/>
          <a:ln/>
        </p:spPr>
        <p:txBody>
          <a:bodyPr wrap="square" lIns="0" tIns="0" rIns="0" bIns="0" rtlCol="0" anchor="t"/>
          <a:lstStyle/>
          <a:p>
            <a:pPr indent="0" marL="0">
              <a:buNone/>
            </a:pPr>
            <a:r>
              <a:rPr lang="en-US" sz="1200" spc="100" kern="0" dirty="0">
                <a:solidFill>
                  <a:srgbClr val="4A2E2A"/>
                </a:solidFill>
                <a:latin typeface="Poppins SemiBold" pitchFamily="34" charset="0"/>
                <a:ea typeface="Poppins SemiBold" pitchFamily="34" charset="-122"/>
                <a:cs typeface="Poppins SemiBold" pitchFamily="34" charset="-120"/>
              </a:rPr>
              <a:t>COMPETENCE</a:t>
            </a:r>
            <a:endParaRPr lang="en-US" sz="1200" dirty="0"/>
          </a:p>
        </p:txBody>
      </p:sp>
      <p:sp>
        <p:nvSpPr>
          <p:cNvPr id="32" name="Text 21"/>
          <p:cNvSpPr/>
          <p:nvPr/>
        </p:nvSpPr>
        <p:spPr>
          <a:xfrm>
            <a:off x="8363712" y="4105656"/>
            <a:ext cx="2855976" cy="274320"/>
          </a:xfrm>
          <a:prstGeom prst="rect">
            <a:avLst/>
          </a:prstGeom>
          <a:noFill/>
          <a:ln/>
        </p:spPr>
        <p:txBody>
          <a:bodyPr wrap="square" lIns="0" tIns="0" rIns="0" bIns="0" rtlCol="0" anchor="t"/>
          <a:lstStyle/>
          <a:p>
            <a:pPr indent="0" marL="0">
              <a:lnSpc>
                <a:spcPct val="95000"/>
              </a:lnSpc>
              <a:buNone/>
            </a:pPr>
            <a:r>
              <a:rPr lang="en-US" sz="1200" dirty="0">
                <a:solidFill>
                  <a:srgbClr val="160809"/>
                </a:solidFill>
                <a:latin typeface="Poppins ExtraBold" pitchFamily="34" charset="0"/>
                <a:ea typeface="Poppins ExtraBold" pitchFamily="34" charset="-122"/>
                <a:cs typeface="Poppins ExtraBold" pitchFamily="34" charset="-120"/>
              </a:rPr>
              <a:t>Mengelola stadion dan acara</a:t>
            </a:r>
            <a:endParaRPr lang="en-US" sz="1200" dirty="0"/>
          </a:p>
        </p:txBody>
      </p:sp>
      <p:sp>
        <p:nvSpPr>
          <p:cNvPr id="33" name="Text 22"/>
          <p:cNvSpPr/>
          <p:nvPr/>
        </p:nvSpPr>
        <p:spPr>
          <a:xfrm>
            <a:off x="8363712" y="4434840"/>
            <a:ext cx="2855976" cy="612648"/>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Old Trafford disewakan untuk konferensi dan pernikahan; museum dan tur. Klub besar lain juga bisa.</a:t>
            </a:r>
            <a:endParaRPr lang="en-US" sz="1200" dirty="0"/>
          </a:p>
        </p:txBody>
      </p:sp>
      <p:pic>
        <p:nvPicPr>
          <p:cNvPr id="34" name="Image 8" descr="opt/red_219.png">    </p:cNvPr>
          <p:cNvPicPr>
            <a:picLocks noChangeAspect="1"/>
          </p:cNvPicPr>
          <p:nvPr/>
        </p:nvPicPr>
        <p:blipFill>
          <a:blip r:embed="rId10"/>
          <a:stretch>
            <a:fillRect/>
          </a:stretch>
        </p:blipFill>
        <p:spPr>
          <a:xfrm>
            <a:off x="640080" y="5340096"/>
            <a:ext cx="10908792" cy="863194"/>
          </a:xfrm>
          <a:prstGeom prst="rect">
            <a:avLst/>
          </a:prstGeom>
        </p:spPr>
      </p:pic>
      <p:sp>
        <p:nvSpPr>
          <p:cNvPr id="35" name="Text 23"/>
          <p:cNvSpPr/>
          <p:nvPr/>
        </p:nvSpPr>
        <p:spPr>
          <a:xfrm>
            <a:off x="1130976" y="5541264"/>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Yang perlu disadari: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tiga capability penentu prestasi lapangan (bakat, tim, transfer) dibangun dan diarahkan Ferguson. Tiga lainnya berdiri di luar dirinya.</a:t>
            </a:r>
            <a:endParaRPr lang="en-US" sz="1200" dirty="0"/>
          </a:p>
        </p:txBody>
      </p:sp>
      <p:pic>
        <p:nvPicPr>
          <p:cNvPr id="36" name="Image 9" descr="opt/st_trinity.png">    </p:cNvPr>
          <p:cNvPicPr>
            <a:picLocks noChangeAspect="1"/>
          </p:cNvPicPr>
          <p:nvPr/>
        </p:nvPicPr>
        <p:blipFill>
          <a:blip r:embed="rId11"/>
          <a:stretch>
            <a:fillRect/>
          </a:stretch>
        </p:blipFill>
        <p:spPr>
          <a:xfrm rot="-420000">
            <a:off x="10134295" y="182880"/>
            <a:ext cx="1554480" cy="134519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794760" cy="402336"/>
          </a:xfrm>
          <a:prstGeom prst="rect">
            <a:avLst/>
          </a:prstGeom>
        </p:spPr>
      </p:pic>
      <p:sp>
        <p:nvSpPr>
          <p:cNvPr id="3" name="Text 0"/>
          <p:cNvSpPr/>
          <p:nvPr/>
        </p:nvSpPr>
        <p:spPr>
          <a:xfrm>
            <a:off x="868680" y="381963"/>
            <a:ext cx="3337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VRIN TEST</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DUA KEUNGGULAN, SAMA-SAMA LOLOS VRIN TEST</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Dua hal diuji dengan empat saringan yang sama: sistem Ferguson, dan merek beserta mesin komersialnya.</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Table 6.5, 6.8; hlm. 573–588.</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27</a:t>
            </a:r>
            <a:endParaRPr lang="en-US" sz="1200" dirty="0"/>
          </a:p>
        </p:txBody>
      </p:sp>
      <p:pic>
        <p:nvPicPr>
          <p:cNvPr id="10" name="Image 2" descr="opt/paper_169.png">    </p:cNvPr>
          <p:cNvPicPr>
            <a:picLocks noChangeAspect="1"/>
          </p:cNvPicPr>
          <p:nvPr/>
        </p:nvPicPr>
        <p:blipFill>
          <a:blip r:embed="rId4"/>
          <a:stretch>
            <a:fillRect/>
          </a:stretch>
        </p:blipFill>
        <p:spPr>
          <a:xfrm>
            <a:off x="502920" y="1719072"/>
            <a:ext cx="10332720" cy="356616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058400" cy="914400"/>
        </p:xfrm>
        <a:graphic>
          <a:graphicData uri="http://schemas.openxmlformats.org/drawingml/2006/table">
            <a:tbl>
              <a:tblPr/>
              <a:tblGrid>
                <a:gridCol w="1554480"/>
                <a:gridCol w="4251960"/>
                <a:gridCol w="4251960"/>
              </a:tblGrid>
              <a:tr h="365760">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Tes</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Sistem Ferguson</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Merek &amp; mesin komersial</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r>
              <a:tr h="71323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Valuable</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Poin Eropa tertinggi, tiga liga beruntun, UCL 2008. Ferguson memenangi lebih banyak gelar dari seluruh sejarah klub.</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Aon membayar £80 jt untuk 4 tahun (£20 jt per tahun), dua kali lipat Chelsea dan Samsung (£10 jt).</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71323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Rare</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Table 6.8 hanya memuat 15 pelatih paling dihormati dunia; Ferguson paling lama di satu klub, sejak 1986.</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Kasus hanya menyebut MU dan Real Madrid sebagai pemimpin merek global. 80 juta pendukung di Asia.</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71323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Inimitable</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Penentu performa tim "tetap misteri, menentang analisis": causal ambiguity, plus 23 tahun akumulasi.</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Dibangun sejak 1878. Chelsea, meski belanja besar, pendapatannya masih di bawah MU (Table 6.5).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71323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Nonsubstitutable</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Jalan lain, membeli bintang dengan uang besar, tidak menyamai hasilnya: Real Madrid dan Chelsea "gagal".</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l" indent="0" marL="0">
                        <a:buNone/>
                      </a:pPr>
                      <a:r>
                        <a:rPr lang="en-US" sz="1200" dirty="0">
                          <a:solidFill>
                            <a:srgbClr val="160809"/>
                          </a:solidFill>
                          <a:latin typeface="Poppins" pitchFamily="34" charset="0"/>
                          <a:ea typeface="Poppins" pitchFamily="34" charset="-122"/>
                          <a:cs typeface="Poppins" pitchFamily="34" charset="-120"/>
                        </a:rPr>
                        <a:t>LOLOS. Superstar datang dan pergi; basis fan tetap. Aon menyebut fan Asia MU faktor kunci kontraknya.</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bl>
          </a:graphicData>
        </a:graphic>
      </p:graphicFrame>
      <p:pic>
        <p:nvPicPr>
          <p:cNvPr id="12" name="Image 3" descr="opt/red_219.png">    </p:cNvPr>
          <p:cNvPicPr>
            <a:picLocks noChangeAspect="1"/>
          </p:cNvPicPr>
          <p:nvPr/>
        </p:nvPicPr>
        <p:blipFill>
          <a:blip r:embed="rId5"/>
          <a:stretch>
            <a:fillRect/>
          </a:stretch>
        </p:blipFill>
        <p:spPr>
          <a:xfrm>
            <a:off x="640080" y="5394960"/>
            <a:ext cx="10058400" cy="863194"/>
          </a:xfrm>
          <a:prstGeom prst="rect">
            <a:avLst/>
          </a:prstGeom>
        </p:spPr>
      </p:pic>
      <p:sp>
        <p:nvSpPr>
          <p:cNvPr id="13" name="Text 5"/>
          <p:cNvSpPr/>
          <p:nvPr/>
        </p:nvSpPr>
        <p:spPr>
          <a:xfrm>
            <a:off x="1092708" y="5596128"/>
            <a:ext cx="9153144"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Kesimpulan Q3: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keduanya lolos VRIN Test, jadi tahan terhadap serangan PESAING. Bedanya di luar VRIN: merek melekat pada klub, sistem Ferguson dipimpin satu orang yang akan pensiun.</a:t>
            </a:r>
            <a:endParaRPr lang="en-US" sz="1200" dirty="0"/>
          </a:p>
        </p:txBody>
      </p:sp>
      <p:pic>
        <p:nvPicPr>
          <p:cNvPr id="14" name="Image 4" descr="opt/st_treble3.png">    </p:cNvPr>
          <p:cNvPicPr>
            <a:picLocks noChangeAspect="1"/>
          </p:cNvPicPr>
          <p:nvPr/>
        </p:nvPicPr>
        <p:blipFill>
          <a:blip r:embed="rId6"/>
          <a:stretch>
            <a:fillRect/>
          </a:stretch>
        </p:blipFill>
        <p:spPr>
          <a:xfrm rot="420000">
            <a:off x="9677095" y="182880"/>
            <a:ext cx="2011680" cy="128352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4823460" cy="402336"/>
          </a:xfrm>
          <a:prstGeom prst="rect">
            <a:avLst/>
          </a:prstGeom>
        </p:spPr>
      </p:pic>
      <p:sp>
        <p:nvSpPr>
          <p:cNvPr id="3" name="Text 0"/>
          <p:cNvSpPr/>
          <p:nvPr/>
        </p:nvSpPr>
        <p:spPr>
          <a:xfrm>
            <a:off x="868680" y="381963"/>
            <a:ext cx="43662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3  ·  DYNAMIC CAPABILITY</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TIGA KALI MEMBANGUN ULANG TIM JUARA</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Inilah yang tidak diukur VRIN Test: apakah kemampuan memperbarui diri ini milik klub, atau milik satu orang.</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hlm. 583 dan 584.</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28</a:t>
            </a:r>
            <a:endParaRPr lang="en-US" sz="1200" dirty="0"/>
          </a:p>
        </p:txBody>
      </p:sp>
      <p:pic>
        <p:nvPicPr>
          <p:cNvPr id="10" name="Image 2" descr="opt/red_219.png">    </p:cNvPr>
          <p:cNvPicPr>
            <a:picLocks noChangeAspect="1"/>
          </p:cNvPicPr>
          <p:nvPr/>
        </p:nvPicPr>
        <p:blipFill>
          <a:blip r:embed="rId4"/>
          <a:stretch>
            <a:fillRect/>
          </a:stretch>
        </p:blipFill>
        <p:spPr>
          <a:xfrm>
            <a:off x="640080" y="1975104"/>
            <a:ext cx="10908792" cy="109728"/>
          </a:xfrm>
          <a:prstGeom prst="rect">
            <a:avLst/>
          </a:prstGeom>
        </p:spPr>
      </p:pic>
      <p:sp>
        <p:nvSpPr>
          <p:cNvPr id="11" name="Shape 5"/>
          <p:cNvSpPr/>
          <p:nvPr/>
        </p:nvSpPr>
        <p:spPr>
          <a:xfrm>
            <a:off x="777240" y="1920240"/>
            <a:ext cx="219456" cy="219456"/>
          </a:xfrm>
          <a:prstGeom prst="ellipse">
            <a:avLst/>
          </a:prstGeom>
          <a:solidFill>
            <a:srgbClr val="FBE122"/>
          </a:solidFill>
          <a:ln w="12700">
            <a:solidFill>
              <a:srgbClr val="FBE122"/>
            </a:solidFill>
            <a:prstDash val="solid"/>
          </a:ln>
        </p:spPr>
      </p:sp>
      <p:pic>
        <p:nvPicPr>
          <p:cNvPr id="12" name="Image 3" descr="opt/paper_43.png">    </p:cNvPr>
          <p:cNvPicPr>
            <a:picLocks noChangeAspect="1"/>
          </p:cNvPicPr>
          <p:nvPr/>
        </p:nvPicPr>
        <p:blipFill>
          <a:blip r:embed="rId5"/>
          <a:stretch>
            <a:fillRect/>
          </a:stretch>
        </p:blipFill>
        <p:spPr>
          <a:xfrm>
            <a:off x="640080" y="2286000"/>
            <a:ext cx="3514344" cy="2971800"/>
          </a:xfrm>
          <a:prstGeom prst="rect">
            <a:avLst/>
          </a:prstGeom>
        </p:spPr>
      </p:pic>
      <p:sp>
        <p:nvSpPr>
          <p:cNvPr id="13" name="Text 6"/>
          <p:cNvSpPr/>
          <p:nvPr/>
        </p:nvSpPr>
        <p:spPr>
          <a:xfrm>
            <a:off x="932688" y="2548204"/>
            <a:ext cx="2929128" cy="341300"/>
          </a:xfrm>
          <a:prstGeom prst="rect">
            <a:avLst/>
          </a:prstGeom>
          <a:noFill/>
          <a:ln/>
        </p:spPr>
        <p:txBody>
          <a:bodyPr wrap="square" lIns="0" tIns="0" rIns="0" bIns="0" rtlCol="0" anchor="t"/>
          <a:lstStyle/>
          <a:p>
            <a:pPr indent="0" marL="0">
              <a:buNone/>
            </a:pPr>
            <a:r>
              <a:rPr lang="en-US" sz="1800" dirty="0">
                <a:solidFill>
                  <a:srgbClr val="DA291C"/>
                </a:solidFill>
                <a:latin typeface="Poppins ExtraBold" pitchFamily="34" charset="0"/>
                <a:ea typeface="Poppins ExtraBold" pitchFamily="34" charset="-122"/>
                <a:cs typeface="Poppins ExtraBold" pitchFamily="34" charset="-120"/>
              </a:rPr>
              <a:t>1986 – 1993</a:t>
            </a:r>
            <a:endParaRPr lang="en-US" sz="1800" dirty="0"/>
          </a:p>
        </p:txBody>
      </p:sp>
      <p:sp>
        <p:nvSpPr>
          <p:cNvPr id="14" name="Text 7"/>
          <p:cNvSpPr/>
          <p:nvPr/>
        </p:nvSpPr>
        <p:spPr>
          <a:xfrm>
            <a:off x="932688" y="2907792"/>
            <a:ext cx="2929128" cy="548640"/>
          </a:xfrm>
          <a:prstGeom prst="rect">
            <a:avLst/>
          </a:prstGeom>
          <a:noFill/>
          <a:ln/>
        </p:spPr>
        <p:txBody>
          <a:bodyPr wrap="square" lIns="0" tIns="0" rIns="0" bIns="0" rtlCol="0" anchor="t"/>
          <a:lstStyle/>
          <a:p>
            <a:pPr indent="0" marL="0">
              <a:lnSpc>
                <a:spcPct val="95000"/>
              </a:lnSpc>
              <a:buNone/>
            </a:pPr>
            <a:r>
              <a:rPr lang="en-US" sz="1300" dirty="0">
                <a:solidFill>
                  <a:srgbClr val="160809"/>
                </a:solidFill>
                <a:latin typeface="Poppins ExtraBold" pitchFamily="34" charset="0"/>
                <a:ea typeface="Poppins ExtraBold" pitchFamily="34" charset="-122"/>
                <a:cs typeface="Poppins ExtraBold" pitchFamily="34" charset="-120"/>
              </a:rPr>
              <a:t>Membersihkan dan membangun fondasi</a:t>
            </a:r>
            <a:endParaRPr lang="en-US" sz="1300" dirty="0"/>
          </a:p>
        </p:txBody>
      </p:sp>
      <p:sp>
        <p:nvSpPr>
          <p:cNvPr id="15" name="Text 8"/>
          <p:cNvSpPr/>
          <p:nvPr/>
        </p:nvSpPr>
        <p:spPr>
          <a:xfrm>
            <a:off x="932688" y="3456432"/>
            <a:ext cx="2929128" cy="1234440"/>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Ferguson menyingkirkan pemain kurang berbakat atau berkomitmen, mempertahankan Robson, mendatangkan Hughes, Ince, Cantona, Keane, dan menegakkan disiplin.</a:t>
            </a:r>
            <a:endParaRPr lang="en-US" sz="1200" dirty="0"/>
          </a:p>
        </p:txBody>
      </p:sp>
      <p:sp>
        <p:nvSpPr>
          <p:cNvPr id="16" name="Text 9"/>
          <p:cNvSpPr/>
          <p:nvPr/>
        </p:nvSpPr>
        <p:spPr>
          <a:xfrm>
            <a:off x="932688" y="4690872"/>
            <a:ext cx="2929128" cy="393878"/>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FA Cup 1990 · Piala Winners 1991 · liga 1993</a:t>
            </a:r>
            <a:endParaRPr lang="en-US" sz="1200" dirty="0"/>
          </a:p>
        </p:txBody>
      </p:sp>
      <p:sp>
        <p:nvSpPr>
          <p:cNvPr id="17" name="Shape 10"/>
          <p:cNvSpPr/>
          <p:nvPr/>
        </p:nvSpPr>
        <p:spPr>
          <a:xfrm>
            <a:off x="4474464" y="1920240"/>
            <a:ext cx="219456" cy="219456"/>
          </a:xfrm>
          <a:prstGeom prst="ellipse">
            <a:avLst/>
          </a:prstGeom>
          <a:solidFill>
            <a:srgbClr val="FBE122"/>
          </a:solidFill>
          <a:ln w="12700">
            <a:solidFill>
              <a:srgbClr val="FBE122"/>
            </a:solidFill>
            <a:prstDash val="solid"/>
          </a:ln>
        </p:spPr>
      </p:sp>
      <p:pic>
        <p:nvPicPr>
          <p:cNvPr id="18" name="Image 4" descr="opt/paper_43.png">    </p:cNvPr>
          <p:cNvPicPr>
            <a:picLocks noChangeAspect="1"/>
          </p:cNvPicPr>
          <p:nvPr/>
        </p:nvPicPr>
        <p:blipFill>
          <a:blip r:embed="rId6"/>
          <a:stretch>
            <a:fillRect/>
          </a:stretch>
        </p:blipFill>
        <p:spPr>
          <a:xfrm>
            <a:off x="4337304" y="2286000"/>
            <a:ext cx="3514344" cy="2971800"/>
          </a:xfrm>
          <a:prstGeom prst="rect">
            <a:avLst/>
          </a:prstGeom>
        </p:spPr>
      </p:pic>
      <p:sp>
        <p:nvSpPr>
          <p:cNvPr id="19" name="Text 11"/>
          <p:cNvSpPr/>
          <p:nvPr/>
        </p:nvSpPr>
        <p:spPr>
          <a:xfrm>
            <a:off x="4629912" y="2548204"/>
            <a:ext cx="2929128" cy="341300"/>
          </a:xfrm>
          <a:prstGeom prst="rect">
            <a:avLst/>
          </a:prstGeom>
          <a:noFill/>
          <a:ln/>
        </p:spPr>
        <p:txBody>
          <a:bodyPr wrap="square" lIns="0" tIns="0" rIns="0" bIns="0" rtlCol="0" anchor="t"/>
          <a:lstStyle/>
          <a:p>
            <a:pPr indent="0" marL="0">
              <a:buNone/>
            </a:pPr>
            <a:r>
              <a:rPr lang="en-US" sz="1800" dirty="0">
                <a:solidFill>
                  <a:srgbClr val="DA291C"/>
                </a:solidFill>
                <a:latin typeface="Poppins ExtraBold" pitchFamily="34" charset="0"/>
                <a:ea typeface="Poppins ExtraBold" pitchFamily="34" charset="-122"/>
                <a:cs typeface="Poppins ExtraBold" pitchFamily="34" charset="-120"/>
              </a:rPr>
              <a:t>1994 – 2003</a:t>
            </a:r>
            <a:endParaRPr lang="en-US" sz="1800" dirty="0"/>
          </a:p>
        </p:txBody>
      </p:sp>
      <p:sp>
        <p:nvSpPr>
          <p:cNvPr id="20" name="Text 12"/>
          <p:cNvSpPr/>
          <p:nvPr/>
        </p:nvSpPr>
        <p:spPr>
          <a:xfrm>
            <a:off x="4629912" y="2907792"/>
            <a:ext cx="2929128" cy="548640"/>
          </a:xfrm>
          <a:prstGeom prst="rect">
            <a:avLst/>
          </a:prstGeom>
          <a:noFill/>
          <a:ln/>
        </p:spPr>
        <p:txBody>
          <a:bodyPr wrap="square" lIns="0" tIns="0" rIns="0" bIns="0" rtlCol="0" anchor="t"/>
          <a:lstStyle/>
          <a:p>
            <a:pPr indent="0" marL="0">
              <a:lnSpc>
                <a:spcPct val="95000"/>
              </a:lnSpc>
              <a:buNone/>
            </a:pPr>
            <a:r>
              <a:rPr lang="en-US" sz="1300" dirty="0">
                <a:solidFill>
                  <a:srgbClr val="160809"/>
                </a:solidFill>
                <a:latin typeface="Poppins ExtraBold" pitchFamily="34" charset="0"/>
                <a:ea typeface="Poppins ExtraBold" pitchFamily="34" charset="-122"/>
                <a:cs typeface="Poppins ExtraBold" pitchFamily="34" charset="-120"/>
              </a:rPr>
              <a:t>Generasi akademi</a:t>
            </a:r>
            <a:endParaRPr lang="en-US" sz="1300" dirty="0"/>
          </a:p>
        </p:txBody>
      </p:sp>
      <p:sp>
        <p:nvSpPr>
          <p:cNvPr id="21" name="Text 13"/>
          <p:cNvSpPr/>
          <p:nvPr/>
        </p:nvSpPr>
        <p:spPr>
          <a:xfrm>
            <a:off x="4629912" y="3456432"/>
            <a:ext cx="2929128" cy="1234440"/>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Juara liga junior 1990 menghasilkan Giggs, Beckham, Butt, Neville bersaudara, Scholes: inti tim yang mendominasi sepakbola Inggris.</a:t>
            </a:r>
            <a:endParaRPr lang="en-US" sz="1200" dirty="0"/>
          </a:p>
        </p:txBody>
      </p:sp>
      <p:sp>
        <p:nvSpPr>
          <p:cNvPr id="22" name="Text 14"/>
          <p:cNvSpPr/>
          <p:nvPr/>
        </p:nvSpPr>
        <p:spPr>
          <a:xfrm>
            <a:off x="4629912" y="4690872"/>
            <a:ext cx="2929128" cy="393878"/>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Puncak 1999: liga, FA Cup, European Cup, Intercontinental</a:t>
            </a:r>
            <a:endParaRPr lang="en-US" sz="1200" dirty="0"/>
          </a:p>
        </p:txBody>
      </p:sp>
      <p:sp>
        <p:nvSpPr>
          <p:cNvPr id="23" name="Shape 15"/>
          <p:cNvSpPr/>
          <p:nvPr/>
        </p:nvSpPr>
        <p:spPr>
          <a:xfrm>
            <a:off x="8171688" y="1920240"/>
            <a:ext cx="219456" cy="219456"/>
          </a:xfrm>
          <a:prstGeom prst="ellipse">
            <a:avLst/>
          </a:prstGeom>
          <a:solidFill>
            <a:srgbClr val="FBE122"/>
          </a:solidFill>
          <a:ln w="12700">
            <a:solidFill>
              <a:srgbClr val="FBE122"/>
            </a:solidFill>
            <a:prstDash val="solid"/>
          </a:ln>
        </p:spPr>
      </p:sp>
      <p:pic>
        <p:nvPicPr>
          <p:cNvPr id="24" name="Image 5" descr="opt/paper_43.png">    </p:cNvPr>
          <p:cNvPicPr>
            <a:picLocks noChangeAspect="1"/>
          </p:cNvPicPr>
          <p:nvPr/>
        </p:nvPicPr>
        <p:blipFill>
          <a:blip r:embed="rId7"/>
          <a:stretch>
            <a:fillRect/>
          </a:stretch>
        </p:blipFill>
        <p:spPr>
          <a:xfrm>
            <a:off x="8034528" y="2286000"/>
            <a:ext cx="3514344" cy="2971800"/>
          </a:xfrm>
          <a:prstGeom prst="rect">
            <a:avLst/>
          </a:prstGeom>
        </p:spPr>
      </p:pic>
      <p:sp>
        <p:nvSpPr>
          <p:cNvPr id="25" name="Text 16"/>
          <p:cNvSpPr/>
          <p:nvPr/>
        </p:nvSpPr>
        <p:spPr>
          <a:xfrm>
            <a:off x="8327136" y="2548204"/>
            <a:ext cx="2929128" cy="341300"/>
          </a:xfrm>
          <a:prstGeom prst="rect">
            <a:avLst/>
          </a:prstGeom>
          <a:noFill/>
          <a:ln/>
        </p:spPr>
        <p:txBody>
          <a:bodyPr wrap="square" lIns="0" tIns="0" rIns="0" bIns="0" rtlCol="0" anchor="t"/>
          <a:lstStyle/>
          <a:p>
            <a:pPr indent="0" marL="0">
              <a:buNone/>
            </a:pPr>
            <a:r>
              <a:rPr lang="en-US" sz="1800" dirty="0">
                <a:solidFill>
                  <a:srgbClr val="DA291C"/>
                </a:solidFill>
                <a:latin typeface="Poppins ExtraBold" pitchFamily="34" charset="0"/>
                <a:ea typeface="Poppins ExtraBold" pitchFamily="34" charset="-122"/>
                <a:cs typeface="Poppins ExtraBold" pitchFamily="34" charset="-120"/>
              </a:rPr>
              <a:t>2003 – 2008</a:t>
            </a:r>
            <a:endParaRPr lang="en-US" sz="1800" dirty="0"/>
          </a:p>
        </p:txBody>
      </p:sp>
      <p:sp>
        <p:nvSpPr>
          <p:cNvPr id="26" name="Text 17"/>
          <p:cNvSpPr/>
          <p:nvPr/>
        </p:nvSpPr>
        <p:spPr>
          <a:xfrm>
            <a:off x="8327136" y="2907792"/>
            <a:ext cx="2929128" cy="548640"/>
          </a:xfrm>
          <a:prstGeom prst="rect">
            <a:avLst/>
          </a:prstGeom>
          <a:noFill/>
          <a:ln/>
        </p:spPr>
        <p:txBody>
          <a:bodyPr wrap="square" lIns="0" tIns="0" rIns="0" bIns="0" rtlCol="0" anchor="t"/>
          <a:lstStyle/>
          <a:p>
            <a:pPr indent="0" marL="0">
              <a:lnSpc>
                <a:spcPct val="95000"/>
              </a:lnSpc>
              <a:buNone/>
            </a:pPr>
            <a:r>
              <a:rPr lang="en-US" sz="1300" dirty="0">
                <a:solidFill>
                  <a:srgbClr val="160809"/>
                </a:solidFill>
                <a:latin typeface="Poppins ExtraBold" pitchFamily="34" charset="0"/>
                <a:ea typeface="Poppins ExtraBold" pitchFamily="34" charset="-122"/>
                <a:cs typeface="Poppins ExtraBold" pitchFamily="34" charset="-120"/>
              </a:rPr>
              <a:t>Regenerasi kedua</a:t>
            </a:r>
            <a:endParaRPr lang="en-US" sz="1300" dirty="0"/>
          </a:p>
        </p:txBody>
      </p:sp>
      <p:sp>
        <p:nvSpPr>
          <p:cNvPr id="27" name="Text 18"/>
          <p:cNvSpPr/>
          <p:nvPr/>
        </p:nvSpPr>
        <p:spPr>
          <a:xfrm>
            <a:off x="8327136" y="3456432"/>
            <a:ext cx="2929128" cy="1234440"/>
          </a:xfrm>
          <a:prstGeom prst="rect">
            <a:avLst/>
          </a:prstGeom>
          <a:noFill/>
          <a:ln/>
        </p:spPr>
        <p:txBody>
          <a:bodyPr wrap="square" lIns="0" tIns="0" rIns="0" bIns="0" rtlCol="0" anchor="t"/>
          <a:lstStyle/>
          <a:p>
            <a:pPr indent="0" marL="0">
              <a:lnSpc>
                <a:spcPct val="102000"/>
              </a:lnSpc>
              <a:buNone/>
            </a:pPr>
            <a:r>
              <a:rPr lang="en-US" sz="1200" dirty="0">
                <a:solidFill>
                  <a:srgbClr val="160809"/>
                </a:solidFill>
                <a:latin typeface="Poppins" pitchFamily="34" charset="0"/>
                <a:ea typeface="Poppins" pitchFamily="34" charset="-122"/>
                <a:cs typeface="Poppins" pitchFamily="34" charset="-120"/>
              </a:rPr>
              <a:t>Beckham, Keane, Schmeichel, Cole, Sheringham, Stam dijual. Pengganti: Ferdinand, Ronaldo, Rooney, van der Sar, Evra, Vidić, Carrick.</a:t>
            </a:r>
            <a:endParaRPr lang="en-US" sz="1200" dirty="0"/>
          </a:p>
        </p:txBody>
      </p:sp>
      <p:sp>
        <p:nvSpPr>
          <p:cNvPr id="28" name="Text 19"/>
          <p:cNvSpPr/>
          <p:nvPr/>
        </p:nvSpPr>
        <p:spPr>
          <a:xfrm>
            <a:off x="8327136" y="4690872"/>
            <a:ext cx="2929128" cy="393878"/>
          </a:xfrm>
          <a:prstGeom prst="rect">
            <a:avLst/>
          </a:prstGeom>
          <a:noFill/>
          <a:ln/>
        </p:spPr>
        <p:txBody>
          <a:bodyPr wrap="square" lIns="0" tIns="0" rIns="0" bIns="0" rtlCol="0" anchor="t"/>
          <a:lstStyle/>
          <a:p>
            <a:pPr indent="0" marL="0">
              <a:lnSpc>
                <a:spcPct val="100000"/>
              </a:lnSpc>
              <a:buNone/>
            </a:pPr>
            <a:r>
              <a:rPr lang="en-US" sz="1200" dirty="0">
                <a:solidFill>
                  <a:srgbClr val="DA291C"/>
                </a:solidFill>
                <a:latin typeface="Poppins SemiBold" pitchFamily="34" charset="0"/>
                <a:ea typeface="Poppins SemiBold" pitchFamily="34" charset="-122"/>
                <a:cs typeface="Poppins SemiBold" pitchFamily="34" charset="-120"/>
              </a:rPr>
              <a:t>UCL 2008 · tiga liga beruntun 2007–2009</a:t>
            </a:r>
            <a:endParaRPr lang="en-US" sz="1200" dirty="0"/>
          </a:p>
        </p:txBody>
      </p:sp>
      <p:pic>
        <p:nvPicPr>
          <p:cNvPr id="29" name="Image 6" descr="opt/red_219.png">    </p:cNvPr>
          <p:cNvPicPr>
            <a:picLocks noChangeAspect="1"/>
          </p:cNvPicPr>
          <p:nvPr/>
        </p:nvPicPr>
        <p:blipFill>
          <a:blip r:embed="rId8"/>
          <a:stretch>
            <a:fillRect/>
          </a:stretch>
        </p:blipFill>
        <p:spPr>
          <a:xfrm>
            <a:off x="640080" y="5376672"/>
            <a:ext cx="10908792" cy="863194"/>
          </a:xfrm>
          <a:prstGeom prst="rect">
            <a:avLst/>
          </a:prstGeom>
        </p:spPr>
      </p:pic>
      <p:sp>
        <p:nvSpPr>
          <p:cNvPr id="30" name="Text 20"/>
          <p:cNvSpPr/>
          <p:nvPr/>
        </p:nvSpPr>
        <p:spPr>
          <a:xfrm>
            <a:off x="1130976" y="5577840"/>
            <a:ext cx="9927001" cy="387706"/>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Preseden dari kasus: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setelah Matt Busby pensiun 1969, MU merosot. Selama 18 tahun sebelum Ferguson, MU tanpa satu pun gelar liga dan hanya sekali runner-up (hlm. 583).</a:t>
            </a:r>
            <a:endParaRPr lang="en-US" sz="1200" dirty="0"/>
          </a:p>
        </p:txBody>
      </p:sp>
      <p:pic>
        <p:nvPicPr>
          <p:cNvPr id="31" name="Image 7" descr="opt/st_busby.png">    </p:cNvPr>
          <p:cNvPicPr>
            <a:picLocks noChangeAspect="1"/>
          </p:cNvPicPr>
          <p:nvPr/>
        </p:nvPicPr>
        <p:blipFill>
          <a:blip r:embed="rId9"/>
          <a:stretch>
            <a:fillRect/>
          </a:stretch>
        </p:blipFill>
        <p:spPr>
          <a:xfrm rot="-420000">
            <a:off x="10661100" y="182880"/>
            <a:ext cx="1027675" cy="16916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4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400" dirty="0">
                <a:solidFill>
                  <a:srgbClr val="FFFFFF"/>
                </a:solidFill>
                <a:latin typeface="Poppins ExtraBold" pitchFamily="34" charset="0"/>
                <a:ea typeface="Poppins ExtraBold" pitchFamily="34" charset="-122"/>
                <a:cs typeface="Poppins ExtraBold" pitchFamily="34" charset="-120"/>
              </a:rPr>
              <a:t>VALUE CHAIN DAN STRUKTUR BIAYA MU</a:t>
            </a:r>
            <a:endParaRPr lang="en-US" sz="2400"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Figure 4.3 dipetakan ke aktivitas nyata klub. Hasilnya: keunggulan biaya MU ada di HULU, di cara mendapatkan pemain.</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hlm. 580, 583, 584, 586.</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29</a:t>
            </a:r>
            <a:endParaRPr lang="en-US" sz="1200" dirty="0"/>
          </a:p>
        </p:txBody>
      </p:sp>
      <p:pic>
        <p:nvPicPr>
          <p:cNvPr id="10" name="Image 2" descr="opt/black_219.png">    </p:cNvPr>
          <p:cNvPicPr>
            <a:picLocks noChangeAspect="1"/>
          </p:cNvPicPr>
          <p:nvPr/>
        </p:nvPicPr>
        <p:blipFill>
          <a:blip r:embed="rId4"/>
          <a:stretch>
            <a:fillRect/>
          </a:stretch>
        </p:blipFill>
        <p:spPr>
          <a:xfrm>
            <a:off x="640080" y="1920240"/>
            <a:ext cx="2880360" cy="347472"/>
          </a:xfrm>
          <a:prstGeom prst="rect">
            <a:avLst/>
          </a:prstGeom>
        </p:spPr>
      </p:pic>
      <p:sp>
        <p:nvSpPr>
          <p:cNvPr id="11" name="Text 5"/>
          <p:cNvSpPr/>
          <p:nvPr/>
        </p:nvSpPr>
        <p:spPr>
          <a:xfrm>
            <a:off x="868680" y="1969563"/>
            <a:ext cx="2423160" cy="240487"/>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PRIMARY ACTIVITIES</a:t>
            </a:r>
            <a:endParaRPr lang="en-US" sz="1200" dirty="0"/>
          </a:p>
        </p:txBody>
      </p:sp>
      <p:pic>
        <p:nvPicPr>
          <p:cNvPr id="12" name="Image 3" descr="opt/red_32.png">    </p:cNvPr>
          <p:cNvPicPr>
            <a:picLocks noChangeAspect="1"/>
          </p:cNvPicPr>
          <p:nvPr/>
        </p:nvPicPr>
        <p:blipFill>
          <a:blip r:embed="rId5"/>
          <a:stretch>
            <a:fillRect/>
          </a:stretch>
        </p:blipFill>
        <p:spPr>
          <a:xfrm>
            <a:off x="640080" y="2340864"/>
            <a:ext cx="1298448" cy="1828800"/>
          </a:xfrm>
          <a:prstGeom prst="rect">
            <a:avLst/>
          </a:prstGeom>
        </p:spPr>
      </p:pic>
      <p:sp>
        <p:nvSpPr>
          <p:cNvPr id="13" name="Text 6"/>
          <p:cNvSpPr/>
          <p:nvPr/>
        </p:nvSpPr>
        <p:spPr>
          <a:xfrm>
            <a:off x="768096" y="2560320"/>
            <a:ext cx="1042416" cy="457200"/>
          </a:xfrm>
          <a:prstGeom prst="rect">
            <a:avLst/>
          </a:prstGeom>
          <a:noFill/>
          <a:ln/>
        </p:spPr>
        <p:txBody>
          <a:bodyPr wrap="square" lIns="0" tIns="0" rIns="0" bIns="0" rtlCol="0" anchor="t"/>
          <a:lstStyle/>
          <a:p>
            <a:pPr indent="0" marL="0">
              <a:lnSpc>
                <a:spcPct val="98000"/>
              </a:lnSpc>
              <a:buNone/>
            </a:pPr>
            <a:r>
              <a:rPr lang="en-US" sz="1200" dirty="0">
                <a:solidFill>
                  <a:srgbClr val="FBE122"/>
                </a:solidFill>
                <a:latin typeface="Poppins SemiBold" pitchFamily="34" charset="0"/>
                <a:ea typeface="Poppins SemiBold" pitchFamily="34" charset="-122"/>
                <a:cs typeface="Poppins SemiBold" pitchFamily="34" charset="-120"/>
              </a:rPr>
              <a:t>Supply Chain</a:t>
            </a:r>
            <a:endParaRPr lang="en-US" sz="1200" dirty="0"/>
          </a:p>
        </p:txBody>
      </p:sp>
      <p:sp>
        <p:nvSpPr>
          <p:cNvPr id="14" name="Text 7"/>
          <p:cNvSpPr/>
          <p:nvPr/>
        </p:nvSpPr>
        <p:spPr>
          <a:xfrm>
            <a:off x="768096" y="3035808"/>
            <a:ext cx="1042416" cy="502920"/>
          </a:xfrm>
          <a:prstGeom prst="rect">
            <a:avLst/>
          </a:prstGeom>
          <a:noFill/>
          <a:ln/>
        </p:spPr>
        <p:txBody>
          <a:bodyPr wrap="square" lIns="0" tIns="0" rIns="0" bIns="0" rtlCol="0" anchor="t"/>
          <a:lstStyle/>
          <a:p>
            <a:pPr indent="0" marL="0">
              <a:lnSpc>
                <a:spcPct val="98000"/>
              </a:lnSpc>
              <a:buNone/>
            </a:pPr>
            <a:r>
              <a:rPr lang="en-US" sz="1200" dirty="0">
                <a:solidFill>
                  <a:srgbClr val="FFFFFF"/>
                </a:solidFill>
                <a:latin typeface="Poppins ExtraBold" pitchFamily="34" charset="0"/>
                <a:ea typeface="Poppins ExtraBold" pitchFamily="34" charset="-122"/>
                <a:cs typeface="Poppins ExtraBold" pitchFamily="34" charset="-120"/>
              </a:rPr>
              <a:t>Merekrut pemain</a:t>
            </a:r>
            <a:endParaRPr lang="en-US" sz="1200" dirty="0"/>
          </a:p>
        </p:txBody>
      </p:sp>
      <p:sp>
        <p:nvSpPr>
          <p:cNvPr id="15" name="Text 8"/>
          <p:cNvSpPr/>
          <p:nvPr/>
        </p:nvSpPr>
        <p:spPr>
          <a:xfrm>
            <a:off x="768096" y="3511296"/>
            <a:ext cx="1042416" cy="561442"/>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Akademi dan transfer</a:t>
            </a:r>
            <a:endParaRPr lang="en-US" sz="1200" dirty="0"/>
          </a:p>
        </p:txBody>
      </p:sp>
      <p:pic>
        <p:nvPicPr>
          <p:cNvPr id="16" name="Image 4" descr="opt/paper_43.png">    </p:cNvPr>
          <p:cNvPicPr>
            <a:picLocks noChangeAspect="1"/>
          </p:cNvPicPr>
          <p:nvPr/>
        </p:nvPicPr>
        <p:blipFill>
          <a:blip r:embed="rId6"/>
          <a:stretch>
            <a:fillRect/>
          </a:stretch>
        </p:blipFill>
        <p:spPr>
          <a:xfrm>
            <a:off x="2029968" y="2340864"/>
            <a:ext cx="1298448" cy="1828800"/>
          </a:xfrm>
          <a:prstGeom prst="rect">
            <a:avLst/>
          </a:prstGeom>
        </p:spPr>
      </p:pic>
      <p:sp>
        <p:nvSpPr>
          <p:cNvPr id="17" name="Text 9"/>
          <p:cNvSpPr/>
          <p:nvPr/>
        </p:nvSpPr>
        <p:spPr>
          <a:xfrm>
            <a:off x="2157984" y="2560320"/>
            <a:ext cx="1042416" cy="457200"/>
          </a:xfrm>
          <a:prstGeom prst="rect">
            <a:avLst/>
          </a:prstGeom>
          <a:noFill/>
          <a:ln/>
        </p:spPr>
        <p:txBody>
          <a:bodyPr wrap="square" lIns="0" tIns="0" rIns="0" bIns="0" rtlCol="0" anchor="t"/>
          <a:lstStyle/>
          <a:p>
            <a:pPr indent="0" marL="0">
              <a:lnSpc>
                <a:spcPct val="98000"/>
              </a:lnSpc>
              <a:buNone/>
            </a:pPr>
            <a:r>
              <a:rPr lang="en-US" sz="1200" dirty="0">
                <a:solidFill>
                  <a:srgbClr val="DA291C"/>
                </a:solidFill>
                <a:latin typeface="Poppins SemiBold" pitchFamily="34" charset="0"/>
                <a:ea typeface="Poppins SemiBold" pitchFamily="34" charset="-122"/>
                <a:cs typeface="Poppins SemiBold" pitchFamily="34" charset="-120"/>
              </a:rPr>
              <a:t>Operations</a:t>
            </a:r>
            <a:endParaRPr lang="en-US" sz="1200" dirty="0"/>
          </a:p>
        </p:txBody>
      </p:sp>
      <p:sp>
        <p:nvSpPr>
          <p:cNvPr id="18" name="Text 10"/>
          <p:cNvSpPr/>
          <p:nvPr/>
        </p:nvSpPr>
        <p:spPr>
          <a:xfrm>
            <a:off x="2157984" y="3035808"/>
            <a:ext cx="1042416" cy="50292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Latihan dan laga</a:t>
            </a:r>
            <a:endParaRPr lang="en-US" sz="1200" dirty="0"/>
          </a:p>
        </p:txBody>
      </p:sp>
      <p:sp>
        <p:nvSpPr>
          <p:cNvPr id="19" name="Text 11"/>
          <p:cNvSpPr/>
          <p:nvPr/>
        </p:nvSpPr>
        <p:spPr>
          <a:xfrm>
            <a:off x="2157984" y="3511296"/>
            <a:ext cx="1042416" cy="541325"/>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Disiplin, rotasi, taktik</a:t>
            </a:r>
            <a:endParaRPr lang="en-US" sz="1200" dirty="0"/>
          </a:p>
        </p:txBody>
      </p:sp>
      <p:pic>
        <p:nvPicPr>
          <p:cNvPr id="20" name="Image 5" descr="opt/paper_43.png">    </p:cNvPr>
          <p:cNvPicPr>
            <a:picLocks noChangeAspect="1"/>
          </p:cNvPicPr>
          <p:nvPr/>
        </p:nvPicPr>
        <p:blipFill>
          <a:blip r:embed="rId7"/>
          <a:stretch>
            <a:fillRect/>
          </a:stretch>
        </p:blipFill>
        <p:spPr>
          <a:xfrm>
            <a:off x="3419856" y="2340864"/>
            <a:ext cx="1298448" cy="1828800"/>
          </a:xfrm>
          <a:prstGeom prst="rect">
            <a:avLst/>
          </a:prstGeom>
        </p:spPr>
      </p:pic>
      <p:sp>
        <p:nvSpPr>
          <p:cNvPr id="21" name="Text 12"/>
          <p:cNvSpPr/>
          <p:nvPr/>
        </p:nvSpPr>
        <p:spPr>
          <a:xfrm>
            <a:off x="3547872" y="2560320"/>
            <a:ext cx="1042416" cy="457200"/>
          </a:xfrm>
          <a:prstGeom prst="rect">
            <a:avLst/>
          </a:prstGeom>
          <a:noFill/>
          <a:ln/>
        </p:spPr>
        <p:txBody>
          <a:bodyPr wrap="square" lIns="0" tIns="0" rIns="0" bIns="0" rtlCol="0" anchor="t"/>
          <a:lstStyle/>
          <a:p>
            <a:pPr indent="0" marL="0">
              <a:lnSpc>
                <a:spcPct val="98000"/>
              </a:lnSpc>
              <a:buNone/>
            </a:pPr>
            <a:r>
              <a:rPr lang="en-US" sz="1200" dirty="0">
                <a:solidFill>
                  <a:srgbClr val="DA291C"/>
                </a:solidFill>
                <a:latin typeface="Poppins SemiBold" pitchFamily="34" charset="0"/>
                <a:ea typeface="Poppins SemiBold" pitchFamily="34" charset="-122"/>
                <a:cs typeface="Poppins SemiBold" pitchFamily="34" charset="-120"/>
              </a:rPr>
              <a:t>Distribution</a:t>
            </a:r>
            <a:endParaRPr lang="en-US" sz="1200" dirty="0"/>
          </a:p>
        </p:txBody>
      </p:sp>
      <p:sp>
        <p:nvSpPr>
          <p:cNvPr id="22" name="Text 13"/>
          <p:cNvSpPr/>
          <p:nvPr/>
        </p:nvSpPr>
        <p:spPr>
          <a:xfrm>
            <a:off x="3547872" y="3035808"/>
            <a:ext cx="1042416" cy="50292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Siaran laga</a:t>
            </a:r>
            <a:endParaRPr lang="en-US" sz="1200" dirty="0"/>
          </a:p>
        </p:txBody>
      </p:sp>
      <p:sp>
        <p:nvSpPr>
          <p:cNvPr id="23" name="Text 14"/>
          <p:cNvSpPr/>
          <p:nvPr/>
        </p:nvSpPr>
        <p:spPr>
          <a:xfrm>
            <a:off x="3547872" y="3511296"/>
            <a:ext cx="1042416" cy="541325"/>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Hak siar, MUTV, stadion</a:t>
            </a:r>
            <a:endParaRPr lang="en-US" sz="1200" dirty="0"/>
          </a:p>
        </p:txBody>
      </p:sp>
      <p:pic>
        <p:nvPicPr>
          <p:cNvPr id="24" name="Image 6" descr="opt/paper_43.png">    </p:cNvPr>
          <p:cNvPicPr>
            <a:picLocks noChangeAspect="1"/>
          </p:cNvPicPr>
          <p:nvPr/>
        </p:nvPicPr>
        <p:blipFill>
          <a:blip r:embed="rId8"/>
          <a:stretch>
            <a:fillRect/>
          </a:stretch>
        </p:blipFill>
        <p:spPr>
          <a:xfrm>
            <a:off x="4809744" y="2340864"/>
            <a:ext cx="1298448" cy="1828800"/>
          </a:xfrm>
          <a:prstGeom prst="rect">
            <a:avLst/>
          </a:prstGeom>
        </p:spPr>
      </p:pic>
      <p:sp>
        <p:nvSpPr>
          <p:cNvPr id="25" name="Text 15"/>
          <p:cNvSpPr/>
          <p:nvPr/>
        </p:nvSpPr>
        <p:spPr>
          <a:xfrm>
            <a:off x="4937760" y="2560320"/>
            <a:ext cx="1042416" cy="457200"/>
          </a:xfrm>
          <a:prstGeom prst="rect">
            <a:avLst/>
          </a:prstGeom>
          <a:noFill/>
          <a:ln/>
        </p:spPr>
        <p:txBody>
          <a:bodyPr wrap="square" lIns="0" tIns="0" rIns="0" bIns="0" rtlCol="0" anchor="t"/>
          <a:lstStyle/>
          <a:p>
            <a:pPr indent="0" marL="0">
              <a:lnSpc>
                <a:spcPct val="98000"/>
              </a:lnSpc>
              <a:buNone/>
            </a:pPr>
            <a:r>
              <a:rPr lang="en-US" sz="1200" dirty="0">
                <a:solidFill>
                  <a:srgbClr val="DA291C"/>
                </a:solidFill>
                <a:latin typeface="Poppins SemiBold" pitchFamily="34" charset="0"/>
                <a:ea typeface="Poppins SemiBold" pitchFamily="34" charset="-122"/>
                <a:cs typeface="Poppins SemiBold" pitchFamily="34" charset="-120"/>
              </a:rPr>
              <a:t>Sales &amp; Marketing</a:t>
            </a:r>
            <a:endParaRPr lang="en-US" sz="1200" dirty="0"/>
          </a:p>
        </p:txBody>
      </p:sp>
      <p:sp>
        <p:nvSpPr>
          <p:cNvPr id="26" name="Text 16"/>
          <p:cNvSpPr/>
          <p:nvPr/>
        </p:nvSpPr>
        <p:spPr>
          <a:xfrm>
            <a:off x="4937760" y="3035808"/>
            <a:ext cx="1042416" cy="50292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Menjual merek</a:t>
            </a:r>
            <a:endParaRPr lang="en-US" sz="1200" dirty="0"/>
          </a:p>
        </p:txBody>
      </p:sp>
      <p:sp>
        <p:nvSpPr>
          <p:cNvPr id="27" name="Text 17"/>
          <p:cNvSpPr/>
          <p:nvPr/>
        </p:nvSpPr>
        <p:spPr>
          <a:xfrm>
            <a:off x="4937760" y="3511296"/>
            <a:ext cx="1042416" cy="541325"/>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Nike, Aon, tur Asia</a:t>
            </a:r>
            <a:endParaRPr lang="en-US" sz="1200" dirty="0"/>
          </a:p>
        </p:txBody>
      </p:sp>
      <p:pic>
        <p:nvPicPr>
          <p:cNvPr id="28" name="Image 7" descr="opt/paper_43.png">    </p:cNvPr>
          <p:cNvPicPr>
            <a:picLocks noChangeAspect="1"/>
          </p:cNvPicPr>
          <p:nvPr/>
        </p:nvPicPr>
        <p:blipFill>
          <a:blip r:embed="rId9"/>
          <a:stretch>
            <a:fillRect/>
          </a:stretch>
        </p:blipFill>
        <p:spPr>
          <a:xfrm>
            <a:off x="6199632" y="2340864"/>
            <a:ext cx="1298448" cy="1828800"/>
          </a:xfrm>
          <a:prstGeom prst="rect">
            <a:avLst/>
          </a:prstGeom>
        </p:spPr>
      </p:pic>
      <p:sp>
        <p:nvSpPr>
          <p:cNvPr id="29" name="Text 18"/>
          <p:cNvSpPr/>
          <p:nvPr/>
        </p:nvSpPr>
        <p:spPr>
          <a:xfrm>
            <a:off x="6327648" y="2560320"/>
            <a:ext cx="1042416" cy="457200"/>
          </a:xfrm>
          <a:prstGeom prst="rect">
            <a:avLst/>
          </a:prstGeom>
          <a:noFill/>
          <a:ln/>
        </p:spPr>
        <p:txBody>
          <a:bodyPr wrap="square" lIns="0" tIns="0" rIns="0" bIns="0" rtlCol="0" anchor="t"/>
          <a:lstStyle/>
          <a:p>
            <a:pPr indent="0" marL="0">
              <a:lnSpc>
                <a:spcPct val="98000"/>
              </a:lnSpc>
              <a:buNone/>
            </a:pPr>
            <a:r>
              <a:rPr lang="en-US" sz="1200" dirty="0">
                <a:solidFill>
                  <a:srgbClr val="DA291C"/>
                </a:solidFill>
                <a:latin typeface="Poppins SemiBold" pitchFamily="34" charset="0"/>
                <a:ea typeface="Poppins SemiBold" pitchFamily="34" charset="-122"/>
                <a:cs typeface="Poppins SemiBold" pitchFamily="34" charset="-120"/>
              </a:rPr>
              <a:t>Service</a:t>
            </a:r>
            <a:endParaRPr lang="en-US" sz="1200" dirty="0"/>
          </a:p>
        </p:txBody>
      </p:sp>
      <p:sp>
        <p:nvSpPr>
          <p:cNvPr id="30" name="Text 19"/>
          <p:cNvSpPr/>
          <p:nvPr/>
        </p:nvSpPr>
        <p:spPr>
          <a:xfrm>
            <a:off x="6327648" y="3035808"/>
            <a:ext cx="1042416" cy="50292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Layanan fan</a:t>
            </a:r>
            <a:endParaRPr lang="en-US" sz="1200" dirty="0"/>
          </a:p>
        </p:txBody>
      </p:sp>
      <p:sp>
        <p:nvSpPr>
          <p:cNvPr id="31" name="Text 20"/>
          <p:cNvSpPr/>
          <p:nvPr/>
        </p:nvSpPr>
        <p:spPr>
          <a:xfrm>
            <a:off x="6327648" y="3511296"/>
            <a:ext cx="1042416" cy="541325"/>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Toko, museum, MU Mobile</a:t>
            </a:r>
            <a:endParaRPr lang="en-US" sz="1200" dirty="0"/>
          </a:p>
        </p:txBody>
      </p:sp>
      <p:pic>
        <p:nvPicPr>
          <p:cNvPr id="32" name="Image 8" descr="opt/black_219.png">    </p:cNvPr>
          <p:cNvPicPr>
            <a:picLocks noChangeAspect="1"/>
          </p:cNvPicPr>
          <p:nvPr/>
        </p:nvPicPr>
        <p:blipFill>
          <a:blip r:embed="rId10"/>
          <a:stretch>
            <a:fillRect/>
          </a:stretch>
        </p:blipFill>
        <p:spPr>
          <a:xfrm>
            <a:off x="640080" y="4279392"/>
            <a:ext cx="2880360" cy="347472"/>
          </a:xfrm>
          <a:prstGeom prst="rect">
            <a:avLst/>
          </a:prstGeom>
        </p:spPr>
      </p:pic>
      <p:sp>
        <p:nvSpPr>
          <p:cNvPr id="33" name="Text 21"/>
          <p:cNvSpPr/>
          <p:nvPr/>
        </p:nvSpPr>
        <p:spPr>
          <a:xfrm>
            <a:off x="868680" y="4328715"/>
            <a:ext cx="2423160" cy="240487"/>
          </a:xfrm>
          <a:prstGeom prst="rect">
            <a:avLst/>
          </a:prstGeom>
          <a:noFill/>
          <a:ln/>
        </p:spPr>
        <p:txBody>
          <a:bodyPr wrap="square" lIns="0" tIns="0" rIns="0" bIns="0" rtlCol="0" anchor="ctr"/>
          <a:lstStyle/>
          <a:p>
            <a:pPr algn="l" indent="0" marL="0">
              <a:buNone/>
            </a:pPr>
            <a:r>
              <a:rPr lang="en-US" sz="1200" spc="100" kern="0" dirty="0">
                <a:solidFill>
                  <a:srgbClr val="FFFFFF"/>
                </a:solidFill>
                <a:latin typeface="Poppins SemiBold" pitchFamily="34" charset="0"/>
                <a:ea typeface="Poppins SemiBold" pitchFamily="34" charset="-122"/>
                <a:cs typeface="Poppins SemiBold" pitchFamily="34" charset="-120"/>
              </a:rPr>
              <a:t>SUPPORT ACTIVITIES</a:t>
            </a:r>
            <a:endParaRPr lang="en-US" sz="1200" dirty="0"/>
          </a:p>
        </p:txBody>
      </p:sp>
      <p:pic>
        <p:nvPicPr>
          <p:cNvPr id="34" name="Image 9" descr="opt/paper_169.png">    </p:cNvPr>
          <p:cNvPicPr>
            <a:picLocks noChangeAspect="1"/>
          </p:cNvPicPr>
          <p:nvPr/>
        </p:nvPicPr>
        <p:blipFill>
          <a:blip r:embed="rId11"/>
          <a:stretch>
            <a:fillRect/>
          </a:stretch>
        </p:blipFill>
        <p:spPr>
          <a:xfrm>
            <a:off x="640080" y="4681728"/>
            <a:ext cx="2225040" cy="1188720"/>
          </a:xfrm>
          <a:prstGeom prst="rect">
            <a:avLst/>
          </a:prstGeom>
        </p:spPr>
      </p:pic>
      <p:sp>
        <p:nvSpPr>
          <p:cNvPr id="35" name="Text 22"/>
          <p:cNvSpPr/>
          <p:nvPr/>
        </p:nvSpPr>
        <p:spPr>
          <a:xfrm>
            <a:off x="859536" y="4864608"/>
            <a:ext cx="1786128"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Product R&amp;D &amp; Systems</a:t>
            </a:r>
            <a:endParaRPr lang="en-US" sz="1200" dirty="0"/>
          </a:p>
        </p:txBody>
      </p:sp>
      <p:sp>
        <p:nvSpPr>
          <p:cNvPr id="36" name="Text 23"/>
          <p:cNvSpPr/>
          <p:nvPr/>
        </p:nvSpPr>
        <p:spPr>
          <a:xfrm>
            <a:off x="859536" y="5340096"/>
            <a:ext cx="1786128" cy="45720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Metodologi akademi, rotasi skuad, MUTV</a:t>
            </a:r>
            <a:endParaRPr lang="en-US" sz="1200" dirty="0"/>
          </a:p>
        </p:txBody>
      </p:sp>
      <p:pic>
        <p:nvPicPr>
          <p:cNvPr id="37" name="Image 10" descr="opt/paper_169.png">    </p:cNvPr>
          <p:cNvPicPr>
            <a:picLocks noChangeAspect="1"/>
          </p:cNvPicPr>
          <p:nvPr/>
        </p:nvPicPr>
        <p:blipFill>
          <a:blip r:embed="rId12"/>
          <a:stretch>
            <a:fillRect/>
          </a:stretch>
        </p:blipFill>
        <p:spPr>
          <a:xfrm>
            <a:off x="2956560" y="4681728"/>
            <a:ext cx="2225040" cy="1188720"/>
          </a:xfrm>
          <a:prstGeom prst="rect">
            <a:avLst/>
          </a:prstGeom>
        </p:spPr>
      </p:pic>
      <p:sp>
        <p:nvSpPr>
          <p:cNvPr id="38" name="Text 24"/>
          <p:cNvSpPr/>
          <p:nvPr/>
        </p:nvSpPr>
        <p:spPr>
          <a:xfrm>
            <a:off x="3176016" y="4864608"/>
            <a:ext cx="1786128"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Human Resource Mgmt</a:t>
            </a:r>
            <a:endParaRPr lang="en-US" sz="1200" dirty="0"/>
          </a:p>
        </p:txBody>
      </p:sp>
      <p:sp>
        <p:nvSpPr>
          <p:cNvPr id="39" name="Text 25"/>
          <p:cNvSpPr/>
          <p:nvPr/>
        </p:nvSpPr>
        <p:spPr>
          <a:xfrm>
            <a:off x="3176016" y="5340096"/>
            <a:ext cx="1786128" cy="45720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Rekrutmen, struktur gaji, disiplin</a:t>
            </a:r>
            <a:endParaRPr lang="en-US" sz="1200" dirty="0"/>
          </a:p>
        </p:txBody>
      </p:sp>
      <p:pic>
        <p:nvPicPr>
          <p:cNvPr id="40" name="Image 11" descr="opt/paper_169.png">    </p:cNvPr>
          <p:cNvPicPr>
            <a:picLocks noChangeAspect="1"/>
          </p:cNvPicPr>
          <p:nvPr/>
        </p:nvPicPr>
        <p:blipFill>
          <a:blip r:embed="rId13"/>
          <a:stretch>
            <a:fillRect/>
          </a:stretch>
        </p:blipFill>
        <p:spPr>
          <a:xfrm>
            <a:off x="5273040" y="4681728"/>
            <a:ext cx="2225040" cy="1188720"/>
          </a:xfrm>
          <a:prstGeom prst="rect">
            <a:avLst/>
          </a:prstGeom>
        </p:spPr>
      </p:pic>
      <p:sp>
        <p:nvSpPr>
          <p:cNvPr id="41" name="Text 26"/>
          <p:cNvSpPr/>
          <p:nvPr/>
        </p:nvSpPr>
        <p:spPr>
          <a:xfrm>
            <a:off x="5492496" y="4864608"/>
            <a:ext cx="1786128"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General Administration</a:t>
            </a:r>
            <a:endParaRPr lang="en-US" sz="1200" dirty="0"/>
          </a:p>
        </p:txBody>
      </p:sp>
      <p:sp>
        <p:nvSpPr>
          <p:cNvPr id="42" name="Text 27"/>
          <p:cNvSpPr/>
          <p:nvPr/>
        </p:nvSpPr>
        <p:spPr>
          <a:xfrm>
            <a:off x="5492496" y="5340096"/>
            <a:ext cx="1786128" cy="457200"/>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Pemisahan peran Gill dan Ferguson</a:t>
            </a:r>
            <a:endParaRPr lang="en-US" sz="1200" dirty="0"/>
          </a:p>
        </p:txBody>
      </p:sp>
      <p:pic>
        <p:nvPicPr>
          <p:cNvPr id="43" name="Image 12" descr="opt/paper_43.png">    </p:cNvPr>
          <p:cNvPicPr>
            <a:picLocks noChangeAspect="1"/>
          </p:cNvPicPr>
          <p:nvPr/>
        </p:nvPicPr>
        <p:blipFill>
          <a:blip r:embed="rId14"/>
          <a:stretch>
            <a:fillRect/>
          </a:stretch>
        </p:blipFill>
        <p:spPr>
          <a:xfrm>
            <a:off x="7772400" y="1920240"/>
            <a:ext cx="3776472" cy="4315968"/>
          </a:xfrm>
          <a:prstGeom prst="rect">
            <a:avLst/>
          </a:prstGeom>
        </p:spPr>
      </p:pic>
      <p:sp>
        <p:nvSpPr>
          <p:cNvPr id="44" name="Text 28"/>
          <p:cNvSpPr/>
          <p:nvPr/>
        </p:nvSpPr>
        <p:spPr>
          <a:xfrm>
            <a:off x="8101584" y="2288633"/>
            <a:ext cx="3118104" cy="225967"/>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LETAK KEUNGGULAN BIAYA</a:t>
            </a:r>
            <a:endParaRPr lang="en-US" sz="1200" dirty="0"/>
          </a:p>
        </p:txBody>
      </p:sp>
      <p:sp>
        <p:nvSpPr>
          <p:cNvPr id="45" name="Text 29"/>
          <p:cNvSpPr/>
          <p:nvPr/>
        </p:nvSpPr>
        <p:spPr>
          <a:xfrm>
            <a:off x="8101584" y="2560320"/>
            <a:ext cx="311810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Gaji hanya ± 50% pendapatan</a:t>
            </a:r>
            <a:endParaRPr lang="en-US" sz="1200" dirty="0"/>
          </a:p>
        </p:txBody>
      </p:sp>
      <p:sp>
        <p:nvSpPr>
          <p:cNvPr id="46" name="Text 30"/>
          <p:cNvSpPr/>
          <p:nvPr/>
        </p:nvSpPr>
        <p:spPr>
          <a:xfrm>
            <a:off x="8101584" y="2798064"/>
            <a:ext cx="3118104" cy="44257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pitchFamily="34" charset="0"/>
                <a:ea typeface="Poppins" pitchFamily="34" charset="-122"/>
                <a:cs typeface="Poppins" pitchFamily="34" charset="-120"/>
              </a:rPr>
              <a:t>Premier League 62%, Serie A 68%, Chelsea 81%.</a:t>
            </a:r>
            <a:endParaRPr lang="en-US" sz="1200" dirty="0"/>
          </a:p>
        </p:txBody>
      </p:sp>
      <p:sp>
        <p:nvSpPr>
          <p:cNvPr id="47" name="Text 31"/>
          <p:cNvSpPr/>
          <p:nvPr/>
        </p:nvSpPr>
        <p:spPr>
          <a:xfrm>
            <a:off x="8101584" y="3249778"/>
            <a:ext cx="311810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Akademi: pemain tanpa biaya transfer</a:t>
            </a:r>
            <a:endParaRPr lang="en-US" sz="1200" dirty="0"/>
          </a:p>
        </p:txBody>
      </p:sp>
      <p:sp>
        <p:nvSpPr>
          <p:cNvPr id="48" name="Text 32"/>
          <p:cNvSpPr/>
          <p:nvPr/>
        </p:nvSpPr>
        <p:spPr>
          <a:xfrm>
            <a:off x="8101584" y="3487522"/>
            <a:ext cx="3118104" cy="44257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pitchFamily="34" charset="0"/>
                <a:ea typeface="Poppins" pitchFamily="34" charset="-122"/>
                <a:cs typeface="Poppins" pitchFamily="34" charset="-120"/>
              </a:rPr>
              <a:t>Giggs, Beckham, Butt, Neville, Scholes: inti tim 1994–2003.</a:t>
            </a:r>
            <a:endParaRPr lang="en-US" sz="1200" dirty="0"/>
          </a:p>
        </p:txBody>
      </p:sp>
      <p:sp>
        <p:nvSpPr>
          <p:cNvPr id="49" name="Text 33"/>
          <p:cNvSpPr/>
          <p:nvPr/>
        </p:nvSpPr>
        <p:spPr>
          <a:xfrm>
            <a:off x="8101584" y="3939235"/>
            <a:ext cx="311810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Menjual pemain yang dihargai tinggi</a:t>
            </a:r>
            <a:endParaRPr lang="en-US" sz="1200" dirty="0"/>
          </a:p>
        </p:txBody>
      </p:sp>
      <p:sp>
        <p:nvSpPr>
          <p:cNvPr id="50" name="Text 34"/>
          <p:cNvSpPr/>
          <p:nvPr/>
        </p:nvSpPr>
        <p:spPr>
          <a:xfrm>
            <a:off x="8101584" y="4176979"/>
            <a:ext cx="3118104" cy="44257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pitchFamily="34" charset="0"/>
                <a:ea typeface="Poppins" pitchFamily="34" charset="-122"/>
                <a:cs typeface="Poppins" pitchFamily="34" charset="-120"/>
              </a:rPr>
              <a:t>Kotor £322 jt, bersih £100 jt (2003–09). Ronaldo £80 jt.</a:t>
            </a:r>
            <a:endParaRPr lang="en-US" sz="1200" dirty="0"/>
          </a:p>
        </p:txBody>
      </p:sp>
      <p:sp>
        <p:nvSpPr>
          <p:cNvPr id="51" name="Text 35"/>
          <p:cNvSpPr/>
          <p:nvPr/>
        </p:nvSpPr>
        <p:spPr>
          <a:xfrm>
            <a:off x="8101584" y="4628693"/>
            <a:ext cx="3118104" cy="237744"/>
          </a:xfrm>
          <a:prstGeom prst="rect">
            <a:avLst/>
          </a:prstGeom>
          <a:noFill/>
          <a:ln/>
        </p:spPr>
        <p:txBody>
          <a:bodyPr wrap="square" lIns="0" tIns="0" rIns="0" bIns="0" rtlCol="0" anchor="t"/>
          <a:lstStyle/>
          <a:p>
            <a:pPr indent="0" marL="0">
              <a:buNone/>
            </a:pPr>
            <a:r>
              <a:rPr lang="en-US" sz="1200" dirty="0">
                <a:solidFill>
                  <a:srgbClr val="DA291C"/>
                </a:solidFill>
                <a:latin typeface="Poppins ExtraBold" pitchFamily="34" charset="0"/>
                <a:ea typeface="Poppins ExtraBold" pitchFamily="34" charset="-122"/>
                <a:cs typeface="Poppins ExtraBold" pitchFamily="34" charset="-120"/>
              </a:rPr>
              <a:t>Yang melawan arah</a:t>
            </a:r>
            <a:endParaRPr lang="en-US" sz="1200" dirty="0"/>
          </a:p>
        </p:txBody>
      </p:sp>
      <p:sp>
        <p:nvSpPr>
          <p:cNvPr id="52" name="Text 36"/>
          <p:cNvSpPr/>
          <p:nvPr/>
        </p:nvSpPr>
        <p:spPr>
          <a:xfrm>
            <a:off x="8101584" y="4866437"/>
            <a:ext cx="3118104" cy="44257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pitchFamily="34" charset="0"/>
                <a:ea typeface="Poppins" pitchFamily="34" charset="-122"/>
                <a:cs typeface="Poppins" pitchFamily="34" charset="-120"/>
              </a:rPr>
              <a:t>Amortisasi pemain naik £24,2 jt (2005) ke £35,5 jt (2008).</a:t>
            </a:r>
            <a:endParaRPr lang="en-US" sz="1200" dirty="0"/>
          </a:p>
        </p:txBody>
      </p:sp>
      <p:sp>
        <p:nvSpPr>
          <p:cNvPr id="53" name="Text 37"/>
          <p:cNvSpPr/>
          <p:nvPr/>
        </p:nvSpPr>
        <p:spPr>
          <a:xfrm>
            <a:off x="8101584" y="5318150"/>
            <a:ext cx="3118104" cy="237744"/>
          </a:xfrm>
          <a:prstGeom prst="rect">
            <a:avLst/>
          </a:prstGeom>
          <a:noFill/>
          <a:ln/>
        </p:spPr>
        <p:txBody>
          <a:bodyPr wrap="square" lIns="0" tIns="0" rIns="0" bIns="0" rtlCol="0" anchor="t"/>
          <a:lstStyle/>
          <a:p>
            <a:pPr indent="0" marL="0">
              <a:buNone/>
            </a:pPr>
            <a:r>
              <a:rPr lang="en-US" sz="1200" dirty="0">
                <a:solidFill>
                  <a:srgbClr val="160809"/>
                </a:solidFill>
                <a:latin typeface="Poppins ExtraBold" pitchFamily="34" charset="0"/>
                <a:ea typeface="Poppins ExtraBold" pitchFamily="34" charset="-122"/>
                <a:cs typeface="Poppins ExtraBold" pitchFamily="34" charset="-120"/>
              </a:rPr>
              <a:t>Nilai bagi dua pihak</a:t>
            </a:r>
            <a:endParaRPr lang="en-US" sz="1200" dirty="0"/>
          </a:p>
        </p:txBody>
      </p:sp>
      <p:sp>
        <p:nvSpPr>
          <p:cNvPr id="54" name="Text 38"/>
          <p:cNvSpPr/>
          <p:nvPr/>
        </p:nvSpPr>
        <p:spPr>
          <a:xfrm>
            <a:off x="8101584" y="5555894"/>
            <a:ext cx="3118104" cy="441399"/>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pitchFamily="34" charset="0"/>
                <a:ea typeface="Poppins" pitchFamily="34" charset="-122"/>
                <a:cs typeface="Poppins" pitchFamily="34" charset="-120"/>
              </a:rPr>
              <a:t>Fan: prestasi, Old Trafford. Sponsor: 80 juta fan Asia; AIG ke peringkat 47.</a:t>
            </a:r>
            <a:endParaRPr lang="en-US" sz="1200" dirty="0"/>
          </a:p>
        </p:txBody>
      </p:sp>
      <p:pic>
        <p:nvPicPr>
          <p:cNvPr id="55" name="Image 13" descr="opt/st_stadium.png">    </p:cNvPr>
          <p:cNvPicPr>
            <a:picLocks noChangeAspect="1"/>
          </p:cNvPicPr>
          <p:nvPr/>
        </p:nvPicPr>
        <p:blipFill>
          <a:blip r:embed="rId15"/>
          <a:stretch>
            <a:fillRect/>
          </a:stretch>
        </p:blipFill>
        <p:spPr>
          <a:xfrm rot="420000">
            <a:off x="9677095" y="182880"/>
            <a:ext cx="2011680" cy="127196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5394960" cy="402336"/>
          </a:xfrm>
          <a:prstGeom prst="rect">
            <a:avLst/>
          </a:prstGeom>
        </p:spPr>
      </p:pic>
      <p:sp>
        <p:nvSpPr>
          <p:cNvPr id="3" name="Text 0"/>
          <p:cNvSpPr/>
          <p:nvPr/>
        </p:nvSpPr>
        <p:spPr>
          <a:xfrm>
            <a:off x="868680" y="381963"/>
            <a:ext cx="49377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4  ·  BENCHMARKING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063" dirty="0">
                <a:solidFill>
                  <a:srgbClr val="FFFFFF"/>
                </a:solidFill>
                <a:latin typeface="Poppins ExtraBold" pitchFamily="34" charset="0"/>
                <a:ea typeface="Poppins ExtraBold" pitchFamily="34" charset="-122"/>
                <a:cs typeface="Poppins ExtraBold" pitchFamily="34" charset="-120"/>
              </a:rPr>
              <a:t>YANG DIBANDINGKAN BUKAN PENDAPATAN, TETAPI MARGIN</a:t>
            </a:r>
            <a:endParaRPr lang="en-US" sz="2063"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Benchmarking mengubah dugaan VRIN Test menjadi bukti: sistem pengembangan dan penjualan pemain MU memang lebih unggul.</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Table 6.5 (Forbes 2009) dan Table 6.6.</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30</a:t>
            </a:r>
            <a:endParaRPr lang="en-US" sz="1200" dirty="0"/>
          </a:p>
        </p:txBody>
      </p:sp>
      <p:pic>
        <p:nvPicPr>
          <p:cNvPr id="10" name="Image 2" descr="opt/paper_43.png">    </p:cNvPr>
          <p:cNvPicPr>
            <a:picLocks noChangeAspect="1"/>
          </p:cNvPicPr>
          <p:nvPr/>
        </p:nvPicPr>
        <p:blipFill>
          <a:blip r:embed="rId4"/>
          <a:stretch>
            <a:fillRect/>
          </a:stretch>
        </p:blipFill>
        <p:spPr>
          <a:xfrm>
            <a:off x="640080" y="1874520"/>
            <a:ext cx="5852160" cy="4297680"/>
          </a:xfrm>
          <a:prstGeom prst="rect">
            <a:avLst/>
          </a:prstGeom>
        </p:spPr>
      </p:pic>
      <p:sp>
        <p:nvSpPr>
          <p:cNvPr id="11" name="Text 5"/>
          <p:cNvSpPr/>
          <p:nvPr/>
        </p:nvSpPr>
        <p:spPr>
          <a:xfrm>
            <a:off x="1005840" y="2286000"/>
            <a:ext cx="5095403" cy="228600"/>
          </a:xfrm>
          <a:prstGeom prst="rect">
            <a:avLst/>
          </a:prstGeom>
          <a:noFill/>
          <a:ln/>
        </p:spPr>
        <p:txBody>
          <a:bodyPr wrap="square" lIns="0" tIns="0" rIns="0" bIns="0" rtlCol="0" anchor="t"/>
          <a:lstStyle/>
          <a:p>
            <a:pPr indent="0" marL="0">
              <a:buNone/>
            </a:pPr>
            <a:r>
              <a:rPr lang="en-US" sz="1200" spc="100" kern="0" dirty="0">
                <a:solidFill>
                  <a:srgbClr val="DA291C"/>
                </a:solidFill>
                <a:latin typeface="Poppins SemiBold" pitchFamily="34" charset="0"/>
                <a:ea typeface="Poppins SemiBold" pitchFamily="34" charset="-122"/>
                <a:cs typeface="Poppins SemiBold" pitchFamily="34" charset="-120"/>
              </a:rPr>
              <a:t>MARGIN EBITDA KLUB EROPA, %  ·  DARI TABLE 6.5</a:t>
            </a:r>
            <a:endParaRPr lang="en-US" sz="1200" dirty="0"/>
          </a:p>
        </p:txBody>
      </p:sp>
      <p:sp>
        <p:nvSpPr>
          <p:cNvPr id="12" name="Text 6"/>
          <p:cNvSpPr/>
          <p:nvPr/>
        </p:nvSpPr>
        <p:spPr>
          <a:xfrm>
            <a:off x="1005840" y="2633746"/>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ExtraBold" pitchFamily="34" charset="0"/>
                <a:ea typeface="Poppins ExtraBold" pitchFamily="34" charset="-122"/>
                <a:cs typeface="Poppins ExtraBold" pitchFamily="34" charset="-120"/>
              </a:rPr>
              <a:t>Man United</a:t>
            </a:r>
            <a:endParaRPr lang="en-US" sz="1200" dirty="0"/>
          </a:p>
        </p:txBody>
      </p:sp>
      <p:sp>
        <p:nvSpPr>
          <p:cNvPr id="13" name="Shape 7"/>
          <p:cNvSpPr/>
          <p:nvPr/>
        </p:nvSpPr>
        <p:spPr>
          <a:xfrm>
            <a:off x="2723587" y="2670322"/>
            <a:ext cx="2579933" cy="209763"/>
          </a:xfrm>
          <a:prstGeom prst="rect">
            <a:avLst/>
          </a:prstGeom>
          <a:solidFill>
            <a:srgbClr val="DA291C"/>
          </a:solidFill>
          <a:ln w="12700">
            <a:solidFill>
              <a:srgbClr val="DA291C"/>
            </a:solidFill>
            <a:prstDash val="solid"/>
          </a:ln>
        </p:spPr>
      </p:sp>
      <p:sp>
        <p:nvSpPr>
          <p:cNvPr id="14" name="Text 8"/>
          <p:cNvSpPr/>
          <p:nvPr/>
        </p:nvSpPr>
        <p:spPr>
          <a:xfrm>
            <a:off x="5376672" y="2633746"/>
            <a:ext cx="724571" cy="282915"/>
          </a:xfrm>
          <a:prstGeom prst="rect">
            <a:avLst/>
          </a:prstGeom>
          <a:noFill/>
          <a:ln/>
        </p:spPr>
        <p:txBody>
          <a:bodyPr wrap="square" lIns="0" tIns="0" rIns="0" bIns="0" rtlCol="0" anchor="ctr"/>
          <a:lstStyle/>
          <a:p>
            <a:pPr indent="0" marL="0">
              <a:buNone/>
            </a:pPr>
            <a:r>
              <a:rPr lang="en-US" sz="1200" dirty="0">
                <a:solidFill>
                  <a:srgbClr val="DA291C"/>
                </a:solidFill>
                <a:latin typeface="Poppins SemiBold" pitchFamily="34" charset="0"/>
                <a:ea typeface="Poppins SemiBold" pitchFamily="34" charset="-122"/>
                <a:cs typeface="Poppins SemiBold" pitchFamily="34" charset="-120"/>
              </a:rPr>
              <a:t>31,4</a:t>
            </a:r>
            <a:endParaRPr lang="en-US" sz="1200" dirty="0"/>
          </a:p>
        </p:txBody>
      </p:sp>
      <p:sp>
        <p:nvSpPr>
          <p:cNvPr id="15" name="Text 9"/>
          <p:cNvSpPr/>
          <p:nvPr/>
        </p:nvSpPr>
        <p:spPr>
          <a:xfrm>
            <a:off x="1005840" y="2972074"/>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Barcelona</a:t>
            </a:r>
            <a:endParaRPr lang="en-US" sz="1200" dirty="0"/>
          </a:p>
        </p:txBody>
      </p:sp>
      <p:sp>
        <p:nvSpPr>
          <p:cNvPr id="16" name="Shape 10"/>
          <p:cNvSpPr/>
          <p:nvPr/>
        </p:nvSpPr>
        <p:spPr>
          <a:xfrm>
            <a:off x="2723587" y="3008650"/>
            <a:ext cx="1832246" cy="209763"/>
          </a:xfrm>
          <a:prstGeom prst="rect">
            <a:avLst/>
          </a:prstGeom>
          <a:solidFill>
            <a:srgbClr val="4A2E2A"/>
          </a:solidFill>
          <a:ln w="12700">
            <a:solidFill>
              <a:srgbClr val="4A2E2A"/>
            </a:solidFill>
            <a:prstDash val="solid"/>
          </a:ln>
        </p:spPr>
      </p:sp>
      <p:sp>
        <p:nvSpPr>
          <p:cNvPr id="17" name="Text 11"/>
          <p:cNvSpPr/>
          <p:nvPr/>
        </p:nvSpPr>
        <p:spPr>
          <a:xfrm>
            <a:off x="4628984" y="2972074"/>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22,3</a:t>
            </a:r>
            <a:endParaRPr lang="en-US" sz="1200" dirty="0"/>
          </a:p>
        </p:txBody>
      </p:sp>
      <p:sp>
        <p:nvSpPr>
          <p:cNvPr id="18" name="Text 12"/>
          <p:cNvSpPr/>
          <p:nvPr/>
        </p:nvSpPr>
        <p:spPr>
          <a:xfrm>
            <a:off x="1005840" y="3310402"/>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Arsenal</a:t>
            </a:r>
            <a:endParaRPr lang="en-US" sz="1200" dirty="0"/>
          </a:p>
        </p:txBody>
      </p:sp>
      <p:sp>
        <p:nvSpPr>
          <p:cNvPr id="19" name="Shape 13"/>
          <p:cNvSpPr/>
          <p:nvPr/>
        </p:nvSpPr>
        <p:spPr>
          <a:xfrm>
            <a:off x="2723587" y="3346978"/>
            <a:ext cx="1585755" cy="209763"/>
          </a:xfrm>
          <a:prstGeom prst="rect">
            <a:avLst/>
          </a:prstGeom>
          <a:solidFill>
            <a:srgbClr val="4A2E2A"/>
          </a:solidFill>
          <a:ln w="12700">
            <a:solidFill>
              <a:srgbClr val="4A2E2A"/>
            </a:solidFill>
            <a:prstDash val="solid"/>
          </a:ln>
        </p:spPr>
      </p:sp>
      <p:sp>
        <p:nvSpPr>
          <p:cNvPr id="20" name="Text 14"/>
          <p:cNvSpPr/>
          <p:nvPr/>
        </p:nvSpPr>
        <p:spPr>
          <a:xfrm>
            <a:off x="4382494" y="3310402"/>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19,3</a:t>
            </a:r>
            <a:endParaRPr lang="en-US" sz="1200" dirty="0"/>
          </a:p>
        </p:txBody>
      </p:sp>
      <p:sp>
        <p:nvSpPr>
          <p:cNvPr id="21" name="Text 15"/>
          <p:cNvSpPr/>
          <p:nvPr/>
        </p:nvSpPr>
        <p:spPr>
          <a:xfrm>
            <a:off x="1005840" y="3648730"/>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AC Milan</a:t>
            </a:r>
            <a:endParaRPr lang="en-US" sz="1200" dirty="0"/>
          </a:p>
        </p:txBody>
      </p:sp>
      <p:sp>
        <p:nvSpPr>
          <p:cNvPr id="22" name="Shape 16"/>
          <p:cNvSpPr/>
          <p:nvPr/>
        </p:nvSpPr>
        <p:spPr>
          <a:xfrm>
            <a:off x="2723587" y="3685306"/>
            <a:ext cx="1446077" cy="209763"/>
          </a:xfrm>
          <a:prstGeom prst="rect">
            <a:avLst/>
          </a:prstGeom>
          <a:solidFill>
            <a:srgbClr val="4A2E2A"/>
          </a:solidFill>
          <a:ln w="12700">
            <a:solidFill>
              <a:srgbClr val="4A2E2A"/>
            </a:solidFill>
            <a:prstDash val="solid"/>
          </a:ln>
        </p:spPr>
      </p:sp>
      <p:sp>
        <p:nvSpPr>
          <p:cNvPr id="23" name="Text 17"/>
          <p:cNvSpPr/>
          <p:nvPr/>
        </p:nvSpPr>
        <p:spPr>
          <a:xfrm>
            <a:off x="4242816" y="3648730"/>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17,6</a:t>
            </a:r>
            <a:endParaRPr lang="en-US" sz="1200" dirty="0"/>
          </a:p>
        </p:txBody>
      </p:sp>
      <p:sp>
        <p:nvSpPr>
          <p:cNvPr id="24" name="Text 18"/>
          <p:cNvSpPr/>
          <p:nvPr/>
        </p:nvSpPr>
        <p:spPr>
          <a:xfrm>
            <a:off x="1005840" y="3987058"/>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Juventus</a:t>
            </a:r>
            <a:endParaRPr lang="en-US" sz="1200" dirty="0"/>
          </a:p>
        </p:txBody>
      </p:sp>
      <p:sp>
        <p:nvSpPr>
          <p:cNvPr id="25" name="Shape 19"/>
          <p:cNvSpPr/>
          <p:nvPr/>
        </p:nvSpPr>
        <p:spPr>
          <a:xfrm>
            <a:off x="2723587" y="4023634"/>
            <a:ext cx="1437861" cy="209763"/>
          </a:xfrm>
          <a:prstGeom prst="rect">
            <a:avLst/>
          </a:prstGeom>
          <a:solidFill>
            <a:srgbClr val="4A2E2A"/>
          </a:solidFill>
          <a:ln w="12700">
            <a:solidFill>
              <a:srgbClr val="4A2E2A"/>
            </a:solidFill>
            <a:prstDash val="solid"/>
          </a:ln>
        </p:spPr>
      </p:sp>
      <p:sp>
        <p:nvSpPr>
          <p:cNvPr id="26" name="Text 20"/>
          <p:cNvSpPr/>
          <p:nvPr/>
        </p:nvSpPr>
        <p:spPr>
          <a:xfrm>
            <a:off x="4234600" y="3987058"/>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17,5</a:t>
            </a:r>
            <a:endParaRPr lang="en-US" sz="1200" dirty="0"/>
          </a:p>
        </p:txBody>
      </p:sp>
      <p:sp>
        <p:nvSpPr>
          <p:cNvPr id="27" name="Text 21"/>
          <p:cNvSpPr/>
          <p:nvPr/>
        </p:nvSpPr>
        <p:spPr>
          <a:xfrm>
            <a:off x="1005840" y="4325386"/>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Liverpool</a:t>
            </a:r>
            <a:endParaRPr lang="en-US" sz="1200" dirty="0"/>
          </a:p>
        </p:txBody>
      </p:sp>
      <p:sp>
        <p:nvSpPr>
          <p:cNvPr id="28" name="Shape 22"/>
          <p:cNvSpPr/>
          <p:nvPr/>
        </p:nvSpPr>
        <p:spPr>
          <a:xfrm>
            <a:off x="2723587" y="4361962"/>
            <a:ext cx="1298183" cy="209763"/>
          </a:xfrm>
          <a:prstGeom prst="rect">
            <a:avLst/>
          </a:prstGeom>
          <a:solidFill>
            <a:srgbClr val="4A2E2A"/>
          </a:solidFill>
          <a:ln w="12700">
            <a:solidFill>
              <a:srgbClr val="4A2E2A"/>
            </a:solidFill>
            <a:prstDash val="solid"/>
          </a:ln>
        </p:spPr>
      </p:sp>
      <p:sp>
        <p:nvSpPr>
          <p:cNvPr id="29" name="Text 23"/>
          <p:cNvSpPr/>
          <p:nvPr/>
        </p:nvSpPr>
        <p:spPr>
          <a:xfrm>
            <a:off x="4094922" y="4325386"/>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15,8</a:t>
            </a:r>
            <a:endParaRPr lang="en-US" sz="1200" dirty="0"/>
          </a:p>
        </p:txBody>
      </p:sp>
      <p:sp>
        <p:nvSpPr>
          <p:cNvPr id="30" name="Text 24"/>
          <p:cNvSpPr/>
          <p:nvPr/>
        </p:nvSpPr>
        <p:spPr>
          <a:xfrm>
            <a:off x="1005840" y="4663714"/>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Real Madrid</a:t>
            </a:r>
            <a:endParaRPr lang="en-US" sz="1200" dirty="0"/>
          </a:p>
        </p:txBody>
      </p:sp>
      <p:sp>
        <p:nvSpPr>
          <p:cNvPr id="31" name="Shape 25"/>
          <p:cNvSpPr/>
          <p:nvPr/>
        </p:nvSpPr>
        <p:spPr>
          <a:xfrm>
            <a:off x="2723587" y="4700290"/>
            <a:ext cx="1158505" cy="209763"/>
          </a:xfrm>
          <a:prstGeom prst="rect">
            <a:avLst/>
          </a:prstGeom>
          <a:solidFill>
            <a:srgbClr val="4A2E2A"/>
          </a:solidFill>
          <a:ln w="12700">
            <a:solidFill>
              <a:srgbClr val="4A2E2A"/>
            </a:solidFill>
            <a:prstDash val="solid"/>
          </a:ln>
        </p:spPr>
      </p:sp>
      <p:sp>
        <p:nvSpPr>
          <p:cNvPr id="32" name="Text 26"/>
          <p:cNvSpPr/>
          <p:nvPr/>
        </p:nvSpPr>
        <p:spPr>
          <a:xfrm>
            <a:off x="3955244" y="4663714"/>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14,1</a:t>
            </a:r>
            <a:endParaRPr lang="en-US" sz="1200" dirty="0"/>
          </a:p>
        </p:txBody>
      </p:sp>
      <p:sp>
        <p:nvSpPr>
          <p:cNvPr id="33" name="Text 27"/>
          <p:cNvSpPr/>
          <p:nvPr/>
        </p:nvSpPr>
        <p:spPr>
          <a:xfrm>
            <a:off x="1005840" y="5002042"/>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Bayern</a:t>
            </a:r>
            <a:endParaRPr lang="en-US" sz="1200" dirty="0"/>
          </a:p>
        </p:txBody>
      </p:sp>
      <p:sp>
        <p:nvSpPr>
          <p:cNvPr id="34" name="Shape 28"/>
          <p:cNvSpPr/>
          <p:nvPr/>
        </p:nvSpPr>
        <p:spPr>
          <a:xfrm>
            <a:off x="2723587" y="5038618"/>
            <a:ext cx="1043476" cy="209763"/>
          </a:xfrm>
          <a:prstGeom prst="rect">
            <a:avLst/>
          </a:prstGeom>
          <a:solidFill>
            <a:srgbClr val="4A2E2A"/>
          </a:solidFill>
          <a:ln w="12700">
            <a:solidFill>
              <a:srgbClr val="4A2E2A"/>
            </a:solidFill>
            <a:prstDash val="solid"/>
          </a:ln>
        </p:spPr>
      </p:sp>
      <p:sp>
        <p:nvSpPr>
          <p:cNvPr id="35" name="Text 29"/>
          <p:cNvSpPr/>
          <p:nvPr/>
        </p:nvSpPr>
        <p:spPr>
          <a:xfrm>
            <a:off x="3840215" y="5002042"/>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12,7</a:t>
            </a:r>
            <a:endParaRPr lang="en-US" sz="1200" dirty="0"/>
          </a:p>
        </p:txBody>
      </p:sp>
      <p:sp>
        <p:nvSpPr>
          <p:cNvPr id="36" name="Text 30"/>
          <p:cNvSpPr/>
          <p:nvPr/>
        </p:nvSpPr>
        <p:spPr>
          <a:xfrm>
            <a:off x="1005840" y="5340370"/>
            <a:ext cx="1325880" cy="282915"/>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Inter</a:t>
            </a:r>
            <a:endParaRPr lang="en-US" sz="1200" dirty="0"/>
          </a:p>
        </p:txBody>
      </p:sp>
      <p:sp>
        <p:nvSpPr>
          <p:cNvPr id="37" name="Shape 31"/>
          <p:cNvSpPr/>
          <p:nvPr/>
        </p:nvSpPr>
        <p:spPr>
          <a:xfrm>
            <a:off x="2723587" y="5376946"/>
            <a:ext cx="813418" cy="209763"/>
          </a:xfrm>
          <a:prstGeom prst="rect">
            <a:avLst/>
          </a:prstGeom>
          <a:solidFill>
            <a:srgbClr val="4A2E2A"/>
          </a:solidFill>
          <a:ln w="12700">
            <a:solidFill>
              <a:srgbClr val="4A2E2A"/>
            </a:solidFill>
            <a:prstDash val="solid"/>
          </a:ln>
        </p:spPr>
      </p:sp>
      <p:sp>
        <p:nvSpPr>
          <p:cNvPr id="38" name="Text 32"/>
          <p:cNvSpPr/>
          <p:nvPr/>
        </p:nvSpPr>
        <p:spPr>
          <a:xfrm>
            <a:off x="3610157" y="5340370"/>
            <a:ext cx="731520" cy="282915"/>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9,9</a:t>
            </a:r>
            <a:endParaRPr lang="en-US" sz="1200" dirty="0"/>
          </a:p>
        </p:txBody>
      </p:sp>
      <p:sp>
        <p:nvSpPr>
          <p:cNvPr id="39" name="Text 33"/>
          <p:cNvSpPr/>
          <p:nvPr/>
        </p:nvSpPr>
        <p:spPr>
          <a:xfrm>
            <a:off x="1005840" y="5678698"/>
            <a:ext cx="1325880" cy="255483"/>
          </a:xfrm>
          <a:prstGeom prst="rect">
            <a:avLst/>
          </a:prstGeom>
          <a:noFill/>
          <a:ln/>
        </p:spPr>
        <p:txBody>
          <a:bodyPr wrap="square" lIns="0" tIns="0" rIns="0" bIns="0" rtlCol="0" anchor="ctr"/>
          <a:lstStyle/>
          <a:p>
            <a:pPr algn="r" indent="0" marL="0">
              <a:buNone/>
            </a:pPr>
            <a:r>
              <a:rPr lang="en-US" sz="1200" dirty="0">
                <a:solidFill>
                  <a:srgbClr val="160809"/>
                </a:solidFill>
                <a:latin typeface="Poppins" pitchFamily="34" charset="0"/>
                <a:ea typeface="Poppins" pitchFamily="34" charset="-122"/>
                <a:cs typeface="Poppins" pitchFamily="34" charset="-120"/>
              </a:rPr>
              <a:t>Chelsea</a:t>
            </a:r>
            <a:endParaRPr lang="en-US" sz="1200" dirty="0"/>
          </a:p>
        </p:txBody>
      </p:sp>
      <p:sp>
        <p:nvSpPr>
          <p:cNvPr id="40" name="Shape 34"/>
          <p:cNvSpPr/>
          <p:nvPr/>
        </p:nvSpPr>
        <p:spPr>
          <a:xfrm>
            <a:off x="2468880" y="5715274"/>
            <a:ext cx="254707" cy="209763"/>
          </a:xfrm>
          <a:prstGeom prst="rect">
            <a:avLst/>
          </a:prstGeom>
          <a:solidFill>
            <a:srgbClr val="4A2E2A"/>
          </a:solidFill>
          <a:ln w="12700">
            <a:solidFill>
              <a:srgbClr val="4A2E2A"/>
            </a:solidFill>
            <a:prstDash val="solid"/>
          </a:ln>
        </p:spPr>
      </p:sp>
      <p:sp>
        <p:nvSpPr>
          <p:cNvPr id="41" name="Text 35"/>
          <p:cNvSpPr/>
          <p:nvPr/>
        </p:nvSpPr>
        <p:spPr>
          <a:xfrm>
            <a:off x="2796739" y="5678698"/>
            <a:ext cx="731520" cy="255483"/>
          </a:xfrm>
          <a:prstGeom prst="rect">
            <a:avLst/>
          </a:prstGeom>
          <a:noFill/>
          <a:ln/>
        </p:spPr>
        <p:txBody>
          <a:bodyPr wrap="square" lIns="0" tIns="0" rIns="0" bIns="0" rtlCol="0" anchor="ctr"/>
          <a:lstStyle/>
          <a:p>
            <a:pPr indent="0" marL="0">
              <a:buNone/>
            </a:pPr>
            <a:r>
              <a:rPr lang="en-US" sz="1200" dirty="0">
                <a:solidFill>
                  <a:srgbClr val="160809"/>
                </a:solidFill>
                <a:latin typeface="Poppins SemiBold" pitchFamily="34" charset="0"/>
                <a:ea typeface="Poppins SemiBold" pitchFamily="34" charset="-122"/>
                <a:cs typeface="Poppins SemiBold" pitchFamily="34" charset="-120"/>
              </a:rPr>
              <a:t>−3,1</a:t>
            </a:r>
            <a:endParaRPr lang="en-US" sz="1200" dirty="0"/>
          </a:p>
        </p:txBody>
      </p:sp>
      <p:sp>
        <p:nvSpPr>
          <p:cNvPr id="42" name="Shape 36"/>
          <p:cNvSpPr/>
          <p:nvPr/>
        </p:nvSpPr>
        <p:spPr>
          <a:xfrm>
            <a:off x="2723587" y="2606040"/>
            <a:ext cx="9144" cy="3383280"/>
          </a:xfrm>
          <a:prstGeom prst="rect">
            <a:avLst/>
          </a:prstGeom>
          <a:solidFill>
            <a:srgbClr val="4A2E2A"/>
          </a:solidFill>
          <a:ln w="12700">
            <a:solidFill>
              <a:srgbClr val="4A2E2A"/>
            </a:solidFill>
            <a:prstDash val="solid"/>
          </a:ln>
        </p:spPr>
      </p:sp>
      <p:pic>
        <p:nvPicPr>
          <p:cNvPr id="43" name="Image 3" descr="opt/paper_169.png">    </p:cNvPr>
          <p:cNvPicPr>
            <a:picLocks noChangeAspect="1"/>
          </p:cNvPicPr>
          <p:nvPr/>
        </p:nvPicPr>
        <p:blipFill>
          <a:blip r:embed="rId5"/>
          <a:stretch>
            <a:fillRect/>
          </a:stretch>
        </p:blipFill>
        <p:spPr>
          <a:xfrm>
            <a:off x="6720840" y="1874520"/>
            <a:ext cx="4828032" cy="2148840"/>
          </a:xfrm>
          <a:prstGeom prst="rect">
            <a:avLst/>
          </a:prstGeom>
        </p:spPr>
      </p:pic>
      <p:sp>
        <p:nvSpPr>
          <p:cNvPr id="44" name="Text 37"/>
          <p:cNvSpPr/>
          <p:nvPr/>
        </p:nvSpPr>
        <p:spPr>
          <a:xfrm>
            <a:off x="7099694" y="2130552"/>
            <a:ext cx="4113776" cy="274320"/>
          </a:xfrm>
          <a:prstGeom prst="rect">
            <a:avLst/>
          </a:prstGeom>
          <a:noFill/>
          <a:ln/>
        </p:spPr>
        <p:txBody>
          <a:bodyPr wrap="square" lIns="0" tIns="0" rIns="0" bIns="0" rtlCol="0" anchor="t"/>
          <a:lstStyle/>
          <a:p>
            <a:pPr indent="0" marL="0">
              <a:lnSpc>
                <a:spcPct val="95000"/>
              </a:lnSpc>
              <a:buNone/>
            </a:pPr>
            <a:r>
              <a:rPr lang="en-US" sz="1400" dirty="0">
                <a:solidFill>
                  <a:srgbClr val="160809"/>
                </a:solidFill>
                <a:latin typeface="Poppins ExtraBold" pitchFamily="34" charset="0"/>
                <a:ea typeface="Poppins ExtraBold" pitchFamily="34" charset="-122"/>
                <a:cs typeface="Poppins ExtraBold" pitchFamily="34" charset="-120"/>
              </a:rPr>
              <a:t>Tiga cara mendapat pemain</a:t>
            </a:r>
            <a:endParaRPr lang="en-US" sz="1400" dirty="0"/>
          </a:p>
        </p:txBody>
      </p:sp>
      <p:sp>
        <p:nvSpPr>
          <p:cNvPr id="45" name="Text 38"/>
          <p:cNvSpPr/>
          <p:nvPr/>
        </p:nvSpPr>
        <p:spPr>
          <a:xfrm>
            <a:off x="7099694" y="2459736"/>
            <a:ext cx="4113776" cy="1380744"/>
          </a:xfrm>
          <a:prstGeom prst="rect">
            <a:avLst/>
          </a:prstGeom>
          <a:noFill/>
          <a:ln/>
        </p:spPr>
        <p:txBody>
          <a:bodyPr wrap="square" lIns="0" tIns="0" rIns="0" bIns="0" rtlCol="0" anchor="t"/>
          <a:lstStyle/>
          <a:p>
            <a:pPr indent="0" marL="0">
              <a:lnSpc>
                <a:spcPct val="106000"/>
              </a:lnSpc>
              <a:buNone/>
            </a:pPr>
            <a:r>
              <a:rPr lang="en-US" sz="1200" dirty="0">
                <a:solidFill>
                  <a:srgbClr val="160809"/>
                </a:solidFill>
                <a:latin typeface="Poppins" pitchFamily="34" charset="0"/>
                <a:ea typeface="Poppins" pitchFamily="34" charset="-122"/>
                <a:cs typeface="Poppins" pitchFamily="34" charset="-120"/>
              </a:rPr>
              <a:t>Membeli bintang (Real Madrid, Chelsea): pendapatan tinggi, laba rendah atau rugi. Mengembangkan sendiri (Barcelona, Arsenal, Bayern): laba positif. Gabungan (MU): membeli, lalu menjual saat klub lain menilai lebih tinggi.</a:t>
            </a:r>
            <a:endParaRPr lang="en-US" sz="1200" dirty="0"/>
          </a:p>
        </p:txBody>
      </p:sp>
      <p:pic>
        <p:nvPicPr>
          <p:cNvPr id="46" name="Image 4" descr="opt/red_219.png">    </p:cNvPr>
          <p:cNvPicPr>
            <a:picLocks noChangeAspect="1"/>
          </p:cNvPicPr>
          <p:nvPr/>
        </p:nvPicPr>
        <p:blipFill>
          <a:blip r:embed="rId6"/>
          <a:stretch>
            <a:fillRect/>
          </a:stretch>
        </p:blipFill>
        <p:spPr>
          <a:xfrm>
            <a:off x="6720840" y="4160520"/>
            <a:ext cx="4828032" cy="2011680"/>
          </a:xfrm>
          <a:prstGeom prst="rect">
            <a:avLst/>
          </a:prstGeom>
        </p:spPr>
      </p:pic>
      <p:sp>
        <p:nvSpPr>
          <p:cNvPr id="47" name="Text 39"/>
          <p:cNvSpPr/>
          <p:nvPr/>
        </p:nvSpPr>
        <p:spPr>
          <a:xfrm>
            <a:off x="7050024" y="4422038"/>
            <a:ext cx="4169664" cy="219456"/>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BUKTI MANA YANG PALING UNTUNG</a:t>
            </a:r>
            <a:endParaRPr lang="en-US" sz="1200" dirty="0"/>
          </a:p>
        </p:txBody>
      </p:sp>
      <p:sp>
        <p:nvSpPr>
          <p:cNvPr id="48" name="Text 40"/>
          <p:cNvSpPr/>
          <p:nvPr/>
        </p:nvSpPr>
        <p:spPr>
          <a:xfrm>
            <a:off x="7050024" y="4678070"/>
            <a:ext cx="4169664" cy="1211214"/>
          </a:xfrm>
          <a:prstGeom prst="rect">
            <a:avLst/>
          </a:prstGeom>
          <a:noFill/>
          <a:ln/>
        </p:spPr>
        <p:txBody>
          <a:bodyPr wrap="square" lIns="0" tIns="0" rIns="0" bIns="0" rtlCol="0" anchor="t"/>
          <a:lstStyle/>
          <a:p>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Return on sales 2000–06 (Table 6.6): MU 12,6%, Arsenal 5,6%, Bayern 4,7%, Real Madrid 0,4%, Chelsea −60,4%, Inter −78,4%. Sistem pengembangan dan penjualan pemain MU terbukti lebih unggul.</a:t>
            </a:r>
            <a:endParaRPr lang="en-US" sz="1200" dirty="0"/>
          </a:p>
        </p:txBody>
      </p:sp>
      <p:pic>
        <p:nvPicPr>
          <p:cNvPr id="49" name="Image 5" descr="opt/st_captain.png">    </p:cNvPr>
          <p:cNvPicPr>
            <a:picLocks noChangeAspect="1"/>
          </p:cNvPicPr>
          <p:nvPr/>
        </p:nvPicPr>
        <p:blipFill>
          <a:blip r:embed="rId7"/>
          <a:stretch>
            <a:fillRect/>
          </a:stretch>
        </p:blipFill>
        <p:spPr>
          <a:xfrm rot="-420000">
            <a:off x="9677095" y="182880"/>
            <a:ext cx="2011680" cy="133102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909060" cy="402336"/>
          </a:xfrm>
          <a:prstGeom prst="rect">
            <a:avLst/>
          </a:prstGeom>
        </p:spPr>
      </p:pic>
      <p:sp>
        <p:nvSpPr>
          <p:cNvPr id="3" name="Text 0"/>
          <p:cNvSpPr/>
          <p:nvPr/>
        </p:nvSpPr>
        <p:spPr>
          <a:xfrm>
            <a:off x="868680" y="381963"/>
            <a:ext cx="34518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5  ·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063" dirty="0">
                <a:solidFill>
                  <a:srgbClr val="FFFFFF"/>
                </a:solidFill>
                <a:latin typeface="Poppins ExtraBold" pitchFamily="34" charset="0"/>
                <a:ea typeface="Poppins ExtraBold" pitchFamily="34" charset="-122"/>
                <a:cs typeface="Poppins ExtraBold" pitchFamily="34" charset="-120"/>
              </a:rPr>
              <a:t>COMPETITIVE STRENGTH ASSESSMENT MANCHESTER UNITED</a:t>
            </a:r>
            <a:endParaRPr lang="en-US" sz="2063"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Bobot dan rating disusun kelompok kami dari Table 6.2, 6.3, 6.5, 6.6 dan 6.7 kasus. Isi sel: rating (1–10) / skor tertimbang.</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Bobot dan rating adalah penilaian kelompok.</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31</a:t>
            </a:r>
            <a:endParaRPr lang="en-US" sz="1200" dirty="0"/>
          </a:p>
        </p:txBody>
      </p:sp>
      <p:pic>
        <p:nvPicPr>
          <p:cNvPr id="10" name="Image 2" descr="opt/paper_169.png">    </p:cNvPr>
          <p:cNvPicPr>
            <a:picLocks noChangeAspect="1"/>
          </p:cNvPicPr>
          <p:nvPr/>
        </p:nvPicPr>
        <p:blipFill>
          <a:blip r:embed="rId4"/>
          <a:stretch>
            <a:fillRect/>
          </a:stretch>
        </p:blipFill>
        <p:spPr>
          <a:xfrm>
            <a:off x="502920" y="1719072"/>
            <a:ext cx="11183112" cy="4279392"/>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788920"/>
                <a:gridCol w="822960"/>
                <a:gridCol w="1463040"/>
                <a:gridCol w="1463040"/>
                <a:gridCol w="1463040"/>
                <a:gridCol w="1453896"/>
                <a:gridCol w="1453896"/>
              </a:tblGrid>
              <a:tr h="347472">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Key Success Factor</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Bobot</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Man United</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Real Madrid</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Barcelona</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Chelsea</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Arsenal</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DA291C"/>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Kualitas skuad</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1,35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1,35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Kemampuan manajer</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0,75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1,20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1,20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Akademi &amp; pemandu bakat</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3 / 0,30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3 / 0,30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0,80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Merek &amp; basis pendukung</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1,35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1,05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0,75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Kemampuan komersial</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0,70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0,60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Profitabilitas</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0,70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 / 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6 / 0,60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Keleluasaan finansial (utang)</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4 / 0,40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7 / 0,70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0,50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2 / 0,20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Stadion &amp; matchday</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0,05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0,45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8 / 0,40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0,45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5 / 0,25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0,45</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E6DCC8"/>
                    </a:solidFill>
                  </a:tcPr>
                </a:tc>
              </a:tr>
              <a:tr h="347472">
                <a:tc>
                  <a:txBody>
                    <a:bodyPr/>
                    <a:lstStyle/>
                    <a:p>
                      <a:pPr algn="l" indent="0" marL="0">
                        <a:buNone/>
                      </a:pPr>
                      <a:r>
                        <a:rPr lang="en-US" sz="1200" dirty="0">
                          <a:solidFill>
                            <a:srgbClr val="160809"/>
                          </a:solidFill>
                          <a:latin typeface="Poppins SemiBold" pitchFamily="34" charset="0"/>
                          <a:ea typeface="Poppins SemiBold" pitchFamily="34" charset="-122"/>
                          <a:cs typeface="Poppins SemiBold" pitchFamily="34" charset="-120"/>
                        </a:rPr>
                        <a:t>Rekam jejak prestasi</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0,10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6D5D0"/>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10 / 1,00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c>
                  <a:txBody>
                    <a:bodyPr/>
                    <a:lstStyle/>
                    <a:p>
                      <a:pPr algn="ctr" indent="0" marL="0">
                        <a:buNone/>
                      </a:pPr>
                      <a:r>
                        <a:rPr lang="en-US" sz="1200" dirty="0">
                          <a:solidFill>
                            <a:srgbClr val="160809"/>
                          </a:solidFill>
                          <a:latin typeface="Poppins" pitchFamily="34" charset="0"/>
                          <a:ea typeface="Poppins" pitchFamily="34" charset="-122"/>
                          <a:cs typeface="Poppins" pitchFamily="34" charset="-120"/>
                        </a:rPr>
                        <a:t>9 / 0,90</a:t>
                      </a:r>
                      <a:endParaRPr lang="en-US" sz="1200" dirty="0">
                        <a:latin typeface="Poppins" charset="0"/>
                        <a:ea typeface="Poppins" charset="0"/>
                        <a:cs typeface="Poppins"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1E9D8"/>
                    </a:solidFill>
                  </a:tcPr>
                </a:tc>
              </a:tr>
              <a:tr h="347472">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TOTAL SKOR TERTIMBANG</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1,00</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BE122"/>
                          </a:solidFill>
                          <a:latin typeface="Poppins SemiBold" pitchFamily="34" charset="0"/>
                          <a:ea typeface="Poppins SemiBold" pitchFamily="34" charset="-122"/>
                          <a:cs typeface="Poppins SemiBold" pitchFamily="34" charset="-120"/>
                        </a:rPr>
                        <a:t>8,65</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7,15</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8,40</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5,55</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6,55</a:t>
                      </a:r>
                      <a:endParaRPr lang="en-US" sz="1200" dirty="0">
                        <a:latin typeface="Poppins SemiBold" charset="0"/>
                        <a:ea typeface="Poppins SemiBold" charset="0"/>
                        <a:cs typeface="Poppins SemiBold" charset="0"/>
                      </a:endParaRPr>
                    </a:p>
                  </a:txBody>
                  <a:tcPr marL="76200" marR="76200" marT="38100" marB="38100"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60809"/>
                    </a:solidFill>
                  </a:tcPr>
                </a:tc>
              </a:tr>
            </a:tbl>
          </a:graphicData>
        </a:graphic>
      </p:graphicFrame>
      <p:pic>
        <p:nvPicPr>
          <p:cNvPr id="12" name="Image 3" descr="opt/st_glory.png">    </p:cNvPr>
          <p:cNvPicPr>
            <a:picLocks noChangeAspect="1"/>
          </p:cNvPicPr>
          <p:nvPr/>
        </p:nvPicPr>
        <p:blipFill>
          <a:blip r:embed="rId5"/>
          <a:stretch>
            <a:fillRect/>
          </a:stretch>
        </p:blipFill>
        <p:spPr>
          <a:xfrm rot="420000">
            <a:off x="9677095" y="182880"/>
            <a:ext cx="2011680" cy="143939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3794760" cy="402336"/>
          </a:xfrm>
          <a:prstGeom prst="rect">
            <a:avLst/>
          </a:prstGeom>
        </p:spPr>
      </p:pic>
      <p:sp>
        <p:nvSpPr>
          <p:cNvPr id="3" name="Text 0"/>
          <p:cNvSpPr/>
          <p:nvPr/>
        </p:nvSpPr>
        <p:spPr>
          <a:xfrm>
            <a:off x="868680" y="381963"/>
            <a:ext cx="3337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5  ·  PEMBACAAN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2063" dirty="0">
                <a:solidFill>
                  <a:srgbClr val="FFFFFF"/>
                </a:solidFill>
                <a:latin typeface="Poppins ExtraBold" pitchFamily="34" charset="0"/>
                <a:ea typeface="Poppins ExtraBold" pitchFamily="34" charset="-122"/>
                <a:cs typeface="Poppins ExtraBold" pitchFamily="34" charset="-120"/>
              </a:rPr>
              <a:t>SELISIH TIPIS, DAN SEMUANYA BERTUMPU PADA MANAJER</a:t>
            </a:r>
            <a:endParaRPr lang="en-US" sz="2063"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Tiga angka dari matriks di slide sebelumnya yang menentukan jawaban Q5.</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Perhitungan kelompok dari matriks slide 31.</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32</a:t>
            </a:r>
            <a:endParaRPr lang="en-US" sz="1200" dirty="0"/>
          </a:p>
        </p:txBody>
      </p:sp>
      <p:pic>
        <p:nvPicPr>
          <p:cNvPr id="10" name="Image 2" descr="opt/red_32.png">    </p:cNvPr>
          <p:cNvPicPr>
            <a:picLocks noChangeAspect="1"/>
          </p:cNvPicPr>
          <p:nvPr/>
        </p:nvPicPr>
        <p:blipFill>
          <a:blip r:embed="rId4"/>
          <a:stretch>
            <a:fillRect/>
          </a:stretch>
        </p:blipFill>
        <p:spPr>
          <a:xfrm>
            <a:off x="640080" y="1920240"/>
            <a:ext cx="3514344" cy="3931920"/>
          </a:xfrm>
          <a:prstGeom prst="rect">
            <a:avLst/>
          </a:prstGeom>
        </p:spPr>
      </p:pic>
      <p:sp>
        <p:nvSpPr>
          <p:cNvPr id="11" name="Text 5"/>
          <p:cNvSpPr/>
          <p:nvPr/>
        </p:nvSpPr>
        <p:spPr>
          <a:xfrm>
            <a:off x="932688" y="2331720"/>
            <a:ext cx="2929128" cy="914400"/>
          </a:xfrm>
          <a:prstGeom prst="rect">
            <a:avLst/>
          </a:prstGeom>
          <a:noFill/>
          <a:ln/>
        </p:spPr>
        <p:txBody>
          <a:bodyPr wrap="square" lIns="0" tIns="0" rIns="0" bIns="0" rtlCol="0" anchor="t"/>
          <a:lstStyle/>
          <a:p>
            <a:pPr indent="0" marL="0">
              <a:buNone/>
            </a:pPr>
            <a:r>
              <a:rPr lang="en-US" sz="4800" dirty="0">
                <a:solidFill>
                  <a:srgbClr val="FBE122"/>
                </a:solidFill>
                <a:latin typeface="Poppins ExtraBold" pitchFamily="34" charset="0"/>
                <a:ea typeface="Poppins ExtraBold" pitchFamily="34" charset="-122"/>
                <a:cs typeface="Poppins ExtraBold" pitchFamily="34" charset="-120"/>
              </a:rPr>
              <a:t>0,25</a:t>
            </a:r>
            <a:endParaRPr lang="en-US" sz="4800" dirty="0"/>
          </a:p>
        </p:txBody>
      </p:sp>
      <p:sp>
        <p:nvSpPr>
          <p:cNvPr id="12" name="Text 6"/>
          <p:cNvSpPr/>
          <p:nvPr/>
        </p:nvSpPr>
        <p:spPr>
          <a:xfrm>
            <a:off x="932688" y="3291840"/>
            <a:ext cx="2929128" cy="365760"/>
          </a:xfrm>
          <a:prstGeom prst="rect">
            <a:avLst/>
          </a:prstGeom>
          <a:noFill/>
          <a:ln/>
        </p:spPr>
        <p:txBody>
          <a:bodyPr wrap="square" lIns="0" tIns="0" rIns="0" bIns="0" rtlCol="0" anchor="t"/>
          <a:lstStyle/>
          <a:p>
            <a:pPr indent="0" marL="0">
              <a:buNone/>
            </a:pPr>
            <a:r>
              <a:rPr lang="en-US" sz="1600" dirty="0">
                <a:solidFill>
                  <a:srgbClr val="FFFFFF"/>
                </a:solidFill>
                <a:latin typeface="Poppins ExtraBold" pitchFamily="34" charset="0"/>
                <a:ea typeface="Poppins ExtraBold" pitchFamily="34" charset="-122"/>
                <a:cs typeface="Poppins ExtraBold" pitchFamily="34" charset="-120"/>
              </a:rPr>
              <a:t>Unggul tipis</a:t>
            </a:r>
            <a:endParaRPr lang="en-US" sz="1600" dirty="0"/>
          </a:p>
        </p:txBody>
      </p:sp>
      <p:sp>
        <p:nvSpPr>
          <p:cNvPr id="13" name="Text 7"/>
          <p:cNvSpPr/>
          <p:nvPr/>
        </p:nvSpPr>
        <p:spPr>
          <a:xfrm>
            <a:off x="932688" y="3703320"/>
            <a:ext cx="2929128" cy="1920240"/>
          </a:xfrm>
          <a:prstGeom prst="rect">
            <a:avLst/>
          </a:prstGeom>
          <a:noFill/>
          <a:ln/>
        </p:spPr>
        <p:txBody>
          <a:bodyPr wrap="square" lIns="0" tIns="0" rIns="0" bIns="0" rtlCol="0" anchor="t"/>
          <a:lstStyle/>
          <a:p>
            <a:pPr indent="0" marL="0">
              <a:lnSpc>
                <a:spcPct val="106000"/>
              </a:lnSpc>
              <a:buNone/>
            </a:pPr>
            <a:r>
              <a:rPr lang="en-US" sz="1300" dirty="0">
                <a:solidFill>
                  <a:srgbClr val="FFFFFF"/>
                </a:solidFill>
                <a:latin typeface="Poppins" pitchFamily="34" charset="0"/>
                <a:ea typeface="Poppins" pitchFamily="34" charset="-122"/>
                <a:cs typeface="Poppins" pitchFamily="34" charset="-120"/>
              </a:rPr>
              <a:t>MU 8,65 vs Barcelona 8,40. Cukup satu baris turun untuk menghapus selisih ini.</a:t>
            </a:r>
            <a:endParaRPr lang="en-US" sz="1300" dirty="0"/>
          </a:p>
        </p:txBody>
      </p:sp>
      <p:pic>
        <p:nvPicPr>
          <p:cNvPr id="14" name="Image 3" descr="opt/paper_43.png">    </p:cNvPr>
          <p:cNvPicPr>
            <a:picLocks noChangeAspect="1"/>
          </p:cNvPicPr>
          <p:nvPr/>
        </p:nvPicPr>
        <p:blipFill>
          <a:blip r:embed="rId5"/>
          <a:stretch>
            <a:fillRect/>
          </a:stretch>
        </p:blipFill>
        <p:spPr>
          <a:xfrm>
            <a:off x="4337304" y="1920240"/>
            <a:ext cx="3514344" cy="3931920"/>
          </a:xfrm>
          <a:prstGeom prst="rect">
            <a:avLst/>
          </a:prstGeom>
        </p:spPr>
      </p:pic>
      <p:sp>
        <p:nvSpPr>
          <p:cNvPr id="15" name="Text 8"/>
          <p:cNvSpPr/>
          <p:nvPr/>
        </p:nvSpPr>
        <p:spPr>
          <a:xfrm>
            <a:off x="4629912" y="2331720"/>
            <a:ext cx="2929128" cy="914400"/>
          </a:xfrm>
          <a:prstGeom prst="rect">
            <a:avLst/>
          </a:prstGeom>
          <a:noFill/>
          <a:ln/>
        </p:spPr>
        <p:txBody>
          <a:bodyPr wrap="square" lIns="0" tIns="0" rIns="0" bIns="0" rtlCol="0" anchor="t"/>
          <a:lstStyle/>
          <a:p>
            <a:pPr indent="0" marL="0">
              <a:buNone/>
            </a:pPr>
            <a:r>
              <a:rPr lang="en-US" sz="4800" dirty="0">
                <a:solidFill>
                  <a:srgbClr val="DA291C"/>
                </a:solidFill>
                <a:latin typeface="Poppins ExtraBold" pitchFamily="34" charset="0"/>
                <a:ea typeface="Poppins ExtraBold" pitchFamily="34" charset="-122"/>
                <a:cs typeface="Poppins ExtraBold" pitchFamily="34" charset="-120"/>
              </a:rPr>
              <a:t>7,90</a:t>
            </a:r>
            <a:endParaRPr lang="en-US" sz="4800" dirty="0"/>
          </a:p>
        </p:txBody>
      </p:sp>
      <p:sp>
        <p:nvSpPr>
          <p:cNvPr id="16" name="Text 9"/>
          <p:cNvSpPr/>
          <p:nvPr/>
        </p:nvSpPr>
        <p:spPr>
          <a:xfrm>
            <a:off x="4629912" y="3291840"/>
            <a:ext cx="2929128" cy="365760"/>
          </a:xfrm>
          <a:prstGeom prst="rect">
            <a:avLst/>
          </a:prstGeom>
          <a:noFill/>
          <a:ln/>
        </p:spPr>
        <p:txBody>
          <a:bodyPr wrap="square" lIns="0" tIns="0" rIns="0" bIns="0" rtlCol="0" anchor="t"/>
          <a:lstStyle/>
          <a:p>
            <a:pPr indent="0" marL="0">
              <a:buNone/>
            </a:pPr>
            <a:r>
              <a:rPr lang="en-US" sz="1550" dirty="0">
                <a:solidFill>
                  <a:srgbClr val="160809"/>
                </a:solidFill>
                <a:latin typeface="Poppins ExtraBold" pitchFamily="34" charset="0"/>
                <a:ea typeface="Poppins ExtraBold" pitchFamily="34" charset="-122"/>
                <a:cs typeface="Poppins ExtraBold" pitchFamily="34" charset="-120"/>
              </a:rPr>
              <a:t>Kalau manajer diganti</a:t>
            </a:r>
            <a:endParaRPr lang="en-US" sz="1550" dirty="0"/>
          </a:p>
        </p:txBody>
      </p:sp>
      <p:sp>
        <p:nvSpPr>
          <p:cNvPr id="17" name="Text 10"/>
          <p:cNvSpPr/>
          <p:nvPr/>
        </p:nvSpPr>
        <p:spPr>
          <a:xfrm>
            <a:off x="4629912" y="3703320"/>
            <a:ext cx="2929128" cy="1920240"/>
          </a:xfrm>
          <a:prstGeom prst="rect">
            <a:avLst/>
          </a:prstGeom>
          <a:noFill/>
          <a:ln/>
        </p:spPr>
        <p:txBody>
          <a:bodyPr wrap="square" lIns="0" tIns="0" rIns="0" bIns="0" rtlCol="0" anchor="t"/>
          <a:lstStyle/>
          <a:p>
            <a:pPr indent="0" marL="0">
              <a:lnSpc>
                <a:spcPct val="106000"/>
              </a:lnSpc>
              <a:buNone/>
            </a:pPr>
            <a:r>
              <a:rPr lang="en-US" sz="1300" dirty="0">
                <a:solidFill>
                  <a:srgbClr val="160809"/>
                </a:solidFill>
                <a:latin typeface="Poppins" pitchFamily="34" charset="0"/>
                <a:ea typeface="Poppins" pitchFamily="34" charset="-122"/>
                <a:cs typeface="Poppins" pitchFamily="34" charset="-120"/>
              </a:rPr>
              <a:t>Rating manajer jatuh dari 10 ke 5 karena ganti pelatih: MU langsung di bawah Barcelona.</a:t>
            </a:r>
            <a:endParaRPr lang="en-US" sz="1300" dirty="0"/>
          </a:p>
        </p:txBody>
      </p:sp>
      <p:pic>
        <p:nvPicPr>
          <p:cNvPr id="18" name="Image 4" descr="opt/paper_43.png">    </p:cNvPr>
          <p:cNvPicPr>
            <a:picLocks noChangeAspect="1"/>
          </p:cNvPicPr>
          <p:nvPr/>
        </p:nvPicPr>
        <p:blipFill>
          <a:blip r:embed="rId6"/>
          <a:stretch>
            <a:fillRect/>
          </a:stretch>
        </p:blipFill>
        <p:spPr>
          <a:xfrm>
            <a:off x="8034528" y="1920240"/>
            <a:ext cx="3514344" cy="3931920"/>
          </a:xfrm>
          <a:prstGeom prst="rect">
            <a:avLst/>
          </a:prstGeom>
        </p:spPr>
      </p:pic>
      <p:sp>
        <p:nvSpPr>
          <p:cNvPr id="19" name="Text 11"/>
          <p:cNvSpPr/>
          <p:nvPr/>
        </p:nvSpPr>
        <p:spPr>
          <a:xfrm>
            <a:off x="8327136" y="2331720"/>
            <a:ext cx="2929128" cy="914400"/>
          </a:xfrm>
          <a:prstGeom prst="rect">
            <a:avLst/>
          </a:prstGeom>
          <a:noFill/>
          <a:ln/>
        </p:spPr>
        <p:txBody>
          <a:bodyPr wrap="square" lIns="0" tIns="0" rIns="0" bIns="0" rtlCol="0" anchor="t"/>
          <a:lstStyle/>
          <a:p>
            <a:pPr indent="0" marL="0">
              <a:buNone/>
            </a:pPr>
            <a:r>
              <a:rPr lang="en-US" sz="4800" dirty="0">
                <a:solidFill>
                  <a:srgbClr val="DA291C"/>
                </a:solidFill>
                <a:latin typeface="Poppins ExtraBold" pitchFamily="34" charset="0"/>
                <a:ea typeface="Poppins ExtraBold" pitchFamily="34" charset="-122"/>
                <a:cs typeface="Poppins ExtraBold" pitchFamily="34" charset="-120"/>
              </a:rPr>
              <a:t>≥ 8,3</a:t>
            </a:r>
            <a:endParaRPr lang="en-US" sz="4800" dirty="0"/>
          </a:p>
        </p:txBody>
      </p:sp>
      <p:sp>
        <p:nvSpPr>
          <p:cNvPr id="20" name="Text 12"/>
          <p:cNvSpPr/>
          <p:nvPr/>
        </p:nvSpPr>
        <p:spPr>
          <a:xfrm>
            <a:off x="8327136" y="3291840"/>
            <a:ext cx="2929128" cy="365760"/>
          </a:xfrm>
          <a:prstGeom prst="rect">
            <a:avLst/>
          </a:prstGeom>
          <a:noFill/>
          <a:ln/>
        </p:spPr>
        <p:txBody>
          <a:bodyPr wrap="square" lIns="0" tIns="0" rIns="0" bIns="0" rtlCol="0" anchor="t"/>
          <a:lstStyle/>
          <a:p>
            <a:pPr indent="0" marL="0">
              <a:buNone/>
            </a:pPr>
            <a:r>
              <a:rPr lang="en-US" sz="1600" dirty="0">
                <a:solidFill>
                  <a:srgbClr val="160809"/>
                </a:solidFill>
                <a:latin typeface="Poppins ExtraBold" pitchFamily="34" charset="0"/>
                <a:ea typeface="Poppins ExtraBold" pitchFamily="34" charset="-122"/>
                <a:cs typeface="Poppins ExtraBold" pitchFamily="34" charset="-120"/>
              </a:rPr>
              <a:t>Syarat pengganti</a:t>
            </a:r>
            <a:endParaRPr lang="en-US" sz="1600" dirty="0"/>
          </a:p>
        </p:txBody>
      </p:sp>
      <p:sp>
        <p:nvSpPr>
          <p:cNvPr id="21" name="Text 13"/>
          <p:cNvSpPr/>
          <p:nvPr/>
        </p:nvSpPr>
        <p:spPr>
          <a:xfrm>
            <a:off x="8327136" y="3703320"/>
            <a:ext cx="2929128" cy="1920240"/>
          </a:xfrm>
          <a:prstGeom prst="rect">
            <a:avLst/>
          </a:prstGeom>
          <a:noFill/>
          <a:ln/>
        </p:spPr>
        <p:txBody>
          <a:bodyPr wrap="square" lIns="0" tIns="0" rIns="0" bIns="0" rtlCol="0" anchor="t"/>
          <a:lstStyle/>
          <a:p>
            <a:pPr indent="0" marL="0">
              <a:lnSpc>
                <a:spcPct val="106000"/>
              </a:lnSpc>
              <a:buNone/>
            </a:pPr>
            <a:r>
              <a:rPr lang="en-US" sz="1300" dirty="0">
                <a:solidFill>
                  <a:srgbClr val="160809"/>
                </a:solidFill>
                <a:latin typeface="Poppins" pitchFamily="34" charset="0"/>
                <a:ea typeface="Poppins" pitchFamily="34" charset="-122"/>
                <a:cs typeface="Poppins" pitchFamily="34" charset="-120"/>
              </a:rPr>
              <a:t>Rating yang harus dicapai pengganti Ferguson supaya MU sekadar bertahan sejajar Barcelona.</a:t>
            </a:r>
            <a:endParaRPr lang="en-US" sz="1300" dirty="0"/>
          </a:p>
        </p:txBody>
      </p:sp>
      <p:pic>
        <p:nvPicPr>
          <p:cNvPr id="22" name="Image 5" descr="opt/st_plcup.png">    </p:cNvPr>
          <p:cNvPicPr>
            <a:picLocks noChangeAspect="1"/>
          </p:cNvPicPr>
          <p:nvPr/>
        </p:nvPicPr>
        <p:blipFill>
          <a:blip r:embed="rId7"/>
          <a:stretch>
            <a:fillRect/>
          </a:stretch>
        </p:blipFill>
        <p:spPr>
          <a:xfrm rot="-420000">
            <a:off x="10650116" y="182880"/>
            <a:ext cx="1038659" cy="16916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opt/black_219.png">    </p:cNvPr>
          <p:cNvPicPr>
            <a:picLocks noChangeAspect="1"/>
          </p:cNvPicPr>
          <p:nvPr/>
        </p:nvPicPr>
        <p:blipFill>
          <a:blip r:embed="rId2"/>
          <a:stretch>
            <a:fillRect/>
          </a:stretch>
        </p:blipFill>
        <p:spPr>
          <a:xfrm>
            <a:off x="640080" y="329184"/>
            <a:ext cx="5509260" cy="402336"/>
          </a:xfrm>
          <a:prstGeom prst="rect">
            <a:avLst/>
          </a:prstGeom>
        </p:spPr>
      </p:pic>
      <p:sp>
        <p:nvSpPr>
          <p:cNvPr id="3" name="Text 0"/>
          <p:cNvSpPr/>
          <p:nvPr/>
        </p:nvSpPr>
        <p:spPr>
          <a:xfrm>
            <a:off x="868680" y="381963"/>
            <a:ext cx="50520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PERTANYAAN 6  ·  PRIORITY LIST DITERAPKAN</a:t>
            </a:r>
            <a:endParaRPr lang="en-US" sz="1200" dirty="0"/>
          </a:p>
        </p:txBody>
      </p:sp>
      <p:sp>
        <p:nvSpPr>
          <p:cNvPr id="4" name="Text 1"/>
          <p:cNvSpPr/>
          <p:nvPr/>
        </p:nvSpPr>
        <p:spPr>
          <a:xfrm>
            <a:off x="640080" y="859536"/>
            <a:ext cx="8595360" cy="457200"/>
          </a:xfrm>
          <a:prstGeom prst="rect">
            <a:avLst/>
          </a:prstGeom>
          <a:noFill/>
          <a:ln/>
        </p:spPr>
        <p:txBody>
          <a:bodyPr wrap="square" lIns="0" tIns="0" rIns="0" bIns="0" rtlCol="0" anchor="t"/>
          <a:lstStyle/>
          <a:p>
            <a:pPr indent="0" marL="0">
              <a:lnSpc>
                <a:spcPct val="90000"/>
              </a:lnSpc>
              <a:buNone/>
            </a:pPr>
            <a:r>
              <a:rPr lang="en-US" sz="1907" dirty="0">
                <a:solidFill>
                  <a:srgbClr val="FFFFFF"/>
                </a:solidFill>
                <a:latin typeface="Poppins ExtraBold" pitchFamily="34" charset="0"/>
                <a:ea typeface="Poppins ExtraBold" pitchFamily="34" charset="-122"/>
                <a:cs typeface="Poppins ExtraBold" pitchFamily="34" charset="-120"/>
              </a:rPr>
              <a:t>ENAM ISU UNTUK DAVID GILL, DITULIS SEBAGAI PERTANYAAN</a:t>
            </a:r>
            <a:endParaRPr lang="en-US" sz="1907" dirty="0"/>
          </a:p>
        </p:txBody>
      </p:sp>
      <p:sp>
        <p:nvSpPr>
          <p:cNvPr id="5" name="Text 2"/>
          <p:cNvSpPr/>
          <p:nvPr/>
        </p:nvSpPr>
        <p:spPr>
          <a:xfrm>
            <a:off x="640080" y="1371600"/>
            <a:ext cx="8778240" cy="457200"/>
          </a:xfrm>
          <a:prstGeom prst="rect">
            <a:avLst/>
          </a:prstGeom>
          <a:noFill/>
          <a:ln/>
        </p:spPr>
        <p:txBody>
          <a:bodyPr wrap="square" lIns="0" tIns="0" rIns="0" bIns="0" rtlCol="0" anchor="t"/>
          <a:lstStyle/>
          <a:p>
            <a:pPr indent="0" marL="0">
              <a:lnSpc>
                <a:spcPct val="105000"/>
              </a:lnSpc>
              <a:buNone/>
            </a:pPr>
            <a:r>
              <a:rPr lang="en-US" sz="1200" dirty="0">
                <a:solidFill>
                  <a:srgbClr val="E9DDD8"/>
                </a:solidFill>
                <a:latin typeface="Poppins" pitchFamily="34" charset="0"/>
                <a:ea typeface="Poppins" pitchFamily="34" charset="-122"/>
                <a:cs typeface="Poppins" pitchFamily="34" charset="-120"/>
              </a:rPr>
              <a:t>Rumusan mengikuti aturan buku (hlm. 118): priority list berisi pertanyaan, bukan jawaban. Bukti tiap isu dari kasus.</a:t>
            </a:r>
            <a:endParaRPr lang="en-US" sz="1200" dirty="0"/>
          </a:p>
        </p:txBody>
      </p:sp>
      <p:pic>
        <p:nvPicPr>
          <p:cNvPr id="6" name="Image 1" descr="opt/black_219.png">    </p:cNvPr>
          <p:cNvPicPr>
            <a:picLocks noChangeAspect="1"/>
          </p:cNvPicPr>
          <p:nvPr/>
        </p:nvPicPr>
        <p:blipFill>
          <a:blip r:embed="rId3"/>
          <a:stretch>
            <a:fillRect/>
          </a:stretch>
        </p:blipFill>
        <p:spPr>
          <a:xfrm>
            <a:off x="640080" y="6364224"/>
            <a:ext cx="8778240" cy="365760"/>
          </a:xfrm>
          <a:prstGeom prst="rect">
            <a:avLst/>
          </a:prstGeom>
        </p:spPr>
      </p:pic>
      <p:sp>
        <p:nvSpPr>
          <p:cNvPr id="7" name="Text 3"/>
          <p:cNvSpPr/>
          <p:nvPr/>
        </p:nvSpPr>
        <p:spPr>
          <a:xfrm>
            <a:off x="960120" y="6414699"/>
            <a:ext cx="7315200" cy="256032"/>
          </a:xfrm>
          <a:prstGeom prst="rect">
            <a:avLst/>
          </a:prstGeom>
          <a:noFill/>
          <a:ln/>
        </p:spPr>
        <p:txBody>
          <a:bodyPr wrap="square" lIns="0" tIns="0" rIns="0" bIns="0" rtlCol="0" anchor="ctr"/>
          <a:lstStyle/>
          <a:p>
            <a:pPr indent="0" marL="0">
              <a:buNone/>
            </a:pPr>
            <a:r>
              <a:rPr lang="en-US" sz="1200" dirty="0">
                <a:solidFill>
                  <a:srgbClr val="E9DDD8"/>
                </a:solidFill>
                <a:latin typeface="Poppins" pitchFamily="34" charset="0"/>
                <a:ea typeface="Poppins" pitchFamily="34" charset="-122"/>
                <a:cs typeface="Poppins" pitchFamily="34" charset="-120"/>
              </a:rPr>
              <a:t>Sumber: Grant (2010), Case 6. Rumusan mengikuti Thompson dkk. (2024) hlm. 118.</a:t>
            </a:r>
            <a:endParaRPr lang="en-US" sz="1200" dirty="0"/>
          </a:p>
        </p:txBody>
      </p:sp>
      <p:sp>
        <p:nvSpPr>
          <p:cNvPr id="8" name="Text 4"/>
          <p:cNvSpPr/>
          <p:nvPr/>
        </p:nvSpPr>
        <p:spPr>
          <a:xfrm>
            <a:off x="8503920" y="6414699"/>
            <a:ext cx="548640" cy="256032"/>
          </a:xfrm>
          <a:prstGeom prst="rect">
            <a:avLst/>
          </a:prstGeom>
          <a:noFill/>
          <a:ln/>
        </p:spPr>
        <p:txBody>
          <a:bodyPr wrap="square" lIns="0" tIns="0" rIns="0" bIns="0" rtlCol="0" anchor="ctr"/>
          <a:lstStyle/>
          <a:p>
            <a:pPr algn="r" indent="0" marL="0">
              <a:buNone/>
            </a:pPr>
            <a:r>
              <a:rPr lang="en-US" sz="1200" dirty="0">
                <a:solidFill>
                  <a:srgbClr val="FBE122"/>
                </a:solidFill>
                <a:latin typeface="Poppins SemiBold" pitchFamily="34" charset="0"/>
                <a:ea typeface="Poppins SemiBold" pitchFamily="34" charset="-122"/>
                <a:cs typeface="Poppins SemiBold" pitchFamily="34" charset="-120"/>
              </a:rPr>
              <a:t>33</a:t>
            </a:r>
            <a:endParaRPr lang="en-US" sz="1200" dirty="0"/>
          </a:p>
        </p:txBody>
      </p:sp>
      <p:pic>
        <p:nvPicPr>
          <p:cNvPr id="10" name="Image 2" descr="opt/red_219.png">    </p:cNvPr>
          <p:cNvPicPr>
            <a:picLocks noChangeAspect="1"/>
          </p:cNvPicPr>
          <p:nvPr/>
        </p:nvPicPr>
        <p:blipFill>
          <a:blip r:embed="rId4"/>
          <a:stretch>
            <a:fillRect/>
          </a:stretch>
        </p:blipFill>
        <p:spPr>
          <a:xfrm>
            <a:off x="640080" y="1920240"/>
            <a:ext cx="5340096" cy="1143000"/>
          </a:xfrm>
          <a:prstGeom prst="rect">
            <a:avLst/>
          </a:prstGeom>
        </p:spPr>
      </p:pic>
      <p:sp>
        <p:nvSpPr>
          <p:cNvPr id="11" name="Shape 5"/>
          <p:cNvSpPr/>
          <p:nvPr/>
        </p:nvSpPr>
        <p:spPr>
          <a:xfrm>
            <a:off x="987552" y="2240280"/>
            <a:ext cx="457200" cy="457200"/>
          </a:xfrm>
          <a:prstGeom prst="ellipse">
            <a:avLst/>
          </a:prstGeom>
          <a:solidFill>
            <a:srgbClr val="FBE122"/>
          </a:solidFill>
          <a:ln w="12700">
            <a:solidFill>
              <a:srgbClr val="FBE122"/>
            </a:solidFill>
            <a:prstDash val="solid"/>
          </a:ln>
        </p:spPr>
      </p:sp>
      <p:sp>
        <p:nvSpPr>
          <p:cNvPr id="12" name="Text 6"/>
          <p:cNvSpPr/>
          <p:nvPr/>
        </p:nvSpPr>
        <p:spPr>
          <a:xfrm>
            <a:off x="987552" y="224028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1</a:t>
            </a:r>
            <a:endParaRPr lang="en-US" sz="1300" dirty="0"/>
          </a:p>
        </p:txBody>
      </p:sp>
      <p:sp>
        <p:nvSpPr>
          <p:cNvPr id="13" name="Text 7"/>
          <p:cNvSpPr/>
          <p:nvPr/>
        </p:nvSpPr>
        <p:spPr>
          <a:xfrm>
            <a:off x="1600200" y="2084832"/>
            <a:ext cx="4059936" cy="457200"/>
          </a:xfrm>
          <a:prstGeom prst="rect">
            <a:avLst/>
          </a:prstGeom>
          <a:noFill/>
          <a:ln/>
        </p:spPr>
        <p:txBody>
          <a:bodyPr wrap="square" lIns="0" tIns="0" rIns="0" bIns="0" rtlCol="0" anchor="t"/>
          <a:lstStyle/>
          <a:p>
            <a:pPr indent="0" marL="0">
              <a:lnSpc>
                <a:spcPct val="98000"/>
              </a:lnSpc>
              <a:buNone/>
            </a:pPr>
            <a:r>
              <a:rPr lang="en-US" sz="1200" dirty="0">
                <a:solidFill>
                  <a:srgbClr val="FFFFFF"/>
                </a:solidFill>
                <a:latin typeface="Poppins ExtraBold" pitchFamily="34" charset="0"/>
                <a:ea typeface="Poppins ExtraBold" pitchFamily="34" charset="-122"/>
                <a:cs typeface="Poppins ExtraBold" pitchFamily="34" charset="-120"/>
              </a:rPr>
              <a:t>Bagaimana mengganti Ferguson tanpa merusak sistemnya?</a:t>
            </a:r>
            <a:endParaRPr lang="en-US" sz="1200" dirty="0"/>
          </a:p>
        </p:txBody>
      </p:sp>
      <p:sp>
        <p:nvSpPr>
          <p:cNvPr id="14" name="Text 8"/>
          <p:cNvSpPr/>
          <p:nvPr/>
        </p:nvSpPr>
        <p:spPr>
          <a:xfrm>
            <a:off x="1600200" y="2505456"/>
            <a:ext cx="4059936" cy="385191"/>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Gill belum memutuskan; Ferguson belum mengumumkan pensiun (hlm. 573, 588).</a:t>
            </a:r>
            <a:endParaRPr lang="en-US" sz="1200" dirty="0"/>
          </a:p>
        </p:txBody>
      </p:sp>
      <p:pic>
        <p:nvPicPr>
          <p:cNvPr id="15" name="Image 3" descr="opt/paper_169.png">    </p:cNvPr>
          <p:cNvPicPr>
            <a:picLocks noChangeAspect="1"/>
          </p:cNvPicPr>
          <p:nvPr/>
        </p:nvPicPr>
        <p:blipFill>
          <a:blip r:embed="rId5"/>
          <a:stretch>
            <a:fillRect/>
          </a:stretch>
        </p:blipFill>
        <p:spPr>
          <a:xfrm>
            <a:off x="6208776" y="1920240"/>
            <a:ext cx="5340096" cy="1143000"/>
          </a:xfrm>
          <a:prstGeom prst="rect">
            <a:avLst/>
          </a:prstGeom>
        </p:spPr>
      </p:pic>
      <p:sp>
        <p:nvSpPr>
          <p:cNvPr id="16" name="Shape 9"/>
          <p:cNvSpPr/>
          <p:nvPr/>
        </p:nvSpPr>
        <p:spPr>
          <a:xfrm>
            <a:off x="6556248" y="2240280"/>
            <a:ext cx="457200" cy="457200"/>
          </a:xfrm>
          <a:prstGeom prst="ellipse">
            <a:avLst/>
          </a:prstGeom>
          <a:solidFill>
            <a:srgbClr val="DA291C"/>
          </a:solidFill>
          <a:ln w="12700">
            <a:solidFill>
              <a:srgbClr val="DA291C"/>
            </a:solidFill>
            <a:prstDash val="solid"/>
          </a:ln>
        </p:spPr>
      </p:sp>
      <p:sp>
        <p:nvSpPr>
          <p:cNvPr id="17" name="Text 10"/>
          <p:cNvSpPr/>
          <p:nvPr/>
        </p:nvSpPr>
        <p:spPr>
          <a:xfrm>
            <a:off x="6622963" y="2240280"/>
            <a:ext cx="390485"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2</a:t>
            </a:r>
            <a:endParaRPr lang="en-US" sz="1300" dirty="0"/>
          </a:p>
        </p:txBody>
      </p:sp>
      <p:sp>
        <p:nvSpPr>
          <p:cNvPr id="18" name="Text 11"/>
          <p:cNvSpPr/>
          <p:nvPr/>
        </p:nvSpPr>
        <p:spPr>
          <a:xfrm>
            <a:off x="7168896" y="2084832"/>
            <a:ext cx="4013850"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Apa yang harus dilakukan soal utang £616 juta?</a:t>
            </a:r>
            <a:endParaRPr lang="en-US" sz="1200" dirty="0"/>
          </a:p>
        </p:txBody>
      </p:sp>
      <p:sp>
        <p:nvSpPr>
          <p:cNvPr id="19" name="Text 12"/>
          <p:cNvSpPr/>
          <p:nvPr/>
        </p:nvSpPr>
        <p:spPr>
          <a:xfrm>
            <a:off x="7168896" y="2505456"/>
            <a:ext cx="4013850" cy="438912"/>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Utang membatasi daya beli, justru saat City belanja £185 juta (hlm. 579).</a:t>
            </a:r>
            <a:endParaRPr lang="en-US" sz="1200" dirty="0"/>
          </a:p>
        </p:txBody>
      </p:sp>
      <p:pic>
        <p:nvPicPr>
          <p:cNvPr id="20" name="Image 4" descr="opt/paper_169.png">    </p:cNvPr>
          <p:cNvPicPr>
            <a:picLocks noChangeAspect="1"/>
          </p:cNvPicPr>
          <p:nvPr/>
        </p:nvPicPr>
        <p:blipFill>
          <a:blip r:embed="rId6"/>
          <a:stretch>
            <a:fillRect/>
          </a:stretch>
        </p:blipFill>
        <p:spPr>
          <a:xfrm>
            <a:off x="640080" y="3136392"/>
            <a:ext cx="5340096" cy="1143000"/>
          </a:xfrm>
          <a:prstGeom prst="rect">
            <a:avLst/>
          </a:prstGeom>
        </p:spPr>
      </p:pic>
      <p:sp>
        <p:nvSpPr>
          <p:cNvPr id="21" name="Shape 13"/>
          <p:cNvSpPr/>
          <p:nvPr/>
        </p:nvSpPr>
        <p:spPr>
          <a:xfrm>
            <a:off x="987552" y="3456432"/>
            <a:ext cx="457200" cy="457200"/>
          </a:xfrm>
          <a:prstGeom prst="ellipse">
            <a:avLst/>
          </a:prstGeom>
          <a:solidFill>
            <a:srgbClr val="DA291C"/>
          </a:solidFill>
          <a:ln w="12700">
            <a:solidFill>
              <a:srgbClr val="DA291C"/>
            </a:solidFill>
            <a:prstDash val="solid"/>
          </a:ln>
        </p:spPr>
      </p:sp>
      <p:sp>
        <p:nvSpPr>
          <p:cNvPr id="22" name="Text 14"/>
          <p:cNvSpPr/>
          <p:nvPr/>
        </p:nvSpPr>
        <p:spPr>
          <a:xfrm>
            <a:off x="1054267" y="3456432"/>
            <a:ext cx="390485"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3</a:t>
            </a:r>
            <a:endParaRPr lang="en-US" sz="1300" dirty="0"/>
          </a:p>
        </p:txBody>
      </p:sp>
      <p:sp>
        <p:nvSpPr>
          <p:cNvPr id="23" name="Text 15"/>
          <p:cNvSpPr/>
          <p:nvPr/>
        </p:nvSpPr>
        <p:spPr>
          <a:xfrm>
            <a:off x="1600200" y="3300984"/>
            <a:ext cx="4013850"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Bagaimana menambal skuad setelah Ronaldo pergi?</a:t>
            </a:r>
            <a:endParaRPr lang="en-US" sz="1200" dirty="0"/>
          </a:p>
        </p:txBody>
      </p:sp>
      <p:sp>
        <p:nvSpPr>
          <p:cNvPr id="24" name="Text 16"/>
          <p:cNvSpPr/>
          <p:nvPr/>
        </p:nvSpPr>
        <p:spPr>
          <a:xfrm>
            <a:off x="1600200" y="3721608"/>
            <a:ext cx="4013850" cy="438912"/>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Tak ada lagi pemain MU di peringkat FIFA; kas Ronaldo untuk Ribery? (hlm. 588).</a:t>
            </a:r>
            <a:endParaRPr lang="en-US" sz="1200" dirty="0"/>
          </a:p>
        </p:txBody>
      </p:sp>
      <p:pic>
        <p:nvPicPr>
          <p:cNvPr id="25" name="Image 5" descr="opt/red_219.png">    </p:cNvPr>
          <p:cNvPicPr>
            <a:picLocks noChangeAspect="1"/>
          </p:cNvPicPr>
          <p:nvPr/>
        </p:nvPicPr>
        <p:blipFill>
          <a:blip r:embed="rId7"/>
          <a:stretch>
            <a:fillRect/>
          </a:stretch>
        </p:blipFill>
        <p:spPr>
          <a:xfrm>
            <a:off x="6208776" y="3136392"/>
            <a:ext cx="5340096" cy="1143000"/>
          </a:xfrm>
          <a:prstGeom prst="rect">
            <a:avLst/>
          </a:prstGeom>
        </p:spPr>
      </p:pic>
      <p:sp>
        <p:nvSpPr>
          <p:cNvPr id="26" name="Shape 17"/>
          <p:cNvSpPr/>
          <p:nvPr/>
        </p:nvSpPr>
        <p:spPr>
          <a:xfrm>
            <a:off x="6556248" y="3456432"/>
            <a:ext cx="457200" cy="457200"/>
          </a:xfrm>
          <a:prstGeom prst="ellipse">
            <a:avLst/>
          </a:prstGeom>
          <a:solidFill>
            <a:srgbClr val="FBE122"/>
          </a:solidFill>
          <a:ln w="12700">
            <a:solidFill>
              <a:srgbClr val="FBE122"/>
            </a:solidFill>
            <a:prstDash val="solid"/>
          </a:ln>
        </p:spPr>
      </p:sp>
      <p:sp>
        <p:nvSpPr>
          <p:cNvPr id="27" name="Text 18"/>
          <p:cNvSpPr/>
          <p:nvPr/>
        </p:nvSpPr>
        <p:spPr>
          <a:xfrm>
            <a:off x="6556248" y="3456432"/>
            <a:ext cx="45720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4</a:t>
            </a:r>
            <a:endParaRPr lang="en-US" sz="1300" dirty="0"/>
          </a:p>
        </p:txBody>
      </p:sp>
      <p:sp>
        <p:nvSpPr>
          <p:cNvPr id="28" name="Text 19"/>
          <p:cNvSpPr/>
          <p:nvPr/>
        </p:nvSpPr>
        <p:spPr>
          <a:xfrm>
            <a:off x="7168896" y="3300984"/>
            <a:ext cx="4059936" cy="457200"/>
          </a:xfrm>
          <a:prstGeom prst="rect">
            <a:avLst/>
          </a:prstGeom>
          <a:noFill/>
          <a:ln/>
        </p:spPr>
        <p:txBody>
          <a:bodyPr wrap="square" lIns="0" tIns="0" rIns="0" bIns="0" rtlCol="0" anchor="t"/>
          <a:lstStyle/>
          <a:p>
            <a:pPr indent="0" marL="0">
              <a:lnSpc>
                <a:spcPct val="98000"/>
              </a:lnSpc>
              <a:buNone/>
            </a:pPr>
            <a:r>
              <a:rPr lang="en-US" sz="1200" dirty="0">
                <a:solidFill>
                  <a:srgbClr val="FFFFFF"/>
                </a:solidFill>
                <a:latin typeface="Poppins ExtraBold" pitchFamily="34" charset="0"/>
                <a:ea typeface="Poppins ExtraBold" pitchFamily="34" charset="-122"/>
                <a:cs typeface="Poppins ExtraBold" pitchFamily="34" charset="-120"/>
              </a:rPr>
              <a:t>Apakah perlu membangun penyangga organisasi?</a:t>
            </a:r>
            <a:endParaRPr lang="en-US" sz="1200" dirty="0"/>
          </a:p>
        </p:txBody>
      </p:sp>
      <p:sp>
        <p:nvSpPr>
          <p:cNvPr id="29" name="Text 20"/>
          <p:cNvSpPr/>
          <p:nvPr/>
        </p:nvSpPr>
        <p:spPr>
          <a:xfrm>
            <a:off x="7168896" y="3721608"/>
            <a:ext cx="4059936" cy="385191"/>
          </a:xfrm>
          <a:prstGeom prst="rect">
            <a:avLst/>
          </a:prstGeom>
          <a:noFill/>
          <a:ln/>
        </p:spPr>
        <p:txBody>
          <a:bodyPr wrap="square" lIns="0" tIns="0" rIns="0" bIns="0" rtlCol="0" anchor="t"/>
          <a:lstStyle/>
          <a:p>
            <a:pPr indent="0" marL="0">
              <a:lnSpc>
                <a:spcPct val="100000"/>
              </a:lnSpc>
              <a:buNone/>
            </a:pPr>
            <a:r>
              <a:rPr lang="en-US" sz="1200" dirty="0">
                <a:solidFill>
                  <a:srgbClr val="FFFFFF"/>
                </a:solidFill>
                <a:latin typeface="Poppins" pitchFamily="34" charset="0"/>
                <a:ea typeface="Poppins" pitchFamily="34" charset="-122"/>
                <a:cs typeface="Poppins" pitchFamily="34" charset="-120"/>
              </a:rPr>
              <a:t>Sistem pemanduan, latihan, dan taktik dibangun oleh satu orang (hlm. 573).</a:t>
            </a:r>
            <a:endParaRPr lang="en-US" sz="1200" dirty="0"/>
          </a:p>
        </p:txBody>
      </p:sp>
      <p:pic>
        <p:nvPicPr>
          <p:cNvPr id="30" name="Image 6" descr="opt/paper_169.png">    </p:cNvPr>
          <p:cNvPicPr>
            <a:picLocks noChangeAspect="1"/>
          </p:cNvPicPr>
          <p:nvPr/>
        </p:nvPicPr>
        <p:blipFill>
          <a:blip r:embed="rId8"/>
          <a:stretch>
            <a:fillRect/>
          </a:stretch>
        </p:blipFill>
        <p:spPr>
          <a:xfrm>
            <a:off x="640080" y="4352544"/>
            <a:ext cx="5340096" cy="1143000"/>
          </a:xfrm>
          <a:prstGeom prst="rect">
            <a:avLst/>
          </a:prstGeom>
        </p:spPr>
      </p:pic>
      <p:sp>
        <p:nvSpPr>
          <p:cNvPr id="31" name="Shape 21"/>
          <p:cNvSpPr/>
          <p:nvPr/>
        </p:nvSpPr>
        <p:spPr>
          <a:xfrm>
            <a:off x="987552" y="4672584"/>
            <a:ext cx="457200" cy="457200"/>
          </a:xfrm>
          <a:prstGeom prst="ellipse">
            <a:avLst/>
          </a:prstGeom>
          <a:solidFill>
            <a:srgbClr val="DA291C"/>
          </a:solidFill>
          <a:ln w="12700">
            <a:solidFill>
              <a:srgbClr val="DA291C"/>
            </a:solidFill>
            <a:prstDash val="solid"/>
          </a:ln>
        </p:spPr>
      </p:sp>
      <p:sp>
        <p:nvSpPr>
          <p:cNvPr id="32" name="Text 22"/>
          <p:cNvSpPr/>
          <p:nvPr/>
        </p:nvSpPr>
        <p:spPr>
          <a:xfrm>
            <a:off x="1054267" y="4672584"/>
            <a:ext cx="390485"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5</a:t>
            </a:r>
            <a:endParaRPr lang="en-US" sz="1300" dirty="0"/>
          </a:p>
        </p:txBody>
      </p:sp>
      <p:sp>
        <p:nvSpPr>
          <p:cNvPr id="33" name="Text 23"/>
          <p:cNvSpPr/>
          <p:nvPr/>
        </p:nvSpPr>
        <p:spPr>
          <a:xfrm>
            <a:off x="1600200" y="4517136"/>
            <a:ext cx="4013850"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Bagaimana menjaga pendapatan komersial kalau prestasi turun?</a:t>
            </a:r>
            <a:endParaRPr lang="en-US" sz="1200" dirty="0"/>
          </a:p>
        </p:txBody>
      </p:sp>
      <p:sp>
        <p:nvSpPr>
          <p:cNvPr id="34" name="Text 24"/>
          <p:cNvSpPr/>
          <p:nvPr/>
        </p:nvSpPr>
        <p:spPr>
          <a:xfrm>
            <a:off x="1600200" y="4937760"/>
            <a:ext cx="4013850" cy="438912"/>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Gill: "So long as the team kept winning… revenues would continue to flow" (hlm. 573).</a:t>
            </a:r>
            <a:endParaRPr lang="en-US" sz="1200" dirty="0"/>
          </a:p>
        </p:txBody>
      </p:sp>
      <p:pic>
        <p:nvPicPr>
          <p:cNvPr id="35" name="Image 7" descr="opt/paper_169.png">    </p:cNvPr>
          <p:cNvPicPr>
            <a:picLocks noChangeAspect="1"/>
          </p:cNvPicPr>
          <p:nvPr/>
        </p:nvPicPr>
        <p:blipFill>
          <a:blip r:embed="rId9"/>
          <a:stretch>
            <a:fillRect/>
          </a:stretch>
        </p:blipFill>
        <p:spPr>
          <a:xfrm>
            <a:off x="6208776" y="4352544"/>
            <a:ext cx="5340096" cy="1143000"/>
          </a:xfrm>
          <a:prstGeom prst="rect">
            <a:avLst/>
          </a:prstGeom>
        </p:spPr>
      </p:pic>
      <p:sp>
        <p:nvSpPr>
          <p:cNvPr id="36" name="Shape 25"/>
          <p:cNvSpPr/>
          <p:nvPr/>
        </p:nvSpPr>
        <p:spPr>
          <a:xfrm>
            <a:off x="6556248" y="4672584"/>
            <a:ext cx="457200" cy="457200"/>
          </a:xfrm>
          <a:prstGeom prst="ellipse">
            <a:avLst/>
          </a:prstGeom>
          <a:solidFill>
            <a:srgbClr val="DA291C"/>
          </a:solidFill>
          <a:ln w="12700">
            <a:solidFill>
              <a:srgbClr val="DA291C"/>
            </a:solidFill>
            <a:prstDash val="solid"/>
          </a:ln>
        </p:spPr>
      </p:sp>
      <p:sp>
        <p:nvSpPr>
          <p:cNvPr id="37" name="Text 26"/>
          <p:cNvSpPr/>
          <p:nvPr/>
        </p:nvSpPr>
        <p:spPr>
          <a:xfrm>
            <a:off x="6622963" y="4672584"/>
            <a:ext cx="390485" cy="457200"/>
          </a:xfrm>
          <a:prstGeom prst="rect">
            <a:avLst/>
          </a:prstGeom>
          <a:noFill/>
          <a:ln/>
        </p:spPr>
        <p:txBody>
          <a:bodyPr wrap="square" lIns="0" tIns="0" rIns="0" bIns="0" rtlCol="0" anchor="ctr"/>
          <a:lstStyle/>
          <a:p>
            <a:pPr algn="ctr" indent="0" marL="0">
              <a:buNone/>
            </a:pPr>
            <a:r>
              <a:rPr lang="en-US" sz="1300" dirty="0">
                <a:solidFill>
                  <a:srgbClr val="FFFFFF"/>
                </a:solidFill>
                <a:latin typeface="Poppins ExtraBold" pitchFamily="34" charset="0"/>
                <a:ea typeface="Poppins ExtraBold" pitchFamily="34" charset="-122"/>
                <a:cs typeface="Poppins ExtraBold" pitchFamily="34" charset="-120"/>
              </a:rPr>
              <a:t>6</a:t>
            </a:r>
            <a:endParaRPr lang="en-US" sz="1300" dirty="0"/>
          </a:p>
        </p:txBody>
      </p:sp>
      <p:sp>
        <p:nvSpPr>
          <p:cNvPr id="38" name="Text 27"/>
          <p:cNvSpPr/>
          <p:nvPr/>
        </p:nvSpPr>
        <p:spPr>
          <a:xfrm>
            <a:off x="7168896" y="4517136"/>
            <a:ext cx="4013850" cy="457200"/>
          </a:xfrm>
          <a:prstGeom prst="rect">
            <a:avLst/>
          </a:prstGeom>
          <a:noFill/>
          <a:ln/>
        </p:spPr>
        <p:txBody>
          <a:bodyPr wrap="square" lIns="0" tIns="0" rIns="0" bIns="0" rtlCol="0" anchor="t"/>
          <a:lstStyle/>
          <a:p>
            <a:pPr indent="0" marL="0">
              <a:lnSpc>
                <a:spcPct val="98000"/>
              </a:lnSpc>
              <a:buNone/>
            </a:pPr>
            <a:r>
              <a:rPr lang="en-US" sz="1200" dirty="0">
                <a:solidFill>
                  <a:srgbClr val="160809"/>
                </a:solidFill>
                <a:latin typeface="Poppins ExtraBold" pitchFamily="34" charset="0"/>
                <a:ea typeface="Poppins ExtraBold" pitchFamily="34" charset="-122"/>
                <a:cs typeface="Poppins ExtraBold" pitchFamily="34" charset="-120"/>
              </a:rPr>
              <a:t>Apakah tata kelola tetap aman tanpa Ferguson dan Gill?</a:t>
            </a:r>
            <a:endParaRPr lang="en-US" sz="1200" dirty="0"/>
          </a:p>
        </p:txBody>
      </p:sp>
      <p:sp>
        <p:nvSpPr>
          <p:cNvPr id="39" name="Text 28"/>
          <p:cNvSpPr/>
          <p:nvPr/>
        </p:nvSpPr>
        <p:spPr>
          <a:xfrm>
            <a:off x="7168896" y="4937760"/>
            <a:ext cx="4013850" cy="438912"/>
          </a:xfrm>
          <a:prstGeom prst="rect">
            <a:avLst/>
          </a:prstGeom>
          <a:noFill/>
          <a:ln/>
        </p:spPr>
        <p:txBody>
          <a:bodyPr wrap="square" lIns="0" tIns="0" rIns="0" bIns="0" rtlCol="0" anchor="t"/>
          <a:lstStyle/>
          <a:p>
            <a:pPr indent="0" marL="0">
              <a:lnSpc>
                <a:spcPct val="100000"/>
              </a:lnSpc>
              <a:buNone/>
            </a:pPr>
            <a:r>
              <a:rPr lang="en-US" sz="1200" dirty="0">
                <a:solidFill>
                  <a:srgbClr val="160809"/>
                </a:solidFill>
                <a:latin typeface="Poppins" pitchFamily="34" charset="0"/>
                <a:ea typeface="Poppins" pitchFamily="34" charset="-122"/>
                <a:cs typeface="Poppins" pitchFamily="34" charset="-120"/>
              </a:rPr>
              <a:t>Dewan hanya enam anak Glazer; peran pasif pemilik bergantung dua orang ini (hlm. 584).</a:t>
            </a:r>
            <a:endParaRPr lang="en-US" sz="1200" dirty="0"/>
          </a:p>
        </p:txBody>
      </p:sp>
      <p:pic>
        <p:nvPicPr>
          <p:cNvPr id="40" name="Image 8" descr="opt/red_219.png">    </p:cNvPr>
          <p:cNvPicPr>
            <a:picLocks noChangeAspect="1"/>
          </p:cNvPicPr>
          <p:nvPr/>
        </p:nvPicPr>
        <p:blipFill>
          <a:blip r:embed="rId10"/>
          <a:stretch>
            <a:fillRect/>
          </a:stretch>
        </p:blipFill>
        <p:spPr>
          <a:xfrm>
            <a:off x="640080" y="5623560"/>
            <a:ext cx="10908792" cy="640080"/>
          </a:xfrm>
          <a:prstGeom prst="rect">
            <a:avLst/>
          </a:prstGeom>
        </p:spPr>
      </p:pic>
      <p:sp>
        <p:nvSpPr>
          <p:cNvPr id="41" name="Text 29"/>
          <p:cNvSpPr/>
          <p:nvPr/>
        </p:nvSpPr>
        <p:spPr>
          <a:xfrm>
            <a:off x="1130976" y="5806440"/>
            <a:ext cx="9927001" cy="182880"/>
          </a:xfrm>
          <a:prstGeom prst="rect">
            <a:avLst/>
          </a:prstGeom>
          <a:noFill/>
          <a:ln/>
        </p:spPr>
        <p:txBody>
          <a:bodyPr wrap="square" lIns="0" tIns="0" rIns="0" bIns="0" rtlCol="0" anchor="t"/>
          <a:lstStyle/>
          <a:p>
            <a:pPr indent="0" marL="0">
              <a:lnSpc>
                <a:spcPct val="106000"/>
              </a:lnSpc>
              <a:buNone/>
            </a:pPr>
            <a:r>
              <a:rPr lang="en-US" sz="1200" dirty="0">
                <a:solidFill>
                  <a:srgbClr val="FBE122"/>
                </a:solidFill>
                <a:latin typeface="Poppins SemiBold" pitchFamily="34" charset="0"/>
                <a:ea typeface="Poppins SemiBold" pitchFamily="34" charset="-122"/>
                <a:cs typeface="Poppins SemiBold" pitchFamily="34" charset="-120"/>
              </a:rPr>
              <a:t>Pembacaan: </a:t>
            </a:r>
            <a:pPr indent="0" marL="0">
              <a:lnSpc>
                <a:spcPct val="106000"/>
              </a:lnSpc>
              <a:buNone/>
            </a:pPr>
            <a:r>
              <a:rPr lang="en-US" sz="1200" dirty="0">
                <a:solidFill>
                  <a:srgbClr val="FFFFFF"/>
                </a:solidFill>
                <a:latin typeface="Poppins Medium" pitchFamily="34" charset="0"/>
                <a:ea typeface="Poppins Medium" pitchFamily="34" charset="-122"/>
                <a:cs typeface="Poppins Medium" pitchFamily="34" charset="-120"/>
              </a:rPr>
              <a:t>isu 1 dan 4 (merah) butuh strategi baru; isu 2, 3, 5, 6 cukup dengan menyempurnakan strategi.</a:t>
            </a:r>
            <a:endParaRPr lang="en-US" sz="1200" dirty="0"/>
          </a:p>
        </p:txBody>
      </p:sp>
      <p:pic>
        <p:nvPicPr>
          <p:cNvPr id="42" name="Image 9" descr="opt/st_manager.png">    </p:cNvPr>
          <p:cNvPicPr>
            <a:picLocks noChangeAspect="1"/>
          </p:cNvPicPr>
          <p:nvPr/>
        </p:nvPicPr>
        <p:blipFill>
          <a:blip r:embed="rId11"/>
          <a:stretch>
            <a:fillRect/>
          </a:stretch>
        </p:blipFill>
        <p:spPr>
          <a:xfrm rot="420000">
            <a:off x="11048736" y="182880"/>
            <a:ext cx="640039" cy="169164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opt/black_219.png">    </p:cNvPr>
          <p:cNvPicPr>
            <a:picLocks noChangeAspect="1"/>
          </p:cNvPicPr>
          <p:nvPr/>
        </p:nvPicPr>
        <p:blipFill>
          <a:blip r:embed="rId2"/>
          <a:stretch>
            <a:fillRect/>
          </a:stretch>
        </p:blipFill>
        <p:spPr>
          <a:xfrm>
            <a:off x="640080" y="1463040"/>
            <a:ext cx="4937760" cy="402336"/>
          </a:xfrm>
          <a:prstGeom prst="rect">
            <a:avLst/>
          </a:prstGeom>
        </p:spPr>
      </p:pic>
      <p:sp>
        <p:nvSpPr>
          <p:cNvPr id="4" name="Text 0"/>
          <p:cNvSpPr/>
          <p:nvPr/>
        </p:nvSpPr>
        <p:spPr>
          <a:xfrm>
            <a:off x="868680" y="1515819"/>
            <a:ext cx="4480560" cy="287122"/>
          </a:xfrm>
          <a:prstGeom prst="rect">
            <a:avLst/>
          </a:prstGeom>
          <a:noFill/>
          <a:ln/>
        </p:spPr>
        <p:txBody>
          <a:bodyPr wrap="square" lIns="0" tIns="0" rIns="0" bIns="0" rtlCol="0" anchor="ctr"/>
          <a:lstStyle/>
          <a:p>
            <a:pPr algn="l"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STRATEGIC MANAGEMENT  ·  CHAPTER 4</a:t>
            </a:r>
            <a:endParaRPr lang="en-US" sz="1200" dirty="0"/>
          </a:p>
        </p:txBody>
      </p:sp>
      <p:sp>
        <p:nvSpPr>
          <p:cNvPr id="5" name="Text 1"/>
          <p:cNvSpPr/>
          <p:nvPr/>
        </p:nvSpPr>
        <p:spPr>
          <a:xfrm>
            <a:off x="640080" y="1965960"/>
            <a:ext cx="5669280" cy="1097280"/>
          </a:xfrm>
          <a:prstGeom prst="rect">
            <a:avLst/>
          </a:prstGeom>
          <a:noFill/>
          <a:ln/>
        </p:spPr>
        <p:txBody>
          <a:bodyPr wrap="square" lIns="0" tIns="0" rIns="0" bIns="0" rtlCol="0" anchor="t"/>
          <a:lstStyle/>
          <a:p>
            <a:pPr indent="0" marL="0">
              <a:buNone/>
            </a:pPr>
            <a:r>
              <a:rPr lang="en-US" sz="4800" dirty="0">
                <a:solidFill>
                  <a:srgbClr val="FFFFFF"/>
                </a:solidFill>
                <a:latin typeface="Poppins ExtraBold" pitchFamily="34" charset="0"/>
                <a:ea typeface="Poppins ExtraBold" pitchFamily="34" charset="-122"/>
                <a:cs typeface="Poppins ExtraBold" pitchFamily="34" charset="-120"/>
              </a:rPr>
              <a:t>TERIMA KASIH</a:t>
            </a:r>
            <a:endParaRPr lang="en-US" sz="4800" dirty="0"/>
          </a:p>
        </p:txBody>
      </p:sp>
      <p:sp>
        <p:nvSpPr>
          <p:cNvPr id="6" name="Text 2"/>
          <p:cNvSpPr/>
          <p:nvPr/>
        </p:nvSpPr>
        <p:spPr>
          <a:xfrm>
            <a:off x="640080" y="3063240"/>
            <a:ext cx="5669280" cy="457200"/>
          </a:xfrm>
          <a:prstGeom prst="rect">
            <a:avLst/>
          </a:prstGeom>
          <a:noFill/>
          <a:ln/>
        </p:spPr>
        <p:txBody>
          <a:bodyPr wrap="square" lIns="0" tIns="0" rIns="0" bIns="0" rtlCol="0" anchor="t"/>
          <a:lstStyle/>
          <a:p>
            <a:pPr indent="0" marL="0">
              <a:buNone/>
            </a:pPr>
            <a:r>
              <a:rPr lang="en-US" sz="1700" dirty="0">
                <a:solidFill>
                  <a:srgbClr val="E9DDD8"/>
                </a:solidFill>
                <a:latin typeface="Poppins Medium" pitchFamily="34" charset="0"/>
                <a:ea typeface="Poppins Medium" pitchFamily="34" charset="-122"/>
                <a:cs typeface="Poppins Medium" pitchFamily="34" charset="-120"/>
              </a:rPr>
              <a:t>Kami membuka sesi tanya jawab dan diskusi</a:t>
            </a:r>
            <a:endParaRPr lang="en-US" sz="1700" dirty="0"/>
          </a:p>
        </p:txBody>
      </p:sp>
      <p:pic>
        <p:nvPicPr>
          <p:cNvPr id="7" name="Image 1" descr="opt/red_219.png">    </p:cNvPr>
          <p:cNvPicPr>
            <a:picLocks noChangeAspect="1"/>
          </p:cNvPicPr>
          <p:nvPr/>
        </p:nvPicPr>
        <p:blipFill>
          <a:blip r:embed="rId3"/>
          <a:stretch>
            <a:fillRect/>
          </a:stretch>
        </p:blipFill>
        <p:spPr>
          <a:xfrm rot="-90000">
            <a:off x="502920" y="3886200"/>
            <a:ext cx="5577840" cy="1417320"/>
          </a:xfrm>
          <a:prstGeom prst="rect">
            <a:avLst/>
          </a:prstGeom>
        </p:spPr>
      </p:pic>
      <p:sp>
        <p:nvSpPr>
          <p:cNvPr id="8" name="Text 3"/>
          <p:cNvSpPr/>
          <p:nvPr/>
        </p:nvSpPr>
        <p:spPr>
          <a:xfrm>
            <a:off x="868680" y="4114800"/>
            <a:ext cx="2743200" cy="228600"/>
          </a:xfrm>
          <a:prstGeom prst="rect">
            <a:avLst/>
          </a:prstGeom>
          <a:noFill/>
          <a:ln/>
        </p:spPr>
        <p:txBody>
          <a:bodyPr wrap="square" lIns="0" tIns="0" rIns="0" bIns="0" rtlCol="0" anchor="t"/>
          <a:lstStyle/>
          <a:p>
            <a:pPr indent="0" marL="0">
              <a:buNone/>
            </a:pPr>
            <a:r>
              <a:rPr lang="en-US" sz="1200" spc="100" kern="0" dirty="0">
                <a:solidFill>
                  <a:srgbClr val="FBE122"/>
                </a:solidFill>
                <a:latin typeface="Poppins SemiBold" pitchFamily="34" charset="0"/>
                <a:ea typeface="Poppins SemiBold" pitchFamily="34" charset="-122"/>
                <a:cs typeface="Poppins SemiBold" pitchFamily="34" charset="-120"/>
              </a:rPr>
              <a:t>KELOMPOK 4</a:t>
            </a:r>
            <a:endParaRPr lang="en-US" sz="1200" dirty="0"/>
          </a:p>
        </p:txBody>
      </p:sp>
      <p:sp>
        <p:nvSpPr>
          <p:cNvPr id="9" name="Text 4"/>
          <p:cNvSpPr/>
          <p:nvPr/>
        </p:nvSpPr>
        <p:spPr>
          <a:xfrm>
            <a:off x="868680" y="4370832"/>
            <a:ext cx="4846320" cy="725256"/>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Poppins SemiBold" pitchFamily="34" charset="0"/>
                <a:ea typeface="Poppins SemiBold" pitchFamily="34" charset="-122"/>
                <a:cs typeface="Poppins SemiBold" pitchFamily="34" charset="-120"/>
              </a:rPr>
              <a:t>Fitra Aidila · Aulia Sisca Rahmadiyanti · Bagaskoro · Imam Prayudha · Tegar Awanto</a:t>
            </a:r>
            <a:endParaRPr lang="en-US" sz="1200" dirty="0"/>
          </a:p>
        </p:txBody>
      </p:sp>
      <p:sp>
        <p:nvSpPr>
          <p:cNvPr id="10" name="Text 5"/>
          <p:cNvSpPr/>
          <p:nvPr/>
        </p:nvSpPr>
        <p:spPr>
          <a:xfrm>
            <a:off x="640080" y="5468112"/>
            <a:ext cx="5394960" cy="777240"/>
          </a:xfrm>
          <a:prstGeom prst="rect">
            <a:avLst/>
          </a:prstGeom>
          <a:noFill/>
          <a:ln/>
        </p:spPr>
        <p:txBody>
          <a:bodyPr wrap="square" lIns="0" tIns="0" rIns="0" bIns="0" rtlCol="0" anchor="t"/>
          <a:lstStyle/>
          <a:p>
            <a:pPr indent="0" marL="0">
              <a:lnSpc>
                <a:spcPct val="112000"/>
              </a:lnSpc>
              <a:buNone/>
            </a:pPr>
            <a:r>
              <a:rPr lang="en-US" sz="1200" dirty="0">
                <a:solidFill>
                  <a:srgbClr val="E9DDD8"/>
                </a:solidFill>
                <a:latin typeface="Poppins" pitchFamily="34" charset="0"/>
                <a:ea typeface="Poppins" pitchFamily="34" charset="-122"/>
                <a:cs typeface="Poppins" pitchFamily="34" charset="-120"/>
              </a:rPr>
              <a:t>Strategic Management  ·  Dr. Rangga Almahendra, S.T., M.M.</a:t>
            </a:r>
            <a:endParaRPr lang="en-US" sz="1200" dirty="0"/>
          </a:p>
          <a:p>
            <a:pPr indent="0" marL="0">
              <a:lnSpc>
                <a:spcPct val="112000"/>
              </a:lnSpc>
              <a:buNone/>
            </a:pPr>
            <a:r>
              <a:rPr lang="en-US" sz="1200" dirty="0">
                <a:solidFill>
                  <a:srgbClr val="E9DDD8"/>
                </a:solidFill>
                <a:latin typeface="Poppins" pitchFamily="34" charset="0"/>
                <a:ea typeface="Poppins" pitchFamily="34" charset="-122"/>
                <a:cs typeface="Poppins" pitchFamily="34" charset="-120"/>
              </a:rPr>
              <a:t>Chapter 4: Thompson dkk. (2024)   |   Kasus: Manchester United, Robert M. Grant (2010)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Manchester United</dc:title>
  <dc:subject>PptxGenJS Presentation</dc:subject>
  <dc:creator>Kelompok 4</dc:creator>
  <cp:lastModifiedBy>Kelompok 4</cp:lastModifiedBy>
  <cp:revision>1</cp:revision>
  <dcterms:created xsi:type="dcterms:W3CDTF">2026-09-30T08:56:36Z</dcterms:created>
  <dcterms:modified xsi:type="dcterms:W3CDTF">2026-09-30T08:56:36Z</dcterms:modified>
</cp:coreProperties>
</file>