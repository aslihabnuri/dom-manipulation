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A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A.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di kotak terakhir dikutip dari hlm. 588. Perhatikan kata kasusnya: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setting waktunya: Juli 2009, saat tur pramusim Asia. Ferguson masih menjabat; kasus hanya menyebut ia akan berusia 68 tahun pada akhir 2009 dan Gill memperkirakan pensiun akhir musim 2009-10.
Pengambil keputusannya David Gill, Chief Executive. Keputusan yang disiapkan: siapa pengganti Ferguson.
Dilema inti (hlm. 588): orang dalam menjaga sistem tetap jalan tapi wibawanya diragukan; orang luar seperti Mourinho berarti membongkar dan membangun ulang infrastruktur Ferguson.
Tutup dengan pertanyaan yang jadi benang merah Bagian B: aset mana yang milik klub,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Tabel 6.2 (poin Eropa), Tabel 6.1 (juara liga), dan Tabel 6.7 (poin performa, ukuran dan usia skuad).
Bedakan dua kolom poin supaya tidak membingungkan:
- Poin Eropa 2000–09 (Tabel 6.2): berdasarkan prestasi di liga domestik, piala domestik, Liga Champions, dan Intertoto Cup, disesuaikan dengan tingkat kesulitan liga. MU nomor satu.
- Poin performa (Tabel 6.7): ukuran yang dipakai kasus untuk dibandingkan dengan belanja transfer. Di sini MU nomor dua, tipis di bawah Barcelona.
Soal kartu 2008: itu Liga Champions (European Cup) KEDUA di era Ferguson, setelah 1999. Jangan sebut 'gelar Eropa kedua', karena kasus hlm. 584 juga mencatat Piala Winners Eropa 1991 — itu juga gelar Eropa.
Soal ukuran skuad: klaimnya hanya berlaku untuk enam klub di tabel ini. Di Tabel 6.7 lengkap, Roma punya skuad 46 pemain dan Lyon juga 34. Jadi jangan bilang skuad MU terbesar di Eropa.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
Notes: Grafik ditambahkan Chelsea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benchmarking. Yang dibandingkan bukan besarnya pendapatan, tapi margin: EBITDA dibagi pendapatan (Table 6.5) dan return on sales (Table 6.6).
Tiga cara mendapat pemain: membeli bintang (Real Madrid, Chelsea) menghasilkan pendapatan tinggi tapi laba rendah atau rugi; mengembangkan sendiri (Barcelona, Arsenal, Bayern) laba positif dengan pendapatan lebih rendah; MU menggabungkan keduanya, membeli lalu menjual saat klub lain menilai lebih tinggi (hlm. 580, 583).
Angka return on sales 2000–2006 (Table 6.6): MU 12,6%, Arsenal 5,6%, Bayern 4,7%, Real Madrid 0,4%, Chelsea −60,4%, Inter −78,4%.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Kolom kiri semuanya berbentuk 'siapa', 'bagaimana', 'apa yang dilakukan', dan 'apakah perlu' — persis pola buku.
Sumber tiap isu di kasus:
1. Dilema suksesi: hlm. 588, dilema yang disadari Gill saat menimbang calon pengganti.
2. Mempertahankan sistem: hlm. 588 — 'it was important to maintain as much as possible of the system of training, scouting, and team development that Sir Alex had put in place.'
3. Uang penjualan Ronaldo: hlm. 588 — media menyorot apakah uangnya dipakai untuk menawar Franck Ribéry dari Bayern.
4. Director of football: hlm. 581 — lazim di Eropa daratan, tapi di Inggris sering memicu konflik dengan manajer (Chelsea, Newcastle).
5. Ketergantungan komersial: hlm. 573 — bagi Gill, pendapatan komersial terus mengalir selama tim menang dan bermain menarik.
6. Dana pemilik: hlm. 579 — karena Glazer membiayai akuisisinya dengan utang, MU tidak mendapat suntikan dana seperti Chelsea atau Man City.
PENTING soal utang: jangan bilang utang membatasi pembelian pemain. Kasus hlm. 584 justru menyatakan ketakutan itu 'proved groundless'. Isunya adalah tidak adanya suntikan dana pemilik di pasar transfer yang sedang meledak.
Kolom kanan adalah rekomendasi kami, dan itu sudah masuk tahap berikutnya — penyusunan strategi. Pisahkan keduanya saat bicara.
Logika rekomendasi 1: sistem Ferguson lolos VRIN, jadi layak dipertahankan. Masalahnya hanya satu: sistem itu dibangun dan dipimpin satu orang. Solusinya memindahkan sistem itu ke dalam prosedur klub supaya bertahan setelah ia pergi.
Logika rekomendasi 3, dari kasus hlm. 588: jika MU menunjuk manajer berwibawa seperti Mourinho, 'it was likely that this would involve a revolutionary change in coaching strategy in which much of Ferguson's infrastructure would be taken down and rebuilt.' Membongkar aset yang lolos VRIN adalah pilihan yang mahal.
Kalau ada yang berargumen orang dalam kurang berwibawa — itu memang kekhawatiran Gill di kasus, dan kami tidak menyangkalnya. Karena itulah kami mengusulkan masa transisi dengan Ferguson tetap mendampingi.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863840" cy="6858000"/>
          </a:xfrm>
          <a:prstGeom prst="rect">
            <a:avLst/>
          </a:prstGeom>
          <a:solidFill>
            <a:srgbClr val="1B0F10">
              <a:alpha val="86000"/>
            </a:srgbClr>
          </a:solidFill>
          <a:ln w="12700">
            <a:solidFill>
              <a:srgbClr val="1B0F10"/>
            </a:solidFill>
            <a:prstDash val="solid"/>
          </a:ln>
        </p:spPr>
      </p:sp>
      <p:sp>
        <p:nvSpPr>
          <p:cNvPr id="3" name="Shape 1"/>
          <p:cNvSpPr/>
          <p:nvPr/>
        </p:nvSpPr>
        <p:spPr>
          <a:xfrm>
            <a:off x="7863840" y="0"/>
            <a:ext cx="4327855" cy="6858000"/>
          </a:xfrm>
          <a:prstGeom prst="rect">
            <a:avLst/>
          </a:prstGeom>
          <a:solidFill>
            <a:srgbClr val="1B0F10">
              <a:alpha val="45000"/>
            </a:srgbClr>
          </a:solidFill>
          <a:ln w="12700">
            <a:solidFill>
              <a:srgbClr val="1B0F10"/>
            </a:solidFill>
            <a:prstDash val="solid"/>
          </a:ln>
        </p:spPr>
      </p:sp>
      <p:sp>
        <p:nvSpPr>
          <p:cNvPr id="4" name="Shape 2"/>
          <p:cNvSpPr/>
          <p:nvPr/>
        </p:nvSpPr>
        <p:spPr>
          <a:xfrm>
            <a:off x="7863840" y="0"/>
            <a:ext cx="45720" cy="6858000"/>
          </a:xfrm>
          <a:prstGeom prst="rect">
            <a:avLst/>
          </a:prstGeom>
          <a:solidFill>
            <a:srgbClr val="C8102E"/>
          </a:solidFill>
          <a:ln w="12700">
            <a:solidFill>
              <a:srgbClr val="C8102E"/>
            </a:solidFill>
            <a:prstDash val="solid"/>
          </a:ln>
        </p:spPr>
      </p:sp>
      <p:pic>
        <p:nvPicPr>
          <p:cNvPr id="5" name="Image 0" descr="crest.png">    </p:cNvPr>
          <p:cNvPicPr>
            <a:picLocks noChangeAspect="1"/>
          </p:cNvPicPr>
          <p:nvPr/>
        </p:nvPicPr>
        <p:blipFill>
          <a:blip r:embed="rId2"/>
          <a:stretch>
            <a:fillRect/>
          </a:stretch>
        </p:blipFill>
        <p:spPr>
          <a:xfrm>
            <a:off x="10271455" y="411480"/>
            <a:ext cx="1371600" cy="1344168"/>
          </a:xfrm>
          <a:prstGeom prst="rect">
            <a:avLst/>
          </a:prstGeom>
        </p:spPr>
      </p:pic>
      <p:sp>
        <p:nvSpPr>
          <p:cNvPr id="7" name="Shape 3"/>
          <p:cNvSpPr/>
          <p:nvPr/>
        </p:nvSpPr>
        <p:spPr>
          <a:xfrm>
            <a:off x="640080" y="685800"/>
            <a:ext cx="365760" cy="64008"/>
          </a:xfrm>
          <a:prstGeom prst="rect">
            <a:avLst/>
          </a:prstGeom>
          <a:solidFill>
            <a:srgbClr val="FBE122"/>
          </a:solidFill>
          <a:ln w="12700">
            <a:solidFill>
              <a:srgbClr val="FBE122"/>
            </a:solidFill>
            <a:prstDash val="solid"/>
          </a:ln>
        </p:spPr>
      </p:sp>
      <p:sp>
        <p:nvSpPr>
          <p:cNvPr id="8" name="Text 4"/>
          <p:cNvSpPr/>
          <p:nvPr/>
        </p:nvSpPr>
        <p:spPr>
          <a:xfrm>
            <a:off x="1143000" y="54864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100" dirty="0"/>
          </a:p>
        </p:txBody>
      </p:sp>
      <p:sp>
        <p:nvSpPr>
          <p:cNvPr id="9" name="Text 5"/>
          <p:cNvSpPr/>
          <p:nvPr/>
        </p:nvSpPr>
        <p:spPr>
          <a:xfrm>
            <a:off x="640080" y="1051560"/>
            <a:ext cx="6858000" cy="2194560"/>
          </a:xfrm>
          <a:prstGeom prst="rect">
            <a:avLst/>
          </a:prstGeom>
          <a:noFill/>
          <a:ln/>
        </p:spPr>
        <p:txBody>
          <a:bodyPr wrap="square" lIns="0" tIns="0" rIns="0" bIns="0" rtlCol="0" anchor="t"/>
          <a:lstStyle/>
          <a:p>
            <a:pPr indent="0" marL="0">
              <a:lnSpc>
                <a:spcPct val="92000"/>
              </a:lnSpc>
              <a:buNone/>
            </a:pPr>
            <a:r>
              <a:rPr lang="en-US" sz="3600" dirty="0">
                <a:solidFill>
                  <a:srgbClr val="FFFFFF"/>
                </a:solidFill>
                <a:latin typeface="Poppins ExtraBold" pitchFamily="34" charset="0"/>
                <a:ea typeface="Poppins ExtraBold" pitchFamily="34" charset="-122"/>
                <a:cs typeface="Poppins ExtraBold" pitchFamily="34" charset="-120"/>
              </a:rPr>
              <a:t>EVALUATING A COMPANY'S RESOURCES, CAPABILITIES, AND COMPETITIVENESS</a:t>
            </a:r>
            <a:endParaRPr lang="en-US" sz="3600" dirty="0"/>
          </a:p>
        </p:txBody>
      </p:sp>
      <p:sp>
        <p:nvSpPr>
          <p:cNvPr id="10" name="Text 6"/>
          <p:cNvSpPr/>
          <p:nvPr/>
        </p:nvSpPr>
        <p:spPr>
          <a:xfrm>
            <a:off x="640080" y="3310128"/>
            <a:ext cx="6858000" cy="320040"/>
          </a:xfrm>
          <a:prstGeom prst="rect">
            <a:avLst/>
          </a:prstGeom>
          <a:noFill/>
          <a:ln/>
        </p:spPr>
        <p:txBody>
          <a:bodyPr wrap="square" lIns="0" tIns="0" rIns="0" bIns="0" rtlCol="0" anchor="t"/>
          <a:lstStyle/>
          <a:p>
            <a:pPr indent="0" marL="0">
              <a:buNone/>
            </a:pPr>
            <a:r>
              <a:rPr lang="en-US" sz="1050" dirty="0">
                <a:solidFill>
                  <a:srgbClr val="D9CFC7"/>
                </a:solidFill>
                <a:latin typeface="Poppins" pitchFamily="34" charset="0"/>
                <a:ea typeface="Poppins" pitchFamily="34" charset="-122"/>
                <a:cs typeface="Poppins" pitchFamily="34" charset="-120"/>
              </a:rPr>
              <a:t>Thompson  ·  Peteraf  ·  Gamble  ·  Strickland      Crafting &amp; Executing Strategy, 2024 Release ISE</a:t>
            </a:r>
            <a:endParaRPr lang="en-US" sz="1050" dirty="0"/>
          </a:p>
        </p:txBody>
      </p:sp>
      <p:sp>
        <p:nvSpPr>
          <p:cNvPr id="11" name="Shape 7"/>
          <p:cNvSpPr/>
          <p:nvPr/>
        </p:nvSpPr>
        <p:spPr>
          <a:xfrm>
            <a:off x="640080" y="3840480"/>
            <a:ext cx="6858000" cy="1325880"/>
          </a:xfrm>
          <a:prstGeom prst="rect">
            <a:avLst/>
          </a:prstGeom>
          <a:solidFill>
            <a:srgbClr val="C8102E"/>
          </a:solidFill>
          <a:ln w="12700">
            <a:solidFill>
              <a:srgbClr val="C8102E"/>
            </a:solidFill>
            <a:prstDash val="solid"/>
          </a:ln>
        </p:spPr>
      </p:sp>
      <p:sp>
        <p:nvSpPr>
          <p:cNvPr id="12" name="Text 8"/>
          <p:cNvSpPr/>
          <p:nvPr/>
        </p:nvSpPr>
        <p:spPr>
          <a:xfrm>
            <a:off x="868680" y="397764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STUDI KASUS</a:t>
            </a:r>
            <a:endParaRPr lang="en-US" sz="800" dirty="0"/>
          </a:p>
        </p:txBody>
      </p:sp>
      <p:sp>
        <p:nvSpPr>
          <p:cNvPr id="13" name="Text 9"/>
          <p:cNvSpPr/>
          <p:nvPr/>
        </p:nvSpPr>
        <p:spPr>
          <a:xfrm>
            <a:off x="868680" y="4224528"/>
            <a:ext cx="6400800" cy="457200"/>
          </a:xfrm>
          <a:prstGeom prst="rect">
            <a:avLst/>
          </a:prstGeom>
          <a:noFill/>
          <a:ln/>
        </p:spPr>
        <p:txBody>
          <a:bodyPr wrap="square" lIns="0" tIns="0" rIns="0" bIns="0" rtlCol="0" anchor="t"/>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Manchester United: Preparing for Life without Ferguson</a:t>
            </a:r>
            <a:endParaRPr lang="en-US" sz="1700" dirty="0"/>
          </a:p>
        </p:txBody>
      </p:sp>
      <p:sp>
        <p:nvSpPr>
          <p:cNvPr id="14" name="Text 10"/>
          <p:cNvSpPr/>
          <p:nvPr/>
        </p:nvSpPr>
        <p:spPr>
          <a:xfrm>
            <a:off x="868680" y="4736592"/>
            <a:ext cx="6400800" cy="274320"/>
          </a:xfrm>
          <a:prstGeom prst="rect">
            <a:avLst/>
          </a:prstGeom>
          <a:noFill/>
          <a:ln/>
        </p:spPr>
        <p:txBody>
          <a:bodyPr wrap="square" lIns="0" tIns="0" rIns="0" bIns="0" rtlCol="0" anchor="t"/>
          <a:lstStyle/>
          <a:p>
            <a:pPr indent="0" marL="0">
              <a:buNone/>
            </a:pPr>
            <a:r>
              <a:rPr lang="en-US" sz="1050" dirty="0">
                <a:solidFill>
                  <a:srgbClr val="FFFFFF"/>
                </a:solidFill>
                <a:latin typeface="Poppins" pitchFamily="34" charset="0"/>
                <a:ea typeface="Poppins" pitchFamily="34" charset="-122"/>
                <a:cs typeface="Poppins" pitchFamily="34" charset="-120"/>
              </a:rPr>
              <a:t>Robert M. Grant (2010)   ·   setting Juli 2009</a:t>
            </a:r>
            <a:endParaRPr lang="en-US" sz="1050" dirty="0"/>
          </a:p>
        </p:txBody>
      </p:sp>
      <p:sp>
        <p:nvSpPr>
          <p:cNvPr id="15" name="Text 11"/>
          <p:cNvSpPr/>
          <p:nvPr/>
        </p:nvSpPr>
        <p:spPr>
          <a:xfrm>
            <a:off x="640080" y="54406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DOSEN PENGAMPU</a:t>
            </a:r>
            <a:endParaRPr lang="en-US" sz="800" dirty="0"/>
          </a:p>
        </p:txBody>
      </p:sp>
      <p:sp>
        <p:nvSpPr>
          <p:cNvPr id="16" name="Text 12"/>
          <p:cNvSpPr/>
          <p:nvPr/>
        </p:nvSpPr>
        <p:spPr>
          <a:xfrm>
            <a:off x="640080" y="5669280"/>
            <a:ext cx="3657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Medium" pitchFamily="34" charset="0"/>
                <a:ea typeface="Poppins Medium" pitchFamily="34" charset="-122"/>
                <a:cs typeface="Poppins Medium" pitchFamily="34" charset="-120"/>
              </a:rPr>
              <a:t>Dr. Rangga Almahendra, S.T., M.M.</a:t>
            </a:r>
            <a:endParaRPr lang="en-US" sz="1100" dirty="0"/>
          </a:p>
        </p:txBody>
      </p:sp>
      <p:sp>
        <p:nvSpPr>
          <p:cNvPr id="17" name="Text 13"/>
          <p:cNvSpPr/>
          <p:nvPr/>
        </p:nvSpPr>
        <p:spPr>
          <a:xfrm>
            <a:off x="3931920" y="54406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18" name="Text 14"/>
          <p:cNvSpPr/>
          <p:nvPr/>
        </p:nvSpPr>
        <p:spPr>
          <a:xfrm>
            <a:off x="3931920" y="5669280"/>
            <a:ext cx="7589520" cy="502920"/>
          </a:xfrm>
          <a:prstGeom prst="rect">
            <a:avLst/>
          </a:prstGeom>
          <a:noFill/>
          <a:ln/>
        </p:spPr>
        <p:txBody>
          <a:bodyPr wrap="square" lIns="0" tIns="0" rIns="0" bIns="0" rtlCol="0" anchor="t"/>
          <a:lstStyle/>
          <a:p>
            <a:pPr indent="0" marL="0">
              <a:buNone/>
            </a:pPr>
            <a:r>
              <a:rPr lang="en-US" sz="1100" dirty="0">
                <a:solidFill>
                  <a:srgbClr val="FFFFFF"/>
                </a:solidFill>
                <a:latin typeface="Poppins Medium" pitchFamily="34" charset="0"/>
                <a:ea typeface="Poppins Medium" pitchFamily="34" charset="-122"/>
                <a:cs typeface="Poppins Medium" pitchFamily="34" charset="-120"/>
              </a:rPr>
              <a:t>Fitra Aidila  ·  Aulia Sisca Rahmadiyanti  ·  Bagaskoro  ·  Imam Prayudha  ·  Tegar Awanto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ALUR PRESENTASI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AGENDA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Teori Chapter 4 dibahas lebih dulu, lalu diterapkan pada kasus Manchester United. Urutannya sengaja sama, supaya terlihat framework mana dipakai untuk menjawab apa.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02</a:t>
            </a:r>
            <a:endParaRPr lang="en-US" sz="900" dirty="0"/>
          </a:p>
        </p:txBody>
      </p:sp>
      <p:sp>
        <p:nvSpPr>
          <p:cNvPr id="10" name="Shape 7"/>
          <p:cNvSpPr/>
          <p:nvPr/>
        </p:nvSpPr>
        <p:spPr>
          <a:xfrm>
            <a:off x="548640" y="1755648"/>
            <a:ext cx="2560320" cy="2514600"/>
          </a:xfrm>
          <a:prstGeom prst="rect">
            <a:avLst/>
          </a:prstGeom>
          <a:solidFill>
            <a:srgbClr val="C8102E"/>
          </a:solidFill>
          <a:ln w="12700">
            <a:solidFill>
              <a:srgbClr val="C8102E"/>
            </a:solidFill>
            <a:prstDash val="solid"/>
          </a:ln>
        </p:spPr>
      </p:sp>
      <p:sp>
        <p:nvSpPr>
          <p:cNvPr id="11" name="Text 8"/>
          <p:cNvSpPr/>
          <p:nvPr/>
        </p:nvSpPr>
        <p:spPr>
          <a:xfrm>
            <a:off x="777240" y="1920240"/>
            <a:ext cx="1828800" cy="64008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01</a:t>
            </a:r>
            <a:endParaRPr lang="en-US" sz="3400" dirty="0"/>
          </a:p>
        </p:txBody>
      </p:sp>
      <p:sp>
        <p:nvSpPr>
          <p:cNvPr id="12" name="Text 9"/>
          <p:cNvSpPr/>
          <p:nvPr/>
        </p:nvSpPr>
        <p:spPr>
          <a:xfrm>
            <a:off x="777240" y="2651760"/>
            <a:ext cx="2103120" cy="54864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Framework Chapter 4</a:t>
            </a:r>
            <a:endParaRPr lang="en-US" sz="1300" dirty="0"/>
          </a:p>
        </p:txBody>
      </p:sp>
      <p:sp>
        <p:nvSpPr>
          <p:cNvPr id="13" name="Text 10"/>
          <p:cNvSpPr/>
          <p:nvPr/>
        </p:nvSpPr>
        <p:spPr>
          <a:xfrm>
            <a:off x="777240" y="3172968"/>
            <a:ext cx="2103120" cy="228600"/>
          </a:xfrm>
          <a:prstGeom prst="rect">
            <a:avLst/>
          </a:prstGeom>
          <a:noFill/>
          <a:ln/>
        </p:spPr>
        <p:txBody>
          <a:bodyPr wrap="square" lIns="0" tIns="0" rIns="0" bIns="0" rtlCol="0" anchor="t"/>
          <a:lstStyle/>
          <a:p>
            <a:pPr indent="0" marL="0">
              <a:buNone/>
            </a:pPr>
            <a:r>
              <a:rPr lang="en-US" sz="800" spc="150" kern="0" dirty="0">
                <a:solidFill>
                  <a:srgbClr val="FFFFFF"/>
                </a:solidFill>
                <a:latin typeface="Poppins SemiBold" pitchFamily="34" charset="0"/>
                <a:ea typeface="Poppins SemiBold" pitchFamily="34" charset="-122"/>
                <a:cs typeface="Poppins SemiBold" pitchFamily="34" charset="-120"/>
              </a:rPr>
              <a:t>SLIDE 3 – 17</a:t>
            </a:r>
            <a:endParaRPr lang="en-US" sz="800" dirty="0"/>
          </a:p>
        </p:txBody>
      </p:sp>
      <p:sp>
        <p:nvSpPr>
          <p:cNvPr id="14" name="Text 11"/>
          <p:cNvSpPr/>
          <p:nvPr/>
        </p:nvSpPr>
        <p:spPr>
          <a:xfrm>
            <a:off x="777240" y="3447288"/>
            <a:ext cx="2103120" cy="77724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Enam pertanyaan analisis internal dan alat untuk menjawabnya: Table 4.1, SWOT, VRIN Test, Value Chain, Competitive Strength Assessment, Priority List.</a:t>
            </a:r>
            <a:endParaRPr lang="en-US" sz="900" dirty="0"/>
          </a:p>
        </p:txBody>
      </p:sp>
      <p:sp>
        <p:nvSpPr>
          <p:cNvPr id="15" name="Shape 12"/>
          <p:cNvSpPr/>
          <p:nvPr/>
        </p:nvSpPr>
        <p:spPr>
          <a:xfrm>
            <a:off x="3383280" y="1755648"/>
            <a:ext cx="2560320" cy="2514600"/>
          </a:xfrm>
          <a:prstGeom prst="rect">
            <a:avLst/>
          </a:prstGeom>
          <a:solidFill>
            <a:srgbClr val="27161A"/>
          </a:solidFill>
          <a:ln w="12700">
            <a:solidFill>
              <a:srgbClr val="27161A"/>
            </a:solidFill>
            <a:prstDash val="solid"/>
          </a:ln>
        </p:spPr>
      </p:sp>
      <p:sp>
        <p:nvSpPr>
          <p:cNvPr id="16" name="Text 13"/>
          <p:cNvSpPr/>
          <p:nvPr/>
        </p:nvSpPr>
        <p:spPr>
          <a:xfrm>
            <a:off x="3611880" y="1920240"/>
            <a:ext cx="1828800" cy="640080"/>
          </a:xfrm>
          <a:prstGeom prst="rect">
            <a:avLst/>
          </a:prstGeom>
          <a:noFill/>
          <a:ln/>
        </p:spPr>
        <p:txBody>
          <a:bodyPr wrap="square" lIns="0" tIns="0" rIns="0" bIns="0" rtlCol="0" anchor="t"/>
          <a:lstStyle/>
          <a:p>
            <a:pPr indent="0" marL="0">
              <a:buNone/>
            </a:pPr>
            <a:r>
              <a:rPr lang="en-US" sz="3400" dirty="0">
                <a:solidFill>
                  <a:srgbClr val="C8102E"/>
                </a:solidFill>
                <a:latin typeface="Poppins ExtraBold" pitchFamily="34" charset="0"/>
                <a:ea typeface="Poppins ExtraBold" pitchFamily="34" charset="-122"/>
                <a:cs typeface="Poppins ExtraBold" pitchFamily="34" charset="-120"/>
              </a:rPr>
              <a:t>02</a:t>
            </a:r>
            <a:endParaRPr lang="en-US" sz="3400" dirty="0"/>
          </a:p>
        </p:txBody>
      </p:sp>
      <p:sp>
        <p:nvSpPr>
          <p:cNvPr id="17" name="Text 14"/>
          <p:cNvSpPr/>
          <p:nvPr/>
        </p:nvSpPr>
        <p:spPr>
          <a:xfrm>
            <a:off x="3611880" y="2651760"/>
            <a:ext cx="2103120" cy="54864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Penerapan pada Manchester United</a:t>
            </a:r>
            <a:endParaRPr lang="en-US" sz="1300" dirty="0"/>
          </a:p>
        </p:txBody>
      </p:sp>
      <p:sp>
        <p:nvSpPr>
          <p:cNvPr id="18" name="Text 15"/>
          <p:cNvSpPr/>
          <p:nvPr/>
        </p:nvSpPr>
        <p:spPr>
          <a:xfrm>
            <a:off x="3611880" y="3172968"/>
            <a:ext cx="210312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SLIDE 18 – 31</a:t>
            </a:r>
            <a:endParaRPr lang="en-US" sz="800" dirty="0"/>
          </a:p>
        </p:txBody>
      </p:sp>
      <p:sp>
        <p:nvSpPr>
          <p:cNvPr id="19" name="Text 16"/>
          <p:cNvSpPr/>
          <p:nvPr/>
        </p:nvSpPr>
        <p:spPr>
          <a:xfrm>
            <a:off x="3611880" y="3447288"/>
            <a:ext cx="2103120" cy="7772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Kinerja, SWOT, resource dan capability, VRIN Test, Value Chain, Benchmarking, dan Competitive Strength Assessment MU pada Juli 2009.</a:t>
            </a:r>
            <a:endParaRPr lang="en-US" sz="900" dirty="0"/>
          </a:p>
        </p:txBody>
      </p:sp>
      <p:sp>
        <p:nvSpPr>
          <p:cNvPr id="20" name="Shape 17"/>
          <p:cNvSpPr/>
          <p:nvPr/>
        </p:nvSpPr>
        <p:spPr>
          <a:xfrm>
            <a:off x="6217920" y="1755648"/>
            <a:ext cx="2560320" cy="2514600"/>
          </a:xfrm>
          <a:prstGeom prst="rect">
            <a:avLst/>
          </a:prstGeom>
          <a:solidFill>
            <a:srgbClr val="C8102E"/>
          </a:solidFill>
          <a:ln w="12700">
            <a:solidFill>
              <a:srgbClr val="C8102E"/>
            </a:solidFill>
            <a:prstDash val="solid"/>
          </a:ln>
        </p:spPr>
      </p:sp>
      <p:sp>
        <p:nvSpPr>
          <p:cNvPr id="21" name="Text 18"/>
          <p:cNvSpPr/>
          <p:nvPr/>
        </p:nvSpPr>
        <p:spPr>
          <a:xfrm>
            <a:off x="6446520" y="1920240"/>
            <a:ext cx="1828800" cy="64008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03</a:t>
            </a:r>
            <a:endParaRPr lang="en-US" sz="3400" dirty="0"/>
          </a:p>
        </p:txBody>
      </p:sp>
      <p:sp>
        <p:nvSpPr>
          <p:cNvPr id="22" name="Text 19"/>
          <p:cNvSpPr/>
          <p:nvPr/>
        </p:nvSpPr>
        <p:spPr>
          <a:xfrm>
            <a:off x="6446520" y="2651760"/>
            <a:ext cx="2103120" cy="54864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Priority List</a:t>
            </a:r>
            <a:endParaRPr lang="en-US" sz="1300" dirty="0"/>
          </a:p>
        </p:txBody>
      </p:sp>
      <p:sp>
        <p:nvSpPr>
          <p:cNvPr id="23" name="Text 20"/>
          <p:cNvSpPr/>
          <p:nvPr/>
        </p:nvSpPr>
        <p:spPr>
          <a:xfrm>
            <a:off x="6446520" y="3172968"/>
            <a:ext cx="2103120" cy="228600"/>
          </a:xfrm>
          <a:prstGeom prst="rect">
            <a:avLst/>
          </a:prstGeom>
          <a:noFill/>
          <a:ln/>
        </p:spPr>
        <p:txBody>
          <a:bodyPr wrap="square" lIns="0" tIns="0" rIns="0" bIns="0" rtlCol="0" anchor="t"/>
          <a:lstStyle/>
          <a:p>
            <a:pPr indent="0" marL="0">
              <a:buNone/>
            </a:pPr>
            <a:r>
              <a:rPr lang="en-US" sz="800" spc="150" kern="0" dirty="0">
                <a:solidFill>
                  <a:srgbClr val="FFFFFF"/>
                </a:solidFill>
                <a:latin typeface="Poppins SemiBold" pitchFamily="34" charset="0"/>
                <a:ea typeface="Poppins SemiBold" pitchFamily="34" charset="-122"/>
                <a:cs typeface="Poppins SemiBold" pitchFamily="34" charset="-120"/>
              </a:rPr>
              <a:t>SLIDE 32</a:t>
            </a:r>
            <a:endParaRPr lang="en-US" sz="800" dirty="0"/>
          </a:p>
        </p:txBody>
      </p:sp>
      <p:sp>
        <p:nvSpPr>
          <p:cNvPr id="24" name="Text 21"/>
          <p:cNvSpPr/>
          <p:nvPr/>
        </p:nvSpPr>
        <p:spPr>
          <a:xfrm>
            <a:off x="6446520" y="3447288"/>
            <a:ext cx="2103120" cy="77724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Enam isu yang harus ditangani David Gill, ditulis sebagai pertanyaan sesuai aturan buku.</a:t>
            </a:r>
            <a:endParaRPr lang="en-US" sz="900" dirty="0"/>
          </a:p>
        </p:txBody>
      </p:sp>
      <p:sp>
        <p:nvSpPr>
          <p:cNvPr id="25" name="Shape 22"/>
          <p:cNvSpPr/>
          <p:nvPr/>
        </p:nvSpPr>
        <p:spPr>
          <a:xfrm>
            <a:off x="9052560" y="1755648"/>
            <a:ext cx="2560320" cy="2514600"/>
          </a:xfrm>
          <a:prstGeom prst="rect">
            <a:avLst/>
          </a:prstGeom>
          <a:solidFill>
            <a:srgbClr val="27161A"/>
          </a:solidFill>
          <a:ln w="12700">
            <a:solidFill>
              <a:srgbClr val="27161A"/>
            </a:solidFill>
            <a:prstDash val="solid"/>
          </a:ln>
        </p:spPr>
      </p:sp>
      <p:sp>
        <p:nvSpPr>
          <p:cNvPr id="26" name="Text 23"/>
          <p:cNvSpPr/>
          <p:nvPr/>
        </p:nvSpPr>
        <p:spPr>
          <a:xfrm>
            <a:off x="9281160" y="1920240"/>
            <a:ext cx="1828800" cy="640080"/>
          </a:xfrm>
          <a:prstGeom prst="rect">
            <a:avLst/>
          </a:prstGeom>
          <a:noFill/>
          <a:ln/>
        </p:spPr>
        <p:txBody>
          <a:bodyPr wrap="square" lIns="0" tIns="0" rIns="0" bIns="0" rtlCol="0" anchor="t"/>
          <a:lstStyle/>
          <a:p>
            <a:pPr indent="0" marL="0">
              <a:buNone/>
            </a:pPr>
            <a:r>
              <a:rPr lang="en-US" sz="3400" dirty="0">
                <a:solidFill>
                  <a:srgbClr val="C8102E"/>
                </a:solidFill>
                <a:latin typeface="Poppins ExtraBold" pitchFamily="34" charset="0"/>
                <a:ea typeface="Poppins ExtraBold" pitchFamily="34" charset="-122"/>
                <a:cs typeface="Poppins ExtraBold" pitchFamily="34" charset="-120"/>
              </a:rPr>
              <a:t>04</a:t>
            </a:r>
            <a:endParaRPr lang="en-US" sz="3400" dirty="0"/>
          </a:p>
        </p:txBody>
      </p:sp>
      <p:sp>
        <p:nvSpPr>
          <p:cNvPr id="27" name="Text 24"/>
          <p:cNvSpPr/>
          <p:nvPr/>
        </p:nvSpPr>
        <p:spPr>
          <a:xfrm>
            <a:off x="9281160" y="2651760"/>
            <a:ext cx="2103120" cy="54864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Diskusi</a:t>
            </a:r>
            <a:endParaRPr lang="en-US" sz="1300" dirty="0"/>
          </a:p>
        </p:txBody>
      </p:sp>
      <p:sp>
        <p:nvSpPr>
          <p:cNvPr id="28" name="Text 25"/>
          <p:cNvSpPr/>
          <p:nvPr/>
        </p:nvSpPr>
        <p:spPr>
          <a:xfrm>
            <a:off x="9281160" y="3172968"/>
            <a:ext cx="210312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SLIDE 33</a:t>
            </a:r>
            <a:endParaRPr lang="en-US" sz="800" dirty="0"/>
          </a:p>
        </p:txBody>
      </p:sp>
      <p:sp>
        <p:nvSpPr>
          <p:cNvPr id="29" name="Text 26"/>
          <p:cNvSpPr/>
          <p:nvPr/>
        </p:nvSpPr>
        <p:spPr>
          <a:xfrm>
            <a:off x="9281160" y="3447288"/>
            <a:ext cx="2103120" cy="7772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Tanya jawab dan diskusi kelas.</a:t>
            </a:r>
            <a:endParaRPr lang="en-US" sz="900" dirty="0"/>
          </a:p>
        </p:txBody>
      </p:sp>
      <p:pic>
        <p:nvPicPr>
          <p:cNvPr id="30" name="Image 0" descr="band.jpg">    </p:cNvPr>
          <p:cNvPicPr>
            <a:picLocks noChangeAspect="1"/>
          </p:cNvPicPr>
          <p:nvPr/>
        </p:nvPicPr>
        <p:blipFill>
          <a:blip r:embed="rId1"/>
          <a:stretch>
            <a:fillRect/>
          </a:stretch>
        </p:blipFill>
        <p:spPr>
          <a:xfrm>
            <a:off x="548640" y="4453128"/>
            <a:ext cx="11064240" cy="13258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0F10"/>
        </a:solidFill>
      </p:bgPr>
    </p:bg>
    <p:spTree>
      <p:nvGrpSpPr>
        <p:cNvPr id="1" name=""/>
        <p:cNvGrpSpPr/>
        <p:nvPr/>
      </p:nvGrpSpPr>
      <p:grpSpPr>
        <a:xfrm>
          <a:off x="0" y="0"/>
          <a:ext cx="0" cy="0"/>
          <a:chOff x="0" y="0"/>
          <a:chExt cx="0" cy="0"/>
        </a:xfrm>
      </p:grpSpPr>
      <p:pic>
        <p:nvPicPr>
          <p:cNvPr id="2" name="Image 0" descr="strip_b_dim.jpg">    </p:cNvPr>
          <p:cNvPicPr>
            <a:picLocks noChangeAspect="1"/>
          </p:cNvPicPr>
          <p:nvPr/>
        </p:nvPicPr>
        <p:blipFill>
          <a:blip r:embed="rId1"/>
          <a:stretch>
            <a:fillRect/>
          </a:stretch>
        </p:blipFill>
        <p:spPr>
          <a:xfrm>
            <a:off x="10774375" y="0"/>
            <a:ext cx="1417320" cy="6858000"/>
          </a:xfrm>
          <a:prstGeom prst="rect">
            <a:avLst/>
          </a:prstGeom>
        </p:spPr>
      </p:pic>
      <p:sp>
        <p:nvSpPr>
          <p:cNvPr id="3" name="Shape 0"/>
          <p:cNvSpPr/>
          <p:nvPr/>
        </p:nvSpPr>
        <p:spPr>
          <a:xfrm>
            <a:off x="10774375" y="0"/>
            <a:ext cx="45720" cy="6858000"/>
          </a:xfrm>
          <a:prstGeom prst="rect">
            <a:avLst/>
          </a:prstGeom>
          <a:solidFill>
            <a:srgbClr val="C8102E"/>
          </a:solidFill>
          <a:ln w="12700">
            <a:solidFill>
              <a:srgbClr val="C8102E"/>
            </a:solidFill>
            <a:prstDash val="solid"/>
          </a:ln>
        </p:spPr>
      </p:sp>
      <p:sp>
        <p:nvSpPr>
          <p:cNvPr id="4" name="Shape 1"/>
          <p:cNvSpPr/>
          <p:nvPr/>
        </p:nvSpPr>
        <p:spPr>
          <a:xfrm>
            <a:off x="548640" y="429768"/>
            <a:ext cx="292608" cy="54864"/>
          </a:xfrm>
          <a:prstGeom prst="rect">
            <a:avLst/>
          </a:prstGeom>
          <a:solidFill>
            <a:srgbClr val="C8102E"/>
          </a:solidFill>
          <a:ln w="12700">
            <a:solidFill>
              <a:srgbClr val="C8102E"/>
            </a:solidFill>
            <a:prstDash val="solid"/>
          </a:ln>
        </p:spPr>
      </p:sp>
      <p:sp>
        <p:nvSpPr>
          <p:cNvPr id="5" name="Text 2"/>
          <p:cNvSpPr/>
          <p:nvPr/>
        </p:nvSpPr>
        <p:spPr>
          <a:xfrm>
            <a:off x="932688" y="301752"/>
            <a:ext cx="91284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BAGIAN A</a:t>
            </a:r>
            <a:endParaRPr lang="en-US" sz="950" dirty="0"/>
          </a:p>
        </p:txBody>
      </p:sp>
      <p:sp>
        <p:nvSpPr>
          <p:cNvPr id="6" name="Text 3"/>
          <p:cNvSpPr/>
          <p:nvPr/>
        </p:nvSpPr>
        <p:spPr>
          <a:xfrm>
            <a:off x="548640" y="658368"/>
            <a:ext cx="94942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ENAM PERTANYAAN</a:t>
            </a:r>
            <a:endParaRPr lang="en-US" sz="2600" dirty="0"/>
          </a:p>
        </p:txBody>
      </p:sp>
      <p:sp>
        <p:nvSpPr>
          <p:cNvPr id="7" name="Text 4"/>
          <p:cNvSpPr/>
          <p:nvPr/>
        </p:nvSpPr>
        <p:spPr>
          <a:xfrm>
            <a:off x="548640" y="1188720"/>
            <a:ext cx="94942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Chapter 4 bukan kumpulan alat yang berdiri sendiri. Isinya satu alur pemeriksaan, disusun sebagai enam pertanyaan berurutan. Jawaban pertanyaan sebelumnya jadi bahan pertanyaan berikutnya.</a:t>
            </a:r>
            <a:endParaRPr lang="en-US" sz="1150" dirty="0"/>
          </a:p>
        </p:txBody>
      </p:sp>
      <p:sp>
        <p:nvSpPr>
          <p:cNvPr id="8" name="Shape 5"/>
          <p:cNvSpPr/>
          <p:nvPr/>
        </p:nvSpPr>
        <p:spPr>
          <a:xfrm>
            <a:off x="548640" y="6382512"/>
            <a:ext cx="9494215" cy="9144"/>
          </a:xfrm>
          <a:prstGeom prst="rect">
            <a:avLst/>
          </a:prstGeom>
          <a:solidFill>
            <a:srgbClr val="46292D"/>
          </a:solidFill>
          <a:ln w="12700">
            <a:solidFill>
              <a:srgbClr val="46292D"/>
            </a:solidFill>
            <a:prstDash val="solid"/>
          </a:ln>
        </p:spPr>
      </p:sp>
      <p:sp>
        <p:nvSpPr>
          <p:cNvPr id="9" name="Text 6"/>
          <p:cNvSpPr/>
          <p:nvPr/>
        </p:nvSpPr>
        <p:spPr>
          <a:xfrm>
            <a:off x="548640" y="6455664"/>
            <a:ext cx="85798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0" name="Text 7"/>
          <p:cNvSpPr/>
          <p:nvPr/>
        </p:nvSpPr>
        <p:spPr>
          <a:xfrm>
            <a:off x="93113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03</a:t>
            </a:r>
            <a:endParaRPr lang="en-US" sz="900" dirty="0"/>
          </a:p>
        </p:txBody>
      </p:sp>
      <p:sp>
        <p:nvSpPr>
          <p:cNvPr id="12" name="Shape 8"/>
          <p:cNvSpPr/>
          <p:nvPr/>
        </p:nvSpPr>
        <p:spPr>
          <a:xfrm>
            <a:off x="548640" y="1755648"/>
            <a:ext cx="3012338" cy="1874520"/>
          </a:xfrm>
          <a:prstGeom prst="rect">
            <a:avLst/>
          </a:prstGeom>
          <a:solidFill>
            <a:srgbClr val="27161A"/>
          </a:solidFill>
          <a:ln w="12700">
            <a:solidFill>
              <a:srgbClr val="27161A"/>
            </a:solidFill>
            <a:prstDash val="solid"/>
          </a:ln>
        </p:spPr>
      </p:sp>
      <p:sp>
        <p:nvSpPr>
          <p:cNvPr id="13" name="Shape 9"/>
          <p:cNvSpPr/>
          <p:nvPr/>
        </p:nvSpPr>
        <p:spPr>
          <a:xfrm>
            <a:off x="548640" y="1755648"/>
            <a:ext cx="3012338" cy="54864"/>
          </a:xfrm>
          <a:prstGeom prst="rect">
            <a:avLst/>
          </a:prstGeom>
          <a:solidFill>
            <a:srgbClr val="C8102E"/>
          </a:solidFill>
          <a:ln w="12700">
            <a:solidFill>
              <a:srgbClr val="C8102E"/>
            </a:solidFill>
            <a:prstDash val="solid"/>
          </a:ln>
        </p:spPr>
      </p:sp>
      <p:sp>
        <p:nvSpPr>
          <p:cNvPr id="14" name="Text 10"/>
          <p:cNvSpPr/>
          <p:nvPr/>
        </p:nvSpPr>
        <p:spPr>
          <a:xfrm>
            <a:off x="749808" y="1865376"/>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1</a:t>
            </a:r>
            <a:endParaRPr lang="en-US" sz="3000" dirty="0"/>
          </a:p>
        </p:txBody>
      </p:sp>
      <p:sp>
        <p:nvSpPr>
          <p:cNvPr id="15" name="Text 11"/>
          <p:cNvSpPr/>
          <p:nvPr/>
        </p:nvSpPr>
        <p:spPr>
          <a:xfrm>
            <a:off x="749808" y="2487168"/>
            <a:ext cx="2646578"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Seberapa baik strategi yang sekarang bekerja?</a:t>
            </a:r>
            <a:endParaRPr lang="en-US" sz="1100" dirty="0"/>
          </a:p>
        </p:txBody>
      </p:sp>
      <p:sp>
        <p:nvSpPr>
          <p:cNvPr id="16" name="Text 12"/>
          <p:cNvSpPr/>
          <p:nvPr/>
        </p:nvSpPr>
        <p:spPr>
          <a:xfrm>
            <a:off x="749808" y="3246120"/>
            <a:ext cx="2646578"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Performance indicators + Table 4.1</a:t>
            </a:r>
            <a:endParaRPr lang="en-US" sz="850" dirty="0"/>
          </a:p>
        </p:txBody>
      </p:sp>
      <p:sp>
        <p:nvSpPr>
          <p:cNvPr id="17" name="Shape 13"/>
          <p:cNvSpPr/>
          <p:nvPr/>
        </p:nvSpPr>
        <p:spPr>
          <a:xfrm>
            <a:off x="3789578" y="1755648"/>
            <a:ext cx="3012338" cy="1874520"/>
          </a:xfrm>
          <a:prstGeom prst="rect">
            <a:avLst/>
          </a:prstGeom>
          <a:solidFill>
            <a:srgbClr val="27161A"/>
          </a:solidFill>
          <a:ln w="12700">
            <a:solidFill>
              <a:srgbClr val="27161A"/>
            </a:solidFill>
            <a:prstDash val="solid"/>
          </a:ln>
        </p:spPr>
      </p:sp>
      <p:sp>
        <p:nvSpPr>
          <p:cNvPr id="18" name="Shape 14"/>
          <p:cNvSpPr/>
          <p:nvPr/>
        </p:nvSpPr>
        <p:spPr>
          <a:xfrm>
            <a:off x="3789578" y="1755648"/>
            <a:ext cx="3012338" cy="54864"/>
          </a:xfrm>
          <a:prstGeom prst="rect">
            <a:avLst/>
          </a:prstGeom>
          <a:solidFill>
            <a:srgbClr val="C8102E"/>
          </a:solidFill>
          <a:ln w="12700">
            <a:solidFill>
              <a:srgbClr val="C8102E"/>
            </a:solidFill>
            <a:prstDash val="solid"/>
          </a:ln>
        </p:spPr>
      </p:sp>
      <p:sp>
        <p:nvSpPr>
          <p:cNvPr id="19" name="Text 15"/>
          <p:cNvSpPr/>
          <p:nvPr/>
        </p:nvSpPr>
        <p:spPr>
          <a:xfrm>
            <a:off x="3990746" y="1865376"/>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2</a:t>
            </a:r>
            <a:endParaRPr lang="en-US" sz="3000" dirty="0"/>
          </a:p>
        </p:txBody>
      </p:sp>
      <p:sp>
        <p:nvSpPr>
          <p:cNvPr id="20" name="Text 16"/>
          <p:cNvSpPr/>
          <p:nvPr/>
        </p:nvSpPr>
        <p:spPr>
          <a:xfrm>
            <a:off x="3990746" y="2487168"/>
            <a:ext cx="2646578"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Apa kekuatan dan kelemahan kita, dihadapkan pada peluang dan ancaman?</a:t>
            </a:r>
            <a:endParaRPr lang="en-US" sz="1100" dirty="0"/>
          </a:p>
        </p:txBody>
      </p:sp>
      <p:sp>
        <p:nvSpPr>
          <p:cNvPr id="21" name="Text 17"/>
          <p:cNvSpPr/>
          <p:nvPr/>
        </p:nvSpPr>
        <p:spPr>
          <a:xfrm>
            <a:off x="3990746" y="3246120"/>
            <a:ext cx="2646578"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SWOT Analysis</a:t>
            </a:r>
            <a:endParaRPr lang="en-US" sz="850" dirty="0"/>
          </a:p>
        </p:txBody>
      </p:sp>
      <p:sp>
        <p:nvSpPr>
          <p:cNvPr id="22" name="Shape 18"/>
          <p:cNvSpPr/>
          <p:nvPr/>
        </p:nvSpPr>
        <p:spPr>
          <a:xfrm>
            <a:off x="7030517" y="1755648"/>
            <a:ext cx="3012338" cy="1874520"/>
          </a:xfrm>
          <a:prstGeom prst="rect">
            <a:avLst/>
          </a:prstGeom>
          <a:solidFill>
            <a:srgbClr val="27161A"/>
          </a:solidFill>
          <a:ln w="12700">
            <a:solidFill>
              <a:srgbClr val="27161A"/>
            </a:solidFill>
            <a:prstDash val="solid"/>
          </a:ln>
        </p:spPr>
      </p:sp>
      <p:sp>
        <p:nvSpPr>
          <p:cNvPr id="23" name="Shape 19"/>
          <p:cNvSpPr/>
          <p:nvPr/>
        </p:nvSpPr>
        <p:spPr>
          <a:xfrm>
            <a:off x="7030517" y="1755648"/>
            <a:ext cx="3012338" cy="54864"/>
          </a:xfrm>
          <a:prstGeom prst="rect">
            <a:avLst/>
          </a:prstGeom>
          <a:solidFill>
            <a:srgbClr val="C8102E"/>
          </a:solidFill>
          <a:ln w="12700">
            <a:solidFill>
              <a:srgbClr val="C8102E"/>
            </a:solidFill>
            <a:prstDash val="solid"/>
          </a:ln>
        </p:spPr>
      </p:sp>
      <p:sp>
        <p:nvSpPr>
          <p:cNvPr id="24" name="Text 20"/>
          <p:cNvSpPr/>
          <p:nvPr/>
        </p:nvSpPr>
        <p:spPr>
          <a:xfrm>
            <a:off x="7231685" y="1865376"/>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3</a:t>
            </a:r>
            <a:endParaRPr lang="en-US" sz="3000" dirty="0"/>
          </a:p>
        </p:txBody>
      </p:sp>
      <p:sp>
        <p:nvSpPr>
          <p:cNvPr id="25" name="Text 21"/>
          <p:cNvSpPr/>
          <p:nvPr/>
        </p:nvSpPr>
        <p:spPr>
          <a:xfrm>
            <a:off x="7231685" y="2487168"/>
            <a:ext cx="2646578"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100" dirty="0"/>
          </a:p>
        </p:txBody>
      </p:sp>
      <p:sp>
        <p:nvSpPr>
          <p:cNvPr id="26" name="Text 22"/>
          <p:cNvSpPr/>
          <p:nvPr/>
        </p:nvSpPr>
        <p:spPr>
          <a:xfrm>
            <a:off x="7231685" y="3246120"/>
            <a:ext cx="2646578"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Table 4.3 + VRIN Test</a:t>
            </a:r>
            <a:endParaRPr lang="en-US" sz="850" dirty="0"/>
          </a:p>
        </p:txBody>
      </p:sp>
      <p:sp>
        <p:nvSpPr>
          <p:cNvPr id="27" name="Shape 23"/>
          <p:cNvSpPr/>
          <p:nvPr/>
        </p:nvSpPr>
        <p:spPr>
          <a:xfrm>
            <a:off x="548640" y="3831336"/>
            <a:ext cx="3012338" cy="1874520"/>
          </a:xfrm>
          <a:prstGeom prst="rect">
            <a:avLst/>
          </a:prstGeom>
          <a:solidFill>
            <a:srgbClr val="27161A"/>
          </a:solidFill>
          <a:ln w="12700">
            <a:solidFill>
              <a:srgbClr val="27161A"/>
            </a:solidFill>
            <a:prstDash val="solid"/>
          </a:ln>
        </p:spPr>
      </p:sp>
      <p:sp>
        <p:nvSpPr>
          <p:cNvPr id="28" name="Shape 24"/>
          <p:cNvSpPr/>
          <p:nvPr/>
        </p:nvSpPr>
        <p:spPr>
          <a:xfrm>
            <a:off x="548640" y="3831336"/>
            <a:ext cx="3012338" cy="54864"/>
          </a:xfrm>
          <a:prstGeom prst="rect">
            <a:avLst/>
          </a:prstGeom>
          <a:solidFill>
            <a:srgbClr val="C8102E"/>
          </a:solidFill>
          <a:ln w="12700">
            <a:solidFill>
              <a:srgbClr val="C8102E"/>
            </a:solidFill>
            <a:prstDash val="solid"/>
          </a:ln>
        </p:spPr>
      </p:sp>
      <p:sp>
        <p:nvSpPr>
          <p:cNvPr id="29" name="Text 25"/>
          <p:cNvSpPr/>
          <p:nvPr/>
        </p:nvSpPr>
        <p:spPr>
          <a:xfrm>
            <a:off x="749808" y="3941064"/>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4</a:t>
            </a:r>
            <a:endParaRPr lang="en-US" sz="3000" dirty="0"/>
          </a:p>
        </p:txBody>
      </p:sp>
      <p:sp>
        <p:nvSpPr>
          <p:cNvPr id="30" name="Text 26"/>
          <p:cNvSpPr/>
          <p:nvPr/>
        </p:nvSpPr>
        <p:spPr>
          <a:xfrm>
            <a:off x="749808" y="4562856"/>
            <a:ext cx="2646578"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Bagaimana aktivitas value chain memengaruhi biaya dan nilai pelanggan?</a:t>
            </a:r>
            <a:endParaRPr lang="en-US" sz="1100" dirty="0"/>
          </a:p>
        </p:txBody>
      </p:sp>
      <p:sp>
        <p:nvSpPr>
          <p:cNvPr id="31" name="Text 27"/>
          <p:cNvSpPr/>
          <p:nvPr/>
        </p:nvSpPr>
        <p:spPr>
          <a:xfrm>
            <a:off x="749808" y="5321808"/>
            <a:ext cx="2646578"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Value Chain + Benchmarking</a:t>
            </a:r>
            <a:endParaRPr lang="en-US" sz="850" dirty="0"/>
          </a:p>
        </p:txBody>
      </p:sp>
      <p:sp>
        <p:nvSpPr>
          <p:cNvPr id="32" name="Shape 28"/>
          <p:cNvSpPr/>
          <p:nvPr/>
        </p:nvSpPr>
        <p:spPr>
          <a:xfrm>
            <a:off x="3789578" y="3831336"/>
            <a:ext cx="3012338" cy="1874520"/>
          </a:xfrm>
          <a:prstGeom prst="rect">
            <a:avLst/>
          </a:prstGeom>
          <a:solidFill>
            <a:srgbClr val="27161A"/>
          </a:solidFill>
          <a:ln w="12700">
            <a:solidFill>
              <a:srgbClr val="27161A"/>
            </a:solidFill>
            <a:prstDash val="solid"/>
          </a:ln>
        </p:spPr>
      </p:sp>
      <p:sp>
        <p:nvSpPr>
          <p:cNvPr id="33" name="Shape 29"/>
          <p:cNvSpPr/>
          <p:nvPr/>
        </p:nvSpPr>
        <p:spPr>
          <a:xfrm>
            <a:off x="3789578" y="3831336"/>
            <a:ext cx="3012338" cy="54864"/>
          </a:xfrm>
          <a:prstGeom prst="rect">
            <a:avLst/>
          </a:prstGeom>
          <a:solidFill>
            <a:srgbClr val="C8102E"/>
          </a:solidFill>
          <a:ln w="12700">
            <a:solidFill>
              <a:srgbClr val="C8102E"/>
            </a:solidFill>
            <a:prstDash val="solid"/>
          </a:ln>
        </p:spPr>
      </p:sp>
      <p:sp>
        <p:nvSpPr>
          <p:cNvPr id="34" name="Text 30"/>
          <p:cNvSpPr/>
          <p:nvPr/>
        </p:nvSpPr>
        <p:spPr>
          <a:xfrm>
            <a:off x="3990746" y="3941064"/>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5</a:t>
            </a:r>
            <a:endParaRPr lang="en-US" sz="3000" dirty="0"/>
          </a:p>
        </p:txBody>
      </p:sp>
      <p:sp>
        <p:nvSpPr>
          <p:cNvPr id="35" name="Text 31"/>
          <p:cNvSpPr/>
          <p:nvPr/>
        </p:nvSpPr>
        <p:spPr>
          <a:xfrm>
            <a:off x="3990746" y="4562856"/>
            <a:ext cx="2646578"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Kita lebih kuat atau lebih lemah dari pesaing utama?</a:t>
            </a:r>
            <a:endParaRPr lang="en-US" sz="1100" dirty="0"/>
          </a:p>
        </p:txBody>
      </p:sp>
      <p:sp>
        <p:nvSpPr>
          <p:cNvPr id="36" name="Text 32"/>
          <p:cNvSpPr/>
          <p:nvPr/>
        </p:nvSpPr>
        <p:spPr>
          <a:xfrm>
            <a:off x="3990746" y="5321808"/>
            <a:ext cx="2646578"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Competitive Strength Assessment (Table 4.4)</a:t>
            </a:r>
            <a:endParaRPr lang="en-US" sz="850" dirty="0"/>
          </a:p>
        </p:txBody>
      </p:sp>
      <p:sp>
        <p:nvSpPr>
          <p:cNvPr id="37" name="Shape 33"/>
          <p:cNvSpPr/>
          <p:nvPr/>
        </p:nvSpPr>
        <p:spPr>
          <a:xfrm>
            <a:off x="7030517" y="3831336"/>
            <a:ext cx="3012338" cy="1874520"/>
          </a:xfrm>
          <a:prstGeom prst="rect">
            <a:avLst/>
          </a:prstGeom>
          <a:solidFill>
            <a:srgbClr val="27161A"/>
          </a:solidFill>
          <a:ln w="12700">
            <a:solidFill>
              <a:srgbClr val="27161A"/>
            </a:solidFill>
            <a:prstDash val="solid"/>
          </a:ln>
        </p:spPr>
      </p:sp>
      <p:sp>
        <p:nvSpPr>
          <p:cNvPr id="38" name="Shape 34"/>
          <p:cNvSpPr/>
          <p:nvPr/>
        </p:nvSpPr>
        <p:spPr>
          <a:xfrm>
            <a:off x="7030517" y="3831336"/>
            <a:ext cx="3012338" cy="54864"/>
          </a:xfrm>
          <a:prstGeom prst="rect">
            <a:avLst/>
          </a:prstGeom>
          <a:solidFill>
            <a:srgbClr val="FBE122"/>
          </a:solidFill>
          <a:ln w="12700">
            <a:solidFill>
              <a:srgbClr val="FBE122"/>
            </a:solidFill>
            <a:prstDash val="solid"/>
          </a:ln>
        </p:spPr>
      </p:sp>
      <p:sp>
        <p:nvSpPr>
          <p:cNvPr id="39" name="Text 35"/>
          <p:cNvSpPr/>
          <p:nvPr/>
        </p:nvSpPr>
        <p:spPr>
          <a:xfrm>
            <a:off x="7231685" y="3941064"/>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6</a:t>
            </a:r>
            <a:endParaRPr lang="en-US" sz="3000" dirty="0"/>
          </a:p>
        </p:txBody>
      </p:sp>
      <p:sp>
        <p:nvSpPr>
          <p:cNvPr id="40" name="Text 36"/>
          <p:cNvSpPr/>
          <p:nvPr/>
        </p:nvSpPr>
        <p:spPr>
          <a:xfrm>
            <a:off x="7231685" y="4562856"/>
            <a:ext cx="2646578"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Isu strategis apa yang harus ditangani lebih dulu?</a:t>
            </a:r>
            <a:endParaRPr lang="en-US" sz="1100" dirty="0"/>
          </a:p>
        </p:txBody>
      </p:sp>
      <p:sp>
        <p:nvSpPr>
          <p:cNvPr id="41" name="Text 37"/>
          <p:cNvSpPr/>
          <p:nvPr/>
        </p:nvSpPr>
        <p:spPr>
          <a:xfrm>
            <a:off x="7231685" y="5321808"/>
            <a:ext cx="2646578"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Priority List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KENALI DULU STRATEGI YANG SEDANG DIJALANKAN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Sebelum menilai kinerja, pahami dulu komponen strategi perusahaan seperti dipetakan pada Figure 4.1.</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(2024), Figure 4.1, hlm. 90.</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04</a:t>
            </a:r>
            <a:endParaRPr lang="en-US" sz="900" dirty="0"/>
          </a:p>
        </p:txBody>
      </p:sp>
      <p:sp>
        <p:nvSpPr>
          <p:cNvPr id="10" name="Shape 7"/>
          <p:cNvSpPr/>
          <p:nvPr/>
        </p:nvSpPr>
        <p:spPr>
          <a:xfrm>
            <a:off x="548640" y="1755648"/>
            <a:ext cx="6263640" cy="4681472"/>
          </a:xfrm>
          <a:prstGeom prst="rect">
            <a:avLst/>
          </a:prstGeom>
          <a:solidFill>
            <a:srgbClr val="FFFFFF"/>
          </a:solidFill>
          <a:ln w="12700">
            <a:solidFill>
              <a:srgbClr val="FFFFFF"/>
            </a:solidFill>
            <a:prstDash val="solid"/>
          </a:ln>
        </p:spPr>
      </p:sp>
      <p:pic>
        <p:nvPicPr>
          <p:cNvPr id="11" name="Image 0" descr="fig4_1.png">    </p:cNvPr>
          <p:cNvPicPr>
            <a:picLocks noChangeAspect="1"/>
          </p:cNvPicPr>
          <p:nvPr/>
        </p:nvPicPr>
        <p:blipFill>
          <a:blip r:embed="rId1"/>
          <a:stretch>
            <a:fillRect/>
          </a:stretch>
        </p:blipFill>
        <p:spPr>
          <a:xfrm>
            <a:off x="685800" y="1892808"/>
            <a:ext cx="5989320" cy="4407152"/>
          </a:xfrm>
          <a:prstGeom prst="rect">
            <a:avLst/>
          </a:prstGeom>
        </p:spPr>
      </p:pic>
      <p:sp>
        <p:nvSpPr>
          <p:cNvPr id="12" name="Shape 8"/>
          <p:cNvSpPr/>
          <p:nvPr/>
        </p:nvSpPr>
        <p:spPr>
          <a:xfrm>
            <a:off x="7086600" y="1755648"/>
            <a:ext cx="4526280" cy="1325880"/>
          </a:xfrm>
          <a:prstGeom prst="rect">
            <a:avLst/>
          </a:prstGeom>
          <a:solidFill>
            <a:srgbClr val="120A0B"/>
          </a:solidFill>
          <a:ln w="12700">
            <a:solidFill>
              <a:srgbClr val="120A0B"/>
            </a:solidFill>
            <a:prstDash val="solid"/>
          </a:ln>
        </p:spPr>
      </p:sp>
      <p:sp>
        <p:nvSpPr>
          <p:cNvPr id="13" name="Shape 9"/>
          <p:cNvSpPr/>
          <p:nvPr/>
        </p:nvSpPr>
        <p:spPr>
          <a:xfrm>
            <a:off x="7086600" y="1755648"/>
            <a:ext cx="54864" cy="1325880"/>
          </a:xfrm>
          <a:prstGeom prst="rect">
            <a:avLst/>
          </a:prstGeom>
          <a:solidFill>
            <a:srgbClr val="C8102E"/>
          </a:solidFill>
          <a:ln w="12700">
            <a:solidFill>
              <a:srgbClr val="C8102E"/>
            </a:solidFill>
            <a:prstDash val="solid"/>
          </a:ln>
        </p:spPr>
      </p:sp>
      <p:sp>
        <p:nvSpPr>
          <p:cNvPr id="14" name="Text 10"/>
          <p:cNvSpPr/>
          <p:nvPr/>
        </p:nvSpPr>
        <p:spPr>
          <a:xfrm>
            <a:off x="7306056" y="1901952"/>
            <a:ext cx="4160520" cy="228600"/>
          </a:xfrm>
          <a:prstGeom prst="rect">
            <a:avLst/>
          </a:prstGeom>
          <a:noFill/>
          <a:ln/>
        </p:spPr>
        <p:txBody>
          <a:bodyPr wrap="square" lIns="0" tIns="0" rIns="0" bIns="0" rtlCol="0" anchor="t"/>
          <a:lstStyle/>
          <a:p>
            <a:pPr indent="0" marL="0">
              <a:buNone/>
            </a:pPr>
            <a:r>
              <a:rPr lang="en-US" sz="800" spc="150" kern="0" dirty="0">
                <a:solidFill>
                  <a:srgbClr val="C8102E"/>
                </a:solidFill>
                <a:latin typeface="Poppins SemiBold" pitchFamily="34" charset="0"/>
                <a:ea typeface="Poppins SemiBold" pitchFamily="34" charset="-122"/>
                <a:cs typeface="Poppins SemiBold" pitchFamily="34" charset="-120"/>
              </a:rPr>
              <a:t>CONTOH: AIRASIA</a:t>
            </a:r>
            <a:endParaRPr lang="en-US" sz="800" dirty="0"/>
          </a:p>
        </p:txBody>
      </p:sp>
      <p:sp>
        <p:nvSpPr>
          <p:cNvPr id="15" name="Text 11"/>
          <p:cNvSpPr/>
          <p:nvPr/>
        </p:nvSpPr>
        <p:spPr>
          <a:xfrm>
            <a:off x="7306056" y="2148840"/>
            <a:ext cx="4160520" cy="8229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pitchFamily="34" charset="0"/>
                <a:ea typeface="Poppins" pitchFamily="34" charset="-122"/>
                <a:cs typeface="Poppins" pitchFamily="34" charset="-120"/>
              </a:rPr>
              <a:t>Strategi biaya rendah terlihat konsisten di setiap fungsi: satu tipe pesawat (keluarga A320) di operasi dan penjualan tiket langsung secara online di pemasaran.</a:t>
            </a:r>
            <a:endParaRPr lang="en-US" sz="1000" dirty="0"/>
          </a:p>
        </p:txBody>
      </p:sp>
      <p:sp>
        <p:nvSpPr>
          <p:cNvPr id="16" name="Shape 12"/>
          <p:cNvSpPr/>
          <p:nvPr/>
        </p:nvSpPr>
        <p:spPr>
          <a:xfrm>
            <a:off x="7086600" y="3264408"/>
            <a:ext cx="4526280" cy="1508760"/>
          </a:xfrm>
          <a:prstGeom prst="rect">
            <a:avLst/>
          </a:prstGeom>
          <a:solidFill>
            <a:srgbClr val="27161A"/>
          </a:solidFill>
          <a:ln w="12700">
            <a:solidFill>
              <a:srgbClr val="27161A"/>
            </a:solidFill>
            <a:prstDash val="solid"/>
          </a:ln>
        </p:spPr>
      </p:sp>
      <p:sp>
        <p:nvSpPr>
          <p:cNvPr id="17" name="Shape 13"/>
          <p:cNvSpPr/>
          <p:nvPr/>
        </p:nvSpPr>
        <p:spPr>
          <a:xfrm>
            <a:off x="7086600" y="3264408"/>
            <a:ext cx="54864" cy="1508760"/>
          </a:xfrm>
          <a:prstGeom prst="rect">
            <a:avLst/>
          </a:prstGeom>
          <a:solidFill>
            <a:srgbClr val="C8102E"/>
          </a:solidFill>
          <a:ln w="12700">
            <a:solidFill>
              <a:srgbClr val="C8102E"/>
            </a:solidFill>
            <a:prstDash val="solid"/>
          </a:ln>
        </p:spPr>
      </p:sp>
      <p:sp>
        <p:nvSpPr>
          <p:cNvPr id="18" name="Text 14"/>
          <p:cNvSpPr/>
          <p:nvPr/>
        </p:nvSpPr>
        <p:spPr>
          <a:xfrm>
            <a:off x="7306056" y="3410712"/>
            <a:ext cx="416052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Setelah strategi dikenali</a:t>
            </a:r>
            <a:endParaRPr lang="en-US" sz="1200" dirty="0"/>
          </a:p>
        </p:txBody>
      </p:sp>
      <p:sp>
        <p:nvSpPr>
          <p:cNvPr id="19" name="Text 15"/>
          <p:cNvSpPr/>
          <p:nvPr/>
        </p:nvSpPr>
        <p:spPr>
          <a:xfrm>
            <a:off x="7306056" y="3739896"/>
            <a:ext cx="4160520" cy="9235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Kinerjanya diukur lewat tren penjualan dan laba, harga saham, kekuatan keuangan, retensi pelanggan, pelanggan baru, dan perbaikan proses internal.</a:t>
            </a:r>
            <a:endParaRPr lang="en-US" sz="1000" dirty="0"/>
          </a:p>
        </p:txBody>
      </p:sp>
      <p:sp>
        <p:nvSpPr>
          <p:cNvPr id="20" name="Shape 16"/>
          <p:cNvSpPr/>
          <p:nvPr/>
        </p:nvSpPr>
        <p:spPr>
          <a:xfrm>
            <a:off x="7086600" y="4956048"/>
            <a:ext cx="4526280" cy="1188720"/>
          </a:xfrm>
          <a:prstGeom prst="rect">
            <a:avLst/>
          </a:prstGeom>
          <a:solidFill>
            <a:srgbClr val="C8102E"/>
          </a:solidFill>
          <a:ln w="12700">
            <a:solidFill>
              <a:srgbClr val="C8102E"/>
            </a:solidFill>
            <a:prstDash val="solid"/>
          </a:ln>
        </p:spPr>
      </p:sp>
      <p:sp>
        <p:nvSpPr>
          <p:cNvPr id="21" name="Text 17"/>
          <p:cNvSpPr/>
          <p:nvPr/>
        </p:nvSpPr>
        <p:spPr>
          <a:xfrm>
            <a:off x="7315200" y="5084064"/>
            <a:ext cx="406908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PAKAI</a:t>
            </a:r>
            <a:endParaRPr lang="en-US" sz="800" dirty="0"/>
          </a:p>
        </p:txBody>
      </p:sp>
      <p:sp>
        <p:nvSpPr>
          <p:cNvPr id="22" name="Text 18"/>
          <p:cNvSpPr/>
          <p:nvPr/>
        </p:nvSpPr>
        <p:spPr>
          <a:xfrm>
            <a:off x="7315200" y="5321808"/>
            <a:ext cx="4069080" cy="7315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Isi setiap kotak dengan tindakan nyata perusahaan, lalu periksa apakah semuanya saling mendukung.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TABLE 4.1</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FINANCIAL RATIOS: ALAT UKURNYA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Penilaian tadi perlu bukti angka. Buku mengelompokkan rasio ke dalam empat kategori, plus satu kelompok ukuran tambahan.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05</a:t>
            </a:r>
            <a:endParaRPr lang="en-US" sz="900" dirty="0"/>
          </a:p>
        </p:txBody>
      </p:sp>
      <p:sp>
        <p:nvSpPr>
          <p:cNvPr id="10" name="Shape 7"/>
          <p:cNvSpPr/>
          <p:nvPr/>
        </p:nvSpPr>
        <p:spPr>
          <a:xfrm>
            <a:off x="548640" y="1755648"/>
            <a:ext cx="2602154" cy="3017520"/>
          </a:xfrm>
          <a:prstGeom prst="rect">
            <a:avLst/>
          </a:prstGeom>
          <a:solidFill>
            <a:srgbClr val="27161A"/>
          </a:solidFill>
          <a:ln w="12700">
            <a:solidFill>
              <a:srgbClr val="27161A"/>
            </a:solidFill>
            <a:prstDash val="solid"/>
          </a:ln>
        </p:spPr>
      </p:sp>
      <p:sp>
        <p:nvSpPr>
          <p:cNvPr id="11" name="Shape 8"/>
          <p:cNvSpPr/>
          <p:nvPr/>
        </p:nvSpPr>
        <p:spPr>
          <a:xfrm>
            <a:off x="548640" y="1755648"/>
            <a:ext cx="2602154" cy="54864"/>
          </a:xfrm>
          <a:prstGeom prst="rect">
            <a:avLst/>
          </a:prstGeom>
          <a:solidFill>
            <a:srgbClr val="C8102E"/>
          </a:solidFill>
          <a:ln w="12700">
            <a:solidFill>
              <a:srgbClr val="C8102E"/>
            </a:solidFill>
            <a:prstDash val="solid"/>
          </a:ln>
        </p:spPr>
      </p:sp>
      <p:sp>
        <p:nvSpPr>
          <p:cNvPr id="12" name="Text 9"/>
          <p:cNvSpPr/>
          <p:nvPr/>
        </p:nvSpPr>
        <p:spPr>
          <a:xfrm>
            <a:off x="749808"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Profitability</a:t>
            </a:r>
            <a:endParaRPr lang="en-US" sz="1500" dirty="0"/>
          </a:p>
        </p:txBody>
      </p:sp>
      <p:sp>
        <p:nvSpPr>
          <p:cNvPr id="13" name="Text 10"/>
          <p:cNvSpPr/>
          <p:nvPr/>
        </p:nvSpPr>
        <p:spPr>
          <a:xfrm>
            <a:off x="749808"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besar laba yang dihasilkan</a:t>
            </a:r>
            <a:endParaRPr lang="en-US" sz="900" dirty="0"/>
          </a:p>
        </p:txBody>
      </p:sp>
      <p:sp>
        <p:nvSpPr>
          <p:cNvPr id="14" name="Shape 11"/>
          <p:cNvSpPr/>
          <p:nvPr/>
        </p:nvSpPr>
        <p:spPr>
          <a:xfrm>
            <a:off x="749808" y="2743200"/>
            <a:ext cx="2199818" cy="9144"/>
          </a:xfrm>
          <a:prstGeom prst="rect">
            <a:avLst/>
          </a:prstGeom>
          <a:solidFill>
            <a:srgbClr val="46292D"/>
          </a:solidFill>
          <a:ln w="12700">
            <a:solidFill>
              <a:srgbClr val="46292D"/>
            </a:solidFill>
            <a:prstDash val="solid"/>
          </a:ln>
        </p:spPr>
      </p:sp>
      <p:sp>
        <p:nvSpPr>
          <p:cNvPr id="15" name="Text 12"/>
          <p:cNvSpPr/>
          <p:nvPr/>
        </p:nvSpPr>
        <p:spPr>
          <a:xfrm>
            <a:off x="749808"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Gross profit margin</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Operating profit margin</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Net profit margin</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Total return on assets</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Net return on assets (ROA)</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Return on equity (ROE)</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Return on invested capital</a:t>
            </a:r>
            <a:endParaRPr lang="en-US" sz="1000" dirty="0"/>
          </a:p>
        </p:txBody>
      </p:sp>
      <p:sp>
        <p:nvSpPr>
          <p:cNvPr id="16" name="Shape 13"/>
          <p:cNvSpPr/>
          <p:nvPr/>
        </p:nvSpPr>
        <p:spPr>
          <a:xfrm>
            <a:off x="3379394" y="1755648"/>
            <a:ext cx="2602154" cy="3017520"/>
          </a:xfrm>
          <a:prstGeom prst="rect">
            <a:avLst/>
          </a:prstGeom>
          <a:solidFill>
            <a:srgbClr val="27161A"/>
          </a:solidFill>
          <a:ln w="12700">
            <a:solidFill>
              <a:srgbClr val="27161A"/>
            </a:solidFill>
            <a:prstDash val="solid"/>
          </a:ln>
        </p:spPr>
      </p:sp>
      <p:sp>
        <p:nvSpPr>
          <p:cNvPr id="17" name="Shape 14"/>
          <p:cNvSpPr/>
          <p:nvPr/>
        </p:nvSpPr>
        <p:spPr>
          <a:xfrm>
            <a:off x="3379394" y="1755648"/>
            <a:ext cx="2602154" cy="54864"/>
          </a:xfrm>
          <a:prstGeom prst="rect">
            <a:avLst/>
          </a:prstGeom>
          <a:solidFill>
            <a:srgbClr val="C8102E"/>
          </a:solidFill>
          <a:ln w="12700">
            <a:solidFill>
              <a:srgbClr val="C8102E"/>
            </a:solidFill>
            <a:prstDash val="solid"/>
          </a:ln>
        </p:spPr>
      </p:sp>
      <p:sp>
        <p:nvSpPr>
          <p:cNvPr id="18" name="Text 15"/>
          <p:cNvSpPr/>
          <p:nvPr/>
        </p:nvSpPr>
        <p:spPr>
          <a:xfrm>
            <a:off x="3580562"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Liquidity</a:t>
            </a:r>
            <a:endParaRPr lang="en-US" sz="1500" dirty="0"/>
          </a:p>
        </p:txBody>
      </p:sp>
      <p:sp>
        <p:nvSpPr>
          <p:cNvPr id="19" name="Text 16"/>
          <p:cNvSpPr/>
          <p:nvPr/>
        </p:nvSpPr>
        <p:spPr>
          <a:xfrm>
            <a:off x="3580562"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Sanggup bayar kewajiban jangka pendek?</a:t>
            </a:r>
            <a:endParaRPr lang="en-US" sz="900" dirty="0"/>
          </a:p>
        </p:txBody>
      </p:sp>
      <p:sp>
        <p:nvSpPr>
          <p:cNvPr id="20" name="Shape 17"/>
          <p:cNvSpPr/>
          <p:nvPr/>
        </p:nvSpPr>
        <p:spPr>
          <a:xfrm>
            <a:off x="3580562" y="2743200"/>
            <a:ext cx="2199818" cy="9144"/>
          </a:xfrm>
          <a:prstGeom prst="rect">
            <a:avLst/>
          </a:prstGeom>
          <a:solidFill>
            <a:srgbClr val="46292D"/>
          </a:solidFill>
          <a:ln w="12700">
            <a:solidFill>
              <a:srgbClr val="46292D"/>
            </a:solidFill>
            <a:prstDash val="solid"/>
          </a:ln>
        </p:spPr>
      </p:sp>
      <p:sp>
        <p:nvSpPr>
          <p:cNvPr id="21" name="Text 18"/>
          <p:cNvSpPr/>
          <p:nvPr/>
        </p:nvSpPr>
        <p:spPr>
          <a:xfrm>
            <a:off x="3580562"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Current ratio</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Working capital</a:t>
            </a:r>
            <a:endParaRPr lang="en-US" sz="1000" dirty="0"/>
          </a:p>
        </p:txBody>
      </p:sp>
      <p:sp>
        <p:nvSpPr>
          <p:cNvPr id="22" name="Shape 19"/>
          <p:cNvSpPr/>
          <p:nvPr/>
        </p:nvSpPr>
        <p:spPr>
          <a:xfrm>
            <a:off x="6210148" y="1755648"/>
            <a:ext cx="2602154" cy="3017520"/>
          </a:xfrm>
          <a:prstGeom prst="rect">
            <a:avLst/>
          </a:prstGeom>
          <a:solidFill>
            <a:srgbClr val="27161A"/>
          </a:solidFill>
          <a:ln w="12700">
            <a:solidFill>
              <a:srgbClr val="27161A"/>
            </a:solidFill>
            <a:prstDash val="solid"/>
          </a:ln>
        </p:spPr>
      </p:sp>
      <p:sp>
        <p:nvSpPr>
          <p:cNvPr id="23" name="Shape 20"/>
          <p:cNvSpPr/>
          <p:nvPr/>
        </p:nvSpPr>
        <p:spPr>
          <a:xfrm>
            <a:off x="6210148" y="1755648"/>
            <a:ext cx="2602154" cy="54864"/>
          </a:xfrm>
          <a:prstGeom prst="rect">
            <a:avLst/>
          </a:prstGeom>
          <a:solidFill>
            <a:srgbClr val="C8102E"/>
          </a:solidFill>
          <a:ln w="12700">
            <a:solidFill>
              <a:srgbClr val="C8102E"/>
            </a:solidFill>
            <a:prstDash val="solid"/>
          </a:ln>
        </p:spPr>
      </p:sp>
      <p:sp>
        <p:nvSpPr>
          <p:cNvPr id="24" name="Text 21"/>
          <p:cNvSpPr/>
          <p:nvPr/>
        </p:nvSpPr>
        <p:spPr>
          <a:xfrm>
            <a:off x="6411316"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Leverage</a:t>
            </a:r>
            <a:endParaRPr lang="en-US" sz="1500" dirty="0"/>
          </a:p>
        </p:txBody>
      </p:sp>
      <p:sp>
        <p:nvSpPr>
          <p:cNvPr id="25" name="Text 22"/>
          <p:cNvSpPr/>
          <p:nvPr/>
        </p:nvSpPr>
        <p:spPr>
          <a:xfrm>
            <a:off x="6411316"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berat beban utangnya</a:t>
            </a:r>
            <a:endParaRPr lang="en-US" sz="900" dirty="0"/>
          </a:p>
        </p:txBody>
      </p:sp>
      <p:sp>
        <p:nvSpPr>
          <p:cNvPr id="26" name="Shape 23"/>
          <p:cNvSpPr/>
          <p:nvPr/>
        </p:nvSpPr>
        <p:spPr>
          <a:xfrm>
            <a:off x="6411316" y="2743200"/>
            <a:ext cx="2199818" cy="9144"/>
          </a:xfrm>
          <a:prstGeom prst="rect">
            <a:avLst/>
          </a:prstGeom>
          <a:solidFill>
            <a:srgbClr val="46292D"/>
          </a:solidFill>
          <a:ln w="12700">
            <a:solidFill>
              <a:srgbClr val="46292D"/>
            </a:solidFill>
            <a:prstDash val="solid"/>
          </a:ln>
        </p:spPr>
      </p:sp>
      <p:sp>
        <p:nvSpPr>
          <p:cNvPr id="27" name="Text 24"/>
          <p:cNvSpPr/>
          <p:nvPr/>
        </p:nvSpPr>
        <p:spPr>
          <a:xfrm>
            <a:off x="6411316"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Total debt-to-assets</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Long-term debt-to-capital</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Debt-to-equity</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Long-term debt-to-equity</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Times-interest-earned</a:t>
            </a:r>
            <a:endParaRPr lang="en-US" sz="1000" dirty="0"/>
          </a:p>
        </p:txBody>
      </p:sp>
      <p:sp>
        <p:nvSpPr>
          <p:cNvPr id="28" name="Shape 25"/>
          <p:cNvSpPr/>
          <p:nvPr/>
        </p:nvSpPr>
        <p:spPr>
          <a:xfrm>
            <a:off x="9040901" y="1755648"/>
            <a:ext cx="2602154" cy="3017520"/>
          </a:xfrm>
          <a:prstGeom prst="rect">
            <a:avLst/>
          </a:prstGeom>
          <a:solidFill>
            <a:srgbClr val="27161A"/>
          </a:solidFill>
          <a:ln w="12700">
            <a:solidFill>
              <a:srgbClr val="27161A"/>
            </a:solidFill>
            <a:prstDash val="solid"/>
          </a:ln>
        </p:spPr>
      </p:sp>
      <p:sp>
        <p:nvSpPr>
          <p:cNvPr id="29" name="Shape 26"/>
          <p:cNvSpPr/>
          <p:nvPr/>
        </p:nvSpPr>
        <p:spPr>
          <a:xfrm>
            <a:off x="9040901" y="1755648"/>
            <a:ext cx="2602154" cy="54864"/>
          </a:xfrm>
          <a:prstGeom prst="rect">
            <a:avLst/>
          </a:prstGeom>
          <a:solidFill>
            <a:srgbClr val="C8102E"/>
          </a:solidFill>
          <a:ln w="12700">
            <a:solidFill>
              <a:srgbClr val="C8102E"/>
            </a:solidFill>
            <a:prstDash val="solid"/>
          </a:ln>
        </p:spPr>
      </p:sp>
      <p:sp>
        <p:nvSpPr>
          <p:cNvPr id="30" name="Text 27"/>
          <p:cNvSpPr/>
          <p:nvPr/>
        </p:nvSpPr>
        <p:spPr>
          <a:xfrm>
            <a:off x="9242069"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Activity</a:t>
            </a:r>
            <a:endParaRPr lang="en-US" sz="1500" dirty="0"/>
          </a:p>
        </p:txBody>
      </p:sp>
      <p:sp>
        <p:nvSpPr>
          <p:cNvPr id="31" name="Text 28"/>
          <p:cNvSpPr/>
          <p:nvPr/>
        </p:nvSpPr>
        <p:spPr>
          <a:xfrm>
            <a:off x="9242069"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efisien aset dikelola</a:t>
            </a:r>
            <a:endParaRPr lang="en-US" sz="900" dirty="0"/>
          </a:p>
        </p:txBody>
      </p:sp>
      <p:sp>
        <p:nvSpPr>
          <p:cNvPr id="32" name="Shape 29"/>
          <p:cNvSpPr/>
          <p:nvPr/>
        </p:nvSpPr>
        <p:spPr>
          <a:xfrm>
            <a:off x="9242069" y="2743200"/>
            <a:ext cx="2199818" cy="9144"/>
          </a:xfrm>
          <a:prstGeom prst="rect">
            <a:avLst/>
          </a:prstGeom>
          <a:solidFill>
            <a:srgbClr val="46292D"/>
          </a:solidFill>
          <a:ln w="12700">
            <a:solidFill>
              <a:srgbClr val="46292D"/>
            </a:solidFill>
            <a:prstDash val="solid"/>
          </a:ln>
        </p:spPr>
      </p:sp>
      <p:sp>
        <p:nvSpPr>
          <p:cNvPr id="33" name="Text 30"/>
          <p:cNvSpPr/>
          <p:nvPr/>
        </p:nvSpPr>
        <p:spPr>
          <a:xfrm>
            <a:off x="9242069"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Days of inventory</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Inventory turnover</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Average collection period</a:t>
            </a:r>
            <a:endParaRPr lang="en-US" sz="1000" dirty="0"/>
          </a:p>
        </p:txBody>
      </p:sp>
      <p:sp>
        <p:nvSpPr>
          <p:cNvPr id="34" name="Shape 31"/>
          <p:cNvSpPr/>
          <p:nvPr/>
        </p:nvSpPr>
        <p:spPr>
          <a:xfrm>
            <a:off x="548640" y="4956048"/>
            <a:ext cx="11094415" cy="868680"/>
          </a:xfrm>
          <a:prstGeom prst="rect">
            <a:avLst/>
          </a:prstGeom>
          <a:solidFill>
            <a:srgbClr val="32191E"/>
          </a:solidFill>
          <a:ln w="12700">
            <a:solidFill>
              <a:srgbClr val="32191E"/>
            </a:solidFill>
            <a:prstDash val="solid"/>
          </a:ln>
        </p:spPr>
      </p:sp>
      <p:sp>
        <p:nvSpPr>
          <p:cNvPr id="35" name="Text 32"/>
          <p:cNvSpPr/>
          <p:nvPr/>
        </p:nvSpPr>
        <p:spPr>
          <a:xfrm>
            <a:off x="777240" y="50840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UKURAN TAMBAHAN</a:t>
            </a:r>
            <a:endParaRPr lang="en-US" sz="800" dirty="0"/>
          </a:p>
        </p:txBody>
      </p:sp>
      <p:sp>
        <p:nvSpPr>
          <p:cNvPr id="36" name="Text 33"/>
          <p:cNvSpPr/>
          <p:nvPr/>
        </p:nvSpPr>
        <p:spPr>
          <a:xfrm>
            <a:off x="777240" y="5321808"/>
            <a:ext cx="10637215"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karena menunjukkan sisa kas untuk membiayai langkah strategis baru.</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ANALYSIS: KENAPA STRATEGI BERHASIL ATAU GAGAL</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Q1 memberi tahu apakah strategi bekerja, tapi tidak kenapa. SWOT adalah alat paling sederhana untuk mencari sebabnya.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06</a:t>
            </a:r>
            <a:endParaRPr lang="en-US" sz="900" dirty="0"/>
          </a:p>
        </p:txBody>
      </p:sp>
      <p:sp>
        <p:nvSpPr>
          <p:cNvPr id="10" name="Shape 7"/>
          <p:cNvSpPr/>
          <p:nvPr/>
        </p:nvSpPr>
        <p:spPr>
          <a:xfrm>
            <a:off x="548640" y="1755648"/>
            <a:ext cx="2834640" cy="1481328"/>
          </a:xfrm>
          <a:prstGeom prst="rect">
            <a:avLst/>
          </a:prstGeom>
          <a:solidFill>
            <a:srgbClr val="C8102E"/>
          </a:solidFill>
          <a:ln w="12700">
            <a:solidFill>
              <a:srgbClr val="C8102E"/>
            </a:solidFill>
            <a:prstDash val="solid"/>
          </a:ln>
        </p:spPr>
      </p:sp>
      <p:sp>
        <p:nvSpPr>
          <p:cNvPr id="11" name="Text 8"/>
          <p:cNvSpPr/>
          <p:nvPr/>
        </p:nvSpPr>
        <p:spPr>
          <a:xfrm>
            <a:off x="749808" y="1847088"/>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S</a:t>
            </a:r>
            <a:endParaRPr lang="en-US" sz="4000" dirty="0"/>
          </a:p>
        </p:txBody>
      </p:sp>
      <p:sp>
        <p:nvSpPr>
          <p:cNvPr id="12" name="Text 9"/>
          <p:cNvSpPr/>
          <p:nvPr/>
        </p:nvSpPr>
        <p:spPr>
          <a:xfrm>
            <a:off x="1554480" y="1984248"/>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Strengths</a:t>
            </a:r>
            <a:endParaRPr lang="en-US" sz="1300" dirty="0"/>
          </a:p>
        </p:txBody>
      </p:sp>
      <p:sp>
        <p:nvSpPr>
          <p:cNvPr id="13" name="Text 10"/>
          <p:cNvSpPr/>
          <p:nvPr/>
        </p:nvSpPr>
        <p:spPr>
          <a:xfrm>
            <a:off x="1554480" y="2322576"/>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Yang perusahaan kuasai atau miliki, yang membuatnya lebih mampu bersaing</a:t>
            </a:r>
            <a:endParaRPr lang="en-US" sz="900" dirty="0"/>
          </a:p>
        </p:txBody>
      </p:sp>
      <p:sp>
        <p:nvSpPr>
          <p:cNvPr id="14" name="Shape 11"/>
          <p:cNvSpPr/>
          <p:nvPr/>
        </p:nvSpPr>
        <p:spPr>
          <a:xfrm>
            <a:off x="3566160" y="1755648"/>
            <a:ext cx="2834640" cy="1481328"/>
          </a:xfrm>
          <a:prstGeom prst="rect">
            <a:avLst/>
          </a:prstGeom>
          <a:solidFill>
            <a:srgbClr val="27161A"/>
          </a:solidFill>
          <a:ln w="12700">
            <a:solidFill>
              <a:srgbClr val="27161A"/>
            </a:solidFill>
            <a:prstDash val="solid"/>
          </a:ln>
        </p:spPr>
      </p:sp>
      <p:sp>
        <p:nvSpPr>
          <p:cNvPr id="15" name="Text 12"/>
          <p:cNvSpPr/>
          <p:nvPr/>
        </p:nvSpPr>
        <p:spPr>
          <a:xfrm>
            <a:off x="3767328" y="1847088"/>
            <a:ext cx="822960" cy="822960"/>
          </a:xfrm>
          <a:prstGeom prst="rect">
            <a:avLst/>
          </a:prstGeom>
          <a:noFill/>
          <a:ln/>
        </p:spPr>
        <p:txBody>
          <a:bodyPr wrap="square" lIns="0" tIns="0" rIns="0" bIns="0" rtlCol="0" anchor="t"/>
          <a:lstStyle/>
          <a:p>
            <a:pPr indent="0" marL="0">
              <a:buNone/>
            </a:pPr>
            <a:r>
              <a:rPr lang="en-US" sz="4000" dirty="0">
                <a:solidFill>
                  <a:srgbClr val="C8102E"/>
                </a:solidFill>
                <a:latin typeface="Poppins ExtraBold" pitchFamily="34" charset="0"/>
                <a:ea typeface="Poppins ExtraBold" pitchFamily="34" charset="-122"/>
                <a:cs typeface="Poppins ExtraBold" pitchFamily="34" charset="-120"/>
              </a:rPr>
              <a:t>W</a:t>
            </a:r>
            <a:endParaRPr lang="en-US" sz="4000" dirty="0"/>
          </a:p>
        </p:txBody>
      </p:sp>
      <p:sp>
        <p:nvSpPr>
          <p:cNvPr id="16" name="Text 13"/>
          <p:cNvSpPr/>
          <p:nvPr/>
        </p:nvSpPr>
        <p:spPr>
          <a:xfrm>
            <a:off x="4572000" y="1984248"/>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Weaknesses</a:t>
            </a:r>
            <a:endParaRPr lang="en-US" sz="1300" dirty="0"/>
          </a:p>
        </p:txBody>
      </p:sp>
      <p:sp>
        <p:nvSpPr>
          <p:cNvPr id="17" name="Text 14"/>
          <p:cNvSpPr/>
          <p:nvPr/>
        </p:nvSpPr>
        <p:spPr>
          <a:xfrm>
            <a:off x="4572000" y="2322576"/>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Yang tidak dimiliki atau dikerjakan kurang baik dibanding pesaing</a:t>
            </a:r>
            <a:endParaRPr lang="en-US" sz="900" dirty="0"/>
          </a:p>
        </p:txBody>
      </p:sp>
      <p:sp>
        <p:nvSpPr>
          <p:cNvPr id="18" name="Shape 15"/>
          <p:cNvSpPr/>
          <p:nvPr/>
        </p:nvSpPr>
        <p:spPr>
          <a:xfrm>
            <a:off x="548640" y="3419856"/>
            <a:ext cx="2834640" cy="1481328"/>
          </a:xfrm>
          <a:prstGeom prst="rect">
            <a:avLst/>
          </a:prstGeom>
          <a:solidFill>
            <a:srgbClr val="27161A"/>
          </a:solidFill>
          <a:ln w="12700">
            <a:solidFill>
              <a:srgbClr val="27161A"/>
            </a:solidFill>
            <a:prstDash val="solid"/>
          </a:ln>
        </p:spPr>
      </p:sp>
      <p:sp>
        <p:nvSpPr>
          <p:cNvPr id="19" name="Text 16"/>
          <p:cNvSpPr/>
          <p:nvPr/>
        </p:nvSpPr>
        <p:spPr>
          <a:xfrm>
            <a:off x="749808" y="3511296"/>
            <a:ext cx="822960" cy="822960"/>
          </a:xfrm>
          <a:prstGeom prst="rect">
            <a:avLst/>
          </a:prstGeom>
          <a:noFill/>
          <a:ln/>
        </p:spPr>
        <p:txBody>
          <a:bodyPr wrap="square" lIns="0" tIns="0" rIns="0" bIns="0" rtlCol="0" anchor="t"/>
          <a:lstStyle/>
          <a:p>
            <a:pPr indent="0" marL="0">
              <a:buNone/>
            </a:pPr>
            <a:r>
              <a:rPr lang="en-US" sz="4000" dirty="0">
                <a:solidFill>
                  <a:srgbClr val="C8102E"/>
                </a:solidFill>
                <a:latin typeface="Poppins ExtraBold" pitchFamily="34" charset="0"/>
                <a:ea typeface="Poppins ExtraBold" pitchFamily="34" charset="-122"/>
                <a:cs typeface="Poppins ExtraBold" pitchFamily="34" charset="-120"/>
              </a:rPr>
              <a:t>O</a:t>
            </a:r>
            <a:endParaRPr lang="en-US" sz="4000" dirty="0"/>
          </a:p>
        </p:txBody>
      </p:sp>
      <p:sp>
        <p:nvSpPr>
          <p:cNvPr id="20" name="Text 17"/>
          <p:cNvSpPr/>
          <p:nvPr/>
        </p:nvSpPr>
        <p:spPr>
          <a:xfrm>
            <a:off x="1554480" y="3648456"/>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Opportunities</a:t>
            </a:r>
            <a:endParaRPr lang="en-US" sz="1300" dirty="0"/>
          </a:p>
        </p:txBody>
      </p:sp>
      <p:sp>
        <p:nvSpPr>
          <p:cNvPr id="21" name="Text 18"/>
          <p:cNvSpPr/>
          <p:nvPr/>
        </p:nvSpPr>
        <p:spPr>
          <a:xfrm>
            <a:off x="1554480" y="3986784"/>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Peluang pasar: apa yang bisa diambil dari luar</a:t>
            </a:r>
            <a:endParaRPr lang="en-US" sz="900" dirty="0"/>
          </a:p>
        </p:txBody>
      </p:sp>
      <p:sp>
        <p:nvSpPr>
          <p:cNvPr id="22" name="Shape 19"/>
          <p:cNvSpPr/>
          <p:nvPr/>
        </p:nvSpPr>
        <p:spPr>
          <a:xfrm>
            <a:off x="3566160" y="3419856"/>
            <a:ext cx="2834640" cy="1481328"/>
          </a:xfrm>
          <a:prstGeom prst="rect">
            <a:avLst/>
          </a:prstGeom>
          <a:solidFill>
            <a:srgbClr val="C8102E"/>
          </a:solidFill>
          <a:ln w="12700">
            <a:solidFill>
              <a:srgbClr val="C8102E"/>
            </a:solidFill>
            <a:prstDash val="solid"/>
          </a:ln>
        </p:spPr>
      </p:sp>
      <p:sp>
        <p:nvSpPr>
          <p:cNvPr id="23" name="Text 20"/>
          <p:cNvSpPr/>
          <p:nvPr/>
        </p:nvSpPr>
        <p:spPr>
          <a:xfrm>
            <a:off x="3767328" y="3511296"/>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T</a:t>
            </a:r>
            <a:endParaRPr lang="en-US" sz="4000" dirty="0"/>
          </a:p>
        </p:txBody>
      </p:sp>
      <p:sp>
        <p:nvSpPr>
          <p:cNvPr id="24" name="Text 21"/>
          <p:cNvSpPr/>
          <p:nvPr/>
        </p:nvSpPr>
        <p:spPr>
          <a:xfrm>
            <a:off x="4572000" y="3648456"/>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Threats</a:t>
            </a:r>
            <a:endParaRPr lang="en-US" sz="1300" dirty="0"/>
          </a:p>
        </p:txBody>
      </p:sp>
      <p:sp>
        <p:nvSpPr>
          <p:cNvPr id="25" name="Text 22"/>
          <p:cNvSpPr/>
          <p:nvPr/>
        </p:nvSpPr>
        <p:spPr>
          <a:xfrm>
            <a:off x="4572000" y="3986784"/>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Ancaman dari luar yang bisa menggerus laba dan posisi</a:t>
            </a:r>
            <a:endParaRPr lang="en-US" sz="900" dirty="0"/>
          </a:p>
        </p:txBody>
      </p:sp>
      <p:sp>
        <p:nvSpPr>
          <p:cNvPr id="26" name="Text 23"/>
          <p:cNvSpPr/>
          <p:nvPr/>
        </p:nvSpPr>
        <p:spPr>
          <a:xfrm>
            <a:off x="6675120" y="173736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CARA MEMBACANYA</a:t>
            </a:r>
            <a:endParaRPr lang="en-US" sz="850" dirty="0"/>
          </a:p>
        </p:txBody>
      </p:sp>
      <p:sp>
        <p:nvSpPr>
          <p:cNvPr id="27" name="Shape 24"/>
          <p:cNvSpPr/>
          <p:nvPr/>
        </p:nvSpPr>
        <p:spPr>
          <a:xfrm>
            <a:off x="6675120" y="2029968"/>
            <a:ext cx="4937760" cy="713232"/>
          </a:xfrm>
          <a:prstGeom prst="rect">
            <a:avLst/>
          </a:prstGeom>
          <a:solidFill>
            <a:srgbClr val="27161A"/>
          </a:solidFill>
          <a:ln w="12700">
            <a:solidFill>
              <a:srgbClr val="27161A"/>
            </a:solidFill>
            <a:prstDash val="solid"/>
          </a:ln>
        </p:spPr>
      </p:sp>
      <p:sp>
        <p:nvSpPr>
          <p:cNvPr id="28" name="Shape 25"/>
          <p:cNvSpPr/>
          <p:nvPr/>
        </p:nvSpPr>
        <p:spPr>
          <a:xfrm>
            <a:off x="6675120" y="2029968"/>
            <a:ext cx="54864" cy="713232"/>
          </a:xfrm>
          <a:prstGeom prst="rect">
            <a:avLst/>
          </a:prstGeom>
          <a:solidFill>
            <a:srgbClr val="C8102E"/>
          </a:solidFill>
          <a:ln w="12700">
            <a:solidFill>
              <a:srgbClr val="C8102E"/>
            </a:solidFill>
            <a:prstDash val="solid"/>
          </a:ln>
        </p:spPr>
      </p:sp>
      <p:sp>
        <p:nvSpPr>
          <p:cNvPr id="29" name="Text 26"/>
          <p:cNvSpPr/>
          <p:nvPr/>
        </p:nvSpPr>
        <p:spPr>
          <a:xfrm>
            <a:off x="6894576" y="2176272"/>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Nama lain SWOT</a:t>
            </a:r>
            <a:endParaRPr lang="en-US" sz="1100" dirty="0"/>
          </a:p>
        </p:txBody>
      </p:sp>
      <p:sp>
        <p:nvSpPr>
          <p:cNvPr id="30" name="Text 27"/>
          <p:cNvSpPr/>
          <p:nvPr/>
        </p:nvSpPr>
        <p:spPr>
          <a:xfrm>
            <a:off x="6894576" y="2505456"/>
            <a:ext cx="4572000" cy="128016"/>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Situational Analysis, analisis situasi.</a:t>
            </a:r>
            <a:endParaRPr lang="en-US" sz="950" dirty="0"/>
          </a:p>
        </p:txBody>
      </p:sp>
      <p:sp>
        <p:nvSpPr>
          <p:cNvPr id="31" name="Shape 28"/>
          <p:cNvSpPr/>
          <p:nvPr/>
        </p:nvSpPr>
        <p:spPr>
          <a:xfrm>
            <a:off x="6675120" y="2852928"/>
            <a:ext cx="4937760" cy="914400"/>
          </a:xfrm>
          <a:prstGeom prst="rect">
            <a:avLst/>
          </a:prstGeom>
          <a:solidFill>
            <a:srgbClr val="27161A"/>
          </a:solidFill>
          <a:ln w="12700">
            <a:solidFill>
              <a:srgbClr val="27161A"/>
            </a:solidFill>
            <a:prstDash val="solid"/>
          </a:ln>
        </p:spPr>
      </p:sp>
      <p:sp>
        <p:nvSpPr>
          <p:cNvPr id="32" name="Shape 29"/>
          <p:cNvSpPr/>
          <p:nvPr/>
        </p:nvSpPr>
        <p:spPr>
          <a:xfrm>
            <a:off x="6675120" y="2852928"/>
            <a:ext cx="54864" cy="914400"/>
          </a:xfrm>
          <a:prstGeom prst="rect">
            <a:avLst/>
          </a:prstGeom>
          <a:solidFill>
            <a:srgbClr val="C8102E"/>
          </a:solidFill>
          <a:ln w="12700">
            <a:solidFill>
              <a:srgbClr val="C8102E"/>
            </a:solidFill>
            <a:prstDash val="solid"/>
          </a:ln>
        </p:spPr>
      </p:sp>
      <p:sp>
        <p:nvSpPr>
          <p:cNvPr id="33" name="Text 30"/>
          <p:cNvSpPr/>
          <p:nvPr/>
        </p:nvSpPr>
        <p:spPr>
          <a:xfrm>
            <a:off x="6894576" y="2999232"/>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Neraca strategis</a:t>
            </a:r>
            <a:endParaRPr lang="en-US" sz="1100" dirty="0"/>
          </a:p>
        </p:txBody>
      </p:sp>
      <p:sp>
        <p:nvSpPr>
          <p:cNvPr id="34" name="Text 31"/>
          <p:cNvSpPr/>
          <p:nvPr/>
        </p:nvSpPr>
        <p:spPr>
          <a:xfrm>
            <a:off x="6894576" y="3328416"/>
            <a:ext cx="4572000" cy="32918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Kekuatan = aset bersaing. Kelemahan = kewajiban bersaing. Idealnya asetnya jauh lebih berat.</a:t>
            </a:r>
            <a:endParaRPr lang="en-US" sz="950" dirty="0"/>
          </a:p>
        </p:txBody>
      </p:sp>
      <p:sp>
        <p:nvSpPr>
          <p:cNvPr id="35" name="Shape 32"/>
          <p:cNvSpPr/>
          <p:nvPr/>
        </p:nvSpPr>
        <p:spPr>
          <a:xfrm>
            <a:off x="6675120" y="3877056"/>
            <a:ext cx="4937760" cy="1024128"/>
          </a:xfrm>
          <a:prstGeom prst="rect">
            <a:avLst/>
          </a:prstGeom>
          <a:solidFill>
            <a:srgbClr val="27161A"/>
          </a:solidFill>
          <a:ln w="12700">
            <a:solidFill>
              <a:srgbClr val="27161A"/>
            </a:solidFill>
            <a:prstDash val="solid"/>
          </a:ln>
        </p:spPr>
      </p:sp>
      <p:sp>
        <p:nvSpPr>
          <p:cNvPr id="36" name="Shape 33"/>
          <p:cNvSpPr/>
          <p:nvPr/>
        </p:nvSpPr>
        <p:spPr>
          <a:xfrm>
            <a:off x="6675120" y="3877056"/>
            <a:ext cx="54864" cy="1024128"/>
          </a:xfrm>
          <a:prstGeom prst="rect">
            <a:avLst/>
          </a:prstGeom>
          <a:solidFill>
            <a:srgbClr val="C8102E"/>
          </a:solidFill>
          <a:ln w="12700">
            <a:solidFill>
              <a:srgbClr val="C8102E"/>
            </a:solidFill>
            <a:prstDash val="solid"/>
          </a:ln>
        </p:spPr>
      </p:sp>
      <p:sp>
        <p:nvSpPr>
          <p:cNvPr id="37" name="Text 34"/>
          <p:cNvSpPr/>
          <p:nvPr/>
        </p:nvSpPr>
        <p:spPr>
          <a:xfrm>
            <a:off x="6894576" y="4023360"/>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Empat pertanyaan pemandu</a:t>
            </a:r>
            <a:endParaRPr lang="en-US" sz="1100" dirty="0"/>
          </a:p>
        </p:txBody>
      </p:sp>
      <p:sp>
        <p:nvSpPr>
          <p:cNvPr id="38" name="Text 35"/>
          <p:cNvSpPr/>
          <p:nvPr/>
        </p:nvSpPr>
        <p:spPr>
          <a:xfrm>
            <a:off x="6894576" y="4352544"/>
            <a:ext cx="4572000" cy="438912"/>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Apakah kekuatan cukup menutup kelemahan? Apakah strategi sudah bertumpu pada kekuatan itu? Apakah kekuatan kita melampaui pesaing? Apakah strategi berhasil menangkal ancaman?</a:t>
            </a:r>
            <a:endParaRPr lang="en-US" sz="900" dirty="0"/>
          </a:p>
        </p:txBody>
      </p:sp>
      <p:sp>
        <p:nvSpPr>
          <p:cNvPr id="39" name="Shape 36"/>
          <p:cNvSpPr/>
          <p:nvPr/>
        </p:nvSpPr>
        <p:spPr>
          <a:xfrm>
            <a:off x="548640" y="5102352"/>
            <a:ext cx="11064240" cy="777240"/>
          </a:xfrm>
          <a:prstGeom prst="rect">
            <a:avLst/>
          </a:prstGeom>
          <a:solidFill>
            <a:srgbClr val="32191E"/>
          </a:solidFill>
          <a:ln w="12700">
            <a:solidFill>
              <a:srgbClr val="32191E"/>
            </a:solidFill>
            <a:prstDash val="solid"/>
          </a:ln>
        </p:spPr>
      </p:sp>
      <p:sp>
        <p:nvSpPr>
          <p:cNvPr id="40" name="Text 37"/>
          <p:cNvSpPr/>
          <p:nvPr/>
        </p:nvSpPr>
        <p:spPr>
          <a:xfrm>
            <a:off x="777240" y="5230368"/>
            <a:ext cx="10607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KENAPA SWOT POPULER</a:t>
            </a:r>
            <a:endParaRPr lang="en-US" sz="800" dirty="0"/>
          </a:p>
        </p:txBody>
      </p:sp>
      <p:sp>
        <p:nvSpPr>
          <p:cNvPr id="41" name="Text 38"/>
          <p:cNvSpPr/>
          <p:nvPr/>
        </p:nvSpPr>
        <p:spPr>
          <a:xfrm>
            <a:off x="777240" y="5468112"/>
            <a:ext cx="10607040"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Mudah dipakai, dan bisa dipakai dua arah: menilai strategi yang sedang berjalan, dan menyusun strategi baru dari nol. Dipakai perusahaan besar sampai sekolah dan lembaga nirlaba.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  ·  KONSEP INTI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COMPETENCE, DISTINCTIVE COMPETENCE, CORE COMPETENCE</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Buku memakai tiga tingkatan yang berbeda. Jangan disamakan: hanya tingkat ketiga yang benar-benar berharga.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07</a:t>
            </a:r>
            <a:endParaRPr lang="en-US" sz="900" dirty="0"/>
          </a:p>
        </p:txBody>
      </p:sp>
      <p:sp>
        <p:nvSpPr>
          <p:cNvPr id="10" name="Shape 7"/>
          <p:cNvSpPr/>
          <p:nvPr/>
        </p:nvSpPr>
        <p:spPr>
          <a:xfrm>
            <a:off x="548640" y="2670048"/>
            <a:ext cx="3545738" cy="2011680"/>
          </a:xfrm>
          <a:prstGeom prst="rect">
            <a:avLst/>
          </a:prstGeom>
          <a:solidFill>
            <a:srgbClr val="27161A"/>
          </a:solidFill>
          <a:ln w="12700">
            <a:solidFill>
              <a:srgbClr val="27161A"/>
            </a:solidFill>
            <a:prstDash val="solid"/>
          </a:ln>
        </p:spPr>
      </p:sp>
      <p:sp>
        <p:nvSpPr>
          <p:cNvPr id="11" name="Shape 8"/>
          <p:cNvSpPr/>
          <p:nvPr/>
        </p:nvSpPr>
        <p:spPr>
          <a:xfrm>
            <a:off x="548640" y="2670048"/>
            <a:ext cx="3545738" cy="54864"/>
          </a:xfrm>
          <a:prstGeom prst="rect">
            <a:avLst/>
          </a:prstGeom>
          <a:solidFill>
            <a:srgbClr val="C8102E"/>
          </a:solidFill>
          <a:ln w="12700">
            <a:solidFill>
              <a:srgbClr val="C8102E"/>
            </a:solidFill>
            <a:prstDash val="solid"/>
          </a:ln>
        </p:spPr>
      </p:sp>
      <p:sp>
        <p:nvSpPr>
          <p:cNvPr id="12" name="Text 9"/>
          <p:cNvSpPr/>
          <p:nvPr/>
        </p:nvSpPr>
        <p:spPr>
          <a:xfrm>
            <a:off x="749808" y="2779776"/>
            <a:ext cx="914400" cy="640080"/>
          </a:xfrm>
          <a:prstGeom prst="rect">
            <a:avLst/>
          </a:prstGeom>
          <a:noFill/>
          <a:ln/>
        </p:spPr>
        <p:txBody>
          <a:bodyPr wrap="square" lIns="0" tIns="0" rIns="0" bIns="0" rtlCol="0" anchor="t"/>
          <a:lstStyle/>
          <a:p>
            <a:pPr indent="0" marL="0">
              <a:buNone/>
            </a:pPr>
            <a:r>
              <a:rPr lang="en-US" sz="3400" dirty="0">
                <a:solidFill>
                  <a:srgbClr val="C8102E"/>
                </a:solidFill>
                <a:latin typeface="Poppins ExtraBold" pitchFamily="34" charset="0"/>
                <a:ea typeface="Poppins ExtraBold" pitchFamily="34" charset="-122"/>
                <a:cs typeface="Poppins ExtraBold" pitchFamily="34" charset="-120"/>
              </a:rPr>
              <a:t>1</a:t>
            </a:r>
            <a:endParaRPr lang="en-US" sz="3400" dirty="0"/>
          </a:p>
        </p:txBody>
      </p:sp>
      <p:sp>
        <p:nvSpPr>
          <p:cNvPr id="13" name="Text 10"/>
          <p:cNvSpPr/>
          <p:nvPr/>
        </p:nvSpPr>
        <p:spPr>
          <a:xfrm>
            <a:off x="749808" y="34472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Competence</a:t>
            </a:r>
            <a:endParaRPr lang="en-US" sz="1300" dirty="0"/>
          </a:p>
        </p:txBody>
      </p:sp>
      <p:sp>
        <p:nvSpPr>
          <p:cNvPr id="14" name="Text 11"/>
          <p:cNvSpPr/>
          <p:nvPr/>
        </p:nvSpPr>
        <p:spPr>
          <a:xfrm>
            <a:off x="749808" y="37856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D9CFC7"/>
                </a:solidFill>
                <a:latin typeface="Poppins" pitchFamily="34" charset="0"/>
                <a:ea typeface="Poppins" pitchFamily="34" charset="-122"/>
                <a:cs typeface="Poppins" pitchFamily="34" charset="-120"/>
              </a:rPr>
              <a:t>Aktivitas yang sudah dikuasai perusahaan, dikerjakan konsisten baik dan dengan biaya wajar.</a:t>
            </a:r>
            <a:endParaRPr lang="en-US" sz="950" dirty="0"/>
          </a:p>
        </p:txBody>
      </p:sp>
      <p:sp>
        <p:nvSpPr>
          <p:cNvPr id="15" name="Text 12"/>
          <p:cNvSpPr/>
          <p:nvPr/>
        </p:nvSpPr>
        <p:spPr>
          <a:xfrm>
            <a:off x="749808"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Kemampuan biasa. Banyak perusahaan punya.</a:t>
            </a:r>
            <a:endParaRPr lang="en-US" sz="850" dirty="0"/>
          </a:p>
        </p:txBody>
      </p:sp>
      <p:sp>
        <p:nvSpPr>
          <p:cNvPr id="16" name="Shape 13"/>
          <p:cNvSpPr/>
          <p:nvPr/>
        </p:nvSpPr>
        <p:spPr>
          <a:xfrm>
            <a:off x="4322978" y="2212848"/>
            <a:ext cx="3545738" cy="2468880"/>
          </a:xfrm>
          <a:prstGeom prst="rect">
            <a:avLst/>
          </a:prstGeom>
          <a:solidFill>
            <a:srgbClr val="27161A"/>
          </a:solidFill>
          <a:ln w="12700">
            <a:solidFill>
              <a:srgbClr val="27161A"/>
            </a:solidFill>
            <a:prstDash val="solid"/>
          </a:ln>
        </p:spPr>
      </p:sp>
      <p:sp>
        <p:nvSpPr>
          <p:cNvPr id="17" name="Shape 14"/>
          <p:cNvSpPr/>
          <p:nvPr/>
        </p:nvSpPr>
        <p:spPr>
          <a:xfrm>
            <a:off x="4322978" y="2212848"/>
            <a:ext cx="3545738" cy="54864"/>
          </a:xfrm>
          <a:prstGeom prst="rect">
            <a:avLst/>
          </a:prstGeom>
          <a:solidFill>
            <a:srgbClr val="C8102E"/>
          </a:solidFill>
          <a:ln w="12700">
            <a:solidFill>
              <a:srgbClr val="C8102E"/>
            </a:solidFill>
            <a:prstDash val="solid"/>
          </a:ln>
        </p:spPr>
      </p:sp>
      <p:sp>
        <p:nvSpPr>
          <p:cNvPr id="18" name="Text 15"/>
          <p:cNvSpPr/>
          <p:nvPr/>
        </p:nvSpPr>
        <p:spPr>
          <a:xfrm>
            <a:off x="4524146" y="2322576"/>
            <a:ext cx="914400" cy="640080"/>
          </a:xfrm>
          <a:prstGeom prst="rect">
            <a:avLst/>
          </a:prstGeom>
          <a:noFill/>
          <a:ln/>
        </p:spPr>
        <p:txBody>
          <a:bodyPr wrap="square" lIns="0" tIns="0" rIns="0" bIns="0" rtlCol="0" anchor="t"/>
          <a:lstStyle/>
          <a:p>
            <a:pPr indent="0" marL="0">
              <a:buNone/>
            </a:pPr>
            <a:r>
              <a:rPr lang="en-US" sz="3400" dirty="0">
                <a:solidFill>
                  <a:srgbClr val="C8102E"/>
                </a:solidFill>
                <a:latin typeface="Poppins ExtraBold" pitchFamily="34" charset="0"/>
                <a:ea typeface="Poppins ExtraBold" pitchFamily="34" charset="-122"/>
                <a:cs typeface="Poppins ExtraBold" pitchFamily="34" charset="-120"/>
              </a:rPr>
              <a:t>2</a:t>
            </a:r>
            <a:endParaRPr lang="en-US" sz="3400" dirty="0"/>
          </a:p>
        </p:txBody>
      </p:sp>
      <p:sp>
        <p:nvSpPr>
          <p:cNvPr id="19" name="Text 16"/>
          <p:cNvSpPr/>
          <p:nvPr/>
        </p:nvSpPr>
        <p:spPr>
          <a:xfrm>
            <a:off x="4524146" y="29900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Distinctive Competence</a:t>
            </a:r>
            <a:endParaRPr lang="en-US" sz="1300" dirty="0"/>
          </a:p>
        </p:txBody>
      </p:sp>
      <p:sp>
        <p:nvSpPr>
          <p:cNvPr id="20" name="Text 17"/>
          <p:cNvSpPr/>
          <p:nvPr/>
        </p:nvSpPr>
        <p:spPr>
          <a:xfrm>
            <a:off x="4524146" y="33284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D9CFC7"/>
                </a:solidFill>
                <a:latin typeface="Poppins" pitchFamily="34" charset="0"/>
                <a:ea typeface="Poppins" pitchFamily="34" charset="-122"/>
                <a:cs typeface="Poppins" pitchFamily="34" charset="-120"/>
              </a:rPr>
              <a:t>Kemampuan yang membuat perusahaan mengerjakan aktivitas itu LEBIH BAIK dari pesaingnya.</a:t>
            </a:r>
            <a:endParaRPr lang="en-US" sz="950" dirty="0"/>
          </a:p>
        </p:txBody>
      </p:sp>
      <p:sp>
        <p:nvSpPr>
          <p:cNvPr id="21" name="Text 18"/>
          <p:cNvSpPr/>
          <p:nvPr/>
        </p:nvSpPr>
        <p:spPr>
          <a:xfrm>
            <a:off x="4524146"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Sudah membedakan, tapi belum tentu inti strategi.</a:t>
            </a:r>
            <a:endParaRPr lang="en-US" sz="850" dirty="0"/>
          </a:p>
        </p:txBody>
      </p:sp>
      <p:sp>
        <p:nvSpPr>
          <p:cNvPr id="22" name="Shape 19"/>
          <p:cNvSpPr/>
          <p:nvPr/>
        </p:nvSpPr>
        <p:spPr>
          <a:xfrm>
            <a:off x="8097317" y="1755648"/>
            <a:ext cx="3545738" cy="2926080"/>
          </a:xfrm>
          <a:prstGeom prst="rect">
            <a:avLst/>
          </a:prstGeom>
          <a:solidFill>
            <a:srgbClr val="C8102E"/>
          </a:solidFill>
          <a:ln w="12700">
            <a:solidFill>
              <a:srgbClr val="C8102E"/>
            </a:solidFill>
            <a:prstDash val="solid"/>
          </a:ln>
        </p:spPr>
      </p:sp>
      <p:sp>
        <p:nvSpPr>
          <p:cNvPr id="23" name="Shape 20"/>
          <p:cNvSpPr/>
          <p:nvPr/>
        </p:nvSpPr>
        <p:spPr>
          <a:xfrm>
            <a:off x="8097317" y="1755648"/>
            <a:ext cx="3545738" cy="54864"/>
          </a:xfrm>
          <a:prstGeom prst="rect">
            <a:avLst/>
          </a:prstGeom>
          <a:solidFill>
            <a:srgbClr val="FBE122"/>
          </a:solidFill>
          <a:ln w="12700">
            <a:solidFill>
              <a:srgbClr val="FBE122"/>
            </a:solidFill>
            <a:prstDash val="solid"/>
          </a:ln>
        </p:spPr>
      </p:sp>
      <p:sp>
        <p:nvSpPr>
          <p:cNvPr id="24" name="Text 21"/>
          <p:cNvSpPr/>
          <p:nvPr/>
        </p:nvSpPr>
        <p:spPr>
          <a:xfrm>
            <a:off x="8298485" y="1865376"/>
            <a:ext cx="914400" cy="64008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3</a:t>
            </a:r>
            <a:endParaRPr lang="en-US" sz="3400" dirty="0"/>
          </a:p>
        </p:txBody>
      </p:sp>
      <p:sp>
        <p:nvSpPr>
          <p:cNvPr id="25" name="Text 22"/>
          <p:cNvSpPr/>
          <p:nvPr/>
        </p:nvSpPr>
        <p:spPr>
          <a:xfrm>
            <a:off x="8298485" y="25328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Core Competence</a:t>
            </a:r>
            <a:endParaRPr lang="en-US" sz="1300" dirty="0"/>
          </a:p>
        </p:txBody>
      </p:sp>
      <p:sp>
        <p:nvSpPr>
          <p:cNvPr id="26" name="Text 23"/>
          <p:cNvSpPr/>
          <p:nvPr/>
        </p:nvSpPr>
        <p:spPr>
          <a:xfrm>
            <a:off x="8298485" y="28712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950" dirty="0"/>
          </a:p>
        </p:txBody>
      </p:sp>
      <p:sp>
        <p:nvSpPr>
          <p:cNvPr id="27" name="Text 24"/>
          <p:cNvSpPr/>
          <p:nvPr/>
        </p:nvSpPr>
        <p:spPr>
          <a:xfrm>
            <a:off x="8298485"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Paling berharga. Sering jadi mesin pertumbuhan.</a:t>
            </a:r>
            <a:endParaRPr lang="en-US" sz="850" dirty="0"/>
          </a:p>
        </p:txBody>
      </p:sp>
      <p:sp>
        <p:nvSpPr>
          <p:cNvPr id="28" name="Text 25"/>
          <p:cNvSpPr/>
          <p:nvPr/>
        </p:nvSpPr>
        <p:spPr>
          <a:xfrm>
            <a:off x="548640" y="486460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CONTOH DARI BUKU</a:t>
            </a:r>
            <a:endParaRPr lang="en-US" sz="850" dirty="0"/>
          </a:p>
        </p:txBody>
      </p:sp>
      <p:sp>
        <p:nvSpPr>
          <p:cNvPr id="29" name="Shape 26"/>
          <p:cNvSpPr/>
          <p:nvPr/>
        </p:nvSpPr>
        <p:spPr>
          <a:xfrm>
            <a:off x="548640" y="5138928"/>
            <a:ext cx="3545738" cy="868680"/>
          </a:xfrm>
          <a:prstGeom prst="rect">
            <a:avLst/>
          </a:prstGeom>
          <a:solidFill>
            <a:srgbClr val="27161A"/>
          </a:solidFill>
          <a:ln w="12700">
            <a:solidFill>
              <a:srgbClr val="27161A"/>
            </a:solidFill>
            <a:prstDash val="solid"/>
          </a:ln>
        </p:spPr>
      </p:sp>
      <p:sp>
        <p:nvSpPr>
          <p:cNvPr id="30" name="Shape 27"/>
          <p:cNvSpPr/>
          <p:nvPr/>
        </p:nvSpPr>
        <p:spPr>
          <a:xfrm>
            <a:off x="548640" y="5138928"/>
            <a:ext cx="54864" cy="868680"/>
          </a:xfrm>
          <a:prstGeom prst="rect">
            <a:avLst/>
          </a:prstGeom>
          <a:solidFill>
            <a:srgbClr val="C8102E"/>
          </a:solidFill>
          <a:ln w="12700">
            <a:solidFill>
              <a:srgbClr val="C8102E"/>
            </a:solidFill>
            <a:prstDash val="solid"/>
          </a:ln>
        </p:spPr>
      </p:sp>
      <p:sp>
        <p:nvSpPr>
          <p:cNvPr id="31" name="Text 28"/>
          <p:cNvSpPr/>
          <p:nvPr/>
        </p:nvSpPr>
        <p:spPr>
          <a:xfrm>
            <a:off x="768096"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Procter &amp; Gamble</a:t>
            </a:r>
            <a:endParaRPr lang="en-US" sz="1100" dirty="0"/>
          </a:p>
        </p:txBody>
      </p:sp>
      <p:sp>
        <p:nvSpPr>
          <p:cNvPr id="32" name="Text 29"/>
          <p:cNvSpPr/>
          <p:nvPr/>
        </p:nvSpPr>
        <p:spPr>
          <a:xfrm>
            <a:off x="768096"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Core competence di manajemen merek, melahirkan Tide, Crest, Pampers, Olay, Febreze.</a:t>
            </a:r>
            <a:endParaRPr lang="en-US" sz="900" dirty="0"/>
          </a:p>
        </p:txBody>
      </p:sp>
      <p:sp>
        <p:nvSpPr>
          <p:cNvPr id="33" name="Shape 30"/>
          <p:cNvSpPr/>
          <p:nvPr/>
        </p:nvSpPr>
        <p:spPr>
          <a:xfrm>
            <a:off x="4322978" y="5138928"/>
            <a:ext cx="3545738" cy="868680"/>
          </a:xfrm>
          <a:prstGeom prst="rect">
            <a:avLst/>
          </a:prstGeom>
          <a:solidFill>
            <a:srgbClr val="27161A"/>
          </a:solidFill>
          <a:ln w="12700">
            <a:solidFill>
              <a:srgbClr val="27161A"/>
            </a:solidFill>
            <a:prstDash val="solid"/>
          </a:ln>
        </p:spPr>
      </p:sp>
      <p:sp>
        <p:nvSpPr>
          <p:cNvPr id="34" name="Shape 31"/>
          <p:cNvSpPr/>
          <p:nvPr/>
        </p:nvSpPr>
        <p:spPr>
          <a:xfrm>
            <a:off x="4322978" y="5138928"/>
            <a:ext cx="54864" cy="868680"/>
          </a:xfrm>
          <a:prstGeom prst="rect">
            <a:avLst/>
          </a:prstGeom>
          <a:solidFill>
            <a:srgbClr val="C8102E"/>
          </a:solidFill>
          <a:ln w="12700">
            <a:solidFill>
              <a:srgbClr val="C8102E"/>
            </a:solidFill>
            <a:prstDash val="solid"/>
          </a:ln>
        </p:spPr>
      </p:sp>
      <p:sp>
        <p:nvSpPr>
          <p:cNvPr id="35" name="Text 32"/>
          <p:cNvSpPr/>
          <p:nvPr/>
        </p:nvSpPr>
        <p:spPr>
          <a:xfrm>
            <a:off x="4542434"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Nike</a:t>
            </a:r>
            <a:endParaRPr lang="en-US" sz="1100" dirty="0"/>
          </a:p>
        </p:txBody>
      </p:sp>
      <p:sp>
        <p:nvSpPr>
          <p:cNvPr id="36" name="Text 33"/>
          <p:cNvSpPr/>
          <p:nvPr/>
        </p:nvSpPr>
        <p:spPr>
          <a:xfrm>
            <a:off x="4542434"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Core competence di desain dan pemasaran sepatu serta apparel olahraga.</a:t>
            </a:r>
            <a:endParaRPr lang="en-US" sz="900" dirty="0"/>
          </a:p>
        </p:txBody>
      </p:sp>
      <p:sp>
        <p:nvSpPr>
          <p:cNvPr id="37" name="Shape 34"/>
          <p:cNvSpPr/>
          <p:nvPr/>
        </p:nvSpPr>
        <p:spPr>
          <a:xfrm>
            <a:off x="8097317" y="5138928"/>
            <a:ext cx="3545738" cy="868680"/>
          </a:xfrm>
          <a:prstGeom prst="rect">
            <a:avLst/>
          </a:prstGeom>
          <a:solidFill>
            <a:srgbClr val="27161A"/>
          </a:solidFill>
          <a:ln w="12700">
            <a:solidFill>
              <a:srgbClr val="27161A"/>
            </a:solidFill>
            <a:prstDash val="solid"/>
          </a:ln>
        </p:spPr>
      </p:sp>
      <p:sp>
        <p:nvSpPr>
          <p:cNvPr id="38" name="Shape 35"/>
          <p:cNvSpPr/>
          <p:nvPr/>
        </p:nvSpPr>
        <p:spPr>
          <a:xfrm>
            <a:off x="8097317" y="5138928"/>
            <a:ext cx="54864" cy="868680"/>
          </a:xfrm>
          <a:prstGeom prst="rect">
            <a:avLst/>
          </a:prstGeom>
          <a:solidFill>
            <a:srgbClr val="C8102E"/>
          </a:solidFill>
          <a:ln w="12700">
            <a:solidFill>
              <a:srgbClr val="C8102E"/>
            </a:solidFill>
            <a:prstDash val="solid"/>
          </a:ln>
        </p:spPr>
      </p:sp>
      <p:sp>
        <p:nvSpPr>
          <p:cNvPr id="39" name="Text 36"/>
          <p:cNvSpPr/>
          <p:nvPr/>
        </p:nvSpPr>
        <p:spPr>
          <a:xfrm>
            <a:off x="8316773"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Kellogg</a:t>
            </a:r>
            <a:endParaRPr lang="en-US" sz="1100" dirty="0"/>
          </a:p>
        </p:txBody>
      </p:sp>
      <p:sp>
        <p:nvSpPr>
          <p:cNvPr id="40" name="Text 37"/>
          <p:cNvSpPr/>
          <p:nvPr/>
        </p:nvSpPr>
        <p:spPr>
          <a:xfrm>
            <a:off x="8316773"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Core competence di pengembangan, produksi, dan pemasaran sereal sarapan.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  ·  FIGURE 4.2</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BUKAN BIKIN EMPAT DAFTAR</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08</a:t>
            </a:r>
            <a:endParaRPr lang="en-US" sz="900" dirty="0"/>
          </a:p>
        </p:txBody>
      </p:sp>
      <p:sp>
        <p:nvSpPr>
          <p:cNvPr id="10" name="Shape 7"/>
          <p:cNvSpPr/>
          <p:nvPr/>
        </p:nvSpPr>
        <p:spPr>
          <a:xfrm>
            <a:off x="548640" y="1755648"/>
            <a:ext cx="5120640" cy="960120"/>
          </a:xfrm>
          <a:prstGeom prst="rect">
            <a:avLst/>
          </a:prstGeom>
          <a:solidFill>
            <a:srgbClr val="27161A"/>
          </a:solidFill>
          <a:ln w="12700">
            <a:solidFill>
              <a:srgbClr val="27161A"/>
            </a:solidFill>
            <a:prstDash val="solid"/>
          </a:ln>
        </p:spPr>
      </p:sp>
      <p:sp>
        <p:nvSpPr>
          <p:cNvPr id="11" name="Shape 8"/>
          <p:cNvSpPr/>
          <p:nvPr/>
        </p:nvSpPr>
        <p:spPr>
          <a:xfrm>
            <a:off x="731520" y="2002536"/>
            <a:ext cx="457200" cy="457200"/>
          </a:xfrm>
          <a:prstGeom prst="ellipse">
            <a:avLst/>
          </a:prstGeom>
          <a:solidFill>
            <a:srgbClr val="C8102E"/>
          </a:solidFill>
          <a:ln w="12700">
            <a:solidFill>
              <a:srgbClr val="C8102E"/>
            </a:solidFill>
            <a:prstDash val="solid"/>
          </a:ln>
        </p:spPr>
      </p:sp>
      <p:sp>
        <p:nvSpPr>
          <p:cNvPr id="12" name="Text 9"/>
          <p:cNvSpPr/>
          <p:nvPr/>
        </p:nvSpPr>
        <p:spPr>
          <a:xfrm>
            <a:off x="731520" y="200253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3" name="Text 10"/>
          <p:cNvSpPr/>
          <p:nvPr/>
        </p:nvSpPr>
        <p:spPr>
          <a:xfrm>
            <a:off x="1371600" y="189280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Identifikasi</a:t>
            </a:r>
            <a:endParaRPr lang="en-US" sz="1200" dirty="0"/>
          </a:p>
        </p:txBody>
      </p:sp>
      <p:sp>
        <p:nvSpPr>
          <p:cNvPr id="14" name="Text 11"/>
          <p:cNvSpPr/>
          <p:nvPr/>
        </p:nvSpPr>
        <p:spPr>
          <a:xfrm>
            <a:off x="1371600" y="216712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Susun keempat daftar berdasarkan bukti, bukan opini. Table 4.2 di buku memberi contoh isi masing-masing.</a:t>
            </a:r>
            <a:endParaRPr lang="en-US" sz="900" dirty="0"/>
          </a:p>
        </p:txBody>
      </p:sp>
      <p:sp>
        <p:nvSpPr>
          <p:cNvPr id="15" name="Shape 12"/>
          <p:cNvSpPr/>
          <p:nvPr/>
        </p:nvSpPr>
        <p:spPr>
          <a:xfrm>
            <a:off x="548640" y="2852928"/>
            <a:ext cx="5120640" cy="960120"/>
          </a:xfrm>
          <a:prstGeom prst="rect">
            <a:avLst/>
          </a:prstGeom>
          <a:solidFill>
            <a:srgbClr val="27161A"/>
          </a:solidFill>
          <a:ln w="12700">
            <a:solidFill>
              <a:srgbClr val="27161A"/>
            </a:solidFill>
            <a:prstDash val="solid"/>
          </a:ln>
        </p:spPr>
      </p:sp>
      <p:sp>
        <p:nvSpPr>
          <p:cNvPr id="16" name="Shape 13"/>
          <p:cNvSpPr/>
          <p:nvPr/>
        </p:nvSpPr>
        <p:spPr>
          <a:xfrm>
            <a:off x="731520" y="3099816"/>
            <a:ext cx="457200" cy="457200"/>
          </a:xfrm>
          <a:prstGeom prst="ellipse">
            <a:avLst/>
          </a:prstGeom>
          <a:solidFill>
            <a:srgbClr val="C8102E"/>
          </a:solidFill>
          <a:ln w="12700">
            <a:solidFill>
              <a:srgbClr val="C8102E"/>
            </a:solidFill>
            <a:prstDash val="solid"/>
          </a:ln>
        </p:spPr>
      </p:sp>
      <p:sp>
        <p:nvSpPr>
          <p:cNvPr id="17" name="Text 14"/>
          <p:cNvSpPr/>
          <p:nvPr/>
        </p:nvSpPr>
        <p:spPr>
          <a:xfrm>
            <a:off x="731520" y="309981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18" name="Text 15"/>
          <p:cNvSpPr/>
          <p:nvPr/>
        </p:nvSpPr>
        <p:spPr>
          <a:xfrm>
            <a:off x="1371600" y="299008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Tarik kesimpulan</a:t>
            </a:r>
            <a:endParaRPr lang="en-US" sz="1200" dirty="0"/>
          </a:p>
        </p:txBody>
      </p:sp>
      <p:sp>
        <p:nvSpPr>
          <p:cNvPr id="19" name="Text 16"/>
          <p:cNvSpPr/>
          <p:nvPr/>
        </p:nvSpPr>
        <p:spPr>
          <a:xfrm>
            <a:off x="1371600" y="326440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Dua pertanyaan: apa sebab berhasil atau gagalnya strategi? Sisi mana dari situasi perusahaan yang menarik, sisi mana yang tidak?</a:t>
            </a:r>
            <a:endParaRPr lang="en-US" sz="900" dirty="0"/>
          </a:p>
        </p:txBody>
      </p:sp>
      <p:sp>
        <p:nvSpPr>
          <p:cNvPr id="20" name="Shape 17"/>
          <p:cNvSpPr/>
          <p:nvPr/>
        </p:nvSpPr>
        <p:spPr>
          <a:xfrm>
            <a:off x="548640" y="3950208"/>
            <a:ext cx="5120640" cy="960120"/>
          </a:xfrm>
          <a:prstGeom prst="rect">
            <a:avLst/>
          </a:prstGeom>
          <a:solidFill>
            <a:srgbClr val="27161A"/>
          </a:solidFill>
          <a:ln w="12700">
            <a:solidFill>
              <a:srgbClr val="27161A"/>
            </a:solidFill>
            <a:prstDash val="solid"/>
          </a:ln>
        </p:spPr>
      </p:sp>
      <p:sp>
        <p:nvSpPr>
          <p:cNvPr id="21" name="Shape 18"/>
          <p:cNvSpPr/>
          <p:nvPr/>
        </p:nvSpPr>
        <p:spPr>
          <a:xfrm>
            <a:off x="731520" y="4197096"/>
            <a:ext cx="457200" cy="457200"/>
          </a:xfrm>
          <a:prstGeom prst="ellipse">
            <a:avLst/>
          </a:prstGeom>
          <a:solidFill>
            <a:srgbClr val="C8102E"/>
          </a:solidFill>
          <a:ln w="12700">
            <a:solidFill>
              <a:srgbClr val="C8102E"/>
            </a:solidFill>
            <a:prstDash val="solid"/>
          </a:ln>
        </p:spPr>
      </p:sp>
      <p:sp>
        <p:nvSpPr>
          <p:cNvPr id="22" name="Text 19"/>
          <p:cNvSpPr/>
          <p:nvPr/>
        </p:nvSpPr>
        <p:spPr>
          <a:xfrm>
            <a:off x="731520" y="419709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3" name="Text 20"/>
          <p:cNvSpPr/>
          <p:nvPr/>
        </p:nvSpPr>
        <p:spPr>
          <a:xfrm>
            <a:off x="1371600" y="408736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Terjemahkan jadi tindakan</a:t>
            </a:r>
            <a:endParaRPr lang="en-US" sz="1200" dirty="0"/>
          </a:p>
        </p:txBody>
      </p:sp>
      <p:sp>
        <p:nvSpPr>
          <p:cNvPr id="24" name="Text 21"/>
          <p:cNvSpPr/>
          <p:nvPr/>
        </p:nvSpPr>
        <p:spPr>
          <a:xfrm>
            <a:off x="1371600" y="436168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Ubah kesimpulan itu menjadi langkah strategis yang konkret.</a:t>
            </a:r>
            <a:endParaRPr lang="en-US" sz="900" dirty="0"/>
          </a:p>
        </p:txBody>
      </p:sp>
      <p:sp>
        <p:nvSpPr>
          <p:cNvPr id="25" name="Shape 22"/>
          <p:cNvSpPr/>
          <p:nvPr/>
        </p:nvSpPr>
        <p:spPr>
          <a:xfrm>
            <a:off x="5943600" y="1755648"/>
            <a:ext cx="5669280" cy="3154680"/>
          </a:xfrm>
          <a:prstGeom prst="rect">
            <a:avLst/>
          </a:prstGeom>
          <a:solidFill>
            <a:srgbClr val="32191E"/>
          </a:solidFill>
          <a:ln w="12700">
            <a:solidFill>
              <a:srgbClr val="32191E"/>
            </a:solidFill>
            <a:prstDash val="solid"/>
          </a:ln>
        </p:spPr>
      </p:sp>
      <p:sp>
        <p:nvSpPr>
          <p:cNvPr id="26" name="Shape 23"/>
          <p:cNvSpPr/>
          <p:nvPr/>
        </p:nvSpPr>
        <p:spPr>
          <a:xfrm>
            <a:off x="5943600" y="1755648"/>
            <a:ext cx="54864" cy="3154680"/>
          </a:xfrm>
          <a:prstGeom prst="rect">
            <a:avLst/>
          </a:prstGeom>
          <a:solidFill>
            <a:srgbClr val="FBE122"/>
          </a:solidFill>
          <a:ln w="12700">
            <a:solidFill>
              <a:srgbClr val="FBE122"/>
            </a:solidFill>
            <a:prstDash val="solid"/>
          </a:ln>
        </p:spPr>
      </p:sp>
      <p:sp>
        <p:nvSpPr>
          <p:cNvPr id="27" name="Text 24"/>
          <p:cNvSpPr/>
          <p:nvPr/>
        </p:nvSpPr>
        <p:spPr>
          <a:xfrm>
            <a:off x="6199632" y="1920240"/>
            <a:ext cx="5212080" cy="274320"/>
          </a:xfrm>
          <a:prstGeom prst="rect">
            <a:avLst/>
          </a:prstGeom>
          <a:noFill/>
          <a:ln/>
        </p:spPr>
        <p:txBody>
          <a:bodyPr wrap="square" lIns="0" tIns="0" rIns="0" bIns="0" rtlCol="0" anchor="t"/>
          <a:lstStyle/>
          <a:p>
            <a:pPr indent="0" marL="0">
              <a:buNone/>
            </a:pPr>
            <a:r>
              <a:rPr lang="en-US" sz="900" spc="120" kern="0" dirty="0">
                <a:solidFill>
                  <a:srgbClr val="FBE122"/>
                </a:solidFill>
                <a:latin typeface="Poppins SemiBold" pitchFamily="34" charset="0"/>
                <a:ea typeface="Poppins SemiBold" pitchFamily="34" charset="-122"/>
                <a:cs typeface="Poppins SemiBold" pitchFamily="34" charset="-120"/>
              </a:rPr>
              <a:t>ENAM TINDAKAN YANG BISA LAHIR DARI LANGKAH 3</a:t>
            </a:r>
            <a:endParaRPr lang="en-US" sz="900" dirty="0"/>
          </a:p>
        </p:txBody>
      </p:sp>
      <p:sp>
        <p:nvSpPr>
          <p:cNvPr id="28" name="Text 25"/>
          <p:cNvSpPr/>
          <p:nvPr/>
        </p:nvSpPr>
        <p:spPr>
          <a:xfrm>
            <a:off x="6199632" y="2304288"/>
            <a:ext cx="5212080" cy="2560320"/>
          </a:xfrm>
          <a:prstGeom prst="rect">
            <a:avLst/>
          </a:prstGeom>
          <a:noFill/>
          <a:ln/>
        </p:spPr>
        <p:txBody>
          <a:bodyPr wrap="square" lIns="0" tIns="0" rIns="0" bIns="0" rtlCol="0" anchor="t"/>
          <a:lstStyle/>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Jadikan kekuatan sebagai fondasi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Perbaiki kelemahan yang menghambat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Pakai kekuatan untuk meredam ancaman besar</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Kejar peluang yang paling cocok dengan kekuatan</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Benahi kelemahan yang menghalangi peluang penting</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Tutup kelemahan yang membuat rentan pada ancaman</a:t>
            </a:r>
            <a:endParaRPr lang="en-US" sz="1000" dirty="0"/>
          </a:p>
        </p:txBody>
      </p:sp>
      <p:sp>
        <p:nvSpPr>
          <p:cNvPr id="29" name="Shape 26"/>
          <p:cNvSpPr/>
          <p:nvPr/>
        </p:nvSpPr>
        <p:spPr>
          <a:xfrm>
            <a:off x="548640" y="5138928"/>
            <a:ext cx="11064240" cy="731520"/>
          </a:xfrm>
          <a:prstGeom prst="rect">
            <a:avLst/>
          </a:prstGeom>
          <a:solidFill>
            <a:srgbClr val="C8102E"/>
          </a:solidFill>
          <a:ln w="12700">
            <a:solidFill>
              <a:srgbClr val="C8102E"/>
            </a:solidFill>
            <a:prstDash val="solid"/>
          </a:ln>
        </p:spPr>
      </p:sp>
      <p:sp>
        <p:nvSpPr>
          <p:cNvPr id="30" name="Text 27"/>
          <p:cNvSpPr/>
          <p:nvPr/>
        </p:nvSpPr>
        <p:spPr>
          <a:xfrm>
            <a:off x="777240" y="5266944"/>
            <a:ext cx="10607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KETERBATASAN SWOT, DIAKUI BUKUNYA SENDIRI</a:t>
            </a:r>
            <a:endParaRPr lang="en-US" sz="800" dirty="0"/>
          </a:p>
        </p:txBody>
      </p:sp>
      <p:sp>
        <p:nvSpPr>
          <p:cNvPr id="31" name="Text 28"/>
          <p:cNvSpPr/>
          <p:nvPr/>
        </p:nvSpPr>
        <p:spPr>
          <a:xfrm>
            <a:off x="777240" y="5504688"/>
            <a:ext cx="10607040"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Kekuatannya ada pada kesederhanaan, dan itu juga batasnya. Untuk pemahaman yang lebih dalam dibutuhkan alat yang lebih canggih, yaitu Q3 sampai Q5 berikutnya.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RESOURCE DAN CAPABILITY: DUA HAL BERBEDA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Resource itu sesuatu yang perusahaan PUNYA. Capability itu sesuatu yang perusahaan BISA KERJAKAN. Capability dibangun dengan mengerahkan resource.</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09</a:t>
            </a:r>
            <a:endParaRPr lang="en-US" sz="900" dirty="0"/>
          </a:p>
        </p:txBody>
      </p:sp>
      <p:sp>
        <p:nvSpPr>
          <p:cNvPr id="10" name="Shape 7"/>
          <p:cNvSpPr/>
          <p:nvPr/>
        </p:nvSpPr>
        <p:spPr>
          <a:xfrm>
            <a:off x="548640" y="1755648"/>
            <a:ext cx="5432908" cy="960120"/>
          </a:xfrm>
          <a:prstGeom prst="rect">
            <a:avLst/>
          </a:prstGeom>
          <a:solidFill>
            <a:srgbClr val="27161A"/>
          </a:solidFill>
          <a:ln w="12700">
            <a:solidFill>
              <a:srgbClr val="27161A"/>
            </a:solidFill>
            <a:prstDash val="solid"/>
          </a:ln>
        </p:spPr>
      </p:sp>
      <p:sp>
        <p:nvSpPr>
          <p:cNvPr id="11" name="Shape 8"/>
          <p:cNvSpPr/>
          <p:nvPr/>
        </p:nvSpPr>
        <p:spPr>
          <a:xfrm>
            <a:off x="548640" y="1755648"/>
            <a:ext cx="54864" cy="960120"/>
          </a:xfrm>
          <a:prstGeom prst="rect">
            <a:avLst/>
          </a:prstGeom>
          <a:solidFill>
            <a:srgbClr val="C8102E"/>
          </a:solidFill>
          <a:ln w="12700">
            <a:solidFill>
              <a:srgbClr val="C8102E"/>
            </a:solidFill>
            <a:prstDash val="solid"/>
          </a:ln>
        </p:spPr>
      </p:sp>
      <p:sp>
        <p:nvSpPr>
          <p:cNvPr id="12" name="Text 9"/>
          <p:cNvSpPr/>
          <p:nvPr/>
        </p:nvSpPr>
        <p:spPr>
          <a:xfrm>
            <a:off x="768096" y="1901952"/>
            <a:ext cx="5067148" cy="27432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Resource</a:t>
            </a:r>
            <a:endParaRPr lang="en-US" sz="1300" dirty="0"/>
          </a:p>
        </p:txBody>
      </p:sp>
      <p:sp>
        <p:nvSpPr>
          <p:cNvPr id="13" name="Text 10"/>
          <p:cNvSpPr/>
          <p:nvPr/>
        </p:nvSpPr>
        <p:spPr>
          <a:xfrm>
            <a:off x="768096" y="2231136"/>
            <a:ext cx="5067148" cy="37490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Aset bersaing yang dimiliki atau dikendalikan perusahaan. Contoh: merek, pabrik, kas, paten, tim R&amp;D.</a:t>
            </a:r>
            <a:endParaRPr lang="en-US" sz="950" dirty="0"/>
          </a:p>
        </p:txBody>
      </p:sp>
      <p:sp>
        <p:nvSpPr>
          <p:cNvPr id="14" name="Shape 11"/>
          <p:cNvSpPr/>
          <p:nvPr/>
        </p:nvSpPr>
        <p:spPr>
          <a:xfrm>
            <a:off x="6210148" y="1755648"/>
            <a:ext cx="5432908" cy="960120"/>
          </a:xfrm>
          <a:prstGeom prst="rect">
            <a:avLst/>
          </a:prstGeom>
          <a:solidFill>
            <a:srgbClr val="27161A"/>
          </a:solidFill>
          <a:ln w="12700">
            <a:solidFill>
              <a:srgbClr val="27161A"/>
            </a:solidFill>
            <a:prstDash val="solid"/>
          </a:ln>
        </p:spPr>
      </p:sp>
      <p:sp>
        <p:nvSpPr>
          <p:cNvPr id="15" name="Shape 12"/>
          <p:cNvSpPr/>
          <p:nvPr/>
        </p:nvSpPr>
        <p:spPr>
          <a:xfrm>
            <a:off x="6210148" y="1755648"/>
            <a:ext cx="54864" cy="960120"/>
          </a:xfrm>
          <a:prstGeom prst="rect">
            <a:avLst/>
          </a:prstGeom>
          <a:solidFill>
            <a:srgbClr val="FBE122"/>
          </a:solidFill>
          <a:ln w="12700">
            <a:solidFill>
              <a:srgbClr val="FBE122"/>
            </a:solidFill>
            <a:prstDash val="solid"/>
          </a:ln>
        </p:spPr>
      </p:sp>
      <p:sp>
        <p:nvSpPr>
          <p:cNvPr id="16" name="Text 13"/>
          <p:cNvSpPr/>
          <p:nvPr/>
        </p:nvSpPr>
        <p:spPr>
          <a:xfrm>
            <a:off x="6429604" y="1901952"/>
            <a:ext cx="5067148" cy="27432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Capability</a:t>
            </a:r>
            <a:endParaRPr lang="en-US" sz="1300" dirty="0"/>
          </a:p>
        </p:txBody>
      </p:sp>
      <p:sp>
        <p:nvSpPr>
          <p:cNvPr id="17" name="Text 14"/>
          <p:cNvSpPr/>
          <p:nvPr/>
        </p:nvSpPr>
        <p:spPr>
          <a:xfrm>
            <a:off x="6429604" y="2231136"/>
            <a:ext cx="5067148" cy="37490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Kemampuan perusahaan mengerjakan suatu aktivitas internal dengan baik. Disebut juga competence. Contoh: kemampuan Starbucks mengelola dan melatih karyawan.</a:t>
            </a:r>
            <a:endParaRPr lang="en-US" sz="950" dirty="0"/>
          </a:p>
        </p:txBody>
      </p:sp>
      <p:sp>
        <p:nvSpPr>
          <p:cNvPr id="18" name="Text 15"/>
          <p:cNvSpPr/>
          <p:nvPr/>
        </p:nvSpPr>
        <p:spPr>
          <a:xfrm>
            <a:off x="548640" y="2944368"/>
            <a:ext cx="54864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TABLE 4.3  ·  TIPE RESOURCE</a:t>
            </a:r>
            <a:endParaRPr lang="en-US" sz="850" dirty="0"/>
          </a:p>
        </p:txBody>
      </p:sp>
      <p:sp>
        <p:nvSpPr>
          <p:cNvPr id="19" name="Shape 16"/>
          <p:cNvSpPr/>
          <p:nvPr/>
        </p:nvSpPr>
        <p:spPr>
          <a:xfrm>
            <a:off x="548640" y="3236976"/>
            <a:ext cx="5432908" cy="457200"/>
          </a:xfrm>
          <a:prstGeom prst="rect">
            <a:avLst/>
          </a:prstGeom>
          <a:solidFill>
            <a:srgbClr val="C8102E"/>
          </a:solidFill>
          <a:ln w="12700">
            <a:solidFill>
              <a:srgbClr val="C8102E"/>
            </a:solidFill>
            <a:prstDash val="solid"/>
          </a:ln>
        </p:spPr>
      </p:sp>
      <p:sp>
        <p:nvSpPr>
          <p:cNvPr id="20" name="Text 17"/>
          <p:cNvSpPr/>
          <p:nvPr/>
        </p:nvSpPr>
        <p:spPr>
          <a:xfrm>
            <a:off x="768096" y="3328416"/>
            <a:ext cx="1828800" cy="27432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Tangible</a:t>
            </a:r>
            <a:endParaRPr lang="en-US" sz="1300" dirty="0"/>
          </a:p>
        </p:txBody>
      </p:sp>
      <p:sp>
        <p:nvSpPr>
          <p:cNvPr id="21" name="Text 18"/>
          <p:cNvSpPr/>
          <p:nvPr/>
        </p:nvSpPr>
        <p:spPr>
          <a:xfrm>
            <a:off x="2377440" y="3364992"/>
            <a:ext cx="3421228" cy="27432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bisa disentuh atau dihitung</a:t>
            </a:r>
            <a:endParaRPr lang="en-US" sz="900" dirty="0"/>
          </a:p>
        </p:txBody>
      </p:sp>
      <p:sp>
        <p:nvSpPr>
          <p:cNvPr id="22" name="Shape 19"/>
          <p:cNvSpPr/>
          <p:nvPr/>
        </p:nvSpPr>
        <p:spPr>
          <a:xfrm>
            <a:off x="548640" y="3694176"/>
            <a:ext cx="5432908" cy="566928"/>
          </a:xfrm>
          <a:prstGeom prst="rect">
            <a:avLst/>
          </a:prstGeom>
          <a:solidFill>
            <a:srgbClr val="27161A"/>
          </a:solidFill>
          <a:ln w="12700">
            <a:solidFill>
              <a:srgbClr val="27161A"/>
            </a:solidFill>
            <a:prstDash val="solid"/>
          </a:ln>
        </p:spPr>
      </p:sp>
      <p:sp>
        <p:nvSpPr>
          <p:cNvPr id="23" name="Text 20"/>
          <p:cNvSpPr/>
          <p:nvPr/>
        </p:nvSpPr>
        <p:spPr>
          <a:xfrm>
            <a:off x="768096" y="3785616"/>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Fisik</a:t>
            </a:r>
            <a:endParaRPr lang="en-US" sz="1000" dirty="0"/>
          </a:p>
        </p:txBody>
      </p:sp>
      <p:sp>
        <p:nvSpPr>
          <p:cNvPr id="24" name="Text 21"/>
          <p:cNvSpPr/>
          <p:nvPr/>
        </p:nvSpPr>
        <p:spPr>
          <a:xfrm>
            <a:off x="2468880" y="3785616"/>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tanah, pabrik, peralatan, lokasi, sumber daya alam</a:t>
            </a:r>
            <a:endParaRPr lang="en-US" sz="900" dirty="0"/>
          </a:p>
        </p:txBody>
      </p:sp>
      <p:sp>
        <p:nvSpPr>
          <p:cNvPr id="25" name="Shape 22"/>
          <p:cNvSpPr/>
          <p:nvPr/>
        </p:nvSpPr>
        <p:spPr>
          <a:xfrm>
            <a:off x="548640" y="4297680"/>
            <a:ext cx="5432908" cy="566928"/>
          </a:xfrm>
          <a:prstGeom prst="rect">
            <a:avLst/>
          </a:prstGeom>
          <a:solidFill>
            <a:srgbClr val="32191E"/>
          </a:solidFill>
          <a:ln w="12700">
            <a:solidFill>
              <a:srgbClr val="32191E"/>
            </a:solidFill>
            <a:prstDash val="solid"/>
          </a:ln>
        </p:spPr>
      </p:sp>
      <p:sp>
        <p:nvSpPr>
          <p:cNvPr id="26" name="Text 23"/>
          <p:cNvSpPr/>
          <p:nvPr/>
        </p:nvSpPr>
        <p:spPr>
          <a:xfrm>
            <a:off x="768096" y="4389120"/>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Finansial</a:t>
            </a:r>
            <a:endParaRPr lang="en-US" sz="1000" dirty="0"/>
          </a:p>
        </p:txBody>
      </p:sp>
      <p:sp>
        <p:nvSpPr>
          <p:cNvPr id="27" name="Text 24"/>
          <p:cNvSpPr/>
          <p:nvPr/>
        </p:nvSpPr>
        <p:spPr>
          <a:xfrm>
            <a:off x="2468880" y="4389120"/>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kas, surat berharga, peringkat kredit</a:t>
            </a:r>
            <a:endParaRPr lang="en-US" sz="900" dirty="0"/>
          </a:p>
        </p:txBody>
      </p:sp>
      <p:sp>
        <p:nvSpPr>
          <p:cNvPr id="28" name="Shape 25"/>
          <p:cNvSpPr/>
          <p:nvPr/>
        </p:nvSpPr>
        <p:spPr>
          <a:xfrm>
            <a:off x="548640" y="4901184"/>
            <a:ext cx="5432908" cy="566928"/>
          </a:xfrm>
          <a:prstGeom prst="rect">
            <a:avLst/>
          </a:prstGeom>
          <a:solidFill>
            <a:srgbClr val="27161A"/>
          </a:solidFill>
          <a:ln w="12700">
            <a:solidFill>
              <a:srgbClr val="27161A"/>
            </a:solidFill>
            <a:prstDash val="solid"/>
          </a:ln>
        </p:spPr>
      </p:sp>
      <p:sp>
        <p:nvSpPr>
          <p:cNvPr id="29" name="Text 26"/>
          <p:cNvSpPr/>
          <p:nvPr/>
        </p:nvSpPr>
        <p:spPr>
          <a:xfrm>
            <a:off x="768096" y="4992624"/>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Teknologi</a:t>
            </a:r>
            <a:endParaRPr lang="en-US" sz="1000" dirty="0"/>
          </a:p>
        </p:txBody>
      </p:sp>
      <p:sp>
        <p:nvSpPr>
          <p:cNvPr id="30" name="Text 27"/>
          <p:cNvSpPr/>
          <p:nvPr/>
        </p:nvSpPr>
        <p:spPr>
          <a:xfrm>
            <a:off x="2468880" y="4992624"/>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paten, hak cipta, teknologi produksi dan inovasi</a:t>
            </a:r>
            <a:endParaRPr lang="en-US" sz="900" dirty="0"/>
          </a:p>
        </p:txBody>
      </p:sp>
      <p:sp>
        <p:nvSpPr>
          <p:cNvPr id="31" name="Shape 28"/>
          <p:cNvSpPr/>
          <p:nvPr/>
        </p:nvSpPr>
        <p:spPr>
          <a:xfrm>
            <a:off x="548640" y="5504688"/>
            <a:ext cx="5432908" cy="566928"/>
          </a:xfrm>
          <a:prstGeom prst="rect">
            <a:avLst/>
          </a:prstGeom>
          <a:solidFill>
            <a:srgbClr val="32191E"/>
          </a:solidFill>
          <a:ln w="12700">
            <a:solidFill>
              <a:srgbClr val="32191E"/>
            </a:solidFill>
            <a:prstDash val="solid"/>
          </a:ln>
        </p:spPr>
      </p:sp>
      <p:sp>
        <p:nvSpPr>
          <p:cNvPr id="32" name="Text 29"/>
          <p:cNvSpPr/>
          <p:nvPr/>
        </p:nvSpPr>
        <p:spPr>
          <a:xfrm>
            <a:off x="768096" y="5596128"/>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Organisasional</a:t>
            </a:r>
            <a:endParaRPr lang="en-US" sz="1000" dirty="0"/>
          </a:p>
        </p:txBody>
      </p:sp>
      <p:sp>
        <p:nvSpPr>
          <p:cNvPr id="33" name="Text 30"/>
          <p:cNvSpPr/>
          <p:nvPr/>
        </p:nvSpPr>
        <p:spPr>
          <a:xfrm>
            <a:off x="2468880" y="5596128"/>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sistem IT, sistem kendali, struktur organisasi</a:t>
            </a:r>
            <a:endParaRPr lang="en-US" sz="900" dirty="0"/>
          </a:p>
        </p:txBody>
      </p:sp>
      <p:sp>
        <p:nvSpPr>
          <p:cNvPr id="34" name="Shape 31"/>
          <p:cNvSpPr/>
          <p:nvPr/>
        </p:nvSpPr>
        <p:spPr>
          <a:xfrm>
            <a:off x="6210148" y="3236976"/>
            <a:ext cx="5432908" cy="457200"/>
          </a:xfrm>
          <a:prstGeom prst="rect">
            <a:avLst/>
          </a:prstGeom>
          <a:solidFill>
            <a:srgbClr val="FBE122"/>
          </a:solidFill>
          <a:ln w="12700">
            <a:solidFill>
              <a:srgbClr val="FBE122"/>
            </a:solidFill>
            <a:prstDash val="solid"/>
          </a:ln>
        </p:spPr>
      </p:sp>
      <p:sp>
        <p:nvSpPr>
          <p:cNvPr id="35" name="Text 32"/>
          <p:cNvSpPr/>
          <p:nvPr/>
        </p:nvSpPr>
        <p:spPr>
          <a:xfrm>
            <a:off x="6429604" y="3328416"/>
            <a:ext cx="1828800" cy="274320"/>
          </a:xfrm>
          <a:prstGeom prst="rect">
            <a:avLst/>
          </a:prstGeom>
          <a:noFill/>
          <a:ln/>
        </p:spPr>
        <p:txBody>
          <a:bodyPr wrap="square" lIns="0" tIns="0" rIns="0" bIns="0" rtlCol="0" anchor="t"/>
          <a:lstStyle/>
          <a:p>
            <a:pPr indent="0" marL="0">
              <a:buNone/>
            </a:pPr>
            <a:r>
              <a:rPr lang="en-US" sz="1300" dirty="0">
                <a:solidFill>
                  <a:srgbClr val="1B0F10"/>
                </a:solidFill>
                <a:latin typeface="Poppins ExtraBold" pitchFamily="34" charset="0"/>
                <a:ea typeface="Poppins ExtraBold" pitchFamily="34" charset="-122"/>
                <a:cs typeface="Poppins ExtraBold" pitchFamily="34" charset="-120"/>
              </a:rPr>
              <a:t>Intangible</a:t>
            </a:r>
            <a:endParaRPr lang="en-US" sz="1300" dirty="0"/>
          </a:p>
        </p:txBody>
      </p:sp>
      <p:sp>
        <p:nvSpPr>
          <p:cNvPr id="36" name="Text 33"/>
          <p:cNvSpPr/>
          <p:nvPr/>
        </p:nvSpPr>
        <p:spPr>
          <a:xfrm>
            <a:off x="8038948" y="3364992"/>
            <a:ext cx="3421228" cy="274320"/>
          </a:xfrm>
          <a:prstGeom prst="rect">
            <a:avLst/>
          </a:prstGeom>
          <a:noFill/>
          <a:ln/>
        </p:spPr>
        <p:txBody>
          <a:bodyPr wrap="square" lIns="0" tIns="0" rIns="0" bIns="0" rtlCol="0" anchor="t"/>
          <a:lstStyle/>
          <a:p>
            <a:pPr indent="0" marL="0">
              <a:buNone/>
            </a:pPr>
            <a:r>
              <a:rPr lang="en-US" sz="900" dirty="0">
                <a:solidFill>
                  <a:srgbClr val="1B0F10"/>
                </a:solidFill>
                <a:latin typeface="Poppins" pitchFamily="34" charset="0"/>
                <a:ea typeface="Poppins" pitchFamily="34" charset="-122"/>
                <a:cs typeface="Poppins" pitchFamily="34" charset="-120"/>
              </a:rPr>
              <a:t>tidak berwujud</a:t>
            </a:r>
            <a:endParaRPr lang="en-US" sz="900" dirty="0"/>
          </a:p>
        </p:txBody>
      </p:sp>
      <p:sp>
        <p:nvSpPr>
          <p:cNvPr id="37" name="Shape 34"/>
          <p:cNvSpPr/>
          <p:nvPr/>
        </p:nvSpPr>
        <p:spPr>
          <a:xfrm>
            <a:off x="6210148" y="3694176"/>
            <a:ext cx="5432908" cy="566928"/>
          </a:xfrm>
          <a:prstGeom prst="rect">
            <a:avLst/>
          </a:prstGeom>
          <a:solidFill>
            <a:srgbClr val="27161A"/>
          </a:solidFill>
          <a:ln w="12700">
            <a:solidFill>
              <a:srgbClr val="27161A"/>
            </a:solidFill>
            <a:prstDash val="solid"/>
          </a:ln>
        </p:spPr>
      </p:sp>
      <p:sp>
        <p:nvSpPr>
          <p:cNvPr id="38" name="Text 35"/>
          <p:cNvSpPr/>
          <p:nvPr/>
        </p:nvSpPr>
        <p:spPr>
          <a:xfrm>
            <a:off x="6429604" y="3785616"/>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Human assets</a:t>
            </a:r>
            <a:endParaRPr lang="en-US" sz="1000" dirty="0"/>
          </a:p>
        </p:txBody>
      </p:sp>
      <p:sp>
        <p:nvSpPr>
          <p:cNvPr id="39" name="Text 36"/>
          <p:cNvSpPr/>
          <p:nvPr/>
        </p:nvSpPr>
        <p:spPr>
          <a:xfrm>
            <a:off x="8130388" y="3785616"/>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pendidikan, pengalaman, bakat, pengetahuan</a:t>
            </a:r>
            <a:endParaRPr lang="en-US" sz="900" dirty="0"/>
          </a:p>
        </p:txBody>
      </p:sp>
      <p:sp>
        <p:nvSpPr>
          <p:cNvPr id="40" name="Shape 37"/>
          <p:cNvSpPr/>
          <p:nvPr/>
        </p:nvSpPr>
        <p:spPr>
          <a:xfrm>
            <a:off x="6210148" y="4297680"/>
            <a:ext cx="5432908" cy="566928"/>
          </a:xfrm>
          <a:prstGeom prst="rect">
            <a:avLst/>
          </a:prstGeom>
          <a:solidFill>
            <a:srgbClr val="32191E"/>
          </a:solidFill>
          <a:ln w="12700">
            <a:solidFill>
              <a:srgbClr val="32191E"/>
            </a:solidFill>
            <a:prstDash val="solid"/>
          </a:ln>
        </p:spPr>
      </p:sp>
      <p:sp>
        <p:nvSpPr>
          <p:cNvPr id="41" name="Text 38"/>
          <p:cNvSpPr/>
          <p:nvPr/>
        </p:nvSpPr>
        <p:spPr>
          <a:xfrm>
            <a:off x="6429604" y="4389120"/>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reputasi</a:t>
            </a:r>
            <a:endParaRPr lang="en-US" sz="1000" dirty="0"/>
          </a:p>
        </p:txBody>
      </p:sp>
      <p:sp>
        <p:nvSpPr>
          <p:cNvPr id="42" name="Text 39"/>
          <p:cNvSpPr/>
          <p:nvPr/>
        </p:nvSpPr>
        <p:spPr>
          <a:xfrm>
            <a:off x="8130388" y="4389120"/>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nama merek, citra, loyalitas, reputasi mutu</a:t>
            </a:r>
            <a:endParaRPr lang="en-US" sz="900" dirty="0"/>
          </a:p>
        </p:txBody>
      </p:sp>
      <p:sp>
        <p:nvSpPr>
          <p:cNvPr id="43" name="Shape 40"/>
          <p:cNvSpPr/>
          <p:nvPr/>
        </p:nvSpPr>
        <p:spPr>
          <a:xfrm>
            <a:off x="6210148" y="4901184"/>
            <a:ext cx="5432908" cy="566928"/>
          </a:xfrm>
          <a:prstGeom prst="rect">
            <a:avLst/>
          </a:prstGeom>
          <a:solidFill>
            <a:srgbClr val="27161A"/>
          </a:solidFill>
          <a:ln w="12700">
            <a:solidFill>
              <a:srgbClr val="27161A"/>
            </a:solidFill>
            <a:prstDash val="solid"/>
          </a:ln>
        </p:spPr>
      </p:sp>
      <p:sp>
        <p:nvSpPr>
          <p:cNvPr id="44" name="Text 41"/>
          <p:cNvSpPr/>
          <p:nvPr/>
        </p:nvSpPr>
        <p:spPr>
          <a:xfrm>
            <a:off x="6429604" y="4992624"/>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Relasi</a:t>
            </a:r>
            <a:endParaRPr lang="en-US" sz="1000" dirty="0"/>
          </a:p>
        </p:txBody>
      </p:sp>
      <p:sp>
        <p:nvSpPr>
          <p:cNvPr id="45" name="Text 42"/>
          <p:cNvSpPr/>
          <p:nvPr/>
        </p:nvSpPr>
        <p:spPr>
          <a:xfrm>
            <a:off x="8130388" y="4992624"/>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aliansi, joint venture, jaringan dealer</a:t>
            </a:r>
            <a:endParaRPr lang="en-US" sz="900" dirty="0"/>
          </a:p>
        </p:txBody>
      </p:sp>
      <p:sp>
        <p:nvSpPr>
          <p:cNvPr id="46" name="Shape 43"/>
          <p:cNvSpPr/>
          <p:nvPr/>
        </p:nvSpPr>
        <p:spPr>
          <a:xfrm>
            <a:off x="6210148" y="5504688"/>
            <a:ext cx="5432908" cy="566928"/>
          </a:xfrm>
          <a:prstGeom prst="rect">
            <a:avLst/>
          </a:prstGeom>
          <a:solidFill>
            <a:srgbClr val="32191E"/>
          </a:solidFill>
          <a:ln w="12700">
            <a:solidFill>
              <a:srgbClr val="32191E"/>
            </a:solidFill>
            <a:prstDash val="solid"/>
          </a:ln>
        </p:spPr>
      </p:sp>
      <p:sp>
        <p:nvSpPr>
          <p:cNvPr id="47" name="Text 44"/>
          <p:cNvSpPr/>
          <p:nvPr/>
        </p:nvSpPr>
        <p:spPr>
          <a:xfrm>
            <a:off x="6429604" y="5596128"/>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Budaya &amp; insentif</a:t>
            </a:r>
            <a:endParaRPr lang="en-US" sz="1000" dirty="0"/>
          </a:p>
        </p:txBody>
      </p:sp>
      <p:sp>
        <p:nvSpPr>
          <p:cNvPr id="48" name="Text 45"/>
          <p:cNvSpPr/>
          <p:nvPr/>
        </p:nvSpPr>
        <p:spPr>
          <a:xfrm>
            <a:off x="8130388" y="5596128"/>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norma perilaku, keyakinan bersama, kompensasi</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0F10"/>
        </a:solidFill>
      </p:bgPr>
    </p:bg>
    <p:spTree>
      <p:nvGrpSpPr>
        <p:cNvPr id="1" name=""/>
        <p:cNvGrpSpPr/>
        <p:nvPr/>
      </p:nvGrpSpPr>
      <p:grpSpPr>
        <a:xfrm>
          <a:off x="0" y="0"/>
          <a:ext cx="0" cy="0"/>
          <a:chOff x="0" y="0"/>
          <a:chExt cx="0" cy="0"/>
        </a:xfrm>
      </p:grpSpPr>
      <p:pic>
        <p:nvPicPr>
          <p:cNvPr id="2" name="Image 0" descr="strip_c_dim.jpg">    </p:cNvPr>
          <p:cNvPicPr>
            <a:picLocks noChangeAspect="1"/>
          </p:cNvPicPr>
          <p:nvPr/>
        </p:nvPicPr>
        <p:blipFill>
          <a:blip r:embed="rId1"/>
          <a:stretch>
            <a:fillRect/>
          </a:stretch>
        </p:blipFill>
        <p:spPr>
          <a:xfrm>
            <a:off x="10774375" y="0"/>
            <a:ext cx="1417320" cy="6858000"/>
          </a:xfrm>
          <a:prstGeom prst="rect">
            <a:avLst/>
          </a:prstGeom>
        </p:spPr>
      </p:pic>
      <p:sp>
        <p:nvSpPr>
          <p:cNvPr id="3" name="Shape 0"/>
          <p:cNvSpPr/>
          <p:nvPr/>
        </p:nvSpPr>
        <p:spPr>
          <a:xfrm>
            <a:off x="10774375" y="0"/>
            <a:ext cx="45720" cy="6858000"/>
          </a:xfrm>
          <a:prstGeom prst="rect">
            <a:avLst/>
          </a:prstGeom>
          <a:solidFill>
            <a:srgbClr val="C8102E"/>
          </a:solidFill>
          <a:ln w="12700">
            <a:solidFill>
              <a:srgbClr val="C8102E"/>
            </a:solidFill>
            <a:prstDash val="solid"/>
          </a:ln>
        </p:spPr>
      </p:sp>
      <p:sp>
        <p:nvSpPr>
          <p:cNvPr id="4" name="Shape 1"/>
          <p:cNvSpPr/>
          <p:nvPr/>
        </p:nvSpPr>
        <p:spPr>
          <a:xfrm>
            <a:off x="548640" y="429768"/>
            <a:ext cx="292608" cy="54864"/>
          </a:xfrm>
          <a:prstGeom prst="rect">
            <a:avLst/>
          </a:prstGeom>
          <a:solidFill>
            <a:srgbClr val="C8102E"/>
          </a:solidFill>
          <a:ln w="12700">
            <a:solidFill>
              <a:srgbClr val="C8102E"/>
            </a:solidFill>
            <a:prstDash val="solid"/>
          </a:ln>
        </p:spPr>
      </p:sp>
      <p:sp>
        <p:nvSpPr>
          <p:cNvPr id="5" name="Text 2"/>
          <p:cNvSpPr/>
          <p:nvPr/>
        </p:nvSpPr>
        <p:spPr>
          <a:xfrm>
            <a:off x="932688" y="301752"/>
            <a:ext cx="91284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LANJUTAN</a:t>
            </a:r>
            <a:endParaRPr lang="en-US" sz="950" dirty="0"/>
          </a:p>
        </p:txBody>
      </p:sp>
      <p:sp>
        <p:nvSpPr>
          <p:cNvPr id="6" name="Text 3"/>
          <p:cNvSpPr/>
          <p:nvPr/>
        </p:nvSpPr>
        <p:spPr>
          <a:xfrm>
            <a:off x="548640" y="658368"/>
            <a:ext cx="94942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CARA MENEMUKAN CAPABILITY PERUSAHAAN</a:t>
            </a:r>
            <a:endParaRPr lang="en-US" sz="2600" dirty="0"/>
          </a:p>
        </p:txBody>
      </p:sp>
      <p:sp>
        <p:nvSpPr>
          <p:cNvPr id="7" name="Text 4"/>
          <p:cNvSpPr/>
          <p:nvPr/>
        </p:nvSpPr>
        <p:spPr>
          <a:xfrm>
            <a:off x="548640" y="1188720"/>
            <a:ext cx="94942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Capability lebih sulit ditemukan daripada resource, karena wujudnya tidak kelihatan. Buku memberi dua cara.</a:t>
            </a:r>
            <a:endParaRPr lang="en-US" sz="1150" dirty="0"/>
          </a:p>
        </p:txBody>
      </p:sp>
      <p:sp>
        <p:nvSpPr>
          <p:cNvPr id="8" name="Shape 5"/>
          <p:cNvSpPr/>
          <p:nvPr/>
        </p:nvSpPr>
        <p:spPr>
          <a:xfrm>
            <a:off x="548640" y="6382512"/>
            <a:ext cx="9494215" cy="9144"/>
          </a:xfrm>
          <a:prstGeom prst="rect">
            <a:avLst/>
          </a:prstGeom>
          <a:solidFill>
            <a:srgbClr val="46292D"/>
          </a:solidFill>
          <a:ln w="12700">
            <a:solidFill>
              <a:srgbClr val="46292D"/>
            </a:solidFill>
            <a:prstDash val="solid"/>
          </a:ln>
        </p:spPr>
      </p:sp>
      <p:sp>
        <p:nvSpPr>
          <p:cNvPr id="9" name="Text 6"/>
          <p:cNvSpPr/>
          <p:nvPr/>
        </p:nvSpPr>
        <p:spPr>
          <a:xfrm>
            <a:off x="548640" y="6455664"/>
            <a:ext cx="85798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10" name="Text 7"/>
          <p:cNvSpPr/>
          <p:nvPr/>
        </p:nvSpPr>
        <p:spPr>
          <a:xfrm>
            <a:off x="93113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10</a:t>
            </a:r>
            <a:endParaRPr lang="en-US" sz="900" dirty="0"/>
          </a:p>
        </p:txBody>
      </p:sp>
      <p:sp>
        <p:nvSpPr>
          <p:cNvPr id="12" name="Shape 8"/>
          <p:cNvSpPr/>
          <p:nvPr/>
        </p:nvSpPr>
        <p:spPr>
          <a:xfrm>
            <a:off x="548640" y="1755648"/>
            <a:ext cx="4632808" cy="1554480"/>
          </a:xfrm>
          <a:prstGeom prst="rect">
            <a:avLst/>
          </a:prstGeom>
          <a:solidFill>
            <a:srgbClr val="27161A"/>
          </a:solidFill>
          <a:ln w="12700">
            <a:solidFill>
              <a:srgbClr val="27161A"/>
            </a:solidFill>
            <a:prstDash val="solid"/>
          </a:ln>
        </p:spPr>
      </p:sp>
      <p:sp>
        <p:nvSpPr>
          <p:cNvPr id="13" name="Shape 9"/>
          <p:cNvSpPr/>
          <p:nvPr/>
        </p:nvSpPr>
        <p:spPr>
          <a:xfrm>
            <a:off x="548640" y="1755648"/>
            <a:ext cx="54864" cy="1554480"/>
          </a:xfrm>
          <a:prstGeom prst="rect">
            <a:avLst/>
          </a:prstGeom>
          <a:solidFill>
            <a:srgbClr val="C8102E"/>
          </a:solidFill>
          <a:ln w="12700">
            <a:solidFill>
              <a:srgbClr val="C8102E"/>
            </a:solidFill>
            <a:prstDash val="solid"/>
          </a:ln>
        </p:spPr>
      </p:sp>
      <p:sp>
        <p:nvSpPr>
          <p:cNvPr id="14" name="Text 10"/>
          <p:cNvSpPr/>
          <p:nvPr/>
        </p:nvSpPr>
        <p:spPr>
          <a:xfrm>
            <a:off x="768096" y="1901952"/>
            <a:ext cx="426704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1</a:t>
            </a:r>
            <a:endParaRPr lang="en-US" sz="800" dirty="0"/>
          </a:p>
        </p:txBody>
      </p:sp>
      <p:sp>
        <p:nvSpPr>
          <p:cNvPr id="15" name="Text 11"/>
          <p:cNvSpPr/>
          <p:nvPr/>
        </p:nvSpPr>
        <p:spPr>
          <a:xfrm>
            <a:off x="768096" y="2148840"/>
            <a:ext cx="426704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Berangkat dari daftar resource</a:t>
            </a:r>
            <a:endParaRPr lang="en-US" sz="1200" dirty="0"/>
          </a:p>
        </p:txBody>
      </p:sp>
      <p:sp>
        <p:nvSpPr>
          <p:cNvPr id="16" name="Text 12"/>
          <p:cNvSpPr/>
          <p:nvPr/>
        </p:nvSpPr>
        <p:spPr>
          <a:xfrm>
            <a:off x="768096" y="2478024"/>
            <a:ext cx="4267048" cy="722376"/>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Lihat daftar resource, lalu tanya: kemampuan apa yang mungkin tumbuh dari sini? Armada truk dan pusat distribusi otomatis menandakan kemampuan logistik yang matang.</a:t>
            </a:r>
            <a:endParaRPr lang="en-US" sz="950" dirty="0"/>
          </a:p>
        </p:txBody>
      </p:sp>
      <p:sp>
        <p:nvSpPr>
          <p:cNvPr id="17" name="Shape 13"/>
          <p:cNvSpPr/>
          <p:nvPr/>
        </p:nvSpPr>
        <p:spPr>
          <a:xfrm>
            <a:off x="5410048" y="1755648"/>
            <a:ext cx="4632808" cy="1554480"/>
          </a:xfrm>
          <a:prstGeom prst="rect">
            <a:avLst/>
          </a:prstGeom>
          <a:solidFill>
            <a:srgbClr val="27161A"/>
          </a:solidFill>
          <a:ln w="12700">
            <a:solidFill>
              <a:srgbClr val="27161A"/>
            </a:solidFill>
            <a:prstDash val="solid"/>
          </a:ln>
        </p:spPr>
      </p:sp>
      <p:sp>
        <p:nvSpPr>
          <p:cNvPr id="18" name="Shape 14"/>
          <p:cNvSpPr/>
          <p:nvPr/>
        </p:nvSpPr>
        <p:spPr>
          <a:xfrm>
            <a:off x="5410048" y="1755648"/>
            <a:ext cx="54864" cy="1554480"/>
          </a:xfrm>
          <a:prstGeom prst="rect">
            <a:avLst/>
          </a:prstGeom>
          <a:solidFill>
            <a:srgbClr val="C8102E"/>
          </a:solidFill>
          <a:ln w="12700">
            <a:solidFill>
              <a:srgbClr val="C8102E"/>
            </a:solidFill>
            <a:prstDash val="solid"/>
          </a:ln>
        </p:spPr>
      </p:sp>
      <p:sp>
        <p:nvSpPr>
          <p:cNvPr id="19" name="Text 15"/>
          <p:cNvSpPr/>
          <p:nvPr/>
        </p:nvSpPr>
        <p:spPr>
          <a:xfrm>
            <a:off x="5629504" y="1901952"/>
            <a:ext cx="426704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2</a:t>
            </a:r>
            <a:endParaRPr lang="en-US" sz="800" dirty="0"/>
          </a:p>
        </p:txBody>
      </p:sp>
      <p:sp>
        <p:nvSpPr>
          <p:cNvPr id="20" name="Text 16"/>
          <p:cNvSpPr/>
          <p:nvPr/>
        </p:nvSpPr>
        <p:spPr>
          <a:xfrm>
            <a:off x="5629504" y="2148840"/>
            <a:ext cx="426704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Berangkat dari fungsi perusahaan</a:t>
            </a:r>
            <a:endParaRPr lang="en-US" sz="1200" dirty="0"/>
          </a:p>
        </p:txBody>
      </p:sp>
      <p:sp>
        <p:nvSpPr>
          <p:cNvPr id="21" name="Text 17"/>
          <p:cNvSpPr/>
          <p:nvPr/>
        </p:nvSpPr>
        <p:spPr>
          <a:xfrm>
            <a:off x="5629504" y="2478024"/>
            <a:ext cx="4267048" cy="722376"/>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Telusuri tiap fungsi. Injection molding dan metal stamping di produksi; direct selling dan database marketing di penjualan; riset dasar dan pengembangan produk baru di R&amp;D.</a:t>
            </a:r>
            <a:endParaRPr lang="en-US" sz="950" dirty="0"/>
          </a:p>
        </p:txBody>
      </p:sp>
      <p:sp>
        <p:nvSpPr>
          <p:cNvPr id="22" name="Shape 18"/>
          <p:cNvSpPr/>
          <p:nvPr/>
        </p:nvSpPr>
        <p:spPr>
          <a:xfrm>
            <a:off x="548640" y="3493008"/>
            <a:ext cx="9494215" cy="1051560"/>
          </a:xfrm>
          <a:prstGeom prst="rect">
            <a:avLst/>
          </a:prstGeom>
          <a:solidFill>
            <a:srgbClr val="27161A"/>
          </a:solidFill>
          <a:ln w="12700">
            <a:solidFill>
              <a:srgbClr val="27161A"/>
            </a:solidFill>
            <a:prstDash val="solid"/>
          </a:ln>
        </p:spPr>
      </p:sp>
      <p:sp>
        <p:nvSpPr>
          <p:cNvPr id="23" name="Shape 19"/>
          <p:cNvSpPr/>
          <p:nvPr/>
        </p:nvSpPr>
        <p:spPr>
          <a:xfrm>
            <a:off x="548640" y="3493008"/>
            <a:ext cx="54864" cy="1051560"/>
          </a:xfrm>
          <a:prstGeom prst="rect">
            <a:avLst/>
          </a:prstGeom>
          <a:solidFill>
            <a:srgbClr val="FBE122"/>
          </a:solidFill>
          <a:ln w="12700">
            <a:solidFill>
              <a:srgbClr val="FBE122"/>
            </a:solidFill>
            <a:prstDash val="solid"/>
          </a:ln>
        </p:spPr>
      </p:sp>
      <p:sp>
        <p:nvSpPr>
          <p:cNvPr id="24" name="Text 20"/>
          <p:cNvSpPr/>
          <p:nvPr/>
        </p:nvSpPr>
        <p:spPr>
          <a:xfrm>
            <a:off x="768096" y="3639312"/>
            <a:ext cx="912845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Masalahnya: capability terpenting justru lintas fungsi</a:t>
            </a:r>
            <a:endParaRPr lang="en-US" sz="1200" dirty="0"/>
          </a:p>
        </p:txBody>
      </p:sp>
      <p:sp>
        <p:nvSpPr>
          <p:cNvPr id="25" name="Text 21"/>
          <p:cNvSpPr/>
          <p:nvPr/>
        </p:nvSpPr>
        <p:spPr>
          <a:xfrm>
            <a:off x="768096" y="3968496"/>
            <a:ext cx="9128455" cy="46634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Cara 2 gagal menangkap kemampuan yang lahir dari kerja sama antarbagian. Kemampuan desain Warby Parker bukan cuma karena desainernya, tapi juga riset pasar, rekayasa, dan relasi dengan pemasok serta pabrik.</a:t>
            </a:r>
            <a:endParaRPr lang="en-US" sz="950" dirty="0"/>
          </a:p>
        </p:txBody>
      </p:sp>
      <p:sp>
        <p:nvSpPr>
          <p:cNvPr id="26" name="Shape 22"/>
          <p:cNvSpPr/>
          <p:nvPr/>
        </p:nvSpPr>
        <p:spPr>
          <a:xfrm>
            <a:off x="548640" y="4727448"/>
            <a:ext cx="9494215" cy="1188720"/>
          </a:xfrm>
          <a:prstGeom prst="rect">
            <a:avLst/>
          </a:prstGeom>
          <a:solidFill>
            <a:srgbClr val="C8102E"/>
          </a:solidFill>
          <a:ln w="12700">
            <a:solidFill>
              <a:srgbClr val="C8102E"/>
            </a:solidFill>
            <a:prstDash val="solid"/>
          </a:ln>
        </p:spPr>
      </p:sp>
      <p:sp>
        <p:nvSpPr>
          <p:cNvPr id="27" name="Text 23"/>
          <p:cNvSpPr/>
          <p:nvPr/>
        </p:nvSpPr>
        <p:spPr>
          <a:xfrm>
            <a:off x="777240" y="4855464"/>
            <a:ext cx="90370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RESOURCE BUNDLE</a:t>
            </a:r>
            <a:endParaRPr lang="en-US" sz="800" dirty="0"/>
          </a:p>
        </p:txBody>
      </p:sp>
      <p:sp>
        <p:nvSpPr>
          <p:cNvPr id="28" name="Text 24"/>
          <p:cNvSpPr/>
          <p:nvPr/>
        </p:nvSpPr>
        <p:spPr>
          <a:xfrm>
            <a:off x="777240" y="5093208"/>
            <a:ext cx="9037015" cy="7315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Kumpulan aset bersaing yang saling terkait erat di sekitar satu atau beberapa kemampuan lintas fungsi. Bundle bisa lolos VRIN Test meski komponen-komponennya sendiri tidak. Paket Nike (keahlian styling, riset pasar, endorsement atlet, nama merek, kecakapan manajerial) membuatnya nomor satu di sepatu olahraga lebih dari 20 tahun.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FRAMEWORK INTI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VRIN TEST: EMPAT SARINGAN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Punya resource saja belum berarti unggul. VRIN Test menguji apakah sebuah resource atau capability benar-benar memberi keunggulan, dan apakah keunggulan itu bisa bertahan.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11</a:t>
            </a:r>
            <a:endParaRPr lang="en-US" sz="900" dirty="0"/>
          </a:p>
        </p:txBody>
      </p:sp>
      <p:sp>
        <p:nvSpPr>
          <p:cNvPr id="10" name="Shape 7"/>
          <p:cNvSpPr/>
          <p:nvPr/>
        </p:nvSpPr>
        <p:spPr>
          <a:xfrm>
            <a:off x="548640" y="1755648"/>
            <a:ext cx="2602154" cy="3017520"/>
          </a:xfrm>
          <a:prstGeom prst="rect">
            <a:avLst/>
          </a:prstGeom>
          <a:solidFill>
            <a:srgbClr val="27161A"/>
          </a:solidFill>
          <a:ln w="12700">
            <a:solidFill>
              <a:srgbClr val="27161A"/>
            </a:solidFill>
            <a:prstDash val="solid"/>
          </a:ln>
        </p:spPr>
      </p:sp>
      <p:sp>
        <p:nvSpPr>
          <p:cNvPr id="11" name="Shape 8"/>
          <p:cNvSpPr/>
          <p:nvPr/>
        </p:nvSpPr>
        <p:spPr>
          <a:xfrm>
            <a:off x="548640" y="1755648"/>
            <a:ext cx="2602154" cy="54864"/>
          </a:xfrm>
          <a:prstGeom prst="rect">
            <a:avLst/>
          </a:prstGeom>
          <a:solidFill>
            <a:srgbClr val="C8102E"/>
          </a:solidFill>
          <a:ln w="12700">
            <a:solidFill>
              <a:srgbClr val="C8102E"/>
            </a:solidFill>
            <a:prstDash val="solid"/>
          </a:ln>
        </p:spPr>
      </p:sp>
      <p:sp>
        <p:nvSpPr>
          <p:cNvPr id="12" name="Text 9"/>
          <p:cNvSpPr/>
          <p:nvPr/>
        </p:nvSpPr>
        <p:spPr>
          <a:xfrm>
            <a:off x="749808" y="1847088"/>
            <a:ext cx="1097280" cy="777240"/>
          </a:xfrm>
          <a:prstGeom prst="rect">
            <a:avLst/>
          </a:prstGeom>
          <a:noFill/>
          <a:ln/>
        </p:spPr>
        <p:txBody>
          <a:bodyPr wrap="square" lIns="0" tIns="0" rIns="0" bIns="0" rtlCol="0" anchor="t"/>
          <a:lstStyle/>
          <a:p>
            <a:pPr indent="0" marL="0">
              <a:buNone/>
            </a:pPr>
            <a:r>
              <a:rPr lang="en-US" sz="4400" dirty="0">
                <a:solidFill>
                  <a:srgbClr val="C8102E"/>
                </a:solidFill>
                <a:latin typeface="Poppins ExtraBold" pitchFamily="34" charset="0"/>
                <a:ea typeface="Poppins ExtraBold" pitchFamily="34" charset="-122"/>
                <a:cs typeface="Poppins ExtraBold" pitchFamily="34" charset="-120"/>
              </a:rPr>
              <a:t>V</a:t>
            </a:r>
            <a:endParaRPr lang="en-US" sz="4400" dirty="0"/>
          </a:p>
        </p:txBody>
      </p:sp>
      <p:sp>
        <p:nvSpPr>
          <p:cNvPr id="13" name="Text 10"/>
          <p:cNvSpPr/>
          <p:nvPr/>
        </p:nvSpPr>
        <p:spPr>
          <a:xfrm>
            <a:off x="749808"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Valuable</a:t>
            </a:r>
            <a:endParaRPr lang="en-US" sz="1300" dirty="0"/>
          </a:p>
        </p:txBody>
      </p:sp>
      <p:sp>
        <p:nvSpPr>
          <p:cNvPr id="14" name="Text 11"/>
          <p:cNvSpPr/>
          <p:nvPr/>
        </p:nvSpPr>
        <p:spPr>
          <a:xfrm>
            <a:off x="749808"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Bernilai untuk bersaing?</a:t>
            </a:r>
            <a:endParaRPr lang="en-US" sz="900" dirty="0"/>
          </a:p>
        </p:txBody>
      </p:sp>
      <p:sp>
        <p:nvSpPr>
          <p:cNvPr id="15" name="Text 12"/>
          <p:cNvSpPr/>
          <p:nvPr/>
        </p:nvSpPr>
        <p:spPr>
          <a:xfrm>
            <a:off x="749808"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Harus langsung menopang strategi dan membuat perusahaan lebih efektif bersaing. Google Wallet gagal meski memakai resource teknologi yang membuat Google nomor satu di mesin pencari.</a:t>
            </a:r>
            <a:endParaRPr lang="en-US" sz="900" dirty="0"/>
          </a:p>
        </p:txBody>
      </p:sp>
      <p:sp>
        <p:nvSpPr>
          <p:cNvPr id="16" name="Shape 13"/>
          <p:cNvSpPr/>
          <p:nvPr/>
        </p:nvSpPr>
        <p:spPr>
          <a:xfrm>
            <a:off x="3379394" y="1755648"/>
            <a:ext cx="2602154" cy="3017520"/>
          </a:xfrm>
          <a:prstGeom prst="rect">
            <a:avLst/>
          </a:prstGeom>
          <a:solidFill>
            <a:srgbClr val="27161A"/>
          </a:solidFill>
          <a:ln w="12700">
            <a:solidFill>
              <a:srgbClr val="27161A"/>
            </a:solidFill>
            <a:prstDash val="solid"/>
          </a:ln>
        </p:spPr>
      </p:sp>
      <p:sp>
        <p:nvSpPr>
          <p:cNvPr id="17" name="Shape 14"/>
          <p:cNvSpPr/>
          <p:nvPr/>
        </p:nvSpPr>
        <p:spPr>
          <a:xfrm>
            <a:off x="3379394" y="1755648"/>
            <a:ext cx="2602154" cy="54864"/>
          </a:xfrm>
          <a:prstGeom prst="rect">
            <a:avLst/>
          </a:prstGeom>
          <a:solidFill>
            <a:srgbClr val="C8102E"/>
          </a:solidFill>
          <a:ln w="12700">
            <a:solidFill>
              <a:srgbClr val="C8102E"/>
            </a:solidFill>
            <a:prstDash val="solid"/>
          </a:ln>
        </p:spPr>
      </p:sp>
      <p:sp>
        <p:nvSpPr>
          <p:cNvPr id="18" name="Text 15"/>
          <p:cNvSpPr/>
          <p:nvPr/>
        </p:nvSpPr>
        <p:spPr>
          <a:xfrm>
            <a:off x="3580562" y="1847088"/>
            <a:ext cx="1097280" cy="777240"/>
          </a:xfrm>
          <a:prstGeom prst="rect">
            <a:avLst/>
          </a:prstGeom>
          <a:noFill/>
          <a:ln/>
        </p:spPr>
        <p:txBody>
          <a:bodyPr wrap="square" lIns="0" tIns="0" rIns="0" bIns="0" rtlCol="0" anchor="t"/>
          <a:lstStyle/>
          <a:p>
            <a:pPr indent="0" marL="0">
              <a:buNone/>
            </a:pPr>
            <a:r>
              <a:rPr lang="en-US" sz="4400" dirty="0">
                <a:solidFill>
                  <a:srgbClr val="C8102E"/>
                </a:solidFill>
                <a:latin typeface="Poppins ExtraBold" pitchFamily="34" charset="0"/>
                <a:ea typeface="Poppins ExtraBold" pitchFamily="34" charset="-122"/>
                <a:cs typeface="Poppins ExtraBold" pitchFamily="34" charset="-120"/>
              </a:rPr>
              <a:t>R</a:t>
            </a:r>
            <a:endParaRPr lang="en-US" sz="4400" dirty="0"/>
          </a:p>
        </p:txBody>
      </p:sp>
      <p:sp>
        <p:nvSpPr>
          <p:cNvPr id="19" name="Text 16"/>
          <p:cNvSpPr/>
          <p:nvPr/>
        </p:nvSpPr>
        <p:spPr>
          <a:xfrm>
            <a:off x="3580562"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Rare</a:t>
            </a:r>
            <a:endParaRPr lang="en-US" sz="1300" dirty="0"/>
          </a:p>
        </p:txBody>
      </p:sp>
      <p:sp>
        <p:nvSpPr>
          <p:cNvPr id="20" name="Text 17"/>
          <p:cNvSpPr/>
          <p:nvPr/>
        </p:nvSpPr>
        <p:spPr>
          <a:xfrm>
            <a:off x="3580562"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Langka, tidak dimiliki pesaing?</a:t>
            </a:r>
            <a:endParaRPr lang="en-US" sz="900" dirty="0"/>
          </a:p>
        </p:txBody>
      </p:sp>
      <p:sp>
        <p:nvSpPr>
          <p:cNvPr id="21" name="Text 18"/>
          <p:cNvSpPr/>
          <p:nvPr/>
        </p:nvSpPr>
        <p:spPr>
          <a:xfrm>
            <a:off x="3580562"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Kalau semua pesaing punya, itu syarat ikut bermain, bukan pembeda. Semua produsen sereal punya kemampuan pemasaran; kekuatan merek Oreo tidak umum.</a:t>
            </a:r>
            <a:endParaRPr lang="en-US" sz="900" dirty="0"/>
          </a:p>
        </p:txBody>
      </p:sp>
      <p:sp>
        <p:nvSpPr>
          <p:cNvPr id="22" name="Shape 19"/>
          <p:cNvSpPr/>
          <p:nvPr/>
        </p:nvSpPr>
        <p:spPr>
          <a:xfrm>
            <a:off x="6210148" y="1755648"/>
            <a:ext cx="2602154" cy="3017520"/>
          </a:xfrm>
          <a:prstGeom prst="rect">
            <a:avLst/>
          </a:prstGeom>
          <a:solidFill>
            <a:srgbClr val="32191E"/>
          </a:solidFill>
          <a:ln w="12700">
            <a:solidFill>
              <a:srgbClr val="32191E"/>
            </a:solidFill>
            <a:prstDash val="solid"/>
          </a:ln>
        </p:spPr>
      </p:sp>
      <p:sp>
        <p:nvSpPr>
          <p:cNvPr id="23" name="Shape 20"/>
          <p:cNvSpPr/>
          <p:nvPr/>
        </p:nvSpPr>
        <p:spPr>
          <a:xfrm>
            <a:off x="6210148" y="1755648"/>
            <a:ext cx="2602154" cy="54864"/>
          </a:xfrm>
          <a:prstGeom prst="rect">
            <a:avLst/>
          </a:prstGeom>
          <a:solidFill>
            <a:srgbClr val="FBE122"/>
          </a:solidFill>
          <a:ln w="12700">
            <a:solidFill>
              <a:srgbClr val="FBE122"/>
            </a:solidFill>
            <a:prstDash val="solid"/>
          </a:ln>
        </p:spPr>
      </p:sp>
      <p:sp>
        <p:nvSpPr>
          <p:cNvPr id="24" name="Text 21"/>
          <p:cNvSpPr/>
          <p:nvPr/>
        </p:nvSpPr>
        <p:spPr>
          <a:xfrm>
            <a:off x="6411316" y="1847088"/>
            <a:ext cx="1097280" cy="777240"/>
          </a:xfrm>
          <a:prstGeom prst="rect">
            <a:avLst/>
          </a:prstGeom>
          <a:noFill/>
          <a:ln/>
        </p:spPr>
        <p:txBody>
          <a:bodyPr wrap="square" lIns="0" tIns="0" rIns="0" bIns="0" rtlCol="0" anchor="t"/>
          <a:lstStyle/>
          <a:p>
            <a:pPr indent="0" marL="0">
              <a:buNone/>
            </a:pPr>
            <a:r>
              <a:rPr lang="en-US" sz="4400" dirty="0">
                <a:solidFill>
                  <a:srgbClr val="FBE122"/>
                </a:solidFill>
                <a:latin typeface="Poppins ExtraBold" pitchFamily="34" charset="0"/>
                <a:ea typeface="Poppins ExtraBold" pitchFamily="34" charset="-122"/>
                <a:cs typeface="Poppins ExtraBold" pitchFamily="34" charset="-120"/>
              </a:rPr>
              <a:t>I</a:t>
            </a:r>
            <a:endParaRPr lang="en-US" sz="4400" dirty="0"/>
          </a:p>
        </p:txBody>
      </p:sp>
      <p:sp>
        <p:nvSpPr>
          <p:cNvPr id="25" name="Text 22"/>
          <p:cNvSpPr/>
          <p:nvPr/>
        </p:nvSpPr>
        <p:spPr>
          <a:xfrm>
            <a:off x="6411316"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Inimitable</a:t>
            </a:r>
            <a:endParaRPr lang="en-US" sz="1300" dirty="0"/>
          </a:p>
        </p:txBody>
      </p:sp>
      <p:sp>
        <p:nvSpPr>
          <p:cNvPr id="26" name="Text 23"/>
          <p:cNvSpPr/>
          <p:nvPr/>
        </p:nvSpPr>
        <p:spPr>
          <a:xfrm>
            <a:off x="6411316"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Sulit ditiru?</a:t>
            </a:r>
            <a:endParaRPr lang="en-US" sz="900" dirty="0"/>
          </a:p>
        </p:txBody>
      </p:sp>
      <p:sp>
        <p:nvSpPr>
          <p:cNvPr id="27" name="Text 24"/>
          <p:cNvSpPr/>
          <p:nvPr/>
        </p:nvSpPr>
        <p:spPr>
          <a:xfrm>
            <a:off x="6411316"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Sulit ditiru kalau unik, harus dibangun bertahun-tahun, butuh biaya sangat besar, atau melibatkan social complexity dan causal ambiguity.</a:t>
            </a:r>
            <a:endParaRPr lang="en-US" sz="900" dirty="0"/>
          </a:p>
        </p:txBody>
      </p:sp>
      <p:sp>
        <p:nvSpPr>
          <p:cNvPr id="28" name="Shape 25"/>
          <p:cNvSpPr/>
          <p:nvPr/>
        </p:nvSpPr>
        <p:spPr>
          <a:xfrm>
            <a:off x="9040901" y="1755648"/>
            <a:ext cx="2602154" cy="3017520"/>
          </a:xfrm>
          <a:prstGeom prst="rect">
            <a:avLst/>
          </a:prstGeom>
          <a:solidFill>
            <a:srgbClr val="32191E"/>
          </a:solidFill>
          <a:ln w="12700">
            <a:solidFill>
              <a:srgbClr val="32191E"/>
            </a:solidFill>
            <a:prstDash val="solid"/>
          </a:ln>
        </p:spPr>
      </p:sp>
      <p:sp>
        <p:nvSpPr>
          <p:cNvPr id="29" name="Shape 26"/>
          <p:cNvSpPr/>
          <p:nvPr/>
        </p:nvSpPr>
        <p:spPr>
          <a:xfrm>
            <a:off x="9040901" y="1755648"/>
            <a:ext cx="2602154" cy="54864"/>
          </a:xfrm>
          <a:prstGeom prst="rect">
            <a:avLst/>
          </a:prstGeom>
          <a:solidFill>
            <a:srgbClr val="FBE122"/>
          </a:solidFill>
          <a:ln w="12700">
            <a:solidFill>
              <a:srgbClr val="FBE122"/>
            </a:solidFill>
            <a:prstDash val="solid"/>
          </a:ln>
        </p:spPr>
      </p:sp>
      <p:sp>
        <p:nvSpPr>
          <p:cNvPr id="30" name="Text 27"/>
          <p:cNvSpPr/>
          <p:nvPr/>
        </p:nvSpPr>
        <p:spPr>
          <a:xfrm>
            <a:off x="9242069" y="1847088"/>
            <a:ext cx="1097280" cy="777240"/>
          </a:xfrm>
          <a:prstGeom prst="rect">
            <a:avLst/>
          </a:prstGeom>
          <a:noFill/>
          <a:ln/>
        </p:spPr>
        <p:txBody>
          <a:bodyPr wrap="square" lIns="0" tIns="0" rIns="0" bIns="0" rtlCol="0" anchor="t"/>
          <a:lstStyle/>
          <a:p>
            <a:pPr indent="0" marL="0">
              <a:buNone/>
            </a:pPr>
            <a:r>
              <a:rPr lang="en-US" sz="4400" dirty="0">
                <a:solidFill>
                  <a:srgbClr val="FBE122"/>
                </a:solidFill>
                <a:latin typeface="Poppins ExtraBold" pitchFamily="34" charset="0"/>
                <a:ea typeface="Poppins ExtraBold" pitchFamily="34" charset="-122"/>
                <a:cs typeface="Poppins ExtraBold" pitchFamily="34" charset="-120"/>
              </a:rPr>
              <a:t>N</a:t>
            </a:r>
            <a:endParaRPr lang="en-US" sz="4400" dirty="0"/>
          </a:p>
        </p:txBody>
      </p:sp>
      <p:sp>
        <p:nvSpPr>
          <p:cNvPr id="31" name="Text 28"/>
          <p:cNvSpPr/>
          <p:nvPr/>
        </p:nvSpPr>
        <p:spPr>
          <a:xfrm>
            <a:off x="9242069"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Nonsubstitutable</a:t>
            </a:r>
            <a:endParaRPr lang="en-US" sz="1300" dirty="0"/>
          </a:p>
        </p:txBody>
      </p:sp>
      <p:sp>
        <p:nvSpPr>
          <p:cNvPr id="32" name="Text 29"/>
          <p:cNvSpPr/>
          <p:nvPr/>
        </p:nvSpPr>
        <p:spPr>
          <a:xfrm>
            <a:off x="9242069"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Pesaing tak punya jalan lain?</a:t>
            </a:r>
            <a:endParaRPr lang="en-US" sz="900" dirty="0"/>
          </a:p>
        </p:txBody>
      </p:sp>
      <p:sp>
        <p:nvSpPr>
          <p:cNvPr id="33" name="Text 30"/>
          <p:cNvSpPr/>
          <p:nvPr/>
        </p:nvSpPr>
        <p:spPr>
          <a:xfrm>
            <a:off x="9242069"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Pesaing tidak meniru, tapi memakai resource JENIS LAIN untuk hasil yang sama. Keunggulan otomasi bisa dibatalkan pesaing yang memakai tenaga kerja murah di luar negeri.</a:t>
            </a:r>
            <a:endParaRPr lang="en-US" sz="900" dirty="0"/>
          </a:p>
        </p:txBody>
      </p:sp>
      <p:sp>
        <p:nvSpPr>
          <p:cNvPr id="34" name="Shape 31"/>
          <p:cNvSpPr/>
          <p:nvPr/>
        </p:nvSpPr>
        <p:spPr>
          <a:xfrm>
            <a:off x="548640" y="4956048"/>
            <a:ext cx="5432908" cy="868680"/>
          </a:xfrm>
          <a:prstGeom prst="rect">
            <a:avLst/>
          </a:prstGeom>
          <a:solidFill>
            <a:srgbClr val="C8102E"/>
          </a:solidFill>
          <a:ln w="12700">
            <a:solidFill>
              <a:srgbClr val="C8102E"/>
            </a:solidFill>
            <a:prstDash val="solid"/>
          </a:ln>
        </p:spPr>
      </p:sp>
      <p:sp>
        <p:nvSpPr>
          <p:cNvPr id="35" name="Text 32"/>
          <p:cNvSpPr/>
          <p:nvPr/>
        </p:nvSpPr>
        <p:spPr>
          <a:xfrm>
            <a:off x="777240" y="5084064"/>
            <a:ext cx="497570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V + R</a:t>
            </a:r>
            <a:endParaRPr lang="en-US" sz="800" dirty="0"/>
          </a:p>
        </p:txBody>
      </p:sp>
      <p:sp>
        <p:nvSpPr>
          <p:cNvPr id="36" name="Text 33"/>
          <p:cNvSpPr/>
          <p:nvPr/>
        </p:nvSpPr>
        <p:spPr>
          <a:xfrm>
            <a:off x="777240" y="5321808"/>
            <a:ext cx="4975708"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Menjawab apakah resource bisa MENCIPTAKAN keunggulan bersaing.</a:t>
            </a:r>
            <a:endParaRPr lang="en-US" sz="1000" dirty="0"/>
          </a:p>
        </p:txBody>
      </p:sp>
      <p:sp>
        <p:nvSpPr>
          <p:cNvPr id="37" name="Shape 34"/>
          <p:cNvSpPr/>
          <p:nvPr/>
        </p:nvSpPr>
        <p:spPr>
          <a:xfrm>
            <a:off x="6210148" y="4956048"/>
            <a:ext cx="5432908" cy="868680"/>
          </a:xfrm>
          <a:prstGeom prst="rect">
            <a:avLst/>
          </a:prstGeom>
          <a:solidFill>
            <a:srgbClr val="32191E"/>
          </a:solidFill>
          <a:ln w="12700">
            <a:solidFill>
              <a:srgbClr val="32191E"/>
            </a:solidFill>
            <a:prstDash val="solid"/>
          </a:ln>
        </p:spPr>
      </p:sp>
      <p:sp>
        <p:nvSpPr>
          <p:cNvPr id="38" name="Text 35"/>
          <p:cNvSpPr/>
          <p:nvPr/>
        </p:nvSpPr>
        <p:spPr>
          <a:xfrm>
            <a:off x="6438748" y="5084064"/>
            <a:ext cx="497570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I + N</a:t>
            </a:r>
            <a:endParaRPr lang="en-US" sz="800" dirty="0"/>
          </a:p>
        </p:txBody>
      </p:sp>
      <p:sp>
        <p:nvSpPr>
          <p:cNvPr id="39" name="Text 36"/>
          <p:cNvSpPr/>
          <p:nvPr/>
        </p:nvSpPr>
        <p:spPr>
          <a:xfrm>
            <a:off x="6438748" y="5321808"/>
            <a:ext cx="4975708"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Menjawab apakah keunggulan itu BISA BERTAHAN menghadapi serangan pesaing.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LANJUTAN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RESOURCE HARUS DIKELOLA SECARA DINAMIS</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VRIN Test menguji serangan dari pesaing. Tapi resource juga bisa menyusut, bahkan hilang, dari dalam perusahaan sendiri.</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12</a:t>
            </a:r>
            <a:endParaRPr lang="en-US" sz="900" dirty="0"/>
          </a:p>
        </p:txBody>
      </p:sp>
      <p:sp>
        <p:nvSpPr>
          <p:cNvPr id="10" name="Shape 7"/>
          <p:cNvSpPr/>
          <p:nvPr/>
        </p:nvSpPr>
        <p:spPr>
          <a:xfrm>
            <a:off x="548640" y="1755648"/>
            <a:ext cx="3545738" cy="1234440"/>
          </a:xfrm>
          <a:prstGeom prst="rect">
            <a:avLst/>
          </a:prstGeom>
          <a:solidFill>
            <a:srgbClr val="27161A"/>
          </a:solidFill>
          <a:ln w="12700">
            <a:solidFill>
              <a:srgbClr val="27161A"/>
            </a:solidFill>
            <a:prstDash val="solid"/>
          </a:ln>
        </p:spPr>
      </p:sp>
      <p:sp>
        <p:nvSpPr>
          <p:cNvPr id="11" name="Shape 8"/>
          <p:cNvSpPr/>
          <p:nvPr/>
        </p:nvSpPr>
        <p:spPr>
          <a:xfrm>
            <a:off x="548640" y="1755648"/>
            <a:ext cx="54864" cy="1234440"/>
          </a:xfrm>
          <a:prstGeom prst="rect">
            <a:avLst/>
          </a:prstGeom>
          <a:solidFill>
            <a:srgbClr val="C8102E"/>
          </a:solidFill>
          <a:ln w="12700">
            <a:solidFill>
              <a:srgbClr val="C8102E"/>
            </a:solidFill>
            <a:prstDash val="solid"/>
          </a:ln>
        </p:spPr>
      </p:sp>
      <p:sp>
        <p:nvSpPr>
          <p:cNvPr id="12" name="Text 9"/>
          <p:cNvSpPr/>
          <p:nvPr/>
        </p:nvSpPr>
        <p:spPr>
          <a:xfrm>
            <a:off x="768096"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Pesaing menyusul</a:t>
            </a:r>
            <a:endParaRPr lang="en-US" sz="1200" dirty="0"/>
          </a:p>
        </p:txBody>
      </p:sp>
      <p:sp>
        <p:nvSpPr>
          <p:cNvPr id="13" name="Text 10"/>
          <p:cNvSpPr/>
          <p:nvPr/>
        </p:nvSpPr>
        <p:spPr>
          <a:xfrm>
            <a:off x="768096"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Yang awalnya tidak bisa meniru, lama-lama menemukan pengganti yang makin baik.</a:t>
            </a:r>
            <a:endParaRPr lang="en-US" sz="950" dirty="0"/>
          </a:p>
        </p:txBody>
      </p:sp>
      <p:sp>
        <p:nvSpPr>
          <p:cNvPr id="14" name="Shape 11"/>
          <p:cNvSpPr/>
          <p:nvPr/>
        </p:nvSpPr>
        <p:spPr>
          <a:xfrm>
            <a:off x="4322978" y="1755648"/>
            <a:ext cx="3545738" cy="1234440"/>
          </a:xfrm>
          <a:prstGeom prst="rect">
            <a:avLst/>
          </a:prstGeom>
          <a:solidFill>
            <a:srgbClr val="27161A"/>
          </a:solidFill>
          <a:ln w="12700">
            <a:solidFill>
              <a:srgbClr val="27161A"/>
            </a:solidFill>
            <a:prstDash val="solid"/>
          </a:ln>
        </p:spPr>
      </p:sp>
      <p:sp>
        <p:nvSpPr>
          <p:cNvPr id="15" name="Shape 12"/>
          <p:cNvSpPr/>
          <p:nvPr/>
        </p:nvSpPr>
        <p:spPr>
          <a:xfrm>
            <a:off x="4322978" y="1755648"/>
            <a:ext cx="54864" cy="1234440"/>
          </a:xfrm>
          <a:prstGeom prst="rect">
            <a:avLst/>
          </a:prstGeom>
          <a:solidFill>
            <a:srgbClr val="C8102E"/>
          </a:solidFill>
          <a:ln w="12700">
            <a:solidFill>
              <a:srgbClr val="C8102E"/>
            </a:solidFill>
            <a:prstDash val="solid"/>
          </a:ln>
        </p:spPr>
      </p:sp>
      <p:sp>
        <p:nvSpPr>
          <p:cNvPr id="16" name="Text 13"/>
          <p:cNvSpPr/>
          <p:nvPr/>
        </p:nvSpPr>
        <p:spPr>
          <a:xfrm>
            <a:off x="4542434"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Aset menyusut sendiri</a:t>
            </a:r>
            <a:endParaRPr lang="en-US" sz="1200" dirty="0"/>
          </a:p>
        </p:txBody>
      </p:sp>
      <p:sp>
        <p:nvSpPr>
          <p:cNvPr id="17" name="Text 14"/>
          <p:cNvSpPr/>
          <p:nvPr/>
        </p:nvSpPr>
        <p:spPr>
          <a:xfrm>
            <a:off x="4542434"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Resource bisa terdepresiasi seperti aset lain kalau dibiarkan tanpa perhatian.</a:t>
            </a:r>
            <a:endParaRPr lang="en-US" sz="950" dirty="0"/>
          </a:p>
        </p:txBody>
      </p:sp>
      <p:sp>
        <p:nvSpPr>
          <p:cNvPr id="18" name="Shape 15"/>
          <p:cNvSpPr/>
          <p:nvPr/>
        </p:nvSpPr>
        <p:spPr>
          <a:xfrm>
            <a:off x="8097317" y="1755648"/>
            <a:ext cx="3545738" cy="1234440"/>
          </a:xfrm>
          <a:prstGeom prst="rect">
            <a:avLst/>
          </a:prstGeom>
          <a:solidFill>
            <a:srgbClr val="27161A"/>
          </a:solidFill>
          <a:ln w="12700">
            <a:solidFill>
              <a:srgbClr val="27161A"/>
            </a:solidFill>
            <a:prstDash val="solid"/>
          </a:ln>
        </p:spPr>
      </p:sp>
      <p:sp>
        <p:nvSpPr>
          <p:cNvPr id="19" name="Shape 16"/>
          <p:cNvSpPr/>
          <p:nvPr/>
        </p:nvSpPr>
        <p:spPr>
          <a:xfrm>
            <a:off x="8097317" y="1755648"/>
            <a:ext cx="54864" cy="1234440"/>
          </a:xfrm>
          <a:prstGeom prst="rect">
            <a:avLst/>
          </a:prstGeom>
          <a:solidFill>
            <a:srgbClr val="C8102E"/>
          </a:solidFill>
          <a:ln w="12700">
            <a:solidFill>
              <a:srgbClr val="C8102E"/>
            </a:solidFill>
            <a:prstDash val="solid"/>
          </a:ln>
        </p:spPr>
      </p:sp>
      <p:sp>
        <p:nvSpPr>
          <p:cNvPr id="20" name="Text 17"/>
          <p:cNvSpPr/>
          <p:nvPr/>
        </p:nvSpPr>
        <p:spPr>
          <a:xfrm>
            <a:off x="8316773"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Pasar berubah</a:t>
            </a:r>
            <a:endParaRPr lang="en-US" sz="1200" dirty="0"/>
          </a:p>
        </p:txBody>
      </p:sp>
      <p:sp>
        <p:nvSpPr>
          <p:cNvPr id="21" name="Text 18"/>
          <p:cNvSpPr/>
          <p:nvPr/>
        </p:nvSpPr>
        <p:spPr>
          <a:xfrm>
            <a:off x="8316773"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Perubahan teknologi, selera pelanggan, atau jalur distribusi bisa mengubah aset strategis "dari berlian jadi karat".</a:t>
            </a:r>
            <a:endParaRPr lang="en-US" sz="950" dirty="0"/>
          </a:p>
        </p:txBody>
      </p:sp>
      <p:sp>
        <p:nvSpPr>
          <p:cNvPr id="22" name="Shape 19"/>
          <p:cNvSpPr/>
          <p:nvPr/>
        </p:nvSpPr>
        <p:spPr>
          <a:xfrm>
            <a:off x="548640" y="3218688"/>
            <a:ext cx="6766560" cy="2651760"/>
          </a:xfrm>
          <a:prstGeom prst="rect">
            <a:avLst/>
          </a:prstGeom>
          <a:solidFill>
            <a:srgbClr val="C8102E"/>
          </a:solidFill>
          <a:ln w="12700">
            <a:solidFill>
              <a:srgbClr val="C8102E"/>
            </a:solidFill>
            <a:prstDash val="solid"/>
          </a:ln>
        </p:spPr>
      </p:sp>
      <p:sp>
        <p:nvSpPr>
          <p:cNvPr id="23" name="Text 20"/>
          <p:cNvSpPr/>
          <p:nvPr/>
        </p:nvSpPr>
        <p:spPr>
          <a:xfrm>
            <a:off x="777240" y="3383280"/>
            <a:ext cx="4572000" cy="274320"/>
          </a:xfrm>
          <a:prstGeom prst="rect">
            <a:avLst/>
          </a:prstGeom>
          <a:noFill/>
          <a:ln/>
        </p:spPr>
        <p:txBody>
          <a:bodyPr wrap="square" lIns="0" tIns="0" rIns="0" bIns="0" rtlCol="0" anchor="t"/>
          <a:lstStyle/>
          <a:p>
            <a:pPr indent="0" marL="0">
              <a:buNone/>
            </a:pPr>
            <a:r>
              <a:rPr lang="en-US" sz="900" spc="200" kern="0" dirty="0">
                <a:solidFill>
                  <a:srgbClr val="FBE122"/>
                </a:solidFill>
                <a:latin typeface="Poppins SemiBold" pitchFamily="34" charset="0"/>
                <a:ea typeface="Poppins SemiBold" pitchFamily="34" charset="-122"/>
                <a:cs typeface="Poppins SemiBold" pitchFamily="34" charset="-120"/>
              </a:rPr>
              <a:t>DYNAMIC CAPABILITY</a:t>
            </a:r>
            <a:endParaRPr lang="en-US" sz="900" dirty="0"/>
          </a:p>
        </p:txBody>
      </p:sp>
      <p:sp>
        <p:nvSpPr>
          <p:cNvPr id="24" name="Text 21"/>
          <p:cNvSpPr/>
          <p:nvPr/>
        </p:nvSpPr>
        <p:spPr>
          <a:xfrm>
            <a:off x="777240" y="3675888"/>
            <a:ext cx="6309360" cy="68580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SemiBold" pitchFamily="34" charset="0"/>
                <a:ea typeface="Poppins SemiBold" pitchFamily="34" charset="-122"/>
                <a:cs typeface="Poppins SemiBold" pitchFamily="34" charset="-120"/>
              </a:rPr>
              <a:t>Kemampuan yang terus berjalan untuk memperbaiki, memperdalam, atau menambah resource dan capability yang sudah ada.</a:t>
            </a:r>
            <a:endParaRPr lang="en-US" sz="1300" dirty="0"/>
          </a:p>
        </p:txBody>
      </p:sp>
      <p:sp>
        <p:nvSpPr>
          <p:cNvPr id="25" name="Text 22"/>
          <p:cNvSpPr/>
          <p:nvPr/>
        </p:nvSpPr>
        <p:spPr>
          <a:xfrm>
            <a:off x="777240" y="4453128"/>
            <a:ext cx="457200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DUA BENTUKNYA</a:t>
            </a:r>
            <a:endParaRPr lang="en-US" sz="800" dirty="0"/>
          </a:p>
        </p:txBody>
      </p:sp>
      <p:sp>
        <p:nvSpPr>
          <p:cNvPr id="26" name="Text 23"/>
          <p:cNvSpPr/>
          <p:nvPr/>
        </p:nvSpPr>
        <p:spPr>
          <a:xfrm>
            <a:off x="777240" y="4700016"/>
            <a:ext cx="6309360" cy="109728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000" dirty="0"/>
          </a:p>
          <a:p>
            <a:pPr marL="152400" indent="-152400">
              <a:lnSpc>
                <a:spcPct val="106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meluncurkan Chevy Bolt EV.</a:t>
            </a:r>
            <a:endParaRPr lang="en-US" sz="1000" dirty="0"/>
          </a:p>
        </p:txBody>
      </p:sp>
      <p:sp>
        <p:nvSpPr>
          <p:cNvPr id="27" name="Shape 24"/>
          <p:cNvSpPr/>
          <p:nvPr/>
        </p:nvSpPr>
        <p:spPr>
          <a:xfrm>
            <a:off x="7543800" y="3218688"/>
            <a:ext cx="4069080" cy="2651760"/>
          </a:xfrm>
          <a:prstGeom prst="rect">
            <a:avLst/>
          </a:prstGeom>
          <a:solidFill>
            <a:srgbClr val="27161A"/>
          </a:solidFill>
          <a:ln w="12700">
            <a:solidFill>
              <a:srgbClr val="27161A"/>
            </a:solidFill>
            <a:prstDash val="solid"/>
          </a:ln>
        </p:spPr>
      </p:sp>
      <p:sp>
        <p:nvSpPr>
          <p:cNvPr id="28" name="Shape 25"/>
          <p:cNvSpPr/>
          <p:nvPr/>
        </p:nvSpPr>
        <p:spPr>
          <a:xfrm>
            <a:off x="7543800" y="3218688"/>
            <a:ext cx="54864" cy="2651760"/>
          </a:xfrm>
          <a:prstGeom prst="rect">
            <a:avLst/>
          </a:prstGeom>
          <a:solidFill>
            <a:srgbClr val="FBE122"/>
          </a:solidFill>
          <a:ln w="12700">
            <a:solidFill>
              <a:srgbClr val="FBE122"/>
            </a:solidFill>
            <a:prstDash val="solid"/>
          </a:ln>
        </p:spPr>
      </p:sp>
      <p:sp>
        <p:nvSpPr>
          <p:cNvPr id="29" name="Text 26"/>
          <p:cNvSpPr/>
          <p:nvPr/>
        </p:nvSpPr>
        <p:spPr>
          <a:xfrm>
            <a:off x="7763256" y="3364992"/>
            <a:ext cx="370332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Inti dynamic capability</a:t>
            </a:r>
            <a:endParaRPr lang="en-US" sz="1200" dirty="0"/>
          </a:p>
        </p:txBody>
      </p:sp>
      <p:sp>
        <p:nvSpPr>
          <p:cNvPr id="30" name="Text 27"/>
          <p:cNvSpPr/>
          <p:nvPr/>
        </p:nvSpPr>
        <p:spPr>
          <a:xfrm>
            <a:off x="7763256" y="3694176"/>
            <a:ext cx="3703320" cy="20665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Ketika kegiatan memperbarui aset dilakukan terus-menerus sampai menjadi rutinitas manajemen, kemampuan memperbarui itu sendiri berubah menjadi sebuah capability. Di titik itulah ia disebut dynamic capability.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FIGURE 4.3</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PERUSAHAAN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Setiap bisnis adalah kumpulan aktivitas. Value chain memecah perusahaan menjadi aktivitas-aktivitas itu, supaya biaya dan nilai bisa dilacak satu per satu.</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13</a:t>
            </a:r>
            <a:endParaRPr lang="en-US" sz="900" dirty="0"/>
          </a:p>
        </p:txBody>
      </p:sp>
      <p:sp>
        <p:nvSpPr>
          <p:cNvPr id="10" name="Text 7"/>
          <p:cNvSpPr/>
          <p:nvPr/>
        </p:nvSpPr>
        <p:spPr>
          <a:xfrm>
            <a:off x="548640" y="1755648"/>
            <a:ext cx="73152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PRIMARY ACTIVITIES  ·  aktivitas utama pencipta nilai</a:t>
            </a:r>
            <a:endParaRPr lang="en-US" sz="850" dirty="0"/>
          </a:p>
        </p:txBody>
      </p:sp>
      <p:sp>
        <p:nvSpPr>
          <p:cNvPr id="11" name="Shape 8"/>
          <p:cNvSpPr/>
          <p:nvPr/>
        </p:nvSpPr>
        <p:spPr>
          <a:xfrm>
            <a:off x="548640" y="2048256"/>
            <a:ext cx="1807403" cy="1417320"/>
          </a:xfrm>
          <a:prstGeom prst="rect">
            <a:avLst/>
          </a:prstGeom>
          <a:solidFill>
            <a:srgbClr val="27161A"/>
          </a:solidFill>
          <a:ln w="12700">
            <a:solidFill>
              <a:srgbClr val="27161A"/>
            </a:solidFill>
            <a:prstDash val="solid"/>
          </a:ln>
        </p:spPr>
      </p:sp>
      <p:sp>
        <p:nvSpPr>
          <p:cNvPr id="12" name="Shape 9"/>
          <p:cNvSpPr/>
          <p:nvPr/>
        </p:nvSpPr>
        <p:spPr>
          <a:xfrm>
            <a:off x="548640" y="2048256"/>
            <a:ext cx="1807403" cy="54864"/>
          </a:xfrm>
          <a:prstGeom prst="rect">
            <a:avLst/>
          </a:prstGeom>
          <a:solidFill>
            <a:srgbClr val="C8102E"/>
          </a:solidFill>
          <a:ln w="12700">
            <a:solidFill>
              <a:srgbClr val="C8102E"/>
            </a:solidFill>
            <a:prstDash val="solid"/>
          </a:ln>
        </p:spPr>
      </p:sp>
      <p:sp>
        <p:nvSpPr>
          <p:cNvPr id="13" name="Text 10"/>
          <p:cNvSpPr/>
          <p:nvPr/>
        </p:nvSpPr>
        <p:spPr>
          <a:xfrm>
            <a:off x="685800"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Supply Chain Management</a:t>
            </a:r>
            <a:endParaRPr lang="en-US" sz="1050" dirty="0"/>
          </a:p>
        </p:txBody>
      </p:sp>
      <p:sp>
        <p:nvSpPr>
          <p:cNvPr id="14" name="Text 11"/>
          <p:cNvSpPr/>
          <p:nvPr/>
        </p:nvSpPr>
        <p:spPr>
          <a:xfrm>
            <a:off x="685800"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Membeli, menerima, menyimpan, dan menyalurkan input</a:t>
            </a:r>
            <a:endParaRPr lang="en-US" sz="850" dirty="0"/>
          </a:p>
        </p:txBody>
      </p:sp>
      <p:sp>
        <p:nvSpPr>
          <p:cNvPr id="15" name="Shape 12"/>
          <p:cNvSpPr/>
          <p:nvPr/>
        </p:nvSpPr>
        <p:spPr>
          <a:xfrm>
            <a:off x="2493203" y="2048256"/>
            <a:ext cx="1807403" cy="1417320"/>
          </a:xfrm>
          <a:prstGeom prst="rect">
            <a:avLst/>
          </a:prstGeom>
          <a:solidFill>
            <a:srgbClr val="27161A"/>
          </a:solidFill>
          <a:ln w="12700">
            <a:solidFill>
              <a:srgbClr val="27161A"/>
            </a:solidFill>
            <a:prstDash val="solid"/>
          </a:ln>
        </p:spPr>
      </p:sp>
      <p:sp>
        <p:nvSpPr>
          <p:cNvPr id="16" name="Shape 13"/>
          <p:cNvSpPr/>
          <p:nvPr/>
        </p:nvSpPr>
        <p:spPr>
          <a:xfrm>
            <a:off x="2493203" y="2048256"/>
            <a:ext cx="1807403" cy="54864"/>
          </a:xfrm>
          <a:prstGeom prst="rect">
            <a:avLst/>
          </a:prstGeom>
          <a:solidFill>
            <a:srgbClr val="C8102E"/>
          </a:solidFill>
          <a:ln w="12700">
            <a:solidFill>
              <a:srgbClr val="C8102E"/>
            </a:solidFill>
            <a:prstDash val="solid"/>
          </a:ln>
        </p:spPr>
      </p:sp>
      <p:sp>
        <p:nvSpPr>
          <p:cNvPr id="17" name="Text 14"/>
          <p:cNvSpPr/>
          <p:nvPr/>
        </p:nvSpPr>
        <p:spPr>
          <a:xfrm>
            <a:off x="2630363"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Operations</a:t>
            </a:r>
            <a:endParaRPr lang="en-US" sz="1050" dirty="0"/>
          </a:p>
        </p:txBody>
      </p:sp>
      <p:sp>
        <p:nvSpPr>
          <p:cNvPr id="18" name="Text 15"/>
          <p:cNvSpPr/>
          <p:nvPr/>
        </p:nvSpPr>
        <p:spPr>
          <a:xfrm>
            <a:off x="2630363"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Mengubah input jadi produk jadi</a:t>
            </a:r>
            <a:endParaRPr lang="en-US" sz="850" dirty="0"/>
          </a:p>
        </p:txBody>
      </p:sp>
      <p:sp>
        <p:nvSpPr>
          <p:cNvPr id="19" name="Shape 16"/>
          <p:cNvSpPr/>
          <p:nvPr/>
        </p:nvSpPr>
        <p:spPr>
          <a:xfrm>
            <a:off x="4437766" y="2048256"/>
            <a:ext cx="1807403" cy="1417320"/>
          </a:xfrm>
          <a:prstGeom prst="rect">
            <a:avLst/>
          </a:prstGeom>
          <a:solidFill>
            <a:srgbClr val="27161A"/>
          </a:solidFill>
          <a:ln w="12700">
            <a:solidFill>
              <a:srgbClr val="27161A"/>
            </a:solidFill>
            <a:prstDash val="solid"/>
          </a:ln>
        </p:spPr>
      </p:sp>
      <p:sp>
        <p:nvSpPr>
          <p:cNvPr id="20" name="Shape 17"/>
          <p:cNvSpPr/>
          <p:nvPr/>
        </p:nvSpPr>
        <p:spPr>
          <a:xfrm>
            <a:off x="4437766" y="2048256"/>
            <a:ext cx="1807403" cy="54864"/>
          </a:xfrm>
          <a:prstGeom prst="rect">
            <a:avLst/>
          </a:prstGeom>
          <a:solidFill>
            <a:srgbClr val="C8102E"/>
          </a:solidFill>
          <a:ln w="12700">
            <a:solidFill>
              <a:srgbClr val="C8102E"/>
            </a:solidFill>
            <a:prstDash val="solid"/>
          </a:ln>
        </p:spPr>
      </p:sp>
      <p:sp>
        <p:nvSpPr>
          <p:cNvPr id="21" name="Text 18"/>
          <p:cNvSpPr/>
          <p:nvPr/>
        </p:nvSpPr>
        <p:spPr>
          <a:xfrm>
            <a:off x="4574926"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Distribution</a:t>
            </a:r>
            <a:endParaRPr lang="en-US" sz="1050" dirty="0"/>
          </a:p>
        </p:txBody>
      </p:sp>
      <p:sp>
        <p:nvSpPr>
          <p:cNvPr id="22" name="Text 19"/>
          <p:cNvSpPr/>
          <p:nvPr/>
        </p:nvSpPr>
        <p:spPr>
          <a:xfrm>
            <a:off x="4574926"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Menyimpan dan mengirim ke pembeli</a:t>
            </a:r>
            <a:endParaRPr lang="en-US" sz="850" dirty="0"/>
          </a:p>
        </p:txBody>
      </p:sp>
      <p:sp>
        <p:nvSpPr>
          <p:cNvPr id="23" name="Shape 20"/>
          <p:cNvSpPr/>
          <p:nvPr/>
        </p:nvSpPr>
        <p:spPr>
          <a:xfrm>
            <a:off x="6382329" y="2048256"/>
            <a:ext cx="1807403" cy="1417320"/>
          </a:xfrm>
          <a:prstGeom prst="rect">
            <a:avLst/>
          </a:prstGeom>
          <a:solidFill>
            <a:srgbClr val="27161A"/>
          </a:solidFill>
          <a:ln w="12700">
            <a:solidFill>
              <a:srgbClr val="27161A"/>
            </a:solidFill>
            <a:prstDash val="solid"/>
          </a:ln>
        </p:spPr>
      </p:sp>
      <p:sp>
        <p:nvSpPr>
          <p:cNvPr id="24" name="Shape 21"/>
          <p:cNvSpPr/>
          <p:nvPr/>
        </p:nvSpPr>
        <p:spPr>
          <a:xfrm>
            <a:off x="6382329" y="2048256"/>
            <a:ext cx="1807403" cy="54864"/>
          </a:xfrm>
          <a:prstGeom prst="rect">
            <a:avLst/>
          </a:prstGeom>
          <a:solidFill>
            <a:srgbClr val="C8102E"/>
          </a:solidFill>
          <a:ln w="12700">
            <a:solidFill>
              <a:srgbClr val="C8102E"/>
            </a:solidFill>
            <a:prstDash val="solid"/>
          </a:ln>
        </p:spPr>
      </p:sp>
      <p:sp>
        <p:nvSpPr>
          <p:cNvPr id="25" name="Text 22"/>
          <p:cNvSpPr/>
          <p:nvPr/>
        </p:nvSpPr>
        <p:spPr>
          <a:xfrm>
            <a:off x="6519489"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Sales &amp; Marketing</a:t>
            </a:r>
            <a:endParaRPr lang="en-US" sz="1050" dirty="0"/>
          </a:p>
        </p:txBody>
      </p:sp>
      <p:sp>
        <p:nvSpPr>
          <p:cNvPr id="26" name="Text 23"/>
          <p:cNvSpPr/>
          <p:nvPr/>
        </p:nvSpPr>
        <p:spPr>
          <a:xfrm>
            <a:off x="6519489"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Tenaga jual, iklan, promosi, dukungan dealer</a:t>
            </a:r>
            <a:endParaRPr lang="en-US" sz="850" dirty="0"/>
          </a:p>
        </p:txBody>
      </p:sp>
      <p:sp>
        <p:nvSpPr>
          <p:cNvPr id="27" name="Shape 24"/>
          <p:cNvSpPr/>
          <p:nvPr/>
        </p:nvSpPr>
        <p:spPr>
          <a:xfrm>
            <a:off x="8326892" y="2048256"/>
            <a:ext cx="1807403" cy="1417320"/>
          </a:xfrm>
          <a:prstGeom prst="rect">
            <a:avLst/>
          </a:prstGeom>
          <a:solidFill>
            <a:srgbClr val="27161A"/>
          </a:solidFill>
          <a:ln w="12700">
            <a:solidFill>
              <a:srgbClr val="27161A"/>
            </a:solidFill>
            <a:prstDash val="solid"/>
          </a:ln>
        </p:spPr>
      </p:sp>
      <p:sp>
        <p:nvSpPr>
          <p:cNvPr id="28" name="Shape 25"/>
          <p:cNvSpPr/>
          <p:nvPr/>
        </p:nvSpPr>
        <p:spPr>
          <a:xfrm>
            <a:off x="8326892" y="2048256"/>
            <a:ext cx="1807403" cy="54864"/>
          </a:xfrm>
          <a:prstGeom prst="rect">
            <a:avLst/>
          </a:prstGeom>
          <a:solidFill>
            <a:srgbClr val="C8102E"/>
          </a:solidFill>
          <a:ln w="12700">
            <a:solidFill>
              <a:srgbClr val="C8102E"/>
            </a:solidFill>
            <a:prstDash val="solid"/>
          </a:ln>
        </p:spPr>
      </p:sp>
      <p:sp>
        <p:nvSpPr>
          <p:cNvPr id="29" name="Text 26"/>
          <p:cNvSpPr/>
          <p:nvPr/>
        </p:nvSpPr>
        <p:spPr>
          <a:xfrm>
            <a:off x="8464052"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Service</a:t>
            </a:r>
            <a:endParaRPr lang="en-US" sz="1050" dirty="0"/>
          </a:p>
        </p:txBody>
      </p:sp>
      <p:sp>
        <p:nvSpPr>
          <p:cNvPr id="30" name="Text 27"/>
          <p:cNvSpPr/>
          <p:nvPr/>
        </p:nvSpPr>
        <p:spPr>
          <a:xfrm>
            <a:off x="8464052"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Pemasangan, perbaikan, suku cadang, layanan pelanggan</a:t>
            </a:r>
            <a:endParaRPr lang="en-US" sz="850" dirty="0"/>
          </a:p>
        </p:txBody>
      </p:sp>
      <p:sp>
        <p:nvSpPr>
          <p:cNvPr id="31" name="Shape 28"/>
          <p:cNvSpPr/>
          <p:nvPr/>
        </p:nvSpPr>
        <p:spPr>
          <a:xfrm>
            <a:off x="10271455" y="2048256"/>
            <a:ext cx="1371600" cy="1417320"/>
          </a:xfrm>
          <a:prstGeom prst="rect">
            <a:avLst/>
          </a:prstGeom>
          <a:solidFill>
            <a:srgbClr val="C8102E"/>
          </a:solidFill>
          <a:ln w="12700">
            <a:solidFill>
              <a:srgbClr val="C8102E"/>
            </a:solidFill>
            <a:prstDash val="solid"/>
          </a:ln>
        </p:spPr>
      </p:sp>
      <p:sp>
        <p:nvSpPr>
          <p:cNvPr id="32" name="Text 29"/>
          <p:cNvSpPr/>
          <p:nvPr/>
        </p:nvSpPr>
        <p:spPr>
          <a:xfrm>
            <a:off x="10381183" y="2231136"/>
            <a:ext cx="1152144" cy="502920"/>
          </a:xfrm>
          <a:prstGeom prst="rect">
            <a:avLst/>
          </a:prstGeom>
          <a:noFill/>
          <a:ln/>
        </p:spPr>
        <p:txBody>
          <a:bodyPr wrap="square" lIns="0" tIns="0" rIns="0" bIns="0" rtlCol="0" anchor="t"/>
          <a:lstStyle/>
          <a:p>
            <a:pPr algn="ct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Profit Margin</a:t>
            </a:r>
            <a:endParaRPr lang="en-US" sz="1100" dirty="0"/>
          </a:p>
        </p:txBody>
      </p:sp>
      <p:sp>
        <p:nvSpPr>
          <p:cNvPr id="33" name="Text 30"/>
          <p:cNvSpPr/>
          <p:nvPr/>
        </p:nvSpPr>
        <p:spPr>
          <a:xfrm>
            <a:off x="10381183" y="2779776"/>
            <a:ext cx="1152144" cy="457200"/>
          </a:xfrm>
          <a:prstGeom prst="rect">
            <a:avLst/>
          </a:prstGeom>
          <a:noFill/>
          <a:ln/>
        </p:spPr>
        <p:txBody>
          <a:bodyPr wrap="square" lIns="0" tIns="0" rIns="0" bIns="0" rtlCol="0" anchor="t"/>
          <a:lstStyle/>
          <a:p>
            <a:pPr algn="ctr" indent="0" marL="0">
              <a:buNone/>
            </a:pPr>
            <a:r>
              <a:rPr lang="en-US" sz="2000" dirty="0">
                <a:solidFill>
                  <a:srgbClr val="FBE122"/>
                </a:solidFill>
                <a:latin typeface="Poppins ExtraBold" pitchFamily="34" charset="0"/>
                <a:ea typeface="Poppins ExtraBold" pitchFamily="34" charset="-122"/>
                <a:cs typeface="Poppins ExtraBold" pitchFamily="34" charset="-120"/>
              </a:rPr>
              <a:t>P − C</a:t>
            </a:r>
            <a:endParaRPr lang="en-US" sz="2000" dirty="0"/>
          </a:p>
        </p:txBody>
      </p:sp>
      <p:sp>
        <p:nvSpPr>
          <p:cNvPr id="34" name="Text 31"/>
          <p:cNvSpPr/>
          <p:nvPr/>
        </p:nvSpPr>
        <p:spPr>
          <a:xfrm>
            <a:off x="548640" y="3694176"/>
            <a:ext cx="73152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SUPPORT ACTIVITIES  ·  aktivitas pendukung</a:t>
            </a:r>
            <a:endParaRPr lang="en-US" sz="850" dirty="0"/>
          </a:p>
        </p:txBody>
      </p:sp>
      <p:sp>
        <p:nvSpPr>
          <p:cNvPr id="35" name="Shape 32"/>
          <p:cNvSpPr/>
          <p:nvPr/>
        </p:nvSpPr>
        <p:spPr>
          <a:xfrm>
            <a:off x="548640" y="3986784"/>
            <a:ext cx="3545738" cy="868680"/>
          </a:xfrm>
          <a:prstGeom prst="rect">
            <a:avLst/>
          </a:prstGeom>
          <a:solidFill>
            <a:srgbClr val="32191E"/>
          </a:solidFill>
          <a:ln w="12700">
            <a:solidFill>
              <a:srgbClr val="32191E"/>
            </a:solidFill>
            <a:prstDash val="solid"/>
          </a:ln>
        </p:spPr>
      </p:sp>
      <p:sp>
        <p:nvSpPr>
          <p:cNvPr id="36" name="Shape 33"/>
          <p:cNvSpPr/>
          <p:nvPr/>
        </p:nvSpPr>
        <p:spPr>
          <a:xfrm>
            <a:off x="548640" y="3986784"/>
            <a:ext cx="54864" cy="868680"/>
          </a:xfrm>
          <a:prstGeom prst="rect">
            <a:avLst/>
          </a:prstGeom>
          <a:solidFill>
            <a:srgbClr val="FBE122"/>
          </a:solidFill>
          <a:ln w="12700">
            <a:solidFill>
              <a:srgbClr val="FBE122"/>
            </a:solidFill>
            <a:prstDash val="solid"/>
          </a:ln>
        </p:spPr>
      </p:sp>
      <p:sp>
        <p:nvSpPr>
          <p:cNvPr id="37" name="Text 34"/>
          <p:cNvSpPr/>
          <p:nvPr/>
        </p:nvSpPr>
        <p:spPr>
          <a:xfrm>
            <a:off x="777240"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Product R&amp;D, Technology &amp; Systems Development</a:t>
            </a:r>
            <a:endParaRPr lang="en-US" sz="1050" dirty="0"/>
          </a:p>
        </p:txBody>
      </p:sp>
      <p:sp>
        <p:nvSpPr>
          <p:cNvPr id="38" name="Text 35"/>
          <p:cNvSpPr/>
          <p:nvPr/>
        </p:nvSpPr>
        <p:spPr>
          <a:xfrm>
            <a:off x="777240" y="4425696"/>
            <a:ext cx="3179978" cy="365760"/>
          </a:xfrm>
          <a:prstGeom prst="rect">
            <a:avLst/>
          </a:prstGeom>
          <a:noFill/>
          <a:ln/>
        </p:spPr>
        <p:txBody>
          <a:bodyPr wrap="square" lIns="0" tIns="0" rIns="0" bIns="0" rtlCol="0" anchor="t"/>
          <a:lstStyle/>
          <a:p>
            <a:pPr indent="0" marL="0">
              <a:buNone/>
            </a:pPr>
            <a:r>
              <a:rPr lang="en-US" sz="900" dirty="0">
                <a:solidFill>
                  <a:srgbClr val="D9CFC7"/>
                </a:solidFill>
                <a:latin typeface="Poppins" pitchFamily="34" charset="0"/>
                <a:ea typeface="Poppins" pitchFamily="34" charset="-122"/>
                <a:cs typeface="Poppins" pitchFamily="34" charset="-120"/>
              </a:rPr>
              <a:t>Riset produk dan proses, desain, otomasi</a:t>
            </a:r>
            <a:endParaRPr lang="en-US" sz="900" dirty="0"/>
          </a:p>
        </p:txBody>
      </p:sp>
      <p:sp>
        <p:nvSpPr>
          <p:cNvPr id="39" name="Shape 36"/>
          <p:cNvSpPr/>
          <p:nvPr/>
        </p:nvSpPr>
        <p:spPr>
          <a:xfrm>
            <a:off x="4322978" y="3986784"/>
            <a:ext cx="3545738" cy="868680"/>
          </a:xfrm>
          <a:prstGeom prst="rect">
            <a:avLst/>
          </a:prstGeom>
          <a:solidFill>
            <a:srgbClr val="32191E"/>
          </a:solidFill>
          <a:ln w="12700">
            <a:solidFill>
              <a:srgbClr val="32191E"/>
            </a:solidFill>
            <a:prstDash val="solid"/>
          </a:ln>
        </p:spPr>
      </p:sp>
      <p:sp>
        <p:nvSpPr>
          <p:cNvPr id="40" name="Shape 37"/>
          <p:cNvSpPr/>
          <p:nvPr/>
        </p:nvSpPr>
        <p:spPr>
          <a:xfrm>
            <a:off x="4322978" y="3986784"/>
            <a:ext cx="54864" cy="868680"/>
          </a:xfrm>
          <a:prstGeom prst="rect">
            <a:avLst/>
          </a:prstGeom>
          <a:solidFill>
            <a:srgbClr val="FBE122"/>
          </a:solidFill>
          <a:ln w="12700">
            <a:solidFill>
              <a:srgbClr val="FBE122"/>
            </a:solidFill>
            <a:prstDash val="solid"/>
          </a:ln>
        </p:spPr>
      </p:sp>
      <p:sp>
        <p:nvSpPr>
          <p:cNvPr id="41" name="Text 38"/>
          <p:cNvSpPr/>
          <p:nvPr/>
        </p:nvSpPr>
        <p:spPr>
          <a:xfrm>
            <a:off x="4551578"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Human Resource Management</a:t>
            </a:r>
            <a:endParaRPr lang="en-US" sz="1050" dirty="0"/>
          </a:p>
        </p:txBody>
      </p:sp>
      <p:sp>
        <p:nvSpPr>
          <p:cNvPr id="42" name="Text 39"/>
          <p:cNvSpPr/>
          <p:nvPr/>
        </p:nvSpPr>
        <p:spPr>
          <a:xfrm>
            <a:off x="4551578" y="4425696"/>
            <a:ext cx="3179978" cy="365760"/>
          </a:xfrm>
          <a:prstGeom prst="rect">
            <a:avLst/>
          </a:prstGeom>
          <a:noFill/>
          <a:ln/>
        </p:spPr>
        <p:txBody>
          <a:bodyPr wrap="square" lIns="0" tIns="0" rIns="0" bIns="0" rtlCol="0" anchor="t"/>
          <a:lstStyle/>
          <a:p>
            <a:pPr indent="0" marL="0">
              <a:buNone/>
            </a:pPr>
            <a:r>
              <a:rPr lang="en-US" sz="900" dirty="0">
                <a:solidFill>
                  <a:srgbClr val="D9CFC7"/>
                </a:solidFill>
                <a:latin typeface="Poppins" pitchFamily="34" charset="0"/>
                <a:ea typeface="Poppins" pitchFamily="34" charset="-122"/>
                <a:cs typeface="Poppins" pitchFamily="34" charset="-120"/>
              </a:rPr>
              <a:t>Rekrutmen, pelatihan, kompensasi</a:t>
            </a:r>
            <a:endParaRPr lang="en-US" sz="900" dirty="0"/>
          </a:p>
        </p:txBody>
      </p:sp>
      <p:sp>
        <p:nvSpPr>
          <p:cNvPr id="43" name="Shape 40"/>
          <p:cNvSpPr/>
          <p:nvPr/>
        </p:nvSpPr>
        <p:spPr>
          <a:xfrm>
            <a:off x="8097317" y="3986784"/>
            <a:ext cx="3545738" cy="868680"/>
          </a:xfrm>
          <a:prstGeom prst="rect">
            <a:avLst/>
          </a:prstGeom>
          <a:solidFill>
            <a:srgbClr val="32191E"/>
          </a:solidFill>
          <a:ln w="12700">
            <a:solidFill>
              <a:srgbClr val="32191E"/>
            </a:solidFill>
            <a:prstDash val="solid"/>
          </a:ln>
        </p:spPr>
      </p:sp>
      <p:sp>
        <p:nvSpPr>
          <p:cNvPr id="44" name="Shape 41"/>
          <p:cNvSpPr/>
          <p:nvPr/>
        </p:nvSpPr>
        <p:spPr>
          <a:xfrm>
            <a:off x="8097317" y="3986784"/>
            <a:ext cx="54864" cy="868680"/>
          </a:xfrm>
          <a:prstGeom prst="rect">
            <a:avLst/>
          </a:prstGeom>
          <a:solidFill>
            <a:srgbClr val="FBE122"/>
          </a:solidFill>
          <a:ln w="12700">
            <a:solidFill>
              <a:srgbClr val="FBE122"/>
            </a:solidFill>
            <a:prstDash val="solid"/>
          </a:ln>
        </p:spPr>
      </p:sp>
      <p:sp>
        <p:nvSpPr>
          <p:cNvPr id="45" name="Text 42"/>
          <p:cNvSpPr/>
          <p:nvPr/>
        </p:nvSpPr>
        <p:spPr>
          <a:xfrm>
            <a:off x="8325917"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General Administration</a:t>
            </a:r>
            <a:endParaRPr lang="en-US" sz="1050" dirty="0"/>
          </a:p>
        </p:txBody>
      </p:sp>
      <p:sp>
        <p:nvSpPr>
          <p:cNvPr id="46" name="Text 43"/>
          <p:cNvSpPr/>
          <p:nvPr/>
        </p:nvSpPr>
        <p:spPr>
          <a:xfrm>
            <a:off x="8325917" y="4425696"/>
            <a:ext cx="3179978" cy="365760"/>
          </a:xfrm>
          <a:prstGeom prst="rect">
            <a:avLst/>
          </a:prstGeom>
          <a:noFill/>
          <a:ln/>
        </p:spPr>
        <p:txBody>
          <a:bodyPr wrap="square" lIns="0" tIns="0" rIns="0" bIns="0" rtlCol="0" anchor="t"/>
          <a:lstStyle/>
          <a:p>
            <a:pPr indent="0" marL="0">
              <a:buNone/>
            </a:pPr>
            <a:r>
              <a:rPr lang="en-US" sz="900" dirty="0">
                <a:solidFill>
                  <a:srgbClr val="D9CFC7"/>
                </a:solidFill>
                <a:latin typeface="Poppins" pitchFamily="34" charset="0"/>
                <a:ea typeface="Poppins" pitchFamily="34" charset="-122"/>
                <a:cs typeface="Poppins" pitchFamily="34" charset="-120"/>
              </a:rPr>
              <a:t>Akuntansi, keuangan, hukum, sistem informasi</a:t>
            </a:r>
            <a:endParaRPr lang="en-US" sz="900" dirty="0"/>
          </a:p>
        </p:txBody>
      </p:sp>
      <p:sp>
        <p:nvSpPr>
          <p:cNvPr id="47" name="Shape 44"/>
          <p:cNvSpPr/>
          <p:nvPr/>
        </p:nvSpPr>
        <p:spPr>
          <a:xfrm>
            <a:off x="548640" y="5065776"/>
            <a:ext cx="11094415" cy="822960"/>
          </a:xfrm>
          <a:prstGeom prst="rect">
            <a:avLst/>
          </a:prstGeom>
          <a:solidFill>
            <a:srgbClr val="C8102E"/>
          </a:solidFill>
          <a:ln w="12700">
            <a:solidFill>
              <a:srgbClr val="C8102E"/>
            </a:solidFill>
            <a:prstDash val="solid"/>
          </a:ln>
        </p:spPr>
      </p:sp>
      <p:sp>
        <p:nvSpPr>
          <p:cNvPr id="48" name="Text 45"/>
          <p:cNvSpPr/>
          <p:nvPr/>
        </p:nvSpPr>
        <p:spPr>
          <a:xfrm>
            <a:off x="777240" y="5193792"/>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TIGA SELISIH YANG HARUS DIBEDAKAN</a:t>
            </a:r>
            <a:endParaRPr lang="en-US" sz="800" dirty="0"/>
          </a:p>
        </p:txBody>
      </p:sp>
      <p:sp>
        <p:nvSpPr>
          <p:cNvPr id="49" name="Text 46"/>
          <p:cNvSpPr/>
          <p:nvPr/>
        </p:nvSpPr>
        <p:spPr>
          <a:xfrm>
            <a:off x="777240" y="5431536"/>
            <a:ext cx="10637215" cy="3657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V − P = nilai yang diterima pelanggan (customer value proposition).   P − C = margin laba perusahaan.   V − C = Total Economic Value, seluruh nilai ekonomi yang diciptakan perusahaan.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FIGURE 4.4</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SYSTEM DAN BENCHMARKING</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Biaya dan mutu yang sampai ke pembeli tidak hanya ditentukan perusahaan sendiri, tapi oleh seluruh rantai dari pemasok sampai penjual akhir.</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14</a:t>
            </a:r>
            <a:endParaRPr lang="en-US" sz="900" dirty="0"/>
          </a:p>
        </p:txBody>
      </p:sp>
      <p:sp>
        <p:nvSpPr>
          <p:cNvPr id="10" name="Shape 7"/>
          <p:cNvSpPr/>
          <p:nvPr/>
        </p:nvSpPr>
        <p:spPr>
          <a:xfrm>
            <a:off x="548640" y="1755648"/>
            <a:ext cx="2567864" cy="914400"/>
          </a:xfrm>
          <a:prstGeom prst="rect">
            <a:avLst/>
          </a:prstGeom>
          <a:solidFill>
            <a:srgbClr val="27161A"/>
          </a:solidFill>
          <a:ln w="12700">
            <a:solidFill>
              <a:srgbClr val="27161A"/>
            </a:solidFill>
            <a:prstDash val="solid"/>
          </a:ln>
        </p:spPr>
      </p:sp>
      <p:sp>
        <p:nvSpPr>
          <p:cNvPr id="11" name="Text 8"/>
          <p:cNvSpPr/>
          <p:nvPr/>
        </p:nvSpPr>
        <p:spPr>
          <a:xfrm>
            <a:off x="731520"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PEMASOK</a:t>
            </a:r>
            <a:endParaRPr lang="en-US" sz="1050" dirty="0"/>
          </a:p>
        </p:txBody>
      </p:sp>
      <p:sp>
        <p:nvSpPr>
          <p:cNvPr id="12" name="Text 9"/>
          <p:cNvSpPr/>
          <p:nvPr/>
        </p:nvSpPr>
        <p:spPr>
          <a:xfrm>
            <a:off x="731520" y="2212848"/>
            <a:ext cx="2247824" cy="411480"/>
          </a:xfrm>
          <a:prstGeom prst="rect">
            <a:avLst/>
          </a:prstGeom>
          <a:noFill/>
          <a:ln/>
        </p:spPr>
        <p:txBody>
          <a:bodyPr wrap="square" lIns="0" tIns="0" rIns="0" bIns="0" rtlCol="0" anchor="t"/>
          <a:lstStyle/>
          <a:p>
            <a:pPr indent="0" marL="0">
              <a:buNone/>
            </a:pPr>
            <a:r>
              <a:rPr lang="en-US" sz="850" dirty="0">
                <a:solidFill>
                  <a:srgbClr val="D9CFC7"/>
                </a:solidFill>
                <a:latin typeface="Poppins" pitchFamily="34" charset="0"/>
                <a:ea typeface="Poppins" pitchFamily="34" charset="-122"/>
                <a:cs typeface="Poppins" pitchFamily="34" charset="-120"/>
              </a:rPr>
              <a:t>Biaya dan mutu input yang masuk</a:t>
            </a:r>
            <a:endParaRPr lang="en-US" sz="850" dirty="0"/>
          </a:p>
        </p:txBody>
      </p:sp>
      <p:sp>
        <p:nvSpPr>
          <p:cNvPr id="13" name="Shape 10"/>
          <p:cNvSpPr/>
          <p:nvPr/>
        </p:nvSpPr>
        <p:spPr>
          <a:xfrm rot="5400000">
            <a:off x="3180512" y="2139696"/>
            <a:ext cx="146304" cy="164592"/>
          </a:xfrm>
          <a:prstGeom prst="triangle">
            <a:avLst/>
          </a:prstGeom>
          <a:solidFill>
            <a:srgbClr val="FBE122"/>
          </a:solidFill>
          <a:ln w="12700">
            <a:solidFill>
              <a:srgbClr val="FBE122"/>
            </a:solidFill>
            <a:prstDash val="solid"/>
          </a:ln>
        </p:spPr>
      </p:sp>
      <p:sp>
        <p:nvSpPr>
          <p:cNvPr id="14" name="Shape 11"/>
          <p:cNvSpPr/>
          <p:nvPr/>
        </p:nvSpPr>
        <p:spPr>
          <a:xfrm>
            <a:off x="3390824" y="1755648"/>
            <a:ext cx="2567864" cy="914400"/>
          </a:xfrm>
          <a:prstGeom prst="rect">
            <a:avLst/>
          </a:prstGeom>
          <a:solidFill>
            <a:srgbClr val="27161A"/>
          </a:solidFill>
          <a:ln w="12700">
            <a:solidFill>
              <a:srgbClr val="27161A"/>
            </a:solidFill>
            <a:prstDash val="solid"/>
          </a:ln>
        </p:spPr>
      </p:sp>
      <p:sp>
        <p:nvSpPr>
          <p:cNvPr id="15" name="Text 12"/>
          <p:cNvSpPr/>
          <p:nvPr/>
        </p:nvSpPr>
        <p:spPr>
          <a:xfrm>
            <a:off x="3573704"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PERUSAHAAN</a:t>
            </a:r>
            <a:endParaRPr lang="en-US" sz="1050" dirty="0"/>
          </a:p>
        </p:txBody>
      </p:sp>
      <p:sp>
        <p:nvSpPr>
          <p:cNvPr id="16" name="Text 13"/>
          <p:cNvSpPr/>
          <p:nvPr/>
        </p:nvSpPr>
        <p:spPr>
          <a:xfrm>
            <a:off x="3573704" y="2212848"/>
            <a:ext cx="2247824" cy="411480"/>
          </a:xfrm>
          <a:prstGeom prst="rect">
            <a:avLst/>
          </a:prstGeom>
          <a:noFill/>
          <a:ln/>
        </p:spPr>
        <p:txBody>
          <a:bodyPr wrap="square" lIns="0" tIns="0" rIns="0" bIns="0" rtlCol="0" anchor="t"/>
          <a:lstStyle/>
          <a:p>
            <a:pPr indent="0" marL="0">
              <a:buNone/>
            </a:pPr>
            <a:r>
              <a:rPr lang="en-US" sz="850" dirty="0">
                <a:solidFill>
                  <a:srgbClr val="D9CFC7"/>
                </a:solidFill>
                <a:latin typeface="Poppins" pitchFamily="34" charset="0"/>
                <a:ea typeface="Poppins" pitchFamily="34" charset="-122"/>
                <a:cs typeface="Poppins" pitchFamily="34" charset="-120"/>
              </a:rPr>
              <a:t>Aktivitas internal sendiri</a:t>
            </a:r>
            <a:endParaRPr lang="en-US" sz="850" dirty="0"/>
          </a:p>
        </p:txBody>
      </p:sp>
      <p:sp>
        <p:nvSpPr>
          <p:cNvPr id="17" name="Shape 14"/>
          <p:cNvSpPr/>
          <p:nvPr/>
        </p:nvSpPr>
        <p:spPr>
          <a:xfrm rot="5400000">
            <a:off x="6022696" y="2139696"/>
            <a:ext cx="146304" cy="164592"/>
          </a:xfrm>
          <a:prstGeom prst="triangle">
            <a:avLst/>
          </a:prstGeom>
          <a:solidFill>
            <a:srgbClr val="FBE122"/>
          </a:solidFill>
          <a:ln w="12700">
            <a:solidFill>
              <a:srgbClr val="FBE122"/>
            </a:solidFill>
            <a:prstDash val="solid"/>
          </a:ln>
        </p:spPr>
      </p:sp>
      <p:sp>
        <p:nvSpPr>
          <p:cNvPr id="18" name="Shape 15"/>
          <p:cNvSpPr/>
          <p:nvPr/>
        </p:nvSpPr>
        <p:spPr>
          <a:xfrm>
            <a:off x="6233008" y="1755648"/>
            <a:ext cx="2567864" cy="914400"/>
          </a:xfrm>
          <a:prstGeom prst="rect">
            <a:avLst/>
          </a:prstGeom>
          <a:solidFill>
            <a:srgbClr val="27161A"/>
          </a:solidFill>
          <a:ln w="12700">
            <a:solidFill>
              <a:srgbClr val="27161A"/>
            </a:solidFill>
            <a:prstDash val="solid"/>
          </a:ln>
        </p:spPr>
      </p:sp>
      <p:sp>
        <p:nvSpPr>
          <p:cNvPr id="19" name="Text 16"/>
          <p:cNvSpPr/>
          <p:nvPr/>
        </p:nvSpPr>
        <p:spPr>
          <a:xfrm>
            <a:off x="6415888"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MITRA HILIR</a:t>
            </a:r>
            <a:endParaRPr lang="en-US" sz="1050" dirty="0"/>
          </a:p>
        </p:txBody>
      </p:sp>
      <p:sp>
        <p:nvSpPr>
          <p:cNvPr id="20" name="Text 17"/>
          <p:cNvSpPr/>
          <p:nvPr/>
        </p:nvSpPr>
        <p:spPr>
          <a:xfrm>
            <a:off x="6415888" y="2212848"/>
            <a:ext cx="2247824" cy="411480"/>
          </a:xfrm>
          <a:prstGeom prst="rect">
            <a:avLst/>
          </a:prstGeom>
          <a:noFill/>
          <a:ln/>
        </p:spPr>
        <p:txBody>
          <a:bodyPr wrap="square" lIns="0" tIns="0" rIns="0" bIns="0" rtlCol="0" anchor="t"/>
          <a:lstStyle/>
          <a:p>
            <a:pPr indent="0" marL="0">
              <a:buNone/>
            </a:pPr>
            <a:r>
              <a:rPr lang="en-US" sz="850" dirty="0">
                <a:solidFill>
                  <a:srgbClr val="D9CFC7"/>
                </a:solidFill>
                <a:latin typeface="Poppins" pitchFamily="34" charset="0"/>
                <a:ea typeface="Poppins" pitchFamily="34" charset="-122"/>
                <a:cs typeface="Poppins" pitchFamily="34" charset="-120"/>
              </a:rPr>
              <a:t>Distributor, dealer, mitra strategis</a:t>
            </a:r>
            <a:endParaRPr lang="en-US" sz="850" dirty="0"/>
          </a:p>
        </p:txBody>
      </p:sp>
      <p:sp>
        <p:nvSpPr>
          <p:cNvPr id="21" name="Shape 18"/>
          <p:cNvSpPr/>
          <p:nvPr/>
        </p:nvSpPr>
        <p:spPr>
          <a:xfrm rot="5400000">
            <a:off x="8864879" y="2139696"/>
            <a:ext cx="146304" cy="164592"/>
          </a:xfrm>
          <a:prstGeom prst="triangle">
            <a:avLst/>
          </a:prstGeom>
          <a:solidFill>
            <a:srgbClr val="FBE122"/>
          </a:solidFill>
          <a:ln w="12700">
            <a:solidFill>
              <a:srgbClr val="FBE122"/>
            </a:solidFill>
            <a:prstDash val="solid"/>
          </a:ln>
        </p:spPr>
      </p:sp>
      <p:sp>
        <p:nvSpPr>
          <p:cNvPr id="22" name="Shape 19"/>
          <p:cNvSpPr/>
          <p:nvPr/>
        </p:nvSpPr>
        <p:spPr>
          <a:xfrm>
            <a:off x="9075191" y="1755648"/>
            <a:ext cx="2567864" cy="914400"/>
          </a:xfrm>
          <a:prstGeom prst="rect">
            <a:avLst/>
          </a:prstGeom>
          <a:solidFill>
            <a:srgbClr val="C8102E"/>
          </a:solidFill>
          <a:ln w="12700">
            <a:solidFill>
              <a:srgbClr val="C8102E"/>
            </a:solidFill>
            <a:prstDash val="solid"/>
          </a:ln>
        </p:spPr>
      </p:sp>
      <p:sp>
        <p:nvSpPr>
          <p:cNvPr id="23" name="Text 20"/>
          <p:cNvSpPr/>
          <p:nvPr/>
        </p:nvSpPr>
        <p:spPr>
          <a:xfrm>
            <a:off x="9258071"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PEMBELI / PENGGUNA AKHIR</a:t>
            </a:r>
            <a:endParaRPr lang="en-US" sz="1050" dirty="0"/>
          </a:p>
        </p:txBody>
      </p:sp>
      <p:sp>
        <p:nvSpPr>
          <p:cNvPr id="24" name="Text 21"/>
          <p:cNvSpPr/>
          <p:nvPr/>
        </p:nvSpPr>
        <p:spPr>
          <a:xfrm>
            <a:off x="9258071" y="2212848"/>
            <a:ext cx="2247824" cy="411480"/>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Nilai yang akhirnya dirasakan</a:t>
            </a:r>
            <a:endParaRPr lang="en-US" sz="850" dirty="0"/>
          </a:p>
        </p:txBody>
      </p:sp>
      <p:sp>
        <p:nvSpPr>
          <p:cNvPr id="25" name="Shape 22"/>
          <p:cNvSpPr/>
          <p:nvPr/>
        </p:nvSpPr>
        <p:spPr>
          <a:xfrm>
            <a:off x="548640" y="2871216"/>
            <a:ext cx="5120640" cy="2331720"/>
          </a:xfrm>
          <a:prstGeom prst="rect">
            <a:avLst/>
          </a:prstGeom>
          <a:solidFill>
            <a:srgbClr val="27161A"/>
          </a:solidFill>
          <a:ln w="12700">
            <a:solidFill>
              <a:srgbClr val="27161A"/>
            </a:solidFill>
            <a:prstDash val="solid"/>
          </a:ln>
        </p:spPr>
      </p:sp>
      <p:sp>
        <p:nvSpPr>
          <p:cNvPr id="26" name="Shape 23"/>
          <p:cNvSpPr/>
          <p:nvPr/>
        </p:nvSpPr>
        <p:spPr>
          <a:xfrm>
            <a:off x="548640" y="2871216"/>
            <a:ext cx="54864" cy="2331720"/>
          </a:xfrm>
          <a:prstGeom prst="rect">
            <a:avLst/>
          </a:prstGeom>
          <a:solidFill>
            <a:srgbClr val="C8102E"/>
          </a:solidFill>
          <a:ln w="12700">
            <a:solidFill>
              <a:srgbClr val="C8102E"/>
            </a:solidFill>
            <a:prstDash val="solid"/>
          </a:ln>
        </p:spPr>
      </p:sp>
      <p:sp>
        <p:nvSpPr>
          <p:cNvPr id="27" name="Text 24"/>
          <p:cNvSpPr/>
          <p:nvPr/>
        </p:nvSpPr>
        <p:spPr>
          <a:xfrm>
            <a:off x="804672" y="3008376"/>
            <a:ext cx="4663440"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Benchmarking</a:t>
            </a:r>
            <a:endParaRPr lang="en-US" sz="1400" dirty="0"/>
          </a:p>
        </p:txBody>
      </p:sp>
      <p:sp>
        <p:nvSpPr>
          <p:cNvPr id="28" name="Text 25"/>
          <p:cNvSpPr/>
          <p:nvPr/>
        </p:nvSpPr>
        <p:spPr>
          <a:xfrm>
            <a:off x="804672" y="3374136"/>
            <a:ext cx="4663440" cy="868680"/>
          </a:xfrm>
          <a:prstGeom prst="rect">
            <a:avLst/>
          </a:prstGeom>
          <a:noFill/>
          <a:ln/>
        </p:spPr>
        <p:txBody>
          <a:bodyPr wrap="square" lIns="0" tIns="0" rIns="0" bIns="0" rtlCol="0" anchor="t"/>
          <a:lstStyle/>
          <a:p>
            <a:pPr indent="0" marL="0">
              <a:lnSpc>
                <a:spcPct val="106000"/>
              </a:lnSpc>
              <a:buNone/>
            </a:pPr>
            <a:r>
              <a:rPr lang="en-US" sz="950" dirty="0">
                <a:solidFill>
                  <a:srgbClr val="D9CFC7"/>
                </a:solidFill>
                <a:latin typeface="Poppins" pitchFamily="34" charset="0"/>
                <a:ea typeface="Poppins" pitchFamily="34" charset="-122"/>
                <a:cs typeface="Poppins" pitchFamily="34" charset="-120"/>
              </a:rPr>
              <a:t>Membandingkan cara perusahaan lain mengerjakan aktivitas yang sama, lalu menirukan cara terbaiknya. Bisa dengan pesaing di industri yang sama, bisa juga dengan industri lain sama sekali.</a:t>
            </a:r>
            <a:endParaRPr lang="en-US" sz="950" dirty="0"/>
          </a:p>
        </p:txBody>
      </p:sp>
      <p:sp>
        <p:nvSpPr>
          <p:cNvPr id="29" name="Text 26"/>
          <p:cNvSpPr/>
          <p:nvPr/>
        </p:nvSpPr>
        <p:spPr>
          <a:xfrm>
            <a:off x="804672" y="4288536"/>
            <a:ext cx="4663440" cy="868680"/>
          </a:xfrm>
          <a:prstGeom prst="rect">
            <a:avLst/>
          </a:prstGeom>
          <a:noFill/>
          <a:ln/>
        </p:spPr>
        <p:txBody>
          <a:bodyPr wrap="square" lIns="0" tIns="0" rIns="0" bIns="0" rtlCol="0" anchor="t"/>
          <a:lstStyle/>
          <a:p>
            <a:pPr indent="0" marL="0">
              <a:lnSpc>
                <a:spcPct val="106000"/>
              </a:lnSpc>
              <a:buNone/>
            </a:pPr>
            <a:r>
              <a:rPr lang="en-US" sz="950" dirty="0">
                <a:solidFill>
                  <a:srgbClr val="FBE122"/>
                </a:solidFill>
                <a:latin typeface="Poppins SemiBold" pitchFamily="34" charset="0"/>
                <a:ea typeface="Poppins SemiBold" pitchFamily="34" charset="-122"/>
                <a:cs typeface="Poppins SemiBold" pitchFamily="34" charset="-120"/>
              </a:rPr>
              <a:t>Best practice </a:t>
            </a:r>
            <a:pPr indent="0" marL="0">
              <a:lnSpc>
                <a:spcPct val="106000"/>
              </a:lnSpc>
              <a:buNone/>
            </a:pPr>
            <a:r>
              <a:rPr lang="en-US" sz="950" dirty="0">
                <a:solidFill>
                  <a:srgbClr val="D9CFC7"/>
                </a:solidFill>
                <a:latin typeface="Poppins" pitchFamily="34" charset="0"/>
                <a:ea typeface="Poppins" pitchFamily="34" charset="-122"/>
                <a:cs typeface="Poppins" pitchFamily="34" charset="-120"/>
              </a:rPr>
              <a:t>= cara mengerjakan suatu aktivitas yang terbukti konsisten memberi hasil lebih baik dibanding cara lain. Harus sudah dibuktikan minimal oleh satu perusahaan.</a:t>
            </a:r>
            <a:endParaRPr lang="en-US" sz="950" dirty="0"/>
          </a:p>
        </p:txBody>
      </p:sp>
      <p:sp>
        <p:nvSpPr>
          <p:cNvPr id="30" name="Text 27"/>
          <p:cNvSpPr/>
          <p:nvPr/>
        </p:nvSpPr>
        <p:spPr>
          <a:xfrm>
            <a:off x="5897880" y="285292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TIGA CONTOH YANG TERKENAL</a:t>
            </a:r>
            <a:endParaRPr lang="en-US" sz="850" dirty="0"/>
          </a:p>
        </p:txBody>
      </p:sp>
      <p:sp>
        <p:nvSpPr>
          <p:cNvPr id="31" name="Shape 28"/>
          <p:cNvSpPr/>
          <p:nvPr/>
        </p:nvSpPr>
        <p:spPr>
          <a:xfrm>
            <a:off x="5897880" y="3145536"/>
            <a:ext cx="5745175" cy="640080"/>
          </a:xfrm>
          <a:prstGeom prst="rect">
            <a:avLst/>
          </a:prstGeom>
          <a:solidFill>
            <a:srgbClr val="27161A"/>
          </a:solidFill>
          <a:ln w="12700">
            <a:solidFill>
              <a:srgbClr val="27161A"/>
            </a:solidFill>
            <a:prstDash val="solid"/>
          </a:ln>
        </p:spPr>
      </p:sp>
      <p:sp>
        <p:nvSpPr>
          <p:cNvPr id="32" name="Text 29"/>
          <p:cNvSpPr/>
          <p:nvPr/>
        </p:nvSpPr>
        <p:spPr>
          <a:xfrm>
            <a:off x="6080760" y="3218688"/>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Xerox</a:t>
            </a:r>
            <a:endParaRPr lang="en-US" sz="1050" dirty="0"/>
          </a:p>
        </p:txBody>
      </p:sp>
      <p:sp>
        <p:nvSpPr>
          <p:cNvPr id="33" name="Text 30"/>
          <p:cNvSpPr/>
          <p:nvPr/>
        </p:nvSpPr>
        <p:spPr>
          <a:xfrm>
            <a:off x="7680960" y="3200400"/>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Pelopornya. Tidak membatasi diri pada pesaing mesin kantor, tapi ke perusahaan mana pun yang kelas dunia.</a:t>
            </a:r>
            <a:endParaRPr lang="en-US" sz="850" dirty="0"/>
          </a:p>
        </p:txBody>
      </p:sp>
      <p:sp>
        <p:nvSpPr>
          <p:cNvPr id="34" name="Shape 31"/>
          <p:cNvSpPr/>
          <p:nvPr/>
        </p:nvSpPr>
        <p:spPr>
          <a:xfrm>
            <a:off x="5897880" y="3858768"/>
            <a:ext cx="5745175" cy="640080"/>
          </a:xfrm>
          <a:prstGeom prst="rect">
            <a:avLst/>
          </a:prstGeom>
          <a:solidFill>
            <a:srgbClr val="32191E"/>
          </a:solidFill>
          <a:ln w="12700">
            <a:solidFill>
              <a:srgbClr val="32191E"/>
            </a:solidFill>
            <a:prstDash val="solid"/>
          </a:ln>
        </p:spPr>
      </p:sp>
      <p:sp>
        <p:nvSpPr>
          <p:cNvPr id="35" name="Text 32"/>
          <p:cNvSpPr/>
          <p:nvPr/>
        </p:nvSpPr>
        <p:spPr>
          <a:xfrm>
            <a:off x="6080760" y="3931920"/>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Toyota</a:t>
            </a:r>
            <a:endParaRPr lang="en-US" sz="1050" dirty="0"/>
          </a:p>
        </p:txBody>
      </p:sp>
      <p:sp>
        <p:nvSpPr>
          <p:cNvPr id="36" name="Text 33"/>
          <p:cNvSpPr/>
          <p:nvPr/>
        </p:nvSpPr>
        <p:spPr>
          <a:xfrm>
            <a:off x="7680960" y="3913632"/>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Ide just-in-time datang dari mengamati cara supermarket Amerika mengisi ulang raknya.</a:t>
            </a:r>
            <a:endParaRPr lang="en-US" sz="850" dirty="0"/>
          </a:p>
        </p:txBody>
      </p:sp>
      <p:sp>
        <p:nvSpPr>
          <p:cNvPr id="37" name="Shape 34"/>
          <p:cNvSpPr/>
          <p:nvPr/>
        </p:nvSpPr>
        <p:spPr>
          <a:xfrm>
            <a:off x="5897880" y="4572000"/>
            <a:ext cx="5745175" cy="640080"/>
          </a:xfrm>
          <a:prstGeom prst="rect">
            <a:avLst/>
          </a:prstGeom>
          <a:solidFill>
            <a:srgbClr val="27161A"/>
          </a:solidFill>
          <a:ln w="12700">
            <a:solidFill>
              <a:srgbClr val="27161A"/>
            </a:solidFill>
            <a:prstDash val="solid"/>
          </a:ln>
        </p:spPr>
      </p:sp>
      <p:sp>
        <p:nvSpPr>
          <p:cNvPr id="38" name="Text 35"/>
          <p:cNvSpPr/>
          <p:nvPr/>
        </p:nvSpPr>
        <p:spPr>
          <a:xfrm>
            <a:off x="6080760" y="4645152"/>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Southwest Airlines</a:t>
            </a:r>
            <a:endParaRPr lang="en-US" sz="1050" dirty="0"/>
          </a:p>
        </p:txBody>
      </p:sp>
      <p:sp>
        <p:nvSpPr>
          <p:cNvPr id="39" name="Text 36"/>
          <p:cNvSpPr/>
          <p:nvPr/>
        </p:nvSpPr>
        <p:spPr>
          <a:xfrm>
            <a:off x="7680960" y="4626864"/>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Memangkas waktu parkir pesawat dengan mempelajari kru pit balap mobil.</a:t>
            </a:r>
            <a:endParaRPr lang="en-US" sz="850" dirty="0"/>
          </a:p>
        </p:txBody>
      </p:sp>
      <p:sp>
        <p:nvSpPr>
          <p:cNvPr id="40" name="Shape 37"/>
          <p:cNvSpPr/>
          <p:nvPr/>
        </p:nvSpPr>
        <p:spPr>
          <a:xfrm>
            <a:off x="548640" y="5385816"/>
            <a:ext cx="11094415" cy="731520"/>
          </a:xfrm>
          <a:prstGeom prst="rect">
            <a:avLst/>
          </a:prstGeom>
          <a:solidFill>
            <a:srgbClr val="32191E"/>
          </a:solidFill>
          <a:ln w="12700">
            <a:solidFill>
              <a:srgbClr val="32191E"/>
            </a:solidFill>
            <a:prstDash val="solid"/>
          </a:ln>
        </p:spPr>
      </p:sp>
      <p:sp>
        <p:nvSpPr>
          <p:cNvPr id="41" name="Text 38"/>
          <p:cNvSpPr/>
          <p:nvPr/>
        </p:nvSpPr>
        <p:spPr>
          <a:xfrm>
            <a:off x="777240" y="5513832"/>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BAGIAN SULITNYA BUKAN MEMUTUSKAN, TAPI MENDAPAT DATANYA</a:t>
            </a:r>
            <a:endParaRPr lang="en-US" sz="800" dirty="0"/>
          </a:p>
        </p:txBody>
      </p:sp>
      <p:sp>
        <p:nvSpPr>
          <p:cNvPr id="42" name="Text 39"/>
          <p:cNvSpPr/>
          <p:nvPr/>
        </p:nvSpPr>
        <p:spPr>
          <a:xfrm>
            <a:off x="777240" y="5751576"/>
            <a:ext cx="10637215" cy="27432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Sumber yang sah: laporan publik, asosiasi dagang, firma riset, kunjungan lapangan, dan konsultan pihak ketiga yang mengumpulkan data secara anonim. Bukan pengumpulan intelijen yang melanggar hukum.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TINDAKAN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KALAU BIAYA ATAU NILAINYA KALAH, APA YANG DILAKUKAN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Analisis value chain dan benchmarking bisa menunjukkan kita kalah biaya atau kalah nilai. Buku menunjuk tiga area perbaikan.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15</a:t>
            </a:r>
            <a:endParaRPr lang="en-US" sz="900" dirty="0"/>
          </a:p>
        </p:txBody>
      </p:sp>
      <p:sp>
        <p:nvSpPr>
          <p:cNvPr id="10" name="Shape 7"/>
          <p:cNvSpPr/>
          <p:nvPr/>
        </p:nvSpPr>
        <p:spPr>
          <a:xfrm>
            <a:off x="548640" y="1755648"/>
            <a:ext cx="3545738" cy="3063240"/>
          </a:xfrm>
          <a:prstGeom prst="rect">
            <a:avLst/>
          </a:prstGeom>
          <a:solidFill>
            <a:srgbClr val="27161A"/>
          </a:solidFill>
          <a:ln w="12700">
            <a:solidFill>
              <a:srgbClr val="27161A"/>
            </a:solidFill>
            <a:prstDash val="solid"/>
          </a:ln>
        </p:spPr>
      </p:sp>
      <p:sp>
        <p:nvSpPr>
          <p:cNvPr id="11" name="Shape 8"/>
          <p:cNvSpPr/>
          <p:nvPr/>
        </p:nvSpPr>
        <p:spPr>
          <a:xfrm>
            <a:off x="548640" y="1755648"/>
            <a:ext cx="3545738" cy="54864"/>
          </a:xfrm>
          <a:prstGeom prst="rect">
            <a:avLst/>
          </a:prstGeom>
          <a:solidFill>
            <a:srgbClr val="C8102E"/>
          </a:solidFill>
          <a:ln w="12700">
            <a:solidFill>
              <a:srgbClr val="C8102E"/>
            </a:solidFill>
            <a:prstDash val="solid"/>
          </a:ln>
        </p:spPr>
      </p:sp>
      <p:sp>
        <p:nvSpPr>
          <p:cNvPr id="12" name="Text 9"/>
          <p:cNvSpPr/>
          <p:nvPr/>
        </p:nvSpPr>
        <p:spPr>
          <a:xfrm>
            <a:off x="749808"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1. Aktivitas internal sendiri</a:t>
            </a:r>
            <a:endParaRPr lang="en-US" sz="1200" dirty="0"/>
          </a:p>
        </p:txBody>
      </p:sp>
      <p:sp>
        <p:nvSpPr>
          <p:cNvPr id="13" name="Text 10"/>
          <p:cNvSpPr/>
          <p:nvPr/>
        </p:nvSpPr>
        <p:spPr>
          <a:xfrm>
            <a:off x="749808"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Terapkan best practice, terutama di aktivitas mahal</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Hapus aktivitas yang tidak perlu dengan merombak value chain</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Pindahkan aktivitas mahal ke wilayah berbiaya lebih rendah</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Serahkan ke pihak luar (outsourcing) jika mereka lebih murah</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Investasi teknologi yang menaikkan produktivitas</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Rancang ulang produk agar lebih murah dibuat</a:t>
            </a:r>
            <a:endParaRPr lang="en-US" sz="1000" dirty="0"/>
          </a:p>
        </p:txBody>
      </p:sp>
      <p:sp>
        <p:nvSpPr>
          <p:cNvPr id="14" name="Shape 11"/>
          <p:cNvSpPr/>
          <p:nvPr/>
        </p:nvSpPr>
        <p:spPr>
          <a:xfrm>
            <a:off x="4322978" y="1755648"/>
            <a:ext cx="3545738" cy="3063240"/>
          </a:xfrm>
          <a:prstGeom prst="rect">
            <a:avLst/>
          </a:prstGeom>
          <a:solidFill>
            <a:srgbClr val="27161A"/>
          </a:solidFill>
          <a:ln w="12700">
            <a:solidFill>
              <a:srgbClr val="27161A"/>
            </a:solidFill>
            <a:prstDash val="solid"/>
          </a:ln>
        </p:spPr>
      </p:sp>
      <p:sp>
        <p:nvSpPr>
          <p:cNvPr id="15" name="Shape 12"/>
          <p:cNvSpPr/>
          <p:nvPr/>
        </p:nvSpPr>
        <p:spPr>
          <a:xfrm>
            <a:off x="4322978" y="1755648"/>
            <a:ext cx="3545738" cy="54864"/>
          </a:xfrm>
          <a:prstGeom prst="rect">
            <a:avLst/>
          </a:prstGeom>
          <a:solidFill>
            <a:srgbClr val="FBE122"/>
          </a:solidFill>
          <a:ln w="12700">
            <a:solidFill>
              <a:srgbClr val="FBE122"/>
            </a:solidFill>
            <a:prstDash val="solid"/>
          </a:ln>
        </p:spPr>
      </p:sp>
      <p:sp>
        <p:nvSpPr>
          <p:cNvPr id="16" name="Text 13"/>
          <p:cNvSpPr/>
          <p:nvPr/>
        </p:nvSpPr>
        <p:spPr>
          <a:xfrm>
            <a:off x="4524146"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2. Bagian pemasok</a:t>
            </a:r>
            <a:endParaRPr lang="en-US" sz="1200" dirty="0"/>
          </a:p>
        </p:txBody>
      </p:sp>
      <p:sp>
        <p:nvSpPr>
          <p:cNvPr id="17" name="Text 14"/>
          <p:cNvSpPr/>
          <p:nvPr/>
        </p:nvSpPr>
        <p:spPr>
          <a:xfrm>
            <a:off x="4524146"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Tekan harga beli ke pemasok</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Ganti ke input substitusi yang lebih murah</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Kerja sama erat mencari penghematan bersama</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Integrasi ke belakang: produksi sendiri</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Untuk menaikkan nilai: pilih pemasok bermutu tinggi dan libatkan mereka sejak tahap desain</a:t>
            </a:r>
            <a:endParaRPr lang="en-US" sz="1000" dirty="0"/>
          </a:p>
        </p:txBody>
      </p:sp>
      <p:sp>
        <p:nvSpPr>
          <p:cNvPr id="18" name="Shape 15"/>
          <p:cNvSpPr/>
          <p:nvPr/>
        </p:nvSpPr>
        <p:spPr>
          <a:xfrm>
            <a:off x="8097317" y="1755648"/>
            <a:ext cx="3545738" cy="3063240"/>
          </a:xfrm>
          <a:prstGeom prst="rect">
            <a:avLst/>
          </a:prstGeom>
          <a:solidFill>
            <a:srgbClr val="27161A"/>
          </a:solidFill>
          <a:ln w="12700">
            <a:solidFill>
              <a:srgbClr val="27161A"/>
            </a:solidFill>
            <a:prstDash val="solid"/>
          </a:ln>
        </p:spPr>
      </p:sp>
      <p:sp>
        <p:nvSpPr>
          <p:cNvPr id="19" name="Shape 16"/>
          <p:cNvSpPr/>
          <p:nvPr/>
        </p:nvSpPr>
        <p:spPr>
          <a:xfrm>
            <a:off x="8097317" y="1755648"/>
            <a:ext cx="3545738" cy="54864"/>
          </a:xfrm>
          <a:prstGeom prst="rect">
            <a:avLst/>
          </a:prstGeom>
          <a:solidFill>
            <a:srgbClr val="C8102E"/>
          </a:solidFill>
          <a:ln w="12700">
            <a:solidFill>
              <a:srgbClr val="C8102E"/>
            </a:solidFill>
            <a:prstDash val="solid"/>
          </a:ln>
        </p:spPr>
      </p:sp>
      <p:sp>
        <p:nvSpPr>
          <p:cNvPr id="20" name="Text 17"/>
          <p:cNvSpPr/>
          <p:nvPr/>
        </p:nvSpPr>
        <p:spPr>
          <a:xfrm>
            <a:off x="8298485"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3. Bagian mitra hilir</a:t>
            </a:r>
            <a:endParaRPr lang="en-US" sz="1200" dirty="0"/>
          </a:p>
        </p:txBody>
      </p:sp>
      <p:sp>
        <p:nvSpPr>
          <p:cNvPr id="21" name="Text 18"/>
          <p:cNvSpPr/>
          <p:nvPr/>
        </p:nvSpPr>
        <p:spPr>
          <a:xfrm>
            <a:off x="8298485"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Tekan biaya dan markup distributor serta dealer</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Kerja sama mencari penghematan yang saling menguntungkan</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Ubah jalur distribusi, termasuk jualan langsung lewat internet</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Integrasi ke depan: buka gerai sendiri</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Untuk menaikkan nilai: iklan bersama, perjanjian eksklusif, dan pelatihan mitra</a:t>
            </a:r>
            <a:endParaRPr lang="en-US" sz="1000" dirty="0"/>
          </a:p>
        </p:txBody>
      </p:sp>
      <p:sp>
        <p:nvSpPr>
          <p:cNvPr id="22" name="Shape 19"/>
          <p:cNvSpPr/>
          <p:nvPr/>
        </p:nvSpPr>
        <p:spPr>
          <a:xfrm>
            <a:off x="548640" y="5001768"/>
            <a:ext cx="11094415" cy="868680"/>
          </a:xfrm>
          <a:prstGeom prst="rect">
            <a:avLst/>
          </a:prstGeom>
          <a:solidFill>
            <a:srgbClr val="C8102E"/>
          </a:solidFill>
          <a:ln w="12700">
            <a:solidFill>
              <a:srgbClr val="C8102E"/>
            </a:solidFill>
            <a:prstDash val="solid"/>
          </a:ln>
        </p:spPr>
      </p:sp>
      <p:sp>
        <p:nvSpPr>
          <p:cNvPr id="23" name="Text 20"/>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HANYA ADA DUA JALAN MENGUBAH KERJA VALUE CHAIN JADI KEUNGGULAN BERSAING</a:t>
            </a:r>
            <a:endParaRPr lang="en-US" sz="800" dirty="0"/>
          </a:p>
        </p:txBody>
      </p:sp>
      <p:sp>
        <p:nvSpPr>
          <p:cNvPr id="24" name="Text 21"/>
          <p:cNvSpPr/>
          <p:nvPr/>
        </p:nvSpPr>
        <p:spPr>
          <a:xfrm>
            <a:off x="777240" y="5367528"/>
            <a:ext cx="10637215"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(1) Lebih efisien sehingga biayanya lebih rendah dari pesaing: Ryanair, Nucor, TJX.   (2) Menjadi dasar diferensiasi sehingga pelanggan mau membayar lebih: Rolex (status), Braun (desain), L.L. Bean (layanan), FedEx (keandalan).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5  ·  TABLE 4.4</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COMPETITIVE STRENGTH ASSESSMENT</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Alat untuk mengubah penilaian yang serba kualitatif menjadi satu angka yang bisa langsung dibandingkan dengan pesaing.</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16</a:t>
            </a:r>
            <a:endParaRPr lang="en-US" sz="900" dirty="0"/>
          </a:p>
        </p:txBody>
      </p:sp>
      <p:sp>
        <p:nvSpPr>
          <p:cNvPr id="10" name="Shape 7"/>
          <p:cNvSpPr/>
          <p:nvPr/>
        </p:nvSpPr>
        <p:spPr>
          <a:xfrm>
            <a:off x="548640" y="1755648"/>
            <a:ext cx="2109155" cy="822960"/>
          </a:xfrm>
          <a:prstGeom prst="rect">
            <a:avLst/>
          </a:prstGeom>
          <a:solidFill>
            <a:srgbClr val="27161A"/>
          </a:solidFill>
          <a:ln w="12700">
            <a:solidFill>
              <a:srgbClr val="27161A"/>
            </a:solidFill>
            <a:prstDash val="solid"/>
          </a:ln>
        </p:spPr>
      </p:sp>
      <p:sp>
        <p:nvSpPr>
          <p:cNvPr id="11" name="Shape 8"/>
          <p:cNvSpPr/>
          <p:nvPr/>
        </p:nvSpPr>
        <p:spPr>
          <a:xfrm>
            <a:off x="685800" y="1938528"/>
            <a:ext cx="420624" cy="420624"/>
          </a:xfrm>
          <a:prstGeom prst="ellipse">
            <a:avLst/>
          </a:prstGeom>
          <a:solidFill>
            <a:srgbClr val="C8102E"/>
          </a:solidFill>
          <a:ln w="12700">
            <a:solidFill>
              <a:srgbClr val="C8102E"/>
            </a:solidFill>
            <a:prstDash val="solid"/>
          </a:ln>
        </p:spPr>
      </p:sp>
      <p:sp>
        <p:nvSpPr>
          <p:cNvPr id="12" name="Text 9"/>
          <p:cNvSpPr/>
          <p:nvPr/>
        </p:nvSpPr>
        <p:spPr>
          <a:xfrm>
            <a:off x="68580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1</a:t>
            </a:r>
            <a:endParaRPr lang="en-US" sz="1104" dirty="0"/>
          </a:p>
        </p:txBody>
      </p:sp>
      <p:sp>
        <p:nvSpPr>
          <p:cNvPr id="13" name="Text 10"/>
          <p:cNvSpPr/>
          <p:nvPr/>
        </p:nvSpPr>
        <p:spPr>
          <a:xfrm>
            <a:off x="120700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Daftar KSF</a:t>
            </a:r>
            <a:endParaRPr lang="en-US" sz="1050" dirty="0"/>
          </a:p>
        </p:txBody>
      </p:sp>
      <p:sp>
        <p:nvSpPr>
          <p:cNvPr id="14" name="Text 11"/>
          <p:cNvSpPr/>
          <p:nvPr/>
        </p:nvSpPr>
        <p:spPr>
          <a:xfrm>
            <a:off x="120700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Susun key success factor industri</a:t>
            </a:r>
            <a:endParaRPr lang="en-US" sz="800" dirty="0"/>
          </a:p>
        </p:txBody>
      </p:sp>
      <p:sp>
        <p:nvSpPr>
          <p:cNvPr id="15" name="Shape 12"/>
          <p:cNvSpPr/>
          <p:nvPr/>
        </p:nvSpPr>
        <p:spPr>
          <a:xfrm>
            <a:off x="2794955" y="1755648"/>
            <a:ext cx="2109155" cy="822960"/>
          </a:xfrm>
          <a:prstGeom prst="rect">
            <a:avLst/>
          </a:prstGeom>
          <a:solidFill>
            <a:srgbClr val="27161A"/>
          </a:solidFill>
          <a:ln w="12700">
            <a:solidFill>
              <a:srgbClr val="27161A"/>
            </a:solidFill>
            <a:prstDash val="solid"/>
          </a:ln>
        </p:spPr>
      </p:sp>
      <p:sp>
        <p:nvSpPr>
          <p:cNvPr id="16" name="Shape 13"/>
          <p:cNvSpPr/>
          <p:nvPr/>
        </p:nvSpPr>
        <p:spPr>
          <a:xfrm>
            <a:off x="2932115" y="1938528"/>
            <a:ext cx="420624" cy="420624"/>
          </a:xfrm>
          <a:prstGeom prst="ellipse">
            <a:avLst/>
          </a:prstGeom>
          <a:solidFill>
            <a:srgbClr val="C8102E"/>
          </a:solidFill>
          <a:ln w="12700">
            <a:solidFill>
              <a:srgbClr val="C8102E"/>
            </a:solidFill>
            <a:prstDash val="solid"/>
          </a:ln>
        </p:spPr>
      </p:sp>
      <p:sp>
        <p:nvSpPr>
          <p:cNvPr id="17" name="Text 14"/>
          <p:cNvSpPr/>
          <p:nvPr/>
        </p:nvSpPr>
        <p:spPr>
          <a:xfrm>
            <a:off x="2932115"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2</a:t>
            </a:r>
            <a:endParaRPr lang="en-US" sz="1104" dirty="0"/>
          </a:p>
        </p:txBody>
      </p:sp>
      <p:sp>
        <p:nvSpPr>
          <p:cNvPr id="18" name="Text 15"/>
          <p:cNvSpPr/>
          <p:nvPr/>
        </p:nvSpPr>
        <p:spPr>
          <a:xfrm>
            <a:off x="3453323"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Beri bobot</a:t>
            </a:r>
            <a:endParaRPr lang="en-US" sz="1050" dirty="0"/>
          </a:p>
        </p:txBody>
      </p:sp>
      <p:sp>
        <p:nvSpPr>
          <p:cNvPr id="19" name="Text 16"/>
          <p:cNvSpPr/>
          <p:nvPr/>
        </p:nvSpPr>
        <p:spPr>
          <a:xfrm>
            <a:off x="3453323"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Sesuai tingkat kepentingan; total harus 1,00</a:t>
            </a:r>
            <a:endParaRPr lang="en-US" sz="800" dirty="0"/>
          </a:p>
        </p:txBody>
      </p:sp>
      <p:sp>
        <p:nvSpPr>
          <p:cNvPr id="20" name="Shape 17"/>
          <p:cNvSpPr/>
          <p:nvPr/>
        </p:nvSpPr>
        <p:spPr>
          <a:xfrm>
            <a:off x="5041270" y="1755648"/>
            <a:ext cx="2109155" cy="822960"/>
          </a:xfrm>
          <a:prstGeom prst="rect">
            <a:avLst/>
          </a:prstGeom>
          <a:solidFill>
            <a:srgbClr val="27161A"/>
          </a:solidFill>
          <a:ln w="12700">
            <a:solidFill>
              <a:srgbClr val="27161A"/>
            </a:solidFill>
            <a:prstDash val="solid"/>
          </a:ln>
        </p:spPr>
      </p:sp>
      <p:sp>
        <p:nvSpPr>
          <p:cNvPr id="21" name="Shape 18"/>
          <p:cNvSpPr/>
          <p:nvPr/>
        </p:nvSpPr>
        <p:spPr>
          <a:xfrm>
            <a:off x="5178430" y="1938528"/>
            <a:ext cx="420624" cy="420624"/>
          </a:xfrm>
          <a:prstGeom prst="ellipse">
            <a:avLst/>
          </a:prstGeom>
          <a:solidFill>
            <a:srgbClr val="C8102E"/>
          </a:solidFill>
          <a:ln w="12700">
            <a:solidFill>
              <a:srgbClr val="C8102E"/>
            </a:solidFill>
            <a:prstDash val="solid"/>
          </a:ln>
        </p:spPr>
      </p:sp>
      <p:sp>
        <p:nvSpPr>
          <p:cNvPr id="22" name="Text 19"/>
          <p:cNvSpPr/>
          <p:nvPr/>
        </p:nvSpPr>
        <p:spPr>
          <a:xfrm>
            <a:off x="517843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3</a:t>
            </a:r>
            <a:endParaRPr lang="en-US" sz="1104" dirty="0"/>
          </a:p>
        </p:txBody>
      </p:sp>
      <p:sp>
        <p:nvSpPr>
          <p:cNvPr id="23" name="Text 20"/>
          <p:cNvSpPr/>
          <p:nvPr/>
        </p:nvSpPr>
        <p:spPr>
          <a:xfrm>
            <a:off x="569963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Beri rating</a:t>
            </a:r>
            <a:endParaRPr lang="en-US" sz="1050" dirty="0"/>
          </a:p>
        </p:txBody>
      </p:sp>
      <p:sp>
        <p:nvSpPr>
          <p:cNvPr id="24" name="Text 21"/>
          <p:cNvSpPr/>
          <p:nvPr/>
        </p:nvSpPr>
        <p:spPr>
          <a:xfrm>
            <a:off x="569963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Skala 1–10. 1 sangat lemah, 10 sangat kuat</a:t>
            </a:r>
            <a:endParaRPr lang="en-US" sz="800" dirty="0"/>
          </a:p>
        </p:txBody>
      </p:sp>
      <p:sp>
        <p:nvSpPr>
          <p:cNvPr id="25" name="Shape 22"/>
          <p:cNvSpPr/>
          <p:nvPr/>
        </p:nvSpPr>
        <p:spPr>
          <a:xfrm>
            <a:off x="7287585" y="1755648"/>
            <a:ext cx="2109155" cy="822960"/>
          </a:xfrm>
          <a:prstGeom prst="rect">
            <a:avLst/>
          </a:prstGeom>
          <a:solidFill>
            <a:srgbClr val="27161A"/>
          </a:solidFill>
          <a:ln w="12700">
            <a:solidFill>
              <a:srgbClr val="27161A"/>
            </a:solidFill>
            <a:prstDash val="solid"/>
          </a:ln>
        </p:spPr>
      </p:sp>
      <p:sp>
        <p:nvSpPr>
          <p:cNvPr id="26" name="Shape 23"/>
          <p:cNvSpPr/>
          <p:nvPr/>
        </p:nvSpPr>
        <p:spPr>
          <a:xfrm>
            <a:off x="7424745" y="1938528"/>
            <a:ext cx="420624" cy="420624"/>
          </a:xfrm>
          <a:prstGeom prst="ellipse">
            <a:avLst/>
          </a:prstGeom>
          <a:solidFill>
            <a:srgbClr val="C8102E"/>
          </a:solidFill>
          <a:ln w="12700">
            <a:solidFill>
              <a:srgbClr val="C8102E"/>
            </a:solidFill>
            <a:prstDash val="solid"/>
          </a:ln>
        </p:spPr>
      </p:sp>
      <p:sp>
        <p:nvSpPr>
          <p:cNvPr id="27" name="Text 24"/>
          <p:cNvSpPr/>
          <p:nvPr/>
        </p:nvSpPr>
        <p:spPr>
          <a:xfrm>
            <a:off x="7424745"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4</a:t>
            </a:r>
            <a:endParaRPr lang="en-US" sz="1104" dirty="0"/>
          </a:p>
        </p:txBody>
      </p:sp>
      <p:sp>
        <p:nvSpPr>
          <p:cNvPr id="28" name="Text 25"/>
          <p:cNvSpPr/>
          <p:nvPr/>
        </p:nvSpPr>
        <p:spPr>
          <a:xfrm>
            <a:off x="7945953"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Kalikan</a:t>
            </a:r>
            <a:endParaRPr lang="en-US" sz="1050" dirty="0"/>
          </a:p>
        </p:txBody>
      </p:sp>
      <p:sp>
        <p:nvSpPr>
          <p:cNvPr id="29" name="Text 26"/>
          <p:cNvSpPr/>
          <p:nvPr/>
        </p:nvSpPr>
        <p:spPr>
          <a:xfrm>
            <a:off x="7945953"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Rating × bobot = skor tertimbang</a:t>
            </a:r>
            <a:endParaRPr lang="en-US" sz="800" dirty="0"/>
          </a:p>
        </p:txBody>
      </p:sp>
      <p:sp>
        <p:nvSpPr>
          <p:cNvPr id="30" name="Shape 27"/>
          <p:cNvSpPr/>
          <p:nvPr/>
        </p:nvSpPr>
        <p:spPr>
          <a:xfrm>
            <a:off x="9533900" y="1755648"/>
            <a:ext cx="2109155" cy="822960"/>
          </a:xfrm>
          <a:prstGeom prst="rect">
            <a:avLst/>
          </a:prstGeom>
          <a:solidFill>
            <a:srgbClr val="27161A"/>
          </a:solidFill>
          <a:ln w="12700">
            <a:solidFill>
              <a:srgbClr val="27161A"/>
            </a:solidFill>
            <a:prstDash val="solid"/>
          </a:ln>
        </p:spPr>
      </p:sp>
      <p:sp>
        <p:nvSpPr>
          <p:cNvPr id="31" name="Shape 28"/>
          <p:cNvSpPr/>
          <p:nvPr/>
        </p:nvSpPr>
        <p:spPr>
          <a:xfrm>
            <a:off x="9671060" y="1938528"/>
            <a:ext cx="420624" cy="420624"/>
          </a:xfrm>
          <a:prstGeom prst="ellipse">
            <a:avLst/>
          </a:prstGeom>
          <a:solidFill>
            <a:srgbClr val="C8102E"/>
          </a:solidFill>
          <a:ln w="12700">
            <a:solidFill>
              <a:srgbClr val="C8102E"/>
            </a:solidFill>
            <a:prstDash val="solid"/>
          </a:ln>
        </p:spPr>
      </p:sp>
      <p:sp>
        <p:nvSpPr>
          <p:cNvPr id="32" name="Text 29"/>
          <p:cNvSpPr/>
          <p:nvPr/>
        </p:nvSpPr>
        <p:spPr>
          <a:xfrm>
            <a:off x="967106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5</a:t>
            </a:r>
            <a:endParaRPr lang="en-US" sz="1104" dirty="0"/>
          </a:p>
        </p:txBody>
      </p:sp>
      <p:sp>
        <p:nvSpPr>
          <p:cNvPr id="33" name="Text 30"/>
          <p:cNvSpPr/>
          <p:nvPr/>
        </p:nvSpPr>
        <p:spPr>
          <a:xfrm>
            <a:off x="1019226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Jumlahkan</a:t>
            </a:r>
            <a:endParaRPr lang="en-US" sz="1050" dirty="0"/>
          </a:p>
        </p:txBody>
      </p:sp>
      <p:sp>
        <p:nvSpPr>
          <p:cNvPr id="34" name="Text 31"/>
          <p:cNvSpPr/>
          <p:nvPr/>
        </p:nvSpPr>
        <p:spPr>
          <a:xfrm>
            <a:off x="1019226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Totalnya jadi ukuran kekuatan keseluruhan</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223760" cy="914400"/>
        </p:xfrm>
        <a:graphic>
          <a:graphicData uri="http://schemas.openxmlformats.org/drawingml/2006/table">
            <a:tbl>
              <a:tblPr/>
              <a:tblGrid>
                <a:gridCol w="2651760"/>
                <a:gridCol w="822960"/>
                <a:gridCol w="1252728"/>
                <a:gridCol w="1252728"/>
                <a:gridCol w="1243584"/>
              </a:tblGrid>
              <a:tr h="301752">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Key Success Factor</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Bobot</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ABC Co.</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Rival 1</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Rival 2</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Mutu / performa produk</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8 / 0,80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Reputasi dan citra</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8 / 0,80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7 / 0,70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Kemampuan produksi</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2 / 0,20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10 / 1,00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Sumber daya keuangan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10 / 1,00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3 / 0,30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Posisi biaya relatif</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0,30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1,50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10 / 3,00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0,30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Layanan pelanggan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0,75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7 / 1,05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0,15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Faktor lain (tiga baris)</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1,40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0,45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0,65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TOTAL SKOR TERTIMBANG</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1,00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5,95</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7,70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2,10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r>
            </a:tbl>
          </a:graphicData>
        </a:graphic>
      </p:graphicFrame>
      <p:sp>
        <p:nvSpPr>
          <p:cNvPr id="36" name="Text 32"/>
          <p:cNvSpPr/>
          <p:nvPr/>
        </p:nvSpPr>
        <p:spPr>
          <a:xfrm>
            <a:off x="548640" y="5550408"/>
            <a:ext cx="7223760" cy="228600"/>
          </a:xfrm>
          <a:prstGeom prst="rect">
            <a:avLst/>
          </a:prstGeom>
          <a:noFill/>
          <a:ln/>
        </p:spPr>
        <p:txBody>
          <a:bodyPr wrap="square" lIns="0" tIns="0" rIns="0" bIns="0" rtlCol="0" anchor="t"/>
          <a:lstStyle/>
          <a:p>
            <a:pPr indent="0" marL="0">
              <a:buNone/>
            </a:pPr>
            <a:r>
              <a:rPr lang="en-US" sz="800" dirty="0">
                <a:solidFill>
                  <a:srgbClr val="A08F8B"/>
                </a:solidFill>
                <a:latin typeface="Poppins" pitchFamily="34" charset="0"/>
                <a:ea typeface="Poppins" pitchFamily="34" charset="-122"/>
                <a:cs typeface="Poppins" pitchFamily="34" charset="-120"/>
              </a:rPr>
              <a:t>Contoh dari Table 4.4 buku. Isi sel: rating / skor tertimbang.</a:t>
            </a:r>
            <a:endParaRPr lang="en-US" sz="800" dirty="0"/>
          </a:p>
        </p:txBody>
      </p:sp>
      <p:sp>
        <p:nvSpPr>
          <p:cNvPr id="37" name="Text 33"/>
          <p:cNvSpPr/>
          <p:nvPr/>
        </p:nvSpPr>
        <p:spPr>
          <a:xfrm>
            <a:off x="8046720" y="2743200"/>
            <a:ext cx="359633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APA YANG BISA DIBACA DARI ANGKANYA</a:t>
            </a:r>
            <a:endParaRPr lang="en-US" sz="850" dirty="0"/>
          </a:p>
        </p:txBody>
      </p:sp>
      <p:sp>
        <p:nvSpPr>
          <p:cNvPr id="38" name="Shape 34"/>
          <p:cNvSpPr/>
          <p:nvPr/>
        </p:nvSpPr>
        <p:spPr>
          <a:xfrm>
            <a:off x="8046720" y="3035808"/>
            <a:ext cx="3596335" cy="804672"/>
          </a:xfrm>
          <a:prstGeom prst="rect">
            <a:avLst/>
          </a:prstGeom>
          <a:solidFill>
            <a:srgbClr val="8E0B20"/>
          </a:solidFill>
          <a:ln w="12700">
            <a:solidFill>
              <a:srgbClr val="8E0B20"/>
            </a:solidFill>
            <a:prstDash val="solid"/>
          </a:ln>
        </p:spPr>
      </p:sp>
      <p:sp>
        <p:nvSpPr>
          <p:cNvPr id="39" name="Shape 35"/>
          <p:cNvSpPr/>
          <p:nvPr/>
        </p:nvSpPr>
        <p:spPr>
          <a:xfrm>
            <a:off x="8046720" y="3035808"/>
            <a:ext cx="54864" cy="804672"/>
          </a:xfrm>
          <a:prstGeom prst="rect">
            <a:avLst/>
          </a:prstGeom>
          <a:solidFill>
            <a:srgbClr val="C8102E"/>
          </a:solidFill>
          <a:ln w="12700">
            <a:solidFill>
              <a:srgbClr val="C8102E"/>
            </a:solidFill>
            <a:prstDash val="solid"/>
          </a:ln>
        </p:spPr>
      </p:sp>
      <p:sp>
        <p:nvSpPr>
          <p:cNvPr id="40" name="Text 36"/>
          <p:cNvSpPr/>
          <p:nvPr/>
        </p:nvSpPr>
        <p:spPr>
          <a:xfrm>
            <a:off x="8266176" y="3182112"/>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Selisih total skor</a:t>
            </a:r>
            <a:endParaRPr lang="en-US" sz="1050" dirty="0"/>
          </a:p>
        </p:txBody>
      </p:sp>
      <p:sp>
        <p:nvSpPr>
          <p:cNvPr id="41" name="Text 37"/>
          <p:cNvSpPr/>
          <p:nvPr/>
        </p:nvSpPr>
        <p:spPr>
          <a:xfrm>
            <a:off x="8266176" y="3511296"/>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Besarnya net competitive advantage. Rival 1 (7,70) unggul jauh atas Rival 2 (2,10).</a:t>
            </a:r>
            <a:endParaRPr lang="en-US" sz="850" dirty="0"/>
          </a:p>
        </p:txBody>
      </p:sp>
      <p:sp>
        <p:nvSpPr>
          <p:cNvPr id="42" name="Shape 38"/>
          <p:cNvSpPr/>
          <p:nvPr/>
        </p:nvSpPr>
        <p:spPr>
          <a:xfrm>
            <a:off x="8046720" y="3931920"/>
            <a:ext cx="3596335" cy="804672"/>
          </a:xfrm>
          <a:prstGeom prst="rect">
            <a:avLst/>
          </a:prstGeom>
          <a:solidFill>
            <a:srgbClr val="27161A"/>
          </a:solidFill>
          <a:ln w="12700">
            <a:solidFill>
              <a:srgbClr val="27161A"/>
            </a:solidFill>
            <a:prstDash val="solid"/>
          </a:ln>
        </p:spPr>
      </p:sp>
      <p:sp>
        <p:nvSpPr>
          <p:cNvPr id="43" name="Shape 39"/>
          <p:cNvSpPr/>
          <p:nvPr/>
        </p:nvSpPr>
        <p:spPr>
          <a:xfrm>
            <a:off x="8046720" y="3931920"/>
            <a:ext cx="54864" cy="804672"/>
          </a:xfrm>
          <a:prstGeom prst="rect">
            <a:avLst/>
          </a:prstGeom>
          <a:solidFill>
            <a:srgbClr val="27161A"/>
          </a:solidFill>
          <a:ln w="12700">
            <a:solidFill>
              <a:srgbClr val="27161A"/>
            </a:solidFill>
            <a:prstDash val="solid"/>
          </a:ln>
        </p:spPr>
      </p:sp>
      <p:sp>
        <p:nvSpPr>
          <p:cNvPr id="44" name="Text 40"/>
          <p:cNvSpPr/>
          <p:nvPr/>
        </p:nvSpPr>
        <p:spPr>
          <a:xfrm>
            <a:off x="8266176" y="4078224"/>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Serang di mana</a:t>
            </a:r>
            <a:endParaRPr lang="en-US" sz="1050" dirty="0"/>
          </a:p>
        </p:txBody>
      </p:sp>
      <p:sp>
        <p:nvSpPr>
          <p:cNvPr id="45" name="Text 41"/>
          <p:cNvSpPr/>
          <p:nvPr/>
        </p:nvSpPr>
        <p:spPr>
          <a:xfrm>
            <a:off x="8266176" y="4407408"/>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Serang pesaing yang skornya lebih rendah, di faktor tempat kita kuat dan dia lemah.</a:t>
            </a:r>
            <a:endParaRPr lang="en-US" sz="850" dirty="0"/>
          </a:p>
        </p:txBody>
      </p:sp>
      <p:sp>
        <p:nvSpPr>
          <p:cNvPr id="46" name="Shape 42"/>
          <p:cNvSpPr/>
          <p:nvPr/>
        </p:nvSpPr>
        <p:spPr>
          <a:xfrm>
            <a:off x="8046720" y="4828032"/>
            <a:ext cx="3596335" cy="804672"/>
          </a:xfrm>
          <a:prstGeom prst="rect">
            <a:avLst/>
          </a:prstGeom>
          <a:solidFill>
            <a:srgbClr val="27161A"/>
          </a:solidFill>
          <a:ln w="12700">
            <a:solidFill>
              <a:srgbClr val="27161A"/>
            </a:solidFill>
            <a:prstDash val="solid"/>
          </a:ln>
        </p:spPr>
      </p:sp>
      <p:sp>
        <p:nvSpPr>
          <p:cNvPr id="47" name="Shape 43"/>
          <p:cNvSpPr/>
          <p:nvPr/>
        </p:nvSpPr>
        <p:spPr>
          <a:xfrm>
            <a:off x="8046720" y="4828032"/>
            <a:ext cx="54864" cy="804672"/>
          </a:xfrm>
          <a:prstGeom prst="rect">
            <a:avLst/>
          </a:prstGeom>
          <a:solidFill>
            <a:srgbClr val="27161A"/>
          </a:solidFill>
          <a:ln w="12700">
            <a:solidFill>
              <a:srgbClr val="27161A"/>
            </a:solidFill>
            <a:prstDash val="solid"/>
          </a:ln>
        </p:spPr>
      </p:sp>
      <p:sp>
        <p:nvSpPr>
          <p:cNvPr id="48" name="Text 44"/>
          <p:cNvSpPr/>
          <p:nvPr/>
        </p:nvSpPr>
        <p:spPr>
          <a:xfrm>
            <a:off x="8266176" y="4974336"/>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Bertahan di mana</a:t>
            </a:r>
            <a:endParaRPr lang="en-US" sz="1050" dirty="0"/>
          </a:p>
        </p:txBody>
      </p:sp>
      <p:sp>
        <p:nvSpPr>
          <p:cNvPr id="49" name="Text 45"/>
          <p:cNvSpPr/>
          <p:nvPr/>
        </p:nvSpPr>
        <p:spPr>
          <a:xfrm>
            <a:off x="8266176" y="5303520"/>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Kalau kita lemah di faktor tempat pesaing kuat, siapkan langkah bertahan lebih dulu.</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6</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ISU APA YANG HARUS DITANGANI LEBIH DULU?</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Langkah terakhir dan paling penting. Semua temuan dari Q1 sampai Q5, ditambah analisis industri dari Chapter 3, dikerucutkan jadi satu daftar prioritas.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17</a:t>
            </a:r>
            <a:endParaRPr lang="en-US" sz="900" dirty="0"/>
          </a:p>
        </p:txBody>
      </p:sp>
      <p:sp>
        <p:nvSpPr>
          <p:cNvPr id="10" name="Shape 7"/>
          <p:cNvSpPr/>
          <p:nvPr/>
        </p:nvSpPr>
        <p:spPr>
          <a:xfrm>
            <a:off x="548640" y="1755648"/>
            <a:ext cx="5120640" cy="3017520"/>
          </a:xfrm>
          <a:prstGeom prst="rect">
            <a:avLst/>
          </a:prstGeom>
          <a:solidFill>
            <a:srgbClr val="C8102E"/>
          </a:solidFill>
          <a:ln w="12700">
            <a:solidFill>
              <a:srgbClr val="C8102E"/>
            </a:solidFill>
            <a:prstDash val="solid"/>
          </a:ln>
        </p:spPr>
      </p:sp>
      <p:sp>
        <p:nvSpPr>
          <p:cNvPr id="11" name="Text 8"/>
          <p:cNvSpPr/>
          <p:nvPr/>
        </p:nvSpPr>
        <p:spPr>
          <a:xfrm>
            <a:off x="777240" y="1938528"/>
            <a:ext cx="3657600" cy="274320"/>
          </a:xfrm>
          <a:prstGeom prst="rect">
            <a:avLst/>
          </a:prstGeom>
          <a:noFill/>
          <a:ln/>
        </p:spPr>
        <p:txBody>
          <a:bodyPr wrap="square" lIns="0" tIns="0" rIns="0" bIns="0" rtlCol="0" anchor="t"/>
          <a:lstStyle/>
          <a:p>
            <a:pPr indent="0" marL="0">
              <a:buNone/>
            </a:pPr>
            <a:r>
              <a:rPr lang="en-US" sz="900" spc="200" kern="0" dirty="0">
                <a:solidFill>
                  <a:srgbClr val="FBE122"/>
                </a:solidFill>
                <a:latin typeface="Poppins SemiBold" pitchFamily="34" charset="0"/>
                <a:ea typeface="Poppins SemiBold" pitchFamily="34" charset="-122"/>
                <a:cs typeface="Poppins SemiBold" pitchFamily="34" charset="-120"/>
              </a:rPr>
              <a:t>PRIORITY LIST</a:t>
            </a:r>
            <a:endParaRPr lang="en-US" sz="900" dirty="0"/>
          </a:p>
        </p:txBody>
      </p:sp>
      <p:sp>
        <p:nvSpPr>
          <p:cNvPr id="12" name="Text 9"/>
          <p:cNvSpPr/>
          <p:nvPr/>
        </p:nvSpPr>
        <p:spPr>
          <a:xfrm>
            <a:off x="777240" y="2258568"/>
            <a:ext cx="4663440" cy="118872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SemiBold" pitchFamily="34" charset="0"/>
                <a:ea typeface="Poppins SemiBold" pitchFamily="34" charset="-122"/>
                <a:cs typeface="Poppins SemiBold" pitchFamily="34" charset="-120"/>
              </a:rPr>
              <a:t>Daftar isu dan masalah yang harus dituntaskan manajemen agar perusahaan lebih berhasil, secara keuangan maupun secara bersaing, di tahun-tahun mendatang.</a:t>
            </a:r>
            <a:endParaRPr lang="en-US" sz="1300" dirty="0"/>
          </a:p>
        </p:txBody>
      </p:sp>
      <p:sp>
        <p:nvSpPr>
          <p:cNvPr id="13" name="Text 10"/>
          <p:cNvSpPr/>
          <p:nvPr/>
        </p:nvSpPr>
        <p:spPr>
          <a:xfrm>
            <a:off x="777240" y="3584448"/>
            <a:ext cx="4663440" cy="1005840"/>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pitchFamily="34" charset="0"/>
                <a:ea typeface="Poppins" pitchFamily="34" charset="-122"/>
                <a:cs typeface="Poppins" pitchFamily="34" charset="-120"/>
              </a:rPr>
              <a:t>Isinya selalu berbentuk "bagaimana caranya…", "apa yang harus dilakukan soal…", dan "apakah perlu…".</a:t>
            </a:r>
            <a:endParaRPr lang="en-US" sz="1100" dirty="0"/>
          </a:p>
        </p:txBody>
      </p:sp>
      <p:sp>
        <p:nvSpPr>
          <p:cNvPr id="14" name="Text 11"/>
          <p:cNvSpPr/>
          <p:nvPr/>
        </p:nvSpPr>
        <p:spPr>
          <a:xfrm>
            <a:off x="5943600" y="173736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DUA HAL YANG SERING KELIRU</a:t>
            </a:r>
            <a:endParaRPr lang="en-US" sz="850" dirty="0"/>
          </a:p>
        </p:txBody>
      </p:sp>
      <p:sp>
        <p:nvSpPr>
          <p:cNvPr id="15" name="Shape 12"/>
          <p:cNvSpPr/>
          <p:nvPr/>
        </p:nvSpPr>
        <p:spPr>
          <a:xfrm>
            <a:off x="5943600" y="2029968"/>
            <a:ext cx="5699455" cy="1280160"/>
          </a:xfrm>
          <a:prstGeom prst="rect">
            <a:avLst/>
          </a:prstGeom>
          <a:solidFill>
            <a:srgbClr val="27161A"/>
          </a:solidFill>
          <a:ln w="12700">
            <a:solidFill>
              <a:srgbClr val="27161A"/>
            </a:solidFill>
            <a:prstDash val="solid"/>
          </a:ln>
        </p:spPr>
      </p:sp>
      <p:sp>
        <p:nvSpPr>
          <p:cNvPr id="16" name="Shape 13"/>
          <p:cNvSpPr/>
          <p:nvPr/>
        </p:nvSpPr>
        <p:spPr>
          <a:xfrm>
            <a:off x="5943600" y="2029968"/>
            <a:ext cx="54864" cy="1280160"/>
          </a:xfrm>
          <a:prstGeom prst="rect">
            <a:avLst/>
          </a:prstGeom>
          <a:solidFill>
            <a:srgbClr val="C8102E"/>
          </a:solidFill>
          <a:ln w="12700">
            <a:solidFill>
              <a:srgbClr val="C8102E"/>
            </a:solidFill>
            <a:prstDash val="solid"/>
          </a:ln>
        </p:spPr>
      </p:sp>
      <p:sp>
        <p:nvSpPr>
          <p:cNvPr id="17" name="Text 14"/>
          <p:cNvSpPr/>
          <p:nvPr/>
        </p:nvSpPr>
        <p:spPr>
          <a:xfrm>
            <a:off x="6163056" y="2176272"/>
            <a:ext cx="533369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Ini bukan daftar solusi</a:t>
            </a:r>
            <a:endParaRPr lang="en-US" sz="1200" dirty="0"/>
          </a:p>
        </p:txBody>
      </p:sp>
      <p:sp>
        <p:nvSpPr>
          <p:cNvPr id="18" name="Text 15"/>
          <p:cNvSpPr/>
          <p:nvPr/>
        </p:nvSpPr>
        <p:spPr>
          <a:xfrm>
            <a:off x="6163056" y="2505456"/>
            <a:ext cx="5333695" cy="6949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Tujuannya mengidentifikasi ISU yang harus ditangani, bukan memutuskan tindakan apa yang diambil. Keputusan tindakan datang belakangan, saat menyusun strategi.</a:t>
            </a:r>
            <a:endParaRPr lang="en-US" sz="1000" dirty="0"/>
          </a:p>
        </p:txBody>
      </p:sp>
      <p:sp>
        <p:nvSpPr>
          <p:cNvPr id="19" name="Shape 16"/>
          <p:cNvSpPr/>
          <p:nvPr/>
        </p:nvSpPr>
        <p:spPr>
          <a:xfrm>
            <a:off x="5943600" y="3493008"/>
            <a:ext cx="5699455" cy="1280160"/>
          </a:xfrm>
          <a:prstGeom prst="rect">
            <a:avLst/>
          </a:prstGeom>
          <a:solidFill>
            <a:srgbClr val="27161A"/>
          </a:solidFill>
          <a:ln w="12700">
            <a:solidFill>
              <a:srgbClr val="27161A"/>
            </a:solidFill>
            <a:prstDash val="solid"/>
          </a:ln>
        </p:spPr>
      </p:sp>
      <p:sp>
        <p:nvSpPr>
          <p:cNvPr id="20" name="Shape 17"/>
          <p:cNvSpPr/>
          <p:nvPr/>
        </p:nvSpPr>
        <p:spPr>
          <a:xfrm>
            <a:off x="5943600" y="3493008"/>
            <a:ext cx="54864" cy="1280160"/>
          </a:xfrm>
          <a:prstGeom prst="rect">
            <a:avLst/>
          </a:prstGeom>
          <a:solidFill>
            <a:srgbClr val="FBE122"/>
          </a:solidFill>
          <a:ln w="12700">
            <a:solidFill>
              <a:srgbClr val="FBE122"/>
            </a:solidFill>
            <a:prstDash val="solid"/>
          </a:ln>
        </p:spPr>
      </p:sp>
      <p:sp>
        <p:nvSpPr>
          <p:cNvPr id="21" name="Text 18"/>
          <p:cNvSpPr/>
          <p:nvPr/>
        </p:nvSpPr>
        <p:spPr>
          <a:xfrm>
            <a:off x="6163056" y="3639312"/>
            <a:ext cx="533369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Panjang daftar itu diagnosis</a:t>
            </a:r>
            <a:endParaRPr lang="en-US" sz="1200" dirty="0"/>
          </a:p>
        </p:txBody>
      </p:sp>
      <p:sp>
        <p:nvSpPr>
          <p:cNvPr id="22" name="Text 19"/>
          <p:cNvSpPr/>
          <p:nvPr/>
        </p:nvSpPr>
        <p:spPr>
          <a:xfrm>
            <a:off x="6163056" y="3968496"/>
            <a:ext cx="5333695" cy="6949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Kalau isinya ringan, strategi sekarang sudah cukup dan tinggal disetel halus. Kalau isinya berat, menyusun strategi baru harus jadi agenda nomor satu manajemen.</a:t>
            </a:r>
            <a:endParaRPr lang="en-US" sz="1000" dirty="0"/>
          </a:p>
        </p:txBody>
      </p:sp>
      <p:sp>
        <p:nvSpPr>
          <p:cNvPr id="23" name="Shape 20"/>
          <p:cNvSpPr/>
          <p:nvPr/>
        </p:nvSpPr>
        <p:spPr>
          <a:xfrm>
            <a:off x="548640" y="5001768"/>
            <a:ext cx="11094415" cy="822960"/>
          </a:xfrm>
          <a:prstGeom prst="rect">
            <a:avLst/>
          </a:prstGeom>
          <a:solidFill>
            <a:srgbClr val="32191E"/>
          </a:solidFill>
          <a:ln w="12700">
            <a:solidFill>
              <a:srgbClr val="32191E"/>
            </a:solidFill>
            <a:prstDash val="solid"/>
          </a:ln>
        </p:spPr>
      </p:sp>
      <p:sp>
        <p:nvSpPr>
          <p:cNvPr id="24" name="Text 21"/>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UJI AKHIR CHAPTER 4</a:t>
            </a:r>
            <a:endParaRPr lang="en-US" sz="800" dirty="0"/>
          </a:p>
        </p:txBody>
      </p:sp>
      <p:sp>
        <p:nvSpPr>
          <p:cNvPr id="25" name="Text 22"/>
          <p:cNvSpPr/>
          <p:nvPr/>
        </p:nvSpPr>
        <p:spPr>
          <a:xfrm>
            <a:off x="777240" y="5367528"/>
            <a:ext cx="10637215" cy="36576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Strategi yang baik wajib memuat cara menangani SEMUA isu dan hambatan pada daftar prioritas itu. Di sinilah analisis berhenti dan penyusunan strategi dimulai.</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863840" cy="6858000"/>
          </a:xfrm>
          <a:prstGeom prst="rect">
            <a:avLst/>
          </a:prstGeom>
          <a:solidFill>
            <a:srgbClr val="1B0F10">
              <a:alpha val="86000"/>
            </a:srgbClr>
          </a:solidFill>
          <a:ln w="12700">
            <a:solidFill>
              <a:srgbClr val="1B0F10"/>
            </a:solidFill>
            <a:prstDash val="solid"/>
          </a:ln>
        </p:spPr>
      </p:sp>
      <p:sp>
        <p:nvSpPr>
          <p:cNvPr id="3" name="Shape 1"/>
          <p:cNvSpPr/>
          <p:nvPr/>
        </p:nvSpPr>
        <p:spPr>
          <a:xfrm>
            <a:off x="7863840" y="0"/>
            <a:ext cx="4327855" cy="6858000"/>
          </a:xfrm>
          <a:prstGeom prst="rect">
            <a:avLst/>
          </a:prstGeom>
          <a:solidFill>
            <a:srgbClr val="1B0F10">
              <a:alpha val="45000"/>
            </a:srgbClr>
          </a:solidFill>
          <a:ln w="12700">
            <a:solidFill>
              <a:srgbClr val="1B0F10"/>
            </a:solidFill>
            <a:prstDash val="solid"/>
          </a:ln>
        </p:spPr>
      </p:sp>
      <p:sp>
        <p:nvSpPr>
          <p:cNvPr id="4" name="Shape 2"/>
          <p:cNvSpPr/>
          <p:nvPr/>
        </p:nvSpPr>
        <p:spPr>
          <a:xfrm>
            <a:off x="7863840" y="0"/>
            <a:ext cx="45720" cy="6858000"/>
          </a:xfrm>
          <a:prstGeom prst="rect">
            <a:avLst/>
          </a:prstGeom>
          <a:solidFill>
            <a:srgbClr val="C8102E"/>
          </a:solidFill>
          <a:ln w="12700">
            <a:solidFill>
              <a:srgbClr val="C8102E"/>
            </a:solidFill>
            <a:prstDash val="solid"/>
          </a:ln>
        </p:spPr>
      </p:sp>
      <p:pic>
        <p:nvPicPr>
          <p:cNvPr id="5" name="Image 0" descr="crest.png">    </p:cNvPr>
          <p:cNvPicPr>
            <a:picLocks noChangeAspect="1"/>
          </p:cNvPicPr>
          <p:nvPr/>
        </p:nvPicPr>
        <p:blipFill>
          <a:blip r:embed="rId2"/>
          <a:stretch>
            <a:fillRect/>
          </a:stretch>
        </p:blipFill>
        <p:spPr>
          <a:xfrm>
            <a:off x="10271455" y="411480"/>
            <a:ext cx="1371600" cy="1344168"/>
          </a:xfrm>
          <a:prstGeom prst="rect">
            <a:avLst/>
          </a:prstGeom>
        </p:spPr>
      </p:pic>
      <p:sp>
        <p:nvSpPr>
          <p:cNvPr id="7" name="Shape 3"/>
          <p:cNvSpPr/>
          <p:nvPr/>
        </p:nvSpPr>
        <p:spPr>
          <a:xfrm>
            <a:off x="640080" y="1417320"/>
            <a:ext cx="365760" cy="64008"/>
          </a:xfrm>
          <a:prstGeom prst="rect">
            <a:avLst/>
          </a:prstGeom>
          <a:solidFill>
            <a:srgbClr val="FBE122"/>
          </a:solidFill>
          <a:ln w="12700">
            <a:solidFill>
              <a:srgbClr val="FBE122"/>
            </a:solidFill>
            <a:prstDash val="solid"/>
          </a:ln>
        </p:spPr>
      </p:sp>
      <p:sp>
        <p:nvSpPr>
          <p:cNvPr id="8" name="Text 4"/>
          <p:cNvSpPr/>
          <p:nvPr/>
        </p:nvSpPr>
        <p:spPr>
          <a:xfrm>
            <a:off x="1143000" y="128016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BAGIAN B  ·  STUDI KASUS</a:t>
            </a:r>
            <a:endParaRPr lang="en-US" sz="1100" dirty="0"/>
          </a:p>
        </p:txBody>
      </p:sp>
      <p:sp>
        <p:nvSpPr>
          <p:cNvPr id="9" name="Text 5"/>
          <p:cNvSpPr/>
          <p:nvPr/>
        </p:nvSpPr>
        <p:spPr>
          <a:xfrm>
            <a:off x="640080" y="1783080"/>
            <a:ext cx="7040880" cy="1737360"/>
          </a:xfrm>
          <a:prstGeom prst="rect">
            <a:avLst/>
          </a:prstGeom>
          <a:noFill/>
          <a:ln/>
        </p:spPr>
        <p:txBody>
          <a:bodyPr wrap="square" lIns="0" tIns="0" rIns="0" bIns="0" rtlCol="0" anchor="t"/>
          <a:lstStyle/>
          <a:p>
            <a:pPr indent="0" marL="0">
              <a:lnSpc>
                <a:spcPct val="90000"/>
              </a:lnSpc>
              <a:buNone/>
            </a:pPr>
            <a:r>
              <a:rPr lang="en-US" sz="4600" dirty="0">
                <a:solidFill>
                  <a:srgbClr val="FFFFFF"/>
                </a:solidFill>
                <a:latin typeface="Poppins ExtraBold" pitchFamily="34" charset="0"/>
                <a:ea typeface="Poppins ExtraBold" pitchFamily="34" charset="-122"/>
                <a:cs typeface="Poppins ExtraBold" pitchFamily="34" charset="-120"/>
              </a:rPr>
              <a:t>MANCHESTER UNITED</a:t>
            </a:r>
            <a:endParaRPr lang="en-US" sz="4600" dirty="0"/>
          </a:p>
        </p:txBody>
      </p:sp>
      <p:sp>
        <p:nvSpPr>
          <p:cNvPr id="10" name="Text 6"/>
          <p:cNvSpPr/>
          <p:nvPr/>
        </p:nvSpPr>
        <p:spPr>
          <a:xfrm>
            <a:off x="640080" y="3474720"/>
            <a:ext cx="7040880" cy="457200"/>
          </a:xfrm>
          <a:prstGeom prst="rect">
            <a:avLst/>
          </a:prstGeom>
          <a:noFill/>
          <a:ln/>
        </p:spPr>
        <p:txBody>
          <a:bodyPr wrap="square" lIns="0" tIns="0" rIns="0" bIns="0" rtlCol="0" anchor="t"/>
          <a:lstStyle/>
          <a:p>
            <a:pPr indent="0" marL="0">
              <a:buNone/>
            </a:pPr>
            <a:r>
              <a:rPr lang="en-US" sz="2000" dirty="0">
                <a:solidFill>
                  <a:srgbClr val="D9CFC7"/>
                </a:solidFill>
                <a:latin typeface="Poppins Medium" pitchFamily="34" charset="0"/>
                <a:ea typeface="Poppins Medium" pitchFamily="34" charset="-122"/>
                <a:cs typeface="Poppins Medium" pitchFamily="34" charset="-120"/>
              </a:rPr>
              <a:t>Preparing for Life without Ferguson</a:t>
            </a:r>
            <a:endParaRPr lang="en-US" sz="2000" dirty="0"/>
          </a:p>
        </p:txBody>
      </p:sp>
      <p:sp>
        <p:nvSpPr>
          <p:cNvPr id="11" name="Shape 7"/>
          <p:cNvSpPr/>
          <p:nvPr/>
        </p:nvSpPr>
        <p:spPr>
          <a:xfrm>
            <a:off x="640080" y="4251960"/>
            <a:ext cx="6858000" cy="1325880"/>
          </a:xfrm>
          <a:prstGeom prst="rect">
            <a:avLst/>
          </a:prstGeom>
          <a:solidFill>
            <a:srgbClr val="C8102E"/>
          </a:solidFill>
          <a:ln w="12700">
            <a:solidFill>
              <a:srgbClr val="C8102E"/>
            </a:solidFill>
            <a:prstDash val="solid"/>
          </a:ln>
        </p:spPr>
      </p:sp>
      <p:sp>
        <p:nvSpPr>
          <p:cNvPr id="12" name="Text 8"/>
          <p:cNvSpPr/>
          <p:nvPr/>
        </p:nvSpPr>
        <p:spPr>
          <a:xfrm>
            <a:off x="868680" y="4434840"/>
            <a:ext cx="6400800" cy="1005840"/>
          </a:xfrm>
          <a:prstGeom prst="rect">
            <a:avLst/>
          </a:prstGeom>
          <a:noFill/>
          <a:ln/>
        </p:spPr>
        <p:txBody>
          <a:bodyPr wrap="square" lIns="0" tIns="0" rIns="0" bIns="0" rtlCol="0" anchor="t"/>
          <a:lstStyle/>
          <a:p>
            <a:pPr indent="0" marL="0">
              <a:lnSpc>
                <a:spcPct val="108000"/>
              </a:lnSpc>
              <a:buNone/>
            </a:pPr>
            <a:r>
              <a:rPr lang="en-US" sz="1100" dirty="0">
                <a:solidFill>
                  <a:srgbClr val="FFFFFF"/>
                </a:solidFill>
                <a:latin typeface="Poppins Medium" pitchFamily="34" charset="0"/>
                <a:ea typeface="Poppins Medium" pitchFamily="34" charset="-122"/>
                <a:cs typeface="Poppins Medium" pitchFamily="34" charset="-120"/>
              </a:rPr>
              <a:t>Ditulis Robert M. Grant, dibantu Simon I. Peck, Christopher Carr dan Timothy Smith. © 2010. Kasus ini bukan dari buku Thompson; kami pakai kerangka Chapter 4 untuk membedahnya.</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KASUS  ·  SITUASI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JULI 2009: KEPUTUSAN YANG DIHADAPI DAVID GILL</a:t>
            </a:r>
            <a:endParaRPr lang="en-US" sz="2600" dirty="0"/>
          </a:p>
        </p:txBody>
      </p:sp>
      <p:sp>
        <p:nvSpPr>
          <p:cNvPr id="5" name="Shape 3"/>
          <p:cNvSpPr/>
          <p:nvPr/>
        </p:nvSpPr>
        <p:spPr>
          <a:xfrm>
            <a:off x="548640" y="6382512"/>
            <a:ext cx="11094415" cy="9144"/>
          </a:xfrm>
          <a:prstGeom prst="rect">
            <a:avLst/>
          </a:prstGeom>
          <a:solidFill>
            <a:srgbClr val="46292D"/>
          </a:solidFill>
          <a:ln w="12700">
            <a:solidFill>
              <a:srgbClr val="46292D"/>
            </a:solidFill>
            <a:prstDash val="solid"/>
          </a:ln>
        </p:spPr>
      </p:sp>
      <p:sp>
        <p:nvSpPr>
          <p:cNvPr id="6" name="Text 4"/>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hlm. 573 dan 588.</a:t>
            </a:r>
            <a:endParaRPr lang="en-US" sz="750" dirty="0"/>
          </a:p>
        </p:txBody>
      </p:sp>
      <p:sp>
        <p:nvSpPr>
          <p:cNvPr id="7" name="Text 5"/>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19</a:t>
            </a:r>
            <a:endParaRPr lang="en-US" sz="900" dirty="0"/>
          </a:p>
        </p:txBody>
      </p:sp>
      <p:sp>
        <p:nvSpPr>
          <p:cNvPr id="9" name="Shape 6"/>
          <p:cNvSpPr/>
          <p:nvPr/>
        </p:nvSpPr>
        <p:spPr>
          <a:xfrm>
            <a:off x="548640" y="1234440"/>
            <a:ext cx="2514600" cy="2011680"/>
          </a:xfrm>
          <a:prstGeom prst="rect">
            <a:avLst/>
          </a:prstGeom>
          <a:solidFill>
            <a:srgbClr val="27161A"/>
          </a:solidFill>
          <a:ln w="12700">
            <a:solidFill>
              <a:srgbClr val="27161A"/>
            </a:solidFill>
            <a:prstDash val="solid"/>
          </a:ln>
        </p:spPr>
      </p:sp>
      <p:sp>
        <p:nvSpPr>
          <p:cNvPr id="10" name="Shape 7"/>
          <p:cNvSpPr/>
          <p:nvPr/>
        </p:nvSpPr>
        <p:spPr>
          <a:xfrm>
            <a:off x="548640" y="1234440"/>
            <a:ext cx="54864" cy="2011680"/>
          </a:xfrm>
          <a:prstGeom prst="rect">
            <a:avLst/>
          </a:prstGeom>
          <a:solidFill>
            <a:srgbClr val="C8102E"/>
          </a:solidFill>
          <a:ln w="12700">
            <a:solidFill>
              <a:srgbClr val="C8102E"/>
            </a:solidFill>
            <a:prstDash val="solid"/>
          </a:ln>
        </p:spPr>
      </p:sp>
      <p:sp>
        <p:nvSpPr>
          <p:cNvPr id="11" name="Text 8"/>
          <p:cNvSpPr/>
          <p:nvPr/>
        </p:nvSpPr>
        <p:spPr>
          <a:xfrm>
            <a:off x="76809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Waktu</a:t>
            </a:r>
            <a:endParaRPr lang="en-US" sz="1200" dirty="0"/>
          </a:p>
        </p:txBody>
      </p:sp>
      <p:sp>
        <p:nvSpPr>
          <p:cNvPr id="12" name="Text 9"/>
          <p:cNvSpPr/>
          <p:nvPr/>
        </p:nvSpPr>
        <p:spPr>
          <a:xfrm>
            <a:off x="76809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Juli 2009, tur pramusim ke Malaysia, Indonesia, Korea, dan China. Skuad pulang 28 Juli 2009.</a:t>
            </a:r>
            <a:endParaRPr lang="en-US" sz="950" dirty="0"/>
          </a:p>
        </p:txBody>
      </p:sp>
      <p:sp>
        <p:nvSpPr>
          <p:cNvPr id="13" name="Shape 10"/>
          <p:cNvSpPr/>
          <p:nvPr/>
        </p:nvSpPr>
        <p:spPr>
          <a:xfrm>
            <a:off x="3246120" y="1234440"/>
            <a:ext cx="2514600" cy="2011680"/>
          </a:xfrm>
          <a:prstGeom prst="rect">
            <a:avLst/>
          </a:prstGeom>
          <a:solidFill>
            <a:srgbClr val="27161A"/>
          </a:solidFill>
          <a:ln w="12700">
            <a:solidFill>
              <a:srgbClr val="27161A"/>
            </a:solidFill>
            <a:prstDash val="solid"/>
          </a:ln>
        </p:spPr>
      </p:sp>
      <p:sp>
        <p:nvSpPr>
          <p:cNvPr id="14" name="Shape 11"/>
          <p:cNvSpPr/>
          <p:nvPr/>
        </p:nvSpPr>
        <p:spPr>
          <a:xfrm>
            <a:off x="3246120" y="1234440"/>
            <a:ext cx="54864" cy="2011680"/>
          </a:xfrm>
          <a:prstGeom prst="rect">
            <a:avLst/>
          </a:prstGeom>
          <a:solidFill>
            <a:srgbClr val="C8102E"/>
          </a:solidFill>
          <a:ln w="12700">
            <a:solidFill>
              <a:srgbClr val="C8102E"/>
            </a:solidFill>
            <a:prstDash val="solid"/>
          </a:ln>
        </p:spPr>
      </p:sp>
      <p:sp>
        <p:nvSpPr>
          <p:cNvPr id="15" name="Text 12"/>
          <p:cNvSpPr/>
          <p:nvPr/>
        </p:nvSpPr>
        <p:spPr>
          <a:xfrm>
            <a:off x="346557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Pengambil keputusan</a:t>
            </a:r>
            <a:endParaRPr lang="en-US" sz="1200" dirty="0"/>
          </a:p>
        </p:txBody>
      </p:sp>
      <p:sp>
        <p:nvSpPr>
          <p:cNvPr id="16" name="Text 13"/>
          <p:cNvSpPr/>
          <p:nvPr/>
        </p:nvSpPr>
        <p:spPr>
          <a:xfrm>
            <a:off x="346557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David Gill, Chief Executive Manchester United Football Club Limited.</a:t>
            </a:r>
            <a:endParaRPr lang="en-US" sz="950" dirty="0"/>
          </a:p>
        </p:txBody>
      </p:sp>
      <p:sp>
        <p:nvSpPr>
          <p:cNvPr id="17" name="Shape 14"/>
          <p:cNvSpPr/>
          <p:nvPr/>
        </p:nvSpPr>
        <p:spPr>
          <a:xfrm>
            <a:off x="5943600" y="1234440"/>
            <a:ext cx="2514600" cy="2011680"/>
          </a:xfrm>
          <a:prstGeom prst="rect">
            <a:avLst/>
          </a:prstGeom>
          <a:solidFill>
            <a:srgbClr val="27161A"/>
          </a:solidFill>
          <a:ln w="12700">
            <a:solidFill>
              <a:srgbClr val="27161A"/>
            </a:solidFill>
            <a:prstDash val="solid"/>
          </a:ln>
        </p:spPr>
      </p:sp>
      <p:sp>
        <p:nvSpPr>
          <p:cNvPr id="18" name="Shape 15"/>
          <p:cNvSpPr/>
          <p:nvPr/>
        </p:nvSpPr>
        <p:spPr>
          <a:xfrm>
            <a:off x="5943600" y="1234440"/>
            <a:ext cx="54864" cy="2011680"/>
          </a:xfrm>
          <a:prstGeom prst="rect">
            <a:avLst/>
          </a:prstGeom>
          <a:solidFill>
            <a:srgbClr val="FBE122"/>
          </a:solidFill>
          <a:ln w="12700">
            <a:solidFill>
              <a:srgbClr val="FBE122"/>
            </a:solidFill>
            <a:prstDash val="solid"/>
          </a:ln>
        </p:spPr>
      </p:sp>
      <p:sp>
        <p:nvSpPr>
          <p:cNvPr id="19" name="Text 16"/>
          <p:cNvSpPr/>
          <p:nvPr/>
        </p:nvSpPr>
        <p:spPr>
          <a:xfrm>
            <a:off x="616305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Keputusan</a:t>
            </a:r>
            <a:endParaRPr lang="en-US" sz="1200" dirty="0"/>
          </a:p>
        </p:txBody>
      </p:sp>
      <p:sp>
        <p:nvSpPr>
          <p:cNvPr id="20" name="Text 17"/>
          <p:cNvSpPr/>
          <p:nvPr/>
        </p:nvSpPr>
        <p:spPr>
          <a:xfrm>
            <a:off x="616305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Menyiapkan pengganti Sir Alex Ferguson. Kasus: "at the end of 2009 Ferguson would be 68 years old". Gill memperkirakan ia pensiun akhir musim 2009–10.</a:t>
            </a:r>
            <a:endParaRPr lang="en-US" sz="950" dirty="0"/>
          </a:p>
        </p:txBody>
      </p:sp>
      <p:pic>
        <p:nvPicPr>
          <p:cNvPr id="21" name="Image 0" descr="tile_2_mid.jpg">    </p:cNvPr>
          <p:cNvPicPr>
            <a:picLocks noChangeAspect="1"/>
          </p:cNvPicPr>
          <p:nvPr/>
        </p:nvPicPr>
        <p:blipFill>
          <a:blip r:embed="rId1"/>
          <a:stretch>
            <a:fillRect/>
          </a:stretch>
        </p:blipFill>
        <p:spPr>
          <a:xfrm>
            <a:off x="8732520" y="1234440"/>
            <a:ext cx="2880360" cy="1801368"/>
          </a:xfrm>
          <a:prstGeom prst="rect">
            <a:avLst/>
          </a:prstGeom>
        </p:spPr>
      </p:pic>
      <p:sp>
        <p:nvSpPr>
          <p:cNvPr id="22" name="Text 18"/>
          <p:cNvSpPr/>
          <p:nvPr/>
        </p:nvSpPr>
        <p:spPr>
          <a:xfrm>
            <a:off x="8732520" y="3063240"/>
            <a:ext cx="2880360" cy="22860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Sir Alex Ferguson, manajer MU sejak 1986</a:t>
            </a:r>
            <a:endParaRPr lang="en-US" sz="750" dirty="0"/>
          </a:p>
        </p:txBody>
      </p:sp>
      <p:sp>
        <p:nvSpPr>
          <p:cNvPr id="23" name="Shape 19"/>
          <p:cNvSpPr/>
          <p:nvPr/>
        </p:nvSpPr>
        <p:spPr>
          <a:xfrm>
            <a:off x="548640" y="3474720"/>
            <a:ext cx="11064240" cy="2331720"/>
          </a:xfrm>
          <a:prstGeom prst="rect">
            <a:avLst/>
          </a:prstGeom>
          <a:solidFill>
            <a:srgbClr val="32191E"/>
          </a:solidFill>
          <a:ln w="12700">
            <a:solidFill>
              <a:srgbClr val="32191E"/>
            </a:solidFill>
            <a:prstDash val="solid"/>
          </a:ln>
        </p:spPr>
      </p:sp>
      <p:sp>
        <p:nvSpPr>
          <p:cNvPr id="24" name="Shape 20"/>
          <p:cNvSpPr/>
          <p:nvPr/>
        </p:nvSpPr>
        <p:spPr>
          <a:xfrm>
            <a:off x="548640" y="3474720"/>
            <a:ext cx="54864" cy="2331720"/>
          </a:xfrm>
          <a:prstGeom prst="rect">
            <a:avLst/>
          </a:prstGeom>
          <a:solidFill>
            <a:srgbClr val="C8102E"/>
          </a:solidFill>
          <a:ln w="12700">
            <a:solidFill>
              <a:srgbClr val="C8102E"/>
            </a:solidFill>
            <a:prstDash val="solid"/>
          </a:ln>
        </p:spPr>
      </p:sp>
      <p:sp>
        <p:nvSpPr>
          <p:cNvPr id="25" name="Text 21"/>
          <p:cNvSpPr/>
          <p:nvPr/>
        </p:nvSpPr>
        <p:spPr>
          <a:xfrm>
            <a:off x="804672" y="3611880"/>
            <a:ext cx="45720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DILEMA INTI  ·  KASUS HLM. 588</a:t>
            </a:r>
            <a:endParaRPr lang="en-US" sz="850" dirty="0"/>
          </a:p>
        </p:txBody>
      </p:sp>
      <p:sp>
        <p:nvSpPr>
          <p:cNvPr id="26" name="Text 22"/>
          <p:cNvSpPr/>
          <p:nvPr/>
        </p:nvSpPr>
        <p:spPr>
          <a:xfrm>
            <a:off x="804672" y="3913632"/>
            <a:ext cx="5212080" cy="109728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SemiBold" pitchFamily="34" charset="0"/>
                <a:ea typeface="Poppins SemiBold" pitchFamily="34" charset="-122"/>
                <a:cs typeface="Poppins SemiBold" pitchFamily="34" charset="-120"/>
              </a:rPr>
              <a:t>Pilih orang dalam </a:t>
            </a:r>
            <a:pPr indent="0" marL="0">
              <a:lnSpc>
                <a:spcPct val="106000"/>
              </a:lnSpc>
              <a:buNone/>
            </a:pPr>
            <a:r>
              <a:rPr lang="en-US" sz="1000" dirty="0">
                <a:solidFill>
                  <a:srgbClr val="D9CFC7"/>
                </a:solidFill>
                <a:latin typeface="Poppins" pitchFamily="34" charset="0"/>
                <a:ea typeface="Poppins" pitchFamily="34" charset="-122"/>
                <a:cs typeface="Poppins" pitchFamily="34" charset="-120"/>
              </a:rPr>
              <a:t>(Queiroz, Phelan, Solskjær, McClair): sistem latihan, pemanduan bakat, dan pengembangan tim tetap jalan. Tetapi apakah mereka cukup berwibawa di depan pemain bintang?</a:t>
            </a:r>
            <a:endParaRPr lang="en-US" sz="1000" dirty="0"/>
          </a:p>
        </p:txBody>
      </p:sp>
      <p:sp>
        <p:nvSpPr>
          <p:cNvPr id="27" name="Text 23"/>
          <p:cNvSpPr/>
          <p:nvPr/>
        </p:nvSpPr>
        <p:spPr>
          <a:xfrm>
            <a:off x="6263640" y="3913632"/>
            <a:ext cx="5120640" cy="109728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SemiBold" pitchFamily="34" charset="0"/>
                <a:ea typeface="Poppins SemiBold" pitchFamily="34" charset="-122"/>
                <a:cs typeface="Poppins SemiBold" pitchFamily="34" charset="-120"/>
              </a:rPr>
              <a:t>Pilih orang luar berwibawa </a:t>
            </a:r>
            <a:pPr indent="0" marL="0">
              <a:lnSpc>
                <a:spcPct val="106000"/>
              </a:lnSpc>
              <a:buNone/>
            </a:pPr>
            <a:r>
              <a:rPr lang="en-US" sz="1000" dirty="0">
                <a:solidFill>
                  <a:srgbClr val="D9CFC7"/>
                </a:solidFill>
                <a:latin typeface="Poppins" pitchFamily="34" charset="0"/>
                <a:ea typeface="Poppins" pitchFamily="34" charset="-122"/>
                <a:cs typeface="Poppins" pitchFamily="34" charset="-120"/>
              </a:rPr>
              <a:t>seperti Mourinho: kasus menyebut ini "a revolutionary change in coaching strategy in which much of Ferguson's infrastructure would be taken down and rebuilt".</a:t>
            </a:r>
            <a:endParaRPr lang="en-US" sz="1000" dirty="0"/>
          </a:p>
        </p:txBody>
      </p:sp>
      <p:sp>
        <p:nvSpPr>
          <p:cNvPr id="28" name="Shape 24"/>
          <p:cNvSpPr/>
          <p:nvPr/>
        </p:nvSpPr>
        <p:spPr>
          <a:xfrm>
            <a:off x="804672" y="5102352"/>
            <a:ext cx="10515600" cy="548640"/>
          </a:xfrm>
          <a:prstGeom prst="rect">
            <a:avLst/>
          </a:prstGeom>
          <a:solidFill>
            <a:srgbClr val="C8102E"/>
          </a:solidFill>
          <a:ln w="12700">
            <a:solidFill>
              <a:srgbClr val="C8102E"/>
            </a:solidFill>
            <a:prstDash val="solid"/>
          </a:ln>
        </p:spPr>
      </p:sp>
      <p:sp>
        <p:nvSpPr>
          <p:cNvPr id="29" name="Text 25"/>
          <p:cNvSpPr/>
          <p:nvPr/>
        </p:nvSpPr>
        <p:spPr>
          <a:xfrm>
            <a:off x="987552" y="5102352"/>
            <a:ext cx="10241280" cy="54864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KONTEKS</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SEPAKBOLA EROPA SEBAGAI INDUSTRI</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Q1 menuntut perbandingan dengan pesaing. Jadi kita perlu tahu dulu industrinya seperti apa.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20</a:t>
            </a:r>
            <a:endParaRPr lang="en-US" sz="900" dirty="0"/>
          </a:p>
        </p:txBody>
      </p:sp>
      <p:sp>
        <p:nvSpPr>
          <p:cNvPr id="10" name="Shape 7"/>
          <p:cNvSpPr/>
          <p:nvPr/>
        </p:nvSpPr>
        <p:spPr>
          <a:xfrm>
            <a:off x="548640" y="1755648"/>
            <a:ext cx="3545738" cy="1417320"/>
          </a:xfrm>
          <a:prstGeom prst="rect">
            <a:avLst/>
          </a:prstGeom>
          <a:solidFill>
            <a:srgbClr val="27161A"/>
          </a:solidFill>
          <a:ln w="12700">
            <a:solidFill>
              <a:srgbClr val="27161A"/>
            </a:solidFill>
            <a:prstDash val="solid"/>
          </a:ln>
        </p:spPr>
      </p:sp>
      <p:sp>
        <p:nvSpPr>
          <p:cNvPr id="11" name="Shape 8"/>
          <p:cNvSpPr/>
          <p:nvPr/>
        </p:nvSpPr>
        <p:spPr>
          <a:xfrm>
            <a:off x="548640" y="1755648"/>
            <a:ext cx="3545738" cy="54864"/>
          </a:xfrm>
          <a:prstGeom prst="rect">
            <a:avLst/>
          </a:prstGeom>
          <a:solidFill>
            <a:srgbClr val="C8102E"/>
          </a:solidFill>
          <a:ln w="12700">
            <a:solidFill>
              <a:srgbClr val="C8102E"/>
            </a:solidFill>
            <a:prstDash val="solid"/>
          </a:ln>
        </p:spPr>
      </p:sp>
      <p:sp>
        <p:nvSpPr>
          <p:cNvPr id="12" name="Text 9"/>
          <p:cNvSpPr/>
          <p:nvPr/>
        </p:nvSpPr>
        <p:spPr>
          <a:xfrm>
            <a:off x="768096"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€2,4 M</a:t>
            </a:r>
            <a:endParaRPr lang="en-US" sz="2600" dirty="0"/>
          </a:p>
        </p:txBody>
      </p:sp>
      <p:sp>
        <p:nvSpPr>
          <p:cNvPr id="13" name="Text 10"/>
          <p:cNvSpPr/>
          <p:nvPr/>
        </p:nvSpPr>
        <p:spPr>
          <a:xfrm>
            <a:off x="768096"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Pendapatan Premier League 2007–08</a:t>
            </a:r>
            <a:endParaRPr lang="en-US" sz="1000" dirty="0"/>
          </a:p>
        </p:txBody>
      </p:sp>
      <p:sp>
        <p:nvSpPr>
          <p:cNvPr id="14" name="Text 11"/>
          <p:cNvSpPr/>
          <p:nvPr/>
        </p:nvSpPr>
        <p:spPr>
          <a:xfrm>
            <a:off x="768096"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Terbesar di Eropa. Serie A, La Liga dan Bundesliga masing-masing sekitar €1,4 miliar.</a:t>
            </a:r>
            <a:endParaRPr lang="en-US" sz="900" dirty="0"/>
          </a:p>
        </p:txBody>
      </p:sp>
      <p:sp>
        <p:nvSpPr>
          <p:cNvPr id="15" name="Shape 12"/>
          <p:cNvSpPr/>
          <p:nvPr/>
        </p:nvSpPr>
        <p:spPr>
          <a:xfrm>
            <a:off x="4322978" y="1755648"/>
            <a:ext cx="3545738" cy="1417320"/>
          </a:xfrm>
          <a:prstGeom prst="rect">
            <a:avLst/>
          </a:prstGeom>
          <a:solidFill>
            <a:srgbClr val="27161A"/>
          </a:solidFill>
          <a:ln w="12700">
            <a:solidFill>
              <a:srgbClr val="27161A"/>
            </a:solidFill>
            <a:prstDash val="solid"/>
          </a:ln>
        </p:spPr>
      </p:sp>
      <p:sp>
        <p:nvSpPr>
          <p:cNvPr id="16" name="Shape 13"/>
          <p:cNvSpPr/>
          <p:nvPr/>
        </p:nvSpPr>
        <p:spPr>
          <a:xfrm>
            <a:off x="4322978" y="1755648"/>
            <a:ext cx="3545738" cy="54864"/>
          </a:xfrm>
          <a:prstGeom prst="rect">
            <a:avLst/>
          </a:prstGeom>
          <a:solidFill>
            <a:srgbClr val="C8102E"/>
          </a:solidFill>
          <a:ln w="12700">
            <a:solidFill>
              <a:srgbClr val="C8102E"/>
            </a:solidFill>
            <a:prstDash val="solid"/>
          </a:ln>
        </p:spPr>
      </p:sp>
      <p:sp>
        <p:nvSpPr>
          <p:cNvPr id="17" name="Text 14"/>
          <p:cNvSpPr/>
          <p:nvPr/>
        </p:nvSpPr>
        <p:spPr>
          <a:xfrm>
            <a:off x="4542434"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62%</a:t>
            </a:r>
            <a:endParaRPr lang="en-US" sz="2600" dirty="0"/>
          </a:p>
        </p:txBody>
      </p:sp>
      <p:sp>
        <p:nvSpPr>
          <p:cNvPr id="18" name="Text 15"/>
          <p:cNvSpPr/>
          <p:nvPr/>
        </p:nvSpPr>
        <p:spPr>
          <a:xfrm>
            <a:off x="4542434"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Porsi gaji terhadap pendapatan</a:t>
            </a:r>
            <a:endParaRPr lang="en-US" sz="1000" dirty="0"/>
          </a:p>
        </p:txBody>
      </p:sp>
      <p:sp>
        <p:nvSpPr>
          <p:cNvPr id="19" name="Text 16"/>
          <p:cNvSpPr/>
          <p:nvPr/>
        </p:nvSpPr>
        <p:spPr>
          <a:xfrm>
            <a:off x="4542434"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Premier League. Serie A 68%, La Liga 63%. Gaji adalah pos biaya terbesar klub Eropa.</a:t>
            </a:r>
            <a:endParaRPr lang="en-US" sz="900" dirty="0"/>
          </a:p>
        </p:txBody>
      </p:sp>
      <p:sp>
        <p:nvSpPr>
          <p:cNvPr id="20" name="Shape 17"/>
          <p:cNvSpPr/>
          <p:nvPr/>
        </p:nvSpPr>
        <p:spPr>
          <a:xfrm>
            <a:off x="8097317" y="1755648"/>
            <a:ext cx="3545738" cy="1417320"/>
          </a:xfrm>
          <a:prstGeom prst="rect">
            <a:avLst/>
          </a:prstGeom>
          <a:solidFill>
            <a:srgbClr val="27161A"/>
          </a:solidFill>
          <a:ln w="12700">
            <a:solidFill>
              <a:srgbClr val="27161A"/>
            </a:solidFill>
            <a:prstDash val="solid"/>
          </a:ln>
        </p:spPr>
      </p:sp>
      <p:sp>
        <p:nvSpPr>
          <p:cNvPr id="21" name="Shape 18"/>
          <p:cNvSpPr/>
          <p:nvPr/>
        </p:nvSpPr>
        <p:spPr>
          <a:xfrm>
            <a:off x="8097317" y="1755648"/>
            <a:ext cx="3545738" cy="54864"/>
          </a:xfrm>
          <a:prstGeom prst="rect">
            <a:avLst/>
          </a:prstGeom>
          <a:solidFill>
            <a:srgbClr val="FBE122"/>
          </a:solidFill>
          <a:ln w="12700">
            <a:solidFill>
              <a:srgbClr val="FBE122"/>
            </a:solidFill>
            <a:prstDash val="solid"/>
          </a:ln>
        </p:spPr>
      </p:sp>
      <p:sp>
        <p:nvSpPr>
          <p:cNvPr id="22" name="Text 19"/>
          <p:cNvSpPr/>
          <p:nvPr/>
        </p:nvSpPr>
        <p:spPr>
          <a:xfrm>
            <a:off x="8316773"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 dari 10</a:t>
            </a:r>
            <a:endParaRPr lang="en-US" sz="2600" dirty="0"/>
          </a:p>
        </p:txBody>
      </p:sp>
      <p:sp>
        <p:nvSpPr>
          <p:cNvPr id="23" name="Text 20"/>
          <p:cNvSpPr/>
          <p:nvPr/>
        </p:nvSpPr>
        <p:spPr>
          <a:xfrm>
            <a:off x="8316773"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Klub besar di Table 6.6 merugi</a:t>
            </a:r>
            <a:endParaRPr lang="en-US" sz="1000" dirty="0"/>
          </a:p>
        </p:txBody>
      </p:sp>
      <p:sp>
        <p:nvSpPr>
          <p:cNvPr id="24" name="Text 21"/>
          <p:cNvSpPr/>
          <p:nvPr/>
        </p:nvSpPr>
        <p:spPr>
          <a:xfrm>
            <a:off x="8316773"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Selama 2000–2006. Industri ini tumbuh pesat, tapi sangat tidak menguntungkan.</a:t>
            </a:r>
            <a:endParaRPr lang="en-US" sz="900" dirty="0"/>
          </a:p>
        </p:txBody>
      </p:sp>
      <p:sp>
        <p:nvSpPr>
          <p:cNvPr id="25" name="Text 22"/>
          <p:cNvSpPr/>
          <p:nvPr/>
        </p:nvSpPr>
        <p:spPr>
          <a:xfrm>
            <a:off x="548640" y="3401568"/>
            <a:ext cx="585216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TIGA SUMBER PENDAPATAN KLUB  ·  PREMIER LEAGUE 2007–08</a:t>
            </a:r>
            <a:endParaRPr lang="en-US" sz="850" dirty="0"/>
          </a:p>
        </p:txBody>
      </p:sp>
      <p:sp>
        <p:nvSpPr>
          <p:cNvPr id="26" name="Shape 23"/>
          <p:cNvSpPr/>
          <p:nvPr/>
        </p:nvSpPr>
        <p:spPr>
          <a:xfrm>
            <a:off x="548640" y="3675888"/>
            <a:ext cx="5852160" cy="685800"/>
          </a:xfrm>
          <a:prstGeom prst="rect">
            <a:avLst/>
          </a:prstGeom>
          <a:solidFill>
            <a:srgbClr val="27161A"/>
          </a:solidFill>
          <a:ln w="12700">
            <a:solidFill>
              <a:srgbClr val="27161A"/>
            </a:solidFill>
            <a:prstDash val="solid"/>
          </a:ln>
        </p:spPr>
      </p:sp>
      <p:sp>
        <p:nvSpPr>
          <p:cNvPr id="27" name="Text 24"/>
          <p:cNvSpPr/>
          <p:nvPr/>
        </p:nvSpPr>
        <p:spPr>
          <a:xfrm>
            <a:off x="731520" y="3749040"/>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Matchday</a:t>
            </a:r>
            <a:endParaRPr lang="en-US" sz="1050" dirty="0"/>
          </a:p>
        </p:txBody>
      </p:sp>
      <p:sp>
        <p:nvSpPr>
          <p:cNvPr id="28" name="Text 25"/>
          <p:cNvSpPr/>
          <p:nvPr/>
        </p:nvSpPr>
        <p:spPr>
          <a:xfrm>
            <a:off x="731520" y="4005072"/>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£554 jt</a:t>
            </a:r>
            <a:endParaRPr lang="en-US" sz="1200" dirty="0"/>
          </a:p>
        </p:txBody>
      </p:sp>
      <p:sp>
        <p:nvSpPr>
          <p:cNvPr id="29" name="Text 26"/>
          <p:cNvSpPr/>
          <p:nvPr/>
        </p:nvSpPr>
        <p:spPr>
          <a:xfrm>
            <a:off x="2148840" y="3730752"/>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Tiket dan hospitality. Dibatasi kapasitas stadion; itu sebabnya klub besar merenovasi atau membangun stadion baru.</a:t>
            </a:r>
            <a:endParaRPr lang="en-US" sz="850" dirty="0"/>
          </a:p>
        </p:txBody>
      </p:sp>
      <p:sp>
        <p:nvSpPr>
          <p:cNvPr id="30" name="Shape 27"/>
          <p:cNvSpPr/>
          <p:nvPr/>
        </p:nvSpPr>
        <p:spPr>
          <a:xfrm>
            <a:off x="548640" y="4434840"/>
            <a:ext cx="5852160" cy="685800"/>
          </a:xfrm>
          <a:prstGeom prst="rect">
            <a:avLst/>
          </a:prstGeom>
          <a:solidFill>
            <a:srgbClr val="32191E"/>
          </a:solidFill>
          <a:ln w="12700">
            <a:solidFill>
              <a:srgbClr val="32191E"/>
            </a:solidFill>
            <a:prstDash val="solid"/>
          </a:ln>
        </p:spPr>
      </p:sp>
      <p:sp>
        <p:nvSpPr>
          <p:cNvPr id="31" name="Text 28"/>
          <p:cNvSpPr/>
          <p:nvPr/>
        </p:nvSpPr>
        <p:spPr>
          <a:xfrm>
            <a:off x="731520" y="4507992"/>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Broadcasting</a:t>
            </a:r>
            <a:endParaRPr lang="en-US" sz="1050" dirty="0"/>
          </a:p>
        </p:txBody>
      </p:sp>
      <p:sp>
        <p:nvSpPr>
          <p:cNvPr id="32" name="Text 29"/>
          <p:cNvSpPr/>
          <p:nvPr/>
        </p:nvSpPr>
        <p:spPr>
          <a:xfrm>
            <a:off x="731520" y="4764024"/>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£931 jt</a:t>
            </a:r>
            <a:endParaRPr lang="en-US" sz="1200" dirty="0"/>
          </a:p>
        </p:txBody>
      </p:sp>
      <p:sp>
        <p:nvSpPr>
          <p:cNvPr id="33" name="Text 30"/>
          <p:cNvSpPr/>
          <p:nvPr/>
        </p:nvSpPr>
        <p:spPr>
          <a:xfrm>
            <a:off x="2148840" y="4489704"/>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Hak siar dinegosiasikan Premier League. Kontrak 2006 bernilai £2,7 miliar; tiap klub dapat rata-rata £45 juta per tahun.</a:t>
            </a:r>
            <a:endParaRPr lang="en-US" sz="850" dirty="0"/>
          </a:p>
        </p:txBody>
      </p:sp>
      <p:sp>
        <p:nvSpPr>
          <p:cNvPr id="34" name="Shape 31"/>
          <p:cNvSpPr/>
          <p:nvPr/>
        </p:nvSpPr>
        <p:spPr>
          <a:xfrm>
            <a:off x="548640" y="5193792"/>
            <a:ext cx="5852160" cy="685800"/>
          </a:xfrm>
          <a:prstGeom prst="rect">
            <a:avLst/>
          </a:prstGeom>
          <a:solidFill>
            <a:srgbClr val="27161A"/>
          </a:solidFill>
          <a:ln w="12700">
            <a:solidFill>
              <a:srgbClr val="27161A"/>
            </a:solidFill>
            <a:prstDash val="solid"/>
          </a:ln>
        </p:spPr>
      </p:sp>
      <p:sp>
        <p:nvSpPr>
          <p:cNvPr id="35" name="Text 32"/>
          <p:cNvSpPr/>
          <p:nvPr/>
        </p:nvSpPr>
        <p:spPr>
          <a:xfrm>
            <a:off x="731520" y="5266944"/>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Commercial</a:t>
            </a:r>
            <a:endParaRPr lang="en-US" sz="1050" dirty="0"/>
          </a:p>
        </p:txBody>
      </p:sp>
      <p:sp>
        <p:nvSpPr>
          <p:cNvPr id="36" name="Text 33"/>
          <p:cNvSpPr/>
          <p:nvPr/>
        </p:nvSpPr>
        <p:spPr>
          <a:xfrm>
            <a:off x="731520" y="5522976"/>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£447 jt</a:t>
            </a:r>
            <a:endParaRPr lang="en-US" sz="1200" dirty="0"/>
          </a:p>
        </p:txBody>
      </p:sp>
      <p:sp>
        <p:nvSpPr>
          <p:cNvPr id="37" name="Text 34"/>
          <p:cNvSpPr/>
          <p:nvPr/>
        </p:nvSpPr>
        <p:spPr>
          <a:xfrm>
            <a:off x="2148840" y="5248656"/>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Sponsor, lisensi merchandise, iklan. Terpusat di sedikit klub; Real Madrid dan Barcelona meraup lebih dari 60% sponsor La Liga.</a:t>
            </a:r>
            <a:endParaRPr lang="en-US" sz="850" dirty="0"/>
          </a:p>
        </p:txBody>
      </p:sp>
      <p:sp>
        <p:nvSpPr>
          <p:cNvPr id="38" name="Text 35"/>
          <p:cNvSpPr/>
          <p:nvPr/>
        </p:nvSpPr>
        <p:spPr>
          <a:xfrm>
            <a:off x="6675120" y="3401568"/>
            <a:ext cx="496793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ATURAN MAIN DAN LOGIKA EKONOMINYA</a:t>
            </a:r>
            <a:endParaRPr lang="en-US" sz="850" dirty="0"/>
          </a:p>
        </p:txBody>
      </p:sp>
      <p:sp>
        <p:nvSpPr>
          <p:cNvPr id="39" name="Shape 36"/>
          <p:cNvSpPr/>
          <p:nvPr/>
        </p:nvSpPr>
        <p:spPr>
          <a:xfrm>
            <a:off x="6675120" y="3675888"/>
            <a:ext cx="4967935" cy="685800"/>
          </a:xfrm>
          <a:prstGeom prst="rect">
            <a:avLst/>
          </a:prstGeom>
          <a:solidFill>
            <a:srgbClr val="27161A"/>
          </a:solidFill>
          <a:ln w="12700">
            <a:solidFill>
              <a:srgbClr val="27161A"/>
            </a:solidFill>
            <a:prstDash val="solid"/>
          </a:ln>
        </p:spPr>
      </p:sp>
      <p:sp>
        <p:nvSpPr>
          <p:cNvPr id="40" name="Shape 37"/>
          <p:cNvSpPr/>
          <p:nvPr/>
        </p:nvSpPr>
        <p:spPr>
          <a:xfrm>
            <a:off x="6675120" y="3675888"/>
            <a:ext cx="54864" cy="685800"/>
          </a:xfrm>
          <a:prstGeom prst="rect">
            <a:avLst/>
          </a:prstGeom>
          <a:solidFill>
            <a:srgbClr val="C8102E"/>
          </a:solidFill>
          <a:ln w="12700">
            <a:solidFill>
              <a:srgbClr val="C8102E"/>
            </a:solidFill>
            <a:prstDash val="solid"/>
          </a:ln>
        </p:spPr>
      </p:sp>
      <p:sp>
        <p:nvSpPr>
          <p:cNvPr id="41" name="Text 38"/>
          <p:cNvSpPr/>
          <p:nvPr/>
        </p:nvSpPr>
        <p:spPr>
          <a:xfrm>
            <a:off x="6903720" y="3749040"/>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Struktur kompetisi</a:t>
            </a:r>
            <a:endParaRPr lang="en-US" sz="1000" dirty="0"/>
          </a:p>
        </p:txBody>
      </p:sp>
      <p:sp>
        <p:nvSpPr>
          <p:cNvPr id="42" name="Text 39"/>
          <p:cNvSpPr/>
          <p:nvPr/>
        </p:nvSpPr>
        <p:spPr>
          <a:xfrm>
            <a:off x="6903720" y="3977640"/>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D9CFC7"/>
                </a:solidFill>
                <a:latin typeface="Poppins" pitchFamily="34" charset="0"/>
                <a:ea typeface="Poppins" pitchFamily="34" charset="-122"/>
                <a:cs typeface="Poppins" pitchFamily="34" charset="-120"/>
              </a:rPr>
              <a:t>20 klub Premier League, tiga terbawah turun kasta. Empat teratas lolos Champions League, kompetisi 32 klub terbaik Eropa.</a:t>
            </a:r>
            <a:endParaRPr lang="en-US" sz="800" dirty="0"/>
          </a:p>
        </p:txBody>
      </p:sp>
      <p:sp>
        <p:nvSpPr>
          <p:cNvPr id="43" name="Shape 40"/>
          <p:cNvSpPr/>
          <p:nvPr/>
        </p:nvSpPr>
        <p:spPr>
          <a:xfrm>
            <a:off x="6675120" y="4434840"/>
            <a:ext cx="4967935" cy="685800"/>
          </a:xfrm>
          <a:prstGeom prst="rect">
            <a:avLst/>
          </a:prstGeom>
          <a:solidFill>
            <a:srgbClr val="32191E"/>
          </a:solidFill>
          <a:ln w="12700">
            <a:solidFill>
              <a:srgbClr val="32191E"/>
            </a:solidFill>
            <a:prstDash val="solid"/>
          </a:ln>
        </p:spPr>
      </p:sp>
      <p:sp>
        <p:nvSpPr>
          <p:cNvPr id="44" name="Shape 41"/>
          <p:cNvSpPr/>
          <p:nvPr/>
        </p:nvSpPr>
        <p:spPr>
          <a:xfrm>
            <a:off x="6675120" y="4434840"/>
            <a:ext cx="54864" cy="685800"/>
          </a:xfrm>
          <a:prstGeom prst="rect">
            <a:avLst/>
          </a:prstGeom>
          <a:solidFill>
            <a:srgbClr val="C8102E"/>
          </a:solidFill>
          <a:ln w="12700">
            <a:solidFill>
              <a:srgbClr val="C8102E"/>
            </a:solidFill>
            <a:prstDash val="solid"/>
          </a:ln>
        </p:spPr>
      </p:sp>
      <p:sp>
        <p:nvSpPr>
          <p:cNvPr id="45" name="Text 42"/>
          <p:cNvSpPr/>
          <p:nvPr/>
        </p:nvSpPr>
        <p:spPr>
          <a:xfrm>
            <a:off x="6903720" y="4507992"/>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Yang kaya makin kaya</a:t>
            </a:r>
            <a:endParaRPr lang="en-US" sz="1000" dirty="0"/>
          </a:p>
        </p:txBody>
      </p:sp>
      <p:sp>
        <p:nvSpPr>
          <p:cNvPr id="46" name="Text 43"/>
          <p:cNvSpPr/>
          <p:nvPr/>
        </p:nvSpPr>
        <p:spPr>
          <a:xfrm>
            <a:off x="6903720" y="4736592"/>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D9CFC7"/>
                </a:solidFill>
                <a:latin typeface="Poppins" pitchFamily="34" charset="0"/>
                <a:ea typeface="Poppins" pitchFamily="34" charset="-122"/>
                <a:cs typeface="Poppins" pitchFamily="34" charset="-120"/>
              </a:rPr>
              <a:t>Sejak UCL dimulai 1992, muncul jurang keuangan antara MU, Chelsea, Liverpool, Arsenal dan sisanya. Uang Eropa membeli pemain bagus.</a:t>
            </a:r>
            <a:endParaRPr lang="en-US" sz="800" dirty="0"/>
          </a:p>
        </p:txBody>
      </p:sp>
      <p:sp>
        <p:nvSpPr>
          <p:cNvPr id="47" name="Shape 44"/>
          <p:cNvSpPr/>
          <p:nvPr/>
        </p:nvSpPr>
        <p:spPr>
          <a:xfrm>
            <a:off x="6675120" y="5193792"/>
            <a:ext cx="4967935" cy="685800"/>
          </a:xfrm>
          <a:prstGeom prst="rect">
            <a:avLst/>
          </a:prstGeom>
          <a:solidFill>
            <a:srgbClr val="27161A"/>
          </a:solidFill>
          <a:ln w="12700">
            <a:solidFill>
              <a:srgbClr val="27161A"/>
            </a:solidFill>
            <a:prstDash val="solid"/>
          </a:ln>
        </p:spPr>
      </p:sp>
      <p:sp>
        <p:nvSpPr>
          <p:cNvPr id="48" name="Shape 45"/>
          <p:cNvSpPr/>
          <p:nvPr/>
        </p:nvSpPr>
        <p:spPr>
          <a:xfrm>
            <a:off x="6675120" y="5193792"/>
            <a:ext cx="54864" cy="685800"/>
          </a:xfrm>
          <a:prstGeom prst="rect">
            <a:avLst/>
          </a:prstGeom>
          <a:solidFill>
            <a:srgbClr val="C8102E"/>
          </a:solidFill>
          <a:ln w="12700">
            <a:solidFill>
              <a:srgbClr val="C8102E"/>
            </a:solidFill>
            <a:prstDash val="solid"/>
          </a:ln>
        </p:spPr>
      </p:sp>
      <p:sp>
        <p:nvSpPr>
          <p:cNvPr id="49" name="Text 46"/>
          <p:cNvSpPr/>
          <p:nvPr/>
        </p:nvSpPr>
        <p:spPr>
          <a:xfrm>
            <a:off x="6903720" y="5266944"/>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Harga pemain meledak</a:t>
            </a:r>
            <a:endParaRPr lang="en-US" sz="1000" dirty="0"/>
          </a:p>
        </p:txBody>
      </p:sp>
      <p:sp>
        <p:nvSpPr>
          <p:cNvPr id="50" name="Text 47"/>
          <p:cNvSpPr/>
          <p:nvPr/>
        </p:nvSpPr>
        <p:spPr>
          <a:xfrm>
            <a:off x="6903720" y="5495544"/>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D9CFC7"/>
                </a:solidFill>
                <a:latin typeface="Poppins" pitchFamily="34" charset="0"/>
                <a:ea typeface="Poppins" pitchFamily="34" charset="-122"/>
                <a:cs typeface="Poppins" pitchFamily="34" charset="-120"/>
              </a:rPr>
              <a:t>Rekor transfer baru tercipta musim panas 2009 meski resesi. Pendorongnya: Real Madrid, lalu Chelsea, lalu Manchester City.</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DI LAPANGAN: JELAS DI ATAS RATA-RATA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Indikator kedua Thompson, apakah posisi dan kekuatan bersaingnya membaik, dijawab data kompetisi kasus.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6.1, 6.2 dan 6.7.</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21</a:t>
            </a:r>
            <a:endParaRPr lang="en-US" sz="900" dirty="0"/>
          </a:p>
        </p:txBody>
      </p:sp>
      <p:sp>
        <p:nvSpPr>
          <p:cNvPr id="10" name="Shape 7"/>
          <p:cNvSpPr/>
          <p:nvPr/>
        </p:nvSpPr>
        <p:spPr>
          <a:xfrm>
            <a:off x="548640" y="1755648"/>
            <a:ext cx="4114800" cy="1234440"/>
          </a:xfrm>
          <a:prstGeom prst="rect">
            <a:avLst/>
          </a:prstGeom>
          <a:solidFill>
            <a:srgbClr val="27161A"/>
          </a:solidFill>
          <a:ln w="12700">
            <a:solidFill>
              <a:srgbClr val="27161A"/>
            </a:solidFill>
            <a:prstDash val="solid"/>
          </a:ln>
        </p:spPr>
      </p:sp>
      <p:sp>
        <p:nvSpPr>
          <p:cNvPr id="11" name="Shape 8"/>
          <p:cNvSpPr/>
          <p:nvPr/>
        </p:nvSpPr>
        <p:spPr>
          <a:xfrm>
            <a:off x="548640" y="1755648"/>
            <a:ext cx="4114800" cy="54864"/>
          </a:xfrm>
          <a:prstGeom prst="rect">
            <a:avLst/>
          </a:prstGeom>
          <a:solidFill>
            <a:srgbClr val="C8102E"/>
          </a:solidFill>
          <a:ln w="12700">
            <a:solidFill>
              <a:srgbClr val="C8102E"/>
            </a:solidFill>
            <a:prstDash val="solid"/>
          </a:ln>
        </p:spPr>
      </p:sp>
      <p:sp>
        <p:nvSpPr>
          <p:cNvPr id="12" name="Text 9"/>
          <p:cNvSpPr/>
          <p:nvPr/>
        </p:nvSpPr>
        <p:spPr>
          <a:xfrm>
            <a:off x="768096" y="19385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1.460</a:t>
            </a:r>
            <a:endParaRPr lang="en-US" sz="2400" dirty="0"/>
          </a:p>
        </p:txBody>
      </p:sp>
      <p:sp>
        <p:nvSpPr>
          <p:cNvPr id="13" name="Text 10"/>
          <p:cNvSpPr/>
          <p:nvPr/>
        </p:nvSpPr>
        <p:spPr>
          <a:xfrm>
            <a:off x="768096" y="24871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Poin Eropa 2000–2009, tertinggi  ·  Table 6.2</a:t>
            </a:r>
            <a:endParaRPr lang="en-US" sz="1000" dirty="0"/>
          </a:p>
        </p:txBody>
      </p:sp>
      <p:sp>
        <p:nvSpPr>
          <p:cNvPr id="14" name="Text 11"/>
          <p:cNvSpPr/>
          <p:nvPr/>
        </p:nvSpPr>
        <p:spPr>
          <a:xfrm>
            <a:off x="768096" y="27614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Barcelona 1.411  ·  Real Madrid 1.314  ·  Arsenal 1.310</a:t>
            </a:r>
            <a:endParaRPr lang="en-US" sz="900" dirty="0"/>
          </a:p>
        </p:txBody>
      </p:sp>
      <p:sp>
        <p:nvSpPr>
          <p:cNvPr id="15" name="Shape 12"/>
          <p:cNvSpPr/>
          <p:nvPr/>
        </p:nvSpPr>
        <p:spPr>
          <a:xfrm>
            <a:off x="548640" y="3127248"/>
            <a:ext cx="4114800" cy="1234440"/>
          </a:xfrm>
          <a:prstGeom prst="rect">
            <a:avLst/>
          </a:prstGeom>
          <a:solidFill>
            <a:srgbClr val="27161A"/>
          </a:solidFill>
          <a:ln w="12700">
            <a:solidFill>
              <a:srgbClr val="27161A"/>
            </a:solidFill>
            <a:prstDash val="solid"/>
          </a:ln>
        </p:spPr>
      </p:sp>
      <p:sp>
        <p:nvSpPr>
          <p:cNvPr id="16" name="Shape 13"/>
          <p:cNvSpPr/>
          <p:nvPr/>
        </p:nvSpPr>
        <p:spPr>
          <a:xfrm>
            <a:off x="548640" y="3127248"/>
            <a:ext cx="4114800" cy="54864"/>
          </a:xfrm>
          <a:prstGeom prst="rect">
            <a:avLst/>
          </a:prstGeom>
          <a:solidFill>
            <a:srgbClr val="C8102E"/>
          </a:solidFill>
          <a:ln w="12700">
            <a:solidFill>
              <a:srgbClr val="C8102E"/>
            </a:solidFill>
            <a:prstDash val="solid"/>
          </a:ln>
        </p:spPr>
      </p:sp>
      <p:sp>
        <p:nvSpPr>
          <p:cNvPr id="17" name="Text 14"/>
          <p:cNvSpPr/>
          <p:nvPr/>
        </p:nvSpPr>
        <p:spPr>
          <a:xfrm>
            <a:off x="768096" y="33101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3</a:t>
            </a:r>
            <a:endParaRPr lang="en-US" sz="2400" dirty="0"/>
          </a:p>
        </p:txBody>
      </p:sp>
      <p:sp>
        <p:nvSpPr>
          <p:cNvPr id="18" name="Text 15"/>
          <p:cNvSpPr/>
          <p:nvPr/>
        </p:nvSpPr>
        <p:spPr>
          <a:xfrm>
            <a:off x="768096" y="38587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Gelar liga beruntun 2007, 2008, 2009  ·  Table 6.1</a:t>
            </a:r>
            <a:endParaRPr lang="en-US" sz="1000" dirty="0"/>
          </a:p>
        </p:txBody>
      </p:sp>
      <p:sp>
        <p:nvSpPr>
          <p:cNvPr id="19" name="Text 16"/>
          <p:cNvSpPr/>
          <p:nvPr/>
        </p:nvSpPr>
        <p:spPr>
          <a:xfrm>
            <a:off x="768096" y="41330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Total 11 gelar liga sejak 1993 dalam rentang kasus</a:t>
            </a:r>
            <a:endParaRPr lang="en-US" sz="900" dirty="0"/>
          </a:p>
        </p:txBody>
      </p:sp>
      <p:sp>
        <p:nvSpPr>
          <p:cNvPr id="20" name="Shape 17"/>
          <p:cNvSpPr/>
          <p:nvPr/>
        </p:nvSpPr>
        <p:spPr>
          <a:xfrm>
            <a:off x="548640" y="4498848"/>
            <a:ext cx="4114800" cy="1234440"/>
          </a:xfrm>
          <a:prstGeom prst="rect">
            <a:avLst/>
          </a:prstGeom>
          <a:solidFill>
            <a:srgbClr val="27161A"/>
          </a:solidFill>
          <a:ln w="12700">
            <a:solidFill>
              <a:srgbClr val="27161A"/>
            </a:solidFill>
            <a:prstDash val="solid"/>
          </a:ln>
        </p:spPr>
      </p:sp>
      <p:sp>
        <p:nvSpPr>
          <p:cNvPr id="21" name="Shape 18"/>
          <p:cNvSpPr/>
          <p:nvPr/>
        </p:nvSpPr>
        <p:spPr>
          <a:xfrm>
            <a:off x="548640" y="4498848"/>
            <a:ext cx="4114800" cy="54864"/>
          </a:xfrm>
          <a:prstGeom prst="rect">
            <a:avLst/>
          </a:prstGeom>
          <a:solidFill>
            <a:srgbClr val="FBE122"/>
          </a:solidFill>
          <a:ln w="12700">
            <a:solidFill>
              <a:srgbClr val="FBE122"/>
            </a:solidFill>
            <a:prstDash val="solid"/>
          </a:ln>
        </p:spPr>
      </p:sp>
      <p:sp>
        <p:nvSpPr>
          <p:cNvPr id="22" name="Text 19"/>
          <p:cNvSpPr/>
          <p:nvPr/>
        </p:nvSpPr>
        <p:spPr>
          <a:xfrm>
            <a:off x="768096" y="46817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2008</a:t>
            </a:r>
            <a:endParaRPr lang="en-US" sz="2400" dirty="0"/>
          </a:p>
        </p:txBody>
      </p:sp>
      <p:sp>
        <p:nvSpPr>
          <p:cNvPr id="23" name="Text 20"/>
          <p:cNvSpPr/>
          <p:nvPr/>
        </p:nvSpPr>
        <p:spPr>
          <a:xfrm>
            <a:off x="768096" y="52303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Liga Champions kedua di era Ferguson  ·  hlm. 584</a:t>
            </a:r>
            <a:endParaRPr lang="en-US" sz="1000" dirty="0"/>
          </a:p>
        </p:txBody>
      </p:sp>
      <p:sp>
        <p:nvSpPr>
          <p:cNvPr id="24" name="Text 21"/>
          <p:cNvSpPr/>
          <p:nvPr/>
        </p:nvSpPr>
        <p:spPr>
          <a:xfrm>
            <a:off x="768096" y="55046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Yang pertama 1999, bersama gelar liga dan FA Cup</a:t>
            </a:r>
            <a:endParaRPr lang="en-US" sz="900" dirty="0"/>
          </a:p>
        </p:txBody>
      </p:sp>
      <p:sp>
        <p:nvSpPr>
          <p:cNvPr id="25" name="Shape 22"/>
          <p:cNvSpPr/>
          <p:nvPr/>
        </p:nvSpPr>
        <p:spPr>
          <a:xfrm>
            <a:off x="4937760" y="1755648"/>
            <a:ext cx="6675120" cy="3977640"/>
          </a:xfrm>
          <a:prstGeom prst="rect">
            <a:avLst/>
          </a:prstGeom>
          <a:solidFill>
            <a:srgbClr val="27161A"/>
          </a:solidFill>
          <a:ln w="12700">
            <a:solidFill>
              <a:srgbClr val="27161A"/>
            </a:solidFill>
            <a:prstDash val="solid"/>
          </a:ln>
        </p:spPr>
      </p:sp>
      <p:sp>
        <p:nvSpPr>
          <p:cNvPr id="26" name="Text 23"/>
          <p:cNvSpPr/>
          <p:nvPr/>
        </p:nvSpPr>
        <p:spPr>
          <a:xfrm>
            <a:off x="5166360" y="1892808"/>
            <a:ext cx="621792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POIN PERFORMA EROPA 2000–09  ·  TABLE 6.2</a:t>
            </a:r>
            <a:endParaRPr lang="en-US" sz="850" dirty="0"/>
          </a:p>
        </p:txBody>
      </p:sp>
      <p:sp>
        <p:nvSpPr>
          <p:cNvPr id="27" name="Text 24"/>
          <p:cNvSpPr/>
          <p:nvPr/>
        </p:nvSpPr>
        <p:spPr>
          <a:xfrm>
            <a:off x="5166360" y="2272741"/>
            <a:ext cx="1143000" cy="291694"/>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 United</a:t>
            </a:r>
            <a:endParaRPr lang="en-US" sz="900" dirty="0"/>
          </a:p>
        </p:txBody>
      </p:sp>
      <p:sp>
        <p:nvSpPr>
          <p:cNvPr id="28" name="Shape 25"/>
          <p:cNvSpPr/>
          <p:nvPr/>
        </p:nvSpPr>
        <p:spPr>
          <a:xfrm>
            <a:off x="6446520" y="2291029"/>
            <a:ext cx="4160520" cy="255118"/>
          </a:xfrm>
          <a:prstGeom prst="rect">
            <a:avLst/>
          </a:prstGeom>
          <a:solidFill>
            <a:srgbClr val="C8102E"/>
          </a:solidFill>
          <a:ln w="12700">
            <a:solidFill>
              <a:srgbClr val="C8102E"/>
            </a:solidFill>
            <a:prstDash val="solid"/>
          </a:ln>
        </p:spPr>
      </p:sp>
      <p:sp>
        <p:nvSpPr>
          <p:cNvPr id="29" name="Text 26"/>
          <p:cNvSpPr/>
          <p:nvPr/>
        </p:nvSpPr>
        <p:spPr>
          <a:xfrm>
            <a:off x="10680192" y="2272741"/>
            <a:ext cx="685800" cy="291694"/>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1.460</a:t>
            </a:r>
            <a:endParaRPr lang="en-US" sz="900" dirty="0"/>
          </a:p>
        </p:txBody>
      </p:sp>
      <p:sp>
        <p:nvSpPr>
          <p:cNvPr id="30" name="Text 27"/>
          <p:cNvSpPr/>
          <p:nvPr/>
        </p:nvSpPr>
        <p:spPr>
          <a:xfrm>
            <a:off x="5166360" y="268422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Barcelona</a:t>
            </a:r>
            <a:endParaRPr lang="en-US" sz="900" dirty="0"/>
          </a:p>
        </p:txBody>
      </p:sp>
      <p:sp>
        <p:nvSpPr>
          <p:cNvPr id="31" name="Shape 28"/>
          <p:cNvSpPr/>
          <p:nvPr/>
        </p:nvSpPr>
        <p:spPr>
          <a:xfrm>
            <a:off x="6446520" y="2702509"/>
            <a:ext cx="4020886" cy="255118"/>
          </a:xfrm>
          <a:prstGeom prst="rect">
            <a:avLst/>
          </a:prstGeom>
          <a:solidFill>
            <a:srgbClr val="46292D"/>
          </a:solidFill>
          <a:ln w="12700">
            <a:solidFill>
              <a:srgbClr val="46292D"/>
            </a:solidFill>
            <a:prstDash val="solid"/>
          </a:ln>
        </p:spPr>
      </p:sp>
      <p:sp>
        <p:nvSpPr>
          <p:cNvPr id="32" name="Text 29"/>
          <p:cNvSpPr/>
          <p:nvPr/>
        </p:nvSpPr>
        <p:spPr>
          <a:xfrm>
            <a:off x="10540558" y="268422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1.411</a:t>
            </a:r>
            <a:endParaRPr lang="en-US" sz="900" dirty="0"/>
          </a:p>
        </p:txBody>
      </p:sp>
      <p:sp>
        <p:nvSpPr>
          <p:cNvPr id="33" name="Text 30"/>
          <p:cNvSpPr/>
          <p:nvPr/>
        </p:nvSpPr>
        <p:spPr>
          <a:xfrm>
            <a:off x="5166360" y="309570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Real Madrid</a:t>
            </a:r>
            <a:endParaRPr lang="en-US" sz="900" dirty="0"/>
          </a:p>
        </p:txBody>
      </p:sp>
      <p:sp>
        <p:nvSpPr>
          <p:cNvPr id="34" name="Shape 31"/>
          <p:cNvSpPr/>
          <p:nvPr/>
        </p:nvSpPr>
        <p:spPr>
          <a:xfrm>
            <a:off x="6446520" y="3113989"/>
            <a:ext cx="3744468" cy="255118"/>
          </a:xfrm>
          <a:prstGeom prst="rect">
            <a:avLst/>
          </a:prstGeom>
          <a:solidFill>
            <a:srgbClr val="46292D"/>
          </a:solidFill>
          <a:ln w="12700">
            <a:solidFill>
              <a:srgbClr val="46292D"/>
            </a:solidFill>
            <a:prstDash val="solid"/>
          </a:ln>
        </p:spPr>
      </p:sp>
      <p:sp>
        <p:nvSpPr>
          <p:cNvPr id="35" name="Text 32"/>
          <p:cNvSpPr/>
          <p:nvPr/>
        </p:nvSpPr>
        <p:spPr>
          <a:xfrm>
            <a:off x="10264140" y="309570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1.314</a:t>
            </a:r>
            <a:endParaRPr lang="en-US" sz="900" dirty="0"/>
          </a:p>
        </p:txBody>
      </p:sp>
      <p:sp>
        <p:nvSpPr>
          <p:cNvPr id="36" name="Text 33"/>
          <p:cNvSpPr/>
          <p:nvPr/>
        </p:nvSpPr>
        <p:spPr>
          <a:xfrm>
            <a:off x="5166360" y="350718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Bayern</a:t>
            </a:r>
            <a:endParaRPr lang="en-US" sz="900" dirty="0"/>
          </a:p>
        </p:txBody>
      </p:sp>
      <p:sp>
        <p:nvSpPr>
          <p:cNvPr id="37" name="Shape 34"/>
          <p:cNvSpPr/>
          <p:nvPr/>
        </p:nvSpPr>
        <p:spPr>
          <a:xfrm>
            <a:off x="6446520" y="3525469"/>
            <a:ext cx="3744468" cy="255118"/>
          </a:xfrm>
          <a:prstGeom prst="rect">
            <a:avLst/>
          </a:prstGeom>
          <a:solidFill>
            <a:srgbClr val="46292D"/>
          </a:solidFill>
          <a:ln w="12700">
            <a:solidFill>
              <a:srgbClr val="46292D"/>
            </a:solidFill>
            <a:prstDash val="solid"/>
          </a:ln>
        </p:spPr>
      </p:sp>
      <p:sp>
        <p:nvSpPr>
          <p:cNvPr id="38" name="Text 35"/>
          <p:cNvSpPr/>
          <p:nvPr/>
        </p:nvSpPr>
        <p:spPr>
          <a:xfrm>
            <a:off x="10264140" y="350718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1.314</a:t>
            </a:r>
            <a:endParaRPr lang="en-US" sz="900" dirty="0"/>
          </a:p>
        </p:txBody>
      </p:sp>
      <p:sp>
        <p:nvSpPr>
          <p:cNvPr id="39" name="Text 36"/>
          <p:cNvSpPr/>
          <p:nvPr/>
        </p:nvSpPr>
        <p:spPr>
          <a:xfrm>
            <a:off x="5166360" y="391866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Arsenal</a:t>
            </a:r>
            <a:endParaRPr lang="en-US" sz="900" dirty="0"/>
          </a:p>
        </p:txBody>
      </p:sp>
      <p:sp>
        <p:nvSpPr>
          <p:cNvPr id="40" name="Shape 37"/>
          <p:cNvSpPr/>
          <p:nvPr/>
        </p:nvSpPr>
        <p:spPr>
          <a:xfrm>
            <a:off x="6446520" y="3936949"/>
            <a:ext cx="3733069" cy="255118"/>
          </a:xfrm>
          <a:prstGeom prst="rect">
            <a:avLst/>
          </a:prstGeom>
          <a:solidFill>
            <a:srgbClr val="46292D"/>
          </a:solidFill>
          <a:ln w="12700">
            <a:solidFill>
              <a:srgbClr val="46292D"/>
            </a:solidFill>
            <a:prstDash val="solid"/>
          </a:ln>
        </p:spPr>
      </p:sp>
      <p:sp>
        <p:nvSpPr>
          <p:cNvPr id="41" name="Text 38"/>
          <p:cNvSpPr/>
          <p:nvPr/>
        </p:nvSpPr>
        <p:spPr>
          <a:xfrm>
            <a:off x="10252741" y="391866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1.310</a:t>
            </a:r>
            <a:endParaRPr lang="en-US" sz="900" dirty="0"/>
          </a:p>
        </p:txBody>
      </p:sp>
      <p:sp>
        <p:nvSpPr>
          <p:cNvPr id="42" name="Text 39"/>
          <p:cNvSpPr/>
          <p:nvPr/>
        </p:nvSpPr>
        <p:spPr>
          <a:xfrm>
            <a:off x="5166360" y="433014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Chelsea</a:t>
            </a:r>
            <a:endParaRPr lang="en-US" sz="900" dirty="0"/>
          </a:p>
        </p:txBody>
      </p:sp>
      <p:sp>
        <p:nvSpPr>
          <p:cNvPr id="43" name="Shape 40"/>
          <p:cNvSpPr/>
          <p:nvPr/>
        </p:nvSpPr>
        <p:spPr>
          <a:xfrm>
            <a:off x="6446520" y="4348429"/>
            <a:ext cx="3636180" cy="255118"/>
          </a:xfrm>
          <a:prstGeom prst="rect">
            <a:avLst/>
          </a:prstGeom>
          <a:solidFill>
            <a:srgbClr val="46292D"/>
          </a:solidFill>
          <a:ln w="12700">
            <a:solidFill>
              <a:srgbClr val="46292D"/>
            </a:solidFill>
            <a:prstDash val="solid"/>
          </a:ln>
        </p:spPr>
      </p:sp>
      <p:sp>
        <p:nvSpPr>
          <p:cNvPr id="44" name="Text 41"/>
          <p:cNvSpPr/>
          <p:nvPr/>
        </p:nvSpPr>
        <p:spPr>
          <a:xfrm>
            <a:off x="10155852" y="433014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1.276</a:t>
            </a:r>
            <a:endParaRPr lang="en-US" sz="900" dirty="0"/>
          </a:p>
        </p:txBody>
      </p:sp>
      <p:sp>
        <p:nvSpPr>
          <p:cNvPr id="45" name="Shape 42"/>
          <p:cNvSpPr/>
          <p:nvPr/>
        </p:nvSpPr>
        <p:spPr>
          <a:xfrm>
            <a:off x="6446520" y="2212848"/>
            <a:ext cx="9144" cy="2468880"/>
          </a:xfrm>
          <a:prstGeom prst="rect">
            <a:avLst/>
          </a:prstGeom>
          <a:solidFill>
            <a:srgbClr val="A08F8B"/>
          </a:solidFill>
          <a:ln w="12700">
            <a:solidFill>
              <a:srgbClr val="A08F8B"/>
            </a:solidFill>
            <a:prstDash val="solid"/>
          </a:ln>
        </p:spPr>
      </p:sp>
      <p:sp>
        <p:nvSpPr>
          <p:cNvPr id="46" name="Text 43"/>
          <p:cNvSpPr/>
          <p:nvPr/>
        </p:nvSpPr>
        <p:spPr>
          <a:xfrm>
            <a:off x="5166360" y="4818888"/>
            <a:ext cx="6217920" cy="8229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Di antara enam klub ini, skuad MU paling besar (34 pemain) dan termuda kedua (25,6 tahun) setelah Arsenal. Cocok dengan strategi memadukan pemain muda dan pemain berpengalaman (Table 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DI KEUANGAN: PALING UNTUNG DI ANTARA KLUB BESAR</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Indikator pertama Thompson, apakah kekuatan keuangan dan labanya membaik, dijawab Appendix kasus serta Table 6.5 dan 6.6.</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Appendix hlm. 589, Table 6.5 dan 6.6.</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22</a:t>
            </a:r>
            <a:endParaRPr lang="en-US" sz="900" dirty="0"/>
          </a:p>
        </p:txBody>
      </p:sp>
      <p:sp>
        <p:nvSpPr>
          <p:cNvPr id="10" name="Shape 7"/>
          <p:cNvSpPr/>
          <p:nvPr/>
        </p:nvSpPr>
        <p:spPr>
          <a:xfrm>
            <a:off x="548640" y="1755648"/>
            <a:ext cx="6766560" cy="3246120"/>
          </a:xfrm>
          <a:prstGeom prst="rect">
            <a:avLst/>
          </a:prstGeom>
          <a:solidFill>
            <a:srgbClr val="27161A"/>
          </a:solidFill>
          <a:ln w="12700">
            <a:solidFill>
              <a:srgbClr val="27161A"/>
            </a:solidFill>
            <a:prstDash val="solid"/>
          </a:ln>
        </p:spPr>
      </p:sp>
      <p:sp>
        <p:nvSpPr>
          <p:cNvPr id="11" name="Text 8"/>
          <p:cNvSpPr/>
          <p:nvPr/>
        </p:nvSpPr>
        <p:spPr>
          <a:xfrm>
            <a:off x="777240" y="1892808"/>
            <a:ext cx="630936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PENDAPATAN MU, £ JUTA  ·  NAIK 53% DARI 2006 KE 2008</a:t>
            </a:r>
            <a:endParaRPr lang="en-US" sz="850" dirty="0"/>
          </a:p>
        </p:txBody>
      </p:sp>
      <p:sp>
        <p:nvSpPr>
          <p:cNvPr id="12" name="Shape 9"/>
          <p:cNvSpPr/>
          <p:nvPr/>
        </p:nvSpPr>
        <p:spPr>
          <a:xfrm>
            <a:off x="910438" y="3357128"/>
            <a:ext cx="434645" cy="730240"/>
          </a:xfrm>
          <a:prstGeom prst="rect">
            <a:avLst/>
          </a:prstGeom>
          <a:solidFill>
            <a:srgbClr val="46292D"/>
          </a:solidFill>
          <a:ln w="12700">
            <a:solidFill>
              <a:srgbClr val="46292D"/>
            </a:solidFill>
            <a:prstDash val="solid"/>
          </a:ln>
        </p:spPr>
      </p:sp>
      <p:sp>
        <p:nvSpPr>
          <p:cNvPr id="13" name="Text 10"/>
          <p:cNvSpPr/>
          <p:nvPr/>
        </p:nvSpPr>
        <p:spPr>
          <a:xfrm>
            <a:off x="727558" y="3101096"/>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116,0</a:t>
            </a:r>
            <a:endParaRPr lang="en-US" sz="850" dirty="0"/>
          </a:p>
        </p:txBody>
      </p:sp>
      <p:sp>
        <p:nvSpPr>
          <p:cNvPr id="14" name="Text 11"/>
          <p:cNvSpPr/>
          <p:nvPr/>
        </p:nvSpPr>
        <p:spPr>
          <a:xfrm>
            <a:off x="72755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2000</a:t>
            </a:r>
            <a:endParaRPr lang="en-US" sz="850" dirty="0"/>
          </a:p>
        </p:txBody>
      </p:sp>
      <p:sp>
        <p:nvSpPr>
          <p:cNvPr id="15" name="Shape 12"/>
          <p:cNvSpPr/>
          <p:nvPr/>
        </p:nvSpPr>
        <p:spPr>
          <a:xfrm>
            <a:off x="1611478" y="3271514"/>
            <a:ext cx="434645" cy="815854"/>
          </a:xfrm>
          <a:prstGeom prst="rect">
            <a:avLst/>
          </a:prstGeom>
          <a:solidFill>
            <a:srgbClr val="46292D"/>
          </a:solidFill>
          <a:ln w="12700">
            <a:solidFill>
              <a:srgbClr val="46292D"/>
            </a:solidFill>
            <a:prstDash val="solid"/>
          </a:ln>
        </p:spPr>
      </p:sp>
      <p:sp>
        <p:nvSpPr>
          <p:cNvPr id="16" name="Text 13"/>
          <p:cNvSpPr/>
          <p:nvPr/>
        </p:nvSpPr>
        <p:spPr>
          <a:xfrm>
            <a:off x="1428598" y="3015482"/>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129,6</a:t>
            </a:r>
            <a:endParaRPr lang="en-US" sz="850" dirty="0"/>
          </a:p>
        </p:txBody>
      </p:sp>
      <p:sp>
        <p:nvSpPr>
          <p:cNvPr id="17" name="Text 14"/>
          <p:cNvSpPr/>
          <p:nvPr/>
        </p:nvSpPr>
        <p:spPr>
          <a:xfrm>
            <a:off x="142859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2001</a:t>
            </a:r>
            <a:endParaRPr lang="en-US" sz="850" dirty="0"/>
          </a:p>
        </p:txBody>
      </p:sp>
      <p:sp>
        <p:nvSpPr>
          <p:cNvPr id="18" name="Shape 15"/>
          <p:cNvSpPr/>
          <p:nvPr/>
        </p:nvSpPr>
        <p:spPr>
          <a:xfrm>
            <a:off x="2312518" y="3167644"/>
            <a:ext cx="434645" cy="919724"/>
          </a:xfrm>
          <a:prstGeom prst="rect">
            <a:avLst/>
          </a:prstGeom>
          <a:solidFill>
            <a:srgbClr val="46292D"/>
          </a:solidFill>
          <a:ln w="12700">
            <a:solidFill>
              <a:srgbClr val="46292D"/>
            </a:solidFill>
            <a:prstDash val="solid"/>
          </a:ln>
        </p:spPr>
      </p:sp>
      <p:sp>
        <p:nvSpPr>
          <p:cNvPr id="19" name="Text 16"/>
          <p:cNvSpPr/>
          <p:nvPr/>
        </p:nvSpPr>
        <p:spPr>
          <a:xfrm>
            <a:off x="2129638" y="2911612"/>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146,1</a:t>
            </a:r>
            <a:endParaRPr lang="en-US" sz="850" dirty="0"/>
          </a:p>
        </p:txBody>
      </p:sp>
      <p:sp>
        <p:nvSpPr>
          <p:cNvPr id="20" name="Text 17"/>
          <p:cNvSpPr/>
          <p:nvPr/>
        </p:nvSpPr>
        <p:spPr>
          <a:xfrm>
            <a:off x="212963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2002</a:t>
            </a:r>
            <a:endParaRPr lang="en-US" sz="850" dirty="0"/>
          </a:p>
        </p:txBody>
      </p:sp>
      <p:sp>
        <p:nvSpPr>
          <p:cNvPr id="21" name="Shape 18"/>
          <p:cNvSpPr/>
          <p:nvPr/>
        </p:nvSpPr>
        <p:spPr>
          <a:xfrm>
            <a:off x="3013558" y="2998304"/>
            <a:ext cx="434645" cy="1089064"/>
          </a:xfrm>
          <a:prstGeom prst="rect">
            <a:avLst/>
          </a:prstGeom>
          <a:solidFill>
            <a:srgbClr val="46292D"/>
          </a:solidFill>
          <a:ln w="12700">
            <a:solidFill>
              <a:srgbClr val="46292D"/>
            </a:solidFill>
            <a:prstDash val="solid"/>
          </a:ln>
        </p:spPr>
      </p:sp>
      <p:sp>
        <p:nvSpPr>
          <p:cNvPr id="22" name="Text 19"/>
          <p:cNvSpPr/>
          <p:nvPr/>
        </p:nvSpPr>
        <p:spPr>
          <a:xfrm>
            <a:off x="2830678" y="2742272"/>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173,0</a:t>
            </a:r>
            <a:endParaRPr lang="en-US" sz="850" dirty="0"/>
          </a:p>
        </p:txBody>
      </p:sp>
      <p:sp>
        <p:nvSpPr>
          <p:cNvPr id="23" name="Text 20"/>
          <p:cNvSpPr/>
          <p:nvPr/>
        </p:nvSpPr>
        <p:spPr>
          <a:xfrm>
            <a:off x="283067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2003</a:t>
            </a:r>
            <a:endParaRPr lang="en-US" sz="850" dirty="0"/>
          </a:p>
        </p:txBody>
      </p:sp>
      <p:sp>
        <p:nvSpPr>
          <p:cNvPr id="24" name="Shape 21"/>
          <p:cNvSpPr/>
          <p:nvPr/>
        </p:nvSpPr>
        <p:spPr>
          <a:xfrm>
            <a:off x="3714598" y="3022855"/>
            <a:ext cx="434645" cy="1064513"/>
          </a:xfrm>
          <a:prstGeom prst="rect">
            <a:avLst/>
          </a:prstGeom>
          <a:solidFill>
            <a:srgbClr val="46292D"/>
          </a:solidFill>
          <a:ln w="12700">
            <a:solidFill>
              <a:srgbClr val="46292D"/>
            </a:solidFill>
            <a:prstDash val="solid"/>
          </a:ln>
        </p:spPr>
      </p:sp>
      <p:sp>
        <p:nvSpPr>
          <p:cNvPr id="25" name="Text 22"/>
          <p:cNvSpPr/>
          <p:nvPr/>
        </p:nvSpPr>
        <p:spPr>
          <a:xfrm>
            <a:off x="3531718" y="2766823"/>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169,1</a:t>
            </a:r>
            <a:endParaRPr lang="en-US" sz="850" dirty="0"/>
          </a:p>
        </p:txBody>
      </p:sp>
      <p:sp>
        <p:nvSpPr>
          <p:cNvPr id="26" name="Text 23"/>
          <p:cNvSpPr/>
          <p:nvPr/>
        </p:nvSpPr>
        <p:spPr>
          <a:xfrm>
            <a:off x="353171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2004</a:t>
            </a:r>
            <a:endParaRPr lang="en-US" sz="850" dirty="0"/>
          </a:p>
        </p:txBody>
      </p:sp>
      <p:sp>
        <p:nvSpPr>
          <p:cNvPr id="27" name="Shape 24"/>
          <p:cNvSpPr/>
          <p:nvPr/>
        </p:nvSpPr>
        <p:spPr>
          <a:xfrm>
            <a:off x="4415638" y="3097767"/>
            <a:ext cx="434645" cy="989601"/>
          </a:xfrm>
          <a:prstGeom prst="rect">
            <a:avLst/>
          </a:prstGeom>
          <a:solidFill>
            <a:srgbClr val="46292D"/>
          </a:solidFill>
          <a:ln w="12700">
            <a:solidFill>
              <a:srgbClr val="46292D"/>
            </a:solidFill>
            <a:prstDash val="solid"/>
          </a:ln>
        </p:spPr>
      </p:sp>
      <p:sp>
        <p:nvSpPr>
          <p:cNvPr id="28" name="Text 25"/>
          <p:cNvSpPr/>
          <p:nvPr/>
        </p:nvSpPr>
        <p:spPr>
          <a:xfrm>
            <a:off x="4232758" y="2841735"/>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157,2</a:t>
            </a:r>
            <a:endParaRPr lang="en-US" sz="850" dirty="0"/>
          </a:p>
        </p:txBody>
      </p:sp>
      <p:sp>
        <p:nvSpPr>
          <p:cNvPr id="29" name="Text 26"/>
          <p:cNvSpPr/>
          <p:nvPr/>
        </p:nvSpPr>
        <p:spPr>
          <a:xfrm>
            <a:off x="423275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2005</a:t>
            </a:r>
            <a:endParaRPr lang="en-US" sz="850" dirty="0"/>
          </a:p>
        </p:txBody>
      </p:sp>
      <p:sp>
        <p:nvSpPr>
          <p:cNvPr id="30" name="Shape 27"/>
          <p:cNvSpPr/>
          <p:nvPr/>
        </p:nvSpPr>
        <p:spPr>
          <a:xfrm>
            <a:off x="5116678" y="3031039"/>
            <a:ext cx="434645" cy="1056329"/>
          </a:xfrm>
          <a:prstGeom prst="rect">
            <a:avLst/>
          </a:prstGeom>
          <a:solidFill>
            <a:srgbClr val="46292D"/>
          </a:solidFill>
          <a:ln w="12700">
            <a:solidFill>
              <a:srgbClr val="46292D"/>
            </a:solidFill>
            <a:prstDash val="solid"/>
          </a:ln>
        </p:spPr>
      </p:sp>
      <p:sp>
        <p:nvSpPr>
          <p:cNvPr id="31" name="Text 28"/>
          <p:cNvSpPr/>
          <p:nvPr/>
        </p:nvSpPr>
        <p:spPr>
          <a:xfrm>
            <a:off x="4933798" y="2775007"/>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167,8</a:t>
            </a:r>
            <a:endParaRPr lang="en-US" sz="850" dirty="0"/>
          </a:p>
        </p:txBody>
      </p:sp>
      <p:sp>
        <p:nvSpPr>
          <p:cNvPr id="32" name="Text 29"/>
          <p:cNvSpPr/>
          <p:nvPr/>
        </p:nvSpPr>
        <p:spPr>
          <a:xfrm>
            <a:off x="493379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2006</a:t>
            </a:r>
            <a:endParaRPr lang="en-US" sz="850" dirty="0"/>
          </a:p>
        </p:txBody>
      </p:sp>
      <p:sp>
        <p:nvSpPr>
          <p:cNvPr id="33" name="Shape 30"/>
          <p:cNvSpPr/>
          <p:nvPr/>
        </p:nvSpPr>
        <p:spPr>
          <a:xfrm>
            <a:off x="5817718" y="2751533"/>
            <a:ext cx="434645" cy="1335835"/>
          </a:xfrm>
          <a:prstGeom prst="rect">
            <a:avLst/>
          </a:prstGeom>
          <a:solidFill>
            <a:srgbClr val="C8102E"/>
          </a:solidFill>
          <a:ln w="12700">
            <a:solidFill>
              <a:srgbClr val="C8102E"/>
            </a:solidFill>
            <a:prstDash val="solid"/>
          </a:ln>
        </p:spPr>
      </p:sp>
      <p:sp>
        <p:nvSpPr>
          <p:cNvPr id="34" name="Text 31"/>
          <p:cNvSpPr/>
          <p:nvPr/>
        </p:nvSpPr>
        <p:spPr>
          <a:xfrm>
            <a:off x="5634838" y="2495501"/>
            <a:ext cx="800405" cy="256032"/>
          </a:xfrm>
          <a:prstGeom prst="rect">
            <a:avLst/>
          </a:prstGeom>
          <a:noFill/>
          <a:ln/>
        </p:spPr>
        <p:txBody>
          <a:bodyPr wrap="square" lIns="0" tIns="0" rIns="0" bIns="0" rtlCol="0" anchor="b"/>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212,2</a:t>
            </a:r>
            <a:endParaRPr lang="en-US" sz="850" dirty="0"/>
          </a:p>
        </p:txBody>
      </p:sp>
      <p:sp>
        <p:nvSpPr>
          <p:cNvPr id="35" name="Text 32"/>
          <p:cNvSpPr/>
          <p:nvPr/>
        </p:nvSpPr>
        <p:spPr>
          <a:xfrm>
            <a:off x="563483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2007</a:t>
            </a:r>
            <a:endParaRPr lang="en-US" sz="850" dirty="0"/>
          </a:p>
        </p:txBody>
      </p:sp>
      <p:sp>
        <p:nvSpPr>
          <p:cNvPr id="36" name="Shape 33"/>
          <p:cNvSpPr/>
          <p:nvPr/>
        </p:nvSpPr>
        <p:spPr>
          <a:xfrm>
            <a:off x="6518758" y="2468880"/>
            <a:ext cx="434645" cy="1618488"/>
          </a:xfrm>
          <a:prstGeom prst="rect">
            <a:avLst/>
          </a:prstGeom>
          <a:solidFill>
            <a:srgbClr val="C8102E"/>
          </a:solidFill>
          <a:ln w="12700">
            <a:solidFill>
              <a:srgbClr val="C8102E"/>
            </a:solidFill>
            <a:prstDash val="solid"/>
          </a:ln>
        </p:spPr>
      </p:sp>
      <p:sp>
        <p:nvSpPr>
          <p:cNvPr id="37" name="Text 34"/>
          <p:cNvSpPr/>
          <p:nvPr/>
        </p:nvSpPr>
        <p:spPr>
          <a:xfrm>
            <a:off x="6335878" y="2212848"/>
            <a:ext cx="800405" cy="256032"/>
          </a:xfrm>
          <a:prstGeom prst="rect">
            <a:avLst/>
          </a:prstGeom>
          <a:noFill/>
          <a:ln/>
        </p:spPr>
        <p:txBody>
          <a:bodyPr wrap="square" lIns="0" tIns="0" rIns="0" bIns="0" rtlCol="0" anchor="b"/>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257,1</a:t>
            </a:r>
            <a:endParaRPr lang="en-US" sz="850" dirty="0"/>
          </a:p>
        </p:txBody>
      </p:sp>
      <p:sp>
        <p:nvSpPr>
          <p:cNvPr id="38" name="Text 35"/>
          <p:cNvSpPr/>
          <p:nvPr/>
        </p:nvSpPr>
        <p:spPr>
          <a:xfrm>
            <a:off x="633587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2008</a:t>
            </a:r>
            <a:endParaRPr lang="en-US" sz="850" dirty="0"/>
          </a:p>
        </p:txBody>
      </p:sp>
      <p:sp>
        <p:nvSpPr>
          <p:cNvPr id="39" name="Shape 36"/>
          <p:cNvSpPr/>
          <p:nvPr/>
        </p:nvSpPr>
        <p:spPr>
          <a:xfrm>
            <a:off x="777240" y="4087368"/>
            <a:ext cx="6309360" cy="9144"/>
          </a:xfrm>
          <a:prstGeom prst="rect">
            <a:avLst/>
          </a:prstGeom>
          <a:solidFill>
            <a:srgbClr val="A08F8B"/>
          </a:solidFill>
          <a:ln w="12700">
            <a:solidFill>
              <a:srgbClr val="A08F8B"/>
            </a:solidFill>
            <a:prstDash val="solid"/>
          </a:ln>
        </p:spPr>
      </p:sp>
      <p:sp>
        <p:nvSpPr>
          <p:cNvPr id="40" name="Text 37"/>
          <p:cNvSpPr/>
          <p:nvPr/>
        </p:nvSpPr>
        <p:spPr>
          <a:xfrm>
            <a:off x="777240" y="4453128"/>
            <a:ext cx="6309360" cy="502920"/>
          </a:xfrm>
          <a:prstGeom prst="rect">
            <a:avLst/>
          </a:prstGeom>
          <a:noFill/>
          <a:ln/>
        </p:spPr>
        <p:txBody>
          <a:bodyPr wrap="square" lIns="0" tIns="0" rIns="0" bIns="0" rtlCol="0" anchor="t"/>
          <a:lstStyle/>
          <a:p>
            <a:pPr indent="0" marL="0">
              <a:lnSpc>
                <a:spcPct val="104000"/>
              </a:lnSpc>
              <a:buNone/>
            </a:pPr>
            <a:r>
              <a:rPr lang="en-US" sz="750" dirty="0">
                <a:solidFill>
                  <a:srgbClr val="A08F8B"/>
                </a:solidFill>
                <a:latin typeface="Poppins" pitchFamily="34" charset="0"/>
                <a:ea typeface="Poppins" pitchFamily="34" charset="-122"/>
                <a:cs typeface="Poppins" pitchFamily="34" charset="-120"/>
              </a:rPr>
              <a:t>Entitas: plc untuk 2000–2005, Limited untuk 2006–2008. Tahun buku 2000–04 sampai 31 Juli, 2005–08 sampai 30 Juni. Kasus: data 2000–04 tidak sebanding dengan 2005–08 karena perubahan akuntansi.</a:t>
            </a:r>
            <a:endParaRPr lang="en-US" sz="750" dirty="0"/>
          </a:p>
        </p:txBody>
      </p:sp>
      <p:sp>
        <p:nvSpPr>
          <p:cNvPr id="41" name="Text 38"/>
          <p:cNvSpPr/>
          <p:nvPr/>
        </p:nvSpPr>
        <p:spPr>
          <a:xfrm>
            <a:off x="7543800" y="1737360"/>
            <a:ext cx="409925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BUKTI PENDUKUNG</a:t>
            </a:r>
            <a:endParaRPr lang="en-US" sz="850" dirty="0"/>
          </a:p>
        </p:txBody>
      </p:sp>
      <p:sp>
        <p:nvSpPr>
          <p:cNvPr id="42" name="Shape 39"/>
          <p:cNvSpPr/>
          <p:nvPr/>
        </p:nvSpPr>
        <p:spPr>
          <a:xfrm>
            <a:off x="7543800" y="2029968"/>
            <a:ext cx="4099255" cy="676656"/>
          </a:xfrm>
          <a:prstGeom prst="rect">
            <a:avLst/>
          </a:prstGeom>
          <a:solidFill>
            <a:srgbClr val="27161A"/>
          </a:solidFill>
          <a:ln w="12700">
            <a:solidFill>
              <a:srgbClr val="27161A"/>
            </a:solidFill>
            <a:prstDash val="solid"/>
          </a:ln>
        </p:spPr>
      </p:sp>
      <p:sp>
        <p:nvSpPr>
          <p:cNvPr id="43" name="Text 40"/>
          <p:cNvSpPr/>
          <p:nvPr/>
        </p:nvSpPr>
        <p:spPr>
          <a:xfrm>
            <a:off x="7726680" y="2075688"/>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×2,2</a:t>
            </a:r>
            <a:endParaRPr lang="en-US" sz="1400" dirty="0"/>
          </a:p>
        </p:txBody>
      </p:sp>
      <p:sp>
        <p:nvSpPr>
          <p:cNvPr id="44" name="Text 41"/>
          <p:cNvSpPr/>
          <p:nvPr/>
        </p:nvSpPr>
        <p:spPr>
          <a:xfrm>
            <a:off x="9098280" y="2075688"/>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Laba bersih naik dari £21,6 jt (2006) ke £46,8 jt (2008). Margin bersih 2008: 18,2%</a:t>
            </a:r>
            <a:endParaRPr lang="en-US" sz="850" dirty="0"/>
          </a:p>
        </p:txBody>
      </p:sp>
      <p:sp>
        <p:nvSpPr>
          <p:cNvPr id="45" name="Shape 42"/>
          <p:cNvSpPr/>
          <p:nvPr/>
        </p:nvSpPr>
        <p:spPr>
          <a:xfrm>
            <a:off x="7543800" y="2779776"/>
            <a:ext cx="4099255" cy="676656"/>
          </a:xfrm>
          <a:prstGeom prst="rect">
            <a:avLst/>
          </a:prstGeom>
          <a:solidFill>
            <a:srgbClr val="32191E"/>
          </a:solidFill>
          <a:ln w="12700">
            <a:solidFill>
              <a:srgbClr val="32191E"/>
            </a:solidFill>
            <a:prstDash val="solid"/>
          </a:ln>
        </p:spPr>
      </p:sp>
      <p:sp>
        <p:nvSpPr>
          <p:cNvPr id="46" name="Text 43"/>
          <p:cNvSpPr/>
          <p:nvPr/>
        </p:nvSpPr>
        <p:spPr>
          <a:xfrm>
            <a:off x="7726680" y="2825496"/>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12,6%</a:t>
            </a:r>
            <a:endParaRPr lang="en-US" sz="1400" dirty="0"/>
          </a:p>
        </p:txBody>
      </p:sp>
      <p:sp>
        <p:nvSpPr>
          <p:cNvPr id="47" name="Text 44"/>
          <p:cNvSpPr/>
          <p:nvPr/>
        </p:nvSpPr>
        <p:spPr>
          <a:xfrm>
            <a:off x="9098280" y="2825496"/>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Return on sales 2000–2006 (Table 6.6), tertinggi dari 10 klub; Real Madrid hanya 0,4%</a:t>
            </a:r>
            <a:endParaRPr lang="en-US" sz="850" dirty="0"/>
          </a:p>
        </p:txBody>
      </p:sp>
      <p:sp>
        <p:nvSpPr>
          <p:cNvPr id="48" name="Shape 45"/>
          <p:cNvSpPr/>
          <p:nvPr/>
        </p:nvSpPr>
        <p:spPr>
          <a:xfrm>
            <a:off x="7543800" y="3529584"/>
            <a:ext cx="4099255" cy="676656"/>
          </a:xfrm>
          <a:prstGeom prst="rect">
            <a:avLst/>
          </a:prstGeom>
          <a:solidFill>
            <a:srgbClr val="27161A"/>
          </a:solidFill>
          <a:ln w="12700">
            <a:solidFill>
              <a:srgbClr val="27161A"/>
            </a:solidFill>
            <a:prstDash val="solid"/>
          </a:ln>
        </p:spPr>
      </p:sp>
      <p:sp>
        <p:nvSpPr>
          <p:cNvPr id="49" name="Text 46"/>
          <p:cNvSpPr/>
          <p:nvPr/>
        </p:nvSpPr>
        <p:spPr>
          <a:xfrm>
            <a:off x="7726680" y="3575304"/>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€101,9 jt</a:t>
            </a:r>
            <a:endParaRPr lang="en-US" sz="1400" dirty="0"/>
          </a:p>
        </p:txBody>
      </p:sp>
      <p:sp>
        <p:nvSpPr>
          <p:cNvPr id="50" name="Text 47"/>
          <p:cNvSpPr/>
          <p:nvPr/>
        </p:nvSpPr>
        <p:spPr>
          <a:xfrm>
            <a:off x="9098280" y="3575304"/>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EBITDA tertinggi di Table 6.5 (data Forbes 2009). Margin 31,4% vs Barcelona 22,3%, Real Madrid 14,1%</a:t>
            </a:r>
            <a:endParaRPr lang="en-US" sz="850" dirty="0"/>
          </a:p>
        </p:txBody>
      </p:sp>
      <p:sp>
        <p:nvSpPr>
          <p:cNvPr id="51" name="Shape 48"/>
          <p:cNvSpPr/>
          <p:nvPr/>
        </p:nvSpPr>
        <p:spPr>
          <a:xfrm>
            <a:off x="7543800" y="4279392"/>
            <a:ext cx="4099255" cy="676656"/>
          </a:xfrm>
          <a:prstGeom prst="rect">
            <a:avLst/>
          </a:prstGeom>
          <a:solidFill>
            <a:srgbClr val="32191E"/>
          </a:solidFill>
          <a:ln w="12700">
            <a:solidFill>
              <a:srgbClr val="32191E"/>
            </a:solidFill>
            <a:prstDash val="solid"/>
          </a:ln>
        </p:spPr>
      </p:sp>
      <p:sp>
        <p:nvSpPr>
          <p:cNvPr id="52" name="Text 49"/>
          <p:cNvSpPr/>
          <p:nvPr/>
        </p:nvSpPr>
        <p:spPr>
          <a:xfrm>
            <a:off x="7726680" y="4325112"/>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£1,14 M</a:t>
            </a:r>
            <a:endParaRPr lang="en-US" sz="1400" dirty="0"/>
          </a:p>
        </p:txBody>
      </p:sp>
      <p:sp>
        <p:nvSpPr>
          <p:cNvPr id="53" name="Text 50"/>
          <p:cNvSpPr/>
          <p:nvPr/>
        </p:nvSpPr>
        <p:spPr>
          <a:xfrm>
            <a:off x="9098280" y="4325112"/>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Nilai klub tertinggi di Table 6.5, di atas Barcelona £960 jt dan Real Madrid £850 jt</a:t>
            </a:r>
            <a:endParaRPr lang="en-US" sz="850" dirty="0"/>
          </a:p>
        </p:txBody>
      </p:sp>
      <p:sp>
        <p:nvSpPr>
          <p:cNvPr id="54" name="Shape 51"/>
          <p:cNvSpPr/>
          <p:nvPr/>
        </p:nvSpPr>
        <p:spPr>
          <a:xfrm>
            <a:off x="548640" y="5184648"/>
            <a:ext cx="11094415" cy="731520"/>
          </a:xfrm>
          <a:prstGeom prst="rect">
            <a:avLst/>
          </a:prstGeom>
          <a:solidFill>
            <a:srgbClr val="C8102E"/>
          </a:solidFill>
          <a:ln w="12700">
            <a:solidFill>
              <a:srgbClr val="C8102E"/>
            </a:solidFill>
            <a:prstDash val="solid"/>
          </a:ln>
        </p:spPr>
      </p:sp>
      <p:sp>
        <p:nvSpPr>
          <p:cNvPr id="55" name="Text 52"/>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SATU ANGKA YANG MERUSAK GAMBARAN INI</a:t>
            </a:r>
            <a:endParaRPr lang="en-US" sz="800" dirty="0"/>
          </a:p>
        </p:txBody>
      </p:sp>
      <p:sp>
        <p:nvSpPr>
          <p:cNvPr id="56" name="Text 53"/>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Kasus mencatat akuisisi Glazer 2005 dibiayai terutama dengan utang (hlm. 584).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KESIMPULAN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PRESTASI PUNCAK, BELANJA RELATIF HEMAT</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Analisis turunan kami dari Table 6.7: dari empat klub berprestasi tertinggi, belanja bersih MU yang paling kecil.</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6.7; perbandingan disusun kelompok.</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23</a:t>
            </a:r>
            <a:endParaRPr lang="en-US" sz="900" dirty="0"/>
          </a:p>
        </p:txBody>
      </p:sp>
      <p:sp>
        <p:nvSpPr>
          <p:cNvPr id="10" name="Shape 7"/>
          <p:cNvSpPr/>
          <p:nvPr/>
        </p:nvSpPr>
        <p:spPr>
          <a:xfrm>
            <a:off x="548640" y="1755648"/>
            <a:ext cx="6766560" cy="3246120"/>
          </a:xfrm>
          <a:prstGeom prst="rect">
            <a:avLst/>
          </a:prstGeom>
          <a:solidFill>
            <a:srgbClr val="27161A"/>
          </a:solidFill>
          <a:ln w="12700">
            <a:solidFill>
              <a:srgbClr val="27161A"/>
            </a:solidFill>
            <a:prstDash val="solid"/>
          </a:ln>
        </p:spPr>
      </p:sp>
      <p:sp>
        <p:nvSpPr>
          <p:cNvPr id="11" name="Text 8"/>
          <p:cNvSpPr/>
          <p:nvPr/>
        </p:nvSpPr>
        <p:spPr>
          <a:xfrm>
            <a:off x="777240" y="1892808"/>
            <a:ext cx="6309360" cy="228600"/>
          </a:xfrm>
          <a:prstGeom prst="rect">
            <a:avLst/>
          </a:prstGeom>
          <a:noFill/>
          <a:ln/>
        </p:spPr>
        <p:txBody>
          <a:bodyPr wrap="square" lIns="0" tIns="0" rIns="0" bIns="0" rtlCol="0" anchor="t"/>
          <a:lstStyle/>
          <a:p>
            <a:pPr indent="0" marL="0">
              <a:buNone/>
            </a:pPr>
            <a:r>
              <a:rPr lang="en-US" sz="850" spc="120" kern="0" dirty="0">
                <a:solidFill>
                  <a:srgbClr val="FBE122"/>
                </a:solidFill>
                <a:latin typeface="Poppins SemiBold" pitchFamily="34" charset="0"/>
                <a:ea typeface="Poppins SemiBold" pitchFamily="34" charset="-122"/>
                <a:cs typeface="Poppins SemiBold" pitchFamily="34" charset="-120"/>
              </a:rPr>
              <a:t>BELANJA TRANSFER BERSIH 2003–09, £ JUTA  ·  EMPAT KLUB DENGAN POIN PERFORMA TERTINGGI</a:t>
            </a:r>
            <a:endParaRPr lang="en-US" sz="850" dirty="0"/>
          </a:p>
        </p:txBody>
      </p:sp>
      <p:sp>
        <p:nvSpPr>
          <p:cNvPr id="12" name="Text 9"/>
          <p:cNvSpPr/>
          <p:nvPr/>
        </p:nvSpPr>
        <p:spPr>
          <a:xfrm>
            <a:off x="777240" y="2331491"/>
            <a:ext cx="2240280" cy="334213"/>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Real Madrid (183,0 poin)</a:t>
            </a:r>
            <a:endParaRPr lang="en-US" sz="900" dirty="0"/>
          </a:p>
        </p:txBody>
      </p:sp>
      <p:sp>
        <p:nvSpPr>
          <p:cNvPr id="13" name="Shape 10"/>
          <p:cNvSpPr/>
          <p:nvPr/>
        </p:nvSpPr>
        <p:spPr>
          <a:xfrm>
            <a:off x="3154680" y="2349779"/>
            <a:ext cx="3154680" cy="297637"/>
          </a:xfrm>
          <a:prstGeom prst="rect">
            <a:avLst/>
          </a:prstGeom>
          <a:solidFill>
            <a:srgbClr val="46292D"/>
          </a:solidFill>
          <a:ln w="12700">
            <a:solidFill>
              <a:srgbClr val="46292D"/>
            </a:solidFill>
            <a:prstDash val="solid"/>
          </a:ln>
        </p:spPr>
      </p:sp>
      <p:sp>
        <p:nvSpPr>
          <p:cNvPr id="14" name="Text 11"/>
          <p:cNvSpPr/>
          <p:nvPr/>
        </p:nvSpPr>
        <p:spPr>
          <a:xfrm>
            <a:off x="6382512" y="2331491"/>
            <a:ext cx="685800" cy="334213"/>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438</a:t>
            </a:r>
            <a:endParaRPr lang="en-US" sz="900" dirty="0"/>
          </a:p>
        </p:txBody>
      </p:sp>
      <p:sp>
        <p:nvSpPr>
          <p:cNvPr id="15" name="Text 12"/>
          <p:cNvSpPr/>
          <p:nvPr/>
        </p:nvSpPr>
        <p:spPr>
          <a:xfrm>
            <a:off x="777240" y="2811551"/>
            <a:ext cx="2240280" cy="334213"/>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Barcelona (200,0 poin)</a:t>
            </a:r>
            <a:endParaRPr lang="en-US" sz="900" dirty="0"/>
          </a:p>
        </p:txBody>
      </p:sp>
      <p:sp>
        <p:nvSpPr>
          <p:cNvPr id="16" name="Shape 13"/>
          <p:cNvSpPr/>
          <p:nvPr/>
        </p:nvSpPr>
        <p:spPr>
          <a:xfrm>
            <a:off x="3154680" y="2829839"/>
            <a:ext cx="1793414" cy="297637"/>
          </a:xfrm>
          <a:prstGeom prst="rect">
            <a:avLst/>
          </a:prstGeom>
          <a:solidFill>
            <a:srgbClr val="46292D"/>
          </a:solidFill>
          <a:ln w="12700">
            <a:solidFill>
              <a:srgbClr val="46292D"/>
            </a:solidFill>
            <a:prstDash val="solid"/>
          </a:ln>
        </p:spPr>
      </p:sp>
      <p:sp>
        <p:nvSpPr>
          <p:cNvPr id="17" name="Text 14"/>
          <p:cNvSpPr/>
          <p:nvPr/>
        </p:nvSpPr>
        <p:spPr>
          <a:xfrm>
            <a:off x="5021246" y="2811551"/>
            <a:ext cx="685800" cy="334213"/>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249</a:t>
            </a:r>
            <a:endParaRPr lang="en-US" sz="900" dirty="0"/>
          </a:p>
        </p:txBody>
      </p:sp>
      <p:sp>
        <p:nvSpPr>
          <p:cNvPr id="18" name="Text 15"/>
          <p:cNvSpPr/>
          <p:nvPr/>
        </p:nvSpPr>
        <p:spPr>
          <a:xfrm>
            <a:off x="777240" y="3291611"/>
            <a:ext cx="2240280" cy="334213"/>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Bayern München (179,5 poin)</a:t>
            </a:r>
            <a:endParaRPr lang="en-US" sz="900" dirty="0"/>
          </a:p>
        </p:txBody>
      </p:sp>
      <p:sp>
        <p:nvSpPr>
          <p:cNvPr id="19" name="Shape 16"/>
          <p:cNvSpPr/>
          <p:nvPr/>
        </p:nvSpPr>
        <p:spPr>
          <a:xfrm>
            <a:off x="3154680" y="3309899"/>
            <a:ext cx="878701" cy="297637"/>
          </a:xfrm>
          <a:prstGeom prst="rect">
            <a:avLst/>
          </a:prstGeom>
          <a:solidFill>
            <a:srgbClr val="46292D"/>
          </a:solidFill>
          <a:ln w="12700">
            <a:solidFill>
              <a:srgbClr val="46292D"/>
            </a:solidFill>
            <a:prstDash val="solid"/>
          </a:ln>
        </p:spPr>
      </p:sp>
      <p:sp>
        <p:nvSpPr>
          <p:cNvPr id="20" name="Text 17"/>
          <p:cNvSpPr/>
          <p:nvPr/>
        </p:nvSpPr>
        <p:spPr>
          <a:xfrm>
            <a:off x="4106533" y="3291611"/>
            <a:ext cx="685800" cy="334213"/>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122</a:t>
            </a:r>
            <a:endParaRPr lang="en-US" sz="900" dirty="0"/>
          </a:p>
        </p:txBody>
      </p:sp>
      <p:sp>
        <p:nvSpPr>
          <p:cNvPr id="21" name="Text 18"/>
          <p:cNvSpPr/>
          <p:nvPr/>
        </p:nvSpPr>
        <p:spPr>
          <a:xfrm>
            <a:off x="777240" y="3771671"/>
            <a:ext cx="2240280" cy="334213"/>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Manchester United (192,5 poin)</a:t>
            </a:r>
            <a:endParaRPr lang="en-US" sz="900" dirty="0"/>
          </a:p>
        </p:txBody>
      </p:sp>
      <p:sp>
        <p:nvSpPr>
          <p:cNvPr id="22" name="Shape 19"/>
          <p:cNvSpPr/>
          <p:nvPr/>
        </p:nvSpPr>
        <p:spPr>
          <a:xfrm>
            <a:off x="3154680" y="3789959"/>
            <a:ext cx="720247" cy="297637"/>
          </a:xfrm>
          <a:prstGeom prst="rect">
            <a:avLst/>
          </a:prstGeom>
          <a:solidFill>
            <a:srgbClr val="C8102E"/>
          </a:solidFill>
          <a:ln w="12700">
            <a:solidFill>
              <a:srgbClr val="C8102E"/>
            </a:solidFill>
            <a:prstDash val="solid"/>
          </a:ln>
        </p:spPr>
      </p:sp>
      <p:sp>
        <p:nvSpPr>
          <p:cNvPr id="23" name="Text 20"/>
          <p:cNvSpPr/>
          <p:nvPr/>
        </p:nvSpPr>
        <p:spPr>
          <a:xfrm>
            <a:off x="3948079" y="3771671"/>
            <a:ext cx="685800" cy="334213"/>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100</a:t>
            </a:r>
            <a:endParaRPr lang="en-US" sz="900" dirty="0"/>
          </a:p>
        </p:txBody>
      </p:sp>
      <p:sp>
        <p:nvSpPr>
          <p:cNvPr id="24" name="Shape 21"/>
          <p:cNvSpPr/>
          <p:nvPr/>
        </p:nvSpPr>
        <p:spPr>
          <a:xfrm>
            <a:off x="3154680" y="2258568"/>
            <a:ext cx="9144" cy="1920240"/>
          </a:xfrm>
          <a:prstGeom prst="rect">
            <a:avLst/>
          </a:prstGeom>
          <a:solidFill>
            <a:srgbClr val="A08F8B"/>
          </a:solidFill>
          <a:ln w="12700">
            <a:solidFill>
              <a:srgbClr val="A08F8B"/>
            </a:solidFill>
            <a:prstDash val="solid"/>
          </a:ln>
        </p:spPr>
      </p:sp>
      <p:sp>
        <p:nvSpPr>
          <p:cNvPr id="25" name="Text 22"/>
          <p:cNvSpPr/>
          <p:nvPr/>
        </p:nvSpPr>
        <p:spPr>
          <a:xfrm>
            <a:off x="777240" y="4315968"/>
            <a:ext cx="6309360" cy="640080"/>
          </a:xfrm>
          <a:prstGeom prst="rect">
            <a:avLst/>
          </a:prstGeom>
          <a:noFill/>
          <a:ln/>
        </p:spPr>
        <p:txBody>
          <a:bodyPr wrap="square" lIns="0" tIns="0" rIns="0" bIns="0" rtlCol="0" anchor="t"/>
          <a:lstStyle/>
          <a:p>
            <a:pPr indent="0" marL="0">
              <a:lnSpc>
                <a:spcPct val="104000"/>
              </a:lnSpc>
              <a:buNone/>
            </a:pPr>
            <a:r>
              <a:rPr lang="en-US" sz="850" dirty="0">
                <a:solidFill>
                  <a:srgbClr val="A08F8B"/>
                </a:solidFill>
                <a:latin typeface="Poppins" pitchFamily="34" charset="0"/>
                <a:ea typeface="Poppins" pitchFamily="34" charset="-122"/>
                <a:cs typeface="Poppins" pitchFamily="34" charset="-120"/>
              </a:rPr>
              <a:t>Klub lain di Table 6.7 ada yang belanja lebih sedikit: Arsenal £22 jt, AC Milan justru penjual bersih (−£66 jt). Tapi poinnya 162,0 dan 169,0, di bawah MU.</a:t>
            </a:r>
            <a:endParaRPr lang="en-US" sz="850" dirty="0"/>
          </a:p>
        </p:txBody>
      </p:sp>
      <p:sp>
        <p:nvSpPr>
          <p:cNvPr id="26" name="Shape 23"/>
          <p:cNvSpPr/>
          <p:nvPr/>
        </p:nvSpPr>
        <p:spPr>
          <a:xfrm>
            <a:off x="7543800" y="1755648"/>
            <a:ext cx="4099255" cy="1325880"/>
          </a:xfrm>
          <a:prstGeom prst="rect">
            <a:avLst/>
          </a:prstGeom>
          <a:solidFill>
            <a:srgbClr val="C8102E"/>
          </a:solidFill>
          <a:ln w="12700">
            <a:solidFill>
              <a:srgbClr val="C8102E"/>
            </a:solidFill>
            <a:prstDash val="solid"/>
          </a:ln>
        </p:spPr>
      </p:sp>
      <p:sp>
        <p:nvSpPr>
          <p:cNvPr id="27" name="Text 24"/>
          <p:cNvSpPr/>
          <p:nvPr/>
        </p:nvSpPr>
        <p:spPr>
          <a:xfrm>
            <a:off x="7726680" y="1847088"/>
            <a:ext cx="1828800" cy="548640"/>
          </a:xfrm>
          <a:prstGeom prst="rect">
            <a:avLst/>
          </a:prstGeom>
          <a:noFill/>
          <a:ln/>
        </p:spPr>
        <p:txBody>
          <a:bodyPr wrap="square" lIns="0" tIns="0" rIns="0" bIns="0" rtlCol="0" anchor="t"/>
          <a:lstStyle/>
          <a:p>
            <a:pPr indent="0" marL="0">
              <a:buNone/>
            </a:pPr>
            <a:r>
              <a:rPr lang="en-US" sz="2800" dirty="0">
                <a:solidFill>
                  <a:srgbClr val="FBE122"/>
                </a:solidFill>
                <a:latin typeface="Poppins ExtraBold" pitchFamily="34" charset="0"/>
                <a:ea typeface="Poppins ExtraBold" pitchFamily="34" charset="-122"/>
                <a:cs typeface="Poppins ExtraBold" pitchFamily="34" charset="-120"/>
              </a:rPr>
              <a:t>4,4×</a:t>
            </a:r>
            <a:endParaRPr lang="en-US" sz="2800" dirty="0"/>
          </a:p>
        </p:txBody>
      </p:sp>
      <p:sp>
        <p:nvSpPr>
          <p:cNvPr id="28" name="Text 25"/>
          <p:cNvSpPr/>
          <p:nvPr/>
        </p:nvSpPr>
        <p:spPr>
          <a:xfrm>
            <a:off x="7726680" y="2377440"/>
            <a:ext cx="3733495" cy="685800"/>
          </a:xfrm>
          <a:prstGeom prst="rect">
            <a:avLst/>
          </a:prstGeom>
          <a:noFill/>
          <a:ln/>
        </p:spPr>
        <p:txBody>
          <a:bodyPr wrap="square" lIns="0" tIns="0" rIns="0" bIns="0" rtlCol="0" anchor="t"/>
          <a:lstStyle/>
          <a:p>
            <a:pPr indent="0" marL="0">
              <a:lnSpc>
                <a:spcPct val="105000"/>
              </a:lnSpc>
              <a:buNone/>
            </a:pPr>
            <a:r>
              <a:rPr lang="en-US" sz="900" dirty="0">
                <a:solidFill>
                  <a:srgbClr val="FFFFFF"/>
                </a:solidFill>
                <a:latin typeface="Poppins Medium" pitchFamily="34" charset="0"/>
                <a:ea typeface="Poppins Medium" pitchFamily="34" charset="-122"/>
                <a:cs typeface="Poppins Medium" pitchFamily="34" charset="-120"/>
              </a:rPr>
              <a:t>Real Madrid membelanjakan 4,4 kali lipat belanja bersih MU (£438 jt vs £100 jt), tapi poin performanya lebih rendah: 183,0 vs 192,5.</a:t>
            </a:r>
            <a:endParaRPr lang="en-US" sz="900" dirty="0"/>
          </a:p>
        </p:txBody>
      </p:sp>
      <p:sp>
        <p:nvSpPr>
          <p:cNvPr id="29" name="Shape 26"/>
          <p:cNvSpPr/>
          <p:nvPr/>
        </p:nvSpPr>
        <p:spPr>
          <a:xfrm>
            <a:off x="7543800" y="3218688"/>
            <a:ext cx="4099255" cy="548640"/>
          </a:xfrm>
          <a:prstGeom prst="rect">
            <a:avLst/>
          </a:prstGeom>
          <a:solidFill>
            <a:srgbClr val="27161A"/>
          </a:solidFill>
          <a:ln w="12700">
            <a:solidFill>
              <a:srgbClr val="27161A"/>
            </a:solidFill>
            <a:prstDash val="solid"/>
          </a:ln>
        </p:spPr>
      </p:sp>
      <p:sp>
        <p:nvSpPr>
          <p:cNvPr id="30" name="Text 27"/>
          <p:cNvSpPr/>
          <p:nvPr/>
        </p:nvSpPr>
        <p:spPr>
          <a:xfrm>
            <a:off x="7726680" y="3264408"/>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Chelsea</a:t>
            </a:r>
            <a:endParaRPr lang="en-US" sz="950" dirty="0"/>
          </a:p>
        </p:txBody>
      </p:sp>
      <p:sp>
        <p:nvSpPr>
          <p:cNvPr id="31" name="Text 28"/>
          <p:cNvSpPr/>
          <p:nvPr/>
        </p:nvSpPr>
        <p:spPr>
          <a:xfrm>
            <a:off x="9098280" y="3264408"/>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£430 jt belanja bersih, hanya 144,5 poin.</a:t>
            </a:r>
            <a:endParaRPr lang="en-US" sz="850" dirty="0"/>
          </a:p>
        </p:txBody>
      </p:sp>
      <p:sp>
        <p:nvSpPr>
          <p:cNvPr id="32" name="Shape 29"/>
          <p:cNvSpPr/>
          <p:nvPr/>
        </p:nvSpPr>
        <p:spPr>
          <a:xfrm>
            <a:off x="7543800" y="3831336"/>
            <a:ext cx="4099255" cy="548640"/>
          </a:xfrm>
          <a:prstGeom prst="rect">
            <a:avLst/>
          </a:prstGeom>
          <a:solidFill>
            <a:srgbClr val="32191E"/>
          </a:solidFill>
          <a:ln w="12700">
            <a:solidFill>
              <a:srgbClr val="32191E"/>
            </a:solidFill>
            <a:prstDash val="solid"/>
          </a:ln>
        </p:spPr>
      </p:sp>
      <p:sp>
        <p:nvSpPr>
          <p:cNvPr id="33" name="Text 30"/>
          <p:cNvSpPr/>
          <p:nvPr/>
        </p:nvSpPr>
        <p:spPr>
          <a:xfrm>
            <a:off x="7726680" y="3877056"/>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Barcelona</a:t>
            </a:r>
            <a:endParaRPr lang="en-US" sz="950" dirty="0"/>
          </a:p>
        </p:txBody>
      </p:sp>
      <p:sp>
        <p:nvSpPr>
          <p:cNvPr id="34" name="Text 31"/>
          <p:cNvSpPr/>
          <p:nvPr/>
        </p:nvSpPr>
        <p:spPr>
          <a:xfrm>
            <a:off x="9098280" y="3877056"/>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Satu-satunya yang mengungguli MU, dengan belanja 2,5× lipat.</a:t>
            </a:r>
            <a:endParaRPr lang="en-US" sz="850" dirty="0"/>
          </a:p>
        </p:txBody>
      </p:sp>
      <p:sp>
        <p:nvSpPr>
          <p:cNvPr id="35" name="Shape 32"/>
          <p:cNvSpPr/>
          <p:nvPr/>
        </p:nvSpPr>
        <p:spPr>
          <a:xfrm>
            <a:off x="7543800" y="4443984"/>
            <a:ext cx="4099255" cy="548640"/>
          </a:xfrm>
          <a:prstGeom prst="rect">
            <a:avLst/>
          </a:prstGeom>
          <a:solidFill>
            <a:srgbClr val="27161A"/>
          </a:solidFill>
          <a:ln w="12700">
            <a:solidFill>
              <a:srgbClr val="27161A"/>
            </a:solidFill>
            <a:prstDash val="solid"/>
          </a:ln>
        </p:spPr>
      </p:sp>
      <p:sp>
        <p:nvSpPr>
          <p:cNvPr id="36" name="Text 33"/>
          <p:cNvSpPr/>
          <p:nvPr/>
        </p:nvSpPr>
        <p:spPr>
          <a:xfrm>
            <a:off x="7726680" y="4489704"/>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Kata kasus sendiri</a:t>
            </a:r>
            <a:endParaRPr lang="en-US" sz="950" dirty="0"/>
          </a:p>
        </p:txBody>
      </p:sp>
      <p:sp>
        <p:nvSpPr>
          <p:cNvPr id="37" name="Text 34"/>
          <p:cNvSpPr/>
          <p:nvPr/>
        </p:nvSpPr>
        <p:spPr>
          <a:xfrm>
            <a:off x="9098280" y="4489704"/>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Belanja bersih MU "relatif sederhana" (hlm. 586).</a:t>
            </a:r>
            <a:endParaRPr lang="en-US" sz="850" dirty="0"/>
          </a:p>
        </p:txBody>
      </p:sp>
      <p:sp>
        <p:nvSpPr>
          <p:cNvPr id="38" name="Shape 35"/>
          <p:cNvSpPr/>
          <p:nvPr/>
        </p:nvSpPr>
        <p:spPr>
          <a:xfrm>
            <a:off x="548640" y="5184648"/>
            <a:ext cx="11094415" cy="731520"/>
          </a:xfrm>
          <a:prstGeom prst="rect">
            <a:avLst/>
          </a:prstGeom>
          <a:solidFill>
            <a:srgbClr val="C8102E"/>
          </a:solidFill>
          <a:ln w="12700">
            <a:solidFill>
              <a:srgbClr val="C8102E"/>
            </a:solidFill>
            <a:prstDash val="solid"/>
          </a:ln>
        </p:spPr>
      </p:sp>
      <p:sp>
        <p:nvSpPr>
          <p:cNvPr id="39" name="Text 36"/>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JAWABAN Q1</a:t>
            </a:r>
            <a:endParaRPr lang="en-US" sz="800" dirty="0"/>
          </a:p>
        </p:txBody>
      </p:sp>
      <p:sp>
        <p:nvSpPr>
          <p:cNvPr id="40" name="Text 37"/>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Strategi MU bekerja sangat baik. Kedua indikator Thompson terpenuhi sekaligus, di industri yang mayoritas pelakunya merugi. Yang harus dijelaskan pertanyaan berikutnya: kenapa bisa begitu.</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MANCHESTER UNITED, JULI 2009</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Semua temuan Q1 dirangkum, lalu ditarik kesimpulan sesuai langkah 2 dan 3 Figure 4.2, bukan berhenti di daftar.</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24</a:t>
            </a:r>
            <a:endParaRPr lang="en-US" sz="900" dirty="0"/>
          </a:p>
        </p:txBody>
      </p:sp>
      <p:sp>
        <p:nvSpPr>
          <p:cNvPr id="10" name="Shape 7"/>
          <p:cNvSpPr/>
          <p:nvPr/>
        </p:nvSpPr>
        <p:spPr>
          <a:xfrm>
            <a:off x="548640" y="1755648"/>
            <a:ext cx="5432908" cy="1572768"/>
          </a:xfrm>
          <a:prstGeom prst="rect">
            <a:avLst/>
          </a:prstGeom>
          <a:solidFill>
            <a:srgbClr val="C8102E"/>
          </a:solidFill>
          <a:ln w="12700">
            <a:solidFill>
              <a:srgbClr val="C8102E"/>
            </a:solidFill>
            <a:prstDash val="solid"/>
          </a:ln>
        </p:spPr>
      </p:sp>
      <p:sp>
        <p:nvSpPr>
          <p:cNvPr id="11" name="Text 8"/>
          <p:cNvSpPr/>
          <p:nvPr/>
        </p:nvSpPr>
        <p:spPr>
          <a:xfrm>
            <a:off x="731520" y="1828800"/>
            <a:ext cx="82296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S</a:t>
            </a:r>
            <a:endParaRPr lang="en-US" sz="3600" dirty="0"/>
          </a:p>
        </p:txBody>
      </p:sp>
      <p:sp>
        <p:nvSpPr>
          <p:cNvPr id="12" name="Text 9"/>
          <p:cNvSpPr/>
          <p:nvPr/>
        </p:nvSpPr>
        <p:spPr>
          <a:xfrm>
            <a:off x="1508760" y="1883664"/>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Strengths</a:t>
            </a:r>
            <a:endParaRPr lang="en-US" sz="1200" dirty="0"/>
          </a:p>
        </p:txBody>
      </p:sp>
      <p:sp>
        <p:nvSpPr>
          <p:cNvPr id="13" name="Text 10"/>
          <p:cNvSpPr/>
          <p:nvPr/>
        </p:nvSpPr>
        <p:spPr>
          <a:xfrm>
            <a:off x="1508760" y="2167128"/>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Merek global dengan 80 juta pendukung di Asia</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Laba tertinggi di antara klub besar: EBITDA €101,9 jt, RoS 12,6%</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Akademi dan jaringan pemandu bakat yang matang</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Disiplin transfer: belanja bersih hanya £100 jt</a:t>
            </a:r>
            <a:endParaRPr lang="en-US" sz="1000" dirty="0"/>
          </a:p>
        </p:txBody>
      </p:sp>
      <p:sp>
        <p:nvSpPr>
          <p:cNvPr id="14" name="Shape 11"/>
          <p:cNvSpPr/>
          <p:nvPr/>
        </p:nvSpPr>
        <p:spPr>
          <a:xfrm>
            <a:off x="6210148" y="1755648"/>
            <a:ext cx="5432908" cy="1572768"/>
          </a:xfrm>
          <a:prstGeom prst="rect">
            <a:avLst/>
          </a:prstGeom>
          <a:solidFill>
            <a:srgbClr val="27161A"/>
          </a:solidFill>
          <a:ln w="12700">
            <a:solidFill>
              <a:srgbClr val="27161A"/>
            </a:solidFill>
            <a:prstDash val="solid"/>
          </a:ln>
        </p:spPr>
      </p:sp>
      <p:sp>
        <p:nvSpPr>
          <p:cNvPr id="15" name="Text 12"/>
          <p:cNvSpPr/>
          <p:nvPr/>
        </p:nvSpPr>
        <p:spPr>
          <a:xfrm>
            <a:off x="6393028" y="1828800"/>
            <a:ext cx="822960" cy="731520"/>
          </a:xfrm>
          <a:prstGeom prst="rect">
            <a:avLst/>
          </a:prstGeom>
          <a:noFill/>
          <a:ln/>
        </p:spPr>
        <p:txBody>
          <a:bodyPr wrap="square" lIns="0" tIns="0" rIns="0" bIns="0" rtlCol="0" anchor="t"/>
          <a:lstStyle/>
          <a:p>
            <a:pPr indent="0" marL="0">
              <a:buNone/>
            </a:pPr>
            <a:r>
              <a:rPr lang="en-US" sz="3600" dirty="0">
                <a:solidFill>
                  <a:srgbClr val="C8102E"/>
                </a:solidFill>
                <a:latin typeface="Poppins ExtraBold" pitchFamily="34" charset="0"/>
                <a:ea typeface="Poppins ExtraBold" pitchFamily="34" charset="-122"/>
                <a:cs typeface="Poppins ExtraBold" pitchFamily="34" charset="-120"/>
              </a:rPr>
              <a:t>W</a:t>
            </a:r>
            <a:endParaRPr lang="en-US" sz="3600" dirty="0"/>
          </a:p>
        </p:txBody>
      </p:sp>
      <p:sp>
        <p:nvSpPr>
          <p:cNvPr id="16" name="Text 13"/>
          <p:cNvSpPr/>
          <p:nvPr/>
        </p:nvSpPr>
        <p:spPr>
          <a:xfrm>
            <a:off x="7170268" y="1883664"/>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Weaknesses</a:t>
            </a:r>
            <a:endParaRPr lang="en-US" sz="1200" dirty="0"/>
          </a:p>
        </p:txBody>
      </p:sp>
      <p:sp>
        <p:nvSpPr>
          <p:cNvPr id="17" name="Text 14"/>
          <p:cNvSpPr/>
          <p:nvPr/>
        </p:nvSpPr>
        <p:spPr>
          <a:xfrm>
            <a:off x="7170268" y="2167128"/>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Bergantung pada satu orang yang akhir 2009 berusia 68 tahun</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Belum ada keputusan suksesi; Ferguson belum menyatakan niat pensiun</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Ronaldo, satu-satunya pemain MU di peringkat FIFA, baru dijual</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Utang £616 jt; akuisisi Glazer 2005 dibiayai utang</a:t>
            </a:r>
            <a:endParaRPr lang="en-US" sz="1000" dirty="0"/>
          </a:p>
        </p:txBody>
      </p:sp>
      <p:sp>
        <p:nvSpPr>
          <p:cNvPr id="18" name="Shape 15"/>
          <p:cNvSpPr/>
          <p:nvPr/>
        </p:nvSpPr>
        <p:spPr>
          <a:xfrm>
            <a:off x="548640" y="3511296"/>
            <a:ext cx="5432908" cy="1572768"/>
          </a:xfrm>
          <a:prstGeom prst="rect">
            <a:avLst/>
          </a:prstGeom>
          <a:solidFill>
            <a:srgbClr val="27161A"/>
          </a:solidFill>
          <a:ln w="12700">
            <a:solidFill>
              <a:srgbClr val="27161A"/>
            </a:solidFill>
            <a:prstDash val="solid"/>
          </a:ln>
        </p:spPr>
      </p:sp>
      <p:sp>
        <p:nvSpPr>
          <p:cNvPr id="19" name="Text 16"/>
          <p:cNvSpPr/>
          <p:nvPr/>
        </p:nvSpPr>
        <p:spPr>
          <a:xfrm>
            <a:off x="731520" y="3584448"/>
            <a:ext cx="822960" cy="731520"/>
          </a:xfrm>
          <a:prstGeom prst="rect">
            <a:avLst/>
          </a:prstGeom>
          <a:noFill/>
          <a:ln/>
        </p:spPr>
        <p:txBody>
          <a:bodyPr wrap="square" lIns="0" tIns="0" rIns="0" bIns="0" rtlCol="0" anchor="t"/>
          <a:lstStyle/>
          <a:p>
            <a:pPr indent="0" marL="0">
              <a:buNone/>
            </a:pPr>
            <a:r>
              <a:rPr lang="en-US" sz="3600" dirty="0">
                <a:solidFill>
                  <a:srgbClr val="C8102E"/>
                </a:solidFill>
                <a:latin typeface="Poppins ExtraBold" pitchFamily="34" charset="0"/>
                <a:ea typeface="Poppins ExtraBold" pitchFamily="34" charset="-122"/>
                <a:cs typeface="Poppins ExtraBold" pitchFamily="34" charset="-120"/>
              </a:rPr>
              <a:t>O</a:t>
            </a:r>
            <a:endParaRPr lang="en-US" sz="3600" dirty="0"/>
          </a:p>
        </p:txBody>
      </p:sp>
      <p:sp>
        <p:nvSpPr>
          <p:cNvPr id="20" name="Text 17"/>
          <p:cNvSpPr/>
          <p:nvPr/>
        </p:nvSpPr>
        <p:spPr>
          <a:xfrm>
            <a:off x="1508760" y="3639312"/>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Opportunities</a:t>
            </a:r>
            <a:endParaRPr lang="en-US" sz="1200" dirty="0"/>
          </a:p>
        </p:txBody>
      </p:sp>
      <p:sp>
        <p:nvSpPr>
          <p:cNvPr id="21" name="Text 18"/>
          <p:cNvSpPr/>
          <p:nvPr/>
        </p:nvSpPr>
        <p:spPr>
          <a:xfrm>
            <a:off x="1508760" y="3922776"/>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Pasar Asia: India dan Cina disebut Aon sebagai target utama</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Sponsor khusus per negara masih bisa diperbanyak</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Pendapatan siaran Premier League naik 43% dalam setahun</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Kanal digital: MUTV, MU Mobile, toko online</a:t>
            </a:r>
            <a:endParaRPr lang="en-US" sz="1000" dirty="0"/>
          </a:p>
        </p:txBody>
      </p:sp>
      <p:sp>
        <p:nvSpPr>
          <p:cNvPr id="22" name="Shape 19"/>
          <p:cNvSpPr/>
          <p:nvPr/>
        </p:nvSpPr>
        <p:spPr>
          <a:xfrm>
            <a:off x="6210148" y="3511296"/>
            <a:ext cx="5432908" cy="1572768"/>
          </a:xfrm>
          <a:prstGeom prst="rect">
            <a:avLst/>
          </a:prstGeom>
          <a:solidFill>
            <a:srgbClr val="C8102E"/>
          </a:solidFill>
          <a:ln w="12700">
            <a:solidFill>
              <a:srgbClr val="C8102E"/>
            </a:solidFill>
            <a:prstDash val="solid"/>
          </a:ln>
        </p:spPr>
      </p:sp>
      <p:sp>
        <p:nvSpPr>
          <p:cNvPr id="23" name="Text 20"/>
          <p:cNvSpPr/>
          <p:nvPr/>
        </p:nvSpPr>
        <p:spPr>
          <a:xfrm>
            <a:off x="6393028" y="3584448"/>
            <a:ext cx="82296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T</a:t>
            </a:r>
            <a:endParaRPr lang="en-US" sz="3600" dirty="0"/>
          </a:p>
        </p:txBody>
      </p:sp>
      <p:sp>
        <p:nvSpPr>
          <p:cNvPr id="24" name="Text 21"/>
          <p:cNvSpPr/>
          <p:nvPr/>
        </p:nvSpPr>
        <p:spPr>
          <a:xfrm>
            <a:off x="7170268" y="3639312"/>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Threats</a:t>
            </a:r>
            <a:endParaRPr lang="en-US" sz="1200" dirty="0"/>
          </a:p>
        </p:txBody>
      </p:sp>
      <p:sp>
        <p:nvSpPr>
          <p:cNvPr id="25" name="Text 22"/>
          <p:cNvSpPr/>
          <p:nvPr/>
        </p:nvSpPr>
        <p:spPr>
          <a:xfrm>
            <a:off x="7170268" y="3922776"/>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Harga pemain meledak, didorong Manchester City (£185 jt)</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Pesaing berpemilik sangat kaya: Abramovich, Sheikh Mansour</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MU tak dapat suntikan dana pemilik seperti Chelsea dan City</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Barcelona unggul poin performa (200,0 vs 192,5)</a:t>
            </a:r>
            <a:endParaRPr lang="en-US" sz="1000" dirty="0"/>
          </a:p>
        </p:txBody>
      </p:sp>
      <p:sp>
        <p:nvSpPr>
          <p:cNvPr id="26" name="Shape 23"/>
          <p:cNvSpPr/>
          <p:nvPr/>
        </p:nvSpPr>
        <p:spPr>
          <a:xfrm>
            <a:off x="548640" y="5266944"/>
            <a:ext cx="11094415" cy="777240"/>
          </a:xfrm>
          <a:prstGeom prst="rect">
            <a:avLst/>
          </a:prstGeom>
          <a:solidFill>
            <a:srgbClr val="32191E"/>
          </a:solidFill>
          <a:ln w="12700">
            <a:solidFill>
              <a:srgbClr val="32191E"/>
            </a:solidFill>
            <a:prstDash val="solid"/>
          </a:ln>
        </p:spPr>
      </p:sp>
      <p:sp>
        <p:nvSpPr>
          <p:cNvPr id="27" name="Text 24"/>
          <p:cNvSpPr/>
          <p:nvPr/>
        </p:nvSpPr>
        <p:spPr>
          <a:xfrm>
            <a:off x="777240" y="5394960"/>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KESIMPULAN  ·  LANGKAH 2</a:t>
            </a:r>
            <a:endParaRPr lang="en-US" sz="800" dirty="0"/>
          </a:p>
        </p:txBody>
      </p:sp>
      <p:sp>
        <p:nvSpPr>
          <p:cNvPr id="28" name="Text 25"/>
          <p:cNvSpPr/>
          <p:nvPr/>
        </p:nvSpPr>
        <p:spPr>
          <a:xfrm>
            <a:off x="777240" y="5632704"/>
            <a:ext cx="10637215"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Kekuatan MU cukup untuk menangkap peluang komersial di Asia. Tapi kelemahan terbesarnya, ketergantungan pada Ferguson, menyerang sisi lapangan, padahal bagi Gill sisi lapangan adalah syarat mengalirnya pendapatan komersial.</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INVENTARISASI RESOURCE MANCHESTER UNITED</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Langkah pertama Q3: mendaftar aset bersaing klub memakai delapan kategori Table 4.3, semuanya berdasarkan bukti dari kasus.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25</a:t>
            </a:r>
            <a:endParaRPr lang="en-US" sz="900" dirty="0"/>
          </a:p>
        </p:txBody>
      </p:sp>
      <p:sp>
        <p:nvSpPr>
          <p:cNvPr id="10" name="Shape 7"/>
          <p:cNvSpPr/>
          <p:nvPr/>
        </p:nvSpPr>
        <p:spPr>
          <a:xfrm>
            <a:off x="548640" y="1755648"/>
            <a:ext cx="5432908" cy="384048"/>
          </a:xfrm>
          <a:prstGeom prst="rect">
            <a:avLst/>
          </a:prstGeom>
          <a:solidFill>
            <a:srgbClr val="C8102E"/>
          </a:solidFill>
          <a:ln w="12700">
            <a:solidFill>
              <a:srgbClr val="C8102E"/>
            </a:solidFill>
            <a:prstDash val="solid"/>
          </a:ln>
        </p:spPr>
      </p:sp>
      <p:sp>
        <p:nvSpPr>
          <p:cNvPr id="11" name="Text 8"/>
          <p:cNvSpPr/>
          <p:nvPr/>
        </p:nvSpPr>
        <p:spPr>
          <a:xfrm>
            <a:off x="768096" y="1755648"/>
            <a:ext cx="5432908" cy="384048"/>
          </a:xfrm>
          <a:prstGeom prst="rect">
            <a:avLst/>
          </a:prstGeom>
          <a:noFill/>
          <a:ln/>
        </p:spPr>
        <p:txBody>
          <a:bodyPr wrap="square" lIns="0" tIns="0" rIns="0" bIns="0" rtlCol="0" anchor="ctr"/>
          <a:lstStyle/>
          <a:p>
            <a:pPr indent="0" marL="0">
              <a:buNone/>
            </a:pPr>
            <a:r>
              <a:rPr lang="en-US" sz="1200" spc="200" kern="0" dirty="0">
                <a:solidFill>
                  <a:srgbClr val="FFFFFF"/>
                </a:solidFill>
                <a:latin typeface="Poppins ExtraBold" pitchFamily="34" charset="0"/>
                <a:ea typeface="Poppins ExtraBold" pitchFamily="34" charset="-122"/>
                <a:cs typeface="Poppins ExtraBold" pitchFamily="34" charset="-120"/>
              </a:rPr>
              <a:t>TANGIBLE</a:t>
            </a:r>
            <a:endParaRPr lang="en-US" sz="1200" dirty="0"/>
          </a:p>
        </p:txBody>
      </p:sp>
      <p:sp>
        <p:nvSpPr>
          <p:cNvPr id="12" name="Shape 9"/>
          <p:cNvSpPr/>
          <p:nvPr/>
        </p:nvSpPr>
        <p:spPr>
          <a:xfrm>
            <a:off x="548640" y="2139696"/>
            <a:ext cx="5432908" cy="694944"/>
          </a:xfrm>
          <a:prstGeom prst="rect">
            <a:avLst/>
          </a:prstGeom>
          <a:solidFill>
            <a:srgbClr val="27161A"/>
          </a:solidFill>
          <a:ln w="12700">
            <a:solidFill>
              <a:srgbClr val="27161A"/>
            </a:solidFill>
            <a:prstDash val="solid"/>
          </a:ln>
        </p:spPr>
      </p:sp>
      <p:sp>
        <p:nvSpPr>
          <p:cNvPr id="13" name="Text 10"/>
          <p:cNvSpPr/>
          <p:nvPr/>
        </p:nvSpPr>
        <p:spPr>
          <a:xfrm>
            <a:off x="768096" y="2212848"/>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Finansial</a:t>
            </a:r>
            <a:endParaRPr lang="en-US" sz="1000" dirty="0"/>
          </a:p>
        </p:txBody>
      </p:sp>
      <p:sp>
        <p:nvSpPr>
          <p:cNvPr id="14" name="Text 11"/>
          <p:cNvSpPr/>
          <p:nvPr/>
        </p:nvSpPr>
        <p:spPr>
          <a:xfrm>
            <a:off x="2331720" y="2194560"/>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EBITDA €101,9 jt, tertinggi di Table 6.5; laba bersih 2008 £46,8 jt; ekuitas £294 jt.</a:t>
            </a:r>
            <a:endParaRPr lang="en-US" sz="850" dirty="0"/>
          </a:p>
        </p:txBody>
      </p:sp>
      <p:sp>
        <p:nvSpPr>
          <p:cNvPr id="15" name="Shape 12"/>
          <p:cNvSpPr/>
          <p:nvPr/>
        </p:nvSpPr>
        <p:spPr>
          <a:xfrm>
            <a:off x="548640" y="2852928"/>
            <a:ext cx="5432908" cy="694944"/>
          </a:xfrm>
          <a:prstGeom prst="rect">
            <a:avLst/>
          </a:prstGeom>
          <a:solidFill>
            <a:srgbClr val="32191E"/>
          </a:solidFill>
          <a:ln w="12700">
            <a:solidFill>
              <a:srgbClr val="32191E"/>
            </a:solidFill>
            <a:prstDash val="solid"/>
          </a:ln>
        </p:spPr>
      </p:sp>
      <p:sp>
        <p:nvSpPr>
          <p:cNvPr id="16" name="Text 13"/>
          <p:cNvSpPr/>
          <p:nvPr/>
        </p:nvSpPr>
        <p:spPr>
          <a:xfrm>
            <a:off x="768096" y="2926080"/>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Fisik</a:t>
            </a:r>
            <a:endParaRPr lang="en-US" sz="1000" dirty="0"/>
          </a:p>
        </p:txBody>
      </p:sp>
      <p:sp>
        <p:nvSpPr>
          <p:cNvPr id="17" name="Text 14"/>
          <p:cNvSpPr/>
          <p:nvPr/>
        </p:nvSpPr>
        <p:spPr>
          <a:xfrm>
            <a:off x="2331720" y="2907792"/>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Old Trafford, diperluas 2006 dengan tambahan 7.500 kursi; museum, tur stadion, suite dan ballroom.</a:t>
            </a:r>
            <a:endParaRPr lang="en-US" sz="850" dirty="0"/>
          </a:p>
        </p:txBody>
      </p:sp>
      <p:sp>
        <p:nvSpPr>
          <p:cNvPr id="18" name="Shape 15"/>
          <p:cNvSpPr/>
          <p:nvPr/>
        </p:nvSpPr>
        <p:spPr>
          <a:xfrm>
            <a:off x="548640" y="3566160"/>
            <a:ext cx="5432908" cy="694944"/>
          </a:xfrm>
          <a:prstGeom prst="rect">
            <a:avLst/>
          </a:prstGeom>
          <a:solidFill>
            <a:srgbClr val="27161A"/>
          </a:solidFill>
          <a:ln w="12700">
            <a:solidFill>
              <a:srgbClr val="27161A"/>
            </a:solidFill>
            <a:prstDash val="solid"/>
          </a:ln>
        </p:spPr>
      </p:sp>
      <p:sp>
        <p:nvSpPr>
          <p:cNvPr id="19" name="Text 16"/>
          <p:cNvSpPr/>
          <p:nvPr/>
        </p:nvSpPr>
        <p:spPr>
          <a:xfrm>
            <a:off x="768096" y="3639312"/>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Teknologi</a:t>
            </a:r>
            <a:endParaRPr lang="en-US" sz="1000" dirty="0"/>
          </a:p>
        </p:txBody>
      </p:sp>
      <p:sp>
        <p:nvSpPr>
          <p:cNvPr id="20" name="Text 17"/>
          <p:cNvSpPr/>
          <p:nvPr/>
        </p:nvSpPr>
        <p:spPr>
          <a:xfrm>
            <a:off x="2331720" y="3621024"/>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MUTV (siaran web), MU Mobile (SMS dan video), toko online store.manutd.com.</a:t>
            </a:r>
            <a:endParaRPr lang="en-US" sz="850" dirty="0"/>
          </a:p>
        </p:txBody>
      </p:sp>
      <p:sp>
        <p:nvSpPr>
          <p:cNvPr id="21" name="Shape 18"/>
          <p:cNvSpPr/>
          <p:nvPr/>
        </p:nvSpPr>
        <p:spPr>
          <a:xfrm>
            <a:off x="548640" y="4279392"/>
            <a:ext cx="5432908" cy="694944"/>
          </a:xfrm>
          <a:prstGeom prst="rect">
            <a:avLst/>
          </a:prstGeom>
          <a:solidFill>
            <a:srgbClr val="32191E"/>
          </a:solidFill>
          <a:ln w="12700">
            <a:solidFill>
              <a:srgbClr val="32191E"/>
            </a:solidFill>
            <a:prstDash val="solid"/>
          </a:ln>
        </p:spPr>
      </p:sp>
      <p:sp>
        <p:nvSpPr>
          <p:cNvPr id="22" name="Text 19"/>
          <p:cNvSpPr/>
          <p:nvPr/>
        </p:nvSpPr>
        <p:spPr>
          <a:xfrm>
            <a:off x="768096" y="4352544"/>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Organisasional</a:t>
            </a:r>
            <a:endParaRPr lang="en-US" sz="1000" dirty="0"/>
          </a:p>
        </p:txBody>
      </p:sp>
      <p:sp>
        <p:nvSpPr>
          <p:cNvPr id="23" name="Text 20"/>
          <p:cNvSpPr/>
          <p:nvPr/>
        </p:nvSpPr>
        <p:spPr>
          <a:xfrm>
            <a:off x="2331720" y="4334256"/>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Urusan tim (Ferguson) terpisah dari komersial (Gill; direktur komersial Richard Arnold); MU International.</a:t>
            </a:r>
            <a:endParaRPr lang="en-US" sz="850" dirty="0"/>
          </a:p>
        </p:txBody>
      </p:sp>
      <p:sp>
        <p:nvSpPr>
          <p:cNvPr id="24" name="Shape 21"/>
          <p:cNvSpPr/>
          <p:nvPr/>
        </p:nvSpPr>
        <p:spPr>
          <a:xfrm>
            <a:off x="6210148" y="1755648"/>
            <a:ext cx="5432908" cy="384048"/>
          </a:xfrm>
          <a:prstGeom prst="rect">
            <a:avLst/>
          </a:prstGeom>
          <a:solidFill>
            <a:srgbClr val="FBE122"/>
          </a:solidFill>
          <a:ln w="12700">
            <a:solidFill>
              <a:srgbClr val="FBE122"/>
            </a:solidFill>
            <a:prstDash val="solid"/>
          </a:ln>
        </p:spPr>
      </p:sp>
      <p:sp>
        <p:nvSpPr>
          <p:cNvPr id="25" name="Text 22"/>
          <p:cNvSpPr/>
          <p:nvPr/>
        </p:nvSpPr>
        <p:spPr>
          <a:xfrm>
            <a:off x="6429604" y="1755648"/>
            <a:ext cx="5432908" cy="384048"/>
          </a:xfrm>
          <a:prstGeom prst="rect">
            <a:avLst/>
          </a:prstGeom>
          <a:noFill/>
          <a:ln/>
        </p:spPr>
        <p:txBody>
          <a:bodyPr wrap="square" lIns="0" tIns="0" rIns="0" bIns="0" rtlCol="0" anchor="ctr"/>
          <a:lstStyle/>
          <a:p>
            <a:pPr indent="0" marL="0">
              <a:buNone/>
            </a:pPr>
            <a:r>
              <a:rPr lang="en-US" sz="1200" spc="200" kern="0" dirty="0">
                <a:solidFill>
                  <a:srgbClr val="1B0F10"/>
                </a:solidFill>
                <a:latin typeface="Poppins ExtraBold" pitchFamily="34" charset="0"/>
                <a:ea typeface="Poppins ExtraBold" pitchFamily="34" charset="-122"/>
                <a:cs typeface="Poppins ExtraBold" pitchFamily="34" charset="-120"/>
              </a:rPr>
              <a:t>INTANGIBLE</a:t>
            </a:r>
            <a:endParaRPr lang="en-US" sz="1200" dirty="0"/>
          </a:p>
        </p:txBody>
      </p:sp>
      <p:sp>
        <p:nvSpPr>
          <p:cNvPr id="26" name="Shape 23"/>
          <p:cNvSpPr/>
          <p:nvPr/>
        </p:nvSpPr>
        <p:spPr>
          <a:xfrm>
            <a:off x="6210148" y="2139696"/>
            <a:ext cx="5432908" cy="694944"/>
          </a:xfrm>
          <a:prstGeom prst="rect">
            <a:avLst/>
          </a:prstGeom>
          <a:solidFill>
            <a:srgbClr val="27161A"/>
          </a:solidFill>
          <a:ln w="12700">
            <a:solidFill>
              <a:srgbClr val="27161A"/>
            </a:solidFill>
            <a:prstDash val="solid"/>
          </a:ln>
        </p:spPr>
      </p:sp>
      <p:sp>
        <p:nvSpPr>
          <p:cNvPr id="27" name="Text 24"/>
          <p:cNvSpPr/>
          <p:nvPr/>
        </p:nvSpPr>
        <p:spPr>
          <a:xfrm>
            <a:off x="6429604" y="2212848"/>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Human assets</a:t>
            </a:r>
            <a:endParaRPr lang="en-US" sz="1000" dirty="0"/>
          </a:p>
        </p:txBody>
      </p:sp>
      <p:sp>
        <p:nvSpPr>
          <p:cNvPr id="28" name="Text 25"/>
          <p:cNvSpPr/>
          <p:nvPr/>
        </p:nvSpPr>
        <p:spPr>
          <a:xfrm>
            <a:off x="7993228" y="2194560"/>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Ferguson sejak 1986; skuad 34 pemain; lebih dari 20 pemandu bakat. Ronaldo, peringkat 1 FIFA, dijual 2009.</a:t>
            </a:r>
            <a:endParaRPr lang="en-US" sz="850" dirty="0"/>
          </a:p>
        </p:txBody>
      </p:sp>
      <p:sp>
        <p:nvSpPr>
          <p:cNvPr id="29" name="Shape 26"/>
          <p:cNvSpPr/>
          <p:nvPr/>
        </p:nvSpPr>
        <p:spPr>
          <a:xfrm>
            <a:off x="6210148" y="2852928"/>
            <a:ext cx="5432908" cy="694944"/>
          </a:xfrm>
          <a:prstGeom prst="rect">
            <a:avLst/>
          </a:prstGeom>
          <a:solidFill>
            <a:srgbClr val="32191E"/>
          </a:solidFill>
          <a:ln w="12700">
            <a:solidFill>
              <a:srgbClr val="32191E"/>
            </a:solidFill>
            <a:prstDash val="solid"/>
          </a:ln>
        </p:spPr>
      </p:sp>
      <p:sp>
        <p:nvSpPr>
          <p:cNvPr id="30" name="Text 27"/>
          <p:cNvSpPr/>
          <p:nvPr/>
        </p:nvSpPr>
        <p:spPr>
          <a:xfrm>
            <a:off x="6429604" y="2926080"/>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reputasi</a:t>
            </a:r>
            <a:endParaRPr lang="en-US" sz="1000" dirty="0"/>
          </a:p>
        </p:txBody>
      </p:sp>
      <p:sp>
        <p:nvSpPr>
          <p:cNvPr id="31" name="Text 28"/>
          <p:cNvSpPr/>
          <p:nvPr/>
        </p:nvSpPr>
        <p:spPr>
          <a:xfrm>
            <a:off x="7993228" y="2907792"/>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80 juta pendukung di Asia; sub-merek Fred the Red, MUFC, Red Devil. Menurut Aon, tak tertandingi di dunia olahraga.</a:t>
            </a:r>
            <a:endParaRPr lang="en-US" sz="850" dirty="0"/>
          </a:p>
        </p:txBody>
      </p:sp>
      <p:sp>
        <p:nvSpPr>
          <p:cNvPr id="32" name="Shape 29"/>
          <p:cNvSpPr/>
          <p:nvPr/>
        </p:nvSpPr>
        <p:spPr>
          <a:xfrm>
            <a:off x="6210148" y="3566160"/>
            <a:ext cx="5432908" cy="694944"/>
          </a:xfrm>
          <a:prstGeom prst="rect">
            <a:avLst/>
          </a:prstGeom>
          <a:solidFill>
            <a:srgbClr val="27161A"/>
          </a:solidFill>
          <a:ln w="12700">
            <a:solidFill>
              <a:srgbClr val="27161A"/>
            </a:solidFill>
            <a:prstDash val="solid"/>
          </a:ln>
        </p:spPr>
      </p:sp>
      <p:sp>
        <p:nvSpPr>
          <p:cNvPr id="33" name="Text 30"/>
          <p:cNvSpPr/>
          <p:nvPr/>
        </p:nvSpPr>
        <p:spPr>
          <a:xfrm>
            <a:off x="6429604" y="3639312"/>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Relasi</a:t>
            </a:r>
            <a:endParaRPr lang="en-US" sz="1000" dirty="0"/>
          </a:p>
        </p:txBody>
      </p:sp>
      <p:sp>
        <p:nvSpPr>
          <p:cNvPr id="34" name="Text 31"/>
          <p:cNvSpPr/>
          <p:nvPr/>
        </p:nvSpPr>
        <p:spPr>
          <a:xfrm>
            <a:off x="7993228" y="3621024"/>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Nike dan AIG (diganti Aon, £80 jt/4 tahun), ditambah 13 sponsor lain, termasuk Tri Indonesia dan Bharti Airtel.</a:t>
            </a:r>
            <a:endParaRPr lang="en-US" sz="850" dirty="0"/>
          </a:p>
        </p:txBody>
      </p:sp>
      <p:sp>
        <p:nvSpPr>
          <p:cNvPr id="35" name="Shape 32"/>
          <p:cNvSpPr/>
          <p:nvPr/>
        </p:nvSpPr>
        <p:spPr>
          <a:xfrm>
            <a:off x="6210148" y="4279392"/>
            <a:ext cx="5432908" cy="694944"/>
          </a:xfrm>
          <a:prstGeom prst="rect">
            <a:avLst/>
          </a:prstGeom>
          <a:solidFill>
            <a:srgbClr val="32191E"/>
          </a:solidFill>
          <a:ln w="12700">
            <a:solidFill>
              <a:srgbClr val="32191E"/>
            </a:solidFill>
            <a:prstDash val="solid"/>
          </a:ln>
        </p:spPr>
      </p:sp>
      <p:sp>
        <p:nvSpPr>
          <p:cNvPr id="36" name="Text 33"/>
          <p:cNvSpPr/>
          <p:nvPr/>
        </p:nvSpPr>
        <p:spPr>
          <a:xfrm>
            <a:off x="6429604" y="4352544"/>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Budaya &amp; insentif</a:t>
            </a:r>
            <a:endParaRPr lang="en-US" sz="1000" dirty="0"/>
          </a:p>
        </p:txBody>
      </p:sp>
      <p:sp>
        <p:nvSpPr>
          <p:cNvPr id="37" name="Text 34"/>
          <p:cNvSpPr/>
          <p:nvPr/>
        </p:nvSpPr>
        <p:spPr>
          <a:xfrm>
            <a:off x="7993228" y="4334256"/>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Disiplin latihan ketat, perang terhadap alkohol, prinsip "tidak ada pemain yang lebih besar dari klub".</a:t>
            </a:r>
            <a:endParaRPr lang="en-US" sz="850" dirty="0"/>
          </a:p>
        </p:txBody>
      </p:sp>
      <p:sp>
        <p:nvSpPr>
          <p:cNvPr id="38" name="Shape 35"/>
          <p:cNvSpPr/>
          <p:nvPr/>
        </p:nvSpPr>
        <p:spPr>
          <a:xfrm>
            <a:off x="548640" y="5184648"/>
            <a:ext cx="11094415" cy="731520"/>
          </a:xfrm>
          <a:prstGeom prst="rect">
            <a:avLst/>
          </a:prstGeom>
          <a:solidFill>
            <a:srgbClr val="C8102E"/>
          </a:solidFill>
          <a:ln w="12700">
            <a:solidFill>
              <a:srgbClr val="C8102E"/>
            </a:solidFill>
            <a:prstDash val="solid"/>
          </a:ln>
        </p:spPr>
      </p:sp>
      <p:sp>
        <p:nvSpPr>
          <p:cNvPr id="39" name="Text 36"/>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PERHATIKAN KOMPOSISINYA</a:t>
            </a:r>
            <a:endParaRPr lang="en-US" sz="800" dirty="0"/>
          </a:p>
        </p:txBody>
      </p:sp>
      <p:sp>
        <p:nvSpPr>
          <p:cNvPr id="40" name="Text 37"/>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Aset yang paling membedakan MU ada di kolom kanan, yang tidak berwujud. Itu yang membuat klub ini unggul, dan sekaligus rapuh, karena sebagian aset tak berwujud melekat pada orang, dan orang bisa pergi.</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CAPABILITY MU, DAN MANA YANG CORE COMPETENCE</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Kami pakai tingkatan di slide 7: mana yang sekadar competence, mana yang distinctive competence, dan mana yang benar-benar core competence.</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26</a:t>
            </a:r>
            <a:endParaRPr lang="en-US" sz="900" dirty="0"/>
          </a:p>
        </p:txBody>
      </p:sp>
      <p:sp>
        <p:nvSpPr>
          <p:cNvPr id="10" name="Shape 7"/>
          <p:cNvSpPr/>
          <p:nvPr/>
        </p:nvSpPr>
        <p:spPr>
          <a:xfrm>
            <a:off x="548640" y="1755648"/>
            <a:ext cx="3545738" cy="1481328"/>
          </a:xfrm>
          <a:prstGeom prst="rect">
            <a:avLst/>
          </a:prstGeom>
          <a:solidFill>
            <a:srgbClr val="C8102E"/>
          </a:solidFill>
          <a:ln w="12700">
            <a:solidFill>
              <a:srgbClr val="C8102E"/>
            </a:solidFill>
            <a:prstDash val="solid"/>
          </a:ln>
        </p:spPr>
      </p:sp>
      <p:sp>
        <p:nvSpPr>
          <p:cNvPr id="11" name="Shape 8"/>
          <p:cNvSpPr/>
          <p:nvPr/>
        </p:nvSpPr>
        <p:spPr>
          <a:xfrm>
            <a:off x="548640" y="1755648"/>
            <a:ext cx="54864" cy="1481328"/>
          </a:xfrm>
          <a:prstGeom prst="rect">
            <a:avLst/>
          </a:prstGeom>
          <a:solidFill>
            <a:srgbClr val="FBE122"/>
          </a:solidFill>
          <a:ln w="12700">
            <a:solidFill>
              <a:srgbClr val="FBE122"/>
            </a:solidFill>
            <a:prstDash val="solid"/>
          </a:ln>
        </p:spPr>
      </p:sp>
      <p:sp>
        <p:nvSpPr>
          <p:cNvPr id="12" name="Text 9"/>
          <p:cNvSpPr/>
          <p:nvPr/>
        </p:nvSpPr>
        <p:spPr>
          <a:xfrm>
            <a:off x="768096"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13" name="Text 10"/>
          <p:cNvSpPr/>
          <p:nvPr/>
        </p:nvSpPr>
        <p:spPr>
          <a:xfrm>
            <a:off x="768096"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Mengenali dan mengembangkan bakat</a:t>
            </a:r>
            <a:endParaRPr lang="en-US" sz="1150" dirty="0"/>
          </a:p>
        </p:txBody>
      </p:sp>
      <p:sp>
        <p:nvSpPr>
          <p:cNvPr id="14" name="Text 11"/>
          <p:cNvSpPr/>
          <p:nvPr/>
        </p:nvSpPr>
        <p:spPr>
          <a:xfrm>
            <a:off x="768096"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Pemandu bakat dari 5 jadi lebih dari 20 orang; Youth Academy; dua pemandu bakat penuh waktu di Brasil sejak 2008.</a:t>
            </a:r>
            <a:endParaRPr lang="en-US" sz="850" dirty="0"/>
          </a:p>
        </p:txBody>
      </p:sp>
      <p:sp>
        <p:nvSpPr>
          <p:cNvPr id="15" name="Shape 12"/>
          <p:cNvSpPr/>
          <p:nvPr/>
        </p:nvSpPr>
        <p:spPr>
          <a:xfrm>
            <a:off x="4322978" y="1755648"/>
            <a:ext cx="3545738" cy="1481328"/>
          </a:xfrm>
          <a:prstGeom prst="rect">
            <a:avLst/>
          </a:prstGeom>
          <a:solidFill>
            <a:srgbClr val="C8102E"/>
          </a:solidFill>
          <a:ln w="12700">
            <a:solidFill>
              <a:srgbClr val="C8102E"/>
            </a:solidFill>
            <a:prstDash val="solid"/>
          </a:ln>
        </p:spPr>
      </p:sp>
      <p:sp>
        <p:nvSpPr>
          <p:cNvPr id="16" name="Shape 13"/>
          <p:cNvSpPr/>
          <p:nvPr/>
        </p:nvSpPr>
        <p:spPr>
          <a:xfrm>
            <a:off x="4322978" y="1755648"/>
            <a:ext cx="54864" cy="1481328"/>
          </a:xfrm>
          <a:prstGeom prst="rect">
            <a:avLst/>
          </a:prstGeom>
          <a:solidFill>
            <a:srgbClr val="FBE122"/>
          </a:solidFill>
          <a:ln w="12700">
            <a:solidFill>
              <a:srgbClr val="FBE122"/>
            </a:solidFill>
            <a:prstDash val="solid"/>
          </a:ln>
        </p:spPr>
      </p:sp>
      <p:sp>
        <p:nvSpPr>
          <p:cNvPr id="17" name="Text 14"/>
          <p:cNvSpPr/>
          <p:nvPr/>
        </p:nvSpPr>
        <p:spPr>
          <a:xfrm>
            <a:off x="4542434"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18" name="Text 15"/>
          <p:cNvSpPr/>
          <p:nvPr/>
        </p:nvSpPr>
        <p:spPr>
          <a:xfrm>
            <a:off x="4542434"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Membentuk dan merotasi tim</a:t>
            </a:r>
            <a:endParaRPr lang="en-US" sz="1150" dirty="0"/>
          </a:p>
        </p:txBody>
      </p:sp>
      <p:sp>
        <p:nvSpPr>
          <p:cNvPr id="19" name="Text 16"/>
          <p:cNvSpPr/>
          <p:nvPr/>
        </p:nvSpPr>
        <p:spPr>
          <a:xfrm>
            <a:off x="4542434"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Memadukan pemain muda dengan pemain berpengalaman. Kasus menyebut Ferguson pelopor rotasi skuad.</a:t>
            </a:r>
            <a:endParaRPr lang="en-US" sz="850" dirty="0"/>
          </a:p>
        </p:txBody>
      </p:sp>
      <p:sp>
        <p:nvSpPr>
          <p:cNvPr id="20" name="Shape 17"/>
          <p:cNvSpPr/>
          <p:nvPr/>
        </p:nvSpPr>
        <p:spPr>
          <a:xfrm>
            <a:off x="8097317" y="1755648"/>
            <a:ext cx="3545738" cy="1481328"/>
          </a:xfrm>
          <a:prstGeom prst="rect">
            <a:avLst/>
          </a:prstGeom>
          <a:solidFill>
            <a:srgbClr val="C8102E"/>
          </a:solidFill>
          <a:ln w="12700">
            <a:solidFill>
              <a:srgbClr val="C8102E"/>
            </a:solidFill>
            <a:prstDash val="solid"/>
          </a:ln>
        </p:spPr>
      </p:sp>
      <p:sp>
        <p:nvSpPr>
          <p:cNvPr id="21" name="Shape 18"/>
          <p:cNvSpPr/>
          <p:nvPr/>
        </p:nvSpPr>
        <p:spPr>
          <a:xfrm>
            <a:off x="8097317" y="1755648"/>
            <a:ext cx="54864" cy="1481328"/>
          </a:xfrm>
          <a:prstGeom prst="rect">
            <a:avLst/>
          </a:prstGeom>
          <a:solidFill>
            <a:srgbClr val="FBE122"/>
          </a:solidFill>
          <a:ln w="12700">
            <a:solidFill>
              <a:srgbClr val="FBE122"/>
            </a:solidFill>
            <a:prstDash val="solid"/>
          </a:ln>
        </p:spPr>
      </p:sp>
      <p:sp>
        <p:nvSpPr>
          <p:cNvPr id="22" name="Text 19"/>
          <p:cNvSpPr/>
          <p:nvPr/>
        </p:nvSpPr>
        <p:spPr>
          <a:xfrm>
            <a:off x="8316773"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23" name="Text 20"/>
          <p:cNvSpPr/>
          <p:nvPr/>
        </p:nvSpPr>
        <p:spPr>
          <a:xfrm>
            <a:off x="8316773"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Mengubah merek jadi uang</a:t>
            </a:r>
            <a:endParaRPr lang="en-US" sz="1150" dirty="0"/>
          </a:p>
        </p:txBody>
      </p:sp>
      <p:sp>
        <p:nvSpPr>
          <p:cNvPr id="24" name="Text 21"/>
          <p:cNvSpPr/>
          <p:nvPr/>
        </p:nvSpPr>
        <p:spPr>
          <a:xfrm>
            <a:off x="8316773"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Sponsor khusus Indonesia dan India, sub-merek per usia, MU Finance, MU Mobile, MUTV, Soccer Schools, tur Asia.</a:t>
            </a:r>
            <a:endParaRPr lang="en-US" sz="850" dirty="0"/>
          </a:p>
        </p:txBody>
      </p:sp>
      <p:sp>
        <p:nvSpPr>
          <p:cNvPr id="25" name="Shape 22"/>
          <p:cNvSpPr/>
          <p:nvPr/>
        </p:nvSpPr>
        <p:spPr>
          <a:xfrm>
            <a:off x="548640" y="3419856"/>
            <a:ext cx="3545738" cy="1481328"/>
          </a:xfrm>
          <a:prstGeom prst="rect">
            <a:avLst/>
          </a:prstGeom>
          <a:solidFill>
            <a:srgbClr val="27161A"/>
          </a:solidFill>
          <a:ln w="12700">
            <a:solidFill>
              <a:srgbClr val="27161A"/>
            </a:solidFill>
            <a:prstDash val="solid"/>
          </a:ln>
        </p:spPr>
      </p:sp>
      <p:sp>
        <p:nvSpPr>
          <p:cNvPr id="26" name="Shape 23"/>
          <p:cNvSpPr/>
          <p:nvPr/>
        </p:nvSpPr>
        <p:spPr>
          <a:xfrm>
            <a:off x="548640" y="3419856"/>
            <a:ext cx="54864" cy="1481328"/>
          </a:xfrm>
          <a:prstGeom prst="rect">
            <a:avLst/>
          </a:prstGeom>
          <a:solidFill>
            <a:srgbClr val="C8102E"/>
          </a:solidFill>
          <a:ln w="12700">
            <a:solidFill>
              <a:srgbClr val="C8102E"/>
            </a:solidFill>
            <a:prstDash val="solid"/>
          </a:ln>
        </p:spPr>
      </p:sp>
      <p:sp>
        <p:nvSpPr>
          <p:cNvPr id="27" name="Text 24"/>
          <p:cNvSpPr/>
          <p:nvPr/>
        </p:nvSpPr>
        <p:spPr>
          <a:xfrm>
            <a:off x="768096" y="3566160"/>
            <a:ext cx="3179978" cy="228600"/>
          </a:xfrm>
          <a:prstGeom prst="rect">
            <a:avLst/>
          </a:prstGeom>
          <a:noFill/>
          <a:ln/>
        </p:spPr>
        <p:txBody>
          <a:bodyPr wrap="square" lIns="0" tIns="0" rIns="0" bIns="0" rtlCol="0" anchor="t"/>
          <a:lstStyle/>
          <a:p>
            <a:pPr indent="0" marL="0">
              <a:buNone/>
            </a:pPr>
            <a:r>
              <a:rPr lang="en-US" sz="800" spc="150" kern="0" dirty="0">
                <a:solidFill>
                  <a:srgbClr val="C8102E"/>
                </a:solidFill>
                <a:latin typeface="Poppins SemiBold" pitchFamily="34" charset="0"/>
                <a:ea typeface="Poppins SemiBold" pitchFamily="34" charset="-122"/>
                <a:cs typeface="Poppins SemiBold" pitchFamily="34" charset="-120"/>
              </a:rPr>
              <a:t>DISTINCTIVE COMPETENCE</a:t>
            </a:r>
            <a:endParaRPr lang="en-US" sz="800" dirty="0"/>
          </a:p>
        </p:txBody>
      </p:sp>
      <p:sp>
        <p:nvSpPr>
          <p:cNvPr id="28" name="Text 25"/>
          <p:cNvSpPr/>
          <p:nvPr/>
        </p:nvSpPr>
        <p:spPr>
          <a:xfrm>
            <a:off x="768096"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Disiplin di pasar transfer</a:t>
            </a:r>
            <a:endParaRPr lang="en-US" sz="1150" dirty="0"/>
          </a:p>
        </p:txBody>
      </p:sp>
      <p:sp>
        <p:nvSpPr>
          <p:cNvPr id="29" name="Text 26"/>
          <p:cNvSpPr/>
          <p:nvPr/>
        </p:nvSpPr>
        <p:spPr>
          <a:xfrm>
            <a:off x="768096"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Belanja kotor £322 jt, bersih £100 jt. Mau menjual pemain yang dihargai lebih tinggi klub lain, seperti Ronaldo (£80 jt).</a:t>
            </a:r>
            <a:endParaRPr lang="en-US" sz="850" dirty="0"/>
          </a:p>
        </p:txBody>
      </p:sp>
      <p:sp>
        <p:nvSpPr>
          <p:cNvPr id="30" name="Shape 27"/>
          <p:cNvSpPr/>
          <p:nvPr/>
        </p:nvSpPr>
        <p:spPr>
          <a:xfrm>
            <a:off x="4322978" y="3419856"/>
            <a:ext cx="3545738" cy="1481328"/>
          </a:xfrm>
          <a:prstGeom prst="rect">
            <a:avLst/>
          </a:prstGeom>
          <a:solidFill>
            <a:srgbClr val="27161A"/>
          </a:solidFill>
          <a:ln w="12700">
            <a:solidFill>
              <a:srgbClr val="27161A"/>
            </a:solidFill>
            <a:prstDash val="solid"/>
          </a:ln>
        </p:spPr>
      </p:sp>
      <p:sp>
        <p:nvSpPr>
          <p:cNvPr id="31" name="Shape 28"/>
          <p:cNvSpPr/>
          <p:nvPr/>
        </p:nvSpPr>
        <p:spPr>
          <a:xfrm>
            <a:off x="4322978" y="3419856"/>
            <a:ext cx="54864" cy="1481328"/>
          </a:xfrm>
          <a:prstGeom prst="rect">
            <a:avLst/>
          </a:prstGeom>
          <a:solidFill>
            <a:srgbClr val="C8102E"/>
          </a:solidFill>
          <a:ln w="12700">
            <a:solidFill>
              <a:srgbClr val="C8102E"/>
            </a:solidFill>
            <a:prstDash val="solid"/>
          </a:ln>
        </p:spPr>
      </p:sp>
      <p:sp>
        <p:nvSpPr>
          <p:cNvPr id="32" name="Text 29"/>
          <p:cNvSpPr/>
          <p:nvPr/>
        </p:nvSpPr>
        <p:spPr>
          <a:xfrm>
            <a:off x="4542434" y="3566160"/>
            <a:ext cx="3179978" cy="228600"/>
          </a:xfrm>
          <a:prstGeom prst="rect">
            <a:avLst/>
          </a:prstGeom>
          <a:noFill/>
          <a:ln/>
        </p:spPr>
        <p:txBody>
          <a:bodyPr wrap="square" lIns="0" tIns="0" rIns="0" bIns="0" rtlCol="0" anchor="t"/>
          <a:lstStyle/>
          <a:p>
            <a:pPr indent="0" marL="0">
              <a:buNone/>
            </a:pPr>
            <a:r>
              <a:rPr lang="en-US" sz="800" spc="150" kern="0" dirty="0">
                <a:solidFill>
                  <a:srgbClr val="C8102E"/>
                </a:solidFill>
                <a:latin typeface="Poppins SemiBold" pitchFamily="34" charset="0"/>
                <a:ea typeface="Poppins SemiBold" pitchFamily="34" charset="-122"/>
                <a:cs typeface="Poppins SemiBold" pitchFamily="34" charset="-120"/>
              </a:rPr>
              <a:t>DISTINCTIVE COMPETENCE</a:t>
            </a:r>
            <a:endParaRPr lang="en-US" sz="800" dirty="0"/>
          </a:p>
        </p:txBody>
      </p:sp>
      <p:sp>
        <p:nvSpPr>
          <p:cNvPr id="33" name="Text 30"/>
          <p:cNvSpPr/>
          <p:nvPr/>
        </p:nvSpPr>
        <p:spPr>
          <a:xfrm>
            <a:off x="4542434"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Tata kelola klub</a:t>
            </a:r>
            <a:endParaRPr lang="en-US" sz="1150" dirty="0"/>
          </a:p>
        </p:txBody>
      </p:sp>
      <p:sp>
        <p:nvSpPr>
          <p:cNvPr id="34" name="Text 31"/>
          <p:cNvSpPr/>
          <p:nvPr/>
        </p:nvSpPr>
        <p:spPr>
          <a:xfrm>
            <a:off x="4542434"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Kasus: klub Inggris "paling berhasil membangun tata kelola yang efektif". Glazer memilih peran pasif.</a:t>
            </a:r>
            <a:endParaRPr lang="en-US" sz="850" dirty="0"/>
          </a:p>
        </p:txBody>
      </p:sp>
      <p:sp>
        <p:nvSpPr>
          <p:cNvPr id="35" name="Shape 32"/>
          <p:cNvSpPr/>
          <p:nvPr/>
        </p:nvSpPr>
        <p:spPr>
          <a:xfrm>
            <a:off x="8097317" y="3419856"/>
            <a:ext cx="3545738" cy="1481328"/>
          </a:xfrm>
          <a:prstGeom prst="rect">
            <a:avLst/>
          </a:prstGeom>
          <a:solidFill>
            <a:srgbClr val="27161A"/>
          </a:solidFill>
          <a:ln w="12700">
            <a:solidFill>
              <a:srgbClr val="27161A"/>
            </a:solidFill>
            <a:prstDash val="solid"/>
          </a:ln>
        </p:spPr>
      </p:sp>
      <p:sp>
        <p:nvSpPr>
          <p:cNvPr id="36" name="Shape 33"/>
          <p:cNvSpPr/>
          <p:nvPr/>
        </p:nvSpPr>
        <p:spPr>
          <a:xfrm>
            <a:off x="8097317" y="3419856"/>
            <a:ext cx="54864" cy="1481328"/>
          </a:xfrm>
          <a:prstGeom prst="rect">
            <a:avLst/>
          </a:prstGeom>
          <a:solidFill>
            <a:srgbClr val="A08F8B"/>
          </a:solidFill>
          <a:ln w="12700">
            <a:solidFill>
              <a:srgbClr val="A08F8B"/>
            </a:solidFill>
            <a:prstDash val="solid"/>
          </a:ln>
        </p:spPr>
      </p:sp>
      <p:sp>
        <p:nvSpPr>
          <p:cNvPr id="37" name="Text 34"/>
          <p:cNvSpPr/>
          <p:nvPr/>
        </p:nvSpPr>
        <p:spPr>
          <a:xfrm>
            <a:off x="8316773" y="3566160"/>
            <a:ext cx="3179978" cy="228600"/>
          </a:xfrm>
          <a:prstGeom prst="rect">
            <a:avLst/>
          </a:prstGeom>
          <a:noFill/>
          <a:ln/>
        </p:spPr>
        <p:txBody>
          <a:bodyPr wrap="square" lIns="0" tIns="0" rIns="0" bIns="0" rtlCol="0" anchor="t"/>
          <a:lstStyle/>
          <a:p>
            <a:pPr indent="0" marL="0">
              <a:buNone/>
            </a:pPr>
            <a:r>
              <a:rPr lang="en-US" sz="800" spc="150" kern="0" dirty="0">
                <a:solidFill>
                  <a:srgbClr val="A08F8B"/>
                </a:solidFill>
                <a:latin typeface="Poppins SemiBold" pitchFamily="34" charset="0"/>
                <a:ea typeface="Poppins SemiBold" pitchFamily="34" charset="-122"/>
                <a:cs typeface="Poppins SemiBold" pitchFamily="34" charset="-120"/>
              </a:rPr>
              <a:t>COMPETENCE</a:t>
            </a:r>
            <a:endParaRPr lang="en-US" sz="800" dirty="0"/>
          </a:p>
        </p:txBody>
      </p:sp>
      <p:sp>
        <p:nvSpPr>
          <p:cNvPr id="38" name="Text 35"/>
          <p:cNvSpPr/>
          <p:nvPr/>
        </p:nvSpPr>
        <p:spPr>
          <a:xfrm>
            <a:off x="8316773"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Mengelola stadion dan acara</a:t>
            </a:r>
            <a:endParaRPr lang="en-US" sz="1150" dirty="0"/>
          </a:p>
        </p:txBody>
      </p:sp>
      <p:sp>
        <p:nvSpPr>
          <p:cNvPr id="39" name="Text 36"/>
          <p:cNvSpPr/>
          <p:nvPr/>
        </p:nvSpPr>
        <p:spPr>
          <a:xfrm>
            <a:off x="8316773"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Old Trafford disewakan untuk konferensi dan pernikahan; museum dan tur. Dikerjakan baik, tapi klub besar lain juga melakukannya.</a:t>
            </a:r>
            <a:endParaRPr lang="en-US" sz="850" dirty="0"/>
          </a:p>
        </p:txBody>
      </p:sp>
      <p:sp>
        <p:nvSpPr>
          <p:cNvPr id="40" name="Shape 37"/>
          <p:cNvSpPr/>
          <p:nvPr/>
        </p:nvSpPr>
        <p:spPr>
          <a:xfrm>
            <a:off x="548640" y="5084064"/>
            <a:ext cx="11094415" cy="777240"/>
          </a:xfrm>
          <a:prstGeom prst="rect">
            <a:avLst/>
          </a:prstGeom>
          <a:solidFill>
            <a:srgbClr val="32191E"/>
          </a:solidFill>
          <a:ln w="12700">
            <a:solidFill>
              <a:srgbClr val="32191E"/>
            </a:solidFill>
            <a:prstDash val="solid"/>
          </a:ln>
        </p:spPr>
      </p:sp>
      <p:sp>
        <p:nvSpPr>
          <p:cNvPr id="41" name="Text 38"/>
          <p:cNvSpPr/>
          <p:nvPr/>
        </p:nvSpPr>
        <p:spPr>
          <a:xfrm>
            <a:off x="777240" y="5212080"/>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YANG PERLU DISADARI</a:t>
            </a:r>
            <a:endParaRPr lang="en-US" sz="800" dirty="0"/>
          </a:p>
        </p:txBody>
      </p:sp>
      <p:sp>
        <p:nvSpPr>
          <p:cNvPr id="42" name="Text 39"/>
          <p:cNvSpPr/>
          <p:nvPr/>
        </p:nvSpPr>
        <p:spPr>
          <a:xfrm>
            <a:off x="777240" y="5449824"/>
            <a:ext cx="10637215" cy="32004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Tiga capability yang langsung menentukan prestasi lapangan (bakat, tim, dan transfer) dibangun dan diarahkan oleh Ferguson. Tiga lainnya berdiri di luar dirinya.</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VRIN TEST</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DUA KEUNGGULAN, SAMA-SAMA LOLOS VRIN TEST</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Kami uji dua hal dengan empat saringan yang sama: sistem Ferguson, dan merek beserta mesin komersialnya.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6.5 dan 6.8; hlm. 573 sampai 588.</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1554480"/>
                <a:gridCol w="4754880"/>
                <a:gridCol w="4754880"/>
              </a:tblGrid>
              <a:tr h="329184">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Tes</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Sistem Ferguson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Merek &amp; mesin komersial</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Valuable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Poin Eropa tertinggi, tiga gelar liga beruntun, Liga Champions 2008. Ferguson memenangi lebih banyak gelar daripada seluruh sejarah klub sebelumnya.</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Aon membayar £80 jt untuk 4 tahun, atau £20 jt per tahun, dua kali lipat Chelsea dan Samsung (£10 jt per tahun).</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Rare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Kasus hanya menyebut MU dan Real Madrid sebagai pemimpin eksploitasi merek global. MU punya 80 juta pendukung di Asia.</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Inimitable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Kasus sendiri menyebut penentu performa tim "tetap misteri … menentang analisis": causal ambiguity. Ditambah 23 tahun akumulasi dan social complexity.</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Dibangun sejak 1878 lewat sejarah dan prestasi panjang. Chelsea, meski belanja besar, pendapatannya masih di bawah MU: €268,9 jt vs €324,8 jt (Table 6.5).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Nonsubstitutable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Jalan lain pesaing, membeli bintang dengan uang besar, tidak menyamai hasilnya: tim bertabur bintang Real Madrid dan Chelsea "gagal mencapai kejayaan".</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Superstar bisa mendongkrak penjualan merchandise, tapi pemain datang dan pergi. Basis fan tetap: Aon menyebut fan Asia MU faktor kunci kontraknya.</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bl>
          </a:graphicData>
        </a:graphic>
      </p:graphicFrame>
      <p:sp>
        <p:nvSpPr>
          <p:cNvPr id="11" name="Shape 7"/>
          <p:cNvSpPr/>
          <p:nvPr/>
        </p:nvSpPr>
        <p:spPr>
          <a:xfrm>
            <a:off x="548640" y="5138928"/>
            <a:ext cx="11094415" cy="777240"/>
          </a:xfrm>
          <a:prstGeom prst="rect">
            <a:avLst/>
          </a:prstGeom>
          <a:solidFill>
            <a:srgbClr val="C8102E"/>
          </a:solidFill>
          <a:ln w="12700">
            <a:solidFill>
              <a:srgbClr val="C8102E"/>
            </a:solidFill>
            <a:prstDash val="solid"/>
          </a:ln>
        </p:spPr>
      </p:sp>
      <p:sp>
        <p:nvSpPr>
          <p:cNvPr id="12" name="Text 8"/>
          <p:cNvSpPr/>
          <p:nvPr/>
        </p:nvSpPr>
        <p:spPr>
          <a:xfrm>
            <a:off x="777240" y="526694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KESIMPULAN Q3</a:t>
            </a:r>
            <a:endParaRPr lang="en-US" sz="800" dirty="0"/>
          </a:p>
        </p:txBody>
      </p:sp>
      <p:sp>
        <p:nvSpPr>
          <p:cNvPr id="13" name="Text 9"/>
          <p:cNvSpPr/>
          <p:nvPr/>
        </p:nvSpPr>
        <p:spPr>
          <a:xfrm>
            <a:off x="777240" y="5504688"/>
            <a:ext cx="10637215"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Keduanya lolos VRIN Test, jadi keduanya tahan terhadap serangan PESAING. Bedanya ada di luar VRIN: merek melekat pada klub, sedangkan sistem Ferguson dibangun dan dipimpin satu orang yang akan segera pensiun.</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DYNAMIC CAPABILITY</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TIGA KALI MEMBANGUN ULANG TIM JUARA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hlm. 583 dan 584.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28</a:t>
            </a:r>
            <a:endParaRPr lang="en-US" sz="900" dirty="0"/>
          </a:p>
        </p:txBody>
      </p:sp>
      <p:sp>
        <p:nvSpPr>
          <p:cNvPr id="10" name="Shape 7"/>
          <p:cNvSpPr/>
          <p:nvPr/>
        </p:nvSpPr>
        <p:spPr>
          <a:xfrm>
            <a:off x="548640" y="1865376"/>
            <a:ext cx="11094415" cy="27432"/>
          </a:xfrm>
          <a:prstGeom prst="rect">
            <a:avLst/>
          </a:prstGeom>
          <a:solidFill>
            <a:srgbClr val="C8102E"/>
          </a:solidFill>
          <a:ln w="12700">
            <a:solidFill>
              <a:srgbClr val="C8102E"/>
            </a:solidFill>
            <a:prstDash val="solid"/>
          </a:ln>
        </p:spPr>
      </p:sp>
      <p:sp>
        <p:nvSpPr>
          <p:cNvPr id="11" name="Shape 8"/>
          <p:cNvSpPr/>
          <p:nvPr/>
        </p:nvSpPr>
        <p:spPr>
          <a:xfrm>
            <a:off x="685800" y="1773936"/>
            <a:ext cx="201168" cy="201168"/>
          </a:xfrm>
          <a:prstGeom prst="ellipse">
            <a:avLst/>
          </a:prstGeom>
          <a:solidFill>
            <a:srgbClr val="FBE122"/>
          </a:solidFill>
          <a:ln w="12700">
            <a:solidFill>
              <a:srgbClr val="FBE122"/>
            </a:solidFill>
            <a:prstDash val="solid"/>
          </a:ln>
        </p:spPr>
      </p:sp>
      <p:sp>
        <p:nvSpPr>
          <p:cNvPr id="12" name="Shape 9"/>
          <p:cNvSpPr/>
          <p:nvPr/>
        </p:nvSpPr>
        <p:spPr>
          <a:xfrm>
            <a:off x="548640" y="2139696"/>
            <a:ext cx="3545738" cy="3017520"/>
          </a:xfrm>
          <a:prstGeom prst="rect">
            <a:avLst/>
          </a:prstGeom>
          <a:solidFill>
            <a:srgbClr val="27161A"/>
          </a:solidFill>
          <a:ln w="12700">
            <a:solidFill>
              <a:srgbClr val="27161A"/>
            </a:solidFill>
            <a:prstDash val="solid"/>
          </a:ln>
        </p:spPr>
      </p:sp>
      <p:sp>
        <p:nvSpPr>
          <p:cNvPr id="13" name="Text 10"/>
          <p:cNvSpPr/>
          <p:nvPr/>
        </p:nvSpPr>
        <p:spPr>
          <a:xfrm>
            <a:off x="749808" y="2286000"/>
            <a:ext cx="3179978" cy="411480"/>
          </a:xfrm>
          <a:prstGeom prst="rect">
            <a:avLst/>
          </a:prstGeom>
          <a:noFill/>
          <a:ln/>
        </p:spPr>
        <p:txBody>
          <a:bodyPr wrap="square" lIns="0" tIns="0" rIns="0" bIns="0" rtlCol="0" anchor="t"/>
          <a:lstStyle/>
          <a:p>
            <a:pPr indent="0" marL="0">
              <a:buNone/>
            </a:pPr>
            <a:r>
              <a:rPr lang="en-US" sz="2000" dirty="0">
                <a:solidFill>
                  <a:srgbClr val="C8102E"/>
                </a:solidFill>
                <a:latin typeface="Poppins ExtraBold" pitchFamily="34" charset="0"/>
                <a:ea typeface="Poppins ExtraBold" pitchFamily="34" charset="-122"/>
                <a:cs typeface="Poppins ExtraBold" pitchFamily="34" charset="-120"/>
              </a:rPr>
              <a:t>1986 – 1993</a:t>
            </a:r>
            <a:endParaRPr lang="en-US" sz="2000" dirty="0"/>
          </a:p>
        </p:txBody>
      </p:sp>
      <p:sp>
        <p:nvSpPr>
          <p:cNvPr id="14" name="Text 11"/>
          <p:cNvSpPr/>
          <p:nvPr/>
        </p:nvSpPr>
        <p:spPr>
          <a:xfrm>
            <a:off x="749808"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Membersihkan dan membangun fondasi</a:t>
            </a:r>
            <a:endParaRPr lang="en-US" sz="1200" dirty="0"/>
          </a:p>
        </p:txBody>
      </p:sp>
      <p:sp>
        <p:nvSpPr>
          <p:cNvPr id="15" name="Text 12"/>
          <p:cNvSpPr/>
          <p:nvPr/>
        </p:nvSpPr>
        <p:spPr>
          <a:xfrm>
            <a:off x="749808"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Ferguson menyingkirkan pemain yang dinilai kurang berbakat atau kurang berkomitmen, mempertahankan Bryan Robson, mendatangkan Hughes, Ince, Cantona, Keane. Ia juga menegakkan disiplin latihan.</a:t>
            </a:r>
            <a:endParaRPr lang="en-US" sz="900" dirty="0"/>
          </a:p>
        </p:txBody>
      </p:sp>
      <p:sp>
        <p:nvSpPr>
          <p:cNvPr id="16" name="Shape 13"/>
          <p:cNvSpPr/>
          <p:nvPr/>
        </p:nvSpPr>
        <p:spPr>
          <a:xfrm>
            <a:off x="749808" y="4453128"/>
            <a:ext cx="3143402" cy="9144"/>
          </a:xfrm>
          <a:prstGeom prst="rect">
            <a:avLst/>
          </a:prstGeom>
          <a:solidFill>
            <a:srgbClr val="46292D"/>
          </a:solidFill>
          <a:ln w="12700">
            <a:solidFill>
              <a:srgbClr val="46292D"/>
            </a:solidFill>
            <a:prstDash val="solid"/>
          </a:ln>
        </p:spPr>
      </p:sp>
      <p:sp>
        <p:nvSpPr>
          <p:cNvPr id="17" name="Text 14"/>
          <p:cNvSpPr/>
          <p:nvPr/>
        </p:nvSpPr>
        <p:spPr>
          <a:xfrm>
            <a:off x="749808"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FA Cup 1990  ·  Piala Winners 1991  ·  liga pertama era Ferguson 1993</a:t>
            </a:r>
            <a:endParaRPr lang="en-US" sz="850" dirty="0"/>
          </a:p>
        </p:txBody>
      </p:sp>
      <p:sp>
        <p:nvSpPr>
          <p:cNvPr id="18" name="Shape 15"/>
          <p:cNvSpPr/>
          <p:nvPr/>
        </p:nvSpPr>
        <p:spPr>
          <a:xfrm>
            <a:off x="4460138" y="1773936"/>
            <a:ext cx="201168" cy="201168"/>
          </a:xfrm>
          <a:prstGeom prst="ellipse">
            <a:avLst/>
          </a:prstGeom>
          <a:solidFill>
            <a:srgbClr val="FBE122"/>
          </a:solidFill>
          <a:ln w="12700">
            <a:solidFill>
              <a:srgbClr val="FBE122"/>
            </a:solidFill>
            <a:prstDash val="solid"/>
          </a:ln>
        </p:spPr>
      </p:sp>
      <p:sp>
        <p:nvSpPr>
          <p:cNvPr id="19" name="Shape 16"/>
          <p:cNvSpPr/>
          <p:nvPr/>
        </p:nvSpPr>
        <p:spPr>
          <a:xfrm>
            <a:off x="4322978" y="2139696"/>
            <a:ext cx="3545738" cy="3017520"/>
          </a:xfrm>
          <a:prstGeom prst="rect">
            <a:avLst/>
          </a:prstGeom>
          <a:solidFill>
            <a:srgbClr val="27161A"/>
          </a:solidFill>
          <a:ln w="12700">
            <a:solidFill>
              <a:srgbClr val="27161A"/>
            </a:solidFill>
            <a:prstDash val="solid"/>
          </a:ln>
        </p:spPr>
      </p:sp>
      <p:sp>
        <p:nvSpPr>
          <p:cNvPr id="20" name="Text 17"/>
          <p:cNvSpPr/>
          <p:nvPr/>
        </p:nvSpPr>
        <p:spPr>
          <a:xfrm>
            <a:off x="4524146" y="2286000"/>
            <a:ext cx="3179978" cy="411480"/>
          </a:xfrm>
          <a:prstGeom prst="rect">
            <a:avLst/>
          </a:prstGeom>
          <a:noFill/>
          <a:ln/>
        </p:spPr>
        <p:txBody>
          <a:bodyPr wrap="square" lIns="0" tIns="0" rIns="0" bIns="0" rtlCol="0" anchor="t"/>
          <a:lstStyle/>
          <a:p>
            <a:pPr indent="0" marL="0">
              <a:buNone/>
            </a:pPr>
            <a:r>
              <a:rPr lang="en-US" sz="2000" dirty="0">
                <a:solidFill>
                  <a:srgbClr val="C8102E"/>
                </a:solidFill>
                <a:latin typeface="Poppins ExtraBold" pitchFamily="34" charset="0"/>
                <a:ea typeface="Poppins ExtraBold" pitchFamily="34" charset="-122"/>
                <a:cs typeface="Poppins ExtraBold" pitchFamily="34" charset="-120"/>
              </a:rPr>
              <a:t>1994 – 2003</a:t>
            </a:r>
            <a:endParaRPr lang="en-US" sz="2000" dirty="0"/>
          </a:p>
        </p:txBody>
      </p:sp>
      <p:sp>
        <p:nvSpPr>
          <p:cNvPr id="21" name="Text 18"/>
          <p:cNvSpPr/>
          <p:nvPr/>
        </p:nvSpPr>
        <p:spPr>
          <a:xfrm>
            <a:off x="4524146"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Generasi akademi</a:t>
            </a:r>
            <a:endParaRPr lang="en-US" sz="1200" dirty="0"/>
          </a:p>
        </p:txBody>
      </p:sp>
      <p:sp>
        <p:nvSpPr>
          <p:cNvPr id="22" name="Text 19"/>
          <p:cNvSpPr/>
          <p:nvPr/>
        </p:nvSpPr>
        <p:spPr>
          <a:xfrm>
            <a:off x="4524146"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Juara liga junior 1990 menghasilkan Giggs, Beckham, Butt, Gary dan Phil Neville, serta Scholes. Mereka jadi inti tim yang mendominasi sepakbola Inggris.</a:t>
            </a:r>
            <a:endParaRPr lang="en-US" sz="900" dirty="0"/>
          </a:p>
        </p:txBody>
      </p:sp>
      <p:sp>
        <p:nvSpPr>
          <p:cNvPr id="23" name="Shape 20"/>
          <p:cNvSpPr/>
          <p:nvPr/>
        </p:nvSpPr>
        <p:spPr>
          <a:xfrm>
            <a:off x="4524146" y="4453128"/>
            <a:ext cx="3143402" cy="9144"/>
          </a:xfrm>
          <a:prstGeom prst="rect">
            <a:avLst/>
          </a:prstGeom>
          <a:solidFill>
            <a:srgbClr val="46292D"/>
          </a:solidFill>
          <a:ln w="12700">
            <a:solidFill>
              <a:srgbClr val="46292D"/>
            </a:solidFill>
            <a:prstDash val="solid"/>
          </a:ln>
        </p:spPr>
      </p:sp>
      <p:sp>
        <p:nvSpPr>
          <p:cNvPr id="24" name="Text 21"/>
          <p:cNvSpPr/>
          <p:nvPr/>
        </p:nvSpPr>
        <p:spPr>
          <a:xfrm>
            <a:off x="4524146"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Puncaknya 1999: liga, FA Cup, European Cup, Intercontinental Cup</a:t>
            </a:r>
            <a:endParaRPr lang="en-US" sz="850" dirty="0"/>
          </a:p>
        </p:txBody>
      </p:sp>
      <p:sp>
        <p:nvSpPr>
          <p:cNvPr id="25" name="Shape 22"/>
          <p:cNvSpPr/>
          <p:nvPr/>
        </p:nvSpPr>
        <p:spPr>
          <a:xfrm>
            <a:off x="8234477" y="1773936"/>
            <a:ext cx="201168" cy="201168"/>
          </a:xfrm>
          <a:prstGeom prst="ellipse">
            <a:avLst/>
          </a:prstGeom>
          <a:solidFill>
            <a:srgbClr val="FBE122"/>
          </a:solidFill>
          <a:ln w="12700">
            <a:solidFill>
              <a:srgbClr val="FBE122"/>
            </a:solidFill>
            <a:prstDash val="solid"/>
          </a:ln>
        </p:spPr>
      </p:sp>
      <p:sp>
        <p:nvSpPr>
          <p:cNvPr id="26" name="Shape 23"/>
          <p:cNvSpPr/>
          <p:nvPr/>
        </p:nvSpPr>
        <p:spPr>
          <a:xfrm>
            <a:off x="8097317" y="2139696"/>
            <a:ext cx="3545738" cy="3017520"/>
          </a:xfrm>
          <a:prstGeom prst="rect">
            <a:avLst/>
          </a:prstGeom>
          <a:solidFill>
            <a:srgbClr val="27161A"/>
          </a:solidFill>
          <a:ln w="12700">
            <a:solidFill>
              <a:srgbClr val="27161A"/>
            </a:solidFill>
            <a:prstDash val="solid"/>
          </a:ln>
        </p:spPr>
      </p:sp>
      <p:sp>
        <p:nvSpPr>
          <p:cNvPr id="27" name="Text 24"/>
          <p:cNvSpPr/>
          <p:nvPr/>
        </p:nvSpPr>
        <p:spPr>
          <a:xfrm>
            <a:off x="8298485" y="2286000"/>
            <a:ext cx="3179978" cy="411480"/>
          </a:xfrm>
          <a:prstGeom prst="rect">
            <a:avLst/>
          </a:prstGeom>
          <a:noFill/>
          <a:ln/>
        </p:spPr>
        <p:txBody>
          <a:bodyPr wrap="square" lIns="0" tIns="0" rIns="0" bIns="0" rtlCol="0" anchor="t"/>
          <a:lstStyle/>
          <a:p>
            <a:pPr indent="0" marL="0">
              <a:buNone/>
            </a:pPr>
            <a:r>
              <a:rPr lang="en-US" sz="2000" dirty="0">
                <a:solidFill>
                  <a:srgbClr val="C8102E"/>
                </a:solidFill>
                <a:latin typeface="Poppins ExtraBold" pitchFamily="34" charset="0"/>
                <a:ea typeface="Poppins ExtraBold" pitchFamily="34" charset="-122"/>
                <a:cs typeface="Poppins ExtraBold" pitchFamily="34" charset="-120"/>
              </a:rPr>
              <a:t>2003 – 2008</a:t>
            </a:r>
            <a:endParaRPr lang="en-US" sz="2000" dirty="0"/>
          </a:p>
        </p:txBody>
      </p:sp>
      <p:sp>
        <p:nvSpPr>
          <p:cNvPr id="28" name="Text 25"/>
          <p:cNvSpPr/>
          <p:nvPr/>
        </p:nvSpPr>
        <p:spPr>
          <a:xfrm>
            <a:off x="8298485"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Regenerasi kedua</a:t>
            </a:r>
            <a:endParaRPr lang="en-US" sz="1200" dirty="0"/>
          </a:p>
        </p:txBody>
      </p:sp>
      <p:sp>
        <p:nvSpPr>
          <p:cNvPr id="29" name="Text 26"/>
          <p:cNvSpPr/>
          <p:nvPr/>
        </p:nvSpPr>
        <p:spPr>
          <a:xfrm>
            <a:off x="8298485"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Kasus mencatat Beckham, Keane, Schmeichel, Cole, Sheringham, Stam dijual. Penggantinya antara lain Ferdinand, Ronaldo, Rooney, van der Sar, Evra, Vidić, Carrick.</a:t>
            </a:r>
            <a:endParaRPr lang="en-US" sz="900" dirty="0"/>
          </a:p>
        </p:txBody>
      </p:sp>
      <p:sp>
        <p:nvSpPr>
          <p:cNvPr id="30" name="Shape 27"/>
          <p:cNvSpPr/>
          <p:nvPr/>
        </p:nvSpPr>
        <p:spPr>
          <a:xfrm>
            <a:off x="8298485" y="4453128"/>
            <a:ext cx="3143402" cy="9144"/>
          </a:xfrm>
          <a:prstGeom prst="rect">
            <a:avLst/>
          </a:prstGeom>
          <a:solidFill>
            <a:srgbClr val="46292D"/>
          </a:solidFill>
          <a:ln w="12700">
            <a:solidFill>
              <a:srgbClr val="46292D"/>
            </a:solidFill>
            <a:prstDash val="solid"/>
          </a:ln>
        </p:spPr>
      </p:sp>
      <p:sp>
        <p:nvSpPr>
          <p:cNvPr id="31" name="Text 28"/>
          <p:cNvSpPr/>
          <p:nvPr/>
        </p:nvSpPr>
        <p:spPr>
          <a:xfrm>
            <a:off x="8298485"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Liga Champions 2008  ·  tiga gelar liga beruntun 2007–2009</a:t>
            </a:r>
            <a:endParaRPr lang="en-US" sz="850" dirty="0"/>
          </a:p>
        </p:txBody>
      </p:sp>
      <p:sp>
        <p:nvSpPr>
          <p:cNvPr id="32" name="Shape 29"/>
          <p:cNvSpPr/>
          <p:nvPr/>
        </p:nvSpPr>
        <p:spPr>
          <a:xfrm>
            <a:off x="548640" y="5321808"/>
            <a:ext cx="11094415" cy="640080"/>
          </a:xfrm>
          <a:prstGeom prst="rect">
            <a:avLst/>
          </a:prstGeom>
          <a:solidFill>
            <a:srgbClr val="C8102E"/>
          </a:solidFill>
          <a:ln w="12700">
            <a:solidFill>
              <a:srgbClr val="C8102E"/>
            </a:solidFill>
            <a:prstDash val="solid"/>
          </a:ln>
        </p:spPr>
      </p:sp>
      <p:sp>
        <p:nvSpPr>
          <p:cNvPr id="33" name="Text 30"/>
          <p:cNvSpPr/>
          <p:nvPr/>
        </p:nvSpPr>
        <p:spPr>
          <a:xfrm>
            <a:off x="777240" y="544982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PRESEDEN DARI KASUS SENDIRI</a:t>
            </a:r>
            <a:endParaRPr lang="en-US" sz="800" dirty="0"/>
          </a:p>
        </p:txBody>
      </p:sp>
      <p:sp>
        <p:nvSpPr>
          <p:cNvPr id="34" name="Text 31"/>
          <p:cNvSpPr/>
          <p:nvPr/>
        </p:nvSpPr>
        <p:spPr>
          <a:xfrm>
            <a:off x="777240" y="5687568"/>
            <a:ext cx="10637215" cy="1828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datang, MU tidak memenangi satu pun gelar liga dan hanya sekali jadi runner-up (hlm. 583).</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DAN STRUKTUR BIAYA MU</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Kerangka Figure 4.3 dipetakan ke aktivitas nyata sebuah klub. Hasilnya: keunggulan biaya MU ada di HULU, di cara mendapatkan pemain.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hlm. 580, 583, 584, 586.</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29</a:t>
            </a:r>
            <a:endParaRPr lang="en-US" sz="900" dirty="0"/>
          </a:p>
        </p:txBody>
      </p:sp>
      <p:sp>
        <p:nvSpPr>
          <p:cNvPr id="10" name="Text 7"/>
          <p:cNvSpPr/>
          <p:nvPr/>
        </p:nvSpPr>
        <p:spPr>
          <a:xfrm>
            <a:off x="548640" y="175564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PRIMARY ACTIVITIES</a:t>
            </a:r>
            <a:endParaRPr lang="en-US" sz="850" dirty="0"/>
          </a:p>
        </p:txBody>
      </p:sp>
      <p:sp>
        <p:nvSpPr>
          <p:cNvPr id="11" name="Shape 8"/>
          <p:cNvSpPr/>
          <p:nvPr/>
        </p:nvSpPr>
        <p:spPr>
          <a:xfrm>
            <a:off x="548640" y="2029968"/>
            <a:ext cx="1335024" cy="1463040"/>
          </a:xfrm>
          <a:prstGeom prst="rect">
            <a:avLst/>
          </a:prstGeom>
          <a:solidFill>
            <a:srgbClr val="C8102E"/>
          </a:solidFill>
          <a:ln w="12700">
            <a:solidFill>
              <a:srgbClr val="C8102E"/>
            </a:solidFill>
            <a:prstDash val="solid"/>
          </a:ln>
        </p:spPr>
      </p:sp>
      <p:sp>
        <p:nvSpPr>
          <p:cNvPr id="12" name="Shape 9"/>
          <p:cNvSpPr/>
          <p:nvPr/>
        </p:nvSpPr>
        <p:spPr>
          <a:xfrm>
            <a:off x="548640" y="2029968"/>
            <a:ext cx="1335024" cy="45720"/>
          </a:xfrm>
          <a:prstGeom prst="rect">
            <a:avLst/>
          </a:prstGeom>
          <a:solidFill>
            <a:srgbClr val="FBE122"/>
          </a:solidFill>
          <a:ln w="12700">
            <a:solidFill>
              <a:srgbClr val="FBE122"/>
            </a:solidFill>
            <a:prstDash val="solid"/>
          </a:ln>
        </p:spPr>
      </p:sp>
      <p:sp>
        <p:nvSpPr>
          <p:cNvPr id="13" name="Text 10"/>
          <p:cNvSpPr/>
          <p:nvPr/>
        </p:nvSpPr>
        <p:spPr>
          <a:xfrm>
            <a:off x="658368"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Supply Chain</a:t>
            </a:r>
            <a:endParaRPr lang="en-US" sz="800" dirty="0"/>
          </a:p>
        </p:txBody>
      </p:sp>
      <p:sp>
        <p:nvSpPr>
          <p:cNvPr id="14" name="Text 11"/>
          <p:cNvSpPr/>
          <p:nvPr/>
        </p:nvSpPr>
        <p:spPr>
          <a:xfrm>
            <a:off x="658368"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Mendapatkan pemain</a:t>
            </a:r>
            <a:endParaRPr lang="en-US" sz="950" dirty="0"/>
          </a:p>
        </p:txBody>
      </p:sp>
      <p:sp>
        <p:nvSpPr>
          <p:cNvPr id="15" name="Text 12"/>
          <p:cNvSpPr/>
          <p:nvPr/>
        </p:nvSpPr>
        <p:spPr>
          <a:xfrm>
            <a:off x="658368"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FFFFFF"/>
                </a:solidFill>
                <a:latin typeface="Poppins" pitchFamily="34" charset="0"/>
                <a:ea typeface="Poppins" pitchFamily="34" charset="-122"/>
                <a:cs typeface="Poppins" pitchFamily="34" charset="-120"/>
              </a:rPr>
              <a:t>Akademi, 20+ pemandu bakat, pasar transfer</a:t>
            </a:r>
            <a:endParaRPr lang="en-US" sz="750" dirty="0"/>
          </a:p>
        </p:txBody>
      </p:sp>
      <p:sp>
        <p:nvSpPr>
          <p:cNvPr id="16" name="Shape 13"/>
          <p:cNvSpPr/>
          <p:nvPr/>
        </p:nvSpPr>
        <p:spPr>
          <a:xfrm>
            <a:off x="1975104" y="2029968"/>
            <a:ext cx="1335024" cy="1463040"/>
          </a:xfrm>
          <a:prstGeom prst="rect">
            <a:avLst/>
          </a:prstGeom>
          <a:solidFill>
            <a:srgbClr val="27161A"/>
          </a:solidFill>
          <a:ln w="12700">
            <a:solidFill>
              <a:srgbClr val="27161A"/>
            </a:solidFill>
            <a:prstDash val="solid"/>
          </a:ln>
        </p:spPr>
      </p:sp>
      <p:sp>
        <p:nvSpPr>
          <p:cNvPr id="17" name="Shape 14"/>
          <p:cNvSpPr/>
          <p:nvPr/>
        </p:nvSpPr>
        <p:spPr>
          <a:xfrm>
            <a:off x="1975104" y="2029968"/>
            <a:ext cx="1335024" cy="45720"/>
          </a:xfrm>
          <a:prstGeom prst="rect">
            <a:avLst/>
          </a:prstGeom>
          <a:solidFill>
            <a:srgbClr val="C8102E"/>
          </a:solidFill>
          <a:ln w="12700">
            <a:solidFill>
              <a:srgbClr val="C8102E"/>
            </a:solidFill>
            <a:prstDash val="solid"/>
          </a:ln>
        </p:spPr>
      </p:sp>
      <p:sp>
        <p:nvSpPr>
          <p:cNvPr id="18" name="Text 15"/>
          <p:cNvSpPr/>
          <p:nvPr/>
        </p:nvSpPr>
        <p:spPr>
          <a:xfrm>
            <a:off x="2084832"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Operations</a:t>
            </a:r>
            <a:endParaRPr lang="en-US" sz="800" dirty="0"/>
          </a:p>
        </p:txBody>
      </p:sp>
      <p:sp>
        <p:nvSpPr>
          <p:cNvPr id="19" name="Text 16"/>
          <p:cNvSpPr/>
          <p:nvPr/>
        </p:nvSpPr>
        <p:spPr>
          <a:xfrm>
            <a:off x="2084832"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Latihan dan bertanding</a:t>
            </a:r>
            <a:endParaRPr lang="en-US" sz="950" dirty="0"/>
          </a:p>
        </p:txBody>
      </p:sp>
      <p:sp>
        <p:nvSpPr>
          <p:cNvPr id="20" name="Text 17"/>
          <p:cNvSpPr/>
          <p:nvPr/>
        </p:nvSpPr>
        <p:spPr>
          <a:xfrm>
            <a:off x="2084832"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Disiplin latihan, rotasi skuad, taktik</a:t>
            </a:r>
            <a:endParaRPr lang="en-US" sz="750" dirty="0"/>
          </a:p>
        </p:txBody>
      </p:sp>
      <p:sp>
        <p:nvSpPr>
          <p:cNvPr id="21" name="Shape 18"/>
          <p:cNvSpPr/>
          <p:nvPr/>
        </p:nvSpPr>
        <p:spPr>
          <a:xfrm>
            <a:off x="3401568" y="2029968"/>
            <a:ext cx="1335024" cy="1463040"/>
          </a:xfrm>
          <a:prstGeom prst="rect">
            <a:avLst/>
          </a:prstGeom>
          <a:solidFill>
            <a:srgbClr val="27161A"/>
          </a:solidFill>
          <a:ln w="12700">
            <a:solidFill>
              <a:srgbClr val="27161A"/>
            </a:solidFill>
            <a:prstDash val="solid"/>
          </a:ln>
        </p:spPr>
      </p:sp>
      <p:sp>
        <p:nvSpPr>
          <p:cNvPr id="22" name="Shape 19"/>
          <p:cNvSpPr/>
          <p:nvPr/>
        </p:nvSpPr>
        <p:spPr>
          <a:xfrm>
            <a:off x="3401568" y="2029968"/>
            <a:ext cx="1335024" cy="45720"/>
          </a:xfrm>
          <a:prstGeom prst="rect">
            <a:avLst/>
          </a:prstGeom>
          <a:solidFill>
            <a:srgbClr val="C8102E"/>
          </a:solidFill>
          <a:ln w="12700">
            <a:solidFill>
              <a:srgbClr val="C8102E"/>
            </a:solidFill>
            <a:prstDash val="solid"/>
          </a:ln>
        </p:spPr>
      </p:sp>
      <p:sp>
        <p:nvSpPr>
          <p:cNvPr id="23" name="Text 20"/>
          <p:cNvSpPr/>
          <p:nvPr/>
        </p:nvSpPr>
        <p:spPr>
          <a:xfrm>
            <a:off x="3511296"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Distribution</a:t>
            </a:r>
            <a:endParaRPr lang="en-US" sz="800" dirty="0"/>
          </a:p>
        </p:txBody>
      </p:sp>
      <p:sp>
        <p:nvSpPr>
          <p:cNvPr id="24" name="Text 21"/>
          <p:cNvSpPr/>
          <p:nvPr/>
        </p:nvSpPr>
        <p:spPr>
          <a:xfrm>
            <a:off x="3511296"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Menyalurkan tontonan</a:t>
            </a:r>
            <a:endParaRPr lang="en-US" sz="950" dirty="0"/>
          </a:p>
        </p:txBody>
      </p:sp>
      <p:sp>
        <p:nvSpPr>
          <p:cNvPr id="25" name="Text 22"/>
          <p:cNvSpPr/>
          <p:nvPr/>
        </p:nvSpPr>
        <p:spPr>
          <a:xfrm>
            <a:off x="3511296"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Hak siar liga dan UEFA, MUTV, Old Trafford</a:t>
            </a:r>
            <a:endParaRPr lang="en-US" sz="750" dirty="0"/>
          </a:p>
        </p:txBody>
      </p:sp>
      <p:sp>
        <p:nvSpPr>
          <p:cNvPr id="26" name="Shape 23"/>
          <p:cNvSpPr/>
          <p:nvPr/>
        </p:nvSpPr>
        <p:spPr>
          <a:xfrm>
            <a:off x="4828032" y="2029968"/>
            <a:ext cx="1335024" cy="1463040"/>
          </a:xfrm>
          <a:prstGeom prst="rect">
            <a:avLst/>
          </a:prstGeom>
          <a:solidFill>
            <a:srgbClr val="27161A"/>
          </a:solidFill>
          <a:ln w="12700">
            <a:solidFill>
              <a:srgbClr val="27161A"/>
            </a:solidFill>
            <a:prstDash val="solid"/>
          </a:ln>
        </p:spPr>
      </p:sp>
      <p:sp>
        <p:nvSpPr>
          <p:cNvPr id="27" name="Shape 24"/>
          <p:cNvSpPr/>
          <p:nvPr/>
        </p:nvSpPr>
        <p:spPr>
          <a:xfrm>
            <a:off x="4828032" y="2029968"/>
            <a:ext cx="1335024" cy="45720"/>
          </a:xfrm>
          <a:prstGeom prst="rect">
            <a:avLst/>
          </a:prstGeom>
          <a:solidFill>
            <a:srgbClr val="C8102E"/>
          </a:solidFill>
          <a:ln w="12700">
            <a:solidFill>
              <a:srgbClr val="C8102E"/>
            </a:solidFill>
            <a:prstDash val="solid"/>
          </a:ln>
        </p:spPr>
      </p:sp>
      <p:sp>
        <p:nvSpPr>
          <p:cNvPr id="28" name="Text 25"/>
          <p:cNvSpPr/>
          <p:nvPr/>
        </p:nvSpPr>
        <p:spPr>
          <a:xfrm>
            <a:off x="4937760"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Sales &amp; Marketing</a:t>
            </a:r>
            <a:endParaRPr lang="en-US" sz="800" dirty="0"/>
          </a:p>
        </p:txBody>
      </p:sp>
      <p:sp>
        <p:nvSpPr>
          <p:cNvPr id="29" name="Text 26"/>
          <p:cNvSpPr/>
          <p:nvPr/>
        </p:nvSpPr>
        <p:spPr>
          <a:xfrm>
            <a:off x="4937760"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Menjual merek</a:t>
            </a:r>
            <a:endParaRPr lang="en-US" sz="950" dirty="0"/>
          </a:p>
        </p:txBody>
      </p:sp>
      <p:sp>
        <p:nvSpPr>
          <p:cNvPr id="30" name="Text 27"/>
          <p:cNvSpPr/>
          <p:nvPr/>
        </p:nvSpPr>
        <p:spPr>
          <a:xfrm>
            <a:off x="4937760"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Nike, AIG/Aon, 13 sponsor lain, tur Asia</a:t>
            </a:r>
            <a:endParaRPr lang="en-US" sz="750" dirty="0"/>
          </a:p>
        </p:txBody>
      </p:sp>
      <p:sp>
        <p:nvSpPr>
          <p:cNvPr id="31" name="Shape 28"/>
          <p:cNvSpPr/>
          <p:nvPr/>
        </p:nvSpPr>
        <p:spPr>
          <a:xfrm>
            <a:off x="6254496" y="2029968"/>
            <a:ext cx="1335024" cy="1463040"/>
          </a:xfrm>
          <a:prstGeom prst="rect">
            <a:avLst/>
          </a:prstGeom>
          <a:solidFill>
            <a:srgbClr val="27161A"/>
          </a:solidFill>
          <a:ln w="12700">
            <a:solidFill>
              <a:srgbClr val="27161A"/>
            </a:solidFill>
            <a:prstDash val="solid"/>
          </a:ln>
        </p:spPr>
      </p:sp>
      <p:sp>
        <p:nvSpPr>
          <p:cNvPr id="32" name="Shape 29"/>
          <p:cNvSpPr/>
          <p:nvPr/>
        </p:nvSpPr>
        <p:spPr>
          <a:xfrm>
            <a:off x="6254496" y="2029968"/>
            <a:ext cx="1335024" cy="45720"/>
          </a:xfrm>
          <a:prstGeom prst="rect">
            <a:avLst/>
          </a:prstGeom>
          <a:solidFill>
            <a:srgbClr val="C8102E"/>
          </a:solidFill>
          <a:ln w="12700">
            <a:solidFill>
              <a:srgbClr val="C8102E"/>
            </a:solidFill>
            <a:prstDash val="solid"/>
          </a:ln>
        </p:spPr>
      </p:sp>
      <p:sp>
        <p:nvSpPr>
          <p:cNvPr id="33" name="Text 30"/>
          <p:cNvSpPr/>
          <p:nvPr/>
        </p:nvSpPr>
        <p:spPr>
          <a:xfrm>
            <a:off x="6364224"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Service</a:t>
            </a:r>
            <a:endParaRPr lang="en-US" sz="800" dirty="0"/>
          </a:p>
        </p:txBody>
      </p:sp>
      <p:sp>
        <p:nvSpPr>
          <p:cNvPr id="34" name="Text 31"/>
          <p:cNvSpPr/>
          <p:nvPr/>
        </p:nvSpPr>
        <p:spPr>
          <a:xfrm>
            <a:off x="6364224"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Melayani pendukung</a:t>
            </a:r>
            <a:endParaRPr lang="en-US" sz="950" dirty="0"/>
          </a:p>
        </p:txBody>
      </p:sp>
      <p:sp>
        <p:nvSpPr>
          <p:cNvPr id="35" name="Text 32"/>
          <p:cNvSpPr/>
          <p:nvPr/>
        </p:nvSpPr>
        <p:spPr>
          <a:xfrm>
            <a:off x="6364224"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Superstore, museum, Soccer Schools, MU Mobile</a:t>
            </a:r>
            <a:endParaRPr lang="en-US" sz="750" dirty="0"/>
          </a:p>
        </p:txBody>
      </p:sp>
      <p:sp>
        <p:nvSpPr>
          <p:cNvPr id="36" name="Text 33"/>
          <p:cNvSpPr/>
          <p:nvPr/>
        </p:nvSpPr>
        <p:spPr>
          <a:xfrm>
            <a:off x="548640" y="365760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SUPPORT ACTIVITIES</a:t>
            </a:r>
            <a:endParaRPr lang="en-US" sz="850" dirty="0"/>
          </a:p>
        </p:txBody>
      </p:sp>
      <p:sp>
        <p:nvSpPr>
          <p:cNvPr id="37" name="Shape 34"/>
          <p:cNvSpPr/>
          <p:nvPr/>
        </p:nvSpPr>
        <p:spPr>
          <a:xfrm>
            <a:off x="548640" y="3931920"/>
            <a:ext cx="2286000" cy="868680"/>
          </a:xfrm>
          <a:prstGeom prst="rect">
            <a:avLst/>
          </a:prstGeom>
          <a:solidFill>
            <a:srgbClr val="32191E"/>
          </a:solidFill>
          <a:ln w="12700">
            <a:solidFill>
              <a:srgbClr val="32191E"/>
            </a:solidFill>
            <a:prstDash val="solid"/>
          </a:ln>
        </p:spPr>
      </p:sp>
      <p:sp>
        <p:nvSpPr>
          <p:cNvPr id="38" name="Shape 35"/>
          <p:cNvSpPr/>
          <p:nvPr/>
        </p:nvSpPr>
        <p:spPr>
          <a:xfrm>
            <a:off x="548640" y="3931920"/>
            <a:ext cx="45720" cy="868680"/>
          </a:xfrm>
          <a:prstGeom prst="rect">
            <a:avLst/>
          </a:prstGeom>
          <a:solidFill>
            <a:srgbClr val="FBE122"/>
          </a:solidFill>
          <a:ln w="12700">
            <a:solidFill>
              <a:srgbClr val="FBE122"/>
            </a:solidFill>
            <a:prstDash val="solid"/>
          </a:ln>
        </p:spPr>
      </p:sp>
      <p:sp>
        <p:nvSpPr>
          <p:cNvPr id="39" name="Text 36"/>
          <p:cNvSpPr/>
          <p:nvPr/>
        </p:nvSpPr>
        <p:spPr>
          <a:xfrm>
            <a:off x="73152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Product R&amp;D &amp; Systems</a:t>
            </a:r>
            <a:endParaRPr lang="en-US" sz="900" dirty="0"/>
          </a:p>
        </p:txBody>
      </p:sp>
      <p:sp>
        <p:nvSpPr>
          <p:cNvPr id="40" name="Text 37"/>
          <p:cNvSpPr/>
          <p:nvPr/>
        </p:nvSpPr>
        <p:spPr>
          <a:xfrm>
            <a:off x="73152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Metodologi akademi, inovasi rotasi skuad, MUTV</a:t>
            </a:r>
            <a:endParaRPr lang="en-US" sz="750" dirty="0"/>
          </a:p>
        </p:txBody>
      </p:sp>
      <p:sp>
        <p:nvSpPr>
          <p:cNvPr id="41" name="Shape 38"/>
          <p:cNvSpPr/>
          <p:nvPr/>
        </p:nvSpPr>
        <p:spPr>
          <a:xfrm>
            <a:off x="2926080" y="3931920"/>
            <a:ext cx="2286000" cy="868680"/>
          </a:xfrm>
          <a:prstGeom prst="rect">
            <a:avLst/>
          </a:prstGeom>
          <a:solidFill>
            <a:srgbClr val="32191E"/>
          </a:solidFill>
          <a:ln w="12700">
            <a:solidFill>
              <a:srgbClr val="32191E"/>
            </a:solidFill>
            <a:prstDash val="solid"/>
          </a:ln>
        </p:spPr>
      </p:sp>
      <p:sp>
        <p:nvSpPr>
          <p:cNvPr id="42" name="Shape 39"/>
          <p:cNvSpPr/>
          <p:nvPr/>
        </p:nvSpPr>
        <p:spPr>
          <a:xfrm>
            <a:off x="2926080" y="3931920"/>
            <a:ext cx="45720" cy="868680"/>
          </a:xfrm>
          <a:prstGeom prst="rect">
            <a:avLst/>
          </a:prstGeom>
          <a:solidFill>
            <a:srgbClr val="FBE122"/>
          </a:solidFill>
          <a:ln w="12700">
            <a:solidFill>
              <a:srgbClr val="FBE122"/>
            </a:solidFill>
            <a:prstDash val="solid"/>
          </a:ln>
        </p:spPr>
      </p:sp>
      <p:sp>
        <p:nvSpPr>
          <p:cNvPr id="43" name="Text 40"/>
          <p:cNvSpPr/>
          <p:nvPr/>
        </p:nvSpPr>
        <p:spPr>
          <a:xfrm>
            <a:off x="310896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Human Resource Management</a:t>
            </a:r>
            <a:endParaRPr lang="en-US" sz="900" dirty="0"/>
          </a:p>
        </p:txBody>
      </p:sp>
      <p:sp>
        <p:nvSpPr>
          <p:cNvPr id="44" name="Text 41"/>
          <p:cNvSpPr/>
          <p:nvPr/>
        </p:nvSpPr>
        <p:spPr>
          <a:xfrm>
            <a:off x="310896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Rekrutmen, struktur gaji, penegakan disiplin</a:t>
            </a:r>
            <a:endParaRPr lang="en-US" sz="750" dirty="0"/>
          </a:p>
        </p:txBody>
      </p:sp>
      <p:sp>
        <p:nvSpPr>
          <p:cNvPr id="45" name="Shape 42"/>
          <p:cNvSpPr/>
          <p:nvPr/>
        </p:nvSpPr>
        <p:spPr>
          <a:xfrm>
            <a:off x="5303520" y="3931920"/>
            <a:ext cx="2286000" cy="868680"/>
          </a:xfrm>
          <a:prstGeom prst="rect">
            <a:avLst/>
          </a:prstGeom>
          <a:solidFill>
            <a:srgbClr val="32191E"/>
          </a:solidFill>
          <a:ln w="12700">
            <a:solidFill>
              <a:srgbClr val="32191E"/>
            </a:solidFill>
            <a:prstDash val="solid"/>
          </a:ln>
        </p:spPr>
      </p:sp>
      <p:sp>
        <p:nvSpPr>
          <p:cNvPr id="46" name="Shape 43"/>
          <p:cNvSpPr/>
          <p:nvPr/>
        </p:nvSpPr>
        <p:spPr>
          <a:xfrm>
            <a:off x="5303520" y="3931920"/>
            <a:ext cx="45720" cy="868680"/>
          </a:xfrm>
          <a:prstGeom prst="rect">
            <a:avLst/>
          </a:prstGeom>
          <a:solidFill>
            <a:srgbClr val="FBE122"/>
          </a:solidFill>
          <a:ln w="12700">
            <a:solidFill>
              <a:srgbClr val="FBE122"/>
            </a:solidFill>
            <a:prstDash val="solid"/>
          </a:ln>
        </p:spPr>
      </p:sp>
      <p:sp>
        <p:nvSpPr>
          <p:cNvPr id="47" name="Text 44"/>
          <p:cNvSpPr/>
          <p:nvPr/>
        </p:nvSpPr>
        <p:spPr>
          <a:xfrm>
            <a:off x="548640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General Administration</a:t>
            </a:r>
            <a:endParaRPr lang="en-US" sz="900" dirty="0"/>
          </a:p>
        </p:txBody>
      </p:sp>
      <p:sp>
        <p:nvSpPr>
          <p:cNvPr id="48" name="Text 45"/>
          <p:cNvSpPr/>
          <p:nvPr/>
        </p:nvSpPr>
        <p:spPr>
          <a:xfrm>
            <a:off x="548640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Pemisahan peran Gill dan Ferguson; MU International</a:t>
            </a:r>
            <a:endParaRPr lang="en-US" sz="750" dirty="0"/>
          </a:p>
        </p:txBody>
      </p:sp>
      <p:sp>
        <p:nvSpPr>
          <p:cNvPr id="49" name="Text 46"/>
          <p:cNvSpPr/>
          <p:nvPr/>
        </p:nvSpPr>
        <p:spPr>
          <a:xfrm>
            <a:off x="7863840" y="1755648"/>
            <a:ext cx="377921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DI MANA LETAK KEUNGGULAN BIAYANYA</a:t>
            </a:r>
            <a:endParaRPr lang="en-US" sz="850" dirty="0"/>
          </a:p>
        </p:txBody>
      </p:sp>
      <p:sp>
        <p:nvSpPr>
          <p:cNvPr id="50" name="Shape 47"/>
          <p:cNvSpPr/>
          <p:nvPr/>
        </p:nvSpPr>
        <p:spPr>
          <a:xfrm>
            <a:off x="7863840" y="2029968"/>
            <a:ext cx="3779215" cy="640080"/>
          </a:xfrm>
          <a:prstGeom prst="rect">
            <a:avLst/>
          </a:prstGeom>
          <a:solidFill>
            <a:srgbClr val="27161A"/>
          </a:solidFill>
          <a:ln w="12700">
            <a:solidFill>
              <a:srgbClr val="27161A"/>
            </a:solidFill>
            <a:prstDash val="solid"/>
          </a:ln>
        </p:spPr>
      </p:sp>
      <p:sp>
        <p:nvSpPr>
          <p:cNvPr id="51" name="Shape 48"/>
          <p:cNvSpPr/>
          <p:nvPr/>
        </p:nvSpPr>
        <p:spPr>
          <a:xfrm>
            <a:off x="7863840" y="2029968"/>
            <a:ext cx="45720" cy="640080"/>
          </a:xfrm>
          <a:prstGeom prst="rect">
            <a:avLst/>
          </a:prstGeom>
          <a:solidFill>
            <a:srgbClr val="C8102E"/>
          </a:solidFill>
          <a:ln w="12700">
            <a:solidFill>
              <a:srgbClr val="C8102E"/>
            </a:solidFill>
            <a:prstDash val="solid"/>
          </a:ln>
        </p:spPr>
      </p:sp>
      <p:sp>
        <p:nvSpPr>
          <p:cNvPr id="52" name="Text 49"/>
          <p:cNvSpPr/>
          <p:nvPr/>
        </p:nvSpPr>
        <p:spPr>
          <a:xfrm>
            <a:off x="8046720" y="2093976"/>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Gaji hanya ± 50% pendapatan</a:t>
            </a:r>
            <a:endParaRPr lang="en-US" sz="950" dirty="0"/>
          </a:p>
        </p:txBody>
      </p:sp>
      <p:sp>
        <p:nvSpPr>
          <p:cNvPr id="53" name="Text 50"/>
          <p:cNvSpPr/>
          <p:nvPr/>
        </p:nvSpPr>
        <p:spPr>
          <a:xfrm>
            <a:off x="8046720" y="2322576"/>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Rata-rata Premier League 62%, Serie A 68%, Chelsea 81%. Selisih 31 poin dengan Chelsea.</a:t>
            </a:r>
            <a:endParaRPr lang="en-US" sz="750" dirty="0"/>
          </a:p>
        </p:txBody>
      </p:sp>
      <p:sp>
        <p:nvSpPr>
          <p:cNvPr id="54" name="Shape 51"/>
          <p:cNvSpPr/>
          <p:nvPr/>
        </p:nvSpPr>
        <p:spPr>
          <a:xfrm>
            <a:off x="7863840" y="2734056"/>
            <a:ext cx="3779215" cy="640080"/>
          </a:xfrm>
          <a:prstGeom prst="rect">
            <a:avLst/>
          </a:prstGeom>
          <a:solidFill>
            <a:srgbClr val="32191E"/>
          </a:solidFill>
          <a:ln w="12700">
            <a:solidFill>
              <a:srgbClr val="32191E"/>
            </a:solidFill>
            <a:prstDash val="solid"/>
          </a:ln>
        </p:spPr>
      </p:sp>
      <p:sp>
        <p:nvSpPr>
          <p:cNvPr id="55" name="Shape 52"/>
          <p:cNvSpPr/>
          <p:nvPr/>
        </p:nvSpPr>
        <p:spPr>
          <a:xfrm>
            <a:off x="7863840" y="2734056"/>
            <a:ext cx="45720" cy="640080"/>
          </a:xfrm>
          <a:prstGeom prst="rect">
            <a:avLst/>
          </a:prstGeom>
          <a:solidFill>
            <a:srgbClr val="C8102E"/>
          </a:solidFill>
          <a:ln w="12700">
            <a:solidFill>
              <a:srgbClr val="C8102E"/>
            </a:solidFill>
            <a:prstDash val="solid"/>
          </a:ln>
        </p:spPr>
      </p:sp>
      <p:sp>
        <p:nvSpPr>
          <p:cNvPr id="56" name="Text 53"/>
          <p:cNvSpPr/>
          <p:nvPr/>
        </p:nvSpPr>
        <p:spPr>
          <a:xfrm>
            <a:off x="8046720" y="2798064"/>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Akademi: pemain tanpa biaya transfer</a:t>
            </a:r>
            <a:endParaRPr lang="en-US" sz="950" dirty="0"/>
          </a:p>
        </p:txBody>
      </p:sp>
      <p:sp>
        <p:nvSpPr>
          <p:cNvPr id="57" name="Text 54"/>
          <p:cNvSpPr/>
          <p:nvPr/>
        </p:nvSpPr>
        <p:spPr>
          <a:xfrm>
            <a:off x="8046720" y="3026664"/>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Giggs, Beckham, Butt, Neville bersaudara, Scholes: inti tim 1994–2003 (hlm. 584).</a:t>
            </a:r>
            <a:endParaRPr lang="en-US" sz="750" dirty="0"/>
          </a:p>
        </p:txBody>
      </p:sp>
      <p:sp>
        <p:nvSpPr>
          <p:cNvPr id="58" name="Shape 55"/>
          <p:cNvSpPr/>
          <p:nvPr/>
        </p:nvSpPr>
        <p:spPr>
          <a:xfrm>
            <a:off x="7863840" y="3438144"/>
            <a:ext cx="3779215" cy="640080"/>
          </a:xfrm>
          <a:prstGeom prst="rect">
            <a:avLst/>
          </a:prstGeom>
          <a:solidFill>
            <a:srgbClr val="27161A"/>
          </a:solidFill>
          <a:ln w="12700">
            <a:solidFill>
              <a:srgbClr val="27161A"/>
            </a:solidFill>
            <a:prstDash val="solid"/>
          </a:ln>
        </p:spPr>
      </p:sp>
      <p:sp>
        <p:nvSpPr>
          <p:cNvPr id="59" name="Shape 56"/>
          <p:cNvSpPr/>
          <p:nvPr/>
        </p:nvSpPr>
        <p:spPr>
          <a:xfrm>
            <a:off x="7863840" y="3438144"/>
            <a:ext cx="45720" cy="640080"/>
          </a:xfrm>
          <a:prstGeom prst="rect">
            <a:avLst/>
          </a:prstGeom>
          <a:solidFill>
            <a:srgbClr val="C8102E"/>
          </a:solidFill>
          <a:ln w="12700">
            <a:solidFill>
              <a:srgbClr val="C8102E"/>
            </a:solidFill>
            <a:prstDash val="solid"/>
          </a:ln>
        </p:spPr>
      </p:sp>
      <p:sp>
        <p:nvSpPr>
          <p:cNvPr id="60" name="Text 57"/>
          <p:cNvSpPr/>
          <p:nvPr/>
        </p:nvSpPr>
        <p:spPr>
          <a:xfrm>
            <a:off x="8046720" y="3502152"/>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Menjual pemain yang dihargai tinggi</a:t>
            </a:r>
            <a:endParaRPr lang="en-US" sz="950" dirty="0"/>
          </a:p>
        </p:txBody>
      </p:sp>
      <p:sp>
        <p:nvSpPr>
          <p:cNvPr id="61" name="Text 58"/>
          <p:cNvSpPr/>
          <p:nvPr/>
        </p:nvSpPr>
        <p:spPr>
          <a:xfrm>
            <a:off x="8046720" y="3730752"/>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Kotor £322 jt, bersih hanya £100 jt (2003–09). Ronaldo dilepas £80 jt, rekor dunia.</a:t>
            </a:r>
            <a:endParaRPr lang="en-US" sz="750" dirty="0"/>
          </a:p>
        </p:txBody>
      </p:sp>
      <p:sp>
        <p:nvSpPr>
          <p:cNvPr id="62" name="Shape 59"/>
          <p:cNvSpPr/>
          <p:nvPr/>
        </p:nvSpPr>
        <p:spPr>
          <a:xfrm>
            <a:off x="7863840" y="4142232"/>
            <a:ext cx="3779215" cy="640080"/>
          </a:xfrm>
          <a:prstGeom prst="rect">
            <a:avLst/>
          </a:prstGeom>
          <a:solidFill>
            <a:srgbClr val="32191E"/>
          </a:solidFill>
          <a:ln w="12700">
            <a:solidFill>
              <a:srgbClr val="32191E"/>
            </a:solidFill>
            <a:prstDash val="solid"/>
          </a:ln>
        </p:spPr>
      </p:sp>
      <p:sp>
        <p:nvSpPr>
          <p:cNvPr id="63" name="Shape 60"/>
          <p:cNvSpPr/>
          <p:nvPr/>
        </p:nvSpPr>
        <p:spPr>
          <a:xfrm>
            <a:off x="7863840" y="4142232"/>
            <a:ext cx="45720" cy="640080"/>
          </a:xfrm>
          <a:prstGeom prst="rect">
            <a:avLst/>
          </a:prstGeom>
          <a:solidFill>
            <a:srgbClr val="FBE122"/>
          </a:solidFill>
          <a:ln w="12700">
            <a:solidFill>
              <a:srgbClr val="FBE122"/>
            </a:solidFill>
            <a:prstDash val="solid"/>
          </a:ln>
        </p:spPr>
      </p:sp>
      <p:sp>
        <p:nvSpPr>
          <p:cNvPr id="64" name="Text 61"/>
          <p:cNvSpPr/>
          <p:nvPr/>
        </p:nvSpPr>
        <p:spPr>
          <a:xfrm>
            <a:off x="8046720" y="4206240"/>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Yang melawan arah</a:t>
            </a:r>
            <a:endParaRPr lang="en-US" sz="950" dirty="0"/>
          </a:p>
        </p:txBody>
      </p:sp>
      <p:sp>
        <p:nvSpPr>
          <p:cNvPr id="65" name="Text 62"/>
          <p:cNvSpPr/>
          <p:nvPr/>
        </p:nvSpPr>
        <p:spPr>
          <a:xfrm>
            <a:off x="8046720" y="4434840"/>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Amortisasi pemain naik dari £24,2 jt (2005) ke £35,5 jt (2008).</a:t>
            </a:r>
            <a:endParaRPr lang="en-US" sz="750" dirty="0"/>
          </a:p>
        </p:txBody>
      </p:sp>
      <p:sp>
        <p:nvSpPr>
          <p:cNvPr id="66" name="Shape 63"/>
          <p:cNvSpPr/>
          <p:nvPr/>
        </p:nvSpPr>
        <p:spPr>
          <a:xfrm>
            <a:off x="548640" y="5001768"/>
            <a:ext cx="11094415" cy="868680"/>
          </a:xfrm>
          <a:prstGeom prst="rect">
            <a:avLst/>
          </a:prstGeom>
          <a:solidFill>
            <a:srgbClr val="C8102E"/>
          </a:solidFill>
          <a:ln w="12700">
            <a:solidFill>
              <a:srgbClr val="C8102E"/>
            </a:solidFill>
            <a:prstDash val="solid"/>
          </a:ln>
        </p:spPr>
      </p:sp>
      <p:sp>
        <p:nvSpPr>
          <p:cNvPr id="67" name="Text 64"/>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NILAI BAGI DUA PIHAK BERBEDA</a:t>
            </a:r>
            <a:endParaRPr lang="en-US" sz="800" dirty="0"/>
          </a:p>
        </p:txBody>
      </p:sp>
      <p:sp>
        <p:nvSpPr>
          <p:cNvPr id="68" name="Text 65"/>
          <p:cNvSpPr/>
          <p:nvPr/>
        </p:nvSpPr>
        <p:spPr>
          <a:xfrm>
            <a:off x="777240" y="5367528"/>
            <a:ext cx="10637215" cy="4114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Bagi pendukung: prestasi, sejarah, dan pengalaman Old Trafford. Bagi sponsor: akses ke 80 juta pendukung Asia, ditambah bukti bahwa akses itu bekerja, yaitu lompatan AIG ke peringkat 47 merek dunia dalam satu tahun.</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BENCHMARKING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YANG DIBANDINGKAN BUKAN PENDAPATAN, TETAPI MARGIN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Benchmarking mengubah dugaan VRIN Test menjadi bukti: sistem pengembangan dan penjualan pemain MU memang lebih unggul.</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6.5 (Forbes 2009) dan Table 6.6; margin dihitung dari EBITDA dibagi pendapatan.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30</a:t>
            </a:r>
            <a:endParaRPr lang="en-US" sz="900" dirty="0"/>
          </a:p>
        </p:txBody>
      </p:sp>
      <p:sp>
        <p:nvSpPr>
          <p:cNvPr id="10" name="Shape 7"/>
          <p:cNvSpPr/>
          <p:nvPr/>
        </p:nvSpPr>
        <p:spPr>
          <a:xfrm>
            <a:off x="548640" y="1755648"/>
            <a:ext cx="6126480" cy="4160520"/>
          </a:xfrm>
          <a:prstGeom prst="rect">
            <a:avLst/>
          </a:prstGeom>
          <a:solidFill>
            <a:srgbClr val="27161A"/>
          </a:solidFill>
          <a:ln w="12700">
            <a:solidFill>
              <a:srgbClr val="27161A"/>
            </a:solidFill>
            <a:prstDash val="solid"/>
          </a:ln>
        </p:spPr>
      </p:sp>
      <p:sp>
        <p:nvSpPr>
          <p:cNvPr id="11" name="Text 8"/>
          <p:cNvSpPr/>
          <p:nvPr/>
        </p:nvSpPr>
        <p:spPr>
          <a:xfrm>
            <a:off x="777240" y="1892808"/>
            <a:ext cx="566928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MARGIN EBITDA KLUB EROPA, %  ·  DIHITUNG DARI TABLE 6.5</a:t>
            </a:r>
            <a:endParaRPr lang="en-US" sz="850" dirty="0"/>
          </a:p>
        </p:txBody>
      </p:sp>
      <p:sp>
        <p:nvSpPr>
          <p:cNvPr id="12" name="Text 9"/>
          <p:cNvSpPr/>
          <p:nvPr/>
        </p:nvSpPr>
        <p:spPr>
          <a:xfrm>
            <a:off x="777240" y="2262317"/>
            <a:ext cx="1234440" cy="257678"/>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 United</a:t>
            </a:r>
            <a:endParaRPr lang="en-US" sz="900" dirty="0"/>
          </a:p>
        </p:txBody>
      </p:sp>
      <p:sp>
        <p:nvSpPr>
          <p:cNvPr id="13" name="Shape 10"/>
          <p:cNvSpPr/>
          <p:nvPr/>
        </p:nvSpPr>
        <p:spPr>
          <a:xfrm>
            <a:off x="2465169" y="2280605"/>
            <a:ext cx="3204111" cy="221102"/>
          </a:xfrm>
          <a:prstGeom prst="rect">
            <a:avLst/>
          </a:prstGeom>
          <a:solidFill>
            <a:srgbClr val="C8102E"/>
          </a:solidFill>
          <a:ln w="12700">
            <a:solidFill>
              <a:srgbClr val="C8102E"/>
            </a:solidFill>
            <a:prstDash val="solid"/>
          </a:ln>
        </p:spPr>
      </p:sp>
      <p:sp>
        <p:nvSpPr>
          <p:cNvPr id="14" name="Text 11"/>
          <p:cNvSpPr/>
          <p:nvPr/>
        </p:nvSpPr>
        <p:spPr>
          <a:xfrm>
            <a:off x="5742432" y="2262317"/>
            <a:ext cx="685800" cy="257678"/>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31,4</a:t>
            </a:r>
            <a:endParaRPr lang="en-US" sz="900" dirty="0"/>
          </a:p>
        </p:txBody>
      </p:sp>
      <p:sp>
        <p:nvSpPr>
          <p:cNvPr id="15" name="Text 12"/>
          <p:cNvSpPr/>
          <p:nvPr/>
        </p:nvSpPr>
        <p:spPr>
          <a:xfrm>
            <a:off x="777240" y="2618933"/>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Barcelona</a:t>
            </a:r>
            <a:endParaRPr lang="en-US" sz="900" dirty="0"/>
          </a:p>
        </p:txBody>
      </p:sp>
      <p:sp>
        <p:nvSpPr>
          <p:cNvPr id="16" name="Shape 13"/>
          <p:cNvSpPr/>
          <p:nvPr/>
        </p:nvSpPr>
        <p:spPr>
          <a:xfrm>
            <a:off x="2465169" y="2637221"/>
            <a:ext cx="2275531" cy="221102"/>
          </a:xfrm>
          <a:prstGeom prst="rect">
            <a:avLst/>
          </a:prstGeom>
          <a:solidFill>
            <a:srgbClr val="46292D"/>
          </a:solidFill>
          <a:ln w="12700">
            <a:solidFill>
              <a:srgbClr val="46292D"/>
            </a:solidFill>
            <a:prstDash val="solid"/>
          </a:ln>
        </p:spPr>
      </p:sp>
      <p:sp>
        <p:nvSpPr>
          <p:cNvPr id="17" name="Text 14"/>
          <p:cNvSpPr/>
          <p:nvPr/>
        </p:nvSpPr>
        <p:spPr>
          <a:xfrm>
            <a:off x="4813852" y="2618933"/>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22,3</a:t>
            </a:r>
            <a:endParaRPr lang="en-US" sz="900" dirty="0"/>
          </a:p>
        </p:txBody>
      </p:sp>
      <p:sp>
        <p:nvSpPr>
          <p:cNvPr id="18" name="Text 15"/>
          <p:cNvSpPr/>
          <p:nvPr/>
        </p:nvSpPr>
        <p:spPr>
          <a:xfrm>
            <a:off x="777240" y="2975549"/>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Arsenal</a:t>
            </a:r>
            <a:endParaRPr lang="en-US" sz="900" dirty="0"/>
          </a:p>
        </p:txBody>
      </p:sp>
      <p:sp>
        <p:nvSpPr>
          <p:cNvPr id="19" name="Shape 16"/>
          <p:cNvSpPr/>
          <p:nvPr/>
        </p:nvSpPr>
        <p:spPr>
          <a:xfrm>
            <a:off x="2465169" y="2993837"/>
            <a:ext cx="1969406" cy="221102"/>
          </a:xfrm>
          <a:prstGeom prst="rect">
            <a:avLst/>
          </a:prstGeom>
          <a:solidFill>
            <a:srgbClr val="46292D"/>
          </a:solidFill>
          <a:ln w="12700">
            <a:solidFill>
              <a:srgbClr val="46292D"/>
            </a:solidFill>
            <a:prstDash val="solid"/>
          </a:ln>
        </p:spPr>
      </p:sp>
      <p:sp>
        <p:nvSpPr>
          <p:cNvPr id="20" name="Text 17"/>
          <p:cNvSpPr/>
          <p:nvPr/>
        </p:nvSpPr>
        <p:spPr>
          <a:xfrm>
            <a:off x="4507727" y="2975549"/>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19,3</a:t>
            </a:r>
            <a:endParaRPr lang="en-US" sz="900" dirty="0"/>
          </a:p>
        </p:txBody>
      </p:sp>
      <p:sp>
        <p:nvSpPr>
          <p:cNvPr id="21" name="Text 18"/>
          <p:cNvSpPr/>
          <p:nvPr/>
        </p:nvSpPr>
        <p:spPr>
          <a:xfrm>
            <a:off x="777240" y="3332165"/>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AC Milan</a:t>
            </a:r>
            <a:endParaRPr lang="en-US" sz="900" dirty="0"/>
          </a:p>
        </p:txBody>
      </p:sp>
      <p:sp>
        <p:nvSpPr>
          <p:cNvPr id="22" name="Shape 19"/>
          <p:cNvSpPr/>
          <p:nvPr/>
        </p:nvSpPr>
        <p:spPr>
          <a:xfrm>
            <a:off x="2465169" y="3350453"/>
            <a:ext cx="1795935" cy="221102"/>
          </a:xfrm>
          <a:prstGeom prst="rect">
            <a:avLst/>
          </a:prstGeom>
          <a:solidFill>
            <a:srgbClr val="46292D"/>
          </a:solidFill>
          <a:ln w="12700">
            <a:solidFill>
              <a:srgbClr val="46292D"/>
            </a:solidFill>
            <a:prstDash val="solid"/>
          </a:ln>
        </p:spPr>
      </p:sp>
      <p:sp>
        <p:nvSpPr>
          <p:cNvPr id="23" name="Text 20"/>
          <p:cNvSpPr/>
          <p:nvPr/>
        </p:nvSpPr>
        <p:spPr>
          <a:xfrm>
            <a:off x="4334256" y="3332165"/>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17,6</a:t>
            </a:r>
            <a:endParaRPr lang="en-US" sz="900" dirty="0"/>
          </a:p>
        </p:txBody>
      </p:sp>
      <p:sp>
        <p:nvSpPr>
          <p:cNvPr id="24" name="Text 21"/>
          <p:cNvSpPr/>
          <p:nvPr/>
        </p:nvSpPr>
        <p:spPr>
          <a:xfrm>
            <a:off x="777240" y="3688781"/>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Juventus</a:t>
            </a:r>
            <a:endParaRPr lang="en-US" sz="900" dirty="0"/>
          </a:p>
        </p:txBody>
      </p:sp>
      <p:sp>
        <p:nvSpPr>
          <p:cNvPr id="25" name="Shape 22"/>
          <p:cNvSpPr/>
          <p:nvPr/>
        </p:nvSpPr>
        <p:spPr>
          <a:xfrm>
            <a:off x="2465169" y="3707069"/>
            <a:ext cx="1785730" cy="221102"/>
          </a:xfrm>
          <a:prstGeom prst="rect">
            <a:avLst/>
          </a:prstGeom>
          <a:solidFill>
            <a:srgbClr val="46292D"/>
          </a:solidFill>
          <a:ln w="12700">
            <a:solidFill>
              <a:srgbClr val="46292D"/>
            </a:solidFill>
            <a:prstDash val="solid"/>
          </a:ln>
        </p:spPr>
      </p:sp>
      <p:sp>
        <p:nvSpPr>
          <p:cNvPr id="26" name="Text 23"/>
          <p:cNvSpPr/>
          <p:nvPr/>
        </p:nvSpPr>
        <p:spPr>
          <a:xfrm>
            <a:off x="4324052" y="3688781"/>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17,5</a:t>
            </a:r>
            <a:endParaRPr lang="en-US" sz="900" dirty="0"/>
          </a:p>
        </p:txBody>
      </p:sp>
      <p:sp>
        <p:nvSpPr>
          <p:cNvPr id="27" name="Text 24"/>
          <p:cNvSpPr/>
          <p:nvPr/>
        </p:nvSpPr>
        <p:spPr>
          <a:xfrm>
            <a:off x="777240" y="4045397"/>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Liverpool</a:t>
            </a:r>
            <a:endParaRPr lang="en-US" sz="900" dirty="0"/>
          </a:p>
        </p:txBody>
      </p:sp>
      <p:sp>
        <p:nvSpPr>
          <p:cNvPr id="28" name="Shape 25"/>
          <p:cNvSpPr/>
          <p:nvPr/>
        </p:nvSpPr>
        <p:spPr>
          <a:xfrm>
            <a:off x="2465169" y="4063685"/>
            <a:ext cx="1612259" cy="221102"/>
          </a:xfrm>
          <a:prstGeom prst="rect">
            <a:avLst/>
          </a:prstGeom>
          <a:solidFill>
            <a:srgbClr val="46292D"/>
          </a:solidFill>
          <a:ln w="12700">
            <a:solidFill>
              <a:srgbClr val="46292D"/>
            </a:solidFill>
            <a:prstDash val="solid"/>
          </a:ln>
        </p:spPr>
      </p:sp>
      <p:sp>
        <p:nvSpPr>
          <p:cNvPr id="29" name="Text 26"/>
          <p:cNvSpPr/>
          <p:nvPr/>
        </p:nvSpPr>
        <p:spPr>
          <a:xfrm>
            <a:off x="4150581" y="4045397"/>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15,8</a:t>
            </a:r>
            <a:endParaRPr lang="en-US" sz="900" dirty="0"/>
          </a:p>
        </p:txBody>
      </p:sp>
      <p:sp>
        <p:nvSpPr>
          <p:cNvPr id="30" name="Text 27"/>
          <p:cNvSpPr/>
          <p:nvPr/>
        </p:nvSpPr>
        <p:spPr>
          <a:xfrm>
            <a:off x="777240" y="4402013"/>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Real Madrid</a:t>
            </a:r>
            <a:endParaRPr lang="en-US" sz="900" dirty="0"/>
          </a:p>
        </p:txBody>
      </p:sp>
      <p:sp>
        <p:nvSpPr>
          <p:cNvPr id="31" name="Shape 28"/>
          <p:cNvSpPr/>
          <p:nvPr/>
        </p:nvSpPr>
        <p:spPr>
          <a:xfrm>
            <a:off x="2465169" y="4420301"/>
            <a:ext cx="1438789" cy="221102"/>
          </a:xfrm>
          <a:prstGeom prst="rect">
            <a:avLst/>
          </a:prstGeom>
          <a:solidFill>
            <a:srgbClr val="46292D"/>
          </a:solidFill>
          <a:ln w="12700">
            <a:solidFill>
              <a:srgbClr val="46292D"/>
            </a:solidFill>
            <a:prstDash val="solid"/>
          </a:ln>
        </p:spPr>
      </p:sp>
      <p:sp>
        <p:nvSpPr>
          <p:cNvPr id="32" name="Text 29"/>
          <p:cNvSpPr/>
          <p:nvPr/>
        </p:nvSpPr>
        <p:spPr>
          <a:xfrm>
            <a:off x="3977110" y="4402013"/>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14,1</a:t>
            </a:r>
            <a:endParaRPr lang="en-US" sz="900" dirty="0"/>
          </a:p>
        </p:txBody>
      </p:sp>
      <p:sp>
        <p:nvSpPr>
          <p:cNvPr id="33" name="Text 30"/>
          <p:cNvSpPr/>
          <p:nvPr/>
        </p:nvSpPr>
        <p:spPr>
          <a:xfrm>
            <a:off x="777240" y="4758629"/>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Bayern</a:t>
            </a:r>
            <a:endParaRPr lang="en-US" sz="900" dirty="0"/>
          </a:p>
        </p:txBody>
      </p:sp>
      <p:sp>
        <p:nvSpPr>
          <p:cNvPr id="34" name="Shape 31"/>
          <p:cNvSpPr/>
          <p:nvPr/>
        </p:nvSpPr>
        <p:spPr>
          <a:xfrm>
            <a:off x="2465169" y="4776917"/>
            <a:ext cx="1295930" cy="221102"/>
          </a:xfrm>
          <a:prstGeom prst="rect">
            <a:avLst/>
          </a:prstGeom>
          <a:solidFill>
            <a:srgbClr val="46292D"/>
          </a:solidFill>
          <a:ln w="12700">
            <a:solidFill>
              <a:srgbClr val="46292D"/>
            </a:solidFill>
            <a:prstDash val="solid"/>
          </a:ln>
        </p:spPr>
      </p:sp>
      <p:sp>
        <p:nvSpPr>
          <p:cNvPr id="35" name="Text 32"/>
          <p:cNvSpPr/>
          <p:nvPr/>
        </p:nvSpPr>
        <p:spPr>
          <a:xfrm>
            <a:off x="3834251" y="4758629"/>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12,7</a:t>
            </a:r>
            <a:endParaRPr lang="en-US" sz="900" dirty="0"/>
          </a:p>
        </p:txBody>
      </p:sp>
      <p:sp>
        <p:nvSpPr>
          <p:cNvPr id="36" name="Text 33"/>
          <p:cNvSpPr/>
          <p:nvPr/>
        </p:nvSpPr>
        <p:spPr>
          <a:xfrm>
            <a:off x="777240" y="5115245"/>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Inter</a:t>
            </a:r>
            <a:endParaRPr lang="en-US" sz="900" dirty="0"/>
          </a:p>
        </p:txBody>
      </p:sp>
      <p:sp>
        <p:nvSpPr>
          <p:cNvPr id="37" name="Shape 34"/>
          <p:cNvSpPr/>
          <p:nvPr/>
        </p:nvSpPr>
        <p:spPr>
          <a:xfrm>
            <a:off x="2465169" y="5133533"/>
            <a:ext cx="1010213" cy="221102"/>
          </a:xfrm>
          <a:prstGeom prst="rect">
            <a:avLst/>
          </a:prstGeom>
          <a:solidFill>
            <a:srgbClr val="46292D"/>
          </a:solidFill>
          <a:ln w="12700">
            <a:solidFill>
              <a:srgbClr val="46292D"/>
            </a:solidFill>
            <a:prstDash val="solid"/>
          </a:ln>
        </p:spPr>
      </p:sp>
      <p:sp>
        <p:nvSpPr>
          <p:cNvPr id="38" name="Text 35"/>
          <p:cNvSpPr/>
          <p:nvPr/>
        </p:nvSpPr>
        <p:spPr>
          <a:xfrm>
            <a:off x="3548535" y="5115245"/>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9,9</a:t>
            </a:r>
            <a:endParaRPr lang="en-US" sz="900" dirty="0"/>
          </a:p>
        </p:txBody>
      </p:sp>
      <p:sp>
        <p:nvSpPr>
          <p:cNvPr id="39" name="Text 36"/>
          <p:cNvSpPr/>
          <p:nvPr/>
        </p:nvSpPr>
        <p:spPr>
          <a:xfrm>
            <a:off x="777240" y="5471861"/>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Chelsea</a:t>
            </a:r>
            <a:endParaRPr lang="en-US" sz="900" dirty="0"/>
          </a:p>
        </p:txBody>
      </p:sp>
      <p:sp>
        <p:nvSpPr>
          <p:cNvPr id="40" name="Shape 37"/>
          <p:cNvSpPr/>
          <p:nvPr/>
        </p:nvSpPr>
        <p:spPr>
          <a:xfrm>
            <a:off x="2148840" y="5490149"/>
            <a:ext cx="316329" cy="221102"/>
          </a:xfrm>
          <a:prstGeom prst="rect">
            <a:avLst/>
          </a:prstGeom>
          <a:solidFill>
            <a:srgbClr val="46292D"/>
          </a:solidFill>
          <a:ln w="12700">
            <a:solidFill>
              <a:srgbClr val="46292D"/>
            </a:solidFill>
            <a:prstDash val="solid"/>
          </a:ln>
        </p:spPr>
      </p:sp>
      <p:sp>
        <p:nvSpPr>
          <p:cNvPr id="41" name="Text 38"/>
          <p:cNvSpPr/>
          <p:nvPr/>
        </p:nvSpPr>
        <p:spPr>
          <a:xfrm>
            <a:off x="2538321" y="5471861"/>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−3,1</a:t>
            </a:r>
            <a:endParaRPr lang="en-US" sz="900" dirty="0"/>
          </a:p>
        </p:txBody>
      </p:sp>
      <p:sp>
        <p:nvSpPr>
          <p:cNvPr id="42" name="Shape 39"/>
          <p:cNvSpPr/>
          <p:nvPr/>
        </p:nvSpPr>
        <p:spPr>
          <a:xfrm>
            <a:off x="2465169" y="2212848"/>
            <a:ext cx="9144" cy="3566160"/>
          </a:xfrm>
          <a:prstGeom prst="rect">
            <a:avLst/>
          </a:prstGeom>
          <a:solidFill>
            <a:srgbClr val="A08F8B"/>
          </a:solidFill>
          <a:ln w="12700">
            <a:solidFill>
              <a:srgbClr val="A08F8B"/>
            </a:solidFill>
            <a:prstDash val="solid"/>
          </a:ln>
        </p:spPr>
      </p:sp>
      <p:sp>
        <p:nvSpPr>
          <p:cNvPr id="43" name="Shape 40"/>
          <p:cNvSpPr/>
          <p:nvPr/>
        </p:nvSpPr>
        <p:spPr>
          <a:xfrm>
            <a:off x="6903720" y="1755648"/>
            <a:ext cx="4739335" cy="2057400"/>
          </a:xfrm>
          <a:prstGeom prst="rect">
            <a:avLst/>
          </a:prstGeom>
          <a:solidFill>
            <a:srgbClr val="27161A"/>
          </a:solidFill>
          <a:ln w="12700">
            <a:solidFill>
              <a:srgbClr val="27161A"/>
            </a:solidFill>
            <a:prstDash val="solid"/>
          </a:ln>
        </p:spPr>
      </p:sp>
      <p:sp>
        <p:nvSpPr>
          <p:cNvPr id="44" name="Shape 41"/>
          <p:cNvSpPr/>
          <p:nvPr/>
        </p:nvSpPr>
        <p:spPr>
          <a:xfrm>
            <a:off x="6903720" y="1755648"/>
            <a:ext cx="54864" cy="2057400"/>
          </a:xfrm>
          <a:prstGeom prst="rect">
            <a:avLst/>
          </a:prstGeom>
          <a:solidFill>
            <a:srgbClr val="C8102E"/>
          </a:solidFill>
          <a:ln w="12700">
            <a:solidFill>
              <a:srgbClr val="C8102E"/>
            </a:solidFill>
            <a:prstDash val="solid"/>
          </a:ln>
        </p:spPr>
      </p:sp>
      <p:sp>
        <p:nvSpPr>
          <p:cNvPr id="45" name="Text 42"/>
          <p:cNvSpPr/>
          <p:nvPr/>
        </p:nvSpPr>
        <p:spPr>
          <a:xfrm>
            <a:off x="7123176" y="1901952"/>
            <a:ext cx="437357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Tiga cara mendapat pemain</a:t>
            </a:r>
            <a:endParaRPr lang="en-US" sz="1200" dirty="0"/>
          </a:p>
        </p:txBody>
      </p:sp>
      <p:sp>
        <p:nvSpPr>
          <p:cNvPr id="46" name="Text 43"/>
          <p:cNvSpPr/>
          <p:nvPr/>
        </p:nvSpPr>
        <p:spPr>
          <a:xfrm>
            <a:off x="7123176" y="2231136"/>
            <a:ext cx="4373575" cy="147218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Membeli bintang: Real Madrid, Chelsea. Pendapatan tinggi, laba rendah atau rugi.</a:t>
            </a:r>
            <a:endParaRPr lang="en-US" sz="950" dirty="0"/>
          </a:p>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Mengembangkan sendiri: Barcelona, Arsenal, Bayern. Laba positif dengan pendapatan lebih rendah.</a:t>
            </a:r>
            <a:endParaRPr lang="en-US" sz="950" dirty="0"/>
          </a:p>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Gabungan: MU membeli bintang, lalu menjual saat klub lain menilai lebih tinggi (hlm. 580, 583).</a:t>
            </a:r>
            <a:endParaRPr lang="en-US" sz="950" dirty="0"/>
          </a:p>
        </p:txBody>
      </p:sp>
      <p:sp>
        <p:nvSpPr>
          <p:cNvPr id="47" name="Shape 44"/>
          <p:cNvSpPr/>
          <p:nvPr/>
        </p:nvSpPr>
        <p:spPr>
          <a:xfrm>
            <a:off x="6903720" y="3995928"/>
            <a:ext cx="4739335" cy="1920240"/>
          </a:xfrm>
          <a:prstGeom prst="rect">
            <a:avLst/>
          </a:prstGeom>
          <a:solidFill>
            <a:srgbClr val="C8102E"/>
          </a:solidFill>
          <a:ln w="12700">
            <a:solidFill>
              <a:srgbClr val="C8102E"/>
            </a:solidFill>
            <a:prstDash val="solid"/>
          </a:ln>
        </p:spPr>
      </p:sp>
      <p:sp>
        <p:nvSpPr>
          <p:cNvPr id="48" name="Text 45"/>
          <p:cNvSpPr/>
          <p:nvPr/>
        </p:nvSpPr>
        <p:spPr>
          <a:xfrm>
            <a:off x="7132320" y="4123944"/>
            <a:ext cx="428213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BUKTI MANA YANG PALING UNTUNG</a:t>
            </a:r>
            <a:endParaRPr lang="en-US" sz="800" dirty="0"/>
          </a:p>
        </p:txBody>
      </p:sp>
      <p:sp>
        <p:nvSpPr>
          <p:cNvPr id="49" name="Text 46"/>
          <p:cNvSpPr/>
          <p:nvPr/>
        </p:nvSpPr>
        <p:spPr>
          <a:xfrm>
            <a:off x="7132320" y="4361688"/>
            <a:ext cx="4282135" cy="1463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Return on sales 2000–2006 (Table 6.6): MU 12,6%, Arsenal 5,6%, Bayern 4,7%, Real Madrid 0,4%, Chelsea −60,4%, Inter −78,4%.</a:t>
            </a:r>
            <a:endParaRPr lang="en-US" sz="1000" dirty="0"/>
          </a:p>
          <a:p>
            <a:pPr indent="0" marL="0">
              <a:lnSpc>
                <a:spcPct val="108000"/>
              </a:lnSpc>
              <a:buNone/>
            </a:pPr>
            <a:endParaRPr lang="en-US" sz="1000" dirty="0"/>
          </a:p>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Benchmarking mengubah dugaan VRIN Test menjadi bukti: sistem pengembangan dan penjualan pemain memang lebih unggul.</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5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500" dirty="0">
                <a:solidFill>
                  <a:srgbClr val="FFFFFF"/>
                </a:solidFill>
                <a:latin typeface="Poppins ExtraBold" pitchFamily="34" charset="0"/>
                <a:ea typeface="Poppins ExtraBold" pitchFamily="34" charset="-122"/>
                <a:cs typeface="Poppins ExtraBold" pitchFamily="34" charset="-120"/>
              </a:rPr>
              <a:t>COMPETITIVE STRENGTH ASSESSMENT MANCHESTER UNITED</a:t>
            </a:r>
            <a:endParaRPr lang="en-US" sz="25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Bobot dan rating disusun kelompok kami berdasarkan Table 6.2, 6.3, 6.5, 6.6 dan 6.7 kasus. Isi sel: rating (1–10) / skor tertimbang.</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Bobot dan rating adalah penilaian kelompok.</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743200"/>
                <a:gridCol w="822960"/>
                <a:gridCol w="1499616"/>
                <a:gridCol w="1499616"/>
                <a:gridCol w="1499616"/>
                <a:gridCol w="1499616"/>
                <a:gridCol w="1499616"/>
              </a:tblGrid>
              <a:tr h="26517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Key Success Factor</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Bobot</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Man United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Real Madrid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Barcelona</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Chelsea</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Arsenal</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Kualitas skuad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Kemampuan manajer</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1,20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1,20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Akademi &amp; pemandu bakat</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0,80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Merek &amp; basis pendukung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1,05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Kemampuan komersial</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0,60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Profitabilitas</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1 / 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0,60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Keleluasaan finansial (utang)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4 / 0,40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2 / 0,20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Stadion &amp; matchday</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0,05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0,40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0,25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Rekam jejak prestasi</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TOTAL SKOR TERTIMBANG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1,00</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8,65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7,15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8,40</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5,55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6,55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r>
            </a:tbl>
          </a:graphicData>
        </a:graphic>
      </p:graphicFrame>
      <p:sp>
        <p:nvSpPr>
          <p:cNvPr id="11" name="Shape 7"/>
          <p:cNvSpPr/>
          <p:nvPr/>
        </p:nvSpPr>
        <p:spPr>
          <a:xfrm>
            <a:off x="548640" y="4873752"/>
            <a:ext cx="3545738" cy="914400"/>
          </a:xfrm>
          <a:prstGeom prst="rect">
            <a:avLst/>
          </a:prstGeom>
          <a:solidFill>
            <a:srgbClr val="C8102E"/>
          </a:solidFill>
          <a:ln w="12700">
            <a:solidFill>
              <a:srgbClr val="C8102E"/>
            </a:solidFill>
            <a:prstDash val="solid"/>
          </a:ln>
        </p:spPr>
      </p:sp>
      <p:sp>
        <p:nvSpPr>
          <p:cNvPr id="12" name="Text 8"/>
          <p:cNvSpPr/>
          <p:nvPr/>
        </p:nvSpPr>
        <p:spPr>
          <a:xfrm>
            <a:off x="749808" y="4965192"/>
            <a:ext cx="3179978" cy="320040"/>
          </a:xfrm>
          <a:prstGeom prst="rect">
            <a:avLst/>
          </a:prstGeom>
          <a:noFill/>
          <a:ln/>
        </p:spPr>
        <p:txBody>
          <a:bodyPr wrap="square" lIns="0" tIns="0" rIns="0" bIns="0" rtlCol="0" anchor="t"/>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Unggul 0,25 poin</a:t>
            </a:r>
            <a:endParaRPr lang="en-US" sz="1400" dirty="0"/>
          </a:p>
        </p:txBody>
      </p:sp>
      <p:sp>
        <p:nvSpPr>
          <p:cNvPr id="13" name="Text 9"/>
          <p:cNvSpPr/>
          <p:nvPr/>
        </p:nvSpPr>
        <p:spPr>
          <a:xfrm>
            <a:off x="749808"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FFFFFF"/>
                </a:solidFill>
                <a:latin typeface="Poppins" pitchFamily="34" charset="0"/>
                <a:ea typeface="Poppins" pitchFamily="34" charset="-122"/>
                <a:cs typeface="Poppins" pitchFamily="34" charset="-120"/>
              </a:rPr>
              <a:t>MU 8,65 vs Barcelona 8,40. Tipis: cukup satu baris turun untuk menghapusnya.</a:t>
            </a:r>
            <a:endParaRPr lang="en-US" sz="900" dirty="0"/>
          </a:p>
        </p:txBody>
      </p:sp>
      <p:sp>
        <p:nvSpPr>
          <p:cNvPr id="14" name="Shape 10"/>
          <p:cNvSpPr/>
          <p:nvPr/>
        </p:nvSpPr>
        <p:spPr>
          <a:xfrm>
            <a:off x="4322978" y="4873752"/>
            <a:ext cx="3545738" cy="914400"/>
          </a:xfrm>
          <a:prstGeom prst="rect">
            <a:avLst/>
          </a:prstGeom>
          <a:solidFill>
            <a:srgbClr val="27161A"/>
          </a:solidFill>
          <a:ln w="12700">
            <a:solidFill>
              <a:srgbClr val="27161A"/>
            </a:solidFill>
            <a:prstDash val="solid"/>
          </a:ln>
        </p:spPr>
      </p:sp>
      <p:sp>
        <p:nvSpPr>
          <p:cNvPr id="15" name="Text 11"/>
          <p:cNvSpPr/>
          <p:nvPr/>
        </p:nvSpPr>
        <p:spPr>
          <a:xfrm>
            <a:off x="4524146" y="4965192"/>
            <a:ext cx="317997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Turun ke 7,90</a:t>
            </a:r>
            <a:endParaRPr lang="en-US" sz="1400" dirty="0"/>
          </a:p>
        </p:txBody>
      </p:sp>
      <p:sp>
        <p:nvSpPr>
          <p:cNvPr id="16" name="Text 12"/>
          <p:cNvSpPr/>
          <p:nvPr/>
        </p:nvSpPr>
        <p:spPr>
          <a:xfrm>
            <a:off x="4524146"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Kalau rating manajer jatuh dari 10 ke 5 karena ganti pelatih, MU langsung di bawah Barcelona.</a:t>
            </a:r>
            <a:endParaRPr lang="en-US" sz="900" dirty="0"/>
          </a:p>
        </p:txBody>
      </p:sp>
      <p:sp>
        <p:nvSpPr>
          <p:cNvPr id="17" name="Shape 13"/>
          <p:cNvSpPr/>
          <p:nvPr/>
        </p:nvSpPr>
        <p:spPr>
          <a:xfrm>
            <a:off x="8097317" y="4873752"/>
            <a:ext cx="3545738" cy="914400"/>
          </a:xfrm>
          <a:prstGeom prst="rect">
            <a:avLst/>
          </a:prstGeom>
          <a:solidFill>
            <a:srgbClr val="27161A"/>
          </a:solidFill>
          <a:ln w="12700">
            <a:solidFill>
              <a:srgbClr val="27161A"/>
            </a:solidFill>
            <a:prstDash val="solid"/>
          </a:ln>
        </p:spPr>
      </p:sp>
      <p:sp>
        <p:nvSpPr>
          <p:cNvPr id="18" name="Text 14"/>
          <p:cNvSpPr/>
          <p:nvPr/>
        </p:nvSpPr>
        <p:spPr>
          <a:xfrm>
            <a:off x="8298485" y="4965192"/>
            <a:ext cx="317997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Butuh minimal 8,3</a:t>
            </a:r>
            <a:endParaRPr lang="en-US" sz="1400" dirty="0"/>
          </a:p>
        </p:txBody>
      </p:sp>
      <p:sp>
        <p:nvSpPr>
          <p:cNvPr id="19" name="Text 15"/>
          <p:cNvSpPr/>
          <p:nvPr/>
        </p:nvSpPr>
        <p:spPr>
          <a:xfrm>
            <a:off x="8298485"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Rating yang harus dicapai pengganti Ferguson supaya MU sekadar bertahan sejajar Barcelona.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6  ·  PRIORITY LIST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ENAM ISU UNTUK DAVID GILL, DITULIS SEBAGAI PERTANYAAN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Rumusan mengikuti aturan buku (hlm. 118): priority list berisi pertanyaan, bukan jawaban. Bukti tiap isu dari kasus.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Rumusan mengikuti Thompson dkk. (2024) hlm. 118.</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32</a:t>
            </a:r>
            <a:endParaRPr lang="en-US" sz="900" dirty="0"/>
          </a:p>
        </p:txBody>
      </p:sp>
      <p:sp>
        <p:nvSpPr>
          <p:cNvPr id="10" name="Shape 7"/>
          <p:cNvSpPr/>
          <p:nvPr/>
        </p:nvSpPr>
        <p:spPr>
          <a:xfrm>
            <a:off x="548640" y="1755648"/>
            <a:ext cx="5432908" cy="1024128"/>
          </a:xfrm>
          <a:prstGeom prst="rect">
            <a:avLst/>
          </a:prstGeom>
          <a:solidFill>
            <a:srgbClr val="C8102E"/>
          </a:solidFill>
          <a:ln w="12700">
            <a:solidFill>
              <a:srgbClr val="C8102E"/>
            </a:solidFill>
            <a:prstDash val="solid"/>
          </a:ln>
        </p:spPr>
      </p:sp>
      <p:sp>
        <p:nvSpPr>
          <p:cNvPr id="11" name="Shape 8"/>
          <p:cNvSpPr/>
          <p:nvPr/>
        </p:nvSpPr>
        <p:spPr>
          <a:xfrm>
            <a:off x="731520" y="2029968"/>
            <a:ext cx="457200" cy="457200"/>
          </a:xfrm>
          <a:prstGeom prst="ellipse">
            <a:avLst/>
          </a:prstGeom>
          <a:solidFill>
            <a:srgbClr val="FBE122"/>
          </a:solidFill>
          <a:ln w="12700">
            <a:solidFill>
              <a:srgbClr val="FBE122"/>
            </a:solidFill>
            <a:prstDash val="solid"/>
          </a:ln>
        </p:spPr>
      </p:sp>
      <p:sp>
        <p:nvSpPr>
          <p:cNvPr id="12" name="Text 9"/>
          <p:cNvSpPr/>
          <p:nvPr/>
        </p:nvSpPr>
        <p:spPr>
          <a:xfrm>
            <a:off x="731520" y="2029968"/>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3" name="Text 10"/>
          <p:cNvSpPr/>
          <p:nvPr/>
        </p:nvSpPr>
        <p:spPr>
          <a:xfrm>
            <a:off x="1371600" y="1865376"/>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mengganti Ferguson tanpa merusak sistemnya?</a:t>
            </a:r>
            <a:endParaRPr lang="en-US" sz="1100" dirty="0"/>
          </a:p>
        </p:txBody>
      </p:sp>
      <p:sp>
        <p:nvSpPr>
          <p:cNvPr id="14" name="Text 11"/>
          <p:cNvSpPr/>
          <p:nvPr/>
        </p:nvSpPr>
        <p:spPr>
          <a:xfrm>
            <a:off x="1371600" y="2304288"/>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FFFFFF"/>
                </a:solidFill>
                <a:latin typeface="Poppins" pitchFamily="34" charset="0"/>
                <a:ea typeface="Poppins" pitchFamily="34" charset="-122"/>
                <a:cs typeface="Poppins" pitchFamily="34" charset="-120"/>
              </a:rPr>
              <a:t>Gill belum memutuskan; Ferguson belum mengumumkan pensiun (hlm. 573, 588).</a:t>
            </a:r>
            <a:endParaRPr lang="en-US" sz="850" dirty="0"/>
          </a:p>
        </p:txBody>
      </p:sp>
      <p:sp>
        <p:nvSpPr>
          <p:cNvPr id="15" name="Shape 12"/>
          <p:cNvSpPr/>
          <p:nvPr/>
        </p:nvSpPr>
        <p:spPr>
          <a:xfrm>
            <a:off x="6210148" y="1755648"/>
            <a:ext cx="5432908" cy="1024128"/>
          </a:xfrm>
          <a:prstGeom prst="rect">
            <a:avLst/>
          </a:prstGeom>
          <a:solidFill>
            <a:srgbClr val="27161A"/>
          </a:solidFill>
          <a:ln w="12700">
            <a:solidFill>
              <a:srgbClr val="27161A"/>
            </a:solidFill>
            <a:prstDash val="solid"/>
          </a:ln>
        </p:spPr>
      </p:sp>
      <p:sp>
        <p:nvSpPr>
          <p:cNvPr id="16" name="Shape 13"/>
          <p:cNvSpPr/>
          <p:nvPr/>
        </p:nvSpPr>
        <p:spPr>
          <a:xfrm>
            <a:off x="6393028" y="2029968"/>
            <a:ext cx="457200" cy="457200"/>
          </a:xfrm>
          <a:prstGeom prst="ellipse">
            <a:avLst/>
          </a:prstGeom>
          <a:solidFill>
            <a:srgbClr val="C8102E"/>
          </a:solidFill>
          <a:ln w="12700">
            <a:solidFill>
              <a:srgbClr val="C8102E"/>
            </a:solidFill>
            <a:prstDash val="solid"/>
          </a:ln>
        </p:spPr>
      </p:sp>
      <p:sp>
        <p:nvSpPr>
          <p:cNvPr id="17" name="Text 14"/>
          <p:cNvSpPr/>
          <p:nvPr/>
        </p:nvSpPr>
        <p:spPr>
          <a:xfrm>
            <a:off x="6393028" y="2029968"/>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18" name="Text 15"/>
          <p:cNvSpPr/>
          <p:nvPr/>
        </p:nvSpPr>
        <p:spPr>
          <a:xfrm>
            <a:off x="7033108" y="1865376"/>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 yang harus dilakukan soal utang £616 juta?</a:t>
            </a:r>
            <a:endParaRPr lang="en-US" sz="1100" dirty="0"/>
          </a:p>
        </p:txBody>
      </p:sp>
      <p:sp>
        <p:nvSpPr>
          <p:cNvPr id="19" name="Text 16"/>
          <p:cNvSpPr/>
          <p:nvPr/>
        </p:nvSpPr>
        <p:spPr>
          <a:xfrm>
            <a:off x="7033108" y="2304288"/>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Utang membatasi daya beli, justru saat Manchester City belanja £185 juta (hlm. 579).</a:t>
            </a:r>
            <a:endParaRPr lang="en-US" sz="850" dirty="0"/>
          </a:p>
        </p:txBody>
      </p:sp>
      <p:sp>
        <p:nvSpPr>
          <p:cNvPr id="20" name="Shape 17"/>
          <p:cNvSpPr/>
          <p:nvPr/>
        </p:nvSpPr>
        <p:spPr>
          <a:xfrm>
            <a:off x="548640" y="2916936"/>
            <a:ext cx="5432908" cy="1024128"/>
          </a:xfrm>
          <a:prstGeom prst="rect">
            <a:avLst/>
          </a:prstGeom>
          <a:solidFill>
            <a:srgbClr val="27161A"/>
          </a:solidFill>
          <a:ln w="12700">
            <a:solidFill>
              <a:srgbClr val="27161A"/>
            </a:solidFill>
            <a:prstDash val="solid"/>
          </a:ln>
        </p:spPr>
      </p:sp>
      <p:sp>
        <p:nvSpPr>
          <p:cNvPr id="21" name="Shape 18"/>
          <p:cNvSpPr/>
          <p:nvPr/>
        </p:nvSpPr>
        <p:spPr>
          <a:xfrm>
            <a:off x="731520" y="3191256"/>
            <a:ext cx="457200" cy="457200"/>
          </a:xfrm>
          <a:prstGeom prst="ellipse">
            <a:avLst/>
          </a:prstGeom>
          <a:solidFill>
            <a:srgbClr val="C8102E"/>
          </a:solidFill>
          <a:ln w="12700">
            <a:solidFill>
              <a:srgbClr val="C8102E"/>
            </a:solidFill>
            <a:prstDash val="solid"/>
          </a:ln>
        </p:spPr>
      </p:sp>
      <p:sp>
        <p:nvSpPr>
          <p:cNvPr id="22" name="Text 19"/>
          <p:cNvSpPr/>
          <p:nvPr/>
        </p:nvSpPr>
        <p:spPr>
          <a:xfrm>
            <a:off x="731520" y="319125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3" name="Text 20"/>
          <p:cNvSpPr/>
          <p:nvPr/>
        </p:nvSpPr>
        <p:spPr>
          <a:xfrm>
            <a:off x="1371600" y="3026664"/>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menambal skuad setelah Ronaldo pergi?</a:t>
            </a:r>
            <a:endParaRPr lang="en-US" sz="1100" dirty="0"/>
          </a:p>
        </p:txBody>
      </p:sp>
      <p:sp>
        <p:nvSpPr>
          <p:cNvPr id="24" name="Text 21"/>
          <p:cNvSpPr/>
          <p:nvPr/>
        </p:nvSpPr>
        <p:spPr>
          <a:xfrm>
            <a:off x="1371600" y="3465576"/>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Tidak ada lagi pemain MU di peringkat FIFA Table 6.3. Media menunggu apakah kas Ronaldo dipakai membeli Ribery (hlm. 588).</a:t>
            </a:r>
            <a:endParaRPr lang="en-US" sz="850" dirty="0"/>
          </a:p>
        </p:txBody>
      </p:sp>
      <p:sp>
        <p:nvSpPr>
          <p:cNvPr id="25" name="Shape 22"/>
          <p:cNvSpPr/>
          <p:nvPr/>
        </p:nvSpPr>
        <p:spPr>
          <a:xfrm>
            <a:off x="6210148" y="2916936"/>
            <a:ext cx="5432908" cy="1024128"/>
          </a:xfrm>
          <a:prstGeom prst="rect">
            <a:avLst/>
          </a:prstGeom>
          <a:solidFill>
            <a:srgbClr val="C8102E"/>
          </a:solidFill>
          <a:ln w="12700">
            <a:solidFill>
              <a:srgbClr val="C8102E"/>
            </a:solidFill>
            <a:prstDash val="solid"/>
          </a:ln>
        </p:spPr>
      </p:sp>
      <p:sp>
        <p:nvSpPr>
          <p:cNvPr id="26" name="Shape 23"/>
          <p:cNvSpPr/>
          <p:nvPr/>
        </p:nvSpPr>
        <p:spPr>
          <a:xfrm>
            <a:off x="6393028" y="3191256"/>
            <a:ext cx="457200" cy="457200"/>
          </a:xfrm>
          <a:prstGeom prst="ellipse">
            <a:avLst/>
          </a:prstGeom>
          <a:solidFill>
            <a:srgbClr val="FBE122"/>
          </a:solidFill>
          <a:ln w="12700">
            <a:solidFill>
              <a:srgbClr val="FBE122"/>
            </a:solidFill>
            <a:prstDash val="solid"/>
          </a:ln>
        </p:spPr>
      </p:sp>
      <p:sp>
        <p:nvSpPr>
          <p:cNvPr id="27" name="Text 24"/>
          <p:cNvSpPr/>
          <p:nvPr/>
        </p:nvSpPr>
        <p:spPr>
          <a:xfrm>
            <a:off x="6393028" y="319125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4</a:t>
            </a:r>
            <a:endParaRPr lang="en-US" sz="1200" dirty="0"/>
          </a:p>
        </p:txBody>
      </p:sp>
      <p:sp>
        <p:nvSpPr>
          <p:cNvPr id="28" name="Text 25"/>
          <p:cNvSpPr/>
          <p:nvPr/>
        </p:nvSpPr>
        <p:spPr>
          <a:xfrm>
            <a:off x="7033108" y="3026664"/>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Apakah perlu membangun penyangga organisasi?</a:t>
            </a:r>
            <a:endParaRPr lang="en-US" sz="1100" dirty="0"/>
          </a:p>
        </p:txBody>
      </p:sp>
      <p:sp>
        <p:nvSpPr>
          <p:cNvPr id="29" name="Text 26"/>
          <p:cNvSpPr/>
          <p:nvPr/>
        </p:nvSpPr>
        <p:spPr>
          <a:xfrm>
            <a:off x="7033108" y="3465576"/>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FFFFFF"/>
                </a:solidFill>
                <a:latin typeface="Poppins" pitchFamily="34" charset="0"/>
                <a:ea typeface="Poppins" pitchFamily="34" charset="-122"/>
                <a:cs typeface="Poppins" pitchFamily="34" charset="-120"/>
              </a:rPr>
              <a:t>Kasus: seluruh sistem pemanduan, latihan, dan taktik dibangun oleh satu orang (hlm. 573).</a:t>
            </a:r>
            <a:endParaRPr lang="en-US" sz="850" dirty="0"/>
          </a:p>
        </p:txBody>
      </p:sp>
      <p:sp>
        <p:nvSpPr>
          <p:cNvPr id="30" name="Shape 27"/>
          <p:cNvSpPr/>
          <p:nvPr/>
        </p:nvSpPr>
        <p:spPr>
          <a:xfrm>
            <a:off x="548640" y="4078224"/>
            <a:ext cx="5432908" cy="1024128"/>
          </a:xfrm>
          <a:prstGeom prst="rect">
            <a:avLst/>
          </a:prstGeom>
          <a:solidFill>
            <a:srgbClr val="27161A"/>
          </a:solidFill>
          <a:ln w="12700">
            <a:solidFill>
              <a:srgbClr val="27161A"/>
            </a:solidFill>
            <a:prstDash val="solid"/>
          </a:ln>
        </p:spPr>
      </p:sp>
      <p:sp>
        <p:nvSpPr>
          <p:cNvPr id="31" name="Shape 28"/>
          <p:cNvSpPr/>
          <p:nvPr/>
        </p:nvSpPr>
        <p:spPr>
          <a:xfrm>
            <a:off x="731520" y="4352544"/>
            <a:ext cx="457200" cy="457200"/>
          </a:xfrm>
          <a:prstGeom prst="ellipse">
            <a:avLst/>
          </a:prstGeom>
          <a:solidFill>
            <a:srgbClr val="C8102E"/>
          </a:solidFill>
          <a:ln w="12700">
            <a:solidFill>
              <a:srgbClr val="C8102E"/>
            </a:solidFill>
            <a:prstDash val="solid"/>
          </a:ln>
        </p:spPr>
      </p:sp>
      <p:sp>
        <p:nvSpPr>
          <p:cNvPr id="32" name="Text 29"/>
          <p:cNvSpPr/>
          <p:nvPr/>
        </p:nvSpPr>
        <p:spPr>
          <a:xfrm>
            <a:off x="731520" y="4352544"/>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5</a:t>
            </a:r>
            <a:endParaRPr lang="en-US" sz="1200" dirty="0"/>
          </a:p>
        </p:txBody>
      </p:sp>
      <p:sp>
        <p:nvSpPr>
          <p:cNvPr id="33" name="Text 30"/>
          <p:cNvSpPr/>
          <p:nvPr/>
        </p:nvSpPr>
        <p:spPr>
          <a:xfrm>
            <a:off x="1371600" y="4187952"/>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menjaga pendapatan komersial kalau prestasi turun?</a:t>
            </a:r>
            <a:endParaRPr lang="en-US" sz="1100" dirty="0"/>
          </a:p>
        </p:txBody>
      </p:sp>
      <p:sp>
        <p:nvSpPr>
          <p:cNvPr id="34" name="Text 31"/>
          <p:cNvSpPr/>
          <p:nvPr/>
        </p:nvSpPr>
        <p:spPr>
          <a:xfrm>
            <a:off x="1371600" y="4626864"/>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Gill: "So long as the team kept winning games … the commercial revenues … would continue to flow" (hlm. 573).</a:t>
            </a:r>
            <a:endParaRPr lang="en-US" sz="850" dirty="0"/>
          </a:p>
        </p:txBody>
      </p:sp>
      <p:sp>
        <p:nvSpPr>
          <p:cNvPr id="35" name="Shape 32"/>
          <p:cNvSpPr/>
          <p:nvPr/>
        </p:nvSpPr>
        <p:spPr>
          <a:xfrm>
            <a:off x="6210148" y="4078224"/>
            <a:ext cx="5432908" cy="1024128"/>
          </a:xfrm>
          <a:prstGeom prst="rect">
            <a:avLst/>
          </a:prstGeom>
          <a:solidFill>
            <a:srgbClr val="27161A"/>
          </a:solidFill>
          <a:ln w="12700">
            <a:solidFill>
              <a:srgbClr val="27161A"/>
            </a:solidFill>
            <a:prstDash val="solid"/>
          </a:ln>
        </p:spPr>
      </p:sp>
      <p:sp>
        <p:nvSpPr>
          <p:cNvPr id="36" name="Shape 33"/>
          <p:cNvSpPr/>
          <p:nvPr/>
        </p:nvSpPr>
        <p:spPr>
          <a:xfrm>
            <a:off x="6393028" y="4352544"/>
            <a:ext cx="457200" cy="457200"/>
          </a:xfrm>
          <a:prstGeom prst="ellipse">
            <a:avLst/>
          </a:prstGeom>
          <a:solidFill>
            <a:srgbClr val="C8102E"/>
          </a:solidFill>
          <a:ln w="12700">
            <a:solidFill>
              <a:srgbClr val="C8102E"/>
            </a:solidFill>
            <a:prstDash val="solid"/>
          </a:ln>
        </p:spPr>
      </p:sp>
      <p:sp>
        <p:nvSpPr>
          <p:cNvPr id="37" name="Text 34"/>
          <p:cNvSpPr/>
          <p:nvPr/>
        </p:nvSpPr>
        <p:spPr>
          <a:xfrm>
            <a:off x="6393028" y="4352544"/>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6</a:t>
            </a:r>
            <a:endParaRPr lang="en-US" sz="1200" dirty="0"/>
          </a:p>
        </p:txBody>
      </p:sp>
      <p:sp>
        <p:nvSpPr>
          <p:cNvPr id="38" name="Text 35"/>
          <p:cNvSpPr/>
          <p:nvPr/>
        </p:nvSpPr>
        <p:spPr>
          <a:xfrm>
            <a:off x="7033108" y="4187952"/>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Apakah tata kelola tetap aman tanpa Ferguson dan Gill?</a:t>
            </a:r>
            <a:endParaRPr lang="en-US" sz="1100" dirty="0"/>
          </a:p>
        </p:txBody>
      </p:sp>
      <p:sp>
        <p:nvSpPr>
          <p:cNvPr id="39" name="Text 36"/>
          <p:cNvSpPr/>
          <p:nvPr/>
        </p:nvSpPr>
        <p:spPr>
          <a:xfrm>
            <a:off x="7033108" y="4626864"/>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Dewan hanya berisi enam anak Glazer; peran pasif pemilik berjalan karena dua orang ini diberi kebebasan (hlm. 584).</a:t>
            </a:r>
            <a:endParaRPr lang="en-US" sz="850" dirty="0"/>
          </a:p>
        </p:txBody>
      </p:sp>
      <p:sp>
        <p:nvSpPr>
          <p:cNvPr id="40" name="Shape 37"/>
          <p:cNvSpPr/>
          <p:nvPr/>
        </p:nvSpPr>
        <p:spPr>
          <a:xfrm>
            <a:off x="548640" y="5239512"/>
            <a:ext cx="11094415" cy="640080"/>
          </a:xfrm>
          <a:prstGeom prst="rect">
            <a:avLst/>
          </a:prstGeom>
          <a:solidFill>
            <a:srgbClr val="32191E"/>
          </a:solidFill>
          <a:ln w="12700">
            <a:solidFill>
              <a:srgbClr val="32191E"/>
            </a:solidFill>
            <a:prstDash val="solid"/>
          </a:ln>
        </p:spPr>
      </p:sp>
      <p:sp>
        <p:nvSpPr>
          <p:cNvPr id="41" name="Text 38"/>
          <p:cNvSpPr/>
          <p:nvPr/>
        </p:nvSpPr>
        <p:spPr>
          <a:xfrm>
            <a:off x="777240" y="5367528"/>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PEMBACAAN</a:t>
            </a:r>
            <a:endParaRPr lang="en-US" sz="800" dirty="0"/>
          </a:p>
        </p:txBody>
      </p:sp>
      <p:sp>
        <p:nvSpPr>
          <p:cNvPr id="42" name="Text 39"/>
          <p:cNvSpPr/>
          <p:nvPr/>
        </p:nvSpPr>
        <p:spPr>
          <a:xfrm>
            <a:off x="777240" y="5605272"/>
            <a:ext cx="10637215" cy="18288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Isu 1 dan 4 (merah) serius dan butuh strategi baru. Isu 2, 3, 5, 6 bisa ditangani dengan menyempurnakan strategi yang ada.</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863840" cy="6858000"/>
          </a:xfrm>
          <a:prstGeom prst="rect">
            <a:avLst/>
          </a:prstGeom>
          <a:solidFill>
            <a:srgbClr val="1B0F10">
              <a:alpha val="86000"/>
            </a:srgbClr>
          </a:solidFill>
          <a:ln w="12700">
            <a:solidFill>
              <a:srgbClr val="1B0F10"/>
            </a:solidFill>
            <a:prstDash val="solid"/>
          </a:ln>
        </p:spPr>
      </p:sp>
      <p:sp>
        <p:nvSpPr>
          <p:cNvPr id="3" name="Shape 1"/>
          <p:cNvSpPr/>
          <p:nvPr/>
        </p:nvSpPr>
        <p:spPr>
          <a:xfrm>
            <a:off x="7863840" y="0"/>
            <a:ext cx="4327855" cy="6858000"/>
          </a:xfrm>
          <a:prstGeom prst="rect">
            <a:avLst/>
          </a:prstGeom>
          <a:solidFill>
            <a:srgbClr val="1B0F10">
              <a:alpha val="45000"/>
            </a:srgbClr>
          </a:solidFill>
          <a:ln w="12700">
            <a:solidFill>
              <a:srgbClr val="1B0F10"/>
            </a:solidFill>
            <a:prstDash val="solid"/>
          </a:ln>
        </p:spPr>
      </p:sp>
      <p:sp>
        <p:nvSpPr>
          <p:cNvPr id="4" name="Shape 2"/>
          <p:cNvSpPr/>
          <p:nvPr/>
        </p:nvSpPr>
        <p:spPr>
          <a:xfrm>
            <a:off x="7863840" y="0"/>
            <a:ext cx="45720" cy="6858000"/>
          </a:xfrm>
          <a:prstGeom prst="rect">
            <a:avLst/>
          </a:prstGeom>
          <a:solidFill>
            <a:srgbClr val="C8102E"/>
          </a:solidFill>
          <a:ln w="12700">
            <a:solidFill>
              <a:srgbClr val="C8102E"/>
            </a:solidFill>
            <a:prstDash val="solid"/>
          </a:ln>
        </p:spPr>
      </p:sp>
      <p:pic>
        <p:nvPicPr>
          <p:cNvPr id="5" name="Image 0" descr="crest.png">    </p:cNvPr>
          <p:cNvPicPr>
            <a:picLocks noChangeAspect="1"/>
          </p:cNvPicPr>
          <p:nvPr/>
        </p:nvPicPr>
        <p:blipFill>
          <a:blip r:embed="rId2"/>
          <a:stretch>
            <a:fillRect/>
          </a:stretch>
        </p:blipFill>
        <p:spPr>
          <a:xfrm>
            <a:off x="10271455" y="411480"/>
            <a:ext cx="1371600" cy="1344168"/>
          </a:xfrm>
          <a:prstGeom prst="rect">
            <a:avLst/>
          </a:prstGeom>
        </p:spPr>
      </p:pic>
      <p:sp>
        <p:nvSpPr>
          <p:cNvPr id="7" name="Shape 3"/>
          <p:cNvSpPr/>
          <p:nvPr/>
        </p:nvSpPr>
        <p:spPr>
          <a:xfrm>
            <a:off x="640080" y="1600200"/>
            <a:ext cx="365760" cy="64008"/>
          </a:xfrm>
          <a:prstGeom prst="rect">
            <a:avLst/>
          </a:prstGeom>
          <a:solidFill>
            <a:srgbClr val="FBE122"/>
          </a:solidFill>
          <a:ln w="12700">
            <a:solidFill>
              <a:srgbClr val="FBE122"/>
            </a:solidFill>
            <a:prstDash val="solid"/>
          </a:ln>
        </p:spPr>
      </p:sp>
      <p:sp>
        <p:nvSpPr>
          <p:cNvPr id="8" name="Text 4"/>
          <p:cNvSpPr/>
          <p:nvPr/>
        </p:nvSpPr>
        <p:spPr>
          <a:xfrm>
            <a:off x="1143000" y="146304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100" dirty="0"/>
          </a:p>
        </p:txBody>
      </p:sp>
      <p:sp>
        <p:nvSpPr>
          <p:cNvPr id="9" name="Text 5"/>
          <p:cNvSpPr/>
          <p:nvPr/>
        </p:nvSpPr>
        <p:spPr>
          <a:xfrm>
            <a:off x="640080" y="1965960"/>
            <a:ext cx="7040880" cy="1097280"/>
          </a:xfrm>
          <a:prstGeom prst="rect">
            <a:avLst/>
          </a:prstGeom>
          <a:noFill/>
          <a:ln/>
        </p:spPr>
        <p:txBody>
          <a:bodyPr wrap="square" lIns="0" tIns="0" rIns="0" bIns="0" rtlCol="0" anchor="t"/>
          <a:lstStyle/>
          <a:p>
            <a:pPr indent="0" marL="0">
              <a:buNone/>
            </a:pPr>
            <a:r>
              <a:rPr lang="en-US" sz="5200" dirty="0">
                <a:solidFill>
                  <a:srgbClr val="FFFFFF"/>
                </a:solidFill>
                <a:latin typeface="Poppins ExtraBold" pitchFamily="34" charset="0"/>
                <a:ea typeface="Poppins ExtraBold" pitchFamily="34" charset="-122"/>
                <a:cs typeface="Poppins ExtraBold" pitchFamily="34" charset="-120"/>
              </a:rPr>
              <a:t>TERIMA KASIH</a:t>
            </a:r>
            <a:endParaRPr lang="en-US" sz="5200" dirty="0"/>
          </a:p>
        </p:txBody>
      </p:sp>
      <p:sp>
        <p:nvSpPr>
          <p:cNvPr id="10" name="Text 6"/>
          <p:cNvSpPr/>
          <p:nvPr/>
        </p:nvSpPr>
        <p:spPr>
          <a:xfrm>
            <a:off x="640080" y="3063240"/>
            <a:ext cx="7040880" cy="457200"/>
          </a:xfrm>
          <a:prstGeom prst="rect">
            <a:avLst/>
          </a:prstGeom>
          <a:noFill/>
          <a:ln/>
        </p:spPr>
        <p:txBody>
          <a:bodyPr wrap="square" lIns="0" tIns="0" rIns="0" bIns="0" rtlCol="0" anchor="t"/>
          <a:lstStyle/>
          <a:p>
            <a:pPr indent="0" marL="0">
              <a:buNone/>
            </a:pPr>
            <a:r>
              <a:rPr lang="en-US" sz="1800" dirty="0">
                <a:solidFill>
                  <a:srgbClr val="D9CFC7"/>
                </a:solidFill>
                <a:latin typeface="Poppins Medium" pitchFamily="34" charset="0"/>
                <a:ea typeface="Poppins Medium" pitchFamily="34" charset="-122"/>
                <a:cs typeface="Poppins Medium" pitchFamily="34" charset="-120"/>
              </a:rPr>
              <a:t>Kami membuka sesi tanya jawab dan diskusi</a:t>
            </a:r>
            <a:endParaRPr lang="en-US" sz="1800" dirty="0"/>
          </a:p>
        </p:txBody>
      </p:sp>
      <p:sp>
        <p:nvSpPr>
          <p:cNvPr id="11" name="Shape 7"/>
          <p:cNvSpPr/>
          <p:nvPr/>
        </p:nvSpPr>
        <p:spPr>
          <a:xfrm>
            <a:off x="640080" y="3931920"/>
            <a:ext cx="6858000" cy="1234440"/>
          </a:xfrm>
          <a:prstGeom prst="rect">
            <a:avLst/>
          </a:prstGeom>
          <a:solidFill>
            <a:srgbClr val="C8102E"/>
          </a:solidFill>
          <a:ln w="12700">
            <a:solidFill>
              <a:srgbClr val="C8102E"/>
            </a:solidFill>
            <a:prstDash val="solid"/>
          </a:ln>
        </p:spPr>
      </p:sp>
      <p:sp>
        <p:nvSpPr>
          <p:cNvPr id="12" name="Text 8"/>
          <p:cNvSpPr/>
          <p:nvPr/>
        </p:nvSpPr>
        <p:spPr>
          <a:xfrm>
            <a:off x="868680" y="40690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13" name="Text 9"/>
          <p:cNvSpPr/>
          <p:nvPr/>
        </p:nvSpPr>
        <p:spPr>
          <a:xfrm>
            <a:off x="868680" y="4315968"/>
            <a:ext cx="6492240" cy="73152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SemiBold" pitchFamily="34" charset="0"/>
                <a:ea typeface="Poppins SemiBold" pitchFamily="34" charset="-122"/>
                <a:cs typeface="Poppins SemiBold" pitchFamily="34" charset="-120"/>
              </a:rPr>
              <a:t>Fitra Aidila  ·  Aulia Sisca Rahmadiyanti  ·  Bagaskoro  ·  Imam Prayudha  ·  Tegar Awanto</a:t>
            </a:r>
            <a:endParaRPr lang="en-US" sz="1100" dirty="0"/>
          </a:p>
        </p:txBody>
      </p:sp>
      <p:sp>
        <p:nvSpPr>
          <p:cNvPr id="14" name="Text 10"/>
          <p:cNvSpPr/>
          <p:nvPr/>
        </p:nvSpPr>
        <p:spPr>
          <a:xfrm>
            <a:off x="640080" y="5440680"/>
            <a:ext cx="7132320" cy="731520"/>
          </a:xfrm>
          <a:prstGeom prst="rect">
            <a:avLst/>
          </a:prstGeom>
          <a:noFill/>
          <a:ln/>
        </p:spPr>
        <p:txBody>
          <a:bodyPr wrap="square" lIns="0" tIns="0" rIns="0" bIns="0" rtlCol="0" anchor="t"/>
          <a:lstStyle/>
          <a:p>
            <a:pPr indent="0" marL="0">
              <a:lnSpc>
                <a:spcPct val="115000"/>
              </a:lnSpc>
              <a:buNone/>
            </a:pPr>
            <a:r>
              <a:rPr lang="en-US" sz="900" dirty="0">
                <a:solidFill>
                  <a:srgbClr val="D9CFC7"/>
                </a:solidFill>
                <a:latin typeface="Poppins" pitchFamily="34" charset="0"/>
                <a:ea typeface="Poppins" pitchFamily="34" charset="-122"/>
                <a:cs typeface="Poppins" pitchFamily="34" charset="-120"/>
              </a:rPr>
              <a:t>Strategic Management  ·  Dr. Rangga Almahendra, S.T., M.M.</a:t>
            </a:r>
            <a:endParaRPr lang="en-US" sz="900" dirty="0"/>
          </a:p>
          <a:p>
            <a:pPr indent="0" marL="0">
              <a:lnSpc>
                <a:spcPct val="115000"/>
              </a:lnSpc>
              <a:buNone/>
            </a:pPr>
            <a:r>
              <a:rPr lang="en-US" sz="900" dirty="0">
                <a:solidFill>
                  <a:srgbClr val="D9CFC7"/>
                </a:solidFill>
                <a:latin typeface="Poppins" pitchFamily="34" charset="0"/>
                <a:ea typeface="Poppins" pitchFamily="34" charset="-122"/>
                <a:cs typeface="Poppins" pitchFamily="34" charset="-120"/>
              </a:rPr>
              <a:t>Chapter 4: Thompson, Peteraf, Gamble &amp; Strickland, 2024 Release ISE   |   Kasus: Manchester United, Robert M. Grant (2010)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2026-09-30T03:57:43Z</dcterms:created>
  <dcterms:modified xsi:type="dcterms:W3CDTF">2026-09-30T03:57:43Z</dcterms:modified>
</cp:coreProperties>
</file>