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 1 menit. Bab 3 memberi sembilan kriteria penilaian, lalu kita pakai pada kasus nyata yang belum selesai. Alokasi 30 menit: 17 menit teori, 11 menit kasus, 2 menit penutup.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detik. Urutannya sengaja: kalau kasus dibahas lebih dulu, diskusi berhenti di adu data. Teori memberi alat menilai data yang sama secara berbeda.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menit. Teori tidak menggantikan intuisi, ia merapikannya. Pemantik: beda antara mengatakan praktik di negara lain itu berbeda dan mengatakan praktik itu salah.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 menit. Pemantik: suap. Absolutis bilang selalu salah, relativis bilang tergantung negaranya, pluralis bertanya kriteria mana yang paling kuat menanggung beban argumen.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 menit. Peta jalan sisa presentasi. Minta kelas mengingat nomor urutnya, matriks di bagian kasus memakai nomor yang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menit. Jangan buru-buru menolak egoisme. Versi jangka panjangnya justru memberi kritik paling tajam pada kasus nikel. Enlightened egoism: perusahaan menyokong lingkungan sosial karena itu menguntungkan dirinya sendiri.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2,5 menit. Titik terpenting: act dan rule bisa menghasilkan kesimpulan berlawanan atas fakta yang sama. Tanam di sini, karena itu yang terjadi pada kasus nikel.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menit. Cara cepat memakai Kant: sebutkan maksim tindakannya dalam satu kalimat, lalu universalkan. Kalau maksimnya membatalkan dirinya sendiri, tindakan itu gagal.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menit. Teori yang paling siap dipakai auditor dan investor. Tekankan cakupan relasi bisnis, itu yang menghubungkan pembeli kendaraan listrik di Eropa dengan Halmahera.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menit. Veil of ignorance paling mudah dipakai. Latihan: bila Anda tidak tahu akan lahir sebagai pemegang saham atau warga hilir sungai, kebijakan mana yang Anda pilih?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menit. Slide transisi. Keberatan nomor 3 sampai 5 paling menentukan bagi kasus nikel, karena warga terdampak tidak pernah jadi pihak dalam perumusan.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2,5 menit. Virtue ethics sering disalahpahami sebagai imbauan moral. Tekankan pertanyaan pembandingnya: dibandingkan dengan apa kita menyebut sesuatu sudah cukup baik?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2,5 menit. Discourse ethics menilai proses, jadi ia bisa membatalkan kebijakan yang hasilnya bagus sekalipun. Postmodern ethics menilai bahasa, dan itu yang membongkar istilah nikel hijau.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menit. Minta kelas memotret slide ini. Selama bagian kasus mereka bisa menandai sendiri jawaban tiap pertanyaan sebelum kita bahas.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menit. Kebijakannya masih berjalan dan sengketa dagangnya belum tuntas. Kasus yang belum selesai justru paling layak didiskusikan di kelas.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menit. Jangan berdebat soal angka. Tegaskan kedua kolom benar. Justru itu yang membuat kasus ini butuh sembilan kriteria, bukan satu.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menit. Bagian terpenting: utilitarianism terbelah. Perbedaan act dan rule bukan detail teknis, melainkan yang menentukan putusan.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2,5 menit. Ethic of care tidak menolak kebijakan, ia menuntut pemulihan. Contoh bagus bahwa pluralisme bukan berarti semua teori berkata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2,5 menit. Inti kontribusi analisis. Tekankan proposisi keempat: yang gugur adalah klaim etisnya, bukan kebijakan hilirisasinya.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menit. Sampaikan ketiga temuan, lalu ketiga tindak lanjutnya, dan tutup dengan kalimat penutup di bawah.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penutup. Buka forum tanya jawab. Tidak perlu alokasi waktu tersendiri.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480000">
            <a:off x="5440680" y="411480"/>
            <a:ext cx="6720840" cy="5212080"/>
          </a:xfrm>
          <a:prstGeom prst="irregularSeal2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4" name="Image 1" descr="assets/cut/c-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1005840"/>
            <a:ext cx="6537960" cy="372415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786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spc="24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ETHICS FOR SUSTAINABILITY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097280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4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</a:t>
            </a:r>
            <a:endParaRPr lang="en-US" sz="46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1828800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4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ETHICS</a:t>
            </a:r>
            <a:endParaRPr lang="en-US" sz="4600" dirty="0"/>
          </a:p>
        </p:txBody>
      </p:sp>
      <p:sp>
        <p:nvSpPr>
          <p:cNvPr id="8" name="Shape 4"/>
          <p:cNvSpPr/>
          <p:nvPr/>
        </p:nvSpPr>
        <p:spPr>
          <a:xfrm>
            <a:off x="502920" y="2706624"/>
            <a:ext cx="4709160" cy="493776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02920" y="2706624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NORMATIVE ETHICAL THEORIES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 rot="-120000">
            <a:off x="502920" y="3584448"/>
            <a:ext cx="1645920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 rot="-120000">
            <a:off x="502920" y="35844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4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DISUSUN OLEH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096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Aslih Abnuri   </a:t>
            </a:r>
            <a:pPr indent="0" marL="0">
              <a:buNone/>
            </a:pPr>
            <a:r>
              <a:rPr lang="en-US" sz="105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25/574338/PEK/31801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462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Arfinal Diputra   </a:t>
            </a:r>
            <a:pPr indent="0" marL="0">
              <a:buNone/>
            </a:pPr>
            <a:r>
              <a:rPr lang="en-US" sz="105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25/574664/PEK/31914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8280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Rohana Dwi Hardianti   </a:t>
            </a:r>
            <a:pPr indent="0" marL="0">
              <a:buNone/>
            </a:pPr>
            <a:r>
              <a:rPr lang="en-US" sz="105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25/574077/PEK/31728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5285232"/>
            <a:ext cx="393192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 rot="840000">
            <a:off x="4864608" y="5504688"/>
            <a:ext cx="1005840" cy="1005840"/>
          </a:xfrm>
          <a:prstGeom prst="star16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02920" y="544982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Crane, A., Matten, D., Glozer, S., dan Spence, L. (2019). Business Ethics: Managing Corporate Citizenship and Sustainability in the Age of Globalization. Edisi kelima. Oxford University Press, Bab 3.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D1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72000">
            <a:off x="502920" y="310896"/>
            <a:ext cx="1477670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 rot="-72000">
            <a:off x="502920" y="310896"/>
            <a:ext cx="1477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BAHASAN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9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SISTEMATIKA PEMBAHASAN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89888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teoretis dibangun lebih dahulu agar analisis kasus memiliki dasar penilaian yang eksplisit.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 rot="-120000">
            <a:off x="502920" y="1883664"/>
            <a:ext cx="1691640" cy="365760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 rot="-120000">
            <a:off x="502920" y="18836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4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SATU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4323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PENILAIAN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2920" y="2834640"/>
            <a:ext cx="370332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305409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78408" y="3054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 teori etika normatif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352958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78408" y="35295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Absolutisme, relativisme, pluralisme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400507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78408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sembilan teori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448056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78408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teori modernis Barat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495604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78408" y="4956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Keterbatasan teori modernis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543153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78408" y="54315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teori alternatif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 rot="120000">
            <a:off x="7360920" y="1883664"/>
            <a:ext cx="1645920" cy="365760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 rot="120000">
            <a:off x="7360920" y="18836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4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DUA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360920" y="2432304"/>
            <a:ext cx="432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HILIRISASI NIKEL INDONESIA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7360920" y="2834640"/>
            <a:ext cx="4325112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60920" y="305409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836408" y="3054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 kebijakan dan sengketanya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7360920" y="352958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7836408" y="3529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narasi atas fakta yang sama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7360920" y="400507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836408" y="4005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Penilaian lima teori modernis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7360920" y="448056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7836408" y="4480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Penilaian empat teori alternatif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7360920" y="495604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836408" y="4956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Sintesis penilaian dan evaluasi klaim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7360920" y="543153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7836408" y="5431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Simpulan dan implikasi manajerial</a:t>
            </a:r>
            <a:endParaRPr lang="en-US" sz="1150" dirty="0"/>
          </a:p>
        </p:txBody>
      </p:sp>
      <p:pic>
        <p:nvPicPr>
          <p:cNvPr id="39" name="Image 1" descr="assets/cut/a2-po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980944"/>
            <a:ext cx="2834640" cy="2345373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11304727" y="6199632"/>
            <a:ext cx="384048" cy="38404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1304727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1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72000">
            <a:off x="502920" y="310896"/>
            <a:ext cx="3180283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 rot="-72000">
            <a:off x="502920" y="310896"/>
            <a:ext cx="31802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PERAN TEORI ETIKA NORMATIF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9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MENGAPA TEORI NORMATIF DIPERLUKAN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89888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Dalam ranah personal intuisi memadai. Dalam konteks bisnis, penilaian etis harus dapat dipertahankan di hadapan pemangku kepentingan.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 rot="-360000">
            <a:off x="201168" y="2788920"/>
            <a:ext cx="3611880" cy="3383280"/>
          </a:xfrm>
          <a:prstGeom prst="irregularSeal2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pic>
        <p:nvPicPr>
          <p:cNvPr id="8" name="Image 1" descr="assets/cut/accent-mega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18688"/>
            <a:ext cx="2880360" cy="25145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 rot="-180000">
            <a:off x="530352" y="2395728"/>
            <a:ext cx="2880360" cy="402336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 rot="-180000">
            <a:off x="530352" y="2395728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7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SEKADAR FIRASAT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297680" y="1897380"/>
            <a:ext cx="118872" cy="1188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17136" y="1847088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DEFINISI KONSEP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297680" y="2139696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 etika normatif adalah aturan, pedoman, prinsip, dan pendekatan yang menentukan benar dan salah.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297680" y="288950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 dan Matten (2019: 87)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297680" y="3218688"/>
            <a:ext cx="7370064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297680" y="3493008"/>
            <a:ext cx="914400" cy="540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b="1" spc="-10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4297680" y="3950208"/>
            <a:ext cx="2304288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297680" y="395020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RASIONALISASI INTUISI MORAL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4297680" y="4334256"/>
            <a:ext cx="230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 etika berfungsi 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merasionalkan, menjelaskan, dan memahami intuisi moral</a:t>
            </a:r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yang telah dimiliki mengenai benar dan salah.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419088" y="3675888"/>
            <a:ext cx="676656" cy="585216"/>
          </a:xfrm>
          <a:prstGeom prst="arc">
            <a:avLst>
              <a:gd name="adj1" fmla="val 15300000"/>
              <a:gd name="adj2" fmla="val 2130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FFFF"/>
            </a:solidFill>
            <a:prstDash val="solid"/>
            <a:tailEnd type="arrow"/>
          </a:ln>
        </p:spPr>
      </p:sp>
      <p:sp>
        <p:nvSpPr>
          <p:cNvPr id="21" name="Text 17"/>
          <p:cNvSpPr txBox="1"/>
          <p:nvPr/>
        </p:nvSpPr>
        <p:spPr>
          <a:xfrm>
            <a:off x="6858000" y="3877056"/>
            <a:ext cx="914400" cy="540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b="1" spc="-10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2600" dirty="0"/>
          </a:p>
        </p:txBody>
      </p:sp>
      <p:sp>
        <p:nvSpPr>
          <p:cNvPr id="22" name="Shape 18"/>
          <p:cNvSpPr/>
          <p:nvPr/>
        </p:nvSpPr>
        <p:spPr>
          <a:xfrm>
            <a:off x="6858000" y="4334256"/>
            <a:ext cx="2304288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858000" y="433425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DASAR DISKUSI RASIONAL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6858000" y="4718304"/>
            <a:ext cx="230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 memungkinkan 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diskursus rasional antarpihak yang berbeda nilai moral</a:t>
            </a:r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sehingga perbedaan tidak berhenti pada tataran preferensi.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 rot="480000">
            <a:off x="8997696" y="4023360"/>
            <a:ext cx="676656" cy="566928"/>
          </a:xfrm>
          <a:prstGeom prst="arc">
            <a:avLst>
              <a:gd name="adj1" fmla="val 15300000"/>
              <a:gd name="adj2" fmla="val 2130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FFFF"/>
            </a:solidFill>
            <a:prstDash val="solid"/>
            <a:tailEnd type="arrow"/>
          </a:ln>
        </p:spPr>
      </p:sp>
      <p:sp>
        <p:nvSpPr>
          <p:cNvPr id="26" name="Text 22"/>
          <p:cNvSpPr txBox="1"/>
          <p:nvPr/>
        </p:nvSpPr>
        <p:spPr>
          <a:xfrm>
            <a:off x="9418320" y="4261104"/>
            <a:ext cx="914400" cy="540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b="1" spc="-10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2600" dirty="0"/>
          </a:p>
        </p:txBody>
      </p:sp>
      <p:sp>
        <p:nvSpPr>
          <p:cNvPr id="27" name="Shape 23"/>
          <p:cNvSpPr/>
          <p:nvPr/>
        </p:nvSpPr>
        <p:spPr>
          <a:xfrm>
            <a:off x="9418320" y="4718304"/>
            <a:ext cx="2304288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418320" y="471830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JUSTIFIKASI KEPUTUSAN BISNIS</a:t>
            </a:r>
            <a:endParaRPr lang="en-US" sz="800" dirty="0"/>
          </a:p>
        </p:txBody>
      </p:sp>
      <p:sp>
        <p:nvSpPr>
          <p:cNvPr id="29" name="Text 25"/>
          <p:cNvSpPr txBox="1"/>
          <p:nvPr/>
        </p:nvSpPr>
        <p:spPr>
          <a:xfrm>
            <a:off x="9418320" y="5102352"/>
            <a:ext cx="230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bisnis menuntut 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dasar rasional yang sistematis</a:t>
            </a:r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dapat dipertanggungjawabkan kepada pemangku kepentingan.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502920" y="625449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 dan Matten (2019), Bab 3, halaman 86 sampai 88.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11304727" y="6199632"/>
            <a:ext cx="384048" cy="38404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1304727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48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72000">
            <a:off x="502920" y="310896"/>
            <a:ext cx="1925726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 rot="-72000">
            <a:off x="502920" y="310896"/>
            <a:ext cx="19257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POSISI DASAR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900" b="1" spc="-3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ABSOLUTISME, RELATIVISME, PLURALISME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89888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2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Sebelum menerapkan teori, perlu ditetapkan seberapa luas klaim keberlakuan yang diajukan teori tersebut.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090117" y="1828800"/>
            <a:ext cx="2340864" cy="2212848"/>
          </a:xfrm>
          <a:prstGeom prst="ellipse">
            <a:avLst/>
          </a:prstGeom>
          <a:solidFill>
            <a:srgbClr val="1D1B84"/>
          </a:solidFill>
          <a:ln w="12700">
            <a:solidFill>
              <a:srgbClr val="1D1B84"/>
            </a:solidFill>
            <a:prstDash val="solid"/>
          </a:ln>
        </p:spPr>
      </p:sp>
      <p:pic>
        <p:nvPicPr>
          <p:cNvPr id="8" name="Image 1" descr="assets/cut/c-spec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032" y="1883664"/>
            <a:ext cx="1385034" cy="21488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2920" y="4206240"/>
            <a:ext cx="1874520" cy="292608"/>
          </a:xfrm>
          <a:prstGeom prst="rect">
            <a:avLst/>
          </a:prstGeom>
          <a:solidFill>
            <a:srgbClr val="13060D"/>
          </a:solidFill>
          <a:ln w="12700">
            <a:solidFill>
              <a:srgbClr val="13060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42062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ABSOLUTISME ETIS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4608576"/>
            <a:ext cx="3515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spc="-2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prinsip moral yang universal dan abadi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5212080"/>
            <a:ext cx="3515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3A0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Benar dan salah adalah kualitas objektif yang ditentukan lewat nalar, terlepas dari keadaan. Hampir seluruh teori modernis Barat berada di sini.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173626" y="4261104"/>
            <a:ext cx="20117" cy="1600200"/>
          </a:xfrm>
          <a:prstGeom prst="rect">
            <a:avLst/>
          </a:prstGeom>
          <a:solidFill>
            <a:srgbClr val="D96FA9"/>
          </a:solidFill>
          <a:ln w="12700">
            <a:solidFill>
              <a:srgbClr val="D96FA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25416" y="1828800"/>
            <a:ext cx="2340864" cy="2212848"/>
          </a:xfrm>
          <a:prstGeom prst="ellipse">
            <a:avLst/>
          </a:prstGeom>
          <a:solidFill>
            <a:srgbClr val="1D1B84"/>
          </a:solidFill>
          <a:ln w="12700">
            <a:solidFill>
              <a:srgbClr val="1D1B84"/>
            </a:solidFill>
            <a:prstDash val="solid"/>
          </a:ln>
        </p:spPr>
      </p:sp>
      <p:pic>
        <p:nvPicPr>
          <p:cNvPr id="15" name="Image 2" descr="assets/cut/c-spec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635" y="1883664"/>
            <a:ext cx="1390426" cy="21488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338218" y="4206240"/>
            <a:ext cx="1874520" cy="292608"/>
          </a:xfrm>
          <a:prstGeom prst="rect">
            <a:avLst/>
          </a:prstGeom>
          <a:solidFill>
            <a:srgbClr val="13060D"/>
          </a:solidFill>
          <a:ln w="12700">
            <a:solidFill>
              <a:srgbClr val="13060D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338218" y="42062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RELATIVISME ETIS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4338218" y="4608576"/>
            <a:ext cx="3515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spc="-2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Moralitas bergantung konteks dan subjektif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338218" y="5212080"/>
            <a:ext cx="3515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3A0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benar dan salah universal. Semuanya bergantung pada tradisi, keyakinan, dan praktik pihak yang memutuskan.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008925" y="4261104"/>
            <a:ext cx="20117" cy="1600200"/>
          </a:xfrm>
          <a:prstGeom prst="rect">
            <a:avLst/>
          </a:prstGeom>
          <a:solidFill>
            <a:srgbClr val="D96FA9"/>
          </a:solidFill>
          <a:ln w="12700">
            <a:solidFill>
              <a:srgbClr val="D96FA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760714" y="1828800"/>
            <a:ext cx="2340864" cy="2212848"/>
          </a:xfrm>
          <a:prstGeom prst="ellipse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pic>
        <p:nvPicPr>
          <p:cNvPr id="22" name="Image 3" descr="assets/cut/c-spec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3795" y="1883664"/>
            <a:ext cx="1374702" cy="21488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173517" y="4206240"/>
            <a:ext cx="1874520" cy="292608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173517" y="42062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PLURALISME ETIS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8173517" y="4608576"/>
            <a:ext cx="3515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spc="-2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yang bertentangan dapat sama sahnya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8173517" y="5212080"/>
            <a:ext cx="3515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3A0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Posisi yang diambil Crane dan Matten. Pluralisme tidak menyamaratakan seluruh perspektif, tetapi juga tidak mengunggulkan satu di atasnya.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 rot="600000">
            <a:off x="10561320" y="1481328"/>
            <a:ext cx="658368" cy="658368"/>
          </a:xfrm>
          <a:prstGeom prst="star16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02920" y="625449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72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 dan Matten (2019), Bab 3, halaman 87 sampai 88. Sen (2000) dan Liu (2018).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11304727" y="6199632"/>
            <a:ext cx="384048" cy="384048"/>
          </a:xfrm>
          <a:prstGeom prst="ellipse">
            <a:avLst/>
          </a:prstGeom>
          <a:solidFill>
            <a:srgbClr val="1D1B84"/>
          </a:solidFill>
          <a:ln w="12700">
            <a:solidFill>
              <a:srgbClr val="1D1B84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11304727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1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72000">
            <a:off x="502920" y="310896"/>
            <a:ext cx="2373782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 rot="-72000">
            <a:off x="502920" y="310896"/>
            <a:ext cx="23737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KLASIFIKASI TEORI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9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SEMBILAN TEORI ETIKA NORMATIF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89888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pertama menilai tindakan. Klasifikasi kedua menilai pelaku, relasi, prosedur, dan bahasa.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973568" y="1847088"/>
            <a:ext cx="20117" cy="4069080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847088"/>
            <a:ext cx="1783080" cy="2926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18470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I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2468880" y="18470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 MODERNIS BARAT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2249424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Berakar pada Pencerahan abad ke-18, bersifat absolutis, dan menawarkan aturan yang dapat diterapkan pada situasi apa pun.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3049524"/>
            <a:ext cx="118872" cy="1188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2376" y="2999232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KONSEKUENSIALIS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32552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Teleologis, menilai akibat tindakan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" y="3602736"/>
            <a:ext cx="256032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50392" y="3602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Egoism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3950208"/>
            <a:ext cx="256032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50392" y="3950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Utilitarianism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840480" y="3049524"/>
            <a:ext cx="118872" cy="1188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059936" y="2999232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BERBASIS PRINSIP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3840480" y="32552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Deontologis, menilai kewajiban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840480" y="3602736"/>
            <a:ext cx="256032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840480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187952" y="3602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of duty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840480" y="3950208"/>
            <a:ext cx="256032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840480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187952" y="3950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of rights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840480" y="4297680"/>
            <a:ext cx="256032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840480" y="4297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4187952" y="4297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Justice dan social contract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02920" y="4956048"/>
            <a:ext cx="630936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02920" y="510235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Seluruh teori ini bersifat normatif karena berangkat dari asumsi tentang hakikat dunia dan hakikat manusia. Penerimaan atas kesimpulannya bergantung pada penerimaan atas asumsi tersebut.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366760" y="1847088"/>
            <a:ext cx="1783080" cy="292608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366760" y="18470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II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8366760" y="22494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 ALTERNATIF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8366760" y="257860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Cenderung relativis. Lahir dari keberatan atas klasifikasi pertama.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8366760" y="3182112"/>
            <a:ext cx="292608" cy="292608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676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750808" y="31638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Virtue ethics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8750808" y="34381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Karakter pelaku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366760" y="3840480"/>
            <a:ext cx="292608" cy="292608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3667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8750808" y="3822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 of care</a:t>
            </a:r>
            <a:endParaRPr lang="en-US" sz="1250" dirty="0"/>
          </a:p>
        </p:txBody>
      </p:sp>
      <p:sp>
        <p:nvSpPr>
          <p:cNvPr id="46" name="Text 43"/>
          <p:cNvSpPr txBox="1"/>
          <p:nvPr/>
        </p:nvSpPr>
        <p:spPr>
          <a:xfrm>
            <a:off x="8750808" y="40965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Relasi dan tanggung jawab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8366760" y="4498848"/>
            <a:ext cx="292608" cy="292608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366760" y="4498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8750808" y="4480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Discourse ethics</a:t>
            </a:r>
            <a:endParaRPr lang="en-US" sz="1250" dirty="0"/>
          </a:p>
        </p:txBody>
      </p:sp>
      <p:sp>
        <p:nvSpPr>
          <p:cNvPr id="50" name="Text 47"/>
          <p:cNvSpPr txBox="1"/>
          <p:nvPr/>
        </p:nvSpPr>
        <p:spPr>
          <a:xfrm>
            <a:off x="8750808" y="47548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Prosedur perumusan norma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366760" y="5157216"/>
            <a:ext cx="292608" cy="292608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366760" y="5157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8750808" y="5138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Postmodern ethics</a:t>
            </a:r>
            <a:endParaRPr lang="en-US" sz="1250" dirty="0"/>
          </a:p>
        </p:txBody>
      </p:sp>
      <p:sp>
        <p:nvSpPr>
          <p:cNvPr id="54" name="Text 51"/>
          <p:cNvSpPr txBox="1"/>
          <p:nvPr/>
        </p:nvSpPr>
        <p:spPr>
          <a:xfrm>
            <a:off x="8750808" y="54132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 dan dorongan moral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 rot="720000">
            <a:off x="5888736" y="4334256"/>
            <a:ext cx="1783080" cy="1874520"/>
          </a:xfrm>
          <a:prstGeom prst="irregularSeal2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56" name="Image 1" descr="assets/cut/a5-s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4" y="4443984"/>
            <a:ext cx="1531915" cy="1773936"/>
          </a:xfrm>
          <a:prstGeom prst="rect">
            <a:avLst/>
          </a:prstGeom>
        </p:spPr>
      </p:pic>
      <p:sp>
        <p:nvSpPr>
          <p:cNvPr id="57" name="Text 53"/>
          <p:cNvSpPr txBox="1"/>
          <p:nvPr/>
        </p:nvSpPr>
        <p:spPr>
          <a:xfrm>
            <a:off x="502920" y="625449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 dan Matten (2019), Tabel 3.1 dan Tabel 3.5.</a:t>
            </a:r>
            <a:endParaRPr lang="en-US" sz="850" dirty="0"/>
          </a:p>
        </p:txBody>
      </p:sp>
      <p:sp>
        <p:nvSpPr>
          <p:cNvPr id="58" name="Shape 54"/>
          <p:cNvSpPr/>
          <p:nvPr/>
        </p:nvSpPr>
        <p:spPr>
          <a:xfrm>
            <a:off x="11304727" y="6199632"/>
            <a:ext cx="384048" cy="38404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11304727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1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72000">
            <a:off x="502920" y="310896"/>
            <a:ext cx="4614062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 rot="-72000">
            <a:off x="502920" y="310896"/>
            <a:ext cx="46140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TEORI MODERNIS BARAT   |   KONSEKUENSIALIS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9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ETIKA KEPENTINGAN DIRI: ETHICAL EGOISM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89888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 tertua sekaligus paling diperdebatkan. Sebagian penulis menolak mengategorikannya sebagai teori moral.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 rot="360000">
            <a:off x="246888" y="1847088"/>
            <a:ext cx="4937760" cy="4114800"/>
          </a:xfrm>
          <a:prstGeom prst="irregularSeal2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pic>
        <p:nvPicPr>
          <p:cNvPr id="8" name="Image 1" descr="assets/cut/c-egois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84" y="1783080"/>
            <a:ext cx="4201591" cy="41605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 rot="-120000">
            <a:off x="1069848" y="5413248"/>
            <a:ext cx="3063240" cy="457200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 rot="-120000">
            <a:off x="1069848" y="54132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7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KESERAKAHAN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257800" y="1792224"/>
            <a:ext cx="914400" cy="74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600" b="1" spc="-10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5989320" y="184708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EGOISM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989320" y="2157984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Sebuah tindakan benar secara moral jika dalam situasi tersebut semua pengambil keputusan secara bebas memilih mengejar keinginan jangka pendek atau kepentingan jangka panjangnya.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257800" y="3017520"/>
            <a:ext cx="630936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57800" y="3268980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77256" y="3218688"/>
            <a:ext cx="6089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PEMBEDAAN KONSEPTUAL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5257800" y="347472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Pelaku egois masih dapat tergerak oleh rasa iba, sedangkan </a:t>
            </a:r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EC489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pelaku serakah tidak peka pada kepentingan pihak lain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257800" y="4059936"/>
            <a:ext cx="630936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257800" y="4201668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77256" y="4151376"/>
            <a:ext cx="6089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TOKOH DAN KARYA UTAMA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257800" y="4407408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Hobbes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dalam Leviathan yang menyebut keadaan alamiah sebagai perang semua melawan semua, dan </a:t>
            </a:r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 Rand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dalam The Virtue of Selfishness.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257800" y="4992624"/>
            <a:ext cx="630936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257800" y="5134356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77256" y="5084064"/>
            <a:ext cx="6089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KETERBATASAN TEORI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5257800" y="5340096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 ini hanya berlaku bila pasar mencegah satu pelaku merugikan pelaku lain. Ia </a:t>
            </a:r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gugur pada kegagalan pasar dan isu keberlanjutan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sebab korban penipisan sumber daya adalah generasi mendatang.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502920" y="625449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 dan Matten (2019), Bab 3, halaman 93 sampai 96.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11304727" y="6199632"/>
            <a:ext cx="384048" cy="38404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1304727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1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72000">
            <a:off x="502920" y="310896"/>
            <a:ext cx="4614062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 rot="-72000">
            <a:off x="502920" y="310896"/>
            <a:ext cx="46140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TEORI MODERNIS BARAT   |   KONSEKUENSIALIS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9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ETIKA HASIL: UTILITARIANISM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89888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 yang paling lazim diterapkan dalam bisnis karena kompatibel dengan metodologi kuantitatif ekonomi.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810512"/>
            <a:ext cx="914400" cy="74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600" b="1" spc="-10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8653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UTILITARIANISM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21762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Sebuah tindakan benar secara moral jika menghasilkan kebaikan terbesar bagi jumlah orang terbesar yang terkena dampaknya. Bentham dan Mill.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2852928"/>
            <a:ext cx="11185855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720000">
            <a:off x="841248" y="3246120"/>
            <a:ext cx="914400" cy="914400"/>
          </a:xfrm>
          <a:prstGeom prst="star16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-300000">
            <a:off x="548640" y="4133088"/>
            <a:ext cx="2560320" cy="457200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 rot="-300000">
            <a:off x="548640" y="4133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7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GREATEST HAPPINESS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 rot="-480000">
            <a:off x="1810512" y="4956048"/>
            <a:ext cx="621792" cy="621792"/>
          </a:xfrm>
          <a:prstGeom prst="star24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-480000">
            <a:off x="3154680" y="3035808"/>
            <a:ext cx="3017520" cy="3127248"/>
          </a:xfrm>
          <a:prstGeom prst="irregularSeal2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pic>
        <p:nvPicPr>
          <p:cNvPr id="16" name="Image 1" descr="assets/cut/c-utilitar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142" y="3072384"/>
            <a:ext cx="2985156" cy="29718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309360" y="3159252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528816" y="3108960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CIRI POKOK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6309360" y="3364992"/>
            <a:ext cx="5376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Consequentialism, hedonism, maximalism, universalism. </a:t>
            </a:r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Utilitas diukur sebagai pleasure dikurangi pain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dan akibat bagi semua pihak wajib ikut dihitung.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309360" y="3968496"/>
            <a:ext cx="5376672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4128516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28816" y="4078224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DAN RULE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6309360" y="4334256"/>
            <a:ext cx="5376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utilitarianism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menilai satu tindakan tunggal. </a:t>
            </a:r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utilitarianism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menilai kelas tindakan dan prinsip di baliknya dalam jangka panjang.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309360" y="4937760"/>
            <a:ext cx="5376672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09360" y="5097780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528816" y="5047488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KEBERATAN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6309360" y="5303520"/>
            <a:ext cx="5376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Subjektivitas, pembobotan setara, kesulitan kuantifikasi, dan </a:t>
            </a:r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EC489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distribusi utilitas yang mengabaikan minoritas serta generasi mendatang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502920" y="625449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 dan Matten (2019), Tabel 3.2, halaman 96 sampai 100.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11304727" y="6199632"/>
            <a:ext cx="384048" cy="38404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1304727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48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72000">
            <a:off x="502920" y="310896"/>
            <a:ext cx="4703674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 rot="-72000">
            <a:off x="502920" y="310896"/>
            <a:ext cx="47036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TEORI MODERNIS BARAT   |   BERBASIS PRINSIP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900" b="1" spc="-3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ETIKA KEWAJIBAN: IMMANUEL KANT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89888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2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dinilai bukan akibat, melainkan prinsip di balik tindakan dan motivasi pelakunya.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 rot="240000">
            <a:off x="7040880" y="1847088"/>
            <a:ext cx="4937760" cy="4114800"/>
          </a:xfrm>
          <a:prstGeom prst="irregularSeal2">
            <a:avLst/>
          </a:prstGeom>
          <a:solidFill>
            <a:srgbClr val="1D1B84"/>
          </a:solidFill>
          <a:ln w="12700">
            <a:solidFill>
              <a:srgbClr val="1D1B84"/>
            </a:solidFill>
            <a:prstDash val="solid"/>
          </a:ln>
        </p:spPr>
      </p:sp>
      <p:pic>
        <p:nvPicPr>
          <p:cNvPr id="8" name="Image 1" descr="assets/cut/c-k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3054" y="1783080"/>
            <a:ext cx="4176836" cy="41605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 rot="-120000">
            <a:off x="7863840" y="5413248"/>
            <a:ext cx="3063240" cy="457200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 rot="-120000">
            <a:off x="7863840" y="54132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7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IMPERATIVE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1792224"/>
            <a:ext cx="914400" cy="74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600" b="1" spc="-100" kern="0" dirty="0">
                <a:solidFill>
                  <a:srgbClr val="1D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184708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b="1" spc="-2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OF DUTY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234440" y="2157984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260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Kewajiban yang abstrak dan tidak berubah, dirumuskan lewat aturan moral a priori yang dideduksi secara rasional dan berlaku pada semua persoalan etis.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" y="3017520"/>
            <a:ext cx="6309360" cy="20117"/>
          </a:xfrm>
          <a:prstGeom prst="rect">
            <a:avLst/>
          </a:prstGeom>
          <a:solidFill>
            <a:srgbClr val="D96FA9"/>
          </a:solidFill>
          <a:ln w="12700">
            <a:solidFill>
              <a:srgbClr val="D96FA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3268980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22376" y="3218688"/>
            <a:ext cx="6089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FORMULASI SATU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502920" y="347472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1D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acceptability. 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260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sebuah hukum moral hanya bila semua makhluk berakal budi juga bisa menerimanya. Mengingkari utang tidak lolos uji ini.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2920" y="4059936"/>
            <a:ext cx="6309360" cy="20117"/>
          </a:xfrm>
          <a:prstGeom prst="rect">
            <a:avLst/>
          </a:prstGeom>
          <a:solidFill>
            <a:srgbClr val="D96FA9"/>
          </a:solidFill>
          <a:ln w="12700">
            <a:solidFill>
              <a:srgbClr val="D96FA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2920" y="4201668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22376" y="4151376"/>
            <a:ext cx="6089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FORMULASI DUA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02920" y="4407408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1D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for persons. 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260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Perlakukan manusia sebagai tujuan, </a:t>
            </a:r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1D1B8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jangan pernah sekadar sebagai sarana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260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Inilah dasar etis stakeholder theory.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02920" y="4992624"/>
            <a:ext cx="6309360" cy="20117"/>
          </a:xfrm>
          <a:prstGeom prst="rect">
            <a:avLst/>
          </a:prstGeom>
          <a:solidFill>
            <a:srgbClr val="D96FA9"/>
          </a:solidFill>
          <a:ln w="12700">
            <a:solidFill>
              <a:srgbClr val="D96FA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02920" y="5134356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22376" y="5084064"/>
            <a:ext cx="6089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KEBERATAN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502920" y="5340096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260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motivasinya terlalu sempit, </a:t>
            </a:r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1D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akibat diabaikan sepenuhnya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260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dan asumsi rasionalitas penuh bersifat idealistis.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502920" y="625449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72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 dan Matten (2019), Tabel 3.4, halaman 100 sampai 103.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11304727" y="6199632"/>
            <a:ext cx="384048" cy="384048"/>
          </a:xfrm>
          <a:prstGeom prst="ellipse">
            <a:avLst/>
          </a:prstGeom>
          <a:solidFill>
            <a:srgbClr val="1D1B84"/>
          </a:solidFill>
          <a:ln w="12700">
            <a:solidFill>
              <a:srgbClr val="1D1B84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1304727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1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72000">
            <a:off x="502920" y="310896"/>
            <a:ext cx="4703674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 rot="-72000">
            <a:off x="502920" y="310896"/>
            <a:ext cx="47036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TEORI MODERNIS BARAT   |   BERBASIS PRINSIP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9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ETIKA HAK DAN HAK ASASI MANUSIA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89888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Pendekatan yang paling banyak dipakai secara praktis karena sudah melembaga dalam instrumen internasional.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 rot="-300000">
            <a:off x="246888" y="1847088"/>
            <a:ext cx="4937760" cy="4114800"/>
          </a:xfrm>
          <a:prstGeom prst="irregularSeal2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pic>
        <p:nvPicPr>
          <p:cNvPr id="8" name="Image 1" descr="assets/cut/c-righ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74" y="1783080"/>
            <a:ext cx="3807012" cy="41605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 rot="-120000">
            <a:off x="1069848" y="5413248"/>
            <a:ext cx="3063240" cy="457200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 rot="-120000">
            <a:off x="1069848" y="54132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7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RESPECT REMEDY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257800" y="1792224"/>
            <a:ext cx="914400" cy="74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600" b="1" spc="-10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5989320" y="184708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RIGHTS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989320" y="2157984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 dasar yang melekat, tidak dapat dicabut, dan tidak bersyarat, yang dimiliki semua manusia tanpa kecuali.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257800" y="3017520"/>
            <a:ext cx="630936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57800" y="3268980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77256" y="3218688"/>
            <a:ext cx="6089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KORELASI HAK DAN KEWAJIBAN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5257800" y="347472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Locke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merumuskan natural rights atas hidup, kebebasan, dan milik. Hak seseorang selalu menimbulkan kewajiban pada pihak lain.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257800" y="4059936"/>
            <a:ext cx="630936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257800" y="4201668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77256" y="4151376"/>
            <a:ext cx="6089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GUIDING PRINCIPLES 2011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257800" y="4407408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Negara </a:t>
            </a:r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melindungi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bisnis </a:t>
            </a:r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menghormati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dan peradilan menyediakan </a:t>
            </a:r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pemulihan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bagi korban.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257800" y="4992624"/>
            <a:ext cx="630936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257800" y="5134356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77256" y="5084064"/>
            <a:ext cx="6089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CAKUPAN YANG MENENTUKAN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5257800" y="5340096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Perusahaan wajib meredakan dampak buruk yang terkait lewat relasi bisnisnya, </a:t>
            </a:r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EC489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sekalipun ia tidak ikut menyebabkannya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Pemasok termasuk di dalamnya.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502920" y="625449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 dan Matten (2019), halaman 103 sampai 107. Universal Declaration of Human Rights (1948).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11304727" y="6199632"/>
            <a:ext cx="384048" cy="38404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1304727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1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72000">
            <a:off x="502920" y="310896"/>
            <a:ext cx="4703674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 rot="-72000">
            <a:off x="502920" y="310896"/>
            <a:ext cx="47036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TEORI MODERNIS BARAT   |   BERBASIS PRINSIP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9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KEADILAN: RAWLS DAN KONTRAK SOSIAL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89888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Pertanyaannya bergeser dari benar atau salah menjadi susunan seperti apa yang layak disepakati bersama.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810512"/>
            <a:ext cx="914400" cy="74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600" b="1" spc="-10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8653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21762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Perlakuan yang adil terhadap setiap orang dalam satu situasi, sehingga semua pihak memperoleh apa yang memang menjadi haknya.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2852928"/>
            <a:ext cx="11185855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720000">
            <a:off x="841248" y="3246120"/>
            <a:ext cx="914400" cy="914400"/>
          </a:xfrm>
          <a:prstGeom prst="star16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-300000">
            <a:off x="548640" y="4133088"/>
            <a:ext cx="2560320" cy="457200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 rot="-300000">
            <a:off x="548640" y="4133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7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 OF IGNORANCE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 rot="-480000">
            <a:off x="1810512" y="4956048"/>
            <a:ext cx="621792" cy="621792"/>
          </a:xfrm>
          <a:prstGeom prst="star24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">
            <a:off x="3154680" y="3035808"/>
            <a:ext cx="3017520" cy="3127248"/>
          </a:xfrm>
          <a:prstGeom prst="irregularSeal2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pic>
        <p:nvPicPr>
          <p:cNvPr id="16" name="Image 1" descr="assets/cut/c-just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835" y="3072384"/>
            <a:ext cx="2385769" cy="29718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309360" y="3159252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528816" y="3108960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DIMENSI KEADILAN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6309360" y="3364992"/>
            <a:ext cx="5376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Keadilan prosedural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menilai siapa yang berhak turut memutuskan. </a:t>
            </a:r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Keadilan distributif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menilai ke mana manfaat mengalir dan siapa menanggung bebannya.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309360" y="3968496"/>
            <a:ext cx="5376672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4128516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28816" y="4078224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PRINSIP JOHN RAWLS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6309360" y="4334256"/>
            <a:ext cx="5376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Kebebasan dasar yang setara bagi semua, lalu ketimpangan hanya dibenarkan bila </a:t>
            </a:r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EC489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paling menguntungkan pihak yang paling tidak diuntungkan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309360" y="4937760"/>
            <a:ext cx="5376672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09360" y="5097780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528816" y="5047488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 KONTRAK SOSIAL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6309360" y="5303520"/>
            <a:ext cx="5376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Hobbes, Locke, dan Rousseau. Versi bisnisnya </a:t>
            </a:r>
            <a:pPr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Integrative Social Contracts Theory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dari Donaldson dan Dunfee, memadukan hypernorms dengan kontrak mikro komunitas.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502920" y="625449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 dan Matten (2019), halaman 108 sampai 113. Rawls, A Theory of Justice (1971).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11304727" y="6199632"/>
            <a:ext cx="384048" cy="38404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1304727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48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72000">
            <a:off x="502920" y="310896"/>
            <a:ext cx="2194560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 rot="-72000">
            <a:off x="502920" y="3108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EVALUASI KRITIS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900" b="1" spc="-3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KETERBATASAN TEORI MODERNIS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89888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2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Keberatan ini menjadi dasar kemunculan empat teori alternatif yang dibahas berikutnya.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 rot="480000">
            <a:off x="4005072" y="1700784"/>
            <a:ext cx="4206240" cy="4069080"/>
          </a:xfrm>
          <a:prstGeom prst="irregularSeal2">
            <a:avLst/>
          </a:prstGeom>
          <a:solidFill>
            <a:srgbClr val="1D1B84"/>
          </a:solidFill>
          <a:ln w="12700">
            <a:solidFill>
              <a:srgbClr val="1D1B8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810512"/>
            <a:ext cx="292608" cy="292608"/>
          </a:xfrm>
          <a:prstGeom prst="rect">
            <a:avLst/>
          </a:prstGeom>
          <a:solidFill>
            <a:srgbClr val="1D1B84"/>
          </a:solidFill>
          <a:ln w="12700">
            <a:solidFill>
              <a:srgbClr val="1D1B8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86968" y="181051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spc="-2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ABSTRAKSI BERLEBIH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217627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A0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Prinsipnya beroperasi pada tataran yang jauh dari persoalan konkret yang dihadapi manajer.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2907792"/>
            <a:ext cx="3520440" cy="20117"/>
          </a:xfrm>
          <a:prstGeom prst="rect">
            <a:avLst/>
          </a:prstGeom>
          <a:solidFill>
            <a:srgbClr val="D96FA9"/>
          </a:solidFill>
          <a:ln w="12700">
            <a:solidFill>
              <a:srgbClr val="D96FA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68335" y="1810512"/>
            <a:ext cx="292608" cy="292608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68335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552383" y="181051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spc="-2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REDUKSIONISME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168335" y="217627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A0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teori menonjolkan satu dimensi moralitas dan memperlakukannya sebagai keseluruhan.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168335" y="2907792"/>
            <a:ext cx="3520440" cy="20117"/>
          </a:xfrm>
          <a:prstGeom prst="rect">
            <a:avLst/>
          </a:prstGeom>
          <a:solidFill>
            <a:srgbClr val="D96FA9"/>
          </a:solidFill>
          <a:ln w="12700">
            <a:solidFill>
              <a:srgbClr val="D96FA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3145536"/>
            <a:ext cx="292608" cy="292608"/>
          </a:xfrm>
          <a:prstGeom prst="rect">
            <a:avLst/>
          </a:prstGeom>
          <a:solidFill>
            <a:srgbClr val="1D1B84"/>
          </a:solidFill>
          <a:ln w="12700">
            <a:solidFill>
              <a:srgbClr val="1D1B8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86968" y="314553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spc="-2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OBJEKTIVISME ELITIS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351129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A0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Kebenaran moral ditentukan melalui deduksi ahli, bukan melalui pengalaman pihak yang terlibat.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2920" y="4242816"/>
            <a:ext cx="3520440" cy="20117"/>
          </a:xfrm>
          <a:prstGeom prst="rect">
            <a:avLst/>
          </a:prstGeom>
          <a:solidFill>
            <a:srgbClr val="D96FA9"/>
          </a:solidFill>
          <a:ln w="12700">
            <a:solidFill>
              <a:srgbClr val="D96FA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68335" y="3145536"/>
            <a:ext cx="292608" cy="292608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68335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552383" y="314553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spc="-2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IMPERSONALITAS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8168335" y="351129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A0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Ikatan personal dan tanggung jawab pada pihak tertentu diposisikan sebagai pengganggu penilaian.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168335" y="4242816"/>
            <a:ext cx="3520440" cy="20117"/>
          </a:xfrm>
          <a:prstGeom prst="rect">
            <a:avLst/>
          </a:prstGeom>
          <a:solidFill>
            <a:srgbClr val="D96FA9"/>
          </a:solidFill>
          <a:ln w="12700">
            <a:solidFill>
              <a:srgbClr val="D96FA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02920" y="4480560"/>
            <a:ext cx="292608" cy="292608"/>
          </a:xfrm>
          <a:prstGeom prst="rect">
            <a:avLst/>
          </a:prstGeom>
          <a:solidFill>
            <a:srgbClr val="1D1B84"/>
          </a:solidFill>
          <a:ln w="12700">
            <a:solidFill>
              <a:srgbClr val="1D1B8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2920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86968" y="44805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spc="-2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RASIONALISME TERKODIFIKASI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48463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A0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 perasaan, empati, dan dorongan moral diabaikan dalam perumusan penilaian etis.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168335" y="4480560"/>
            <a:ext cx="292608" cy="292608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168335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552383" y="44805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spc="-2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IMPERIALISME KULTURAL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8168335" y="48463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A0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Pengalaman dan tradisi intelektual Barat diposisikan sebagai ukuran yang berlaku universal.</a:t>
            </a:r>
            <a:endParaRPr lang="en-US" sz="1000" dirty="0"/>
          </a:p>
        </p:txBody>
      </p:sp>
      <p:pic>
        <p:nvPicPr>
          <p:cNvPr id="36" name="Image 1" descr="assets/cut/c-limi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1828800"/>
            <a:ext cx="3859078" cy="3794760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502920" y="5760720"/>
            <a:ext cx="11185855" cy="20117"/>
          </a:xfrm>
          <a:prstGeom prst="rect">
            <a:avLst/>
          </a:prstGeom>
          <a:solidFill>
            <a:srgbClr val="00761A"/>
          </a:solidFill>
          <a:ln w="12700">
            <a:solidFill>
              <a:srgbClr val="00761A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02920" y="5870448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0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 alternatif tidak menggantikan teori modernis, melainkan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menambahkan dimensi penilaian yang belum tercakup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0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karakter pelaku, relasi antarpihak, prosedur perumusan norma, dan pilihan istilah.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11304727" y="6199632"/>
            <a:ext cx="384048" cy="384048"/>
          </a:xfrm>
          <a:prstGeom prst="ellipse">
            <a:avLst/>
          </a:prstGeom>
          <a:solidFill>
            <a:srgbClr val="1D1B84"/>
          </a:solidFill>
          <a:ln w="12700">
            <a:solidFill>
              <a:srgbClr val="1D1B84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1304727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1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72000">
            <a:off x="502920" y="310896"/>
            <a:ext cx="2284171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 rot="-72000">
            <a:off x="502920" y="310896"/>
            <a:ext cx="2284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TEORI ALTERNATIF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9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VIRTUE ETHICS DAN ETHIC OF CARE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89888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 penilaian bergeser dari tindakan ke karakter pelaku dan ke relasi antarpihak yang terlibat.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 rot="-300000">
            <a:off x="4133088" y="1664208"/>
            <a:ext cx="3931920" cy="4379976"/>
          </a:xfrm>
          <a:prstGeom prst="irregularSeal2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8" name="Image 1" descr="assets/cut/c-v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810512"/>
            <a:ext cx="3383280" cy="399895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2920" y="1847088"/>
            <a:ext cx="365760" cy="365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978408" y="1847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VIRTUE ETHICS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234086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Pelaku seperti apa yang layak disebut baik pada posisi ini?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02920" y="28529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Aristoteles dalam Nicomachean Ethics, MacIntyre dalam After Virtue, dan Solomon dalam Ethics and Excellence.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02920" y="3310128"/>
            <a:ext cx="365760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3525012"/>
            <a:ext cx="118872" cy="1188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22376" y="3474720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GAGASAN INTI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502920" y="37216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Moralitas lahir dari </a:t>
            </a:r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karakter yang dibentuk lewat pembiasaan</a:t>
            </a:r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bukan dari aturan. Tujuannya eudaimonia, hidup yang baik.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02920" y="4366260"/>
            <a:ext cx="118872" cy="1188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22376" y="4315968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PENERAPAN DALAM BISNIS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502920" y="45628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Perusahaan adalah komunitas praktik, dengan keutamaan berupa </a:t>
            </a:r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highlight>
                  <a:srgbClr val="EC489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kejujuran, keadilan, kepercayaan, dan ketangguhan</a:t>
            </a:r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02920" y="5207508"/>
            <a:ext cx="118872" cy="1188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22376" y="5157216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KETERBATASAN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502920" y="54041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Keutamaan selalu ditentukan komunitas tertentu, sehingga sulit dijadikan ukuran lintas budaya dan lintas industri.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8028432" y="1847088"/>
            <a:ext cx="365760" cy="365760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028432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8503920" y="1847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 OF CARE</a:t>
            </a:r>
            <a:endParaRPr lang="en-US" sz="1700" dirty="0"/>
          </a:p>
        </p:txBody>
      </p:sp>
      <p:sp>
        <p:nvSpPr>
          <p:cNvPr id="27" name="Text 23"/>
          <p:cNvSpPr txBox="1"/>
          <p:nvPr/>
        </p:nvSpPr>
        <p:spPr>
          <a:xfrm>
            <a:off x="8028432" y="234086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mana yang memelihara relasi dengan pihak terdampak?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8028432" y="28529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Carol Gilligan dalam In a Different Voice dan Nel Noddings dalam Caring. Berakar pada etika feminis.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8028432" y="3310128"/>
            <a:ext cx="365760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028432" y="3525012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247888" y="3474720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GAGASAN INTI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8028432" y="37216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Manusia adalah </a:t>
            </a:r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makhluk yang saling bergantung</a:t>
            </a:r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terjalin dalam relasi, bukan individu rasional yang terpisah.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8028432" y="4366260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247888" y="4315968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TUNTUTAN NORMATIF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8028432" y="45628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Empati, keselarasan, menghindari kerugian, dan </a:t>
            </a:r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tanggung jawab konkret pada orang tertentu</a:t>
            </a:r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bukan aturan seragam.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8028432" y="5207508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8247888" y="5157216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KETERBATASAN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8028432" y="54041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Prioritas pada pihak terdekat berisiko mengabaikan pihak jauh, dan kriteria kepedulian sulit diaudit secara seragam.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502920" y="625449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 dan Matten (2019), Tabel 3.5, halaman 114 sampai 121.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11304727" y="6199632"/>
            <a:ext cx="384048" cy="38404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1304727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1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72000">
            <a:off x="502920" y="310896"/>
            <a:ext cx="2284171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 rot="-72000">
            <a:off x="502920" y="310896"/>
            <a:ext cx="2284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TEORI ALTERNATIF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4980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9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DISCOURSE DAN POSTMODERN ETHICS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898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 penilaian bergeser ke prosedur perumusan norma dan ke bahasa yang dipakai untuk membenarkannya.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 rot="300000">
            <a:off x="365760" y="1609344"/>
            <a:ext cx="3419856" cy="4544568"/>
          </a:xfrm>
          <a:prstGeom prst="irregularSeal2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pic>
        <p:nvPicPr>
          <p:cNvPr id="8" name="Image 1" descr="assets/cut/c2-discour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2871216" cy="415801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096512" y="1847088"/>
            <a:ext cx="365760" cy="365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096512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572000" y="18470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DISCOURSE ETHICS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096512" y="234086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 apa yang bisa lahir dari deliberasi yang terbuka?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096512" y="285292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Jurgen Habermas dalam Moral Consciousness and Communicative Action, bersama Karl Otto Apel.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096512" y="3310128"/>
            <a:ext cx="361188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096512" y="3525012"/>
            <a:ext cx="118872" cy="1188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315968" y="3474720"/>
            <a:ext cx="3392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GAGASAN INTI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4096512" y="37216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 tidak ditetapkan filsuf dari luar, melainkan </a:t>
            </a:r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dihasilkan dialog rasional antara semua pihak terdampak</a:t>
            </a:r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096512" y="4366260"/>
            <a:ext cx="118872" cy="1188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315968" y="4315968"/>
            <a:ext cx="3392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SYARAT IDEAL SPEECH SITUATION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4096512" y="456285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pihak boleh ikut, bebas paksaan, dan argumen dinilai dari kekuatannya sendiri, </a:t>
            </a:r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highlight>
                  <a:srgbClr val="EC489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bukan dari kekuasaan pengusulnya</a:t>
            </a:r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096512" y="5207508"/>
            <a:ext cx="118872" cy="1188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315968" y="5157216"/>
            <a:ext cx="3392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ORIENTASI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4096512" y="540410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Penyelesaian konflik secara damai, bukan pembuktian satu kebenaran. Prosedur yang cacat cukup untuk membatalkan hasilnya.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8074152" y="1847088"/>
            <a:ext cx="365760" cy="365760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074152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8549640" y="18470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POSTMODERN ETHICS</a:t>
            </a:r>
            <a:endParaRPr lang="en-US" sz="1700" dirty="0"/>
          </a:p>
        </p:txBody>
      </p:sp>
      <p:sp>
        <p:nvSpPr>
          <p:cNvPr id="27" name="Text 23"/>
          <p:cNvSpPr txBox="1"/>
          <p:nvPr/>
        </p:nvSpPr>
        <p:spPr>
          <a:xfrm>
            <a:off x="8074152" y="234086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Kepentingan siapa yang dilayani oleh pilihan istilah?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8074152" y="285292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Zygmunt Bauman dalam Postmodern Ethics, dengan latar pemikiran Derrida dan Lyotard.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8074152" y="3310128"/>
            <a:ext cx="361188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074152" y="3525012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293608" y="3474720"/>
            <a:ext cx="3392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GAGASAN INTI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8074152" y="37216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Dorongan moral dan perasaan didahulukan</a:t>
            </a:r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atas perhitungan rasional. Tindakan etis kerap digerakkan intuisi, bukan kalkulasi.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8074152" y="4366260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293608" y="4315968"/>
            <a:ext cx="3392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KRITIK TERHADAP ORGANISASI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8074152" y="456285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Prosedur, pembagian tugas, dan jarak birokratis menciptakan </a:t>
            </a:r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jarak moral</a:t>
            </a:r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yang menumpulkan dorongan itu.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8074152" y="5207508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8293608" y="5157216"/>
            <a:ext cx="3392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IMPLIKASI SIKAP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8074152" y="540410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Mempertanyakan bahasa dan asumsi yang telah dianggap wajar, lalu bertindak pada skala lokal tempat akibatnya dirasakan.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502920" y="625449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 dan Matten (2019), Tabel 3.5, halaman 121 sampai 125.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11304727" y="6199632"/>
            <a:ext cx="384048" cy="38404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1304727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D1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72000">
            <a:off x="502920" y="310896"/>
            <a:ext cx="2373782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 rot="-72000">
            <a:off x="502920" y="310896"/>
            <a:ext cx="23737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 SINTESIS KERANGKA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4980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9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SEMBILAN PERTANYAAN PENILAIAN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898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teori yang memberikan jawaban lengkap. Yang dicari pertimbangan yang paling kuat menanggung beban argumen.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 rot="-480000">
            <a:off x="4389120" y="1737360"/>
            <a:ext cx="3429000" cy="4389120"/>
          </a:xfrm>
          <a:prstGeom prst="irregularSeal2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pic>
        <p:nvPicPr>
          <p:cNvPr id="8" name="Image 1" descr="assets/cut/c-vc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1828800"/>
            <a:ext cx="3232645" cy="41330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179222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86968" y="179222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Egoism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86968" y="206654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Apakah semua pihak bebas mengejar kepentingan jangka panjangnya, dan sudahkah biaya tertunda dihitung?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02920" y="2505456"/>
            <a:ext cx="393192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02920" y="26517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86968" y="26517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Utilitarianism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86968" y="2926080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 seluruh akibat diagregasi, apakah hasilnya positif, dan apakah act dan rule sejalan?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02920" y="3364992"/>
            <a:ext cx="393192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02920" y="35112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886968" y="351129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of duty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886968" y="3785616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Dapatkah maksim tindakan ini diuniversalkan, dan adakah pihak yang diperlakukan sekadar sarana?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02920" y="4224528"/>
            <a:ext cx="393192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02920" y="437083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886968" y="437083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of rights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86968" y="4645152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 siapa yang terpenuhi, hak siapa yang terlanggar, dan sampai mana relasi bisnisnya menjangkau?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02920" y="5084064"/>
            <a:ext cx="393192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02920" y="523036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886968" y="5230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Justice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886968" y="5504688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Susunan apa yang akan dipilih orang yang belum tahu posisi yang akan ditempatinya?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7754112" y="179222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8138160" y="179222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Virtue ethics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8138160" y="206654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pelaku berkarakter baik bertindak di posisi ini, dan diukur terhadap standar yang mana?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7754112" y="2505456"/>
            <a:ext cx="393192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754112" y="26517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8138160" y="26517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 of care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8138160" y="2926080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mana yang memelihara relasi dengan pihak terdampak, bukan sekadar mengganti kerugiannya?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7754112" y="3364992"/>
            <a:ext cx="393192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754112" y="35112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8138160" y="351129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Discourse ethics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8138160" y="3785616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Siapa yang hadir dan siapa yang absen ketika norma dan izinnya dirumuskan?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7754112" y="4224528"/>
            <a:ext cx="393192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7754112" y="437083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41" name="Text 37"/>
          <p:cNvSpPr txBox="1"/>
          <p:nvPr/>
        </p:nvSpPr>
        <p:spPr>
          <a:xfrm>
            <a:off x="8138160" y="437083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Postmodern ethics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8138160" y="4645152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Kepentingan siapa yang dilayani oleh istilah yang dipakai menamai kebijakan ini?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7754112" y="5084064"/>
            <a:ext cx="393192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754112" y="5230368"/>
            <a:ext cx="3931920" cy="20117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7754112" y="535838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Pendekatan pluralis Bab 3 menghasilkan </a:t>
            </a:r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sembilan penilaian atas rangkaian fakta yang identik</a:t>
            </a:r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untuk kemudian dilihat arah konvergensinya.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11304727" y="6199632"/>
            <a:ext cx="384048" cy="38404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11304727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1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72000">
            <a:off x="502920" y="310896"/>
            <a:ext cx="3807562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 rot="-72000">
            <a:off x="502920" y="310896"/>
            <a:ext cx="38075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DUA   |   STUDI KASUS INDONESIA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4980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9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 KEBIJAKAN HILIRISASI NIKEL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8988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instrumen regulasi yang mengubah struktur industri nikel nasional.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 rot="420000">
            <a:off x="7132320" y="1481328"/>
            <a:ext cx="4709160" cy="4160520"/>
          </a:xfrm>
          <a:prstGeom prst="irregularSeal2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pic>
        <p:nvPicPr>
          <p:cNvPr id="8" name="Image 1" descr="assets/cut/c-nick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1755648"/>
            <a:ext cx="4279392" cy="359975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1737360"/>
            <a:ext cx="914400" cy="498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400" b="1" spc="-10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502920" y="2139696"/>
            <a:ext cx="1572768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02920" y="21396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2505456"/>
            <a:ext cx="2075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Permen ESDM Nomor 11 Tahun 2019 melarang ekspor bijih nikel, berlaku efektif 1 Januari 2020.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2788920" y="1737360"/>
            <a:ext cx="914400" cy="498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400" b="1" spc="-10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2788920" y="2139696"/>
            <a:ext cx="1572768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788920" y="21396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MEKANISME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2788920" y="2505456"/>
            <a:ext cx="2075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Bijih wajib diolah di dalam negeri dan kepemilikan smelter menjadi syarat masuk kawasan industri.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5074920" y="1737360"/>
            <a:ext cx="914400" cy="498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400" b="1" spc="-10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5074920" y="2139696"/>
            <a:ext cx="1572768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074920" y="21396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SENGKETA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5074920" y="2505456"/>
            <a:ext cx="2075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WTO memutus kebijakan ini melanggar aturan perdagangan pada November 2022.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02920" y="3799332"/>
            <a:ext cx="118872" cy="118872"/>
          </a:xfrm>
          <a:prstGeom prst="rect">
            <a:avLst/>
          </a:prstGeom>
          <a:solidFill>
            <a:srgbClr val="A5A3E0"/>
          </a:solidFill>
          <a:ln w="12700">
            <a:solidFill>
              <a:srgbClr val="A5A3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22376" y="374904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KRONOLOGI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02920" y="4443984"/>
            <a:ext cx="6446520" cy="20117"/>
          </a:xfrm>
          <a:prstGeom prst="rect">
            <a:avLst/>
          </a:prstGeom>
          <a:solidFill>
            <a:srgbClr val="5B58C4"/>
          </a:solidFill>
          <a:ln w="12700">
            <a:solidFill>
              <a:srgbClr val="5B58C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94360" y="4379976"/>
            <a:ext cx="146304" cy="146304"/>
          </a:xfrm>
          <a:prstGeom prst="ellipse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84632" y="40416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484632" y="4590288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Larangan pertama, lalu direlaksasi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1911096" y="4379976"/>
            <a:ext cx="146304" cy="146304"/>
          </a:xfrm>
          <a:prstGeom prst="ellipse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801368" y="40416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1801368" y="4590288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Permen ESDM Nomor 11 terbit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3227832" y="4379976"/>
            <a:ext cx="146304" cy="146304"/>
          </a:xfrm>
          <a:prstGeom prst="ellipse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118104" y="40416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3118104" y="4590288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Larangan berlaku efektif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4544568" y="4379976"/>
            <a:ext cx="146304" cy="146304"/>
          </a:xfrm>
          <a:prstGeom prst="ellipse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434840" y="40416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4434840" y="4590288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WTO memenangkan Uni Eropa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5861304" y="4379976"/>
            <a:ext cx="146304" cy="146304"/>
          </a:xfrm>
          <a:prstGeom prst="ellipse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751576" y="40416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5751576" y="4590288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Ekspor olahan 40 miliar dolar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502920" y="5285232"/>
            <a:ext cx="6446520" cy="20117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502920" y="5413248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Manfaatnya besar, terukur, dan terkonsentrasi, sedangkan bebannya tersebar, tertunda, dan sulit dikuantifikasi. Persoalan dengan struktur demikian </a:t>
            </a:r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dapat diselesaikan melalui kriteria penilaian tunggal</a:t>
            </a:r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502920" y="625449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ditelusuri Agustus 2026 dari pengelola kawasan IMIP dan IWIP, Badan Pusat Statistik, dan dokumen putusan panel WTO.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11304727" y="6199632"/>
            <a:ext cx="384048" cy="38404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11304727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D1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72000">
            <a:off x="502920" y="310896"/>
            <a:ext cx="1298448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 rot="-72000">
            <a:off x="502920" y="31089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 FAKTA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9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NARASI ATAS FAKTA YANG SAMA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89888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Kedua kolom bersandar pada data resmi yang sama sahnya. Yang disengketakan kriteria penilaiannya.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828800"/>
            <a:ext cx="3246120" cy="310896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182880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PENDUKUNG   HILIRISASI BERDAULAT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255868" y="1828800"/>
            <a:ext cx="3520440" cy="31089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55868" y="182880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PENENTANG   EKSTRAKSI BERBIAYA SOSIAL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86704" y="1920240"/>
            <a:ext cx="20117" cy="3931920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600000">
            <a:off x="3447288" y="3127248"/>
            <a:ext cx="2560320" cy="2743200"/>
          </a:xfrm>
          <a:prstGeom prst="irregularSeal2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3" name="Image 1" descr="assets/cut/c-narr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291840"/>
            <a:ext cx="2194560" cy="25233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2423160"/>
            <a:ext cx="128016" cy="128016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0664" y="2340864"/>
            <a:ext cx="5158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miliar dolar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40664" y="2633472"/>
            <a:ext cx="51585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ekspor produk nikel olahan pada 2025, naik dari 3 miliar dolar pada 2020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02920" y="3227832"/>
            <a:ext cx="128016" cy="128016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40664" y="314553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41,5 miliar dolar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0664" y="3438144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Investasi terkumpul di kawasan IMIP Morowali sampai Desember 2025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02920" y="4032504"/>
            <a:ext cx="128016" cy="128016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40664" y="395020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 ribu pekerja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740664" y="4242816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Terserap di IMIP dan IWIP, dari 35.952 orang pada 2020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02920" y="4837176"/>
            <a:ext cx="128016" cy="128016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40664" y="475488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Pemasok terbesar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740664" y="504748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Indonesia menjadi simpul utama rantai pasok baterai dunia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 rot="600000">
            <a:off x="9200236" y="3127248"/>
            <a:ext cx="2560320" cy="2743200"/>
          </a:xfrm>
          <a:prstGeom prst="irregularSeal2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pic>
        <p:nvPicPr>
          <p:cNvPr id="27" name="Image 2" descr="assets/cut/c-narr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9108" y="3291840"/>
            <a:ext cx="2194560" cy="2493252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255868" y="2423160"/>
            <a:ext cx="128016" cy="12801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493612" y="2340864"/>
            <a:ext cx="5158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sampai 3,6 juta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6493612" y="2633472"/>
            <a:ext cx="51585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Upah pokok per bulan, di bawah upah minimum Morowali 2025 sebesar 3,7 juta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6255868" y="3227832"/>
            <a:ext cx="128016" cy="12801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493612" y="314553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 pekerja meninggal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6493612" y="3438144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Beserta 155 pekerja luka pada 104 kecelakaan smelter sepanjang 2019 sampai 2025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255868" y="4032504"/>
            <a:ext cx="128016" cy="12801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493612" y="395020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 ribu hektare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6493612" y="4242816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Tutupan pohon hilang di Halmahera, industri nikel memegang 76 persen PLTU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6255868" y="4837176"/>
            <a:ext cx="128016" cy="12801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6493612" y="475488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4,35 persen</a:t>
            </a:r>
            <a:endParaRPr lang="en-US" sz="1800" dirty="0"/>
          </a:p>
        </p:txBody>
      </p:sp>
      <p:sp>
        <p:nvSpPr>
          <p:cNvPr id="39" name="Text 34"/>
          <p:cNvSpPr txBox="1"/>
          <p:nvPr/>
        </p:nvSpPr>
        <p:spPr>
          <a:xfrm>
            <a:off x="6493612" y="504748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tambah yang tinggal di Morowali, kemiskinannya 12,58 persen</a:t>
            </a:r>
            <a:endParaRPr lang="en-US" sz="950" dirty="0"/>
          </a:p>
        </p:txBody>
      </p:sp>
      <p:sp>
        <p:nvSpPr>
          <p:cNvPr id="40" name="Text 35"/>
          <p:cNvSpPr txBox="1"/>
          <p:nvPr/>
        </p:nvSpPr>
        <p:spPr>
          <a:xfrm>
            <a:off x="502920" y="625449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Beban yang tidak masuk neraca ekspor: sungai Ake Jira tidak lagi layak dipakai warga, dan 40 persen wilayah adat O Hongana Manyawa sudah berizin tambang.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11304727" y="6199632"/>
            <a:ext cx="384048" cy="38404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11304727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D1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72000">
            <a:off x="502920" y="310896"/>
            <a:ext cx="1656893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 rot="-72000">
            <a:off x="502920" y="310896"/>
            <a:ext cx="16568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 PENERAPAN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4980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9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PENILAIAN LIMA TEORI MODERNIS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89888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Penilaian berbasis akibat dan berbasis prinsip menghasilkan kesimpulan yang tidak seragam.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 rot="600000">
            <a:off x="274320" y="1645920"/>
            <a:ext cx="3291840" cy="4754880"/>
          </a:xfrm>
          <a:prstGeom prst="irregularSeal2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8" name="Image 1" descr="assets/cut/c2-verdi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0"/>
            <a:ext cx="2917995" cy="4846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611880" y="179222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5B5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995928" y="17922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Egoism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995928" y="2139696"/>
            <a:ext cx="1463040" cy="256032"/>
          </a:xfrm>
          <a:prstGeom prst="rect">
            <a:avLst/>
          </a:prstGeom>
          <a:solidFill>
            <a:srgbClr val="5B58C4"/>
          </a:solidFill>
          <a:ln w="12700">
            <a:solidFill>
              <a:srgbClr val="5B58C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995928" y="21396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NETRAL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5852160" y="1773936"/>
            <a:ext cx="5833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 horizon pendek jelas melayani kepentingan Indonesia. Pada horizon panjang, biaya kesehatan warga, pemulihan sungai, dan pensiun dini pembangkit batu bara belum diinternalisasi.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Kepentingan diri yang dihitung cermat justru menuntut biaya tertunda itu masuk sejak awal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11880" y="2560320"/>
            <a:ext cx="8074152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611880" y="267004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B08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995928" y="26700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Utilitarianism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995928" y="3017520"/>
            <a:ext cx="1463040" cy="256032"/>
          </a:xfrm>
          <a:prstGeom prst="rect">
            <a:avLst/>
          </a:prstGeom>
          <a:solidFill>
            <a:srgbClr val="B08018"/>
          </a:solidFill>
          <a:ln w="12700">
            <a:solidFill>
              <a:srgbClr val="B0801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995928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AMBIVALEN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5852160" y="2651760"/>
            <a:ext cx="5833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utilitarianism cenderung mendukung, sebab manfaat 166 ribu lapangan kerja nyata dan terukur sedangkan kerugiannya tersebar.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highlight>
                  <a:srgbClr val="EC489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Rule utilitarianism menolak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sebab bila setiap negara pemilik cadangan menempuh pengolahan bertenaga batu bara, tambahan emisinya membatalkan manfaat transisi energi yang justru menjadi pembenarnya.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611880" y="3438144"/>
            <a:ext cx="8074152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611880" y="3547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3995928" y="35478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of duty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995928" y="3895344"/>
            <a:ext cx="1463040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995928" y="3895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MENOLAK</a:t>
            </a:r>
            <a:endParaRPr lang="en-US" sz="800" dirty="0"/>
          </a:p>
        </p:txBody>
      </p:sp>
      <p:sp>
        <p:nvSpPr>
          <p:cNvPr id="25" name="Text 21"/>
          <p:cNvSpPr txBox="1"/>
          <p:nvPr/>
        </p:nvSpPr>
        <p:spPr>
          <a:xfrm>
            <a:off x="5852160" y="3529584"/>
            <a:ext cx="5833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Maksimnya berbunyi: pengolahan boleh dipercepat sambil menunda standar upah, keselamatan, dan lingkungan. Diuniversalkan, standar itu kehilangan daya ikat. Formulasi kedua juga gagal, sebab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upah di bawah minimum dan lembur sampai 13 jam menjadikan pekerja sarana semata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611880" y="4315968"/>
            <a:ext cx="8074152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611880" y="44256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B08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3995928" y="44256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of rights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3995928" y="4773168"/>
            <a:ext cx="1463040" cy="256032"/>
          </a:xfrm>
          <a:prstGeom prst="rect">
            <a:avLst/>
          </a:prstGeom>
          <a:solidFill>
            <a:srgbClr val="B08018"/>
          </a:solidFill>
          <a:ln w="12700">
            <a:solidFill>
              <a:srgbClr val="B08018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995928" y="4773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BERSYARAT</a:t>
            </a:r>
            <a:endParaRPr lang="en-US" sz="800" dirty="0"/>
          </a:p>
        </p:txBody>
      </p:sp>
      <p:sp>
        <p:nvSpPr>
          <p:cNvPr id="31" name="Text 27"/>
          <p:cNvSpPr txBox="1"/>
          <p:nvPr/>
        </p:nvSpPr>
        <p:spPr>
          <a:xfrm>
            <a:off x="5852160" y="4407408"/>
            <a:ext cx="5833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 atas pekerjaan terpenuhi bagi 166 ribu pekerja, dan sampai titik itu kebijakan ini dapat dipertahankan. Namun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highlight>
                  <a:srgbClr val="EC489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hak atas kondisi kerja yang adil, kesehatan, air bersih, dan tanah leluhur terlanggar bersamaan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UNGP menuntut penghormatan pada seluruh relasi bisnis.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3611880" y="5193792"/>
            <a:ext cx="8074152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3611880" y="53035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3995928" y="53035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Justice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3995928" y="5650992"/>
            <a:ext cx="1463040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3995928" y="56509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MENOLAK</a:t>
            </a:r>
            <a:endParaRPr lang="en-US" sz="800" dirty="0"/>
          </a:p>
        </p:txBody>
      </p:sp>
      <p:sp>
        <p:nvSpPr>
          <p:cNvPr id="37" name="Text 33"/>
          <p:cNvSpPr txBox="1"/>
          <p:nvPr/>
        </p:nvSpPr>
        <p:spPr>
          <a:xfrm>
            <a:off x="5852160" y="5285232"/>
            <a:ext cx="5833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Manfaat mengalir ke penerimaan nasional dan pemodal, sedangkan beban terkonsentrasi pada pekerja kawasan, warga hilir sungai, dan masyarakat adat.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Kabupaten penghasil justru lebih miskin daripada rata-rata provinsinya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hanya 4,35 persen nilai tambah tinggal di daerah.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3666744" y="62544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teori dalam klasifikasi yang sama menghasilkan kesimpulan berbeda, dan pembedanya terletak pada unit analisis: tindakan tunggal atau kelas tindakan.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11304727" y="6199632"/>
            <a:ext cx="384048" cy="38404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1304727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C48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72000">
            <a:off x="502920" y="310896"/>
            <a:ext cx="1656893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 rot="-72000">
            <a:off x="502920" y="310896"/>
            <a:ext cx="16568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 PENERAPAN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900" b="1" spc="-3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PENILAIAN EMPAT TEORI ALTERNATIF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89888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2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Penilaian bergeser ke karakter pelaku, relasi, prosedur, dan bahasa, tanpa mengubah rangkaian faktanya.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 rot="-420000">
            <a:off x="8394192" y="1847088"/>
            <a:ext cx="3346704" cy="4526280"/>
          </a:xfrm>
          <a:prstGeom prst="irregularSeal2">
            <a:avLst/>
          </a:prstGeom>
          <a:solidFill>
            <a:srgbClr val="1D1B84"/>
          </a:solidFill>
          <a:ln w="12700">
            <a:solidFill>
              <a:srgbClr val="1D1B84"/>
            </a:solidFill>
            <a:prstDash val="solid"/>
          </a:ln>
        </p:spPr>
      </p:sp>
      <p:pic>
        <p:nvPicPr>
          <p:cNvPr id="8" name="Image 1" descr="assets/cut/c2-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139696"/>
            <a:ext cx="3138914" cy="471830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2920" y="1792224"/>
            <a:ext cx="310896" cy="310896"/>
          </a:xfrm>
          <a:prstGeom prst="rect">
            <a:avLst/>
          </a:prstGeom>
          <a:solidFill>
            <a:srgbClr val="1D1B84"/>
          </a:solidFill>
          <a:ln w="12700">
            <a:solidFill>
              <a:srgbClr val="1D1B8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5256" y="1792224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spc="-3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VIRTUE ETHICS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2194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b="1" i="1" dirty="0">
                <a:solidFill>
                  <a:srgbClr val="1D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 pembanding mana yang seharusnya dipakai?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02920" y="2596896"/>
            <a:ext cx="3840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B08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Pembandingnya selama ini adalah keadaan sebelum hilirisasi, bukan standar industri terbaik yang tersedia hari ini.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highlight>
                  <a:srgbClr val="1D1B8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Aktor berkarakter baik mengukur diri pada standar tertinggi yang dapat dicapai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B08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3493008"/>
            <a:ext cx="1828800" cy="256032"/>
          </a:xfrm>
          <a:prstGeom prst="rect">
            <a:avLst/>
          </a:prstGeom>
          <a:solidFill>
            <a:srgbClr val="1D1B84"/>
          </a:solidFill>
          <a:ln w="12700">
            <a:solidFill>
              <a:srgbClr val="1D1B8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02920" y="3493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MENOLAK PEMBANDING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754880" y="1792224"/>
            <a:ext cx="310896" cy="310896"/>
          </a:xfrm>
          <a:prstGeom prst="rect">
            <a:avLst/>
          </a:prstGeom>
          <a:solidFill>
            <a:srgbClr val="00761A"/>
          </a:solidFill>
          <a:ln w="12700">
            <a:solidFill>
              <a:srgbClr val="00761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754880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157216" y="1792224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spc="-3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 OF CARE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754880" y="2194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b="1" i="1" dirty="0">
                <a:solidFill>
                  <a:srgbClr val="1D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Sejauh mana relasi dengan pihak terdampak dipelihara?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4754880" y="2596896"/>
            <a:ext cx="3840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B08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Warga hilir sungai dan sekitar 300 sampai 500 jiwa O Hongana Manyawa adalah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highlight>
                  <a:srgbClr val="00761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pihak yang berelasi, bukan variabel biaya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B08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Yang dituntut pemulihan sungai dan wilayah lindung, bukan penghentian mendadak.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54880" y="3493008"/>
            <a:ext cx="1828800" cy="256032"/>
          </a:xfrm>
          <a:prstGeom prst="rect">
            <a:avLst/>
          </a:prstGeom>
          <a:solidFill>
            <a:srgbClr val="00761A"/>
          </a:solidFill>
          <a:ln w="12700">
            <a:solidFill>
              <a:srgbClr val="00761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54880" y="3493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MENUNTUT PEMULIHAN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502920" y="4005072"/>
            <a:ext cx="310896" cy="310896"/>
          </a:xfrm>
          <a:prstGeom prst="rect">
            <a:avLst/>
          </a:prstGeom>
          <a:solidFill>
            <a:srgbClr val="1D1B84"/>
          </a:solidFill>
          <a:ln w="12700">
            <a:solidFill>
              <a:srgbClr val="1D1B84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02920" y="4005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905256" y="4005072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spc="-3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DISCOURSE ETHICS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502920" y="4407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b="1" i="1" dirty="0">
                <a:solidFill>
                  <a:srgbClr val="1D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Siapa yang hadir dan siapa yang absen dalam perumusan?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502920" y="4809744"/>
            <a:ext cx="3840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B08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Warga terdampak bukan pihak dalam perumusan kebijakan maupun perizinan kawasan. Syarat keterlibatan setara tidak terpenuhi, dan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highlight>
                  <a:srgbClr val="1D1B8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cacat prosedur sudah cukup untuk membatalkan keabsahan hasilnya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B08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02920" y="5705856"/>
            <a:ext cx="1828800" cy="256032"/>
          </a:xfrm>
          <a:prstGeom prst="rect">
            <a:avLst/>
          </a:prstGeom>
          <a:solidFill>
            <a:srgbClr val="1D1B84"/>
          </a:solidFill>
          <a:ln w="12700">
            <a:solidFill>
              <a:srgbClr val="1D1B84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02920" y="5705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MENOLAK PROSEDUR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4754880" y="4005072"/>
            <a:ext cx="310896" cy="310896"/>
          </a:xfrm>
          <a:prstGeom prst="rect">
            <a:avLst/>
          </a:prstGeom>
          <a:solidFill>
            <a:srgbClr val="5B58C4"/>
          </a:solidFill>
          <a:ln w="12700">
            <a:solidFill>
              <a:srgbClr val="5B58C4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754880" y="4005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5157216" y="4005072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spc="-3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POSTMODERN ETHICS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4754880" y="4407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b="1" i="1" dirty="0">
                <a:solidFill>
                  <a:srgbClr val="1D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Kepentingan siapa yang dilayani oleh pilihan istilah?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4754880" y="4809744"/>
            <a:ext cx="3840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B08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Hilirisasi berkonotasi kemajuan, ekstraksi berkonotasi pengurasan, dan keduanya menamai peristiwa yang sama.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highlight>
                  <a:srgbClr val="1D1B8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Istilah nikel hijau dipakai bagi pengolahan yang listriknya bertumpu pada batu bara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B08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754880" y="5705856"/>
            <a:ext cx="1828800" cy="256032"/>
          </a:xfrm>
          <a:prstGeom prst="rect">
            <a:avLst/>
          </a:prstGeom>
          <a:solidFill>
            <a:srgbClr val="5B58C4"/>
          </a:solidFill>
          <a:ln w="12700">
            <a:solidFill>
              <a:srgbClr val="5B58C4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754880" y="5705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RELATIVISTIK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502920" y="3858768"/>
            <a:ext cx="8092440" cy="20117"/>
          </a:xfrm>
          <a:prstGeom prst="rect">
            <a:avLst/>
          </a:prstGeom>
          <a:solidFill>
            <a:srgbClr val="D96FA9"/>
          </a:solidFill>
          <a:ln w="12700">
            <a:solidFill>
              <a:srgbClr val="D96FA9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553712" y="1874520"/>
            <a:ext cx="20117" cy="3931920"/>
          </a:xfrm>
          <a:prstGeom prst="rect">
            <a:avLst/>
          </a:prstGeom>
          <a:solidFill>
            <a:srgbClr val="D96FA9"/>
          </a:solidFill>
          <a:ln w="12700">
            <a:solidFill>
              <a:srgbClr val="D96FA9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02920" y="625449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72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Keempat teori ini menyoroti dimensi yang luput dari lima teori sebelumnya: pembanding, relasi, keterwakilan, dan pilihan istilah.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11304727" y="6199632"/>
            <a:ext cx="384048" cy="384048"/>
          </a:xfrm>
          <a:prstGeom prst="ellipse">
            <a:avLst/>
          </a:prstGeom>
          <a:solidFill>
            <a:srgbClr val="1D1B84"/>
          </a:solidFill>
          <a:ln w="12700">
            <a:solidFill>
              <a:srgbClr val="1D1B84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1304727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D1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72000">
            <a:off x="502920" y="310896"/>
            <a:ext cx="1567282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 rot="-72000">
            <a:off x="502920" y="310896"/>
            <a:ext cx="1567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 SINTESIS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498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9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SINTESIS PENILAIAN DAN EVALUASI KLAIM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8988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satu pun dari sembilan teori memberikan dukungan tanpa syarat.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 rot="-480000">
            <a:off x="4535424" y="1755648"/>
            <a:ext cx="3154680" cy="4297680"/>
          </a:xfrm>
          <a:prstGeom prst="irregularSeal2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pic>
        <p:nvPicPr>
          <p:cNvPr id="8" name="Image 1" descr="assets/cut/c2-syn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1847088"/>
            <a:ext cx="2693938" cy="40050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2920" y="1847088"/>
            <a:ext cx="2240280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18470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SEMBILAN PENILAIAN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32104" y="23042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Egoism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587752" y="230428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9C9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Netral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02920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832104" y="26426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Utilitarianism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2587752" y="2642616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F0C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Ambivalen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02920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832104" y="29809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of duty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2587752" y="298094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Menolak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502920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832104" y="33192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of rights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2587752" y="3319272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F0C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Bersyarat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50292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832104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Justice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2587752" y="36576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Menolak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502920" y="3995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832104" y="39959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Virtue ethics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2587752" y="399592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Menolak pembanding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502920" y="4334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832104" y="43342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 of care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2587752" y="4334256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F0C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Menuntut pemulihan</a:t>
            </a:r>
            <a:endParaRPr lang="en-US" sz="1050" dirty="0"/>
          </a:p>
        </p:txBody>
      </p:sp>
      <p:sp>
        <p:nvSpPr>
          <p:cNvPr id="32" name="Text 28"/>
          <p:cNvSpPr txBox="1"/>
          <p:nvPr/>
        </p:nvSpPr>
        <p:spPr>
          <a:xfrm>
            <a:off x="502920" y="4672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832104" y="46725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Discourse ethics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2587752" y="467258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Menolak prosedur</a:t>
            </a:r>
            <a:endParaRPr lang="en-US" sz="1050" dirty="0"/>
          </a:p>
        </p:txBody>
      </p:sp>
      <p:sp>
        <p:nvSpPr>
          <p:cNvPr id="35" name="Text 31"/>
          <p:cNvSpPr txBox="1"/>
          <p:nvPr/>
        </p:nvSpPr>
        <p:spPr>
          <a:xfrm>
            <a:off x="502920" y="5010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832104" y="5010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Postmodern ethics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2587752" y="5010912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9C9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Relativistik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502920" y="5413248"/>
            <a:ext cx="3931920" cy="20117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02920" y="552297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menolak, satu bersyarat, satu ambivalen, dan satu netral karena mengakui keterbatasan teorinya.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7754112" y="1847088"/>
            <a:ext cx="3931920" cy="274320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7754112" y="1847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PROPOSISI DARI KESEMBILAN TEORI</a:t>
            </a:r>
            <a:endParaRPr lang="en-US" sz="950" dirty="0"/>
          </a:p>
        </p:txBody>
      </p:sp>
      <p:sp>
        <p:nvSpPr>
          <p:cNvPr id="42" name="Text 38"/>
          <p:cNvSpPr txBox="1"/>
          <p:nvPr/>
        </p:nvSpPr>
        <p:spPr>
          <a:xfrm>
            <a:off x="7754112" y="23042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3" name="Text 39"/>
          <p:cNvSpPr txBox="1"/>
          <p:nvPr/>
        </p:nvSpPr>
        <p:spPr>
          <a:xfrm>
            <a:off x="8138160" y="230428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PERBANDINGAN MASA LALU TIDAK NORMATIF</a:t>
            </a:r>
            <a:endParaRPr lang="en-US" sz="1100" dirty="0"/>
          </a:p>
        </p:txBody>
      </p:sp>
      <p:sp>
        <p:nvSpPr>
          <p:cNvPr id="44" name="Text 40"/>
          <p:cNvSpPr txBox="1"/>
          <p:nvPr/>
        </p:nvSpPr>
        <p:spPr>
          <a:xfrm>
            <a:off x="8138160" y="2578608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yang lebih baik daripada ekspor bijih mentah tidak dengan sendirinya memadai. 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Virtue ethics menuntut pembanding pada standar tertinggi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7754112" y="3145536"/>
            <a:ext cx="393192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7754112" y="325526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7" name="Text 43"/>
          <p:cNvSpPr txBox="1"/>
          <p:nvPr/>
        </p:nvSpPr>
        <p:spPr>
          <a:xfrm>
            <a:off x="8138160" y="325526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KLAIM HIJAU GUGUR PADA SUMBER ENERGI</a:t>
            </a:r>
            <a:endParaRPr lang="en-US" sz="1100" dirty="0"/>
          </a:p>
        </p:txBody>
      </p:sp>
      <p:sp>
        <p:nvSpPr>
          <p:cNvPr id="48" name="Text 44"/>
          <p:cNvSpPr txBox="1"/>
          <p:nvPr/>
        </p:nvSpPr>
        <p:spPr>
          <a:xfrm>
            <a:off x="8138160" y="3529584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Pengolahan yang bertumpu pada pembangkit batu bara di dalam kawasan 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highlight>
                  <a:srgbClr val="EC489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tidak dapat disebut hijau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Postmodern ethics membacanya sebagai alat pembenar.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7754112" y="4096512"/>
            <a:ext cx="393192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7754112" y="420624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1" name="Text 47"/>
          <p:cNvSpPr txBox="1"/>
          <p:nvPr/>
        </p:nvSpPr>
        <p:spPr>
          <a:xfrm>
            <a:off x="8138160" y="420624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DISTRIBUSI MANFAAT DAN BEBAN TIMPANG</a:t>
            </a:r>
            <a:endParaRPr lang="en-US" sz="1100" dirty="0"/>
          </a:p>
        </p:txBody>
      </p:sp>
      <p:sp>
        <p:nvSpPr>
          <p:cNvPr id="52" name="Text 48"/>
          <p:cNvSpPr txBox="1"/>
          <p:nvPr/>
        </p:nvSpPr>
        <p:spPr>
          <a:xfrm>
            <a:off x="8138160" y="4480560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 4,35 persen nilai tambah tinggal di daerah, sementara 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kabupaten penghasil lebih miskin daripada rata-rata provinsinya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Rawls menolaknya.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7754112" y="5047488"/>
            <a:ext cx="3931920" cy="20117"/>
          </a:xfrm>
          <a:prstGeom prst="rect">
            <a:avLst/>
          </a:prstGeom>
          <a:solidFill>
            <a:srgbClr val="4341B0"/>
          </a:solidFill>
          <a:ln w="12700">
            <a:solidFill>
              <a:srgbClr val="4341B0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7754112" y="515721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5" name="Text 51"/>
          <p:cNvSpPr txBox="1"/>
          <p:nvPr/>
        </p:nvSpPr>
        <p:spPr>
          <a:xfrm>
            <a:off x="8138160" y="515721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PROSESNYA CACAT SEJAK PERUMUSAN</a:t>
            </a:r>
            <a:endParaRPr lang="en-US" sz="1100" dirty="0"/>
          </a:p>
        </p:txBody>
      </p:sp>
      <p:sp>
        <p:nvSpPr>
          <p:cNvPr id="56" name="Text 52"/>
          <p:cNvSpPr txBox="1"/>
          <p:nvPr/>
        </p:nvSpPr>
        <p:spPr>
          <a:xfrm>
            <a:off x="8138160" y="5431536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Warga terdampak tidak menjadi pihak dalam perizinan dan perencanaan kawasan. Discourse ethics membatalkan hasil dari proses semacam itu.</a:t>
            </a:r>
            <a:endParaRPr lang="en-US" sz="950" dirty="0"/>
          </a:p>
        </p:txBody>
      </p:sp>
      <p:sp>
        <p:nvSpPr>
          <p:cNvPr id="57" name="Text 53"/>
          <p:cNvSpPr txBox="1"/>
          <p:nvPr/>
        </p:nvSpPr>
        <p:spPr>
          <a:xfrm>
            <a:off x="502920" y="625449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Penolakan atas klaim nikel hijau tidak setara dengan penolakan atas hilirisasi. Keduanya persoalan yang terpisah.</a:t>
            </a:r>
            <a:endParaRPr lang="en-US" sz="850" dirty="0"/>
          </a:p>
        </p:txBody>
      </p:sp>
      <p:sp>
        <p:nvSpPr>
          <p:cNvPr id="58" name="Shape 54"/>
          <p:cNvSpPr/>
          <p:nvPr/>
        </p:nvSpPr>
        <p:spPr>
          <a:xfrm>
            <a:off x="11304727" y="6199632"/>
            <a:ext cx="384048" cy="38404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11304727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D1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72000">
            <a:off x="502920" y="310896"/>
            <a:ext cx="1029614" cy="3291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060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 rot="-72000">
            <a:off x="502920" y="310896"/>
            <a:ext cx="10296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PENUTUP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4980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9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SIMPULAN DAN IMPLIKASI MANAJERIAL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898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5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temuan dari pengujian, diikuti tiga tindak lanjut yang dapat dijalankan manajemen.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 rot="600000">
            <a:off x="7571232" y="1572768"/>
            <a:ext cx="4096512" cy="4846320"/>
          </a:xfrm>
          <a:prstGeom prst="irregularSeal2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pic>
        <p:nvPicPr>
          <p:cNvPr id="8" name="Image 1" descr="assets/cut/c2-clo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10512"/>
            <a:ext cx="3793586" cy="50474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1737360"/>
            <a:ext cx="914400" cy="498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400" b="1" spc="-10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2176272"/>
            <a:ext cx="2075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KONVERGENSI, BUKAN KESEPAKATAN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2706624"/>
            <a:ext cx="2075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Sembilan teori berangkat dari premis berbeda, namun mayoritasnya bermuara pada arah yang sama. </a:t>
            </a:r>
            <a:pPr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Inilah bukti terkuat pluralisme</a:t>
            </a:r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2788920" y="1737360"/>
            <a:ext cx="914400" cy="498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400" b="1" spc="-10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2788920" y="2176272"/>
            <a:ext cx="2075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KLAIM ETIS YANG GUGUR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2788920" y="2706624"/>
            <a:ext cx="2075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gugur bukan kebijakan hilirisasinya, melainkan </a:t>
            </a:r>
            <a:pPr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klaim bahwa kebijakan ini sudah etis</a:t>
            </a:r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Upah, keselamatan, lingkungan, dan sumber energinya tetap terbuka diperbaiki.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5074920" y="1737360"/>
            <a:ext cx="914400" cy="498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400" b="1" spc="-10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5074920" y="2176272"/>
            <a:ext cx="2075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KASUS YANG MASIH BERLANGSUNG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5074920" y="2706624"/>
            <a:ext cx="2075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Kebijakannya masih berjalan, sengketa dagangnya belum tuntas, dan angkanya berubah tiap tahun. Kasus yang belum selesai justru paling layak didiskusikan.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02920" y="3913632"/>
            <a:ext cx="6647688" cy="20117"/>
          </a:xfrm>
          <a:prstGeom prst="rect">
            <a:avLst/>
          </a:prstGeom>
          <a:solidFill>
            <a:srgbClr val="00761A"/>
          </a:solidFill>
          <a:ln w="12700">
            <a:solidFill>
              <a:srgbClr val="00761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2920" y="4110228"/>
            <a:ext cx="118872" cy="118872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22376" y="4059936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spc="150" kern="0" dirty="0">
                <a:solidFill>
                  <a:srgbClr val="00A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IMPLIKASI MANAJERIAL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02920" y="4425696"/>
            <a:ext cx="2075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-20" kern="0" dirty="0">
                <a:solidFill>
                  <a:srgbClr val="9BE8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INTERNALISASI BIAYA TERTUNDA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502920" y="484632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kesehatan warga, pemulihan sungai, dan pensiun dini pembangkit masuk neraca sejak perencanaan.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2788920" y="4425696"/>
            <a:ext cx="2075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-20" kern="0" dirty="0">
                <a:solidFill>
                  <a:srgbClr val="9BE8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PELIBATAN PIHAK YANG ABSEN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2788920" y="484632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Pekerja, warga hilir, dan masyarakat adat diberi keterwakilan formal dalam panitia keselamatan dan perizinan.</a:t>
            </a:r>
            <a:endParaRPr lang="en-US" sz="850" dirty="0"/>
          </a:p>
        </p:txBody>
      </p:sp>
      <p:sp>
        <p:nvSpPr>
          <p:cNvPr id="25" name="Text 21"/>
          <p:cNvSpPr txBox="1"/>
          <p:nvPr/>
        </p:nvSpPr>
        <p:spPr>
          <a:xfrm>
            <a:off x="5074920" y="4425696"/>
            <a:ext cx="2075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-20" kern="0" dirty="0">
                <a:solidFill>
                  <a:srgbClr val="9BE8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PENGUJIAN MULTITEORI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5074920" y="484632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D8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Klaim yang lolos utilitarianism kerap gugur pada keadilan distributif dan discourse ethics.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02920" y="5705856"/>
            <a:ext cx="6647688" cy="20117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02920" y="5833872"/>
            <a:ext cx="6647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Manfaat yang terukur selalu lebih mudah dipertahankan daripada beban yang tersebar.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Justru karena itu beban yang tersebar perlu dihitung lebih dahulu.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11304727" y="6199632"/>
            <a:ext cx="384048" cy="38404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1304727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D1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i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60000">
            <a:off x="5577840" y="640080"/>
            <a:ext cx="6309360" cy="5577840"/>
          </a:xfrm>
          <a:prstGeom prst="irregularSeal2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720000">
            <a:off x="685800" y="1051560"/>
            <a:ext cx="1325880" cy="1325880"/>
          </a:xfrm>
          <a:prstGeom prst="star16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-480000">
            <a:off x="1234440" y="5257800"/>
            <a:ext cx="960120" cy="960120"/>
          </a:xfrm>
          <a:prstGeom prst="star24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pic>
        <p:nvPicPr>
          <p:cNvPr id="6" name="Image 1" descr="assets/cut/c-than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34440"/>
            <a:ext cx="5989320" cy="371851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3774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spc="24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PENUTUP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688336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200" b="1" spc="-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</a:t>
            </a:r>
            <a:endParaRPr lang="en-US" sz="62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584448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200" b="1" spc="-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KASIH</a:t>
            </a:r>
            <a:endParaRPr lang="en-US" sz="6200" dirty="0"/>
          </a:p>
        </p:txBody>
      </p:sp>
      <p:sp>
        <p:nvSpPr>
          <p:cNvPr id="10" name="Shape 6"/>
          <p:cNvSpPr/>
          <p:nvPr/>
        </p:nvSpPr>
        <p:spPr>
          <a:xfrm>
            <a:off x="822960" y="4663440"/>
            <a:ext cx="3886200" cy="475488"/>
          </a:xfrm>
          <a:prstGeom prst="rect">
            <a:avLst/>
          </a:prstGeom>
          <a:solidFill>
            <a:srgbClr val="00A11E"/>
          </a:solidFill>
          <a:ln w="12700">
            <a:solidFill>
              <a:srgbClr val="00A11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46634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1306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ETHICS FOR SUSTAINABILITY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Business Ethics: Normative Ethical Theories</dc:title>
  <dc:subject>PptxGenJS Presentation</dc:subject>
  <dc:creator>Aslih Abnuri, Arfinal Diputra, Rohana Dwi Hardianti</dc:creator>
  <cp:lastModifiedBy>Aslih Abnuri, Arfinal Diputra, Rohana Dwi Hardianti</cp:lastModifiedBy>
  <cp:revision>1</cp:revision>
  <dcterms:created xsi:type="dcterms:W3CDTF">2026-08-27T05:37:49Z</dcterms:created>
  <dcterms:modified xsi:type="dcterms:W3CDTF">2026-08-27T05:37:49Z</dcterms:modified>
</cp:coreProperties>
</file>