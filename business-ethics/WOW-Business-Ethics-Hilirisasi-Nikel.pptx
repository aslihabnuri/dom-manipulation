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 1 menit. Bab 3 memberi sembilan kriteria penilaian, lalu kita pakai pada kasus nyata yang belum selesai. Alokasi 30 menit: 17 menit teori, 11 menit kasus, 2 menit penutup.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detik. Urutannya sengaja: kalau kasus dibahas lebih dulu, diskusi berhenti di adu data. Teori memberi alat menilai data yang sama secara berbeda.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tidak menggantikan intuisi, ia merapikannya. Pemantik: beda antara mengatakan praktik di negara lain itu berbeda dan mengatakan praktik itu salah.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Pemantik: suap. Absolutis bilang selalu salah, relativis bilang tergantung negaranya, pluralis bertanya kriteria mana yang paling kuat menanggung beban argumen.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Peta jalan sisa presentasi. Minta kelas mengingat nomor urutnya, matriks di bagian kasus memakai nomor yang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buru-buru menolak egoisme. Versi jangka panjangnya justru memberi kritik paling tajam pada kasus nikel. Enlightened egoism: perusahaan menyokong lingkungan sosial karena itu menguntungkan dirinya 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Titik terpenting: act dan rule bisa menghasilkan kesimpulan berlawanan atas fakta yang sama. Tanam di sini, karena itu yang terjadi pada kasus nikel.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Cara cepat memakai Kant: sebutkan maksim tindakannya dalam satu kalimat, lalu universalkan. Kalau maksimnya membatalkan dirinya sendiri, tindakan itu gagal.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yang paling siap dipakai auditor dan investor. Tekankan cakupan relasi bisnis, itu yang menghubungkan pembeli kendaraan listrik di Eropa dengan Halmahera.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Veil of ignorance paling mudah dipakai. Latihan: bila Anda tidak tahu akan lahir sebagai pemegang saham atau warga hilir sungai, kebijakan mana yang Anda pilih?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Slide transisi. Keberatan nomor 3 sampai 5 paling menentukan bagi kasus nikel, karena warga terdampak tidak pernah jadi pihak dalam perumusan.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Virtue ethics sering disalahpahami sebagai imbauan moral. Tekankan pertanyaan pembandingnya: dibandingkan dengan apa kita menyebut sesuatu sudah cukup baik?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Discourse ethics menilai proses, jadi ia bisa membatalkan kebijakan yang hasilnya bagus sekalipun. Postmodern ethics menilai bahasa, dan itu yang membongkar istilah nikel hijau.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Minta kelas memotret slide ini. Selama bagian kasus mereka bisa menandai sendiri jawaban tiap pertanyaan sebelum kita bahas.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Kebijakannya masih berjalan dan sengketa dagangnya belum tuntas. Kasus yang belum selesai justru paling layak didiskusikan di kelas.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berdebat soal angka. Tegaskan kedua kolom benar. Justru itu yang membuat kasus ini butuh sembilan kriteria, bukan satu.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menit. Bagian terpenting: utilitarianism terbelah. Perbedaan act dan rule bukan detail teknis, melainkan yang menentukan putusan.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Ethic of care tidak menolak kebijakan, ia menuntut pemulihan. Contoh bagus bahwa pluralisme bukan berarti semua teori berkata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Inti kontribusi analisis. Tekankan proposisi keempat: yang gugur adalah klaim etisnya, bukan kebijakan hilirisasinya.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Sampaikan ketiga temuan, lalu ketiga tindak lanjutnya, dan tutup dengan kalimat penutup di bawah.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penutup. Buka forum tanya jawab. Tidak perlu alokasi waktu tersendiri.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480000">
            <a:off x="5440680" y="411480"/>
            <a:ext cx="6720840" cy="521208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4" name="Image 1" descr="assets/cut/c-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005840"/>
            <a:ext cx="6537960" cy="372415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2920" y="7863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 FOR SUSTAINABILITY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502920" y="109728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EVALUATING</a:t>
            </a:r>
            <a:endParaRPr lang="en-US" sz="46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82880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NORMATIVE ETHICAL THEORIES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3529584"/>
            <a:ext cx="4983480" cy="1700784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77240" y="3730752"/>
            <a:ext cx="1600200" cy="2926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373075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DISUSUN OLEH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41330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Aslih Abnuri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25/574338/PEK/31801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4988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Arfinal Diputra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25/574664/PEK/31914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48646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Rohana Dwi Hardianti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25/574077/PEK/31728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 rot="840000">
            <a:off x="4864608" y="5504688"/>
            <a:ext cx="1005840" cy="100584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2920" y="5449824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Crane, A., Matten, D., Glozer, S., dan Spence, L. (2019). Business Ethics: Managing Corporate Citizenship and Sustainability in the Age of Globalization. Edisi kelima. Oxford University Press, Bab 3.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BAHASAN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SISTEMATIKA PEMBAHASAN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Kerangka teoretis dibangun lebih dahulu agar analisis kasus memiliki dasar penilaian yang eksplisit.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810512"/>
            <a:ext cx="4846320" cy="416052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0" y="1810512"/>
            <a:ext cx="4828032" cy="416052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029968"/>
            <a:ext cx="1600200" cy="3108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029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SATU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132320" y="2029968"/>
            <a:ext cx="160020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0" y="2029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DUA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43230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KERANGKA PENILAIAN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0" y="243230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HILIRISASI NIKEL INDONESIA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90779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29077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 teori etika normatif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38328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234440" y="3383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Absolutisme, relativisme, pluralisme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85876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38587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sembilan teori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433425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234440" y="433425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Lima teori modernis Barat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80974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48097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teori modernis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528523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234440" y="52852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teori alternatif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132320" y="290779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589520" y="29077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 kebijakan dan sengketanya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7132320" y="338328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7589520" y="3383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narasi atas fakta yang sama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7132320" y="385876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7589520" y="38587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lima teori modernis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7132320" y="433425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7589520" y="433425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empat teori alternatif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7132320" y="480974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7589520" y="48097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Sintesis penilaian dan evaluasi klaim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7132320" y="528523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7589520" y="52852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Simpulan dan implikasi manajerial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 rot="840000">
            <a:off x="5468112" y="3246120"/>
            <a:ext cx="1417320" cy="141732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39" name="Image 1" descr="assets/cut/accent-ha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3611880"/>
            <a:ext cx="1536192" cy="645537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PERAN TEORI ETIKA NORMATIF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MENGAPA TEORI NORMATIF DIPERLUKAN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Dalam ranah personal intuisi memadai. Dalam konteks bisnis, penilaian etis harus dapat dipertahankan di hadapan pemangku kepentingan.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360000">
            <a:off x="182880" y="2011680"/>
            <a:ext cx="4343400" cy="406908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accent-mega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468880"/>
            <a:ext cx="3611880" cy="315315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80000">
            <a:off x="566928" y="1874520"/>
            <a:ext cx="3246120" cy="42062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80000">
            <a:off x="566928" y="1874520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SEKADAR FIRASAT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617720" y="1783080"/>
            <a:ext cx="7068312" cy="1554480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892040" y="1947672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 KONSEP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892040" y="2231136"/>
            <a:ext cx="6519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etika normatif adalah aturan, pedoman, prinsip, dan pendekatan yang menentukan benar dan salah.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892040" y="2962656"/>
            <a:ext cx="6519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(2019: 87)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617720" y="3520440"/>
            <a:ext cx="7068312" cy="7498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617720" y="3520440"/>
            <a:ext cx="384048" cy="7498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17720" y="3520440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5138928" y="353872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RASIONALISASI INTUISI MORAL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138928" y="381304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etika berfungsi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merasionalkan, menjelaskan, dan memahami intuisi moral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yang telah dimiliki mengenai benar dan salah.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617720" y="4343400"/>
            <a:ext cx="7068312" cy="74980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617720" y="4343400"/>
            <a:ext cx="384048" cy="7498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617720" y="4343400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5138928" y="436168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DASAR DISKUSI RASIONAL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5138928" y="463600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memungkinkan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diskursus rasional antarpihak yang berbeda nilai moral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sehingga perbedaan tidak berhenti pada tataran preferensi.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4617720" y="5166360"/>
            <a:ext cx="7068312" cy="7498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617720" y="5166360"/>
            <a:ext cx="384048" cy="7498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617720" y="5166360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5138928" y="518464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JUSTIFIKASI KEPUTUSAN BISNIS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5138928" y="545896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Keputusan bisnis menuntut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dasar rasional yang sistematis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dapat dipertanggungjawabkan kepada pemangku kepentingan.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86 sampai 88.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POSISI DASAR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ABSOLUTISME, RELATIVISME, PLURALISME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Sebelum menerapkan teori, perlu ditetapkan seberapa luas klaim keberlakuan yang diajukan teori tersebut.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3515258" cy="420624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26109" y="1810512"/>
            <a:ext cx="2468880" cy="233172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assets/cut/c-spe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766" y="1920240"/>
            <a:ext cx="1355565" cy="21031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58952" y="4133088"/>
            <a:ext cx="3003194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8952" y="4133088"/>
            <a:ext cx="3003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 ETIS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758952" y="4517136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 prinsip moral yang universal dan abadi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58952" y="5138928"/>
            <a:ext cx="30031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Benar dan salah adalah kualitas objektif yang ditentukan lewat nalar, terlepas dari keadaan. Hampir seluruh teori modernis Barat berada di sini.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338218" y="1755648"/>
            <a:ext cx="3515258" cy="420624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rot="660000">
            <a:off x="4861408" y="1810512"/>
            <a:ext cx="2468880" cy="233172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15" name="Image 2" descr="assets/cut/c-spec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426" y="1920240"/>
            <a:ext cx="1360842" cy="210312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594250" y="4133088"/>
            <a:ext cx="3003194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594250" y="4133088"/>
            <a:ext cx="3003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RELATIVISME ETIS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4594250" y="4517136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Moralitas bergantung konteks dan subjektif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594250" y="5138928"/>
            <a:ext cx="30031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benar dan salah universal. Semuanya bergantung pada tradisi, keyakinan, dan praktik pihak yang memutuskan.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8173517" y="1755648"/>
            <a:ext cx="3515258" cy="4206240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 rot="1320000">
            <a:off x="8696706" y="1810512"/>
            <a:ext cx="2468880" cy="23317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2" name="Image 3" descr="assets/cut/c-spec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8419" y="1920240"/>
            <a:ext cx="1345453" cy="210312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8429549" y="4133088"/>
            <a:ext cx="3003194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429549" y="4133088"/>
            <a:ext cx="3003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PLURALISME ETIS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8429549" y="4517136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yang bertentangan dapat sama sahnya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8429549" y="5138928"/>
            <a:ext cx="30031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 yang diambil Crane dan Matten. Pluralisme tidak menyamaratakan seluruh perspektif, tetapi juga tidak mengunggulkan satu di atasnya.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87 sampai 88. Sen (2000) dan Liu (2018).</a:t>
            </a:r>
            <a:endParaRPr 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KLASIFIKASI TEORI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SEMBILAN TEORI ETIKA NORMATIF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pertama menilai tindakan. Klasifikasi kedua menilai pelaku, relasi, prosedur, dan bahasa.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903720" cy="416052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993392"/>
            <a:ext cx="2331720" cy="3108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19933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I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246120" y="199339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MODERNIS BARAT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957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Berakar pada Pencerahan abad ke-18, bersifat absolutis, dan menawarkan aturan yang dapat diterapkan pada situasi apa pun.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77240" y="2962656"/>
            <a:ext cx="3154680" cy="178308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78408" y="31089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KONSEKUENSIALIS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978408" y="334670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Teleologis, menilai akibat tindakan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78408" y="3657600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78408" y="36576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307592" y="36576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78408" y="3986784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78408" y="3986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07592" y="39867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114800" y="2962656"/>
            <a:ext cx="3154680" cy="178308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315968" y="31089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BERBASIS PRINSIP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4315968" y="334670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Deontologis, menilai kewajiban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315968" y="3657600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15968" y="36576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645152" y="36576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315968" y="3986784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315968" y="3986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645152" y="39867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315968" y="4315968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15968" y="4315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4645152" y="43159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 dan social contract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" y="495604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Seluruh teori ini bersifat normatif karena berangkat dari asumsi tentang hakikat dunia dan hakikat manusia. Penerimaan atas kesimpulannya bergantung pada penerimaan atas asumsi tersebut.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909560" y="1783080"/>
            <a:ext cx="4279392" cy="416052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183880" y="1993392"/>
            <a:ext cx="233172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183880" y="19933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II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183880" y="239572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ALTERNATIF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8183880" y="272491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Cenderung relativis. Lahir dari keberatan atas klasifikasi pertama.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8183880" y="3310128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183880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8567928" y="32918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250" dirty="0"/>
          </a:p>
        </p:txBody>
      </p:sp>
      <p:sp>
        <p:nvSpPr>
          <p:cNvPr id="41" name="Text 38"/>
          <p:cNvSpPr txBox="1"/>
          <p:nvPr/>
        </p:nvSpPr>
        <p:spPr>
          <a:xfrm>
            <a:off x="8567928" y="356616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Karakter pelaku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8183880" y="3931920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18388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8567928" y="3913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250" dirty="0"/>
          </a:p>
        </p:txBody>
      </p:sp>
      <p:sp>
        <p:nvSpPr>
          <p:cNvPr id="45" name="Text 42"/>
          <p:cNvSpPr txBox="1"/>
          <p:nvPr/>
        </p:nvSpPr>
        <p:spPr>
          <a:xfrm>
            <a:off x="8567928" y="41879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Relasi dan tanggung jawab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8183880" y="4553712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183880" y="45537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8567928" y="453542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250" dirty="0"/>
          </a:p>
        </p:txBody>
      </p:sp>
      <p:sp>
        <p:nvSpPr>
          <p:cNvPr id="49" name="Text 46"/>
          <p:cNvSpPr txBox="1"/>
          <p:nvPr/>
        </p:nvSpPr>
        <p:spPr>
          <a:xfrm>
            <a:off x="8567928" y="480974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Prosedur perumusan norma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8183880" y="5175504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183880" y="5175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8567928" y="51572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250" dirty="0"/>
          </a:p>
        </p:txBody>
      </p:sp>
      <p:sp>
        <p:nvSpPr>
          <p:cNvPr id="53" name="Text 50"/>
          <p:cNvSpPr txBox="1"/>
          <p:nvPr/>
        </p:nvSpPr>
        <p:spPr>
          <a:xfrm>
            <a:off x="8567928" y="543153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Bahasa dan dorongan moral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 rot="1200000">
            <a:off x="5897880" y="4160520"/>
            <a:ext cx="1920240" cy="192024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55" name="Image 1" descr="assets/cut/accent-t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344" y="4480560"/>
            <a:ext cx="1371600" cy="1481959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3.1 dan Tabel 3.5.</a:t>
            </a:r>
            <a:endParaRPr lang="en-US" sz="850" dirty="0"/>
          </a:p>
        </p:txBody>
      </p:sp>
      <p:sp>
        <p:nvSpPr>
          <p:cNvPr id="57" name="Shape 5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KONSEKUENSIALIS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KEPENTINGAN DIRI: ETHICAL EGOISM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tertua sekaligus paling diperdebatkan. Sebagian penulis menolak mengategorikannya sebagai teori moral.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36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egoi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84" y="1783080"/>
            <a:ext cx="4201591" cy="41605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KESERAKAHAN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257800" y="1755648"/>
            <a:ext cx="6428232" cy="1444752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03504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2121408"/>
            <a:ext cx="5376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ETHICAL EGOISM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035040" y="2468880"/>
            <a:ext cx="5376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Sebuah tindakan benar secara moral jika dalam situasi tersebut semua pengambil keputusan secara bebas memilih mengejar keinginan jangka pendek atau kepentingan jangka panjangnya.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257800" y="3273552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95544" y="3328416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PEMBEDAAN KONSEPTUAL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495544" y="3547872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Pelaku egois masih dapat tergerak oleh rasa iba, sedangkan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pelaku serakah tidak peka pada kepentingan pihak lain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257800" y="4169664"/>
            <a:ext cx="6428232" cy="84124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95544" y="4224528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TOKOH DAN KARYA UTAMA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495544" y="4443984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Thomas Hobbes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dalam Leviathan yang menyebut keadaan alamiah sebagai perang semua melawan semua,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Ayn Rand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dalam The Virtue of Selfishness.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5065776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95544" y="5120640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TEORI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5495544" y="5340096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ini hanya berlaku bila pasar mencegah satu pelaku merugikan pelaku lain. Ia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gugur pada kegagalan pasar dan isu keberlanjutan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sebab korban penipisan sumber daya adalah generasi mendatang.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93 sampai 96.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KONSEKUENSIALIS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HASIL: UTILITARIANISM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yang paling lazim diterapkan dalam bisnis karena kompatibel dengan metodologi kuantitatif ekonomi.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11185855" cy="115214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55648"/>
            <a:ext cx="566928" cy="11521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02920" y="1755648"/>
            <a:ext cx="56692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8470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2048256"/>
            <a:ext cx="10134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59152"/>
            <a:ext cx="101342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Sebuah tindakan benar secara moral jika menghasilkan kebaikan terbesar bagi jumlah orang terbesar yang terkena dampaknya. Bentham dan Mill.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 rot="-480000">
            <a:off x="4462272" y="2852928"/>
            <a:ext cx="3291840" cy="32461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02920" y="3127248"/>
            <a:ext cx="3931920" cy="12984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22376" y="3200400"/>
            <a:ext cx="3493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CIRI POKOK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22376" y="3456432"/>
            <a:ext cx="34930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Consequentialism, hedonism, maximalism, universalism.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Utilitas diukur sebagai pleasure dikurangi pain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akibat bagi semua pihak wajib ikut dihitung.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02920" y="4553712"/>
            <a:ext cx="3931920" cy="129844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22376" y="4626864"/>
            <a:ext cx="3493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DAN RULE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722376" y="4882896"/>
            <a:ext cx="34930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satu tindakan tunggal.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kelas tindakan dan prinsip di baliknya dalam jangka panjang.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756855" y="3127248"/>
            <a:ext cx="3931920" cy="12984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76311" y="3200400"/>
            <a:ext cx="3493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KEBERATAN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976311" y="3456432"/>
            <a:ext cx="34930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Subjektivitas, pembobotan setara, kesulitan kuantifikasi,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distribusi utilitas yang mengabaikan minoritas serta generasi mendatang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pic>
        <p:nvPicPr>
          <p:cNvPr id="22" name="Image 1" descr="assets/cut/c-utilitar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0307" y="3017520"/>
            <a:ext cx="3031082" cy="301752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 rot="-120000">
            <a:off x="8104327" y="4983480"/>
            <a:ext cx="324612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 rot="-120000">
            <a:off x="8104327" y="49834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HAPPINESS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3.2, halaman 96 sampai 100.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KEWAJIBAN: IMMANUEL KANT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dinilai bukan akibat, melainkan prinsip di balik tindakan dan motivasi pelakunya.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240000">
            <a:off x="7040880" y="1847088"/>
            <a:ext cx="4937760" cy="411480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7" name="Image 1" descr="assets/cut/c-ka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3054" y="1783080"/>
            <a:ext cx="4176836" cy="41605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20000">
            <a:off x="7863840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20000">
            <a:off x="7863840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CATEGORICAL IMPERATIVE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1755648"/>
            <a:ext cx="6428232" cy="144475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02920" y="1755648"/>
            <a:ext cx="566928" cy="144475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02920" y="1755648"/>
            <a:ext cx="5669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128016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1280160" y="2121408"/>
            <a:ext cx="5376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1280160" y="2468880"/>
            <a:ext cx="5376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Kewajiban yang abstrak dan tidak berubah, dirumuskan lewat aturan moral a priori yang dideduksi secara rasional dan berlaku pada semua persoalan etis.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02920" y="3273552"/>
            <a:ext cx="6428232" cy="841248"/>
          </a:xfrm>
          <a:prstGeom prst="rect">
            <a:avLst/>
          </a:prstGeom>
          <a:solidFill>
            <a:srgbClr val="F06CB0"/>
          </a:solidFill>
          <a:ln w="12700">
            <a:solidFill>
              <a:srgbClr val="F06CB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40664" y="3328416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FORMULASI SATU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740664" y="3547872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acceptability.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 sebuah hukum moral hanya bila semua makhluk berakal budi juga bisa menerimanya. Mengingkari utang tidak lolos uji ini.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02920" y="4169664"/>
            <a:ext cx="6428232" cy="841248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40664" y="4224528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FORMULASI DUA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40664" y="4443984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Respect for persons.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Perlakukan manusia sebagai tujuan,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jangan pernah sekadar sebagai sarana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Inilah dasar etis stakeholder theory.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02920" y="5065776"/>
            <a:ext cx="6428232" cy="841248"/>
          </a:xfrm>
          <a:prstGeom prst="rect">
            <a:avLst/>
          </a:prstGeom>
          <a:solidFill>
            <a:srgbClr val="F06CB0"/>
          </a:solidFill>
          <a:ln w="12700">
            <a:solidFill>
              <a:srgbClr val="F06CB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40664" y="5120640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KEBERATAN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740664" y="5340096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Kriteria motivasinya terlalu sempit,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akibat diabaikan sepenuhnya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asumsi rasionalitas penuh bersifat idealistis.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3.4, halaman 100 sampai 103.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HAK DAN HAK ASASI MANUSIA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Pendekatan yang paling banyak dipakai secara praktis karena sudah melembaga dalam instrumen internasional.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30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righ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974" y="1783080"/>
            <a:ext cx="3807012" cy="41605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RESPECT REMEDY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257800" y="1755648"/>
            <a:ext cx="6428232" cy="1444752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03504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2121408"/>
            <a:ext cx="5376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RIGHTS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035040" y="2468880"/>
            <a:ext cx="5376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dasar yang melekat, tidak dapat dicabut, dan tidak bersyarat, yang dimiliki semua manusia tanpa kecuali.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257800" y="3273552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95544" y="3328416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KORELASI HAK DAN KEWAJIBAN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495544" y="3547872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John Locke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merumuskan natural rights atas hidup, kebebasan, dan milik. Hak seseorang selalu menimbulkan kewajiban pada pihak lain.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257800" y="4169664"/>
            <a:ext cx="6428232" cy="84124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95544" y="4224528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GUIDING PRINCIPLES 2011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495544" y="4443984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Negara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melindungi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bisnis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menghormati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peradilan menyediakan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pemulihan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bagi korban.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5065776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95544" y="5120640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CAKUPAN YANG MENENTUKAN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5495544" y="5340096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Perusahaan wajib meredakan dampak buruk yang terkait lewat relasi bisnisnya,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sekalipun ia tidak ikut menyebabkannya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Pemasok termasuk di dalamnya.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halaman 103 sampai 107. Universal Declaration of Human Rights (1948).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KEADILAN: RAWLS DAN KONTRAK SOSIAL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Pertanyaannya bergeser dari benar atau salah menjadi susunan seperti apa yang layak disepakati bersama.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11185855" cy="115214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55648"/>
            <a:ext cx="566928" cy="11521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02920" y="1755648"/>
            <a:ext cx="56692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8470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2048256"/>
            <a:ext cx="10134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59152"/>
            <a:ext cx="101342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Perlakuan yang adil terhadap setiap orang dalam satu situasi, sehingga semua pihak memperoleh apa yang memang menjadi haknya.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 rot="540000">
            <a:off x="4462272" y="2852928"/>
            <a:ext cx="3291840" cy="32461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02920" y="3127248"/>
            <a:ext cx="3931920" cy="12984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22376" y="3200400"/>
            <a:ext cx="3493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DIMENSI KEADILAN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22376" y="3456432"/>
            <a:ext cx="34930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 prosedural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siapa yang berhak turut memutuskan.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 distributif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ke mana manfaat mengalir dan siapa menanggung bebannya.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02920" y="4553712"/>
            <a:ext cx="3931920" cy="129844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22376" y="4626864"/>
            <a:ext cx="3493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PRINSIP JOHN RAWLS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722376" y="4882896"/>
            <a:ext cx="34930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Kebebasan dasar yang setara bagi semua, lalu ketimpangan hanya dibenarkan bila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paling menguntungkan pihak yang paling tidak diuntungkan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756855" y="3127248"/>
            <a:ext cx="3931920" cy="12984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76311" y="3200400"/>
            <a:ext cx="3493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KONTRAK SOSIAL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976311" y="3456432"/>
            <a:ext cx="34930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Hobbes, Locke, dan Rousseau. Versi bisnisnya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Integrative Social Contracts Theory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dari Donaldson dan Dunfee, memadukan hypernorms dengan kontrak mikro komunitas.</a:t>
            </a:r>
            <a:endParaRPr lang="en-US" sz="1050" dirty="0"/>
          </a:p>
        </p:txBody>
      </p:sp>
      <p:pic>
        <p:nvPicPr>
          <p:cNvPr id="22" name="Image 1" descr="assets/cut/c-just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611" y="3017520"/>
            <a:ext cx="2422474" cy="301752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 rot="-120000">
            <a:off x="8104327" y="4983480"/>
            <a:ext cx="324612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 rot="-120000">
            <a:off x="8104327" y="49834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VEIL OF IGNORANCE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halaman 108 sampai 113. Rawls, A Theory of Justice (1971).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 EVALUASI KRITIS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KETERBATASAN TEORI MODERNIS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Keberatan ini menjadi dasar kemunculan empat teori alternatif yang dibahas berikutnya.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480000">
            <a:off x="4005072" y="1664208"/>
            <a:ext cx="4206240" cy="416052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3520440" cy="1225296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04088" y="1929384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04088" y="1929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69848" y="1929384"/>
            <a:ext cx="2734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ABSTRAKSI BERLEBIH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04088" y="2313432"/>
            <a:ext cx="31181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Prinsipnya beroperasi pada tataran yang jauh dari persoalan konkret yang dihadapi manajer.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168335" y="1783080"/>
            <a:ext cx="3520440" cy="12252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369503" y="1929384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369503" y="1929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735263" y="1929384"/>
            <a:ext cx="2734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REDUKSIONISME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369503" y="2313432"/>
            <a:ext cx="31181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Setiap teori menonjolkan satu dimensi moralitas dan memperlakukannya sebagai keseluruhan.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02920" y="3099816"/>
            <a:ext cx="3520440" cy="1225296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04088" y="3246120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04088" y="3246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69848" y="3246120"/>
            <a:ext cx="2734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OBJEKTIVISME ELITIS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04088" y="3630168"/>
            <a:ext cx="31181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Kebenaran moral ditentukan melalui deduksi ahli, bukan melalui pengalaman pihak yang terlibat.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8168335" y="3099816"/>
            <a:ext cx="3520440" cy="12252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369503" y="3246120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369503" y="3246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735263" y="3246120"/>
            <a:ext cx="2734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IMPERSONALITAS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369503" y="3630168"/>
            <a:ext cx="31181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Ikatan personal dan tanggung jawab pada pihak tertentu diposisikan sebagai pengganggu penilaian.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02920" y="4416552"/>
            <a:ext cx="3520440" cy="1225296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04088" y="4562856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04088" y="45628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1069848" y="4562856"/>
            <a:ext cx="2734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RASIONALISME TERKODIFIKASI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704088" y="4946904"/>
            <a:ext cx="31181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 perasaan, empati, dan dorongan moral diabaikan dalam perumusan penilaian etis.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8168335" y="4416552"/>
            <a:ext cx="3520440" cy="12252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369503" y="4562856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369503" y="45628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735263" y="4562856"/>
            <a:ext cx="2734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IMPERIALISME KULTURAL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369503" y="4946904"/>
            <a:ext cx="31181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Pengalaman dan tradisi intelektual Barat diposisikan sebagai ukuran yang berlaku universal.</a:t>
            </a:r>
            <a:endParaRPr lang="en-US" sz="950" dirty="0"/>
          </a:p>
        </p:txBody>
      </p:sp>
      <p:pic>
        <p:nvPicPr>
          <p:cNvPr id="37" name="Image 1" descr="assets/cut/c-limi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1828800"/>
            <a:ext cx="3859078" cy="3794760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502920" y="5742432"/>
            <a:ext cx="11185855" cy="45720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40664" y="5852160"/>
            <a:ext cx="107103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F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alternatif tidak menggantikan teori modernis, melainkan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menambahkan dimensi penilaian yang belum tercakup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F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karakter pelaku, relasi antarpihak, prosedur perumusan norma, dan pilihan istilah.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TEORI ALTERNATIF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 DAN ETHIC OF CARE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penilaian bergeser dari tindakan ke karakter pelaku dan ke relasi antarpihak yang terlibat.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300000">
            <a:off x="4133088" y="1664208"/>
            <a:ext cx="3931920" cy="4379976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7" name="Image 1" descr="assets/cut/c-vc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1810512"/>
            <a:ext cx="3383280" cy="399895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3657600" cy="418795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58952" y="1956816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8952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234440" y="195681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758952" y="2432304"/>
            <a:ext cx="3145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Pelaku seperti apa yang layak disebut baik pada posisi ini?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758952" y="2944368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Aristoteles dalam Nicomachean Ethics, MacIntyre dalam After Virtue, dan Solomon dalam Ethics and Excellence.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758952" y="3438144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758952" y="3675888"/>
            <a:ext cx="3145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Moralitas lahir dari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karakter yang dibentuk lewat pembiasaan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dari aturan. Tujuannya eudaimonia, hidup yang baik.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58952" y="4261104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PENERAPAN DALAM BISNIS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758952" y="4498848"/>
            <a:ext cx="3145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Perusahaan adalah komunitas praktik, dengan keutamaan berupa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kejujuran, keadilan, kepercayaan, dan ketangguhan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758952" y="5084064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758952" y="5321808"/>
            <a:ext cx="3145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Keutamaan selalu ditentukan komunitas tertentu, sehingga sulit dijadikan ukuran lintas budaya dan lintas industri.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8028432" y="1755648"/>
            <a:ext cx="3657600" cy="4187952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284464" y="1956816"/>
            <a:ext cx="365760" cy="365760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284464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759952" y="195681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8284464" y="2432304"/>
            <a:ext cx="3145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mana yang memelihara relasi dengan pihak terdampak?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284464" y="2944368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Carol Gilligan dalam In a Different Voice dan Nel Noddings dalam Caring. Berakar pada etika feminis.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8284464" y="3438144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8284464" y="3675888"/>
            <a:ext cx="3145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Manusia adalah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makhluk yang saling bergantung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terjalin dalam relasi, bukan individu rasional yang terpisah.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8284464" y="4261104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TUNTUTAN NORMATIF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8284464" y="4498848"/>
            <a:ext cx="3145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Empati, keselarasan, menghindari kerugian, dan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tanggung jawab konkret pada orang tertentu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aturan seragam.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8284464" y="5084064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8284464" y="5321808"/>
            <a:ext cx="3145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Prioritas pada pihak terdekat berisiko mengabaikan pihak jauh, dan kriteria kepedulian sulit diaudit secara seragam.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3.5, halaman 114 sampai 121.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TEORI ALTERNATIF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DAN POSTMODERN ETHICS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penilaian bergeser ke prosedur perumusan norma dan ke bahasa yang dipakai untuk membenarkannya.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300000">
            <a:off x="365760" y="1609344"/>
            <a:ext cx="3419856" cy="4544568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2-disco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55648"/>
            <a:ext cx="2871216" cy="4158011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096512" y="1755648"/>
            <a:ext cx="3611880" cy="418795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352544" y="1956816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352544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4828032" y="195681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352544" y="2432304"/>
            <a:ext cx="3099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 apa yang bisa lahir dari deliberasi yang terbuka?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352544" y="2944368"/>
            <a:ext cx="3099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Jurgen Habermas dalam Moral Consciousness and Communicative Action, bersama Karl Otto Apel.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4352544" y="343814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352544" y="367588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 tidak ditetapkan filsuf dari luar, melainkan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dihasilkan dialog rasional antara semua pihak terdampak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4352544" y="426110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SYARAT IDEAL SPEECH SITUATION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352544" y="449884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 pihak boleh ikut, bebas paksaan, dan argumen dinilai dari kekuatannya sendiri,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bukan dari kekuasaan pengusulnya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4352544" y="508406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ORIENTASI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352544" y="532180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Penyelesaian konflik secara damai, bukan pembuktian satu kebenaran. Prosedur yang cacat cukup untuk membatalkan hasilnya.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8074152" y="1755648"/>
            <a:ext cx="3611880" cy="4187952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330184" y="1956816"/>
            <a:ext cx="365760" cy="365760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330184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805672" y="195681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8330184" y="2432304"/>
            <a:ext cx="3099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pilihan istilah?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330184" y="2944368"/>
            <a:ext cx="3099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Zygmunt Bauman dalam Postmodern Ethics, dengan latar pemikiran Derrida dan Lyotard.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8330184" y="343814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8330184" y="367588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Dorongan moral dan perasaan didahulukan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atas perhitungan rasional. Tindakan etis kerap digerakkan intuisi, bukan kalkulasi.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8330184" y="426110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KRITIK TERHADAP ORGANISASI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8330184" y="449884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Prosedur, pembagian tugas, dan jarak birokratis menciptakan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jarak moral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yang menumpulkan dorongan itu.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8330184" y="508406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IMPLIKASI SIKAP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8330184" y="532180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Mempertanyakan bahasa dan asumsi yang telah dianggap wajar, lalu bertindak pada skala lokal tempat akibatnya dirasakan.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3.5, halaman 121 sampai 125.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 SINTESIS KERANGKA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PERTANYAAN PENILAIAN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teori yang memberikan jawaban lengkap. Yang dicari pertimbangan yang paling kuat menanggung beban argumen.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480000">
            <a:off x="4389120" y="1691640"/>
            <a:ext cx="3429000" cy="443484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v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1810512"/>
            <a:ext cx="3246949" cy="415137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393192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02920" y="1755648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755648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18288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60120" y="20848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Apakah semua pihak bebas mengejar kepentingan jangka panjangnya, dan sudahkah biaya tertunda dihitung?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502920" y="2615184"/>
            <a:ext cx="3931920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02920" y="2615184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02920" y="2615184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26883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294436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 seluruh akibat diagregasi, apakah hasilnya positif, dan apakah act dan rule sejalan?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02920" y="3474720"/>
            <a:ext cx="393192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2920" y="3474720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2920" y="3474720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5478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60120" y="38039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Dapatkah maksim tindakan ini diuniversalkan, dan adakah pihak yang diperlakukan sekadar sarana?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502920" y="4334256"/>
            <a:ext cx="3931920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02920" y="4334256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02920" y="4334256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960120" y="44074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960120" y="46634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siapa yang terpenuhi, hak siapa yang terlanggar, dan sampai mana relasi bisnisnya menjangkau?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502920" y="5193792"/>
            <a:ext cx="393192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02920" y="5193792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02920" y="5193792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960120" y="526694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60120" y="55229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Susunan apa yang akan dipilih orang yang belum tahu posisi yang akan ditempatinya?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7754112" y="1755648"/>
            <a:ext cx="3931920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754112" y="1755648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754112" y="1755648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2"/>
          <p:cNvSpPr txBox="1"/>
          <p:nvPr/>
        </p:nvSpPr>
        <p:spPr>
          <a:xfrm>
            <a:off x="8211312" y="18288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8211312" y="20848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pelaku berkarakter baik bertindak di posisi ini, dan diukur terhadap standar yang mana?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7754112" y="2615184"/>
            <a:ext cx="393192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7754112" y="2615184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754112" y="2615184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8211312" y="26883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8211312" y="294436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mana yang memelihara relasi dengan pihak terdampak, bukan sekadar mengganti kerugiannya?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7754112" y="3474720"/>
            <a:ext cx="3931920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754112" y="3474720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754112" y="3474720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2"/>
          <p:cNvSpPr txBox="1"/>
          <p:nvPr/>
        </p:nvSpPr>
        <p:spPr>
          <a:xfrm>
            <a:off x="8211312" y="35478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200" dirty="0"/>
          </a:p>
        </p:txBody>
      </p:sp>
      <p:sp>
        <p:nvSpPr>
          <p:cNvPr id="47" name="Text 43"/>
          <p:cNvSpPr txBox="1"/>
          <p:nvPr/>
        </p:nvSpPr>
        <p:spPr>
          <a:xfrm>
            <a:off x="8211312" y="38039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yang hadir dan siapa yang absen ketika norma dan izinnya dirumuskan?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7754112" y="4334256"/>
            <a:ext cx="393192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7754112" y="4334256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754112" y="4334256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51" name="Text 47"/>
          <p:cNvSpPr txBox="1"/>
          <p:nvPr/>
        </p:nvSpPr>
        <p:spPr>
          <a:xfrm>
            <a:off x="8211312" y="44074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8211312" y="46634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istilah yang dipakai menamai kebijakan ini?</a:t>
            </a:r>
            <a:endParaRPr lang="en-US" sz="900" dirty="0"/>
          </a:p>
        </p:txBody>
      </p:sp>
      <p:sp>
        <p:nvSpPr>
          <p:cNvPr id="53" name="Shape 49"/>
          <p:cNvSpPr/>
          <p:nvPr/>
        </p:nvSpPr>
        <p:spPr>
          <a:xfrm>
            <a:off x="7754112" y="5193792"/>
            <a:ext cx="3931920" cy="768096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7955280" y="5340096"/>
            <a:ext cx="3529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Pendekatan pluralis Bab 3 menghasilkan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penilaian atas rangkaian fakta yang identik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untuk kemudian dilihat arah konvergensinya.</a:t>
            </a:r>
            <a:endParaRPr lang="en-US" sz="1000" dirty="0"/>
          </a:p>
        </p:txBody>
      </p:sp>
      <p:sp>
        <p:nvSpPr>
          <p:cNvPr id="55" name="Shape 51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DUA   |   STUDI KASUS INDONESIA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 KEBIJAKAN HILIRISASI NIKEL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instrumen regulasi yang mengubah struktur industri nikel nasional.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420000">
            <a:off x="7132320" y="1481328"/>
            <a:ext cx="4709160" cy="41605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nic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8352" y="1755648"/>
            <a:ext cx="4279392" cy="3599751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2075688" cy="17373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02920" y="1755648"/>
            <a:ext cx="310896" cy="17373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755648"/>
            <a:ext cx="3108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188366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960120" y="2212848"/>
            <a:ext cx="14721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Permen ESDM Nomor 11 Tahun 2019 melarang ekspor bijih nikel, berlaku efektif 1 Januari 2020.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788920" y="1755648"/>
            <a:ext cx="2075688" cy="17373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788920" y="1755648"/>
            <a:ext cx="310896" cy="17373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788920" y="1755648"/>
            <a:ext cx="3108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246120" y="188366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MEKANISME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3246120" y="2212848"/>
            <a:ext cx="14721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Bijih wajib diolah di dalam negeri dan kepemilikan smelter menjadi syarat masuk kawasan industri.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74920" y="1755648"/>
            <a:ext cx="2075688" cy="17373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74920" y="1755648"/>
            <a:ext cx="310896" cy="17373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74920" y="1755648"/>
            <a:ext cx="3108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532120" y="188366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SENGKETA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5532120" y="2212848"/>
            <a:ext cx="14721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WTO memutus kebijakan ini melanggar aturan perdagangan pada November 2022.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36758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80" kern="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KRONOLOGI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02920" y="3968496"/>
            <a:ext cx="1234440" cy="93268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92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2014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6492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Larangan pertama, lalu direlaksasi</a:t>
            </a:r>
            <a:endParaRPr lang="en-US" sz="750" dirty="0"/>
          </a:p>
        </p:txBody>
      </p:sp>
      <p:sp>
        <p:nvSpPr>
          <p:cNvPr id="27" name="Shape 23"/>
          <p:cNvSpPr/>
          <p:nvPr/>
        </p:nvSpPr>
        <p:spPr>
          <a:xfrm>
            <a:off x="1874520" y="3968496"/>
            <a:ext cx="1234440" cy="93268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0208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20208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Permen ESDM Nomor 11 terbit</a:t>
            </a:r>
            <a:endParaRPr lang="en-US" sz="750" dirty="0"/>
          </a:p>
        </p:txBody>
      </p:sp>
      <p:sp>
        <p:nvSpPr>
          <p:cNvPr id="30" name="Shape 26"/>
          <p:cNvSpPr/>
          <p:nvPr/>
        </p:nvSpPr>
        <p:spPr>
          <a:xfrm>
            <a:off x="3246120" y="3968496"/>
            <a:ext cx="1234440" cy="93268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3924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33924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Larangan berlaku efektif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4617720" y="3968496"/>
            <a:ext cx="1234440" cy="93268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7640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1600" dirty="0"/>
          </a:p>
        </p:txBody>
      </p:sp>
      <p:sp>
        <p:nvSpPr>
          <p:cNvPr id="35" name="Text 31"/>
          <p:cNvSpPr txBox="1"/>
          <p:nvPr/>
        </p:nvSpPr>
        <p:spPr>
          <a:xfrm>
            <a:off x="47640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WTO memenangkan Uni Eropa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5989320" y="3968496"/>
            <a:ext cx="1234440" cy="93268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1356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61356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Ekspor olahan 40 miliar dolar</a:t>
            </a:r>
            <a:endParaRPr lang="en-US" sz="750" dirty="0"/>
          </a:p>
        </p:txBody>
      </p:sp>
      <p:sp>
        <p:nvSpPr>
          <p:cNvPr id="39" name="Shape 35"/>
          <p:cNvSpPr/>
          <p:nvPr/>
        </p:nvSpPr>
        <p:spPr>
          <a:xfrm>
            <a:off x="502920" y="5084064"/>
            <a:ext cx="6647688" cy="78638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40664" y="5212080"/>
            <a:ext cx="6172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Manfaatnya besar, terukur, dan terkonsentrasi, sedangkan bebannya tersebar, tertunda, dan sulit dikuantifikasi. Persoalan dengan struktur demikian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dapat diselesaikan melalui kriteria penilaian tunggal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ditelusuri Agustus 2026 dari pengelola kawasan IMIP dan IWIP, Badan Pusat Statistik, dan dokumen putusan panel WTO.</a:t>
            </a:r>
            <a:endParaRPr lang="en-US" sz="850" dirty="0"/>
          </a:p>
        </p:txBody>
      </p:sp>
      <p:sp>
        <p:nvSpPr>
          <p:cNvPr id="42" name="Shape 3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 FAKTA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NARASI ATAS FAKTA YANG SAMA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Kedua kolom bersandar pada data resmi yang sama sahnya. Yang disengketakan kriteria penilaiannya.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5432908" cy="416052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255868" y="1755648"/>
            <a:ext cx="5432908" cy="4160520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58952" y="1938528"/>
            <a:ext cx="324612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8952" y="1938528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PENDUKUNG   HILIRISASI BERDAULAT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511900" y="1938528"/>
            <a:ext cx="352044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11900" y="1938528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PENENTANG   EKSTRAKSI BERBIAYA SOSIAL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 rot="600000">
            <a:off x="3447288" y="3063240"/>
            <a:ext cx="2560320" cy="278892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13" name="Image 1" descr="assets/cut/c-narr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3246120"/>
            <a:ext cx="2194560" cy="25233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58952" y="2331720"/>
            <a:ext cx="49208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miliar dolar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758952" y="2624328"/>
            <a:ext cx="49208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ekspor produk nikel olahan pada 2025, naik dari 3 miliar dolar pada 2020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758952" y="30815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41,5 miliar dolar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758952" y="337413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Investasi terkumpul di kawasan IMIP Morowali sampai Desember 2025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758952" y="383133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 ribu pekerja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758952" y="412394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Terserap di IMIP dan IWIP, dari 35.952 orang pada 2020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758952" y="4581144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Pemasok terbesar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758952" y="4873752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 menjadi simpul utama rantai pasok baterai dunia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 rot="600000">
            <a:off x="9200236" y="3063240"/>
            <a:ext cx="2560320" cy="27889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3" name="Image 2" descr="assets/cut/c-narr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9108" y="3246120"/>
            <a:ext cx="2194560" cy="249325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511900" y="2331720"/>
            <a:ext cx="49208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sampai 3,6 juta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6511900" y="2624328"/>
            <a:ext cx="49208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Upah pokok per bulan, di bawah upah minimum Morowali 2025 sebesar 3,7 juta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6511900" y="30815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pekerja meninggal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6511900" y="337413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Beserta 155 pekerja luka pada 104 kecelakaan smelter sepanjang 2019 sampai 2025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6511900" y="383133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 ribu hektare</a:t>
            </a:r>
            <a:endParaRPr lang="en-US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6511900" y="412394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Tutupan pohon hilang di Halmahera, industri nikel memegang 76 persen PLTU</a:t>
            </a:r>
            <a:endParaRPr 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6511900" y="4581144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4,35 persen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6511900" y="4873752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tambah yang tinggal di Morowali, kemiskinannya 12,58 persen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Beban yang tidak masuk neraca ekspor: sungai Ake Jira tidak lagi layak dipakai warga, dan 40 persen wilayah adat O Hongana Manyawa sudah berizin tambang.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 PENERAPAN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LIMA TEORI MODERNIS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berbasis akibat dan berbasis prinsip menghasilkan kesimpulan yang tidak seragam.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600000">
            <a:off x="457200" y="1572768"/>
            <a:ext cx="3063240" cy="457200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7" name="Image 1" descr="assets/cut/c2-verdi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2477543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3520440" y="1737360"/>
            <a:ext cx="8165592" cy="8229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3520440" y="1737360"/>
            <a:ext cx="310896" cy="822960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520440" y="1737360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3977640" y="18105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977640" y="2139696"/>
            <a:ext cx="1572768" cy="274320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977640" y="213969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NETRAL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5760720" y="1847088"/>
            <a:ext cx="5742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Pada horizon pendek jelas melayani kepentingan Indonesia. Pada horizon panjang, biaya kesehatan warga, pemulihan sungai, dan pensiun dini pembangkit batu bara belum diinternalisasi.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diri yang dihitung cermat justru menuntut biaya tertunda itu masuk sejak awal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3520440" y="2615184"/>
            <a:ext cx="8165592" cy="82296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520440" y="2615184"/>
            <a:ext cx="310896" cy="822960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520440" y="2615184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3977640" y="268833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3977640" y="3017520"/>
            <a:ext cx="1572768" cy="274320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977640" y="301752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AMBIVALEN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5760720" y="2724912"/>
            <a:ext cx="5742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utilitarianism cenderung mendukung, sebab manfaat 166 ribu lapangan kerja nyata dan terukur sedangkan kerugiannya tersebar.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Rule utilitarianism menolak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sebab bila setiap negara pemilik cadangan menempuh pengolahan bertenaga batu bara, tambahan emisinya membatalkan manfaat transisi energi yang justru menjadi pembenarnya.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3520440" y="3493008"/>
            <a:ext cx="8165592" cy="8229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3520440" y="3493008"/>
            <a:ext cx="310896" cy="8229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520440" y="3493008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3977640" y="356616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3977640" y="3895344"/>
            <a:ext cx="157276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977640" y="3895344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5760720" y="3602736"/>
            <a:ext cx="5742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Maksimnya berbunyi: pengolahan boleh dipercepat sambil menunda standar upah, keselamatan, dan lingkungan. Diuniversalkan, standar itu kehilangan daya ikat. Formulasi kedua juga gagal, sebab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upah di bawah minimum dan lembur sampai 13 jam menjadikan pekerja sarana semata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3520440" y="4370832"/>
            <a:ext cx="8165592" cy="82296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3520440" y="4370832"/>
            <a:ext cx="310896" cy="822960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520440" y="4370832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3977640" y="4443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3977640" y="4773168"/>
            <a:ext cx="1572768" cy="274320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3977640" y="4773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BERSYARAT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5760720" y="4480560"/>
            <a:ext cx="5742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atas pekerjaan terpenuhi bagi 166 ribu pekerja, dan sampai titik itu kebijakan ini dapat dipertahankan. Namun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hak atas kondisi kerja yang adil, kesehatan, air bersih, dan tanah leluhur terlanggar bersamaan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UNGP menuntut penghormatan pada seluruh relasi bisnis.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3520440" y="5248656"/>
            <a:ext cx="8165592" cy="8229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3520440" y="5248656"/>
            <a:ext cx="310896" cy="8229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3520440" y="5248656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9" name="Text 35"/>
          <p:cNvSpPr txBox="1"/>
          <p:nvPr/>
        </p:nvSpPr>
        <p:spPr>
          <a:xfrm>
            <a:off x="3977640" y="532180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3977640" y="5650992"/>
            <a:ext cx="157276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977640" y="565099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5760720" y="5358384"/>
            <a:ext cx="5742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 mengalir ke penerimaan nasional dan pemodal, sedangkan beban terkonsentrasi pada pekerja kawasan, warga hilir sungai, dan masyarakat adat.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Kabupaten penghasil justru lebih miskin daripada rata-rata provinsinya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hanya 4,35 persen nilai tambah tinggal di daerah.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teori dalam klasifikasi yang sama menghasilkan kesimpulan berbeda, dan pembedanya terletak pada unit analisis: tindakan tunggal atau kelas tindakan.</a:t>
            </a:r>
            <a:endParaRPr lang="en-US" sz="850" dirty="0"/>
          </a:p>
        </p:txBody>
      </p:sp>
      <p:sp>
        <p:nvSpPr>
          <p:cNvPr id="44" name="Shape 40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 PENERAPAN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EMPAT TEORI ALTERNATIF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bergeser ke karakter pelaku, relasi, prosedur, dan bahasa, tanpa mengubah rangkaian faktanya.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420000">
            <a:off x="8705088" y="1536192"/>
            <a:ext cx="3246120" cy="461772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7" name="Image 1" descr="assets/cut/c2-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1755648"/>
            <a:ext cx="2786090" cy="418795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19072"/>
            <a:ext cx="4000500" cy="210312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22376" y="1865376"/>
            <a:ext cx="310896" cy="3108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22376" y="1865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106424" y="1865376"/>
            <a:ext cx="31775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22376" y="2249424"/>
            <a:ext cx="1874520" cy="237744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22376" y="224942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PEMBANDING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722376" y="2560320"/>
            <a:ext cx="35615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 pembanding mana yang seharusnya dipakai?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722376" y="2944368"/>
            <a:ext cx="3561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Pembandingnya selama ini adalah keadaan sebelum hilirisasi, bukan standar industri terbaik yang tersedia hari ini.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Aktor berkarakter baik mengukur diri pada standar tertinggi yang dapat dicapai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777740" y="1719072"/>
            <a:ext cx="4000500" cy="210312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97196" y="1865376"/>
            <a:ext cx="310896" cy="310896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97196" y="1865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5381244" y="1865376"/>
            <a:ext cx="31775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4997196" y="2249424"/>
            <a:ext cx="1874520" cy="237744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997196" y="224942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MENUNTUT PEMULIHAN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4997196" y="2560320"/>
            <a:ext cx="35615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Sejauh mana relasi dengan pihak terdampak dipelihara?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4997196" y="2944368"/>
            <a:ext cx="3561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hilir sungai dan sekitar 300 sampai 500 jiwa O Hongana Manyawa adalah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00761A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pihak yang berelasi, bukan variabel biaya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Yang dituntut pemulihan sungai dan wilayah lindung, bukan penghentian mendadak.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502920" y="4005072"/>
            <a:ext cx="4000500" cy="210312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22376" y="4151376"/>
            <a:ext cx="310896" cy="3108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22376" y="4151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1106424" y="4151376"/>
            <a:ext cx="31775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722376" y="4535424"/>
            <a:ext cx="1874520" cy="237744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22376" y="453542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PROSEDUR</a:t>
            </a:r>
            <a:endParaRPr lang="en-US" sz="800" dirty="0"/>
          </a:p>
        </p:txBody>
      </p:sp>
      <p:sp>
        <p:nvSpPr>
          <p:cNvPr id="30" name="Text 26"/>
          <p:cNvSpPr txBox="1"/>
          <p:nvPr/>
        </p:nvSpPr>
        <p:spPr>
          <a:xfrm>
            <a:off x="722376" y="4846320"/>
            <a:ext cx="35615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yang hadir dan siapa yang absen dalam perumusan?</a:t>
            </a:r>
            <a:endParaRPr lang="en-US" sz="1050" dirty="0"/>
          </a:p>
        </p:txBody>
      </p:sp>
      <p:sp>
        <p:nvSpPr>
          <p:cNvPr id="31" name="Text 27"/>
          <p:cNvSpPr txBox="1"/>
          <p:nvPr/>
        </p:nvSpPr>
        <p:spPr>
          <a:xfrm>
            <a:off x="722376" y="5230368"/>
            <a:ext cx="3561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terdampak bukan pihak dalam perumusan kebijakan maupun perizinan kawasan. Syarat keterlibatan setara tidak terpenuhi, dan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cacat prosedur sudah cukup untuk membatalkan keabsahan hasilnya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777740" y="4005072"/>
            <a:ext cx="4000500" cy="210312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997196" y="4151376"/>
            <a:ext cx="310896" cy="310896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997196" y="4151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5381244" y="4151376"/>
            <a:ext cx="31775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4997196" y="4535424"/>
            <a:ext cx="1874520" cy="237744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4997196" y="453542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RELATIVISTIK</a:t>
            </a:r>
            <a:endParaRPr lang="en-US" sz="800" dirty="0"/>
          </a:p>
        </p:txBody>
      </p:sp>
      <p:sp>
        <p:nvSpPr>
          <p:cNvPr id="38" name="Text 34"/>
          <p:cNvSpPr txBox="1"/>
          <p:nvPr/>
        </p:nvSpPr>
        <p:spPr>
          <a:xfrm>
            <a:off x="4997196" y="4846320"/>
            <a:ext cx="35615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pilihan istilah?</a:t>
            </a:r>
            <a:endParaRPr lang="en-US" sz="1050" dirty="0"/>
          </a:p>
        </p:txBody>
      </p:sp>
      <p:sp>
        <p:nvSpPr>
          <p:cNvPr id="39" name="Text 35"/>
          <p:cNvSpPr txBox="1"/>
          <p:nvPr/>
        </p:nvSpPr>
        <p:spPr>
          <a:xfrm>
            <a:off x="4997196" y="5230368"/>
            <a:ext cx="3561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Hilirisasi berkonotasi kemajuan, ekstraksi berkonotasi pengurasan, dan keduanya menamai peristiwa yang sama.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Istilah nikel hijau dipakai bagi pengolahan yang listriknya bertumpu pada batu bara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40" name="Text 36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Keempat teori ini menyoroti dimensi yang luput dari lima teori sebelumnya: pembanding, relasi, keterwakilan, dan pilihan istilah.</a:t>
            </a:r>
            <a:endParaRPr lang="en-US" sz="850" dirty="0"/>
          </a:p>
        </p:txBody>
      </p:sp>
      <p:sp>
        <p:nvSpPr>
          <p:cNvPr id="41" name="Shape 37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 SINTESIS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SINTESIS PENILAIAN DAN EVALUASI KLAIM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satu pun dari sembilan teori memberikan dukungan tanpa syarat.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480000">
            <a:off x="4535424" y="1719072"/>
            <a:ext cx="3154680" cy="43434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2-syn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28800"/>
            <a:ext cx="2706239" cy="40233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37360"/>
            <a:ext cx="3931920" cy="422452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22376" y="1883664"/>
            <a:ext cx="2240280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22376" y="188366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PENILAIAN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722376" y="2304288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22376" y="23042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1033272" y="22860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2551176" y="228600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9C9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Netral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722376" y="2642616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2376" y="26426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1033272" y="262432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2551176" y="262432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Ambivalen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722376" y="2980944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22376" y="29809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1033272" y="296265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2551176" y="296265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722376" y="3319272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22376" y="3319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1033272" y="330098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2551176" y="3300984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Bersyarat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722376" y="3657600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22376" y="36576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1033272" y="363931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2551176" y="363931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722376" y="3995928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22376" y="39959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1033272" y="39776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2551176" y="397764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pembanding</a:t>
            </a:r>
            <a:endParaRPr lang="en-US" sz="1050" dirty="0"/>
          </a:p>
        </p:txBody>
      </p:sp>
      <p:sp>
        <p:nvSpPr>
          <p:cNvPr id="35" name="Shape 31"/>
          <p:cNvSpPr/>
          <p:nvPr/>
        </p:nvSpPr>
        <p:spPr>
          <a:xfrm>
            <a:off x="722376" y="4334256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22376" y="43342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1033272" y="431596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2551176" y="431596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Menuntut pemulihan</a:t>
            </a:r>
            <a:endParaRPr lang="en-US" sz="1050" dirty="0"/>
          </a:p>
        </p:txBody>
      </p:sp>
      <p:sp>
        <p:nvSpPr>
          <p:cNvPr id="39" name="Shape 35"/>
          <p:cNvSpPr/>
          <p:nvPr/>
        </p:nvSpPr>
        <p:spPr>
          <a:xfrm>
            <a:off x="722376" y="4672584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22376" y="46725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1033272" y="465429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551176" y="46542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prosedur</a:t>
            </a:r>
            <a:endParaRPr lang="en-US" sz="1050" dirty="0"/>
          </a:p>
        </p:txBody>
      </p:sp>
      <p:sp>
        <p:nvSpPr>
          <p:cNvPr id="43" name="Shape 39"/>
          <p:cNvSpPr/>
          <p:nvPr/>
        </p:nvSpPr>
        <p:spPr>
          <a:xfrm>
            <a:off x="722376" y="5010912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722376" y="50109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5" name="Text 41"/>
          <p:cNvSpPr txBox="1"/>
          <p:nvPr/>
        </p:nvSpPr>
        <p:spPr>
          <a:xfrm>
            <a:off x="1033272" y="499262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100" dirty="0"/>
          </a:p>
        </p:txBody>
      </p:sp>
      <p:sp>
        <p:nvSpPr>
          <p:cNvPr id="46" name="Text 42"/>
          <p:cNvSpPr txBox="1"/>
          <p:nvPr/>
        </p:nvSpPr>
        <p:spPr>
          <a:xfrm>
            <a:off x="2551176" y="4992624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9C9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Relativistik</a:t>
            </a:r>
            <a:endParaRPr lang="en-US" sz="1050" dirty="0"/>
          </a:p>
        </p:txBody>
      </p:sp>
      <p:sp>
        <p:nvSpPr>
          <p:cNvPr id="47" name="Shape 43"/>
          <p:cNvSpPr/>
          <p:nvPr/>
        </p:nvSpPr>
        <p:spPr>
          <a:xfrm>
            <a:off x="722376" y="5413248"/>
            <a:ext cx="3493008" cy="438912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850392" y="5413248"/>
            <a:ext cx="32369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menolak, satu bersyarat, satu ambivalen, dan satu netral karena mengakui keterbatasan teorinya.</a:t>
            </a:r>
            <a:endParaRPr lang="en-US" sz="900" dirty="0"/>
          </a:p>
        </p:txBody>
      </p:sp>
      <p:sp>
        <p:nvSpPr>
          <p:cNvPr id="49" name="Shape 45"/>
          <p:cNvSpPr/>
          <p:nvPr/>
        </p:nvSpPr>
        <p:spPr>
          <a:xfrm>
            <a:off x="7754112" y="1883664"/>
            <a:ext cx="3931920" cy="27432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754112" y="188366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PROPOSISI DARI KESEMBILAN TEORI</a:t>
            </a:r>
            <a:endParaRPr lang="en-US" sz="950" dirty="0"/>
          </a:p>
        </p:txBody>
      </p:sp>
      <p:sp>
        <p:nvSpPr>
          <p:cNvPr id="51" name="Shape 47"/>
          <p:cNvSpPr/>
          <p:nvPr/>
        </p:nvSpPr>
        <p:spPr>
          <a:xfrm>
            <a:off x="7754112" y="2286000"/>
            <a:ext cx="3931920" cy="877824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754112" y="2286000"/>
            <a:ext cx="310896" cy="87782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754112" y="2286000"/>
            <a:ext cx="310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54" name="Text 50"/>
          <p:cNvSpPr txBox="1"/>
          <p:nvPr/>
        </p:nvSpPr>
        <p:spPr>
          <a:xfrm>
            <a:off x="8174736" y="23591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 MASA LALU TIDAK NORMATIF</a:t>
            </a:r>
            <a:endParaRPr lang="en-US" sz="1100" dirty="0"/>
          </a:p>
        </p:txBody>
      </p:sp>
      <p:sp>
        <p:nvSpPr>
          <p:cNvPr id="55" name="Text 51"/>
          <p:cNvSpPr txBox="1"/>
          <p:nvPr/>
        </p:nvSpPr>
        <p:spPr>
          <a:xfrm>
            <a:off x="8174736" y="2615184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Kondisi yang lebih baik daripada ekspor bijih mentah tidak dengan sendirinya memadai.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 menuntut pembanding pada standar tertinggi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50" dirty="0"/>
          </a:p>
        </p:txBody>
      </p:sp>
      <p:sp>
        <p:nvSpPr>
          <p:cNvPr id="56" name="Shape 52"/>
          <p:cNvSpPr/>
          <p:nvPr/>
        </p:nvSpPr>
        <p:spPr>
          <a:xfrm>
            <a:off x="7754112" y="3236976"/>
            <a:ext cx="3931920" cy="877824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7754112" y="3236976"/>
            <a:ext cx="310896" cy="87782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754112" y="3236976"/>
            <a:ext cx="310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59" name="Text 55"/>
          <p:cNvSpPr txBox="1"/>
          <p:nvPr/>
        </p:nvSpPr>
        <p:spPr>
          <a:xfrm>
            <a:off x="8174736" y="331012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HIJAU GUGUR PADA SUMBER ENERGI</a:t>
            </a:r>
            <a:endParaRPr lang="en-US" sz="1100" dirty="0"/>
          </a:p>
        </p:txBody>
      </p:sp>
      <p:sp>
        <p:nvSpPr>
          <p:cNvPr id="60" name="Text 56"/>
          <p:cNvSpPr txBox="1"/>
          <p:nvPr/>
        </p:nvSpPr>
        <p:spPr>
          <a:xfrm>
            <a:off x="8174736" y="3566160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Pengolahan yang bertumpu pada pembangkit batu bara di dalam kawasan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tidak dapat disebut hijau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Postmodern ethics membacanya sebagai alat pembenar.</a:t>
            </a:r>
            <a:endParaRPr lang="en-US" sz="950" dirty="0"/>
          </a:p>
        </p:txBody>
      </p:sp>
      <p:sp>
        <p:nvSpPr>
          <p:cNvPr id="61" name="Shape 57"/>
          <p:cNvSpPr/>
          <p:nvPr/>
        </p:nvSpPr>
        <p:spPr>
          <a:xfrm>
            <a:off x="7754112" y="4187952"/>
            <a:ext cx="3931920" cy="877824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7754112" y="4187952"/>
            <a:ext cx="310896" cy="87782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7754112" y="4187952"/>
            <a:ext cx="310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64" name="Text 60"/>
          <p:cNvSpPr txBox="1"/>
          <p:nvPr/>
        </p:nvSpPr>
        <p:spPr>
          <a:xfrm>
            <a:off x="8174736" y="426110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DISTRIBUSI MANFAAT DAN BEBAN TIMPANG</a:t>
            </a:r>
            <a:endParaRPr lang="en-US" sz="1100" dirty="0"/>
          </a:p>
        </p:txBody>
      </p:sp>
      <p:sp>
        <p:nvSpPr>
          <p:cNvPr id="65" name="Text 61"/>
          <p:cNvSpPr txBox="1"/>
          <p:nvPr/>
        </p:nvSpPr>
        <p:spPr>
          <a:xfrm>
            <a:off x="8174736" y="451713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 4,35 persen nilai tambah tinggal di daerah, sementara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kabupaten penghasil lebih miskin daripada rata-rata provinsinya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Rawls menolaknya.</a:t>
            </a:r>
            <a:endParaRPr lang="en-US" sz="950" dirty="0"/>
          </a:p>
        </p:txBody>
      </p:sp>
      <p:sp>
        <p:nvSpPr>
          <p:cNvPr id="66" name="Shape 62"/>
          <p:cNvSpPr/>
          <p:nvPr/>
        </p:nvSpPr>
        <p:spPr>
          <a:xfrm>
            <a:off x="7754112" y="5138928"/>
            <a:ext cx="3931920" cy="877824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754112" y="5138928"/>
            <a:ext cx="310896" cy="87782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754112" y="5138928"/>
            <a:ext cx="310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69" name="Text 65"/>
          <p:cNvSpPr txBox="1"/>
          <p:nvPr/>
        </p:nvSpPr>
        <p:spPr>
          <a:xfrm>
            <a:off x="8174736" y="52120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PROSESNYA CACAT SEJAK PERUMUSAN</a:t>
            </a:r>
            <a:endParaRPr lang="en-US" sz="1100" dirty="0"/>
          </a:p>
        </p:txBody>
      </p:sp>
      <p:sp>
        <p:nvSpPr>
          <p:cNvPr id="70" name="Text 66"/>
          <p:cNvSpPr txBox="1"/>
          <p:nvPr/>
        </p:nvSpPr>
        <p:spPr>
          <a:xfrm>
            <a:off x="8174736" y="5468112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terdampak tidak menjadi pihak dalam perizinan dan perencanaan kawasan. Discourse ethics membatalkan hasil dari proses semacam itu.</a:t>
            </a:r>
            <a:endParaRPr lang="en-US" sz="95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Penolakan atas klaim nikel hijau tidak setara dengan penolakan atas hilirisasi. Keduanya persoalan yang terpisah.</a:t>
            </a:r>
            <a:endParaRPr lang="en-US" sz="850" dirty="0"/>
          </a:p>
        </p:txBody>
      </p:sp>
      <p:sp>
        <p:nvSpPr>
          <p:cNvPr id="72" name="Shape 6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SIMPULAN DAN IMPLIKASI MANAJERIAL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temuan dari pengujian, diikuti tiga tindak lanjut yang dapat dijalankan manajemen.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600000">
            <a:off x="7571232" y="1572768"/>
            <a:ext cx="4096512" cy="48463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2-clo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10512"/>
            <a:ext cx="3793586" cy="504748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2075688" cy="21214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85800" y="1920240"/>
            <a:ext cx="329184" cy="32918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2340864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KONVERGENSI, BUKAN KESEPAKATAN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287121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teori berangkat dari premis berbeda, namun mayoritasnya bermuara pada arah yang sama. </a:t>
            </a:r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Inilah bukti terkuat pluralisme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2788920" y="1755648"/>
            <a:ext cx="2075688" cy="21214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971800" y="1920240"/>
            <a:ext cx="329184" cy="32918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97180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971800" y="2340864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ETIS YANG GUGUR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2971800" y="287121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gugur bukan kebijakan hilirisasinya, melainkan </a:t>
            </a:r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bahwa kebijakan ini sudah etis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Upah, keselamatan, lingkungan, dan sumber energinya tetap terbuka diperbaiki.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074920" y="1755648"/>
            <a:ext cx="2075688" cy="21214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57800" y="1920240"/>
            <a:ext cx="329184" cy="32918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25780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257800" y="2340864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KASUS YANG MASIH BERLANGSUNG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257800" y="287121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Kebijakannya masih berjalan, sengketa dagangnya belum tuntas, dan angkanya berubah tiap tahun. Kasus yang belum selesai justru paling layak didiskusikan.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404164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80" kern="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IMPLIKASI MANAJERIAL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02920" y="4334256"/>
            <a:ext cx="2075688" cy="123444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44256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INTERNALISASI BIAYA TERTUNDA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685800" y="486460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kesehatan warga, pemulihan sungai, dan pensiun dini pembangkit masuk neraca sejak perencanaan.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2788920" y="4334256"/>
            <a:ext cx="2075688" cy="123444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971800" y="44256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PELIBATAN PIHAK YANG ABSEN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2971800" y="486460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Pekerja, warga hilir, dan masyarakat adat diberi keterwakilan formal dalam panitia keselamatan dan perizinan.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5074920" y="4334256"/>
            <a:ext cx="2075688" cy="123444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257800" y="44256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PENGUJIAN MULTITEORI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5257800" y="486460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yang lolos utilitarianism kerap gugur pada keadilan distributif dan discourse ethics.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502920" y="5705856"/>
            <a:ext cx="6647688" cy="56692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22376" y="5705856"/>
            <a:ext cx="6208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 yang terukur selalu lebih mudah dipertahankan daripada beban yang tersebar. Justru karena itu beban yang tersebar perlu dihitung lebih dahulu.</a:t>
            </a:r>
            <a:endParaRPr lang="en-US" sz="1050" dirty="0"/>
          </a:p>
        </p:txBody>
      </p:sp>
      <p:sp>
        <p:nvSpPr>
          <p:cNvPr id="35" name="Shape 31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360000">
            <a:off x="5577840" y="640080"/>
            <a:ext cx="6309360" cy="557784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720000">
            <a:off x="685800" y="1051560"/>
            <a:ext cx="1325880" cy="132588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rot="-480000">
            <a:off x="1234440" y="5257800"/>
            <a:ext cx="960120" cy="960120"/>
          </a:xfrm>
          <a:prstGeom prst="star24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6" name="Image 1" descr="assets/cut/c-thank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5989320" cy="37185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" y="23774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2688336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</a:t>
            </a:r>
            <a:endParaRPr lang="en-US" sz="6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58444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KASIH</a:t>
            </a:r>
            <a:endParaRPr lang="en-US" sz="6200" dirty="0"/>
          </a:p>
        </p:txBody>
      </p:sp>
      <p:sp>
        <p:nvSpPr>
          <p:cNvPr id="10" name="Shape 6"/>
          <p:cNvSpPr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 FOR SUSTAINABILITY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Evaluating Business Ethics: Normative Ethical Theories</dc:title>
  <dc:subject>PptxGenJS Presentation</dc:subject>
  <dc:creator>Aslih Abnuri, Arfinal Diputra, Rohana Dwi Hardianti</dc:creator>
  <cp:lastModifiedBy>Aslih Abnuri, Arfinal Diputra, Rohana Dwi Hardianti</cp:lastModifiedBy>
  <cp:revision>1</cp:revision>
  <dcterms:created xsi:type="dcterms:W3CDTF">2026-08-27T03:17:33Z</dcterms:created>
  <dcterms:modified xsi:type="dcterms:W3CDTF">2026-08-27T03:17:33Z</dcterms:modified>
</cp:coreProperties>
</file>