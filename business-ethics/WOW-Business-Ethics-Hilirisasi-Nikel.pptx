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3529584"/>
            <a:ext cx="4983480" cy="170078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4988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8646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BAHASAN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SISTEMATIKA PEMBAHASAN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810512"/>
            <a:ext cx="48463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1810512"/>
            <a:ext cx="482803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SATU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PENILAIAN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NIKEL INDONESIA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58952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58952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58952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3232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58952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 rot="840000">
            <a:off x="5468112" y="3246120"/>
            <a:ext cx="1417320" cy="14173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39" name="Image 1" descr="assets/cut/accent-h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3611880"/>
            <a:ext cx="1536192" cy="645537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PERAN TEORI ETIKA NORMATIF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TEORI NORMATIF DIPERLUKAN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60000">
            <a:off x="182880" y="2011680"/>
            <a:ext cx="4343400" cy="40690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68880"/>
            <a:ext cx="3611880" cy="315315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SEKADAR FIRASAT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617720" y="1783080"/>
            <a:ext cx="7068312" cy="155448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892040" y="1947672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 KONSEP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2231136"/>
            <a:ext cx="6519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normatif adalah aturan, pedoman, prinsip, dan pendekatan yang menentukan benar dan salah.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962656"/>
            <a:ext cx="6519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17720" y="352044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138928" y="3538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RASIONALISASI INTUISI MORAL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38928" y="381304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telah dimiliki mengenai benar dan salah.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617720" y="4343400"/>
            <a:ext cx="7068312" cy="74980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5138928" y="43616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DISKUSI RASIONAL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138928" y="463600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sehingga perbedaan tidak berhenti pada tataran preferensi.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617720" y="516636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5138928" y="518464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JUSTIFIKASI KEPUTUSAN BISNIS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138928" y="545896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dapat dipertanggungjawabkan kepada pemangku kepentingan.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POSISI DASAR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6109" y="1810512"/>
            <a:ext cx="246888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766" y="1920240"/>
            <a:ext cx="1355565" cy="2103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" y="4133088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338218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660000">
            <a:off x="4861408" y="1810512"/>
            <a:ext cx="246888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426" y="1920240"/>
            <a:ext cx="1360842" cy="21031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94250" y="4133088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94250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594250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94250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173517" y="1755648"/>
            <a:ext cx="3515258" cy="420624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 rot="1320000">
            <a:off x="8696706" y="1810512"/>
            <a:ext cx="2468880" cy="23317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419" y="1920240"/>
            <a:ext cx="1345453" cy="210312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429549" y="4133088"/>
            <a:ext cx="3003194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429549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429549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429549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KLASIFIKASI TEORI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 ETIKA NORMATIF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9037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246120" y="19933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MODERNIS BARAT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95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KONSEKUENSIALIS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7840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30759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0759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11480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1596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BERBASIS PRINSIP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31596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64515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64515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45152" y="4315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49560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909560" y="1783080"/>
            <a:ext cx="427939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183880" y="23957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8183880" y="272491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567928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567928" y="356616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567928" y="3913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8567928" y="41879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567928" y="4535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49" name="Text 46"/>
          <p:cNvSpPr txBox="1"/>
          <p:nvPr/>
        </p:nvSpPr>
        <p:spPr>
          <a:xfrm>
            <a:off x="8567928" y="48097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567928" y="51572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3" name="Text 50"/>
          <p:cNvSpPr txBox="1"/>
          <p:nvPr/>
        </p:nvSpPr>
        <p:spPr>
          <a:xfrm>
            <a:off x="8567928" y="543153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 rot="1200000">
            <a:off x="5897880" y="4160520"/>
            <a:ext cx="1920240" cy="19202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5" name="Image 1" descr="assets/cut/accent-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4" y="4480560"/>
            <a:ext cx="1371600" cy="1481959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7" name="Shape 5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KEPENTINGAN DIRI: ETHICAL EGOISM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EGOISM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HASIL: UTILITARIANISM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871" y="1783080"/>
            <a:ext cx="4179219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HAPPINESS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KEWAJIBAN: IMMANUEL KANT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240000">
            <a:off x="246888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62" y="1783080"/>
            <a:ext cx="4176836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HAK DAN HAK ASASI MANUSIA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RIGHTS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dasar yang melekat, tidak dapat dicabut, dan tidak bersyarat, yang dimiliki semua manusia tanpa kecuali.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KEADILAN: RAWLS DAN KONTRAK SOSIAL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54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41" y="1783080"/>
            <a:ext cx="3340077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 OF IGNORANCE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Perlakuan yang adil terhadap setiap orang dalam satu situasi, sehingga semua pihak memperoleh apa yang memang menjadi haknya.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EVALUASI KRITIS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KETERBATASAN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80000">
            <a:off x="201168" y="1536192"/>
            <a:ext cx="4526280" cy="448056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10512"/>
            <a:ext cx="3952068" cy="3886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892040" y="1783080"/>
            <a:ext cx="3246120" cy="11887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93208" y="1929384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93208" y="1929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458968" y="1929384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ABSTRAKSI BERLEBIH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093208" y="2313432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Prinsipnya beroperasi pada tataran yang jauh dari persoalan konkret yang dihadapi manajer.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8275320" y="1783080"/>
            <a:ext cx="3246120" cy="11887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76488" y="1929384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476488" y="1929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842248" y="1929384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REDUKSIONISME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476488" y="2313432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teori menonjolkan satu dimensi moralitas dan memperlakukannya sebagai keseluruhan.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892040" y="3081528"/>
            <a:ext cx="3246120" cy="11887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93208" y="3227832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93208" y="3227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5458968" y="3227832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OBJEKTIVISME ELITIS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093208" y="361188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Kebenaran moral ditentukan melalui deduksi ahli, bukan melalui pengalaman pihak yang terlibat.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8275320" y="3081528"/>
            <a:ext cx="3246120" cy="11887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476488" y="322783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476488" y="3227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842248" y="3227832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IMPERSONALITAS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476488" y="361188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Ikatan personal dan tanggung jawab pada pihak tertentu diposisikan sebagai pengganggu penilaian.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4892040" y="4379976"/>
            <a:ext cx="3246120" cy="11887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093208" y="452628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93208" y="4526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458968" y="4526280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RASIONALISME TERKODIFIKASI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093208" y="4910328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perasaan, empati, dan dorongan moral diabaikan dalam perumusan penilaian etis.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8275320" y="4379976"/>
            <a:ext cx="3246120" cy="11887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476488" y="452628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476488" y="4526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8842248" y="4526280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IMPERIALISME KULTURAL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8476488" y="4910328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dan tradisi intelektual Barat diposisikan sebagai ukuran yang berlaku universal.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4892040" y="5687568"/>
            <a:ext cx="6793992" cy="512064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93208" y="579729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 tidak menggantikan teori modernis, melainkan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dimensi penilaian yang belum tercakup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karakter pelaku, relasi antarpihak, prosedur perumusan norma, dan pilihan istilah.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DAN ETHIC OF CARE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00000">
            <a:off x="7936992" y="1609344"/>
            <a:ext cx="4069080" cy="4544568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1755648"/>
            <a:ext cx="3520440" cy="416107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361188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58952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58952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PENERAPAN DALAM BISNIS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389120" y="1755648"/>
            <a:ext cx="3611880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645152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6451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5120640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645152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4645152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4645152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4645152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645152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TUNTUTAN NORMATIF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4645152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4645152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4645152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DAN POSTMODERN ETHICS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300000">
            <a:off x="8284464" y="1609344"/>
            <a:ext cx="3419856" cy="454456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784" y="1755648"/>
            <a:ext cx="2871216" cy="415801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361188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58952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58952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IDEAL SPEECH SITUATION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ORIENTASI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389120" y="1755648"/>
            <a:ext cx="3611880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645152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6451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5120640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645152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4645152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4645152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4645152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645152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TERHADAP ORGANISASI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4645152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4645152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SIKAP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4645152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SINTESIS KERANGKA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PERTANYAAN PENILAIAN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8851392" y="1920240"/>
            <a:ext cx="3200400" cy="38862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6568" y="2157984"/>
            <a:ext cx="2651760" cy="3390399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406908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28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08483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semua pihak bebas mengejar kepentingan jangka panjangnya, dan sudahkah biaya tertunda dihitung?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920" y="2615184"/>
            <a:ext cx="406908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26883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29443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seluruh akibat diagregasi, apakah hasilnya positif, dan apakah act dan rule sejalan?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3474720"/>
            <a:ext cx="406908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54787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0120" y="3803904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Dapatkah maksim tindakan ini diuniversalkan, dan adakah pihak yang diperlakukan sekadar sarana?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02920" y="4334256"/>
            <a:ext cx="406908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960120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66344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siapa yang terpenuhi, hak siapa yang terlanggar, dan sampai mana relasi bisnisnya menjangkau?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502920" y="5193792"/>
            <a:ext cx="406908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60120" y="526694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60120" y="5522976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Susunan apa yang akan dipilih orang yang belum tahu posisi yang akan ditempatinya?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4828032" y="1755648"/>
            <a:ext cx="406908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828032" y="1755648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28032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5285232" y="1828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5285232" y="208483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pelaku berkarakter baik bertindak di posisi ini, dan diukur terhadap standar yang mana?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4828032" y="2615184"/>
            <a:ext cx="406908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828032" y="2615184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828032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285232" y="26883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5285232" y="29443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terdampak, bukan sekadar mengganti kerugiannya?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4828032" y="3474720"/>
            <a:ext cx="406908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4828032" y="3474720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4828032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5285232" y="354787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5285232" y="3803904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ketika norma dan izinnya dirumuskan?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4828032" y="4334256"/>
            <a:ext cx="406908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828032" y="4334256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828032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51" name="Text 47"/>
          <p:cNvSpPr txBox="1"/>
          <p:nvPr/>
        </p:nvSpPr>
        <p:spPr>
          <a:xfrm>
            <a:off x="528523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5285232" y="466344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istilah yang dipakai menamai kebijakan ini?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4828032" y="5193792"/>
            <a:ext cx="4069080" cy="768096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029200" y="5340096"/>
            <a:ext cx="3666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   |   STUDI KASUS INDONESIA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HILIRISASI NIKEL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788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788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46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3246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74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74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74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532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SENGKETA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532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758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KRONOLOGI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92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492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874520" y="3968496"/>
            <a:ext cx="1234440" cy="93268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0208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20208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461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3924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33924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617720" y="3968496"/>
            <a:ext cx="1234440" cy="93268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640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47640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9893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1356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61356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084064"/>
            <a:ext cx="6647688" cy="78638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40664" y="5212080"/>
            <a:ext cx="6172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FAKTA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5432908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55868" y="1755648"/>
            <a:ext cx="5432908" cy="416052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600000">
            <a:off x="3447288" y="3063240"/>
            <a:ext cx="2560320" cy="27889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46120"/>
            <a:ext cx="2194560" cy="2523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58952" y="2331720"/>
            <a:ext cx="4920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miliar dolar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262432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30815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41,5 miliar dolar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337413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38313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ribu pekerja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41239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758952" y="458114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Pemasok terbesar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" y="487375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 rot="600000">
            <a:off x="9200236" y="3063240"/>
            <a:ext cx="2560320" cy="27889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3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46120"/>
            <a:ext cx="2194560" cy="24932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511900" y="2331720"/>
            <a:ext cx="4920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sampai 3,6 juta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6511900" y="262432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6511900" y="30815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pekerja meninggal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6511900" y="337413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511900" y="38313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ribu hektare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6511900" y="41239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6511900" y="458114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4,35 persen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6511900" y="487375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8796528" y="1572768"/>
            <a:ext cx="3063240" cy="457200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assets/cut/c2-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783080"/>
            <a:ext cx="2477543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37360"/>
            <a:ext cx="8183880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37360"/>
            <a:ext cx="310896" cy="82296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37360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105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960120" y="2139696"/>
            <a:ext cx="1572768" cy="27432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21396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18470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2615184"/>
            <a:ext cx="8183880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2920" y="2615184"/>
            <a:ext cx="310896" cy="82296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2615184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26883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3017520"/>
            <a:ext cx="1572768" cy="27432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60120" y="30175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2743200" y="2724912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3493008"/>
            <a:ext cx="8183880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3493008"/>
            <a:ext cx="310896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" y="3493008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35661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960120" y="3895344"/>
            <a:ext cx="157276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60120" y="3895344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2743200" y="360273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502920" y="4370832"/>
            <a:ext cx="8183880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02920" y="4370832"/>
            <a:ext cx="310896" cy="82296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02920" y="4370832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960120" y="4443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960120" y="4773168"/>
            <a:ext cx="1572768" cy="27432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60120" y="4773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2743200" y="44805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02920" y="5248656"/>
            <a:ext cx="8183880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02920" y="5248656"/>
            <a:ext cx="310896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02920" y="5248656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960120" y="53218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5650992"/>
            <a:ext cx="157276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960120" y="56509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358384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44" name="Shape 40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20000">
            <a:off x="8705088" y="1536192"/>
            <a:ext cx="3246120" cy="4617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2-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1755648"/>
            <a:ext cx="2786090" cy="418795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19072"/>
            <a:ext cx="400050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2376" y="1865376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2376" y="1865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106424" y="1865376"/>
            <a:ext cx="31775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22376" y="2249424"/>
            <a:ext cx="1874520" cy="237744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2376" y="224942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" y="2560320"/>
            <a:ext cx="35615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pembanding mana yang seharusnya dipakai?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22376" y="2944368"/>
            <a:ext cx="3561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Aktor berkarakter baik mengukur diri pada standar tertinggi yang dapat dicapai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777740" y="1719072"/>
            <a:ext cx="400050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97196" y="1865376"/>
            <a:ext cx="310896" cy="310896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97196" y="1865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381244" y="1865376"/>
            <a:ext cx="31775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997196" y="2249424"/>
            <a:ext cx="1874520" cy="237744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97196" y="224942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4997196" y="2560320"/>
            <a:ext cx="35615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Sejauh mana relasi dengan pihak terdampak dipelihara?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997196" y="2944368"/>
            <a:ext cx="3561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hilir sungai dan sekitar 300 sampai 500 jiwa O Hongana Manyawa adalah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00761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pihak yang berelasi, bukan variabel biaya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Yang dituntut pemulihan sungai dan wilayah lindung, bukan penghentian mendadak.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02920" y="4005072"/>
            <a:ext cx="400050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22376" y="4151376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22376" y="4151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1106424" y="4151376"/>
            <a:ext cx="31775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722376" y="4535424"/>
            <a:ext cx="1874520" cy="237744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22376" y="453542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722376" y="4846320"/>
            <a:ext cx="35615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dalam perumusan?</a:t>
            </a:r>
            <a:endParaRPr lang="en-US" sz="1050" dirty="0"/>
          </a:p>
        </p:txBody>
      </p:sp>
      <p:sp>
        <p:nvSpPr>
          <p:cNvPr id="31" name="Text 27"/>
          <p:cNvSpPr txBox="1"/>
          <p:nvPr/>
        </p:nvSpPr>
        <p:spPr>
          <a:xfrm>
            <a:off x="722376" y="5230368"/>
            <a:ext cx="3561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cacat prosedur sudah cukup untuk membatalkan keabsahan hasilnya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777740" y="4005072"/>
            <a:ext cx="400050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997196" y="4151376"/>
            <a:ext cx="310896" cy="310896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997196" y="4151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5381244" y="4151376"/>
            <a:ext cx="31775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4997196" y="4535424"/>
            <a:ext cx="1874520" cy="237744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97196" y="453542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800" dirty="0"/>
          </a:p>
        </p:txBody>
      </p:sp>
      <p:sp>
        <p:nvSpPr>
          <p:cNvPr id="38" name="Text 34"/>
          <p:cNvSpPr txBox="1"/>
          <p:nvPr/>
        </p:nvSpPr>
        <p:spPr>
          <a:xfrm>
            <a:off x="4997196" y="4846320"/>
            <a:ext cx="35615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4997196" y="5230368"/>
            <a:ext cx="3561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SINTESIS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9189720" y="1783080"/>
            <a:ext cx="2743200" cy="40690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sy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011680"/>
            <a:ext cx="2450592" cy="364329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37360"/>
            <a:ext cx="4206240" cy="422452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2376" y="1883664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2376" y="188366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22376" y="2304288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" y="2304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1033272" y="2286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286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22376" y="2642616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26426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33272" y="26243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2743200" y="2624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22376" y="2980944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29809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29626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2743200" y="29626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22376" y="3319272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3319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1033272" y="33009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2743200" y="33009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22376" y="3657600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22376" y="36576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1033272" y="36393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2743200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22376" y="3995928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22376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1033272" y="3977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274320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722376" y="4334256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22376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1033272" y="43159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150" dirty="0"/>
          </a:p>
        </p:txBody>
      </p:sp>
      <p:sp>
        <p:nvSpPr>
          <p:cNvPr id="38" name="Text 34"/>
          <p:cNvSpPr txBox="1"/>
          <p:nvPr/>
        </p:nvSpPr>
        <p:spPr>
          <a:xfrm>
            <a:off x="2743200" y="4315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722376" y="4672584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22376" y="46725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1033272" y="465429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46542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722376" y="5010912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22376" y="5010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1033272" y="49926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2743200" y="49926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722376" y="5413248"/>
            <a:ext cx="3767328" cy="43891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868680" y="5413248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menolak, satu bersyarat, satu ambivalen, dan satu netral karena mengakui keterbatasan teorinya.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5029200" y="1883664"/>
            <a:ext cx="411480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029200" y="18836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5029200" y="2286000"/>
            <a:ext cx="4114800" cy="87782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5029200" y="2286000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029200" y="2286000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4" name="Text 50"/>
          <p:cNvSpPr txBox="1"/>
          <p:nvPr/>
        </p:nvSpPr>
        <p:spPr>
          <a:xfrm>
            <a:off x="5449824" y="2359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MASA LALU TIDAK NORMATIF</a:t>
            </a:r>
            <a:endParaRPr lang="en-US" sz="1150" dirty="0"/>
          </a:p>
        </p:txBody>
      </p:sp>
      <p:sp>
        <p:nvSpPr>
          <p:cNvPr id="55" name="Text 51"/>
          <p:cNvSpPr txBox="1"/>
          <p:nvPr/>
        </p:nvSpPr>
        <p:spPr>
          <a:xfrm>
            <a:off x="5449824" y="261518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50" dirty="0"/>
          </a:p>
        </p:txBody>
      </p:sp>
      <p:sp>
        <p:nvSpPr>
          <p:cNvPr id="56" name="Shape 52"/>
          <p:cNvSpPr/>
          <p:nvPr/>
        </p:nvSpPr>
        <p:spPr>
          <a:xfrm>
            <a:off x="5029200" y="3236976"/>
            <a:ext cx="4114800" cy="877824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029200" y="3236976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029200" y="3236976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5"/>
          <p:cNvSpPr txBox="1"/>
          <p:nvPr/>
        </p:nvSpPr>
        <p:spPr>
          <a:xfrm>
            <a:off x="5449824" y="33101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HIJAU GUGUR PADA SUMBER ENERGI</a:t>
            </a:r>
            <a:endParaRPr lang="en-US" sz="1150" dirty="0"/>
          </a:p>
        </p:txBody>
      </p:sp>
      <p:sp>
        <p:nvSpPr>
          <p:cNvPr id="60" name="Text 56"/>
          <p:cNvSpPr txBox="1"/>
          <p:nvPr/>
        </p:nvSpPr>
        <p:spPr>
          <a:xfrm>
            <a:off x="5449824" y="356616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5029200" y="4187952"/>
            <a:ext cx="4114800" cy="87782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5029200" y="4187952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029200" y="4187952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0"/>
          <p:cNvSpPr txBox="1"/>
          <p:nvPr/>
        </p:nvSpPr>
        <p:spPr>
          <a:xfrm>
            <a:off x="5449824" y="42611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MANFAAT DAN BEBAN TIMPANG</a:t>
            </a:r>
            <a:endParaRPr lang="en-US" sz="1150" dirty="0"/>
          </a:p>
        </p:txBody>
      </p:sp>
      <p:sp>
        <p:nvSpPr>
          <p:cNvPr id="65" name="Text 61"/>
          <p:cNvSpPr txBox="1"/>
          <p:nvPr/>
        </p:nvSpPr>
        <p:spPr>
          <a:xfrm>
            <a:off x="5449824" y="4517136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66" name="Shape 62"/>
          <p:cNvSpPr/>
          <p:nvPr/>
        </p:nvSpPr>
        <p:spPr>
          <a:xfrm>
            <a:off x="5029200" y="5138928"/>
            <a:ext cx="4114800" cy="877824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029200" y="5138928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5029200" y="5138928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5449824" y="52120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PROSESNYA CACAT SEJAK PERUMUSAN</a:t>
            </a:r>
            <a:endParaRPr lang="en-US" sz="1150" dirty="0"/>
          </a:p>
        </p:txBody>
      </p:sp>
      <p:sp>
        <p:nvSpPr>
          <p:cNvPr id="70" name="Text 66"/>
          <p:cNvSpPr txBox="1"/>
          <p:nvPr/>
        </p:nvSpPr>
        <p:spPr>
          <a:xfrm>
            <a:off x="5449824" y="546811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72" name="Shape 6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7589520" y="1572768"/>
            <a:ext cx="4023360" cy="45720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783080"/>
            <a:ext cx="3092597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KONVERGENSI, BUKAN KESEPAKATAN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2788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971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971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971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ETIS YANG GUGUR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971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74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257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YANG MASIH BERLANGSUNG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257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40416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MANAJERIAL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INTERNALISASI BIAYA TERTUNDA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788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PELIBATAN PIHAK YANG ABSEN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2971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5074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257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PENGUJIAN MULTITEORI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257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502920" y="5705856"/>
            <a:ext cx="6647688" cy="56692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22376" y="5705856"/>
            <a:ext cx="6208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yang terukur selalu lebih mudah dipertahankan daripada beban yang tersebar. Justru karena itu beban yang tersebar perlu dihitung lebih dahulu.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6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KASIH</a:t>
            </a:r>
            <a:endParaRPr lang="en-US" sz="62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2026-08-27T02:57:54Z</dcterms:created>
  <dcterms:modified xsi:type="dcterms:W3CDTF">2026-08-27T02:57:54Z</dcterms:modified>
</cp:coreProperties>
</file>