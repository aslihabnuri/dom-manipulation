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1 menit. Bab 3 memberi sembilan kriteria penilaian, lalu kita pakai pada kasus nyata yang belum selesai. Alokasi 30 menit: 17 menit teori, 11 menit kasus, 2 menit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detik. Urutannya sengaja: kalau kasus dibahas lebih dulu, diskusi berhenti di adu data. Teori memberi alat menilai data yang sama secara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tidak menggantikan intuisi, ia merapikannya. Pemantik: beda antara mengatakan praktik di negara lain itu berbeda dan mengatakan praktik itu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Pemantik: suap. Absolutis bilang selalu salah, relativis bilang tergantung negaranya, pluralis bertanya kriteria mana yang paling kuat menanggung beban argumen.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Peta jalan sisa presentasi. Minta kelas mengingat nomor urutnya, matriks di bagian kasus memakai nomor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buru-buru menolak egoisme. Versi jangka panjangnya justru memberi kritik paling tajam pada kasus nikel. Enlightened egoism: perusahaan menyokong lingkungan sosial karena itu menguntungkan dirinya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Titik terpenting: act dan rule bisa menghasilkan kesimpulan berlawanan atas fakta yang sama. Tanam di sini, karena itu yang terjadi pada kasus nikel.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Cara cepat memakai Kant: sebutkan maksim tindakannya dalam satu kalimat, lalu universalkan. Kalau maksimnya membatalkan dirinya sendiri, tindakan itu gagal.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yang paling siap dipakai auditor dan investor. Tekankan cakupan relasi bisnis, itu yang menghubungkan pembeli kendaraan listrik di Eropa dengan Halmahera.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Veil of ignorance paling mudah dipakai. Latihan: bila Anda tidak tahu akan lahir sebagai pemegang saham atau warga hilir sungai, kebijakan mana yang Anda pilih?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Slide transisi. Keberatan nomor 3 sampai 5 paling menentukan bagi kasus nikel, karena warga terdampak tidak pernah jadi pihak dalam perumusan.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Virtue ethics sering disalahpahami sebagai imbauan moral. Tekankan pertanyaan pembandingnya: dibandingkan dengan apa kita menyebut sesuatu sudah cukup baik?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Discourse ethics menilai proses, jadi ia bisa membatalkan kebijakan yang hasilnya bagus sekalipun. Postmodern ethics menilai bahasa, dan itu yang membongkar istilah nikel hijau.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Minta kelas memotret slide ini. Selama bagian kasus mereka bisa menandai sendiri jawaban tiap pertanyaan sebelum kita 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Kebijakannya masih berjalan dan sengketa dagangnya belum tuntas. Kasus yang belum selesai justru paling layak didiskusikan di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berdebat soal angka. Tegaskan kedua kolom benar. Justru itu yang membuat kasus ini butuh sembilan kriteria, bukan satu.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menit. Bagian terpenting: utilitarianism terbelah. Perbedaan act dan rule bukan detail teknis, melainkan yang menentukan putusan.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Ethic of care tidak menolak kebijakan, ia menuntut pemulihan. Contoh bagus bahwa pluralisme bukan berarti semua teori berkata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Inti kontribusi analisis. Tekankan proposisi keempat: yang gugur adalah klaim etisnya, bukan kebijakan hilirisasinya.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Sampaikan ketiga temuan, lalu ketiga tindak lanjutnya, dan tutup dengan kalimat penutup di bawah.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penutup. Buka forum tanya jawab. Tidak perlu alokasi waktu tersendiri.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80000">
            <a:off x="5440680" y="411480"/>
            <a:ext cx="6720840" cy="52120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4" name="Image 1" descr="assets/cut/c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005840"/>
            <a:ext cx="6537960" cy="372415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02920" y="109728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</a:t>
            </a:r>
            <a:endParaRPr lang="en-US" sz="46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82880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NORMATIVE ETHICAL THEORIES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3529584"/>
            <a:ext cx="4983480" cy="170078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77240" y="3730752"/>
            <a:ext cx="1600200" cy="2926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373075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DISUSUN OLEH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1330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Aslih Abnuri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4988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Arfinal Diputra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25/574664/PEK/31914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8646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Rohana Dwi Hardianti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25/574077/PEK/31728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 rot="840000">
            <a:off x="4864608" y="5504688"/>
            <a:ext cx="1005840" cy="100584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54498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Crane, A., Matten, D., Glozer, S., dan Spence, L. (2019). Business Ethics: Managing Corporate Citizenship and Sustainability in the Age of Globalization. Edisi kelima. Oxford University Press, Bab 3.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BAHASAN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SISTEMATIKA PEMBAHASAN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teoretis dibangun lebih dahulu agar analisis kasus memiliki dasar penilaian yang eksplisit.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810512"/>
            <a:ext cx="4846320" cy="416052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0" y="1810512"/>
            <a:ext cx="4828032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029968"/>
            <a:ext cx="160020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029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SATU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132320" y="2029968"/>
            <a:ext cx="160020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2029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43230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PENILAIAN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243230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NIKEL INDONESIA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90779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907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teori etika normatif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3832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85876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8587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433425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" y="43342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teori modernis Barat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80974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809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 modernis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528523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234440" y="5285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teori alternatif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132320" y="290779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2907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dan sengketanya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132320" y="33832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58952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132320" y="385876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7589520" y="38587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7132320" y="433425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589520" y="43342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7132320" y="480974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7589520" y="4809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7132320" y="528523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7589520" y="5285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 rot="840000">
            <a:off x="5468112" y="3246120"/>
            <a:ext cx="1417320" cy="14173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39" name="Image 1" descr="assets/cut/accent-ha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3611880"/>
            <a:ext cx="1536192" cy="645537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PERAN TEORI ETIKA NORMATIF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TEORI NORMATIF DIPERLUKAN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ranah personal intuisi memadai. Dalam konteks bisnis, penilaian etis harus dapat dipertahankan di hadapan pemangku kepentingan.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60000">
            <a:off x="182880" y="2011680"/>
            <a:ext cx="4343400" cy="40690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accent-mega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68880"/>
            <a:ext cx="3611880" cy="315315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80000">
            <a:off x="566928" y="1874520"/>
            <a:ext cx="3246120" cy="42062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80000">
            <a:off x="566928" y="187452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SEKADAR FIRASAT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617720" y="1783080"/>
            <a:ext cx="7068312" cy="1554480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892040" y="1947672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 KONSEP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2231136"/>
            <a:ext cx="6519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normatif adalah aturan, pedoman, prinsip, dan pendekatan yang menentukan benar dan salah.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892040" y="2962656"/>
            <a:ext cx="6519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(2019: 87)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617720" y="3520440"/>
            <a:ext cx="7068312" cy="7498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617720" y="352044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352044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138928" y="3538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RASIONALISASI INTUISI MORAL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138928" y="381304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berfungsi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merasionalkan, menjelaskan, dan memahami intuisi moral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telah dimiliki mengenai benar dan salah.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617720" y="4343400"/>
            <a:ext cx="7068312" cy="74980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434340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617720" y="434340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5138928" y="436168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DISKUSI RASIONAL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5138928" y="463600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memungkinkan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diskursus rasional antarpihak yang berbeda nilai moral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sehingga perbedaan tidak berhenti pada tataran preferensi.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4617720" y="5166360"/>
            <a:ext cx="7068312" cy="7498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617720" y="516636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617720" y="516636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5138928" y="518464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JUSTIFIKASI KEPUTUSAN BISNIS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5138928" y="545896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bisnis menuntut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rasional yang sistematis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dapat dipertanggungjawabkan kepada pemangku kepentingan.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86 sampai 88.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POSISI DASAR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menerapkan teori, perlu ditetapkan seberapa luas klaim keberlakuan yang diajukan teori tersebut.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3515258" cy="420624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6109" y="1810512"/>
            <a:ext cx="2468880" cy="23317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spe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766" y="1920240"/>
            <a:ext cx="1355565" cy="21031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58952" y="4133088"/>
            <a:ext cx="3003194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 ETIS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prinsip moral yang universal dan abadi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58952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Benar dan salah adalah kualitas objektif yang ditentukan lewat nalar, terlepas dari keadaan. Hampir seluruh teori modernis Barat berada di sini.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338218" y="1755648"/>
            <a:ext cx="3515258" cy="420624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rot="660000">
            <a:off x="4861408" y="1810512"/>
            <a:ext cx="2468880" cy="23317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15" name="Image 2" descr="assets/cut/c-spec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426" y="1920240"/>
            <a:ext cx="1360842" cy="210312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594250" y="4133088"/>
            <a:ext cx="3003194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94250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RELATIVISME ETIS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594250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bergantung konteks dan subjektif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594250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benar dan salah universal. Semuanya bergantung pada tradisi, keyakinan, dan praktik pihak yang memutuskan.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173517" y="1755648"/>
            <a:ext cx="3515258" cy="420624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 rot="1320000">
            <a:off x="8696706" y="1810512"/>
            <a:ext cx="2468880" cy="23317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2" name="Image 3" descr="assets/cut/c-spec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419" y="1920240"/>
            <a:ext cx="1345453" cy="210312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429549" y="4133088"/>
            <a:ext cx="3003194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429549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PLURALISME ETIS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8429549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yang bertentangan dapat sama sahnya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8429549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yang diambil Crane dan Matten. Pluralisme tidak menyamaratakan seluruh perspektif, tetapi juga tidak mengunggulkan satu di atasnya.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87 sampai 88. Sen (2000) dan Liu (2018).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KLASIFIKASI TEORI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 ETIKA NORMATIF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pertama menilai tindakan. Klasifikasi kedua menilai pelaku, relasi, prosedur, dan bahasa.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903720" cy="416052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246120" y="19933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MODERNIS BARAT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957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Berakar pada Pencerahan abad ke-18, bersifat absolutis, dan menawarkan aturan yang dapat diterapkan pada situasi apa pun.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7240" y="2962656"/>
            <a:ext cx="3154680" cy="178308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78408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KONSEKUENSIALIS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978408" y="3346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Teleologis, menilai akibat tindakan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78408" y="365760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408" y="3657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307592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78408" y="3986784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7840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07592" y="3986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114800" y="2962656"/>
            <a:ext cx="3154680" cy="178308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15968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BERBASIS PRINSIP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315968" y="3346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Deontologis, menilai kewajiban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315968" y="365760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5968" y="3657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645152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315968" y="3986784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1596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645152" y="3986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315968" y="431596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15968" y="4315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645152" y="4315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 dan social contract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495604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Seluruh teori ini bersifat normatif karena berangkat dari asumsi tentang hakikat dunia dan hakikat manusia. Penerimaan atas kesimpulannya bergantung pada penerimaan atas asumsi tersebut.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909560" y="1783080"/>
            <a:ext cx="4279392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183880" y="1993392"/>
            <a:ext cx="233172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18388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II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183880" y="23957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8183880" y="272491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Cenderung relativis. Lahir dari keberatan atas klasifikasi pertama.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183880" y="3310128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183880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8567928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8567928" y="356616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pelaku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8183880" y="3931920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18388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567928" y="3913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8567928" y="41879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Relasi dan tanggung jawab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183880" y="4553712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83880" y="4553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8567928" y="45354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50" dirty="0"/>
          </a:p>
        </p:txBody>
      </p:sp>
      <p:sp>
        <p:nvSpPr>
          <p:cNvPr id="49" name="Text 46"/>
          <p:cNvSpPr txBox="1"/>
          <p:nvPr/>
        </p:nvSpPr>
        <p:spPr>
          <a:xfrm>
            <a:off x="8567928" y="480974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 perumusan norma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183880" y="5175504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183880" y="5175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8567928" y="51572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50" dirty="0"/>
          </a:p>
        </p:txBody>
      </p:sp>
      <p:sp>
        <p:nvSpPr>
          <p:cNvPr id="53" name="Text 50"/>
          <p:cNvSpPr txBox="1"/>
          <p:nvPr/>
        </p:nvSpPr>
        <p:spPr>
          <a:xfrm>
            <a:off x="8567928" y="543153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dan dorongan moral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 rot="1200000">
            <a:off x="5897880" y="4160520"/>
            <a:ext cx="1920240" cy="19202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55" name="Image 1" descr="assets/cut/accent-t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4" y="4480560"/>
            <a:ext cx="1371600" cy="1481959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3.1 dan Tabel 3.5.</a:t>
            </a:r>
            <a:endParaRPr lang="en-US" sz="850" dirty="0"/>
          </a:p>
        </p:txBody>
      </p:sp>
      <p:sp>
        <p:nvSpPr>
          <p:cNvPr id="57" name="Shape 5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KEPENTINGAN DIRI: ETHICAL EGOISM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tertua sekaligus paling diperdebatkan. Sebagian penulis menolak mengategorikannya sebagai teori moral.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36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egoi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84" y="1783080"/>
            <a:ext cx="4201591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KESERAKAHAN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EGOISM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dalam situasi tersebut semua pengambil keputusan secara bebas memilih mengejar keinginan jangka pendek atau kepentingan jangka panjangnya.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PEMBEDAAN KONSEPTUAL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egois masih dapat tergerak oleh rasa iba, sedangkan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pelaku serakah tidak peka pada kepentingan pihak lain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TOKOH DAN KARYA UTAMA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Thomas Hobbes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Leviathan yang menyebut keadaan alamiah sebagai perang semua melawan semua,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 Rand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The Virtue of Selfishness.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ini hanya berlaku bila pasar mencegah satu pelaku merugikan pelaku lain. Ia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gugur pada kegagalan pasar dan isu keberlanjutan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korban penipisan sumber daya adalah generasi mendatang.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93 sampai 96.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HASIL: UTILITARIANISM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yang paling lazim diterapkan dalam bisnis karena kompatibel dengan metodologi kuantitatif ekonomi.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8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utilitar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871" y="1783080"/>
            <a:ext cx="4179219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HAPPINESS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menghasilkan kebaikan terbesar bagi jumlah orang terbesar yang terkena dampaknya. Bentham dan Mill.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CIRI POKOK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Consequentialism, hedonism, maximalism, universalism.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Utilitas diukur sebagai pleasure dikurangi pain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akibat bagi semua pihak wajib ikut dihitung.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DAN RULE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satu tindakan tunggal.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kelas tindakan dan prinsip di baliknya dalam jangka panjang.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KEBERATAN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Subjektivitas, pembobotan setara, kesulitan kuantifikasi,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distribusi utilitas yang mengabaikan minoritas serta generasi mendatang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3.2, halaman 96 sampai 100.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KEWAJIBAN: IMMANUEL KANT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dinilai bukan akibat, melainkan prinsip di balik tindakan dan motivasi pelakunya.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240000">
            <a:off x="246888" y="1847088"/>
            <a:ext cx="4937760" cy="411480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7" name="Image 1" descr="assets/cut/c-k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62" y="1783080"/>
            <a:ext cx="4176836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CATEGORICAL IMPERATIVE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Kewajiban yang abstrak dan tidak berubah, dirumuskan lewat aturan moral a priori yang dideduksi secara rasional dan berlaku pada semua persoalan etis.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F06CB0"/>
          </a:solidFill>
          <a:ln w="12700">
            <a:solidFill>
              <a:srgbClr val="F06C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SATU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acceptability.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sebuah hukum moral hanya bila semua makhluk berakal budi juga bisa menerimanya. Mengingkari utang tidak lolos uji ini.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DUA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Respect for persons.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Perlakukan manusia sebagai tujuan,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jangan pernah sekadar sebagai sarana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Inilah dasar etis stakeholder theory.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F06CB0"/>
          </a:solidFill>
          <a:ln w="12700">
            <a:solidFill>
              <a:srgbClr val="F06CB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KEBERATAN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Kriteria motivasinya terlalu sempit,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akibat diabaikan sepenuhnya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asumsi rasionalitas penuh bersifat idealistis.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3.4, halaman 100 sampai 103.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HAK DAN HAK ASASI MANUSIA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yang paling banyak dipakai secara praktis karena sudah melembaga dalam instrumen internasional.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0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righ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74" y="1783080"/>
            <a:ext cx="3807012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RESPECT REMEDY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RIGHTS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dasar yang melekat, tidak dapat dicabut, dan tidak bersyarat, yang dimiliki semua manusia tanpa kecuali.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 HAK DAN KEWAJIBAN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Locke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merumuskan natural rights atas hidup, kebebasan, dan milik. Hak seseorang selalu menimbulkan kewajiban pada pihak lain.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GUIDING PRINCIPLES 2011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Negara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melindungi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bisnis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menghormati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peradilan menyediakan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pemulihan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bagi korban.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CAKUPAN YANG MENENTUKAN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wajib meredakan dampak buruk yang terkait lewat relasi bisnisnya,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sekalipun ia tidak ikut menyebabkannya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Pemasok termasuk di dalamnya.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103 sampai 107. Universal Declaration of Human Rights (1948).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KEADILAN: RAWLS DAN KONTRAK SOSIAL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Pertanyaannya bergeser dari benar atau salah menjadi susunan seperti apa yang layak disepakati bersama.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54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just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41" y="1783080"/>
            <a:ext cx="3340077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 OF IGNORANCE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Perlakuan yang adil terhadap setiap orang dalam satu situasi, sehingga semua pihak memperoleh apa yang memang menjadi haknya.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DIMENSI KEADILAN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prosedural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siapa yang berhak turut memutuskan.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distributif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 mana manfaat mengalir dan siapa menanggung bebannya.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PRINSIP JOHN RAWLS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Kebebasan dasar yang setara bagi semua, lalu ketimpangan hanya dibenarkan bila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paling menguntungkan pihak yang paling tidak diuntungkan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KONTRAK SOSIAL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Hobbes, Locke, dan Rousseau. Versi bisnisnya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Integrative Social Contracts Theory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dari Donaldson dan Dunfee, memadukan hypernorms dengan kontrak mikro komunitas.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108 sampai 113. Rawls, A Theory of Justice (1971).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EVALUASI KRITIS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KETERBATASAN TEORI MODERNIS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Keberatan ini menjadi dasar kemunculan empat teori alternatif yang dibahas berikutnya.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480000">
            <a:off x="201168" y="1536192"/>
            <a:ext cx="4526280" cy="448056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7" name="Image 1" descr="assets/cut/c-limi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10512"/>
            <a:ext cx="3952068" cy="3886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892040" y="1783080"/>
            <a:ext cx="3246120" cy="11887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93208" y="1929384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93208" y="1929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458968" y="1929384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ABSTRAKSI BERLEBIH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5093208" y="2313432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Prinsipnya beroperasi pada tataran yang jauh dari persoalan konkret yang dihadapi manajer.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8275320" y="1783080"/>
            <a:ext cx="3246120" cy="118872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76488" y="1929384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476488" y="1929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842248" y="1929384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REDUKSIONISME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476488" y="2313432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teori menonjolkan satu dimensi moralitas dan memperlakukannya sebagai keseluruhan.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892040" y="3081528"/>
            <a:ext cx="3246120" cy="11887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93208" y="3227832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93208" y="3227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5458968" y="3227832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OBJEKTIVISME ELITIS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093208" y="361188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Kebenaran moral ditentukan melalui deduksi ahli, bukan melalui pengalaman pihak yang terlibat.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8275320" y="3081528"/>
            <a:ext cx="3246120" cy="118872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476488" y="3227832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476488" y="32278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8842248" y="3227832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IMPERSONALITAS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476488" y="361188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Ikatan personal dan tanggung jawab pada pihak tertentu diposisikan sebagai pengganggu penilaian.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4892040" y="4379976"/>
            <a:ext cx="3246120" cy="11887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093208" y="4526280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093208" y="4526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458968" y="4526280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RASIONALISME TERKODIFIKASI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093208" y="4910328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perasaan, empati, dan dorongan moral diabaikan dalam perumusan penilaian etis.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8275320" y="4379976"/>
            <a:ext cx="3246120" cy="118872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8476488" y="452628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476488" y="4526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8842248" y="4526280"/>
            <a:ext cx="2459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IMPERIALISME KULTURAL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8476488" y="4910328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Pengalaman dan tradisi intelektual Barat diposisikan sebagai ukuran yang berlaku universal.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4892040" y="5687568"/>
            <a:ext cx="6793992" cy="512064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93208" y="5797296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F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 tidak menggantikan teori modernis, melainkan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menambahkan dimensi penilaian yang belum tercakup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F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karakter pelaku, relasi antarpihak, prosedur perumusan norma, dan pilihan istilah.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DAN ETHIC OF CARE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dari tindakan ke karakter pelaku dan ke relasi antarpihak yang terlibat.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00000">
            <a:off x="7936992" y="1609344"/>
            <a:ext cx="4069080" cy="4544568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7" name="Image 1" descr="assets/cut/c-v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1755648"/>
            <a:ext cx="3520440" cy="416107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3611880" cy="418795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234440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58952" y="2432304"/>
            <a:ext cx="3099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seperti apa yang layak disebut baik pada posisi ini?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758952" y="2944368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Aristoteles dalam Nicomachean Ethics, MacIntyre dalam After Virtue, dan Solomon dalam Ethics and Excellence.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758952" y="34381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758952" y="367588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lahir dari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yang dibentuk lewat pembiasaan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dari aturan. Tujuannya eudaimonia, hidup yang baik.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58952" y="426110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PENERAPAN DALAM BISNIS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" y="449884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adalah komunitas praktik, dengan keutamaan berupa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kejujuran, keadilan, kepercayaan, dan ketangguhan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" y="508406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58952" y="532180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Keutamaan selalu ditentukan komunitas tertentu, sehingga sulit dijadikan ukuran lintas budaya dan lintas industri.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389120" y="1755648"/>
            <a:ext cx="3611880" cy="418795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645152" y="1956816"/>
            <a:ext cx="365760" cy="365760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64515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5120640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645152" y="2432304"/>
            <a:ext cx="3099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terdampak?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4645152" y="2944368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 Gilligan dalam In a Different Voice dan Nel Noddings dalam Caring. Berakar pada etika feminis.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4645152" y="34381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4645152" y="367588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Manusia adalah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makhluk yang saling bergantung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terjalin dalam relasi, bukan individu rasional yang terpisah.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4645152" y="426110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TUNTUTAN NORMATIF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4645152" y="449884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Empati, keselarasan, menghindari kerugian, dan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tanggung jawab konkret pada orang tertentu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aturan seragam.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4645152" y="508406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4645152" y="532180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pada pihak terdekat berisiko mengabaikan pihak jauh, dan kriteria kepedulian sulit diaudit secara seragam.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114 sampai 121.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DAN POSTMODERN ETHICS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ke prosedur perumusan norma dan ke bahasa yang dipakai untuk membenarkannya.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360000">
            <a:off x="7936992" y="2093976"/>
            <a:ext cx="4069080" cy="356616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disc-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240280"/>
            <a:ext cx="3520440" cy="3182319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3611880" cy="418795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234440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58952" y="2432304"/>
            <a:ext cx="3099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apa yang bisa lahir dari deliberasi yang terbuka?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758952" y="2944368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Jurgen Habermas dalam Moral Consciousness and Communicative Action, bersama Karl Otto Apel.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758952" y="34381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758952" y="367588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tidak ditetapkan filsuf dari luar, melainkan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dihasilkan dialog rasional antara semua pihak terdampak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58952" y="426110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SYARAT IDEAL SPEECH SITUATION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" y="449884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pihak boleh ikut, bebas paksaan, dan argumen dinilai dari kekuatannya sendiri,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bukan dari kekuasaan pengusulnya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" y="508406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ORIENTASI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58952" y="532180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Penyelesaian konflik secara damai, bukan pembuktian satu kebenaran. Prosedur yang cacat cukup untuk membatalkan hasilnya.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389120" y="1755648"/>
            <a:ext cx="3611880" cy="418795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645152" y="1956816"/>
            <a:ext cx="365760" cy="365760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64515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5120640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645152" y="2432304"/>
            <a:ext cx="3099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4645152" y="2944368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Zygmunt Bauman dalam Postmodern Ethics, dengan latar pemikiran Derrida dan Lyotard.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4645152" y="34381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4645152" y="367588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Dorongan moral dan perasaan didahulukan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atas perhitungan rasional. Tindakan etis kerap digerakkan intuisi, bukan kalkulasi.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4645152" y="426110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TERHADAP ORGANISASI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4645152" y="449884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Prosedur, pembagian tugas, dan jarak birokratis menciptakan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jarak moral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menumpulkan dorongan itu.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4645152" y="508406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SIKAP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4645152" y="532180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Mempertanyakan bahasa dan asumsi yang telah dianggap wajar, lalu bertindak pada skala lokal tempat akibatnya dirasakan.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121 sampai 125.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SINTESIS KERANGKA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PERTANYAAN PENILAIAN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teori yang memberikan jawaban lengkap. Yang dicari pertimbangan yang paling kuat menanggung beban argumen.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80000">
            <a:off x="8851392" y="1920240"/>
            <a:ext cx="3200400" cy="38862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v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6568" y="2157984"/>
            <a:ext cx="2651760" cy="3390399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406908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55648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55648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18288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08483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semua pihak bebas mengejar kepentingan jangka panjangnya, dan sudahkah biaya tertunda dihitung?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02920" y="2615184"/>
            <a:ext cx="406908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02920" y="2615184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2920" y="2615184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268833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29443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 seluruh akibat diagregasi, apakah hasilnya positif, dan apakah act dan rule sejalan?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3474720"/>
            <a:ext cx="406908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3474720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2920" y="3474720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54787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60120" y="3803904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Dapatkah maksim tindakan ini diuniversalkan, dan adakah pihak yang diperlakukan sekadar sarana?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02920" y="4334256"/>
            <a:ext cx="406908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02920" y="4334256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02920" y="4334256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960120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466344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siapa yang terpenuhi, hak siapa yang terlanggar, dan sampai mana relasi bisnisnya menjangkau?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502920" y="5193792"/>
            <a:ext cx="406908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02920" y="5193792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02920" y="5193792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60120" y="5266944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60120" y="5522976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Susunan apa yang akan dipilih orang yang belum tahu posisi yang akan ditempatinya?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4828032" y="1755648"/>
            <a:ext cx="406908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828032" y="1755648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28032" y="1755648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5285232" y="182880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5285232" y="2084832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pelaku berkarakter baik bertindak di posisi ini, dan diukur terhadap standar yang mana?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4828032" y="2615184"/>
            <a:ext cx="406908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828032" y="2615184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828032" y="2615184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285232" y="2688336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5285232" y="29443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terdampak, bukan sekadar mengganti kerugiannya?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4828032" y="3474720"/>
            <a:ext cx="406908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4828032" y="3474720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4828032" y="3474720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5285232" y="354787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5285232" y="3803904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ketika norma dan izinnya dirumuskan?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4828032" y="4334256"/>
            <a:ext cx="406908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828032" y="4334256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828032" y="4334256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51" name="Text 47"/>
          <p:cNvSpPr txBox="1"/>
          <p:nvPr/>
        </p:nvSpPr>
        <p:spPr>
          <a:xfrm>
            <a:off x="5285232" y="4407408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5285232" y="466344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istilah yang dipakai menamai kebijakan ini?</a:t>
            </a:r>
            <a:endParaRPr lang="en-US" sz="950" dirty="0"/>
          </a:p>
        </p:txBody>
      </p:sp>
      <p:sp>
        <p:nvSpPr>
          <p:cNvPr id="53" name="Shape 49"/>
          <p:cNvSpPr/>
          <p:nvPr/>
        </p:nvSpPr>
        <p:spPr>
          <a:xfrm>
            <a:off x="4828032" y="5193792"/>
            <a:ext cx="4069080" cy="768096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029200" y="5340096"/>
            <a:ext cx="3666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pluralis Bab 3 menghasilkan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 atas rangkaian fakta yang identik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untuk kemudian dilihat arah konvergensinya.</a:t>
            </a:r>
            <a:endParaRPr lang="en-US" sz="1000" dirty="0"/>
          </a:p>
        </p:txBody>
      </p:sp>
      <p:sp>
        <p:nvSpPr>
          <p:cNvPr id="55" name="Shape 51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   |   STUDI KASUS INDONESIA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HILIRISASI NIKEL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instrumen regulasi yang mengubah struktur industri nikel nasional.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420000">
            <a:off x="7132320" y="1481328"/>
            <a:ext cx="4709160" cy="41605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nic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755648"/>
            <a:ext cx="4279392" cy="359975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Tahun 2019 melarang ekspor bijih nikel, berlaku efektif 1 Januari 2020.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788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788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788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246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MEKANISME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3246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Bijih wajib diolah di dalam negeri dan kepemilikan smelter menjadi syarat masuk kawasan industri.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74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74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74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532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SENGKETA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5532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memutus kebijakan ini melanggar aturan perdagangan pada November 2022.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36758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8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KRONOLOGI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92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492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pertama, lalu direlaksasi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1874520" y="3968496"/>
            <a:ext cx="1234440" cy="93268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0208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20208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terbit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32461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3924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33924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berlaku efektif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617720" y="3968496"/>
            <a:ext cx="1234440" cy="93268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7640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47640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memenangkan Uni Eropa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59893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1356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61356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Ekspor olahan 40 miliar dolar</a:t>
            </a:r>
            <a:endParaRPr lang="en-US" sz="750" dirty="0"/>
          </a:p>
        </p:txBody>
      </p:sp>
      <p:sp>
        <p:nvSpPr>
          <p:cNvPr id="39" name="Shape 35"/>
          <p:cNvSpPr/>
          <p:nvPr/>
        </p:nvSpPr>
        <p:spPr>
          <a:xfrm>
            <a:off x="502920" y="5084064"/>
            <a:ext cx="6647688" cy="78638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40664" y="5212080"/>
            <a:ext cx="6172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Manfaatnya besar, terukur, dan terkonsentrasi, sedangkan bebannya tersebar, tertunda, dan sulit dikuantifikasi. Persoalan dengan struktur demikian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dapat diselesaikan melalui kriteria penilaian tunggal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ditelusuri Agustus 2026 dari pengelola kawasan IMIP dan IWIP, Badan Pusat Statistik, dan dokumen putusan panel WTO.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FAKTA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Kedua kolom bersandar pada data resmi yang sama sahnya. Yang disengketakan kriteria penilaiannya.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5432908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55868" y="1755648"/>
            <a:ext cx="5432908" cy="4160520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58952" y="1938528"/>
            <a:ext cx="324612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" y="193852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PENDUKUNG   HILIRISASI BERDAULAT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511900" y="1938528"/>
            <a:ext cx="352044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1900" y="193852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PENENTANG   EKSTRAKSI BERBIAYA SOSIAL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600000">
            <a:off x="3447288" y="3063240"/>
            <a:ext cx="2560320" cy="27889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13" name="Image 1" descr="assets/cut/c-nar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246120"/>
            <a:ext cx="2194560" cy="25233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58952" y="2331720"/>
            <a:ext cx="49208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miliar dolar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58952" y="2624328"/>
            <a:ext cx="49208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ekspor produk nikel olahan pada 2025, naik dari 3 miliar dolar pada 2020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" y="30815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41,5 miliar dolar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" y="337413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Investasi terkumpul di kawasan IMIP Morowali sampai Desember 2025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758952" y="38313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 ribu pekerja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58952" y="41239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Terserap di IMIP dan IWIP, dari 35.952 orang pada 2020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758952" y="4581144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Pemasok terbesar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" y="4873752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menjadi simpul utama rantai pasok baterai dunia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 rot="600000">
            <a:off x="9200236" y="3063240"/>
            <a:ext cx="2560320" cy="27889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3" name="Image 2" descr="assets/cut/c-narr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108" y="3246120"/>
            <a:ext cx="2194560" cy="24932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511900" y="2331720"/>
            <a:ext cx="49208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sampai 3,6 juta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6511900" y="2624328"/>
            <a:ext cx="49208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pokok per bulan, di bawah upah minimum Morowali 2025 sebesar 3,7 juta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6511900" y="30815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pekerja meninggal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6511900" y="337413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Beserta 155 pekerja luka pada 104 kecelakaan smelter sepanjang 2019 sampai 2025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6511900" y="38313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 ribu hektare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6511900" y="41239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Tutupan pohon hilang di Halmahera, industri nikel memegang 76 persen PLTU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6511900" y="4581144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4,35 persen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6511900" y="4873752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tambah yang tinggal di Morowali, kemiskinannya 12,58 persen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yang tidak masuk neraca ekspor: sungai Ake Jira tidak lagi layak dipakai warga, dan 40 persen wilayah adat O Hongana Manyawa sudah berizin tambang.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PENERAPAN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berbasis akibat dan berbasis prinsip menghasilkan kesimpulan yang tidak seragam.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600000">
            <a:off x="8641080" y="2148840"/>
            <a:ext cx="3383280" cy="35204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7" name="Image 1" descr="assets/cut/c-disc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7968" y="2450592"/>
            <a:ext cx="2880360" cy="286879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37360"/>
            <a:ext cx="8183880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37360"/>
            <a:ext cx="310896" cy="822960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37360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18105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960120" y="2139696"/>
            <a:ext cx="1572768" cy="274320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21396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184708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horizon pendek jelas melayani kepentingan Indonesia. Pada horizon panjang, biaya kesehatan warga, pemulihan sungai, dan pensiun dini pembangkit batu bara belum diinternalisasi.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diri yang dihitung cermat justru menuntut biaya tertunda itu masuk sejak awal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2920" y="2615184"/>
            <a:ext cx="8183880" cy="82296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02920" y="2615184"/>
            <a:ext cx="310896" cy="82296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2615184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268833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960120" y="3017520"/>
            <a:ext cx="1572768" cy="27432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60120" y="301752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2743200" y="2724912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 cenderung mendukung, sebab manfaat 166 ribu lapangan kerja nyata dan terukur sedangkan kerugiannya tersebar.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 menolak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bila setiap negara pemilik cadangan menempuh pengolahan bertenaga batu bara, tambahan emisinya membatalkan manfaat transisi energi yang justru menjadi pembenarnya.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02920" y="3493008"/>
            <a:ext cx="8183880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3493008"/>
            <a:ext cx="310896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2920" y="3493008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60120" y="35661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960120" y="3895344"/>
            <a:ext cx="157276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60120" y="3895344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2743200" y="3602736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Maksimnya berbunyi: pengolahan boleh dipercepat sambil menunda standar upah, keselamatan, dan lingkungan. Diuniversalkan, standar itu kehilangan daya ikat. Formulasi kedua juga gagal, sebab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di bawah minimum dan lembur sampai 13 jam menjadikan pekerja sarana semata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502920" y="4370832"/>
            <a:ext cx="8183880" cy="82296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02920" y="4370832"/>
            <a:ext cx="310896" cy="82296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02920" y="4370832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960120" y="4443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960120" y="4773168"/>
            <a:ext cx="1572768" cy="27432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960120" y="4773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2743200" y="448056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atas pekerjaan terpenuhi bagi 166 ribu pekerja, dan sampai titik itu kebijakan ini dapat dipertahankan. Namun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hak atas kondisi kerja yang adil, kesehatan, air bersih, dan tanah leluhur terlanggar bersamaan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UNGP menuntut penghormatan pada seluruh relasi bisnis.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02920" y="5248656"/>
            <a:ext cx="8183880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02920" y="5248656"/>
            <a:ext cx="310896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02920" y="5248656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960120" y="532180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960120" y="5650992"/>
            <a:ext cx="157276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960120" y="56509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358384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mengalir ke penerimaan nasional dan pemodal, sedangkan beban terkonsentrasi pada pekerja kawasan, warga hilir sungai, dan masyarakat adat.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justru lebih miskin daripada rata-rata provinsinya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hanya 4,35 persen nilai tambah tinggal di daerah.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teori dalam klasifikasi yang sama menghasilkan kesimpulan berbeda, dan pembedanya terletak pada unit analisis: tindakan tunggal atau kelas tindakan.</a:t>
            </a:r>
            <a:endParaRPr lang="en-US" sz="850" dirty="0"/>
          </a:p>
        </p:txBody>
      </p:sp>
      <p:sp>
        <p:nvSpPr>
          <p:cNvPr id="44" name="Shape 40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PENERAPAN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bergeser ke karakter pelaku, relasi, prosedur, dan bahasa, tanpa mengubah rangkaian faktanya.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432908" cy="2084832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0664" y="1938528"/>
            <a:ext cx="347472" cy="34747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0664" y="1938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79576" y="193852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061308" y="1975104"/>
            <a:ext cx="1645920" cy="27432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61308" y="19751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740664" y="2377440"/>
            <a:ext cx="4957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 pembanding mana yang seharusnya dipakai?</a:t>
            </a:r>
            <a:endParaRPr lang="en-US" sz="1150" dirty="0"/>
          </a:p>
        </p:txBody>
      </p:sp>
      <p:pic>
        <p:nvPicPr>
          <p:cNvPr id="13" name="Image 1" descr="assets/cut/d-head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433" y="2761488"/>
            <a:ext cx="765938" cy="9601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0664" y="2724912"/>
            <a:ext cx="410004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Pembandingnya selama ini adalah keadaan sebelum hilirisasi, bukan standar industri terbaik yang tersedia hari ini. </a:t>
            </a:r>
            <a:pPr indent="0" marL="0">
              <a:lnSpc>
                <a:spcPct val="11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Aktor berkarakter baik mengukur diri pada standar tertinggi yang dapat dicapai</a:t>
            </a:r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255868" y="1737360"/>
            <a:ext cx="5432908" cy="2084832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93612" y="1938528"/>
            <a:ext cx="347472" cy="34747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93612" y="1938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932524" y="193852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9814255" y="1975104"/>
            <a:ext cx="1645920" cy="2743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814255" y="19751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493612" y="2377440"/>
            <a:ext cx="4957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Sejauh mana relasi dengan pihak terdampak dipelihara?</a:t>
            </a:r>
            <a:endParaRPr lang="en-US" sz="1150" dirty="0"/>
          </a:p>
        </p:txBody>
      </p:sp>
      <p:pic>
        <p:nvPicPr>
          <p:cNvPr id="22" name="Image 2" descr="assets/cut/d-head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4399" y="2761488"/>
            <a:ext cx="744921" cy="9601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493612" y="2724912"/>
            <a:ext cx="41210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hilir sungai dan sekitar 300 sampai 500 jiwa O Hongana Manyawa adalah </a:t>
            </a:r>
            <a:pPr indent="0" marL="0">
              <a:lnSpc>
                <a:spcPct val="11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00761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pihak yang berelasi, bukan variabel biaya</a:t>
            </a:r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Yang dituntut pemulihan sungai dan wilayah lindung, bukan penghentian mendadak.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502920" y="3950208"/>
            <a:ext cx="5432908" cy="2084832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0664" y="4151376"/>
            <a:ext cx="347472" cy="34747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40664" y="4151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1179576" y="415137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4061308" y="4187952"/>
            <a:ext cx="1645920" cy="27432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061308" y="4187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850" dirty="0"/>
          </a:p>
        </p:txBody>
      </p:sp>
      <p:sp>
        <p:nvSpPr>
          <p:cNvPr id="30" name="Text 25"/>
          <p:cNvSpPr txBox="1"/>
          <p:nvPr/>
        </p:nvSpPr>
        <p:spPr>
          <a:xfrm>
            <a:off x="740664" y="4590288"/>
            <a:ext cx="4957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dalam perumusan?</a:t>
            </a:r>
            <a:endParaRPr lang="en-US" sz="1150" dirty="0"/>
          </a:p>
        </p:txBody>
      </p:sp>
      <p:pic>
        <p:nvPicPr>
          <p:cNvPr id="31" name="Image 3" descr="assets/cut/d-head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09" y="4974336"/>
            <a:ext cx="665462" cy="96012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740664" y="4937760"/>
            <a:ext cx="4200517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bukan pihak dalam perumusan kebijakan maupun perizinan kawasan. Syarat keterlibatan setara tidak terpenuhi, dan </a:t>
            </a:r>
            <a:pPr indent="0" marL="0">
              <a:lnSpc>
                <a:spcPct val="11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cacat prosedur sudah cukup untuk membatalkan keabsahan hasilnya</a:t>
            </a:r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6255868" y="3950208"/>
            <a:ext cx="5432908" cy="2084832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493612" y="4151376"/>
            <a:ext cx="347472" cy="34747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493612" y="4151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6932524" y="415137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500" dirty="0"/>
          </a:p>
        </p:txBody>
      </p:sp>
      <p:sp>
        <p:nvSpPr>
          <p:cNvPr id="37" name="Shape 31"/>
          <p:cNvSpPr/>
          <p:nvPr/>
        </p:nvSpPr>
        <p:spPr>
          <a:xfrm>
            <a:off x="9814255" y="4187952"/>
            <a:ext cx="1645920" cy="274320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9814255" y="4187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850" dirty="0"/>
          </a:p>
        </p:txBody>
      </p:sp>
      <p:sp>
        <p:nvSpPr>
          <p:cNvPr id="39" name="Text 33"/>
          <p:cNvSpPr txBox="1"/>
          <p:nvPr/>
        </p:nvSpPr>
        <p:spPr>
          <a:xfrm>
            <a:off x="6493612" y="4590288"/>
            <a:ext cx="4957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150" dirty="0"/>
          </a:p>
        </p:txBody>
      </p:sp>
      <p:pic>
        <p:nvPicPr>
          <p:cNvPr id="40" name="Image 4" descr="assets/cut/d-head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9229" y="4974336"/>
            <a:ext cx="720090" cy="96012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6493612" y="4937760"/>
            <a:ext cx="41458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berkonotasi kemajuan, ekstraksi berkonotasi pengurasan, dan keduanya menamai peristiwa yang sama. </a:t>
            </a:r>
            <a:pPr indent="0" marL="0">
              <a:lnSpc>
                <a:spcPct val="113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Istilah nikel hijau dipakai bagi pengolahan yang listriknya bertumpu pada batu bara</a:t>
            </a:r>
            <a:pPr indent="0" marL="0">
              <a:lnSpc>
                <a:spcPct val="113000"/>
              </a:lnSpc>
              <a:buNone/>
            </a:pPr>
            <a:r>
              <a:rPr lang="en-US" sz="105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42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Keempat teori ini menyoroti dimensi yang luput dari lima teori sebelumnya: pembanding, relasi, keterwakilan, dan pilihan istilah.</a:t>
            </a:r>
            <a:endParaRPr lang="en-US" sz="850" dirty="0"/>
          </a:p>
        </p:txBody>
      </p:sp>
      <p:sp>
        <p:nvSpPr>
          <p:cNvPr id="43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 SINTESIS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satu pun dari sembilan teori memberikan dukungan tanpa syarat.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80000">
            <a:off x="9308592" y="1719072"/>
            <a:ext cx="2697480" cy="38862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spe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1938528"/>
            <a:ext cx="2212848" cy="341985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37360"/>
            <a:ext cx="4206240" cy="422452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22376" y="1883664"/>
            <a:ext cx="2240280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2376" y="188366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22376" y="2304288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2376" y="23042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1033272" y="22860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286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22376" y="2642616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26426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33272" y="26243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2743200" y="26243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22376" y="2980944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29809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" y="296265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2743200" y="29626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22376" y="3319272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2376" y="3319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1033272" y="33009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50" dirty="0"/>
          </a:p>
        </p:txBody>
      </p:sp>
      <p:sp>
        <p:nvSpPr>
          <p:cNvPr id="26" name="Text 22"/>
          <p:cNvSpPr txBox="1"/>
          <p:nvPr/>
        </p:nvSpPr>
        <p:spPr>
          <a:xfrm>
            <a:off x="2743200" y="33009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22376" y="3657600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22376" y="36576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1033272" y="36393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150" dirty="0"/>
          </a:p>
        </p:txBody>
      </p:sp>
      <p:sp>
        <p:nvSpPr>
          <p:cNvPr id="30" name="Text 26"/>
          <p:cNvSpPr txBox="1"/>
          <p:nvPr/>
        </p:nvSpPr>
        <p:spPr>
          <a:xfrm>
            <a:off x="2743200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22376" y="3995928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22376" y="3995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1033272" y="39776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150" dirty="0"/>
          </a:p>
        </p:txBody>
      </p:sp>
      <p:sp>
        <p:nvSpPr>
          <p:cNvPr id="34" name="Text 30"/>
          <p:cNvSpPr txBox="1"/>
          <p:nvPr/>
        </p:nvSpPr>
        <p:spPr>
          <a:xfrm>
            <a:off x="2743200" y="3977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722376" y="4334256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22376" y="4334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1033272" y="43159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150" dirty="0"/>
          </a:p>
        </p:txBody>
      </p:sp>
      <p:sp>
        <p:nvSpPr>
          <p:cNvPr id="38" name="Text 34"/>
          <p:cNvSpPr txBox="1"/>
          <p:nvPr/>
        </p:nvSpPr>
        <p:spPr>
          <a:xfrm>
            <a:off x="2743200" y="43159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722376" y="4672584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22376" y="46725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1033272" y="465429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15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46542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1100" dirty="0"/>
          </a:p>
        </p:txBody>
      </p:sp>
      <p:sp>
        <p:nvSpPr>
          <p:cNvPr id="43" name="Shape 39"/>
          <p:cNvSpPr/>
          <p:nvPr/>
        </p:nvSpPr>
        <p:spPr>
          <a:xfrm>
            <a:off x="722376" y="5010912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722376" y="50109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1033272" y="49926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2743200" y="499262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722376" y="5413248"/>
            <a:ext cx="3767328" cy="43891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868680" y="5413248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menolak, satu bersyarat, satu ambivalen, dan satu netral karena mengakui keterbatasan teorinya.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5029200" y="1883664"/>
            <a:ext cx="4206240" cy="27432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029200" y="1883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PROPOSISI DARI KESEMBILAN TEORI</a:t>
            </a:r>
            <a:endParaRPr lang="en-US" sz="950" dirty="0"/>
          </a:p>
        </p:txBody>
      </p:sp>
      <p:sp>
        <p:nvSpPr>
          <p:cNvPr id="51" name="Shape 47"/>
          <p:cNvSpPr/>
          <p:nvPr/>
        </p:nvSpPr>
        <p:spPr>
          <a:xfrm>
            <a:off x="5029200" y="2286000"/>
            <a:ext cx="4206240" cy="87782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5029200" y="2286000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029200" y="2286000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4" name="Text 50"/>
          <p:cNvSpPr txBox="1"/>
          <p:nvPr/>
        </p:nvSpPr>
        <p:spPr>
          <a:xfrm>
            <a:off x="5449824" y="23591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MASA LALU TIDAK NORMATIF</a:t>
            </a:r>
            <a:endParaRPr lang="en-US" sz="1150" dirty="0"/>
          </a:p>
        </p:txBody>
      </p:sp>
      <p:sp>
        <p:nvSpPr>
          <p:cNvPr id="55" name="Text 51"/>
          <p:cNvSpPr txBox="1"/>
          <p:nvPr/>
        </p:nvSpPr>
        <p:spPr>
          <a:xfrm>
            <a:off x="5449824" y="2615184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Kondisi yang lebih baik daripada ekspor bijih mentah tidak dengan sendirinya memadai.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menuntut pembanding pada standar tertinggi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50" dirty="0"/>
          </a:p>
        </p:txBody>
      </p:sp>
      <p:sp>
        <p:nvSpPr>
          <p:cNvPr id="56" name="Shape 52"/>
          <p:cNvSpPr/>
          <p:nvPr/>
        </p:nvSpPr>
        <p:spPr>
          <a:xfrm>
            <a:off x="5029200" y="3236976"/>
            <a:ext cx="4206240" cy="877824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5029200" y="3236976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5029200" y="3236976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59" name="Text 55"/>
          <p:cNvSpPr txBox="1"/>
          <p:nvPr/>
        </p:nvSpPr>
        <p:spPr>
          <a:xfrm>
            <a:off x="5449824" y="331012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HIJAU GUGUR PADA SUMBER ENERGI</a:t>
            </a:r>
            <a:endParaRPr lang="en-US" sz="1150" dirty="0"/>
          </a:p>
        </p:txBody>
      </p:sp>
      <p:sp>
        <p:nvSpPr>
          <p:cNvPr id="60" name="Text 56"/>
          <p:cNvSpPr txBox="1"/>
          <p:nvPr/>
        </p:nvSpPr>
        <p:spPr>
          <a:xfrm>
            <a:off x="5449824" y="3566160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Pengolahan yang bertumpu pada pembangkit batu bara di dalam kawasan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tidak dapat disebut hijau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Postmodern ethics membacanya sebagai alat pembenar.</a:t>
            </a:r>
            <a:endParaRPr lang="en-US" sz="950" dirty="0"/>
          </a:p>
        </p:txBody>
      </p:sp>
      <p:sp>
        <p:nvSpPr>
          <p:cNvPr id="61" name="Shape 57"/>
          <p:cNvSpPr/>
          <p:nvPr/>
        </p:nvSpPr>
        <p:spPr>
          <a:xfrm>
            <a:off x="5029200" y="4187952"/>
            <a:ext cx="4206240" cy="87782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5029200" y="4187952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029200" y="4187952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0"/>
          <p:cNvSpPr txBox="1"/>
          <p:nvPr/>
        </p:nvSpPr>
        <p:spPr>
          <a:xfrm>
            <a:off x="5449824" y="42611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DISTRIBUSI MANFAAT DAN BEBAN TIMPANG</a:t>
            </a:r>
            <a:endParaRPr lang="en-US" sz="1150" dirty="0"/>
          </a:p>
        </p:txBody>
      </p:sp>
      <p:sp>
        <p:nvSpPr>
          <p:cNvPr id="65" name="Text 61"/>
          <p:cNvSpPr txBox="1"/>
          <p:nvPr/>
        </p:nvSpPr>
        <p:spPr>
          <a:xfrm>
            <a:off x="5449824" y="4517136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4,35 persen nilai tambah tinggal di daerah, sementara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lebih miskin daripada rata-rata provinsinya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Rawls menolaknya.</a:t>
            </a:r>
            <a:endParaRPr lang="en-US" sz="950" dirty="0"/>
          </a:p>
        </p:txBody>
      </p:sp>
      <p:sp>
        <p:nvSpPr>
          <p:cNvPr id="66" name="Shape 62"/>
          <p:cNvSpPr/>
          <p:nvPr/>
        </p:nvSpPr>
        <p:spPr>
          <a:xfrm>
            <a:off x="5029200" y="5138928"/>
            <a:ext cx="4206240" cy="877824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5029200" y="5138928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5029200" y="5138928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5449824" y="52120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PROSESNYA CACAT SEJAK PERUMUSAN</a:t>
            </a:r>
            <a:endParaRPr lang="en-US" sz="1150" dirty="0"/>
          </a:p>
        </p:txBody>
      </p:sp>
      <p:sp>
        <p:nvSpPr>
          <p:cNvPr id="70" name="Text 66"/>
          <p:cNvSpPr txBox="1"/>
          <p:nvPr/>
        </p:nvSpPr>
        <p:spPr>
          <a:xfrm>
            <a:off x="5449824" y="5468112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tidak menjadi pihak dalam perizinan dan perencanaan kawasan. Discourse ethics membatalkan hasil dari proses semacam itu.</a:t>
            </a:r>
            <a:endParaRPr lang="en-US" sz="95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Penolakan atas klaim nikel hijau tidak setara dengan penolakan atas hilirisasi. Keduanya persoalan yang terpisah.</a:t>
            </a:r>
            <a:endParaRPr lang="en-US" sz="850" dirty="0"/>
          </a:p>
        </p:txBody>
      </p:sp>
      <p:sp>
        <p:nvSpPr>
          <p:cNvPr id="72" name="Shape 6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temuan dari pengujian, diikuti tiga tindak lanjut yang dapat dijalankan manajemen.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600000">
            <a:off x="7452360" y="1600200"/>
            <a:ext cx="4114800" cy="45262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spec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1783080"/>
            <a:ext cx="263240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85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KONVERGENSI, BUKAN KESEPAKATAN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teori berangkat dari premis berbeda, namun mayoritasnya bermuara pada arah yang sama.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Inilah bukti terkuat pluralisme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2788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971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971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971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ETIS YANG GUGUR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971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gugur bukan kebijakan hilirisasinya, melainkan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bahwa kebijakan ini sudah etis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Upah, keselamatan, lingkungan, dan sumber energinya tetap terbuka diperbaiki.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74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257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KASUS YANG MASIH BERLANGSUNG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257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Kebijakannya masih berjalan, sengketa dagangnya belum tuntas, dan angkanya berubah tiap tahun. Kasus yang belum selesai justru paling layak didiskusikan.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40416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8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MANAJERIAL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INTERNALISASI BIAYA TERTUNDA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685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kesehatan warga, pemulihan sungai, dan pensiun dini pembangkit masuk neraca sejak perencanaan.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2788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PELIBATAN PIHAK YANG ABSEN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2971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Pekerja, warga hilir, dan masyarakat adat diberi keterwakilan formal dalam panitia keselamatan dan perizinan.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5074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257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PENGUJIAN MULTITEORI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5257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yang lolos utilitarianism kerap gugur pada keadilan distributif dan discourse ethics.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502920" y="5705856"/>
            <a:ext cx="6647688" cy="56692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22376" y="5705856"/>
            <a:ext cx="6208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yang terukur selalu lebih mudah dipertahankan daripada beban yang tersebar. Justru karena itu beban yang tersebar perlu dihitung lebih dahulu.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60000">
            <a:off x="5577840" y="640080"/>
            <a:ext cx="6309360" cy="55778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720000">
            <a:off x="685800" y="1051560"/>
            <a:ext cx="1325880" cy="132588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rot="-480000">
            <a:off x="1234440" y="5257800"/>
            <a:ext cx="960120" cy="960120"/>
          </a:xfrm>
          <a:prstGeom prst="star24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6" name="Image 1" descr="assets/cut/c-than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989320" cy="37185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377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88336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</a:t>
            </a:r>
            <a:endParaRPr lang="en-US" sz="6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58444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KASIH</a:t>
            </a:r>
            <a:endParaRPr lang="en-US" sz="6200" dirty="0"/>
          </a:p>
        </p:txBody>
      </p:sp>
      <p:sp>
        <p:nvSpPr>
          <p:cNvPr id="10" name="Shape 6"/>
          <p:cNvSpPr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Business Ethics: Normative Ethical Theories</dc:title>
  <dc:subject>PptxGenJS Presentation</dc:subject>
  <dc:creator>Aslih Abnuri, Arfinal Diputra, Rohana Dwi Hardianti</dc:creator>
  <cp:lastModifiedBy>Aslih Abnuri, Arfinal Diputra, Rohana Dwi Hardianti</cp:lastModifiedBy>
  <cp:revision>1</cp:revision>
  <dcterms:created xsi:type="dcterms:W3CDTF">2026-08-26T17:10:21Z</dcterms:created>
  <dcterms:modified xsi:type="dcterms:W3CDTF">2026-08-26T17:10:21Z</dcterms:modified>
</cp:coreProperties>
</file>