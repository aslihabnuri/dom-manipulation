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1 menit. Bab 3 memberi sembilan kriteria penilaian, lalu kita pakai pada kasus nyata yang belum selesai. Alokasi 30 menit: 17 menit teori, 11 menit kasus, 2 menit 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detik. Urutannya sengaja: kalau kasus dibahas lebih dulu, diskusi berhenti di adu data. Teori memberi alat menilai data yang sama secara berbeda.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tidak menggantikan intuisi, ia merapikannya. Pemantik: beda antara mengatakan praktik di negara lain itu berbeda dan mengatakan praktik itu salah.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Pemantik: suap. Absolutis bilang selalu salah, relativis bilang tergantung negaranya, pluralis bertanya kriteria mana yang paling kuat menanggung beban argumen.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1,5 menit. Peta jalan sisa presentasi. Minta kelas mengingat nomor urutnya, matriks di bagian kasus memakai nomor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buru-buru menolak egoisme. Versi jangka panjangnya justru memberi kritik paling tajam pada kasus nikel. Enlightened egoism: perusahaan menyokong lingkungan sosial karena itu menguntungkan dirinya 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Titik terpenting: act dan rule bisa menghasilkan kesimpulan berlawanan atas fakta yang sama. Tanam di sini, karena itu yang terjadi pada kasus nikel.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Cara cepat memakai Kant: sebutkan maksim tindakannya dalam satu kalimat, lalu universalkan. Kalau maksimnya membatalkan dirinya sendiri, tindakan itu gagal.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Teori yang paling siap dipakai auditor dan investor. Tekankan cakupan relasi bisnis, itu yang menghubungkan pembeli kendaraan listrik di Eropa dengan Halmahera.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Veil of ignorance paling mudah dipakai. Latihan: bila Anda tidak tahu akan lahir sebagai pemegang saham atau warga hilir sungai, kebijakan mana yang Anda pilih?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Slide transisi. Keberatan nomor 3 sampai 5 paling menentukan bagi kasus nikel, karena warga terdampak tidak pernah jadi pihak dalam perumusan.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Virtue ethics sering disalahpahami sebagai imbauan moral. Tekankan pertanyaan pembandingnya: dibandingkan dengan apa kita menyebut sesuatu sudah cukup baik?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Discourse ethics menilai proses, jadi ia bisa membatalkan kebijakan yang hasilnya bagus sekalipun. Postmodern ethics menilai bahasa, dan itu yang membongkar istilah nikel hijau.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menit. Minta kelas memotret slide ini. Selama bagian kasus mereka bisa menandai sendiri jawaban tiap pertanyaan sebelum kita 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Kebijakannya masih berjalan dan sengketa dagangnya belum tuntas. Kasus yang belum selesai justru paling layak didiskusikan di kelas.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Jangan berdebat soal angka. Tegaskan kedua kolom benar. Justru itu yang membuat kasus ini butuh sembilan kriteria, bukan satu.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menit. Bagian terpenting: utilitarianism terbelah. Perbedaan act dan rule bukan detail teknis, melainkan yang menentukan putusan.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Ethic of care tidak menolak kebijakan, ia menuntut pemulihan. Contoh bagus bahwa pluralisme bukan berarti semua teori berkata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2,5 menit. Inti kontribusi analisis. Tekankan proposisi keempat: yang gugur adalah klaim etisnya, bukan kebijakan hilirisasinya.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menit. Sampaikan ketiga temuan, lalu ketiga tindak lanjutnya, dan tutup dengan kalimat penutup di bawah.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penutup. Buka forum tanya jawab. Tidak perlu alokasi waktu tersendiri.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480000">
            <a:off x="5440680" y="411480"/>
            <a:ext cx="6720840" cy="52120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4" name="Image 1" descr="assets/cut/c-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005840"/>
            <a:ext cx="6537960" cy="372415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2920" y="78638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100" dirty="0"/>
          </a:p>
        </p:txBody>
      </p:sp>
      <p:sp>
        <p:nvSpPr>
          <p:cNvPr id="6" name="Text 2"/>
          <p:cNvSpPr txBox="1"/>
          <p:nvPr/>
        </p:nvSpPr>
        <p:spPr>
          <a:xfrm>
            <a:off x="502920" y="109728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EVALUATING</a:t>
            </a:r>
            <a:endParaRPr lang="en-US" sz="46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828800"/>
            <a:ext cx="5486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</a:t>
            </a:r>
            <a:endParaRPr lang="en-US" sz="4600" dirty="0"/>
          </a:p>
        </p:txBody>
      </p:sp>
      <p:sp>
        <p:nvSpPr>
          <p:cNvPr id="8" name="Shape 4"/>
          <p:cNvSpPr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02920" y="2706624"/>
            <a:ext cx="47091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NORMATIVE ETHICAL THEORIES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 rot="-120000">
            <a:off x="502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DISUSUN OLEH</a:t>
            </a:r>
            <a:endParaRPr lang="en-US" sz="9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0965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Aslih Abnuri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25/574338/PEK/31801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4622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Arfinal Diputra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25/574664/PEK/31914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48280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Rohana Dwi Hardianti   </a:t>
            </a:r>
            <a:pPr indent="0" marL="0">
              <a:buNone/>
            </a:pPr>
            <a:r>
              <a:rPr lang="en-US" sz="10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25/574077/PEK/31728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48640" y="528523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rot="840000">
            <a:off x="4864608" y="5504688"/>
            <a:ext cx="1005840" cy="100584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54498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Crane, A., Matten, D., Glozer, S., dan Spence, L. (2019). Business Ethics: Managing Corporate Citizenship and Sustainability in the Age of Globalization. Edisi kelima. Oxford University Press, Bab 3.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 BAHASAN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SISTEMATIKA PEMBAHASAN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teoretis dibangun lebih dahulu agar analisis kasus memiliki dasar penilaian yang eksplisit.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 rot="-120000">
            <a:off x="502920" y="188366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SATU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432304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KERANGKA PENILAIAN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2920" y="2834640"/>
            <a:ext cx="43434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0292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78408" y="30540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teori etika normatif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78408" y="35295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78408" y="40050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78408" y="44805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Lima teori modernis Barat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978408" y="49560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 modernis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978408" y="543153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teori alternatif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 rot="120000">
            <a:off x="6720840" y="1883664"/>
            <a:ext cx="1645920" cy="36576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 rot="120000">
            <a:off x="6720840" y="188366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4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6720840" y="2432304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NIKEL INDONESIA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720840" y="2834640"/>
            <a:ext cx="4754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20840" y="305409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196328" y="30540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dan sengketanya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6720840" y="3529584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7196328" y="352958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1150" dirty="0"/>
          </a:p>
        </p:txBody>
      </p:sp>
      <p:sp>
        <p:nvSpPr>
          <p:cNvPr id="31" name="Text 28"/>
          <p:cNvSpPr txBox="1"/>
          <p:nvPr/>
        </p:nvSpPr>
        <p:spPr>
          <a:xfrm>
            <a:off x="6720840" y="4005072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196328" y="4005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1150" dirty="0"/>
          </a:p>
        </p:txBody>
      </p:sp>
      <p:sp>
        <p:nvSpPr>
          <p:cNvPr id="33" name="Text 30"/>
          <p:cNvSpPr txBox="1"/>
          <p:nvPr/>
        </p:nvSpPr>
        <p:spPr>
          <a:xfrm>
            <a:off x="6720840" y="4480560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7196328" y="44805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6720840" y="4956048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196328" y="495604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6720840" y="5431536"/>
            <a:ext cx="402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3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7196328" y="543153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1150" dirty="0"/>
          </a:p>
        </p:txBody>
      </p:sp>
      <p:pic>
        <p:nvPicPr>
          <p:cNvPr id="39" name="Image 1" descr="assets/cut/a2-poi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18688"/>
            <a:ext cx="1664208" cy="1376961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18028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PERAN TEORI ETIKA NORMATIF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MENGAPA TEORI NORMATIF DIPERLUKAN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Dalam ranah personal intuisi memadai. Dalam konteks bisnis, penilaian etis harus dapat dipertahankan di hadapan pemangku kepentingan.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60000">
            <a:off x="201168" y="2788920"/>
            <a:ext cx="3611880" cy="33832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accent-megaph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18688"/>
            <a:ext cx="2880360" cy="25145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80000">
            <a:off x="530352" y="2395728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SEKADAR FIRASAT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297680" y="189738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517136" y="1847088"/>
            <a:ext cx="2980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DEFINISI KONSEP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4297680" y="2139696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normatif adalah aturan, pedoman, prinsip, dan pendekatan yang menentukan benar dan salah.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297680" y="2889504"/>
            <a:ext cx="7223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(2019: 87)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297680" y="3218688"/>
            <a:ext cx="7370064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97680" y="3493008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600" dirty="0"/>
          </a:p>
        </p:txBody>
      </p:sp>
      <p:sp>
        <p:nvSpPr>
          <p:cNvPr id="17" name="Shape 13"/>
          <p:cNvSpPr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97680" y="3950208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RASIONALISASI INTUISI MORAL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4297680" y="4334256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etika berfungsi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merasionalkan, menjelaskan, dan memahami intuisi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telah dimiliki mengenai benar dan salah.</a:t>
            </a:r>
            <a:endParaRPr lang="en-US" sz="950" dirty="0"/>
          </a:p>
        </p:txBody>
      </p:sp>
      <p:pic>
        <p:nvPicPr>
          <p:cNvPr id="20" name="Image 2" descr="assets/cut/a3-arr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20000">
            <a:off x="6510528" y="3511296"/>
            <a:ext cx="804672" cy="48158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858000" y="3877056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600" dirty="0"/>
          </a:p>
        </p:txBody>
      </p:sp>
      <p:sp>
        <p:nvSpPr>
          <p:cNvPr id="22" name="Shape 17"/>
          <p:cNvSpPr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858000" y="4334256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DISKUSI RASIONAL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6858000" y="4718304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memungkinkan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diskursus rasional antarpihak yang berbeda nilai moral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sehingga perbedaan tidak berhenti pada tataran preferensi.</a:t>
            </a:r>
            <a:endParaRPr lang="en-US" sz="950" dirty="0"/>
          </a:p>
        </p:txBody>
      </p:sp>
      <p:pic>
        <p:nvPicPr>
          <p:cNvPr id="25" name="Image 3" descr="assets/cut/a3-arr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9070848" y="3931920"/>
            <a:ext cx="694944" cy="513735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418320" y="4261104"/>
            <a:ext cx="914400" cy="5403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600" dirty="0"/>
          </a:p>
        </p:txBody>
      </p:sp>
      <p:sp>
        <p:nvSpPr>
          <p:cNvPr id="27" name="Shape 21"/>
          <p:cNvSpPr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9418320" y="4718304"/>
            <a:ext cx="2304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JUSTIFIKASI KEPUTUSAN BISNIS</a:t>
            </a:r>
            <a:endParaRPr lang="en-US" sz="800" dirty="0"/>
          </a:p>
        </p:txBody>
      </p:sp>
      <p:sp>
        <p:nvSpPr>
          <p:cNvPr id="29" name="Text 23"/>
          <p:cNvSpPr txBox="1"/>
          <p:nvPr/>
        </p:nvSpPr>
        <p:spPr>
          <a:xfrm>
            <a:off x="9418320" y="5102352"/>
            <a:ext cx="230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Keputusan bisnis menuntut </a:t>
            </a:r>
            <a:pPr indent="0" marL="0">
              <a:lnSpc>
                <a:spcPct val="114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dasar rasional yang sistematis</a:t>
            </a:r>
            <a:pPr indent="0" marL="0">
              <a:lnSpc>
                <a:spcPct val="114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dapat dipertanggungjawabkan kepada pemangku kepentingan.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86 sampai 88.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92572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POSISI DASAR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ABSOLUTISME, RELATIVISME, PLURALISME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Sebelum menerapkan teori, perlu ditetapkan seberapa luas klaim keberlakuan yang diajukan teori tersebut.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090117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spe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8032" y="1883664"/>
            <a:ext cx="1385034" cy="21488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ABSOLUTISME ETIS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prinsip moral yang universal dan abadi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Benar dan salah adalah kualitas objektif yang ditentukan lewat nalar, terlepas dari keadaan. Hampir seluruh teori modernis Barat berada di sini.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173626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925416" y="1828800"/>
            <a:ext cx="2340864" cy="22128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15" name="Image 2" descr="assets/cut/c-spec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635" y="1883664"/>
            <a:ext cx="1390426" cy="21488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solidFill>
            <a:srgbClr val="13060D"/>
          </a:solidFill>
          <a:ln w="12700">
            <a:solidFill>
              <a:srgbClr val="13060D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338218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RELATIVISME ETIS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338218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bergantung konteks dan subjektif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4338218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benar dan salah universal. Semuanya bergantung pada tradisi, keyakinan, dan praktik pihak yang memutuskan.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8008925" y="4261104"/>
            <a:ext cx="20117" cy="160020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760714" y="1828800"/>
            <a:ext cx="2340864" cy="2212848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2" name="Image 3" descr="assets/cut/c-spec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3795" y="1883664"/>
            <a:ext cx="1374702" cy="214884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73517" y="4206240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PLURALISME ETIS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8173517" y="4608576"/>
            <a:ext cx="35152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yang bertentangan dapat sama sahnya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8173517" y="5212080"/>
            <a:ext cx="35152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Posisi yang diambil Crane dan Matten. Pluralisme tidak menyamaratakan seluruh perspektif, tetapi juga tidak mengunggulkan satu di atasnya.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 rot="600000">
            <a:off x="10561320" y="1481328"/>
            <a:ext cx="658368" cy="658368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87 sampai 88. Sen (2000) dan Liu (2018).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KLASIFIKASI TEORI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SEMBILAN TEORI ETIKA NORMATIF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pertama menilai tindakan. Klasifikasi kedua menilai pelaku, relasi, prosedur, dan bahasa.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973568" y="1847088"/>
            <a:ext cx="20117" cy="406908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2468880" y="18470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MODERNIS BARAT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249424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Berakar pada Pencerahan abad ke-18, bersifat absolutis, dan menawarkan aturan yang dapat diterapkan pada situasi apa pun.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2237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KONSEKUENSIALIS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Teleologis, menilai akibat tindakan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85039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840480" y="3049524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59936" y="2999232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BERBASIS PRINSIP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3840480" y="325526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9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Deontologis, menilai kewajiban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3602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4187952" y="36027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840480" y="39502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187952" y="39502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42976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4187952" y="42976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 dan social contract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02920" y="4956048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02920" y="5102352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Seluruh teori ini bersifat normatif karena berangkat dari asumsi tentang hakikat dunia dan hakikat manusia. Penerimaan atas kesimpulannya bergantung pada penerimaan atas asumsi tersebut.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366760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KLASIFIKASI II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8366760" y="224942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8366760" y="257860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Cenderung relativis. Lahir dari keberatan atas klasifikasi pertama.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366760" y="3182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8750808" y="3163824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8750808" y="34381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pelaku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366760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8750808" y="38221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50" dirty="0"/>
          </a:p>
        </p:txBody>
      </p:sp>
      <p:sp>
        <p:nvSpPr>
          <p:cNvPr id="46" name="Text 43"/>
          <p:cNvSpPr txBox="1"/>
          <p:nvPr/>
        </p:nvSpPr>
        <p:spPr>
          <a:xfrm>
            <a:off x="8750808" y="409651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Relasi dan tanggung jawab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366760" y="4498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49" name="Text 46"/>
          <p:cNvSpPr txBox="1"/>
          <p:nvPr/>
        </p:nvSpPr>
        <p:spPr>
          <a:xfrm>
            <a:off x="8750808" y="44805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50" dirty="0"/>
          </a:p>
        </p:txBody>
      </p:sp>
      <p:sp>
        <p:nvSpPr>
          <p:cNvPr id="50" name="Text 47"/>
          <p:cNvSpPr txBox="1"/>
          <p:nvPr/>
        </p:nvSpPr>
        <p:spPr>
          <a:xfrm>
            <a:off x="8750808" y="475488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 perumusan norma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366760" y="51572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8750808" y="51389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50" dirty="0"/>
          </a:p>
        </p:txBody>
      </p:sp>
      <p:sp>
        <p:nvSpPr>
          <p:cNvPr id="54" name="Text 51"/>
          <p:cNvSpPr txBox="1"/>
          <p:nvPr/>
        </p:nvSpPr>
        <p:spPr>
          <a:xfrm>
            <a:off x="8750808" y="54132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Bahasa dan dorongan moral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 rot="720000">
            <a:off x="5888736" y="4334256"/>
            <a:ext cx="1783080" cy="187452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56" name="Image 1" descr="assets/cut/a5-so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464" y="4443984"/>
            <a:ext cx="1531915" cy="1773936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3.1 dan Tabel 3.5.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KEPENTINGAN DIRI: ETHICAL EGOISM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tertua sekaligus paling diperdebatkan. Sebagian penulis menolak mengategorikannya sebagai teori moral.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6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egoi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84" y="1783080"/>
            <a:ext cx="4201591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BUKAN KESERAKAHAN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ETHICAL EGOISM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dalam situasi tersebut semua pengambil keputusan secara bebas memilih mengejar keinginan jangka pendek atau kepentingan jangka panjangnya.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PEMBEDAAN KONSEPTUAL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egois masih dapat tergerak oleh rasa iba, sedangkan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pelaku serakah tidak peka pada kepentingan pihak lain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TOKOH DAN KARYA UTAMA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Thomas Hobbes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Leviathan yang menyebut keadaan alamiah sebagai perang semua melawan semua,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Ayn Rand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dalam The Virtue of Selfishness.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 TEORI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ini hanya berlaku bila pasar mencegah satu pelaku merugikan pelaku lain. Ia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gugur pada kegagalan pasar dan isu keberlanjutan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korban penipisan sumber daya adalah generasi mendatang.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Bab 3, halaman 93 sampai 96.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6140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KONSEKUENSIALIS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HASIL: UTILITARIANISM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yang paling lazim diterapkan dalam bisnis karena kompatibel dengan metodologi kuantitatif ekonomi.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Sebuah tindakan benar secara moral jika menghasilkan kebaikan terbesar bagi jumlah orang terbesar yang terkena dampaknya. Bentham dan Mill.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GREATEST HAPPINESS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-48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utilitari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142" y="3072384"/>
            <a:ext cx="2985156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CIRI POKOK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Consequentialism, hedonism, maximalism, universalism.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Utilitas diukur sebagai pleasure dikurangi pain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akibat bagi semua pihak wajib ikut dihitung.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DAN RULE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satu tindakan tunggal.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kelas tindakan dan prinsip di baliknya dalam jangka panjang.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KEBERATAN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Subjektivitas, pembobotan setara, kesulitan kuantifikasi, dan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distribusi utilitas yang mengabaikan minoritas serta generasi mendatang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3.2, halaman 96 sampai 100.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KEWAJIBAN: IMMANUEL KANT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dinilai bukan akibat, melainkan prinsip di balik tindakan dan motivasi pelakunya.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240000">
            <a:off x="7040880" y="1847088"/>
            <a:ext cx="4937760" cy="411480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-ka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3054" y="1783080"/>
            <a:ext cx="4176836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7863840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CATEGORICAL IMPERATIVE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123444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23444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Kewajiban yang abstrak dan tidak berubah, dirumuskan lewat aturan moral a priori yang dideduksi secara rasional dan berlaku pada semua persoalan etis.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2920" y="3017520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SATU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acceptability.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 sebuah hukum moral hanya bila semua makhluk berakal budi juga bisa menerimanya. Mengingkari utang tidak lolos uji ini.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02920" y="4059936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FORMULASI DUA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Respect for persons. 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Perlakukan manusia sebagai tujuan,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jangan pernah sekadar sebagai sarana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Inilah dasar etis stakeholder theory.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02920" y="4992624"/>
            <a:ext cx="630936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0292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2237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KEBERATAN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Kriteria motivasinya terlalu sempit,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akibat diabaikan sepenuhnya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2606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asumsi rasionalitas penuh bersifat idealistis.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3.4, halaman 100 sampai 103.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ETIKA HAK DAN HAK ASASI MANUSIA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yang paling banyak dipakai secara praktis karena sudah melembaga dalam instrumen internasional.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246888" y="1847088"/>
            <a:ext cx="4937760" cy="41148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974" y="1783080"/>
            <a:ext cx="3807012" cy="41605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 rot="-120000">
            <a:off x="1069848" y="541324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RESPECT REMEDY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257800" y="1792224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8"/>
          <p:cNvSpPr txBox="1"/>
          <p:nvPr/>
        </p:nvSpPr>
        <p:spPr>
          <a:xfrm>
            <a:off x="5989320" y="184708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RIGHTS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5989320" y="215798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dasar yang melekat, tidak dapat dicabut, dan tidak bersyarat, yang dimiliki semua manusia tanpa kecuali.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257800" y="3017520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57800" y="32689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77256" y="3218688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KORELASI HAK DAN KEWAJIBAN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257800" y="3474720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John Locke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merumuskan natural rights atas hidup, kebebasan, dan milik. Hak seseorang selalu menimbulkan kewajiban pada pihak lain.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257800" y="4059936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57800" y="420166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77256" y="4151376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GUIDING PRINCIPLES 2011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257800" y="4407408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Negara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melindungi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bisnis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menghormati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dan peradilan menyediakan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pemulihan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bagi korban.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257800" y="4992624"/>
            <a:ext cx="630936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5257800" y="513435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77256" y="5084064"/>
            <a:ext cx="6089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CAKUPAN YANG MENENTUKAN</a:t>
            </a:r>
            <a:endParaRPr lang="en-US" sz="1000" dirty="0"/>
          </a:p>
        </p:txBody>
      </p:sp>
      <p:sp>
        <p:nvSpPr>
          <p:cNvPr id="25" name="Text 21"/>
          <p:cNvSpPr txBox="1"/>
          <p:nvPr/>
        </p:nvSpPr>
        <p:spPr>
          <a:xfrm>
            <a:off x="5257800" y="5340096"/>
            <a:ext cx="6309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wajib meredakan dampak buruk yang terkait lewat relasi bisnisnya,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sekalipun ia tidak ikut menyebabkannya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Pemasok termasuk di dalamnya.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103 sampai 107. Universal Declaration of Human Rights (1948).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47036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TEORI MODERNIS BARAT   |   BERBASIS PRINSIP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KEADILAN: RAWLS DAN KONTRAK SOSIAL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Pertanyaannya bergeser dari benar atau salah menjadi susunan seperti apa yang layak disepakati bersama.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810512"/>
            <a:ext cx="914400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36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1234440" y="18653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6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21762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Perlakuan yang adil terhadap setiap orang dalam satu situasi, sehingga semua pihak memperoleh apa yang memang menjadi haknya.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02920" y="2852928"/>
            <a:ext cx="11185855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720000">
            <a:off x="841248" y="3246120"/>
            <a:ext cx="914400" cy="91440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 rot="-300000">
            <a:off x="548640" y="41330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7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 OF IGNORANCE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 rot="-480000">
            <a:off x="1810512" y="4956048"/>
            <a:ext cx="621792" cy="621792"/>
          </a:xfrm>
          <a:prstGeom prst="star24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">
            <a:off x="3154680" y="3035808"/>
            <a:ext cx="3017520" cy="312724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16" name="Image 1" descr="assets/cut/c-justi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4835" y="3072384"/>
            <a:ext cx="2385769" cy="29718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9360" y="315925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528816" y="3108960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DIMENSI KEADILAN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6309360" y="3364992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prosedural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siapa yang berhak turut memutuskan.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Keadilan distributif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menilai ke mana manfaat mengalir dan siapa menanggung bebannya.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6309360" y="3968496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309360" y="4128516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28816" y="4078224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PRINSIP JOHN RAWLS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6309360" y="4334256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Kebebasan dasar yang setara bagi semua, lalu ketimpangan hanya dibenarkan bila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paling menguntungkan pihak yang paling tidak diuntungkan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309360" y="4937760"/>
            <a:ext cx="537667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309360" y="509778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528816" y="5047488"/>
            <a:ext cx="4718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KONTRAK SOSIAL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6309360" y="5303520"/>
            <a:ext cx="5376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Hobbes, Locke, dan Rousseau. Versi bisnisnya </a:t>
            </a:r>
            <a:pPr indent="0" marL="0">
              <a:lnSpc>
                <a:spcPct val="114000"/>
              </a:lnSpc>
              <a:buNone/>
            </a:pPr>
            <a:r>
              <a:rPr lang="en-US" sz="10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Integrative Social Contracts Theory</a:t>
            </a:r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dari Donaldson dan Dunfee, memadukan hypernorms dengan kontrak mikro komunitas.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halaman 108 sampai 113. Rawls, A Theory of Justice (1971).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EVALUASI KRITIS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KETERBATASAN TEORI MODERNIS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Keberatan ini menjadi dasar kemunculan empat teori alternatif yang dibahas berikutnya.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80000">
            <a:off x="4005072" y="1700784"/>
            <a:ext cx="4206240" cy="40690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86968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ABSTRAKSI BERLEBIH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Prinsipnya beroperasi pada tataran yang jauh dari persoalan konkret yang dihadapi manajer.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168335" y="1810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552383" y="181051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REDUKSIONISME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168335" y="2176272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Setiap teori menonjolkan satu dimensi moralitas dan memperlakukannya sebagai keseluruhan.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168335" y="2907792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2920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OBJEKTIVISME ELITIS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Kebenaran moral ditentukan melalui deduksi ahli, bukan melalui pengalaman pihak yang terlibat.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2920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168335" y="3145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552383" y="3145536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IMPERSONALITAS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168335" y="351129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Ikatan personal dan tanggung jawab pada pihak tertentu diposisikan sebagai pengganggu penilaian.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8168335" y="4242816"/>
            <a:ext cx="3520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02920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886968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RASIONALISME TERKODIFIKASI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Peran perasaan, empati, dan dorongan moral diabaikan dalam perumusan penilaian etis.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168335" y="4480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552383" y="44805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50" b="1" spc="-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IMPERIALISME KULTURAL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8168335" y="48463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Pengalaman dan tradisi intelektual Barat diposisikan sebagai ukuran yang berlaku universal.</a:t>
            </a:r>
            <a:endParaRPr lang="en-US" sz="1000" dirty="0"/>
          </a:p>
        </p:txBody>
      </p:sp>
      <p:pic>
        <p:nvPicPr>
          <p:cNvPr id="36" name="Image 1" descr="assets/cut/c-limi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1828800"/>
            <a:ext cx="3859078" cy="3794760"/>
          </a:xfrm>
          <a:prstGeom prst="rect">
            <a:avLst/>
          </a:prstGeom>
        </p:spPr>
      </p:pic>
      <p:sp>
        <p:nvSpPr>
          <p:cNvPr id="37" name="Shape 33"/>
          <p:cNvSpPr/>
          <p:nvPr/>
        </p:nvSpPr>
        <p:spPr>
          <a:xfrm>
            <a:off x="502920" y="5760720"/>
            <a:ext cx="11185855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02920" y="587044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Teori alternatif tidak menggantikan teori modernis, melainkan </a:t>
            </a:r>
            <a:pPr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menambahkan dimensi penilaian yang belum tercakup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A0C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karakter pelaku, relasi antarpihak, prosedur perumusan norma, dan pilihan istilah.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DAN ETHIC OF CARE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dari tindakan ke karakter pelaku dan ke relasi antarpihak yang terlibat.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300000">
            <a:off x="4133088" y="1664208"/>
            <a:ext cx="3931920" cy="4379976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-vc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7408" y="1810512"/>
            <a:ext cx="3383280" cy="399895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978408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Pelaku seperti apa yang layak disebut baik pada posisi ini?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Aristoteles dalam Nicomachean Ethics, MacIntyre dalam After Virtue, dan Solomon dalam Ethics and Excellence.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02920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22376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Moralitas lahir dari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karakter yang dibentuk lewat pembiasaan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dari aturan. Tujuannya eudaimonia, hidup yang baik.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02920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22376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PENERAPAN DALAM BISNIS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Perusahaan adalah komunitas praktik, dengan keutamaan berupa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kejujuran, keadilan, kepercayaan, dan ketangguhan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Keutamaan selalu ditentukan komunitas tertentu, sehingga sulit dijadikan ukuran lintas budaya dan lintas industri.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2843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1847088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28432" y="2340864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28432" y="2852928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Carol Gilligan dalam In a Different Voice dan Nel Noddings dalam Caring. Berakar pada etika feminis.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28432" y="3310128"/>
            <a:ext cx="365760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2843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47888" y="347472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372160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Manusia adalah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makhluk yang saling bergantung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terjalin dalam relasi, bukan individu rasional yang terpisah.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2843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47888" y="431596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TUNTUTAN NORMATIF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456285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Empati, keselarasan, menghindari kerugian, dan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tanggung jawab konkret pada orang tertentu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bukan aturan seragam.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2843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47888" y="51572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KETERBATASAN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5404104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Prioritas pada pihak terdekat berisiko mengabaikan pihak jauh, dan kriteria kepedulian sulit diaudit secara seragam.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114 sampai 121.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2841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TEORI ALTERNATIF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DAN POSTMODERN ETHICS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 penilaian bergeser ke prosedur perumusan norma dan ke bahasa yang dipakai untuk membenarkannya.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300000">
            <a:off x="365760" y="1609344"/>
            <a:ext cx="3419856" cy="4544568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discour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55648"/>
            <a:ext cx="2871216" cy="415801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09651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57200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09651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apa yang bisa lahir dari deliberasi yang terbuka?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09651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Jurgen Habermas dalam Moral Consciousness and Communicative Action, bersama Karl Otto Apel.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09651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096512" y="3525012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31596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09651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 tidak ditetapkan filsuf dari luar, melainkan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dihasilkan dialog rasional antara semua pihak terdampak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096512" y="4366260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431596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SYARAT IDEAL SPEECH SITUATION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09651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Semua pihak boleh ikut, bebas paksaan, dan argumen dinilai dari kekuatannya sendiri,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bukan dari kekuasaan pengusulnya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096512" y="5207508"/>
            <a:ext cx="118872" cy="11887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31596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ORIENTASI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409651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Penyelesaian konflik secara damai, bukan pembuktian satu kebenaran. Prosedur yang cacat cukup untuk membatalkan hasilnya.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74152" y="1847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8549640" y="184708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7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700" dirty="0"/>
          </a:p>
        </p:txBody>
      </p:sp>
      <p:sp>
        <p:nvSpPr>
          <p:cNvPr id="27" name="Text 23"/>
          <p:cNvSpPr txBox="1"/>
          <p:nvPr/>
        </p:nvSpPr>
        <p:spPr>
          <a:xfrm>
            <a:off x="8074152" y="2340864"/>
            <a:ext cx="3611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b="1" i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8074152" y="2852928"/>
            <a:ext cx="3611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Zygmunt Bauman dalam Postmodern Ethics, dengan latar pemikiran Derrida dan Lyotard.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074152" y="3310128"/>
            <a:ext cx="361188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074152" y="3525012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293608" y="3474720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GAGASAN INTI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74152" y="3721608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Dorongan moral dan perasaan didahulukan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atas perhitungan rasional. Tindakan etis kerap digerakkan intuisi, bukan kalkulasi.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8074152" y="4366260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293608" y="4315968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KRITIK TERHADAP ORGANISASI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74152" y="4562856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Prosedur, pembagian tugas, dan jarak birokratis menciptakan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jarak moral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yang menumpulkan dorongan itu.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8074152" y="520750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293608" y="5157216"/>
            <a:ext cx="3392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SIKAP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74152" y="54041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Mempertanyakan bahasa dan asumsi yang telah dianggap wajar, lalu bertindak pada skala lokal tempat akibatnya dirasakan.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Crane dan Matten (2019), Tabel 3.5, halaman 121 sampai 125.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23737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SINTESIS KERANGKA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PERTANYAAN PENILAIAN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ada teori yang memberikan jawaban lengkap. Yang dicari pertimbangan yang paling kuat menanggung beban argumen.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389120" y="1737360"/>
            <a:ext cx="3429000" cy="43891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vc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1828800"/>
            <a:ext cx="3232645" cy="41330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86968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886968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Apakah semua pihak bebas mengejar kepentingan jangka panjangnya, dan sudahkah biaya tertunda dihitung?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02920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86968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86968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 seluruh akibat diagregasi, apakah hasilnya positif, dan apakah act dan rule sejalan?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502920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2920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886968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86968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Dapatkah maksim tindakan ini diuniversalkan, dan adakah pihak yang diperlakukan sekadar sarana?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02920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02920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86968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886968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siapa yang terpenuhi, hak siapa yang terlanggar, dan sampai mana relasi bisnisnya menjangkau?</a:t>
            </a:r>
            <a:endParaRPr lang="en-US" sz="900" dirty="0"/>
          </a:p>
        </p:txBody>
      </p:sp>
      <p:sp>
        <p:nvSpPr>
          <p:cNvPr id="24" name="Shape 20"/>
          <p:cNvSpPr/>
          <p:nvPr/>
        </p:nvSpPr>
        <p:spPr>
          <a:xfrm>
            <a:off x="502920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02920" y="523036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886968" y="5230368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86968" y="5504688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Susunan apa yang akan dipilih orang yang belum tahu posisi yang akan ditempatinya?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7754112" y="179222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8138160" y="1792224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138160" y="2066544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pelaku berkarakter baik bertindak di posisi ini, dan diukur terhadap standar yang mana?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754112" y="250545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754112" y="26517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8138160" y="2651760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8138160" y="2926080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mana yang memelihara relasi dengan pihak terdampak, bukan sekadar mengganti kerugiannya?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7754112" y="336499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754112" y="35112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8138160" y="351129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200" dirty="0"/>
          </a:p>
        </p:txBody>
      </p:sp>
      <p:sp>
        <p:nvSpPr>
          <p:cNvPr id="38" name="Text 34"/>
          <p:cNvSpPr txBox="1"/>
          <p:nvPr/>
        </p:nvSpPr>
        <p:spPr>
          <a:xfrm>
            <a:off x="8138160" y="3785616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ketika norma dan izinnya dirumuskan?</a:t>
            </a:r>
            <a:endParaRPr lang="en-US" sz="900" dirty="0"/>
          </a:p>
        </p:txBody>
      </p:sp>
      <p:sp>
        <p:nvSpPr>
          <p:cNvPr id="39" name="Shape 35"/>
          <p:cNvSpPr/>
          <p:nvPr/>
        </p:nvSpPr>
        <p:spPr>
          <a:xfrm>
            <a:off x="7754112" y="422452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7754112" y="43708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41" name="Text 37"/>
          <p:cNvSpPr txBox="1"/>
          <p:nvPr/>
        </p:nvSpPr>
        <p:spPr>
          <a:xfrm>
            <a:off x="8138160" y="437083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8138160" y="4645152"/>
            <a:ext cx="35478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istilah yang dipakai menamai kebijakan ini?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7754112" y="5084064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754112" y="523036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754112" y="535838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Pendekatan pluralis Bab 3 menghasilkan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 atas rangkaian fakta yang identik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untuk kemudian dilihat arah konvergensinya.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380756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BAGIAN DUA   |   STUDI KASUS INDONESIA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31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ANATOMI KEBIJAKAN HILIRISASI NIKEL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 instrumen regulasi yang mengubah struktur industri nikel nasional.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420000">
            <a:off x="7132320" y="1481328"/>
            <a:ext cx="4709160" cy="41605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-nic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755648"/>
            <a:ext cx="4279392" cy="359975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2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Tahun 2019 melarang ekspor bijih nikel, berlaku efektif 1 Januari 2020.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788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MEKANISME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2788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Bijih wajib diolah di dalam negeri dan kepemilikan smelter menjadi syarat masuk kawasan industri.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400" dirty="0"/>
          </a:p>
        </p:txBody>
      </p:sp>
      <p:sp>
        <p:nvSpPr>
          <p:cNvPr id="18" name="Shape 14"/>
          <p:cNvSpPr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074920" y="2139696"/>
            <a:ext cx="15727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SENGKETA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5074920" y="2505456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memutus kebijakan ini melanggar aturan perdagangan pada November 2022.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502920" y="3799332"/>
            <a:ext cx="118872" cy="118872"/>
          </a:xfrm>
          <a:prstGeom prst="rect">
            <a:avLst/>
          </a:prstGeom>
          <a:solidFill>
            <a:srgbClr val="A5A3E0"/>
          </a:solidFill>
          <a:ln w="12700">
            <a:solidFill>
              <a:srgbClr val="A5A3E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22376" y="3749040"/>
            <a:ext cx="2523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KRONOLOGI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02920" y="4443984"/>
            <a:ext cx="6446520" cy="20117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594360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84632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2014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484632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pertama, lalu direlaksasi</a:t>
            </a:r>
            <a:endParaRPr lang="en-US" sz="750" dirty="0"/>
          </a:p>
        </p:txBody>
      </p:sp>
      <p:sp>
        <p:nvSpPr>
          <p:cNvPr id="27" name="Shape 23"/>
          <p:cNvSpPr/>
          <p:nvPr/>
        </p:nvSpPr>
        <p:spPr>
          <a:xfrm>
            <a:off x="1911096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801368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29" name="Text 25"/>
          <p:cNvSpPr txBox="1"/>
          <p:nvPr/>
        </p:nvSpPr>
        <p:spPr>
          <a:xfrm>
            <a:off x="1801368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Permen ESDM Nomor 11 terbit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3227832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3118104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500" dirty="0"/>
          </a:p>
        </p:txBody>
      </p:sp>
      <p:sp>
        <p:nvSpPr>
          <p:cNvPr id="32" name="Text 28"/>
          <p:cNvSpPr txBox="1"/>
          <p:nvPr/>
        </p:nvSpPr>
        <p:spPr>
          <a:xfrm>
            <a:off x="3118104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Larangan berlaku efektif</a:t>
            </a:r>
            <a:endParaRPr lang="en-US" sz="750" dirty="0"/>
          </a:p>
        </p:txBody>
      </p:sp>
      <p:sp>
        <p:nvSpPr>
          <p:cNvPr id="33" name="Shape 29"/>
          <p:cNvSpPr/>
          <p:nvPr/>
        </p:nvSpPr>
        <p:spPr>
          <a:xfrm>
            <a:off x="4544568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4434840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4434840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WTO memenangkan Uni Eropa</a:t>
            </a:r>
            <a:endParaRPr lang="en-US" sz="750" dirty="0"/>
          </a:p>
        </p:txBody>
      </p:sp>
      <p:sp>
        <p:nvSpPr>
          <p:cNvPr id="36" name="Shape 32"/>
          <p:cNvSpPr/>
          <p:nvPr/>
        </p:nvSpPr>
        <p:spPr>
          <a:xfrm>
            <a:off x="5861304" y="4379976"/>
            <a:ext cx="146304" cy="146304"/>
          </a:xfrm>
          <a:prstGeom prst="ellipse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751576" y="404164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38" name="Text 34"/>
          <p:cNvSpPr txBox="1"/>
          <p:nvPr/>
        </p:nvSpPr>
        <p:spPr>
          <a:xfrm>
            <a:off x="5751576" y="4590288"/>
            <a:ext cx="12252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Ekspor olahan 40 miliar dolar</a:t>
            </a:r>
            <a:endParaRPr lang="en-US" sz="750" dirty="0"/>
          </a:p>
        </p:txBody>
      </p:sp>
      <p:sp>
        <p:nvSpPr>
          <p:cNvPr id="39" name="Shape 35"/>
          <p:cNvSpPr/>
          <p:nvPr/>
        </p:nvSpPr>
        <p:spPr>
          <a:xfrm>
            <a:off x="502920" y="5285232"/>
            <a:ext cx="64465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02920" y="5413248"/>
            <a:ext cx="6446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Manfaatnya besar, terukur, dan terkonsentrasi, sedangkan bebannya tersebar, tertunda, dan sulit dikuantifikasi. Persoalan dengan struktur demikian </a:t>
            </a:r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dapat diselesaikan melalui kriteria penilaian tunggal</a:t>
            </a:r>
            <a:pPr indent="0" marL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ditelusuri Agustus 2026 dari pengelola kawasan IMIP dan IWIP, Badan Pusat Statistik, dan dokumen putusan panel WTO.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FAKTA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NARASI ATAS FAKTA YANG SAMA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Kedua kolom bersandar pada data resmi yang sama sahnya. Yang disengketakan kriteria penilaiannya.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02920" y="182880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PENDUKUNG   HILIRISASI BERDAULAT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55868" y="1828800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PENENTANG   EKSTRAKSI BERBIAYA SOSIAL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086704" y="1920240"/>
            <a:ext cx="20117" cy="3931920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600000">
            <a:off x="3447288" y="3127248"/>
            <a:ext cx="2560320" cy="274320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13" name="Image 1" descr="assets/cut/c-narr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3291840"/>
            <a:ext cx="2194560" cy="25233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2423160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40664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miliar dolar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740664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ekspor produk nikel olahan pada 2025, naik dari 3 miliar dolar pada 2020</a:t>
            </a:r>
            <a:endParaRPr lang="en-US" sz="950" dirty="0"/>
          </a:p>
        </p:txBody>
      </p:sp>
      <p:sp>
        <p:nvSpPr>
          <p:cNvPr id="17" name="Shape 13"/>
          <p:cNvSpPr/>
          <p:nvPr/>
        </p:nvSpPr>
        <p:spPr>
          <a:xfrm>
            <a:off x="502920" y="3227832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40664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41,5 miliar dolar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740664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Investasi terkumpul di kawasan IMIP Morowali sampai Desember 2025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502920" y="4032504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40664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 ribu pekerja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740664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Terserap di IMIP dan IWIP, dari 35.952 orang pada 2020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502920" y="4837176"/>
            <a:ext cx="128016" cy="128016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40664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Pemasok terbesar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740664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menjadi simpul utama rantai pasok baterai dunia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 rot="600000">
            <a:off x="9200236" y="3127248"/>
            <a:ext cx="2560320" cy="274320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27" name="Image 2" descr="assets/cut/c-narr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9108" y="3291840"/>
            <a:ext cx="2194560" cy="2493252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255868" y="2423160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493612" y="2340864"/>
            <a:ext cx="51585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sampai 3,6 juta</a:t>
            </a:r>
            <a:endParaRPr lang="en-US" sz="1800" dirty="0"/>
          </a:p>
        </p:txBody>
      </p:sp>
      <p:sp>
        <p:nvSpPr>
          <p:cNvPr id="30" name="Text 25"/>
          <p:cNvSpPr txBox="1"/>
          <p:nvPr/>
        </p:nvSpPr>
        <p:spPr>
          <a:xfrm>
            <a:off x="6493612" y="2633472"/>
            <a:ext cx="515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pokok per bulan, di bawah upah minimum Morowali 2025 sebesar 3,7 juta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255868" y="3227832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493612" y="3145536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pekerja meninggal</a:t>
            </a:r>
            <a:endParaRPr lang="en-US" sz="1800" dirty="0"/>
          </a:p>
        </p:txBody>
      </p:sp>
      <p:sp>
        <p:nvSpPr>
          <p:cNvPr id="33" name="Text 28"/>
          <p:cNvSpPr txBox="1"/>
          <p:nvPr/>
        </p:nvSpPr>
        <p:spPr>
          <a:xfrm>
            <a:off x="6493612" y="3438144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Beserta 155 pekerja luka pada 104 kecelakaan smelter sepanjang 2019 sampai 2025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6255868" y="4032504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93612" y="3950208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163 ribu hektare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6493612" y="4242816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Tutupan pohon hilang di Halmahera, industri nikel memegang 76 persen PLTU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6255868" y="4837176"/>
            <a:ext cx="128016" cy="128016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6493612" y="4754880"/>
            <a:ext cx="2578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8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4,35 persen</a:t>
            </a:r>
            <a:endParaRPr lang="en-US" sz="1800" dirty="0"/>
          </a:p>
        </p:txBody>
      </p:sp>
      <p:sp>
        <p:nvSpPr>
          <p:cNvPr id="39" name="Text 34"/>
          <p:cNvSpPr txBox="1"/>
          <p:nvPr/>
        </p:nvSpPr>
        <p:spPr>
          <a:xfrm>
            <a:off x="6493612" y="5047488"/>
            <a:ext cx="2578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Nilai tambah yang tinggal di Morowali, kemiskinannya 12,58 persen</a:t>
            </a:r>
            <a:endParaRPr lang="en-US" sz="950" dirty="0"/>
          </a:p>
        </p:txBody>
      </p:sp>
      <p:sp>
        <p:nvSpPr>
          <p:cNvPr id="40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Beban yang tidak masuk neraca ekspor: sungai Ake Jira tidak lagi layak dipakai warga, dan 40 persen wilayah adat O Hongana Manyawa sudah berizin tambang.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LIMA TEORI MODERNIS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berbasis akibat dan berbasis prinsip menghasilkan kesimpulan yang tidak seragam.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274320" y="1645920"/>
            <a:ext cx="3291840" cy="475488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pic>
        <p:nvPicPr>
          <p:cNvPr id="8" name="Image 1" descr="assets/cut/c2-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11680"/>
            <a:ext cx="2917995" cy="4846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611880" y="179222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5B58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995928" y="1792224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995928" y="213969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5852160" y="1773936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Pada horizon pendek jelas melayani kepentingan Indonesia. Pada horizon panjang, biaya kesehatan warga, pemulihan sungai, dan pensiun dini pembangkit batu bara belum diinternalisasi.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diri yang dihitung cermat justru menuntut biaya tertunda itu masuk sejak awal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611880" y="2560320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11880" y="267004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995928" y="267004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3995928" y="30175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800" dirty="0"/>
          </a:p>
        </p:txBody>
      </p:sp>
      <p:sp>
        <p:nvSpPr>
          <p:cNvPr id="19" name="Text 15"/>
          <p:cNvSpPr txBox="1"/>
          <p:nvPr/>
        </p:nvSpPr>
        <p:spPr>
          <a:xfrm>
            <a:off x="5852160" y="2651760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 utilitarianism cenderung mendukung, sebab manfaat 166 ribu lapangan kerja nyata dan terukur sedangkan kerugiannya tersebar.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Rule utilitarianism menolak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sebab bila setiap negara pemilik cadangan menempuh pengolahan bertenaga batu bara, tambahan emisinya membatalkan manfaat transisi energi yang justru menjadi pembenarnya.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3611880" y="3438144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3611880" y="3547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995928" y="35478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995928" y="38953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5852160" y="3529584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Maksimnya berbunyi: pengolahan boleh dipercepat sambil menunda standar upah, keselamatan, dan lingkungan. Diuniversalkan, standar itu kehilangan daya ikat. Formulasi kedua juga gagal, sebab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upah di bawah minimum dan lembur sampai 13 jam menjadikan pekerja sarana semata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611880" y="4315968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611880" y="442569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B080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3995928" y="44256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solidFill>
            <a:srgbClr val="B08018"/>
          </a:solidFill>
          <a:ln w="12700">
            <a:solidFill>
              <a:srgbClr val="B0801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3995928" y="477316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5852160" y="4407408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Hak atas pekerjaan terpenuhi bagi 166 ribu pekerja, dan sampai titik itu kebijakan ini dapat dipertahankan. Namun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hak atas kondisi kerja yang adil, kesehatan, air bersih, dan tanah leluhur terlanggar bersamaan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UNGP menuntut penghormatan pada seluruh relasi bisnis.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3611880" y="5193792"/>
            <a:ext cx="8074152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3611880" y="530352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3995928" y="530352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995928" y="56509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5852160" y="5285232"/>
            <a:ext cx="5833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mengalir ke penerimaan nasional dan pemodal, sedangkan beban terkonsentrasi pada pekerja kawasan, warga hilir sungai, dan masyarakat adat.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justru lebih miskin daripada rata-rata provinsinya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dan hanya 4,35 persen nilai tambah tinggal di daerah.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3666744" y="62544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teori dalam klasifikasi yang sama menghasilkan kesimpulan berbeda, dan pembedanya terletak pada unit analisis: tindakan tunggal atau kelas tindakan.</a:t>
            </a:r>
            <a:endParaRPr lang="en-US" sz="850" dirty="0"/>
          </a:p>
        </p:txBody>
      </p:sp>
      <p:sp>
        <p:nvSpPr>
          <p:cNvPr id="39" name="Shape 3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C489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656893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PENERAPAN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EMPAT TEORI ALTERNATIF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1185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Penilaian bergeser ke karakter pelaku, relasi, prosedur, dan bahasa, tanpa mengubah rangkaian faktanya.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20000">
            <a:off x="8394192" y="1847088"/>
            <a:ext cx="3346704" cy="4526280"/>
          </a:xfrm>
          <a:prstGeom prst="irregularSeal2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pic>
        <p:nvPicPr>
          <p:cNvPr id="8" name="Image 1" descr="assets/cut/c2-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2139696"/>
            <a:ext cx="3138914" cy="471830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90525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0292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 pembanding mana yang seharusnya dipakai?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0292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Pembandingnya selama ini adalah keadaan sebelum hilirisasi, bukan standar industri terbaik yang tersedia hari ini.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Aktor berkarakter baik mengukur diri pada standar tertinggi yang dapat dicapai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0292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800" dirty="0"/>
          </a:p>
        </p:txBody>
      </p:sp>
      <p:sp>
        <p:nvSpPr>
          <p:cNvPr id="16" name="Shape 12"/>
          <p:cNvSpPr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54880" y="17922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5157216" y="1792224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4754880" y="21945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Sejauh mana relasi dengan pihak terdampak dipelihara?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754880" y="2596896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hilir sungai dan sekitar 300 sampai 500 jiwa O Hongana Manyawa adalah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00761A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pihak yang berelasi, bukan variabel biaya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Yang dituntut pemulihan sungai dan wilayah lindung, bukan penghentian mendadak.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754880" y="34930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800" dirty="0"/>
          </a:p>
        </p:txBody>
      </p:sp>
      <p:sp>
        <p:nvSpPr>
          <p:cNvPr id="23" name="Shape 19"/>
          <p:cNvSpPr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0292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90525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Siapa yang hadir dan siapa yang absen dalam perumusan?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50292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bukan pihak dalam perumusan kebijakan maupun perizinan kawasan. Syarat keterlibatan setara tidak terpenuhi, dan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cacat prosedur sudah cukup untuk membatalkan keabsahan hasilnya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0292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800" dirty="0"/>
          </a:p>
        </p:txBody>
      </p:sp>
      <p:sp>
        <p:nvSpPr>
          <p:cNvPr id="30" name="Shape 26"/>
          <p:cNvSpPr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754880" y="40050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00" dirty="0"/>
          </a:p>
        </p:txBody>
      </p:sp>
      <p:sp>
        <p:nvSpPr>
          <p:cNvPr id="32" name="Text 28"/>
          <p:cNvSpPr txBox="1"/>
          <p:nvPr/>
        </p:nvSpPr>
        <p:spPr>
          <a:xfrm>
            <a:off x="5157216" y="4005072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spc="-3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4754880" y="44074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50" b="1" i="1" dirty="0">
                <a:solidFill>
                  <a:srgbClr val="1D1B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Kepentingan siapa yang dilayani oleh pilihan istilah?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4754880" y="4809744"/>
            <a:ext cx="38404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Hilirisasi berkonotasi kemajuan, ekstraksi berkonotasi pengurasan, dan keduanya menamai peristiwa yang sama. </a:t>
            </a:r>
            <a:pPr indent="0" marL="0">
              <a:lnSpc>
                <a:spcPct val="112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highlight>
                  <a:srgbClr val="1D1B84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Istilah nikel hijau dipakai bagi pengolahan yang listriknya bertumpu pada batu bara</a:t>
            </a:r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B08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35" name="Shape 31"/>
          <p:cNvSpPr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solidFill>
            <a:srgbClr val="5B58C4"/>
          </a:solidFill>
          <a:ln w="12700">
            <a:solidFill>
              <a:srgbClr val="5B58C4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754880" y="570585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502920" y="3858768"/>
            <a:ext cx="8092440" cy="20117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4553712" y="1874520"/>
            <a:ext cx="20117" cy="3931920"/>
          </a:xfrm>
          <a:prstGeom prst="rect">
            <a:avLst/>
          </a:prstGeom>
          <a:solidFill>
            <a:srgbClr val="D96FA9"/>
          </a:solidFill>
          <a:ln w="12700">
            <a:solidFill>
              <a:srgbClr val="D96FA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7212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Keempat teori ini menyoroti dimensi yang luput dari lima teori sebelumnya: pembanding, relasi, keterwakilan, dan pilihan istilah.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1D1B84"/>
          </a:solidFill>
          <a:ln w="12700">
            <a:solidFill>
              <a:srgbClr val="1D1B84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56728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SINTESIS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SINTESIS PENILAIAN DAN EVALUASI KLAIM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satu pun dari sembilan teori memberikan dukungan tanpa syarat.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-480000">
            <a:off x="4535424" y="1755648"/>
            <a:ext cx="3154680" cy="429768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syn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5736" y="1847088"/>
            <a:ext cx="2693938" cy="400507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02920" y="18470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PENILAIAN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832104" y="230428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Egoism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2587752" y="230428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Netral</a:t>
            </a:r>
            <a:endParaRPr lang="en-US" sz="1050" dirty="0"/>
          </a:p>
        </p:txBody>
      </p:sp>
      <p:sp>
        <p:nvSpPr>
          <p:cNvPr id="14" name="Text 10"/>
          <p:cNvSpPr txBox="1"/>
          <p:nvPr/>
        </p:nvSpPr>
        <p:spPr>
          <a:xfrm>
            <a:off x="502920" y="2642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832104" y="264261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Utilitarianism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2587752" y="264261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Ambivalen</a:t>
            </a:r>
            <a:endParaRPr lang="en-US" sz="105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" y="298094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duty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587752" y="298094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502920" y="3319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" y="331927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Ethics of rights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2587752" y="331927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Bersyarat</a:t>
            </a:r>
            <a:endParaRPr lang="en-US" sz="1050" dirty="0"/>
          </a:p>
        </p:txBody>
      </p:sp>
      <p:sp>
        <p:nvSpPr>
          <p:cNvPr id="23" name="Text 19"/>
          <p:cNvSpPr txBox="1"/>
          <p:nvPr/>
        </p:nvSpPr>
        <p:spPr>
          <a:xfrm>
            <a:off x="50292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832104" y="3657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Justice</a:t>
            </a:r>
            <a:endParaRPr lang="en-US" sz="1100" dirty="0"/>
          </a:p>
        </p:txBody>
      </p:sp>
      <p:sp>
        <p:nvSpPr>
          <p:cNvPr id="25" name="Text 21"/>
          <p:cNvSpPr txBox="1"/>
          <p:nvPr/>
        </p:nvSpPr>
        <p:spPr>
          <a:xfrm>
            <a:off x="2587752" y="365760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502920" y="3995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3"/>
          <p:cNvSpPr txBox="1"/>
          <p:nvPr/>
        </p:nvSpPr>
        <p:spPr>
          <a:xfrm>
            <a:off x="832104" y="39959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2587752" y="3995928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pembanding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502920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0" name="Text 26"/>
          <p:cNvSpPr txBox="1"/>
          <p:nvPr/>
        </p:nvSpPr>
        <p:spPr>
          <a:xfrm>
            <a:off x="832104" y="433425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Ethic of care</a:t>
            </a:r>
            <a:endParaRPr lang="en-US" sz="1100" dirty="0"/>
          </a:p>
        </p:txBody>
      </p:sp>
      <p:sp>
        <p:nvSpPr>
          <p:cNvPr id="31" name="Text 27"/>
          <p:cNvSpPr txBox="1"/>
          <p:nvPr/>
        </p:nvSpPr>
        <p:spPr>
          <a:xfrm>
            <a:off x="2587752" y="4334256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F0C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Menuntut pemulihan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502920" y="46725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33" name="Text 29"/>
          <p:cNvSpPr txBox="1"/>
          <p:nvPr/>
        </p:nvSpPr>
        <p:spPr>
          <a:xfrm>
            <a:off x="832104" y="467258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Discourse ethics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2587752" y="4672584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Menolak prosedur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502920" y="50109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832104" y="50109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Postmodern ethics</a:t>
            </a:r>
            <a:endParaRPr lang="en-US" sz="1100" dirty="0"/>
          </a:p>
        </p:txBody>
      </p:sp>
      <p:sp>
        <p:nvSpPr>
          <p:cNvPr id="37" name="Text 33"/>
          <p:cNvSpPr txBox="1"/>
          <p:nvPr/>
        </p:nvSpPr>
        <p:spPr>
          <a:xfrm>
            <a:off x="2587752" y="5010912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6000"/>
              </a:lnSpc>
              <a:buNone/>
            </a:pPr>
            <a:r>
              <a:rPr lang="en-US" sz="1050" b="1" dirty="0">
                <a:solidFill>
                  <a:srgbClr val="9C9A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Relativistik</a:t>
            </a:r>
            <a:endParaRPr lang="en-US" sz="1050" dirty="0"/>
          </a:p>
        </p:txBody>
      </p:sp>
      <p:sp>
        <p:nvSpPr>
          <p:cNvPr id="38" name="Shape 34"/>
          <p:cNvSpPr/>
          <p:nvPr/>
        </p:nvSpPr>
        <p:spPr>
          <a:xfrm>
            <a:off x="502920" y="5413248"/>
            <a:ext cx="3931920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552297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Enam menolak, satu bersyarat, satu ambivalen, dan satu netral karena mengakui keterbatasan teorinya.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754112" y="18470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 PROPOSISI DARI KESEMBILAN TEORI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754112" y="2304288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43" name="Text 39"/>
          <p:cNvSpPr txBox="1"/>
          <p:nvPr/>
        </p:nvSpPr>
        <p:spPr>
          <a:xfrm>
            <a:off x="8138160" y="230428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PERBANDINGAN MASA LALU TIDAK NORMATIF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8138160" y="2578608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Kondisi yang lebih baik daripada ekspor bijih mentah tidak dengan sendirinya memadai.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Virtue ethics menuntut pembanding pada standar tertinggi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7754112" y="3145536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7754112" y="3255264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47" name="Text 43"/>
          <p:cNvSpPr txBox="1"/>
          <p:nvPr/>
        </p:nvSpPr>
        <p:spPr>
          <a:xfrm>
            <a:off x="8138160" y="325526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HIJAU GUGUR PADA SUMBER ENERGI</a:t>
            </a:r>
            <a:endParaRPr lang="en-US" sz="1100" dirty="0"/>
          </a:p>
        </p:txBody>
      </p:sp>
      <p:sp>
        <p:nvSpPr>
          <p:cNvPr id="48" name="Text 44"/>
          <p:cNvSpPr txBox="1"/>
          <p:nvPr/>
        </p:nvSpPr>
        <p:spPr>
          <a:xfrm>
            <a:off x="8138160" y="3529584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Pengolahan yang bertumpu pada pembangkit batu bara di dalam kawasan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highlight>
                  <a:srgbClr val="EC4899"/>
                </a:highlight>
                <a:latin typeface="Arial" pitchFamily="34" charset="0"/>
                <a:ea typeface="Arial" pitchFamily="34" charset="-122"/>
                <a:cs typeface="Arial" pitchFamily="34" charset="-120"/>
              </a:rPr>
              <a:t>tidak dapat disebut hijau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Postmodern ethics membacanya sebagai alat pembenar.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7754112" y="4096512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7754112" y="4206240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8138160" y="42062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DISTRIBUSI MANFAAT DAN BEBAN TIMPANG</a:t>
            </a:r>
            <a:endParaRPr lang="en-US" sz="1100" dirty="0"/>
          </a:p>
        </p:txBody>
      </p:sp>
      <p:sp>
        <p:nvSpPr>
          <p:cNvPr id="52" name="Text 48"/>
          <p:cNvSpPr txBox="1"/>
          <p:nvPr/>
        </p:nvSpPr>
        <p:spPr>
          <a:xfrm>
            <a:off x="8138160" y="4480560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Hanya 4,35 persen nilai tambah tinggal di daerah, sementara </a:t>
            </a:r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kabupaten penghasil lebih miskin daripada rata-rata provinsinya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Rawls menolaknya.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7754112" y="5047488"/>
            <a:ext cx="3931920" cy="20117"/>
          </a:xfrm>
          <a:prstGeom prst="rect">
            <a:avLst/>
          </a:prstGeom>
          <a:solidFill>
            <a:srgbClr val="4341B0"/>
          </a:solidFill>
          <a:ln w="12700">
            <a:solidFill>
              <a:srgbClr val="4341B0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754112" y="5157216"/>
            <a:ext cx="310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55" name="Text 51"/>
          <p:cNvSpPr txBox="1"/>
          <p:nvPr/>
        </p:nvSpPr>
        <p:spPr>
          <a:xfrm>
            <a:off x="8138160" y="515721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PROSESNYA CACAT SEJAK PERUMUSAN</a:t>
            </a:r>
            <a:endParaRPr lang="en-US" sz="1100" dirty="0"/>
          </a:p>
        </p:txBody>
      </p:sp>
      <p:sp>
        <p:nvSpPr>
          <p:cNvPr id="56" name="Text 52"/>
          <p:cNvSpPr txBox="1"/>
          <p:nvPr/>
        </p:nvSpPr>
        <p:spPr>
          <a:xfrm>
            <a:off x="8138160" y="5431536"/>
            <a:ext cx="3547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Warga terdampak tidak menjadi pihak dalam perizinan dan perencanaan kawasan. Discourse ethics membatalkan hasil dari proses semacam itu.</a:t>
            </a:r>
            <a:endParaRPr lang="en-US" sz="950" dirty="0"/>
          </a:p>
        </p:txBody>
      </p:sp>
      <p:sp>
        <p:nvSpPr>
          <p:cNvPr id="57" name="Text 53"/>
          <p:cNvSpPr txBox="1"/>
          <p:nvPr/>
        </p:nvSpPr>
        <p:spPr>
          <a:xfrm>
            <a:off x="502920" y="6254496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850" i="1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Penolakan atas klaim nikel hijau tidak setara dengan penolakan atas hilirisasi. Keduanya persoalan yang terpisah.</a:t>
            </a:r>
            <a:endParaRPr lang="en-US" sz="850" dirty="0"/>
          </a:p>
        </p:txBody>
      </p:sp>
      <p:sp>
        <p:nvSpPr>
          <p:cNvPr id="58" name="Shape 54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solidFill>
            <a:srgbClr val="FFFFFF"/>
          </a:solidFill>
          <a:ln w="22225">
            <a:solidFill>
              <a:srgbClr val="13060D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 rot="-72000">
            <a:off x="502920" y="310896"/>
            <a:ext cx="102961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6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749808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9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SIMPULAN DAN IMPLIKASI MANAJERIAL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38988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A5A3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Tiga temuan dari pengujian, diikuti tiga tindak lanjut yang dapat dijalankan manajemen.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 rot="600000">
            <a:off x="7571232" y="1572768"/>
            <a:ext cx="4096512" cy="4846320"/>
          </a:xfrm>
          <a:prstGeom prst="irregularSeal2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8" name="Image 1" descr="assets/cut/c2-clo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1810512"/>
            <a:ext cx="3793586" cy="504748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2400" dirty="0"/>
          </a:p>
        </p:txBody>
      </p:sp>
      <p:sp>
        <p:nvSpPr>
          <p:cNvPr id="10" name="Text 6"/>
          <p:cNvSpPr txBox="1"/>
          <p:nvPr/>
        </p:nvSpPr>
        <p:spPr>
          <a:xfrm>
            <a:off x="502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KONVERGENSI, BUKAN KESEPAKATAN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Sembilan teori berangkat dari premis berbeda, namun mayoritasnya bermuara pada arah yang sama.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Inilah bukti terkuat pluralisme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788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2400" dirty="0"/>
          </a:p>
        </p:txBody>
      </p:sp>
      <p:sp>
        <p:nvSpPr>
          <p:cNvPr id="13" name="Text 9"/>
          <p:cNvSpPr txBox="1"/>
          <p:nvPr/>
        </p:nvSpPr>
        <p:spPr>
          <a:xfrm>
            <a:off x="2788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ETIS YANG GUGUR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2788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gugur bukan kebijakan hilirisasinya, melainkan </a:t>
            </a:r>
            <a:pPr indent="0" marL="0">
              <a:lnSpc>
                <a:spcPct val="11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bahwa kebijakan ini sudah etis</a:t>
            </a:r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Upah, keselamatan, lingkungan, dan sumber energinya tetap terbuka diperbaiki.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5074920" y="1737360"/>
            <a:ext cx="914400" cy="498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2400" b="1" spc="-10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2400" dirty="0"/>
          </a:p>
        </p:txBody>
      </p:sp>
      <p:sp>
        <p:nvSpPr>
          <p:cNvPr id="16" name="Text 12"/>
          <p:cNvSpPr txBox="1"/>
          <p:nvPr/>
        </p:nvSpPr>
        <p:spPr>
          <a:xfrm>
            <a:off x="5074920" y="2176272"/>
            <a:ext cx="207568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5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KASUS YANG MASIH BERLANGSUNG</a:t>
            </a:r>
            <a:endParaRPr lang="en-US" sz="1150" dirty="0"/>
          </a:p>
        </p:txBody>
      </p:sp>
      <p:sp>
        <p:nvSpPr>
          <p:cNvPr id="17" name="Text 13"/>
          <p:cNvSpPr txBox="1"/>
          <p:nvPr/>
        </p:nvSpPr>
        <p:spPr>
          <a:xfrm>
            <a:off x="5074920" y="2706624"/>
            <a:ext cx="20756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0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Kebijakannya masih berjalan, sengketa dagangnya belum tuntas, dan angkanya berubah tiap tahun. Kasus yang belum selesai justru paling layak didiskusikan.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02920" y="3913632"/>
            <a:ext cx="6647688" cy="20117"/>
          </a:xfrm>
          <a:prstGeom prst="rect">
            <a:avLst/>
          </a:prstGeom>
          <a:solidFill>
            <a:srgbClr val="00761A"/>
          </a:solidFill>
          <a:ln w="12700">
            <a:solidFill>
              <a:srgbClr val="00761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110228"/>
            <a:ext cx="118872" cy="118872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22376" y="405993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000" b="1" spc="150" kern="0" dirty="0">
                <a:solidFill>
                  <a:srgbClr val="00A1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IMPLIKASI MANAJERIAL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INTERNALISASI BIAYA TERTUNDA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502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Biaya kesehatan warga, pemulihan sungai, dan pensiun dini pembangkit masuk neraca sejak perencanaan.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2788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PELIBATAN PIHAK YANG ABSEN</a:t>
            </a:r>
            <a:endParaRPr lang="en-US" sz="1000" dirty="0"/>
          </a:p>
        </p:txBody>
      </p:sp>
      <p:sp>
        <p:nvSpPr>
          <p:cNvPr id="24" name="Text 20"/>
          <p:cNvSpPr txBox="1"/>
          <p:nvPr/>
        </p:nvSpPr>
        <p:spPr>
          <a:xfrm>
            <a:off x="2788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Pekerja, warga hilir, dan masyarakat adat diberi keterwakilan formal dalam panitia keselamatan dan perizinan.</a:t>
            </a:r>
            <a:endParaRPr lang="en-US" sz="85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4425696"/>
            <a:ext cx="2075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spc="-20" kern="0" dirty="0">
                <a:solidFill>
                  <a:srgbClr val="9BE8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PENGUJIAN MULTITEORI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5074920" y="4846320"/>
            <a:ext cx="2075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850" dirty="0">
                <a:solidFill>
                  <a:srgbClr val="D8D7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Klaim yang lolos utilitarianism kerap gugur pada keadilan distributif dan discourse ethics.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502920" y="5705856"/>
            <a:ext cx="6647688" cy="20117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2920" y="5833872"/>
            <a:ext cx="66476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Manfaat yang terukur selalu lebih mudah dipertahankan daripada beban yang tersebar. 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Justru karena itu beban yang tersebar perlu dihitung lebih dahulu.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11304727" y="6199632"/>
            <a:ext cx="384048" cy="384048"/>
          </a:xfrm>
          <a:prstGeom prst="ellipse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11304727" y="6199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D1B8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grid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-360000">
            <a:off x="5577840" y="640080"/>
            <a:ext cx="6309360" cy="5577840"/>
          </a:xfrm>
          <a:prstGeom prst="irregularSeal2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 rot="720000">
            <a:off x="685800" y="1051560"/>
            <a:ext cx="1325880" cy="1325880"/>
          </a:xfrm>
          <a:prstGeom prst="star16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rot="-480000">
            <a:off x="1234440" y="5257800"/>
            <a:ext cx="960120" cy="960120"/>
          </a:xfrm>
          <a:prstGeom prst="star24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pic>
        <p:nvPicPr>
          <p:cNvPr id="6" name="Image 1" descr="assets/cut/c-than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234440"/>
            <a:ext cx="5989320" cy="371851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23774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1100" b="1" spc="240" kern="0" dirty="0">
                <a:solidFill>
                  <a:srgbClr val="EC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PENUTUP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2688336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TERIMA</a:t>
            </a:r>
            <a:endParaRPr lang="en-US" sz="62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3584448"/>
            <a:ext cx="5120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6000"/>
              </a:lnSpc>
              <a:buNone/>
            </a:pPr>
            <a:r>
              <a:rPr lang="en-US" sz="6200" b="1" spc="-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KASIH</a:t>
            </a:r>
            <a:endParaRPr lang="en-US" sz="6200" dirty="0"/>
          </a:p>
        </p:txBody>
      </p:sp>
      <p:sp>
        <p:nvSpPr>
          <p:cNvPr id="10" name="Shape 6"/>
          <p:cNvSpPr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solidFill>
            <a:srgbClr val="00A11E"/>
          </a:solidFill>
          <a:ln w="12700">
            <a:solidFill>
              <a:srgbClr val="00A11E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663440"/>
            <a:ext cx="388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20" kern="0" dirty="0">
                <a:solidFill>
                  <a:srgbClr val="1306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ETHICS FOR SUSTAINABILITY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Evaluating Business Ethics: Normative Ethical Theories</dc:title>
  <dc:subject>PptxGenJS Presentation</dc:subject>
  <dc:creator>Aslih Abnuri, Arfinal Diputra, Rohana Dwi Hardianti</dc:creator>
  <cp:lastModifiedBy>Aslih Abnuri, Arfinal Diputra, Rohana Dwi Hardianti</cp:lastModifiedBy>
  <cp:revision>1</cp:revision>
  <dcterms:created xsi:type="dcterms:W3CDTF">2026-08-27T05:02:17Z</dcterms:created>
  <dcterms:modified xsi:type="dcterms:W3CDTF">2026-08-27T05:02:17Z</dcterms:modified>
</cp:coreProperties>
</file>