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Sampaikan bahwa bab ini berisi sembilan cara menilai satu dilema yang sama, dan bukunya sengaja tidak memilih salah satunya sebagai yang paling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bahwa satu kasus yaitu Ethical Dilemma 3 dipakai untuk menguji seluruh teori sepanjang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manfaat teori etika: merasionalisasi firasat, memungkinkan wacana rasional antara orang dengan nilai berbeda, dan memperjelas praanggapan moral para pihak.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ethical relativism dari descriptive relativism. Descriptive hanya menyatakan kelompok berbeda punya etika berbeda, ethical menyatakan keduanya bisa sama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Interfaith Declaration yang menetapkan prinsip bersama lintas agama: keadilan, saling menghormati, kepengurusan dan kejujuran.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bahwa edisi kelima mengganti istilah non-consequentialist menjadi principle-based karena bagian Rawls diperluas dan teori Rawls tidak sepenuhnya non-consequentialist.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kasusnya singkat saja. Minta satu atau dua mahasiswa menyebut reaksi spontannya, lalu janjikan bahwa jawaban mereka akan diuji dengan sembilan teori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bahwa Smith dan Friedman sering dikaitkan dengan egoism, namun menurut Werhane 1989 pendekatan Smith sebenarnya sosial karena memuat prudence, benevolence dan justice.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penafsiran utility: hedonistik lewat pleasure dan pain, eudemonistik lewat kebahagiaan, dan ideal yang mencakup seluruh kebaikan bernilai intrinsik seperti persahabatan dan kepercayaan.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hasil analisis ini membuat sebagian mahasiswa tidak nyaman. Ketidaknyamanan itu yang menjadi pintu masuk ke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utilitarianism membebaskan analis dari keharusan memeriksa benar dan salah pada setiap situasi, dan memungkinkan penetapan prinsip yang berlaku umum.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relevansi Kant untuk stakeholder theory. Menurut Evan dan Freeman 1993 dasar etis konsep pemangku kepentingan diturunkan dari pemikiran Kantian.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Keterbatasannya: dasarnya kemasukakalan dan bukan metodologi mendalam, ada keberatan korporasi berperan seperti negara, dan gagasan hak berakar pada pandangan Barat yang individualistis.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contract memberi perusahaan license to operate, dan sebagai imbalannya perusahaan menerima pembatasan berupa pajak dan kepatuhan hukum.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Kritik inilah yang membuka jalan ke empat teori alternatif pada bagian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Menurut Crane et al. 2019 keempat teori ini akan semakin berpengaruh dalam literatur etika bisnis.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Kelemahan virtue ethics: sulit memahami orang baik yang berbuat buruk, tidak jelas ideal kebajikan komunitas mana yang dirujuk. Kritik atas care ethics dari Borgerson: jangan direduksi pada sifat feminin yang stereotipikal.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Keterbatasan discourse ethics: waktunya sangat besar dan asumsinya terlalu optimistis. Namun pendekatan ini terbukti mendasari penyelesaian banyak sengketa dampak lingkungan korporasi.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kunci. Sampaikan bahwa analisis pluralis mengakui keputusan bisnis nyata melibatkan banyak aktor dengan pandangan etis yang berbeda-beda.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ini yang nanti dipakai untuk membedah kasus oil sands pada bagian terakhir.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ketiadaan jawaban tunggal itulah yang membuat kasus ini cocok untuk menunjukkan pesan Figure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bahwa perkembangan yang lambat pada awalnya disebabkan biaya ekstraksi yang tinggi, dan baru berubah ketika harga minyak melonjak sejak pergantian abad.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bahwa bahkan istilahnya diperebutkan. Kritikus menyebutnya tar sands, industri dan pemerintah menyebutnya oil sands. Ini bahan untuk discourse dan postmodern ethics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Selain Kanada, sebagian besar negara dalam sepuluh besar memiliki rekam jejak yang buruk dalam demokrasi. Itulah seluruh kekuatan argumen Levant, dan itu pula yang dibantah Bennett.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tidak satu pun kolom kanan berbunyi mendukung tanpa syarat, namun kolom itu juga tidak seragam. Perbedaan itulah bahan diskusinya.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Pertanyaan penutupnya: apakah narasi nikel yang etis lolos dari uji yang sama dengan yang baru kita terapkan pada ethical oil? Lalu pertanyaan Rawls: siapa yang menikmati manfaatnya, siapa yang menanggung bebannya, dan apakah keduanya pihak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mengulang pemungutan suara pembuka mengenai ethical oil, lalu bandingkan hasilnya dengan hasil di awal sesi.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638"/>
        </a:solidFill>
      </p:bgPr>
    </p:bg>
    <p:spTree>
      <p:nvGrpSpPr>
        <p:cNvPr id="1" name=""/>
        <p:cNvGrpSpPr/>
        <p:nvPr/>
      </p:nvGrpSpPr>
      <p:grpSpPr>
        <a:xfrm>
          <a:off x="0" y="0"/>
          <a:ext cx="0" cy="0"/>
          <a:chOff x="0" y="0"/>
          <a:chExt cx="0" cy="0"/>
        </a:xfrm>
      </p:grpSpPr>
      <p:sp>
        <p:nvSpPr>
          <p:cNvPr id="2" name="Text 0"/>
          <p:cNvSpPr txBox="1"/>
          <p:nvPr/>
        </p:nvSpPr>
        <p:spPr>
          <a:xfrm>
            <a:off x="640080" y="1737360"/>
            <a:ext cx="10908792" cy="310896"/>
          </a:xfrm>
          <a:prstGeom prst="rect">
            <a:avLst/>
          </a:prstGeom>
          <a:noFill/>
          <a:ln/>
        </p:spPr>
        <p:txBody>
          <a:bodyPr wrap="square" lIns="0" tIns="0" rIns="0" bIns="0" rtlCol="0" anchor="t"/>
          <a:lstStyle/>
          <a:p>
            <a:pPr indent="0" marL="0">
              <a:buNone/>
            </a:pPr>
            <a:r>
              <a:rPr lang="en-US" sz="1300" b="1" spc="260" kern="0" dirty="0">
                <a:solidFill>
                  <a:srgbClr val="C97B2E"/>
                </a:solidFill>
                <a:latin typeface="Calibri" pitchFamily="34" charset="0"/>
                <a:ea typeface="Calibri" pitchFamily="34" charset="-122"/>
                <a:cs typeface="Calibri" pitchFamily="34" charset="-120"/>
              </a:rPr>
              <a:t>Business Ethics</a:t>
            </a:r>
            <a:endParaRPr lang="en-US" sz="1300" dirty="0"/>
          </a:p>
        </p:txBody>
      </p:sp>
      <p:sp>
        <p:nvSpPr>
          <p:cNvPr id="3" name="Text 1"/>
          <p:cNvSpPr txBox="1"/>
          <p:nvPr/>
        </p:nvSpPr>
        <p:spPr>
          <a:xfrm>
            <a:off x="640080" y="2148840"/>
            <a:ext cx="10908792" cy="548640"/>
          </a:xfrm>
          <a:prstGeom prst="rect">
            <a:avLst/>
          </a:prstGeom>
          <a:noFill/>
          <a:ln/>
        </p:spPr>
        <p:txBody>
          <a:bodyPr wrap="square" lIns="0" tIns="0" rIns="0" bIns="0" rtlCol="0" anchor="t"/>
          <a:lstStyle/>
          <a:p>
            <a:pPr indent="0" marL="0">
              <a:buNone/>
            </a:pPr>
            <a:r>
              <a:rPr lang="en-US" sz="2200" dirty="0">
                <a:solidFill>
                  <a:srgbClr val="BDB6D6"/>
                </a:solidFill>
                <a:latin typeface="Cambria" pitchFamily="34" charset="0"/>
                <a:ea typeface="Cambria" pitchFamily="34" charset="-122"/>
                <a:cs typeface="Cambria" pitchFamily="34" charset="-120"/>
              </a:rPr>
              <a:t>Chapter 3</a:t>
            </a:r>
            <a:endParaRPr lang="en-US" sz="2200" dirty="0"/>
          </a:p>
        </p:txBody>
      </p:sp>
      <p:sp>
        <p:nvSpPr>
          <p:cNvPr id="4" name="Text 2"/>
          <p:cNvSpPr txBox="1"/>
          <p:nvPr/>
        </p:nvSpPr>
        <p:spPr>
          <a:xfrm>
            <a:off x="640080" y="2670048"/>
            <a:ext cx="9994392" cy="8686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Evaluating Business Ethics</a:t>
            </a:r>
            <a:endParaRPr lang="en-US" sz="4600" dirty="0"/>
          </a:p>
        </p:txBody>
      </p:sp>
      <p:sp>
        <p:nvSpPr>
          <p:cNvPr id="5" name="Text 3"/>
          <p:cNvSpPr txBox="1"/>
          <p:nvPr/>
        </p:nvSpPr>
        <p:spPr>
          <a:xfrm>
            <a:off x="640080" y="3529584"/>
            <a:ext cx="9994392" cy="640080"/>
          </a:xfrm>
          <a:prstGeom prst="rect">
            <a:avLst/>
          </a:prstGeom>
          <a:noFill/>
          <a:ln/>
        </p:spPr>
        <p:txBody>
          <a:bodyPr wrap="square" lIns="0" tIns="0" rIns="0" bIns="0" rtlCol="0" anchor="t"/>
          <a:lstStyle/>
          <a:p>
            <a:pPr indent="0" marL="0">
              <a:buNone/>
            </a:pPr>
            <a:r>
              <a:rPr lang="en-US" sz="3000" i="1" dirty="0">
                <a:solidFill>
                  <a:srgbClr val="C97B2E"/>
                </a:solidFill>
                <a:latin typeface="Cambria" pitchFamily="34" charset="0"/>
                <a:ea typeface="Cambria" pitchFamily="34" charset="-122"/>
                <a:cs typeface="Cambria" pitchFamily="34" charset="-120"/>
              </a:rPr>
              <a:t>Normative Ethical Theories</a:t>
            </a:r>
            <a:endParaRPr lang="en-US" sz="3000" dirty="0"/>
          </a:p>
        </p:txBody>
      </p:sp>
      <p:sp>
        <p:nvSpPr>
          <p:cNvPr id="6" name="Text 4"/>
          <p:cNvSpPr txBox="1"/>
          <p:nvPr/>
        </p:nvSpPr>
        <p:spPr>
          <a:xfrm>
            <a:off x="640080" y="4526280"/>
            <a:ext cx="8897112" cy="822960"/>
          </a:xfrm>
          <a:prstGeom prst="rect">
            <a:avLst/>
          </a:prstGeom>
          <a:noFill/>
          <a:ln/>
        </p:spPr>
        <p:txBody>
          <a:bodyPr wrap="square" lIns="0" tIns="0" rIns="0" bIns="0" rtlCol="0" anchor="t"/>
          <a:lstStyle/>
          <a:p>
            <a:pPr indent="0" marL="0">
              <a:lnSpc>
                <a:spcPts val="2200"/>
              </a:lnSpc>
              <a:buNone/>
            </a:pPr>
            <a:r>
              <a:rPr lang="en-US" sz="1300" dirty="0">
                <a:solidFill>
                  <a:srgbClr val="9F98BE"/>
                </a:solidFill>
                <a:latin typeface="Calibri" pitchFamily="34" charset="0"/>
                <a:ea typeface="Calibri" pitchFamily="34" charset="-122"/>
                <a:cs typeface="Calibri" pitchFamily="34" charset="-120"/>
              </a:rPr>
              <a:t>Crane, Matten, Glozer &amp; Spence (2019), Business Ethics, edisi kelima, Oxford University Press, halaman 85 sampai 135</a:t>
            </a:r>
            <a:endParaRPr lang="en-US" sz="1300" dirty="0"/>
          </a:p>
          <a:p>
            <a:pPr indent="0" marL="0">
              <a:lnSpc>
                <a:spcPts val="2200"/>
              </a:lnSpc>
              <a:buNone/>
            </a:pPr>
            <a:r>
              <a:rPr lang="en-US" sz="1300" dirty="0">
                <a:solidFill>
                  <a:srgbClr val="9F98BE"/>
                </a:solidFill>
                <a:latin typeface="Calibri" pitchFamily="34" charset="0"/>
                <a:ea typeface="Calibri" pitchFamily="34" charset="-122"/>
                <a:cs typeface="Calibri" pitchFamily="34" charset="-120"/>
              </a:rPr>
              <a:t>Diskusi kasus: Case 3, Canada’s Oil Sands, halaman 129 sampai 134</a:t>
            </a:r>
            <a:endParaRPr lang="en-US" sz="1300" dirty="0"/>
          </a:p>
        </p:txBody>
      </p:sp>
      <p:sp>
        <p:nvSpPr>
          <p:cNvPr id="7" name="Shape 5"/>
          <p:cNvSpPr/>
          <p:nvPr/>
        </p:nvSpPr>
        <p:spPr>
          <a:xfrm>
            <a:off x="640080" y="5852160"/>
            <a:ext cx="173736" cy="173736"/>
          </a:xfrm>
          <a:prstGeom prst="ellipse">
            <a:avLst/>
          </a:prstGeom>
          <a:solidFill>
            <a:srgbClr val="AB463C"/>
          </a:solidFill>
          <a:ln/>
        </p:spPr>
      </p:sp>
      <p:sp>
        <p:nvSpPr>
          <p:cNvPr id="8" name="Shape 6"/>
          <p:cNvSpPr/>
          <p:nvPr/>
        </p:nvSpPr>
        <p:spPr>
          <a:xfrm>
            <a:off x="914400" y="5852160"/>
            <a:ext cx="173736" cy="173736"/>
          </a:xfrm>
          <a:prstGeom prst="ellipse">
            <a:avLst/>
          </a:prstGeom>
          <a:solidFill>
            <a:srgbClr val="B96A2C"/>
          </a:solidFill>
          <a:ln/>
        </p:spPr>
      </p:sp>
      <p:sp>
        <p:nvSpPr>
          <p:cNvPr id="9" name="Shape 7"/>
          <p:cNvSpPr/>
          <p:nvPr/>
        </p:nvSpPr>
        <p:spPr>
          <a:xfrm>
            <a:off x="1188720" y="5852160"/>
            <a:ext cx="173736" cy="173736"/>
          </a:xfrm>
          <a:prstGeom prst="ellipse">
            <a:avLst/>
          </a:prstGeom>
          <a:solidFill>
            <a:srgbClr val="9C8226"/>
          </a:solidFill>
          <a:ln/>
        </p:spPr>
      </p:sp>
      <p:sp>
        <p:nvSpPr>
          <p:cNvPr id="10" name="Shape 8"/>
          <p:cNvSpPr/>
          <p:nvPr/>
        </p:nvSpPr>
        <p:spPr>
          <a:xfrm>
            <a:off x="1463040" y="5852160"/>
            <a:ext cx="173736" cy="173736"/>
          </a:xfrm>
          <a:prstGeom prst="ellipse">
            <a:avLst/>
          </a:prstGeom>
          <a:solidFill>
            <a:srgbClr val="5A8637"/>
          </a:solidFill>
          <a:ln/>
        </p:spPr>
      </p:sp>
      <p:sp>
        <p:nvSpPr>
          <p:cNvPr id="11" name="Shape 9"/>
          <p:cNvSpPr/>
          <p:nvPr/>
        </p:nvSpPr>
        <p:spPr>
          <a:xfrm>
            <a:off x="1737360" y="5852160"/>
            <a:ext cx="173736" cy="173736"/>
          </a:xfrm>
          <a:prstGeom prst="ellipse">
            <a:avLst/>
          </a:prstGeom>
          <a:solidFill>
            <a:srgbClr val="2C8072"/>
          </a:solidFill>
          <a:ln/>
        </p:spPr>
      </p:sp>
      <p:sp>
        <p:nvSpPr>
          <p:cNvPr id="12" name="Shape 10"/>
          <p:cNvSpPr/>
          <p:nvPr/>
        </p:nvSpPr>
        <p:spPr>
          <a:xfrm>
            <a:off x="2011680" y="5852160"/>
            <a:ext cx="173736" cy="173736"/>
          </a:xfrm>
          <a:prstGeom prst="ellipse">
            <a:avLst/>
          </a:prstGeom>
          <a:solidFill>
            <a:srgbClr val="2C6F92"/>
          </a:solidFill>
          <a:ln/>
        </p:spPr>
      </p:sp>
      <p:sp>
        <p:nvSpPr>
          <p:cNvPr id="13" name="Shape 11"/>
          <p:cNvSpPr/>
          <p:nvPr/>
        </p:nvSpPr>
        <p:spPr>
          <a:xfrm>
            <a:off x="2286000" y="5852160"/>
            <a:ext cx="173736" cy="173736"/>
          </a:xfrm>
          <a:prstGeom prst="ellipse">
            <a:avLst/>
          </a:prstGeom>
          <a:solidFill>
            <a:srgbClr val="4A5CA4"/>
          </a:solidFill>
          <a:ln/>
        </p:spPr>
      </p:sp>
      <p:sp>
        <p:nvSpPr>
          <p:cNvPr id="14" name="Shape 12"/>
          <p:cNvSpPr/>
          <p:nvPr/>
        </p:nvSpPr>
        <p:spPr>
          <a:xfrm>
            <a:off x="2560320" y="5852160"/>
            <a:ext cx="173736" cy="173736"/>
          </a:xfrm>
          <a:prstGeom prst="ellipse">
            <a:avLst/>
          </a:prstGeom>
          <a:solidFill>
            <a:srgbClr val="764B99"/>
          </a:solidFill>
          <a:ln/>
        </p:spPr>
      </p:sp>
      <p:sp>
        <p:nvSpPr>
          <p:cNvPr id="15" name="Shape 13"/>
          <p:cNvSpPr/>
          <p:nvPr/>
        </p:nvSpPr>
        <p:spPr>
          <a:xfrm>
            <a:off x="2834640" y="5852160"/>
            <a:ext cx="173736" cy="173736"/>
          </a:xfrm>
          <a:prstGeom prst="ellipse">
            <a:avLst/>
          </a:prstGeom>
          <a:solidFill>
            <a:srgbClr val="9E417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Peta materi dan capaian pembelajaran</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640080" y="1600200"/>
            <a:ext cx="5317236" cy="1280160"/>
          </a:xfrm>
          <a:prstGeom prst="roundRect">
            <a:avLst>
              <a:gd name="adj" fmla="val 2857"/>
            </a:avLst>
          </a:prstGeom>
          <a:solidFill>
            <a:srgbClr val="F6F4FC"/>
          </a:solidFill>
          <a:ln w="9525">
            <a:solidFill>
              <a:srgbClr val="D9D5E6"/>
            </a:solidFill>
            <a:prstDash val="solid"/>
          </a:ln>
        </p:spPr>
      </p:sp>
      <p:sp>
        <p:nvSpPr>
          <p:cNvPr id="6" name="Shape 4"/>
          <p:cNvSpPr/>
          <p:nvPr/>
        </p:nvSpPr>
        <p:spPr>
          <a:xfrm>
            <a:off x="896112" y="1837944"/>
            <a:ext cx="384048" cy="384048"/>
          </a:xfrm>
          <a:prstGeom prst="ellipse">
            <a:avLst/>
          </a:prstGeom>
          <a:solidFill>
            <a:srgbClr val="AB463C"/>
          </a:solidFill>
          <a:ln/>
        </p:spPr>
      </p:sp>
      <p:sp>
        <p:nvSpPr>
          <p:cNvPr id="7" name="Text 5"/>
          <p:cNvSpPr txBox="1"/>
          <p:nvPr/>
        </p:nvSpPr>
        <p:spPr>
          <a:xfrm>
            <a:off x="896112"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19656"/>
            <a:ext cx="4402836" cy="329184"/>
          </a:xfrm>
          <a:prstGeom prst="rect">
            <a:avLst/>
          </a:prstGeom>
          <a:noFill/>
          <a:ln/>
        </p:spPr>
        <p:txBody>
          <a:bodyPr wrap="square" lIns="0" tIns="0" rIns="0" bIns="0" rtlCol="0" anchor="t"/>
          <a:lstStyle/>
          <a:p>
            <a:pPr indent="0" marL="0">
              <a:buNone/>
            </a:pPr>
            <a:r>
              <a:rPr lang="en-US" sz="1600" b="1" dirty="0">
                <a:solidFill>
                  <a:srgbClr val="2E2566"/>
                </a:solidFill>
                <a:latin typeface="Calibri" pitchFamily="34" charset="0"/>
                <a:ea typeface="Calibri" pitchFamily="34" charset="-122"/>
                <a:cs typeface="Calibri" pitchFamily="34" charset="-120"/>
              </a:rPr>
              <a:t>Peran teori etika</a:t>
            </a:r>
            <a:endParaRPr lang="en-US" sz="1600" dirty="0"/>
          </a:p>
        </p:txBody>
      </p:sp>
      <p:sp>
        <p:nvSpPr>
          <p:cNvPr id="9" name="Text 7"/>
          <p:cNvSpPr txBox="1"/>
          <p:nvPr/>
        </p:nvSpPr>
        <p:spPr>
          <a:xfrm>
            <a:off x="1417320" y="2176272"/>
            <a:ext cx="4357116" cy="603504"/>
          </a:xfrm>
          <a:prstGeom prst="rect">
            <a:avLst/>
          </a:prstGeom>
          <a:noFill/>
          <a:ln/>
        </p:spPr>
        <p:txBody>
          <a:bodyPr wrap="square" lIns="0" tIns="0" rIns="0" bIns="0" rtlCol="0" anchor="t"/>
          <a:lstStyle/>
          <a:p>
            <a:pPr indent="0" marL="0">
              <a:lnSpc>
                <a:spcPts val="1700"/>
              </a:lnSpc>
              <a:buNone/>
            </a:pPr>
            <a:r>
              <a:rPr lang="en-US" sz="1250" dirty="0">
                <a:solidFill>
                  <a:srgbClr val="5C5773"/>
                </a:solidFill>
                <a:latin typeface="Calibri" pitchFamily="34" charset="0"/>
                <a:ea typeface="Calibri" pitchFamily="34" charset="-122"/>
                <a:cs typeface="Calibri" pitchFamily="34" charset="-120"/>
              </a:rPr>
              <a:t>Absolutism, relativism dan pluralism. Kenapa keputusan bisnis butuh dasar penalaran yang sistematis.</a:t>
            </a:r>
            <a:endParaRPr lang="en-US" sz="1250" dirty="0"/>
          </a:p>
        </p:txBody>
      </p:sp>
      <p:sp>
        <p:nvSpPr>
          <p:cNvPr id="10" name="Shape 8"/>
          <p:cNvSpPr/>
          <p:nvPr/>
        </p:nvSpPr>
        <p:spPr>
          <a:xfrm>
            <a:off x="6231636" y="1600200"/>
            <a:ext cx="5317236" cy="1280160"/>
          </a:xfrm>
          <a:prstGeom prst="roundRect">
            <a:avLst>
              <a:gd name="adj" fmla="val 2857"/>
            </a:avLst>
          </a:prstGeom>
          <a:solidFill>
            <a:srgbClr val="F6F4FC"/>
          </a:solidFill>
          <a:ln w="9525">
            <a:solidFill>
              <a:srgbClr val="D9D5E6"/>
            </a:solidFill>
            <a:prstDash val="solid"/>
          </a:ln>
        </p:spPr>
      </p:sp>
      <p:sp>
        <p:nvSpPr>
          <p:cNvPr id="11" name="Shape 9"/>
          <p:cNvSpPr/>
          <p:nvPr/>
        </p:nvSpPr>
        <p:spPr>
          <a:xfrm>
            <a:off x="6487668" y="1837944"/>
            <a:ext cx="384048" cy="384048"/>
          </a:xfrm>
          <a:prstGeom prst="ellipse">
            <a:avLst/>
          </a:prstGeom>
          <a:solidFill>
            <a:srgbClr val="9C8226"/>
          </a:solidFill>
          <a:ln/>
        </p:spPr>
      </p:sp>
      <p:sp>
        <p:nvSpPr>
          <p:cNvPr id="12" name="Text 10"/>
          <p:cNvSpPr txBox="1"/>
          <p:nvPr/>
        </p:nvSpPr>
        <p:spPr>
          <a:xfrm>
            <a:off x="6487668"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7008876" y="1819656"/>
            <a:ext cx="4402836" cy="329184"/>
          </a:xfrm>
          <a:prstGeom prst="rect">
            <a:avLst/>
          </a:prstGeom>
          <a:noFill/>
          <a:ln/>
        </p:spPr>
        <p:txBody>
          <a:bodyPr wrap="square" lIns="0" tIns="0" rIns="0" bIns="0" rtlCol="0" anchor="t"/>
          <a:lstStyle/>
          <a:p>
            <a:pPr indent="0" marL="0">
              <a:buNone/>
            </a:pPr>
            <a:r>
              <a:rPr lang="en-US" sz="1600" b="1" dirty="0">
                <a:solidFill>
                  <a:srgbClr val="2E2566"/>
                </a:solidFill>
                <a:latin typeface="Calibri" pitchFamily="34" charset="0"/>
                <a:ea typeface="Calibri" pitchFamily="34" charset="-122"/>
                <a:cs typeface="Calibri" pitchFamily="34" charset="-120"/>
              </a:rPr>
              <a:t>Teori Western modernist</a:t>
            </a:r>
            <a:endParaRPr lang="en-US" sz="1600" dirty="0"/>
          </a:p>
        </p:txBody>
      </p:sp>
      <p:sp>
        <p:nvSpPr>
          <p:cNvPr id="14" name="Text 12"/>
          <p:cNvSpPr txBox="1"/>
          <p:nvPr/>
        </p:nvSpPr>
        <p:spPr>
          <a:xfrm>
            <a:off x="7008876" y="2176272"/>
            <a:ext cx="4357116" cy="603504"/>
          </a:xfrm>
          <a:prstGeom prst="rect">
            <a:avLst/>
          </a:prstGeom>
          <a:noFill/>
          <a:ln/>
        </p:spPr>
        <p:txBody>
          <a:bodyPr wrap="square" lIns="0" tIns="0" rIns="0" bIns="0" rtlCol="0" anchor="t"/>
          <a:lstStyle/>
          <a:p>
            <a:pPr indent="0" marL="0">
              <a:lnSpc>
                <a:spcPts val="1700"/>
              </a:lnSpc>
              <a:buNone/>
            </a:pPr>
            <a:r>
              <a:rPr lang="en-US" sz="1250" dirty="0">
                <a:solidFill>
                  <a:srgbClr val="5C5773"/>
                </a:solidFill>
                <a:latin typeface="Calibri" pitchFamily="34" charset="0"/>
                <a:ea typeface="Calibri" pitchFamily="34" charset="-122"/>
                <a:cs typeface="Calibri" pitchFamily="34" charset="-120"/>
              </a:rPr>
              <a:t>Ethical egoism, utilitarianism, ethics of duty, rights, justice dan social contract.</a:t>
            </a:r>
            <a:endParaRPr lang="en-US" sz="1250" dirty="0"/>
          </a:p>
        </p:txBody>
      </p:sp>
      <p:sp>
        <p:nvSpPr>
          <p:cNvPr id="15" name="Shape 13"/>
          <p:cNvSpPr/>
          <p:nvPr/>
        </p:nvSpPr>
        <p:spPr>
          <a:xfrm>
            <a:off x="640080" y="3063240"/>
            <a:ext cx="5317236" cy="1280160"/>
          </a:xfrm>
          <a:prstGeom prst="roundRect">
            <a:avLst>
              <a:gd name="adj" fmla="val 2857"/>
            </a:avLst>
          </a:prstGeom>
          <a:solidFill>
            <a:srgbClr val="F6F4FC"/>
          </a:solidFill>
          <a:ln w="9525">
            <a:solidFill>
              <a:srgbClr val="D9D5E6"/>
            </a:solidFill>
            <a:prstDash val="solid"/>
          </a:ln>
        </p:spPr>
      </p:sp>
      <p:sp>
        <p:nvSpPr>
          <p:cNvPr id="16" name="Shape 14"/>
          <p:cNvSpPr/>
          <p:nvPr/>
        </p:nvSpPr>
        <p:spPr>
          <a:xfrm>
            <a:off x="896112" y="3300984"/>
            <a:ext cx="384048" cy="384048"/>
          </a:xfrm>
          <a:prstGeom prst="ellipse">
            <a:avLst/>
          </a:prstGeom>
          <a:solidFill>
            <a:srgbClr val="2C8072"/>
          </a:solidFill>
          <a:ln/>
        </p:spPr>
      </p:sp>
      <p:sp>
        <p:nvSpPr>
          <p:cNvPr id="17" name="Text 15"/>
          <p:cNvSpPr txBox="1"/>
          <p:nvPr/>
        </p:nvSpPr>
        <p:spPr>
          <a:xfrm>
            <a:off x="896112" y="3300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417320" y="3282696"/>
            <a:ext cx="4402836" cy="329184"/>
          </a:xfrm>
          <a:prstGeom prst="rect">
            <a:avLst/>
          </a:prstGeom>
          <a:noFill/>
          <a:ln/>
        </p:spPr>
        <p:txBody>
          <a:bodyPr wrap="square" lIns="0" tIns="0" rIns="0" bIns="0" rtlCol="0" anchor="t"/>
          <a:lstStyle/>
          <a:p>
            <a:pPr indent="0" marL="0">
              <a:buNone/>
            </a:pPr>
            <a:r>
              <a:rPr lang="en-US" sz="1600" b="1" dirty="0">
                <a:solidFill>
                  <a:srgbClr val="2E2566"/>
                </a:solidFill>
                <a:latin typeface="Calibri" pitchFamily="34" charset="0"/>
                <a:ea typeface="Calibri" pitchFamily="34" charset="-122"/>
                <a:cs typeface="Calibri" pitchFamily="34" charset="-120"/>
              </a:rPr>
              <a:t>Teori alternatif</a:t>
            </a:r>
            <a:endParaRPr lang="en-US" sz="1600" dirty="0"/>
          </a:p>
        </p:txBody>
      </p:sp>
      <p:sp>
        <p:nvSpPr>
          <p:cNvPr id="19" name="Text 17"/>
          <p:cNvSpPr txBox="1"/>
          <p:nvPr/>
        </p:nvSpPr>
        <p:spPr>
          <a:xfrm>
            <a:off x="1417320" y="3639312"/>
            <a:ext cx="4357116" cy="603504"/>
          </a:xfrm>
          <a:prstGeom prst="rect">
            <a:avLst/>
          </a:prstGeom>
          <a:noFill/>
          <a:ln/>
        </p:spPr>
        <p:txBody>
          <a:bodyPr wrap="square" lIns="0" tIns="0" rIns="0" bIns="0" rtlCol="0" anchor="t"/>
          <a:lstStyle/>
          <a:p>
            <a:pPr indent="0" marL="0">
              <a:lnSpc>
                <a:spcPts val="1700"/>
              </a:lnSpc>
              <a:buNone/>
            </a:pPr>
            <a:r>
              <a:rPr lang="en-US" sz="1250" dirty="0">
                <a:solidFill>
                  <a:srgbClr val="5C5773"/>
                </a:solidFill>
                <a:latin typeface="Calibri" pitchFamily="34" charset="0"/>
                <a:ea typeface="Calibri" pitchFamily="34" charset="-122"/>
                <a:cs typeface="Calibri" pitchFamily="34" charset="-120"/>
              </a:rPr>
              <a:t>Virtue ethics, ethic of care, discourse ethics dan postmodern ethics.</a:t>
            </a:r>
            <a:endParaRPr lang="en-US" sz="1250" dirty="0"/>
          </a:p>
        </p:txBody>
      </p:sp>
      <p:sp>
        <p:nvSpPr>
          <p:cNvPr id="20" name="Shape 18"/>
          <p:cNvSpPr/>
          <p:nvPr/>
        </p:nvSpPr>
        <p:spPr>
          <a:xfrm>
            <a:off x="6231636" y="3063240"/>
            <a:ext cx="5317236" cy="1280160"/>
          </a:xfrm>
          <a:prstGeom prst="roundRect">
            <a:avLst>
              <a:gd name="adj" fmla="val 2857"/>
            </a:avLst>
          </a:prstGeom>
          <a:solidFill>
            <a:srgbClr val="F6F4FC"/>
          </a:solidFill>
          <a:ln w="9525">
            <a:solidFill>
              <a:srgbClr val="D9D5E6"/>
            </a:solidFill>
            <a:prstDash val="solid"/>
          </a:ln>
        </p:spPr>
      </p:sp>
      <p:sp>
        <p:nvSpPr>
          <p:cNvPr id="21" name="Shape 19"/>
          <p:cNvSpPr/>
          <p:nvPr/>
        </p:nvSpPr>
        <p:spPr>
          <a:xfrm>
            <a:off x="6487668" y="3300984"/>
            <a:ext cx="384048" cy="384048"/>
          </a:xfrm>
          <a:prstGeom prst="ellipse">
            <a:avLst/>
          </a:prstGeom>
          <a:solidFill>
            <a:srgbClr val="4A5CA4"/>
          </a:solidFill>
          <a:ln/>
        </p:spPr>
      </p:sp>
      <p:sp>
        <p:nvSpPr>
          <p:cNvPr id="22" name="Text 20"/>
          <p:cNvSpPr txBox="1"/>
          <p:nvPr/>
        </p:nvSpPr>
        <p:spPr>
          <a:xfrm>
            <a:off x="6487668" y="3300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7008876" y="3282696"/>
            <a:ext cx="4402836" cy="329184"/>
          </a:xfrm>
          <a:prstGeom prst="rect">
            <a:avLst/>
          </a:prstGeom>
          <a:noFill/>
          <a:ln/>
        </p:spPr>
        <p:txBody>
          <a:bodyPr wrap="square" lIns="0" tIns="0" rIns="0" bIns="0" rtlCol="0" anchor="t"/>
          <a:lstStyle/>
          <a:p>
            <a:pPr indent="0" marL="0">
              <a:buNone/>
            </a:pPr>
            <a:r>
              <a:rPr lang="en-US" sz="1600" b="1" dirty="0">
                <a:solidFill>
                  <a:srgbClr val="2E2566"/>
                </a:solidFill>
                <a:latin typeface="Calibri" pitchFamily="34" charset="0"/>
                <a:ea typeface="Calibri" pitchFamily="34" charset="-122"/>
                <a:cs typeface="Calibri" pitchFamily="34" charset="-120"/>
              </a:rPr>
              <a:t>Diskusi kasus</a:t>
            </a:r>
            <a:endParaRPr lang="en-US" sz="1600" dirty="0"/>
          </a:p>
        </p:txBody>
      </p:sp>
      <p:sp>
        <p:nvSpPr>
          <p:cNvPr id="24" name="Text 22"/>
          <p:cNvSpPr txBox="1"/>
          <p:nvPr/>
        </p:nvSpPr>
        <p:spPr>
          <a:xfrm>
            <a:off x="7008876" y="3639312"/>
            <a:ext cx="4357116" cy="603504"/>
          </a:xfrm>
          <a:prstGeom prst="rect">
            <a:avLst/>
          </a:prstGeom>
          <a:noFill/>
          <a:ln/>
        </p:spPr>
        <p:txBody>
          <a:bodyPr wrap="square" lIns="0" tIns="0" rIns="0" bIns="0" rtlCol="0" anchor="t"/>
          <a:lstStyle/>
          <a:p>
            <a:pPr indent="0" marL="0">
              <a:lnSpc>
                <a:spcPts val="1700"/>
              </a:lnSpc>
              <a:buNone/>
            </a:pPr>
            <a:r>
              <a:rPr lang="en-US" sz="1250" dirty="0">
                <a:solidFill>
                  <a:srgbClr val="5C5773"/>
                </a:solidFill>
                <a:latin typeface="Calibri" pitchFamily="34" charset="0"/>
                <a:ea typeface="Calibri" pitchFamily="34" charset="-122"/>
                <a:cs typeface="Calibri" pitchFamily="34" charset="-120"/>
              </a:rPr>
              <a:t>Case 3 Canada’s oil sands dibedah dengan sembilan teori tersebut.</a:t>
            </a:r>
            <a:endParaRPr lang="en-US" sz="1250" dirty="0"/>
          </a:p>
        </p:txBody>
      </p:sp>
      <p:sp>
        <p:nvSpPr>
          <p:cNvPr id="25" name="Shape 23"/>
          <p:cNvSpPr/>
          <p:nvPr/>
        </p:nvSpPr>
        <p:spPr>
          <a:xfrm>
            <a:off x="640080" y="4617720"/>
            <a:ext cx="10908792" cy="1298448"/>
          </a:xfrm>
          <a:prstGeom prst="roundRect">
            <a:avLst>
              <a:gd name="adj" fmla="val 2817"/>
            </a:avLst>
          </a:prstGeom>
          <a:solidFill>
            <a:srgbClr val="EEEBF8"/>
          </a:solidFill>
          <a:ln w="9525">
            <a:solidFill>
              <a:srgbClr val="D9D5E6"/>
            </a:solidFill>
            <a:prstDash val="solid"/>
          </a:ln>
        </p:spPr>
      </p:sp>
      <p:sp>
        <p:nvSpPr>
          <p:cNvPr id="26" name="Text 24"/>
          <p:cNvSpPr txBox="1"/>
          <p:nvPr/>
        </p:nvSpPr>
        <p:spPr>
          <a:xfrm>
            <a:off x="914400" y="4754880"/>
            <a:ext cx="10360152" cy="274320"/>
          </a:xfrm>
          <a:prstGeom prst="rect">
            <a:avLst/>
          </a:prstGeom>
          <a:noFill/>
          <a:ln/>
        </p:spPr>
        <p:txBody>
          <a:bodyPr wrap="square" lIns="0" tIns="0" rIns="0" bIns="0" rtlCol="0" anchor="t"/>
          <a:lstStyle/>
          <a:p>
            <a:pPr indent="0" marL="0">
              <a:buNone/>
            </a:pPr>
            <a:r>
              <a:rPr lang="en-US" sz="1300" b="1" dirty="0">
                <a:solidFill>
                  <a:srgbClr val="2E2566"/>
                </a:solidFill>
                <a:latin typeface="Calibri" pitchFamily="34" charset="0"/>
                <a:ea typeface="Calibri" pitchFamily="34" charset="-122"/>
                <a:cs typeface="Calibri" pitchFamily="34" charset="-120"/>
              </a:rPr>
              <a:t>Empat capaian pembelajaran (halaman 85)</a:t>
            </a:r>
            <a:endParaRPr lang="en-US" sz="1300" dirty="0"/>
          </a:p>
        </p:txBody>
      </p:sp>
      <p:sp>
        <p:nvSpPr>
          <p:cNvPr id="27" name="Text 25"/>
          <p:cNvSpPr txBox="1"/>
          <p:nvPr/>
        </p:nvSpPr>
        <p:spPr>
          <a:xfrm>
            <a:off x="914400" y="5047488"/>
            <a:ext cx="10268712" cy="777240"/>
          </a:xfrm>
          <a:prstGeom prst="rect">
            <a:avLst/>
          </a:prstGeom>
          <a:noFill/>
          <a:ln/>
        </p:spPr>
        <p:txBody>
          <a:bodyPr wrap="square" lIns="0" tIns="0" rIns="0" bIns="0" rtlCol="0" anchor="t"/>
          <a:lstStyle/>
          <a:p>
            <a:pPr marL="342900" indent="-342900">
              <a:spcAft>
                <a:spcPts val="200"/>
              </a:spcAft>
              <a:buSzPct val="100000"/>
              <a:buChar char="•"/>
            </a:pPr>
            <a:r>
              <a:rPr lang="en-US" sz="1250" dirty="0">
                <a:solidFill>
                  <a:srgbClr val="231F3D"/>
                </a:solidFill>
                <a:latin typeface="Calibri" pitchFamily="34" charset="0"/>
                <a:ea typeface="Calibri" pitchFamily="34" charset="-122"/>
                <a:cs typeface="Calibri" pitchFamily="34" charset="-120"/>
              </a:rPr>
              <a:t>Menjelaskan peran teori etika normatif untuk pengambilan keputusan etis dalam bisnis</a:t>
            </a:r>
            <a:endParaRPr lang="en-US" sz="1250" dirty="0"/>
          </a:p>
          <a:p>
            <a:pPr marL="342900" indent="-342900">
              <a:spcAft>
                <a:spcPts val="200"/>
              </a:spcAft>
              <a:buSzPct val="100000"/>
              <a:buChar char="•"/>
            </a:pPr>
            <a:r>
              <a:rPr lang="en-US" sz="1250" dirty="0">
                <a:solidFill>
                  <a:srgbClr val="231F3D"/>
                </a:solidFill>
                <a:latin typeface="Calibri" pitchFamily="34" charset="0"/>
                <a:ea typeface="Calibri" pitchFamily="34" charset="-122"/>
                <a:cs typeface="Calibri" pitchFamily="34" charset="-120"/>
              </a:rPr>
              <a:t>Memahami dan menerapkan teori etika Western modernist</a:t>
            </a:r>
            <a:endParaRPr lang="en-US" sz="1250" dirty="0"/>
          </a:p>
          <a:p>
            <a:pPr marL="342900" indent="-342900">
              <a:spcAft>
                <a:spcPts val="200"/>
              </a:spcAft>
              <a:buSzPct val="100000"/>
              <a:buChar char="•"/>
            </a:pPr>
            <a:r>
              <a:rPr lang="en-US" sz="1250" dirty="0">
                <a:solidFill>
                  <a:srgbClr val="231F3D"/>
                </a:solidFill>
                <a:latin typeface="Calibri" pitchFamily="34" charset="0"/>
                <a:ea typeface="Calibri" pitchFamily="34" charset="-122"/>
                <a:cs typeface="Calibri" pitchFamily="34" charset="-120"/>
              </a:rPr>
              <a:t>Memahami dan menerapkan teori etika alternatif</a:t>
            </a:r>
            <a:endParaRPr lang="en-US" sz="1250" dirty="0"/>
          </a:p>
          <a:p>
            <a:pPr marL="342900" indent="-342900">
              <a:spcAft>
                <a:spcPts val="200"/>
              </a:spcAft>
              <a:buSzPct val="100000"/>
              <a:buChar char="•"/>
            </a:pPr>
            <a:r>
              <a:rPr lang="en-US" sz="1250" dirty="0">
                <a:solidFill>
                  <a:srgbClr val="231F3D"/>
                </a:solidFill>
                <a:latin typeface="Calibri" pitchFamily="34" charset="0"/>
                <a:ea typeface="Calibri" pitchFamily="34" charset="-122"/>
                <a:cs typeface="Calibri" pitchFamily="34" charset="-120"/>
              </a:rPr>
              <a:t>Melakukan evaluasi etika bisnis secara pluralis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1</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Kenapa bisnis membutuhkan teori etika</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640080" y="1517904"/>
            <a:ext cx="10908792" cy="292608"/>
          </a:xfrm>
          <a:prstGeom prst="rect">
            <a:avLst/>
          </a:prstGeom>
          <a:noFill/>
          <a:ln/>
        </p:spPr>
        <p:txBody>
          <a:bodyPr wrap="square" lIns="0" tIns="0" rIns="0" bIns="0" rtlCol="0" anchor="t"/>
          <a:lstStyle/>
          <a:p>
            <a:pPr indent="0" marL="0">
              <a:buNone/>
            </a:pPr>
            <a:r>
              <a:rPr lang="en-US" sz="1500" dirty="0">
                <a:solidFill>
                  <a:srgbClr val="231F3D"/>
                </a:solidFill>
                <a:latin typeface="Calibri" pitchFamily="34" charset="0"/>
                <a:ea typeface="Calibri" pitchFamily="34" charset="-122"/>
                <a:cs typeface="Calibri" pitchFamily="34" charset="-120"/>
              </a:rPr>
              <a:t>Penilaian etis pribadi dapat diputuskan sendiri. Dalam bisnis penilaian itu jauh lebih rumit.</a:t>
            </a:r>
            <a:endParaRPr lang="en-US" sz="1500" dirty="0"/>
          </a:p>
        </p:txBody>
      </p:sp>
      <p:sp>
        <p:nvSpPr>
          <p:cNvPr id="6" name="Shape 4"/>
          <p:cNvSpPr/>
          <p:nvPr/>
        </p:nvSpPr>
        <p:spPr>
          <a:xfrm>
            <a:off x="640080" y="2011680"/>
            <a:ext cx="5317236" cy="2212848"/>
          </a:xfrm>
          <a:prstGeom prst="roundRect">
            <a:avLst>
              <a:gd name="adj" fmla="val 1653"/>
            </a:avLst>
          </a:prstGeom>
          <a:solidFill>
            <a:srgbClr val="F6F4FC"/>
          </a:solidFill>
          <a:ln w="9525">
            <a:solidFill>
              <a:srgbClr val="D9D5E6"/>
            </a:solidFill>
            <a:prstDash val="solid"/>
          </a:ln>
        </p:spPr>
      </p:sp>
      <p:sp>
        <p:nvSpPr>
          <p:cNvPr id="7" name="Text 5"/>
          <p:cNvSpPr txBox="1"/>
          <p:nvPr/>
        </p:nvSpPr>
        <p:spPr>
          <a:xfrm>
            <a:off x="914400" y="2157984"/>
            <a:ext cx="4768596"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Contoh dari buku</a:t>
            </a:r>
            <a:endParaRPr lang="en-US" sz="1200" dirty="0"/>
          </a:p>
        </p:txBody>
      </p:sp>
      <p:sp>
        <p:nvSpPr>
          <p:cNvPr id="8" name="Text 6"/>
          <p:cNvSpPr txBox="1"/>
          <p:nvPr/>
        </p:nvSpPr>
        <p:spPr>
          <a:xfrm>
            <a:off x="914400" y="2450592"/>
            <a:ext cx="4768596" cy="658368"/>
          </a:xfrm>
          <a:prstGeom prst="rect">
            <a:avLst/>
          </a:prstGeom>
          <a:noFill/>
          <a:ln/>
        </p:spPr>
        <p:txBody>
          <a:bodyPr wrap="square" lIns="0" tIns="0" rIns="0" bIns="0" rtlCol="0" anchor="t"/>
          <a:lstStyle/>
          <a:p>
            <a:pPr indent="0" marL="0">
              <a:lnSpc>
                <a:spcPts val="1700"/>
              </a:lnSpc>
              <a:buNone/>
            </a:pPr>
            <a:r>
              <a:rPr lang="en-US" sz="1250" dirty="0">
                <a:solidFill>
                  <a:srgbClr val="231F3D"/>
                </a:solidFill>
                <a:latin typeface="Calibri" pitchFamily="34" charset="0"/>
                <a:ea typeface="Calibri" pitchFamily="34" charset="-122"/>
                <a:cs typeface="Calibri" pitchFamily="34" charset="-120"/>
              </a:rPr>
              <a:t>Perusahaan multinasional yang mendirikan anak perusahaan di negara berkembang menghadapi beberapa masalah sekaligus.</a:t>
            </a:r>
            <a:endParaRPr lang="en-US" sz="1250" dirty="0"/>
          </a:p>
        </p:txBody>
      </p:sp>
      <p:sp>
        <p:nvSpPr>
          <p:cNvPr id="9" name="Text 7"/>
          <p:cNvSpPr txBox="1"/>
          <p:nvPr/>
        </p:nvSpPr>
        <p:spPr>
          <a:xfrm>
            <a:off x="914400" y="3163824"/>
            <a:ext cx="4768596" cy="960120"/>
          </a:xfrm>
          <a:prstGeom prst="rect">
            <a:avLst/>
          </a:prstGeom>
          <a:noFill/>
          <a:ln/>
        </p:spPr>
        <p:txBody>
          <a:bodyPr wrap="square" lIns="0" tIns="0" rIns="0" bIns="0" rtlCol="0" anchor="t"/>
          <a:lstStyle/>
          <a:p>
            <a:pPr marL="342900" indent="-342900">
              <a:spcAft>
                <a:spcPts val="200"/>
              </a:spcAft>
              <a:buSzPct val="100000"/>
              <a:buChar char="•"/>
            </a:pPr>
            <a:r>
              <a:rPr lang="en-US" sz="1250" dirty="0">
                <a:solidFill>
                  <a:srgbClr val="5C5773"/>
                </a:solidFill>
                <a:latin typeface="Calibri" pitchFamily="34" charset="0"/>
                <a:ea typeface="Calibri" pitchFamily="34" charset="-122"/>
                <a:cs typeface="Calibri" pitchFamily="34" charset="-120"/>
              </a:rPr>
              <a:t>Pejabat setempat mengharapkan suap untuk izin</a:t>
            </a:r>
            <a:endParaRPr lang="en-US" sz="1250" dirty="0"/>
          </a:p>
          <a:p>
            <a:pPr marL="342900" indent="-342900">
              <a:spcAft>
                <a:spcPts val="200"/>
              </a:spcAft>
              <a:buSzPct val="100000"/>
              <a:buChar char="•"/>
            </a:pPr>
            <a:r>
              <a:rPr lang="en-US" sz="1250" dirty="0">
                <a:solidFill>
                  <a:srgbClr val="5C5773"/>
                </a:solidFill>
                <a:latin typeface="Calibri" pitchFamily="34" charset="0"/>
                <a:ea typeface="Calibri" pitchFamily="34" charset="-122"/>
                <a:cs typeface="Calibri" pitchFamily="34" charset="-120"/>
              </a:rPr>
              <a:t>Standar ketenagakerjaan yang rendah</a:t>
            </a:r>
            <a:endParaRPr lang="en-US" sz="1250" dirty="0"/>
          </a:p>
          <a:p>
            <a:pPr marL="342900" indent="-342900">
              <a:spcAft>
                <a:spcPts val="200"/>
              </a:spcAft>
              <a:buSzPct val="100000"/>
              <a:buChar char="•"/>
            </a:pPr>
            <a:r>
              <a:rPr lang="en-US" sz="1250" dirty="0">
                <a:solidFill>
                  <a:srgbClr val="5C5773"/>
                </a:solidFill>
                <a:latin typeface="Calibri" pitchFamily="34" charset="0"/>
                <a:ea typeface="Calibri" pitchFamily="34" charset="-122"/>
                <a:cs typeface="Calibri" pitchFamily="34" charset="-120"/>
              </a:rPr>
              <a:t>Diskriminasi di tempat kerja lebih lazim</a:t>
            </a:r>
            <a:endParaRPr lang="en-US" sz="1250" dirty="0"/>
          </a:p>
          <a:p>
            <a:pPr marL="342900" indent="-342900">
              <a:spcAft>
                <a:spcPts val="200"/>
              </a:spcAft>
              <a:buSzPct val="100000"/>
              <a:buChar char="•"/>
            </a:pPr>
            <a:r>
              <a:rPr lang="en-US" sz="1250" dirty="0">
                <a:solidFill>
                  <a:srgbClr val="5C5773"/>
                </a:solidFill>
                <a:latin typeface="Calibri" pitchFamily="34" charset="0"/>
                <a:ea typeface="Calibri" pitchFamily="34" charset="-122"/>
                <a:cs typeface="Calibri" pitchFamily="34" charset="-120"/>
              </a:rPr>
              <a:t>Banyak pihak dengan pandangan yang berbeda</a:t>
            </a:r>
            <a:endParaRPr lang="en-US" sz="1250" dirty="0"/>
          </a:p>
        </p:txBody>
      </p:sp>
      <p:sp>
        <p:nvSpPr>
          <p:cNvPr id="10" name="Shape 8"/>
          <p:cNvSpPr/>
          <p:nvPr/>
        </p:nvSpPr>
        <p:spPr>
          <a:xfrm>
            <a:off x="6231636" y="2011680"/>
            <a:ext cx="5317236" cy="2212848"/>
          </a:xfrm>
          <a:prstGeom prst="roundRect">
            <a:avLst>
              <a:gd name="adj" fmla="val 1653"/>
            </a:avLst>
          </a:prstGeom>
          <a:solidFill>
            <a:srgbClr val="EEEBF8"/>
          </a:solidFill>
          <a:ln w="9525">
            <a:solidFill>
              <a:srgbClr val="D9D5E6"/>
            </a:solidFill>
            <a:prstDash val="solid"/>
          </a:ln>
        </p:spPr>
      </p:sp>
      <p:sp>
        <p:nvSpPr>
          <p:cNvPr id="11" name="Text 9"/>
          <p:cNvSpPr txBox="1"/>
          <p:nvPr/>
        </p:nvSpPr>
        <p:spPr>
          <a:xfrm>
            <a:off x="6505956" y="2157984"/>
            <a:ext cx="4768596"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Kenapa dasar penalaran dibutuhkan</a:t>
            </a:r>
            <a:endParaRPr lang="en-US" sz="1200" dirty="0"/>
          </a:p>
        </p:txBody>
      </p:sp>
      <p:sp>
        <p:nvSpPr>
          <p:cNvPr id="12" name="Text 10"/>
          <p:cNvSpPr txBox="1"/>
          <p:nvPr/>
        </p:nvSpPr>
        <p:spPr>
          <a:xfrm>
            <a:off x="6505956" y="2450592"/>
            <a:ext cx="4722876" cy="841248"/>
          </a:xfrm>
          <a:prstGeom prst="rect">
            <a:avLst/>
          </a:prstGeom>
          <a:noFill/>
          <a:ln/>
        </p:spPr>
        <p:txBody>
          <a:bodyPr wrap="square" lIns="0" tIns="0" rIns="0" bIns="0" rtlCol="0" anchor="t"/>
          <a:lstStyle/>
          <a:p>
            <a:pPr indent="0" marL="0">
              <a:lnSpc>
                <a:spcPts val="1700"/>
              </a:lnSpc>
              <a:buNone/>
            </a:pPr>
            <a:r>
              <a:rPr lang="en-US" sz="1250" dirty="0">
                <a:solidFill>
                  <a:srgbClr val="231F3D"/>
                </a:solidFill>
                <a:latin typeface="Calibri" pitchFamily="34" charset="0"/>
                <a:ea typeface="Calibri" pitchFamily="34" charset="-122"/>
                <a:cs typeface="Calibri" pitchFamily="34" charset="-120"/>
              </a:rPr>
              <a:t>Keputusan bisnis harus dapat dipertahankan, dibenarkan dan dijelaskan kepada pemangku kepentingan. Pihak yang menilai sebuah perusahaan tidak etis juga membutuhkan dasar yang sama.</a:t>
            </a:r>
            <a:endParaRPr lang="en-US" sz="1250" dirty="0"/>
          </a:p>
        </p:txBody>
      </p:sp>
      <p:sp>
        <p:nvSpPr>
          <p:cNvPr id="13" name="Text 11"/>
          <p:cNvSpPr txBox="1"/>
          <p:nvPr/>
        </p:nvSpPr>
        <p:spPr>
          <a:xfrm>
            <a:off x="6505956" y="3364992"/>
            <a:ext cx="4722876" cy="822960"/>
          </a:xfrm>
          <a:prstGeom prst="rect">
            <a:avLst/>
          </a:prstGeom>
          <a:noFill/>
          <a:ln/>
        </p:spPr>
        <p:txBody>
          <a:bodyPr wrap="square" lIns="0" tIns="0" rIns="0" bIns="0" rtlCol="0" anchor="t"/>
          <a:lstStyle/>
          <a:p>
            <a:pPr indent="0" marL="0">
              <a:lnSpc>
                <a:spcPts val="1700"/>
              </a:lnSpc>
              <a:buNone/>
            </a:pPr>
            <a:r>
              <a:rPr lang="en-US" sz="1250" i="1" dirty="0">
                <a:solidFill>
                  <a:srgbClr val="2E2566"/>
                </a:solidFill>
                <a:latin typeface="Calibri" pitchFamily="34" charset="0"/>
                <a:ea typeface="Calibri" pitchFamily="34" charset="-122"/>
                <a:cs typeface="Calibri" pitchFamily="34" charset="-120"/>
              </a:rPr>
              <a:t>Pertanyaan pokoknya: pada titik mana sebuah perilaku bukan hanya berbeda dari yang akan kita lakukan, melainkan memang salah?</a:t>
            </a:r>
            <a:endParaRPr lang="en-US" sz="1250" dirty="0"/>
          </a:p>
        </p:txBody>
      </p:sp>
      <p:sp>
        <p:nvSpPr>
          <p:cNvPr id="14" name="Shape 12"/>
          <p:cNvSpPr/>
          <p:nvPr/>
        </p:nvSpPr>
        <p:spPr>
          <a:xfrm>
            <a:off x="640080" y="4389120"/>
            <a:ext cx="10908792" cy="1517904"/>
          </a:xfrm>
          <a:prstGeom prst="roundRect">
            <a:avLst>
              <a:gd name="adj" fmla="val 2410"/>
            </a:avLst>
          </a:prstGeom>
          <a:solidFill>
            <a:srgbClr val="EEEBF8"/>
          </a:solidFill>
          <a:ln w="9525">
            <a:solidFill>
              <a:srgbClr val="D9D5E6"/>
            </a:solidFill>
            <a:prstDash val="solid"/>
          </a:ln>
        </p:spPr>
      </p:sp>
      <p:sp>
        <p:nvSpPr>
          <p:cNvPr id="15" name="Text 13"/>
          <p:cNvSpPr txBox="1"/>
          <p:nvPr/>
        </p:nvSpPr>
        <p:spPr>
          <a:xfrm>
            <a:off x="960120" y="4517136"/>
            <a:ext cx="10268712" cy="237744"/>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Definisi (kotak buku, halaman 87)</a:t>
            </a:r>
            <a:endParaRPr lang="en-US" sz="1200" dirty="0"/>
          </a:p>
        </p:txBody>
      </p:sp>
      <p:sp>
        <p:nvSpPr>
          <p:cNvPr id="16" name="Text 14"/>
          <p:cNvSpPr txBox="1"/>
          <p:nvPr/>
        </p:nvSpPr>
        <p:spPr>
          <a:xfrm>
            <a:off x="960120" y="4791456"/>
            <a:ext cx="10268712" cy="292608"/>
          </a:xfrm>
          <a:prstGeom prst="rect">
            <a:avLst/>
          </a:prstGeom>
          <a:noFill/>
          <a:ln/>
        </p:spPr>
        <p:txBody>
          <a:bodyPr wrap="square" lIns="0" tIns="0" rIns="0" bIns="0" rtlCol="0" anchor="t"/>
          <a:lstStyle/>
          <a:p>
            <a:pPr indent="0" marL="0">
              <a:lnSpc>
                <a:spcPts val="2200"/>
              </a:lnSpc>
              <a:buNone/>
            </a:pPr>
            <a:r>
              <a:rPr lang="en-US" sz="1550" dirty="0">
                <a:solidFill>
                  <a:srgbClr val="231F3D"/>
                </a:solidFill>
                <a:latin typeface="Cambria" pitchFamily="34" charset="0"/>
                <a:ea typeface="Cambria" pitchFamily="34" charset="-122"/>
                <a:cs typeface="Cambria" pitchFamily="34" charset="-120"/>
              </a:rPr>
              <a:t>Normative ethical theories adalah aturan, prinsip dan pendekatan penentu benar dan salah.</a:t>
            </a:r>
            <a:endParaRPr lang="en-US" sz="1550" dirty="0"/>
          </a:p>
        </p:txBody>
      </p:sp>
      <p:sp>
        <p:nvSpPr>
          <p:cNvPr id="17" name="Text 15"/>
          <p:cNvSpPr txBox="1"/>
          <p:nvPr/>
        </p:nvSpPr>
        <p:spPr>
          <a:xfrm>
            <a:off x="960120" y="5212080"/>
            <a:ext cx="10268712" cy="502920"/>
          </a:xfrm>
          <a:prstGeom prst="rect">
            <a:avLst/>
          </a:prstGeom>
          <a:noFill/>
          <a:ln/>
        </p:spPr>
        <p:txBody>
          <a:bodyPr wrap="square" lIns="0" tIns="0" rIns="0" bIns="0" rtlCol="0" anchor="t"/>
          <a:lstStyle/>
          <a:p>
            <a:pPr indent="0" marL="0">
              <a:lnSpc>
                <a:spcPts val="1700"/>
              </a:lnSpc>
              <a:buNone/>
            </a:pPr>
            <a:r>
              <a:rPr lang="en-US" sz="1250" dirty="0">
                <a:solidFill>
                  <a:srgbClr val="5C5773"/>
                </a:solidFill>
                <a:latin typeface="Calibri" pitchFamily="34" charset="0"/>
                <a:ea typeface="Calibri" pitchFamily="34" charset="-122"/>
                <a:cs typeface="Calibri" pitchFamily="34" charset="-120"/>
              </a:rPr>
              <a:t>Teori normatif meresepkan bagaimana seharusnya seseorang berperilaku. Teori deskriptif merujuk pada kode perilaku yang dianut kelompok tertentu, misalnya pedoman sebuah agama.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1</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Absolutism, relativism dan pluralism</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640080" y="1572768"/>
            <a:ext cx="3483864" cy="3063240"/>
          </a:xfrm>
          <a:prstGeom prst="roundRect">
            <a:avLst>
              <a:gd name="adj" fmla="val 1194"/>
            </a:avLst>
          </a:prstGeom>
          <a:solidFill>
            <a:srgbClr val="F6F4FC"/>
          </a:solidFill>
          <a:ln w="9525">
            <a:solidFill>
              <a:srgbClr val="D9D5E6"/>
            </a:solidFill>
            <a:prstDash val="solid"/>
          </a:ln>
        </p:spPr>
      </p:sp>
      <p:sp>
        <p:nvSpPr>
          <p:cNvPr id="6" name="Shape 4"/>
          <p:cNvSpPr/>
          <p:nvPr/>
        </p:nvSpPr>
        <p:spPr>
          <a:xfrm>
            <a:off x="914400" y="1810512"/>
            <a:ext cx="310896" cy="310896"/>
          </a:xfrm>
          <a:prstGeom prst="ellipse">
            <a:avLst/>
          </a:prstGeom>
          <a:solidFill>
            <a:srgbClr val="9C8226"/>
          </a:solidFill>
          <a:ln/>
        </p:spPr>
      </p:sp>
      <p:sp>
        <p:nvSpPr>
          <p:cNvPr id="7" name="Text 5"/>
          <p:cNvSpPr txBox="1"/>
          <p:nvPr/>
        </p:nvSpPr>
        <p:spPr>
          <a:xfrm>
            <a:off x="914400" y="2249424"/>
            <a:ext cx="2935224" cy="320040"/>
          </a:xfrm>
          <a:prstGeom prst="rect">
            <a:avLst/>
          </a:prstGeom>
          <a:noFill/>
          <a:ln/>
        </p:spPr>
        <p:txBody>
          <a:bodyPr wrap="square" lIns="0" tIns="0" rIns="0" bIns="0" rtlCol="0" anchor="t"/>
          <a:lstStyle/>
          <a:p>
            <a:pPr indent="0" marL="0">
              <a:buNone/>
            </a:pPr>
            <a:r>
              <a:rPr lang="en-US" sz="1600" b="1" dirty="0">
                <a:solidFill>
                  <a:srgbClr val="2E2566"/>
                </a:solidFill>
                <a:latin typeface="Calibri" pitchFamily="34" charset="0"/>
                <a:ea typeface="Calibri" pitchFamily="34" charset="-122"/>
                <a:cs typeface="Calibri" pitchFamily="34" charset="-120"/>
              </a:rPr>
              <a:t>Ethical absolutism</a:t>
            </a:r>
            <a:endParaRPr lang="en-US" sz="1600" dirty="0"/>
          </a:p>
        </p:txBody>
      </p:sp>
      <p:sp>
        <p:nvSpPr>
          <p:cNvPr id="8" name="Text 6"/>
          <p:cNvSpPr txBox="1"/>
          <p:nvPr/>
        </p:nvSpPr>
        <p:spPr>
          <a:xfrm>
            <a:off x="914400" y="2651760"/>
            <a:ext cx="2935224" cy="1371600"/>
          </a:xfrm>
          <a:prstGeom prst="rect">
            <a:avLst/>
          </a:prstGeom>
          <a:noFill/>
          <a:ln/>
        </p:spPr>
        <p:txBody>
          <a:bodyPr wrap="square" lIns="0" tIns="0" rIns="0" bIns="0" rtlCol="0" anchor="t"/>
          <a:lstStyle/>
          <a:p>
            <a:pPr indent="0" marL="0">
              <a:lnSpc>
                <a:spcPts val="1800"/>
              </a:lnSpc>
              <a:buNone/>
            </a:pPr>
            <a:r>
              <a:rPr lang="en-US" sz="1250" dirty="0">
                <a:solidFill>
                  <a:srgbClr val="231F3D"/>
                </a:solidFill>
                <a:latin typeface="Calibri" pitchFamily="34" charset="0"/>
                <a:ea typeface="Calibri" pitchFamily="34" charset="-122"/>
                <a:cs typeface="Calibri" pitchFamily="34" charset="-120"/>
              </a:rPr>
              <a:t>Terdapat prinsip moral yang abadi dan berlaku universal. Benar dan salah merupakan kualitas objektif yang dapat ditentukan secara rasional, terlepas dari keadaan.</a:t>
            </a:r>
            <a:endParaRPr lang="en-US" sz="1250" dirty="0"/>
          </a:p>
        </p:txBody>
      </p:sp>
      <p:sp>
        <p:nvSpPr>
          <p:cNvPr id="9" name="Text 7"/>
          <p:cNvSpPr txBox="1"/>
          <p:nvPr/>
        </p:nvSpPr>
        <p:spPr>
          <a:xfrm>
            <a:off x="914400" y="4133088"/>
            <a:ext cx="2935224" cy="365760"/>
          </a:xfrm>
          <a:prstGeom prst="rect">
            <a:avLst/>
          </a:prstGeom>
          <a:noFill/>
          <a:ln/>
        </p:spPr>
        <p:txBody>
          <a:bodyPr wrap="square" lIns="0" tIns="0" rIns="0" bIns="0" rtlCol="0" anchor="t"/>
          <a:lstStyle/>
          <a:p>
            <a:pPr indent="0" marL="0">
              <a:lnSpc>
                <a:spcPts val="1500"/>
              </a:lnSpc>
              <a:buNone/>
            </a:pPr>
            <a:r>
              <a:rPr lang="en-US" sz="1150" i="1" dirty="0">
                <a:solidFill>
                  <a:srgbClr val="5C5773"/>
                </a:solidFill>
                <a:latin typeface="Calibri" pitchFamily="34" charset="0"/>
                <a:ea typeface="Calibri" pitchFamily="34" charset="-122"/>
                <a:cs typeface="Calibri" pitchFamily="34" charset="-120"/>
              </a:rPr>
              <a:t>Ciri sebagian besar teori Western modernist</a:t>
            </a:r>
            <a:endParaRPr lang="en-US" sz="1150" dirty="0"/>
          </a:p>
        </p:txBody>
      </p:sp>
      <p:sp>
        <p:nvSpPr>
          <p:cNvPr id="10" name="Shape 8"/>
          <p:cNvSpPr/>
          <p:nvPr/>
        </p:nvSpPr>
        <p:spPr>
          <a:xfrm>
            <a:off x="4352544" y="1572768"/>
            <a:ext cx="3483864" cy="3063240"/>
          </a:xfrm>
          <a:prstGeom prst="roundRect">
            <a:avLst>
              <a:gd name="adj" fmla="val 1194"/>
            </a:avLst>
          </a:prstGeom>
          <a:solidFill>
            <a:srgbClr val="F6F4FC"/>
          </a:solidFill>
          <a:ln w="9525">
            <a:solidFill>
              <a:srgbClr val="D9D5E6"/>
            </a:solidFill>
            <a:prstDash val="solid"/>
          </a:ln>
        </p:spPr>
      </p:sp>
      <p:sp>
        <p:nvSpPr>
          <p:cNvPr id="11" name="Shape 9"/>
          <p:cNvSpPr/>
          <p:nvPr/>
        </p:nvSpPr>
        <p:spPr>
          <a:xfrm>
            <a:off x="4626864" y="1810512"/>
            <a:ext cx="310896" cy="310896"/>
          </a:xfrm>
          <a:prstGeom prst="ellipse">
            <a:avLst/>
          </a:prstGeom>
          <a:solidFill>
            <a:srgbClr val="2C8072"/>
          </a:solidFill>
          <a:ln/>
        </p:spPr>
      </p:sp>
      <p:sp>
        <p:nvSpPr>
          <p:cNvPr id="12" name="Text 10"/>
          <p:cNvSpPr txBox="1"/>
          <p:nvPr/>
        </p:nvSpPr>
        <p:spPr>
          <a:xfrm>
            <a:off x="4626864" y="2249424"/>
            <a:ext cx="2935224" cy="320040"/>
          </a:xfrm>
          <a:prstGeom prst="rect">
            <a:avLst/>
          </a:prstGeom>
          <a:noFill/>
          <a:ln/>
        </p:spPr>
        <p:txBody>
          <a:bodyPr wrap="square" lIns="0" tIns="0" rIns="0" bIns="0" rtlCol="0" anchor="t"/>
          <a:lstStyle/>
          <a:p>
            <a:pPr indent="0" marL="0">
              <a:buNone/>
            </a:pPr>
            <a:r>
              <a:rPr lang="en-US" sz="1600" b="1" dirty="0">
                <a:solidFill>
                  <a:srgbClr val="2E2566"/>
                </a:solidFill>
                <a:latin typeface="Calibri" pitchFamily="34" charset="0"/>
                <a:ea typeface="Calibri" pitchFamily="34" charset="-122"/>
                <a:cs typeface="Calibri" pitchFamily="34" charset="-120"/>
              </a:rPr>
              <a:t>Ethical relativism</a:t>
            </a:r>
            <a:endParaRPr lang="en-US" sz="1600" dirty="0"/>
          </a:p>
        </p:txBody>
      </p:sp>
      <p:sp>
        <p:nvSpPr>
          <p:cNvPr id="13" name="Text 11"/>
          <p:cNvSpPr txBox="1"/>
          <p:nvPr/>
        </p:nvSpPr>
        <p:spPr>
          <a:xfrm>
            <a:off x="4626864" y="2651760"/>
            <a:ext cx="2935224" cy="1371600"/>
          </a:xfrm>
          <a:prstGeom prst="rect">
            <a:avLst/>
          </a:prstGeom>
          <a:noFill/>
          <a:ln/>
        </p:spPr>
        <p:txBody>
          <a:bodyPr wrap="square" lIns="0" tIns="0" rIns="0" bIns="0" rtlCol="0" anchor="t"/>
          <a:lstStyle/>
          <a:p>
            <a:pPr indent="0" marL="0">
              <a:lnSpc>
                <a:spcPts val="1800"/>
              </a:lnSpc>
              <a:buNone/>
            </a:pPr>
            <a:r>
              <a:rPr lang="en-US" sz="1250" dirty="0">
                <a:solidFill>
                  <a:srgbClr val="231F3D"/>
                </a:solidFill>
                <a:latin typeface="Calibri" pitchFamily="34" charset="0"/>
                <a:ea typeface="Calibri" pitchFamily="34" charset="-122"/>
                <a:cs typeface="Calibri" pitchFamily="34" charset="-120"/>
              </a:rPr>
              <a:t>Moralitas bergantung pada konteks dan bersifat subjektif. Tidak ada benar dan salah universal karena penilaian bergantung pada tradisi dan praktik pengambil keputusan.</a:t>
            </a:r>
            <a:endParaRPr lang="en-US" sz="1250" dirty="0"/>
          </a:p>
        </p:txBody>
      </p:sp>
      <p:sp>
        <p:nvSpPr>
          <p:cNvPr id="14" name="Text 12"/>
          <p:cNvSpPr txBox="1"/>
          <p:nvPr/>
        </p:nvSpPr>
        <p:spPr>
          <a:xfrm>
            <a:off x="4626864" y="4133088"/>
            <a:ext cx="2935224" cy="365760"/>
          </a:xfrm>
          <a:prstGeom prst="rect">
            <a:avLst/>
          </a:prstGeom>
          <a:noFill/>
          <a:ln/>
        </p:spPr>
        <p:txBody>
          <a:bodyPr wrap="square" lIns="0" tIns="0" rIns="0" bIns="0" rtlCol="0" anchor="t"/>
          <a:lstStyle/>
          <a:p>
            <a:pPr indent="0" marL="0">
              <a:lnSpc>
                <a:spcPts val="1500"/>
              </a:lnSpc>
              <a:buNone/>
            </a:pPr>
            <a:r>
              <a:rPr lang="en-US" sz="1150" i="1" dirty="0">
                <a:solidFill>
                  <a:srgbClr val="5C5773"/>
                </a:solidFill>
                <a:latin typeface="Calibri" pitchFamily="34" charset="0"/>
                <a:ea typeface="Calibri" pitchFamily="34" charset="-122"/>
                <a:cs typeface="Calibri" pitchFamily="34" charset="-120"/>
              </a:rPr>
              <a:t>Sering muncul pada masalah bisnis internasional</a:t>
            </a:r>
            <a:endParaRPr lang="en-US" sz="1150" dirty="0"/>
          </a:p>
        </p:txBody>
      </p:sp>
      <p:sp>
        <p:nvSpPr>
          <p:cNvPr id="15" name="Shape 13"/>
          <p:cNvSpPr/>
          <p:nvPr/>
        </p:nvSpPr>
        <p:spPr>
          <a:xfrm>
            <a:off x="8065008" y="1572768"/>
            <a:ext cx="3483864" cy="3063240"/>
          </a:xfrm>
          <a:prstGeom prst="roundRect">
            <a:avLst>
              <a:gd name="adj" fmla="val 1194"/>
            </a:avLst>
          </a:prstGeom>
          <a:solidFill>
            <a:srgbClr val="EEEBF8"/>
          </a:solidFill>
          <a:ln w="9525">
            <a:solidFill>
              <a:srgbClr val="D9D5E6"/>
            </a:solidFill>
            <a:prstDash val="solid"/>
          </a:ln>
        </p:spPr>
      </p:sp>
      <p:sp>
        <p:nvSpPr>
          <p:cNvPr id="16" name="Shape 14"/>
          <p:cNvSpPr/>
          <p:nvPr/>
        </p:nvSpPr>
        <p:spPr>
          <a:xfrm>
            <a:off x="8339328" y="1810512"/>
            <a:ext cx="310896" cy="310896"/>
          </a:xfrm>
          <a:prstGeom prst="ellipse">
            <a:avLst/>
          </a:prstGeom>
          <a:solidFill>
            <a:srgbClr val="764B99"/>
          </a:solidFill>
          <a:ln/>
        </p:spPr>
      </p:sp>
      <p:sp>
        <p:nvSpPr>
          <p:cNvPr id="17" name="Text 15"/>
          <p:cNvSpPr txBox="1"/>
          <p:nvPr/>
        </p:nvSpPr>
        <p:spPr>
          <a:xfrm>
            <a:off x="8339328" y="2249424"/>
            <a:ext cx="2935224" cy="320040"/>
          </a:xfrm>
          <a:prstGeom prst="rect">
            <a:avLst/>
          </a:prstGeom>
          <a:noFill/>
          <a:ln/>
        </p:spPr>
        <p:txBody>
          <a:bodyPr wrap="square" lIns="0" tIns="0" rIns="0" bIns="0" rtlCol="0" anchor="t"/>
          <a:lstStyle/>
          <a:p>
            <a:pPr indent="0" marL="0">
              <a:buNone/>
            </a:pPr>
            <a:r>
              <a:rPr lang="en-US" sz="1600" b="1" dirty="0">
                <a:solidFill>
                  <a:srgbClr val="2E2566"/>
                </a:solidFill>
                <a:latin typeface="Calibri" pitchFamily="34" charset="0"/>
                <a:ea typeface="Calibri" pitchFamily="34" charset="-122"/>
                <a:cs typeface="Calibri" pitchFamily="34" charset="-120"/>
              </a:rPr>
              <a:t>Ethical pluralism</a:t>
            </a:r>
            <a:endParaRPr lang="en-US" sz="1600" dirty="0"/>
          </a:p>
        </p:txBody>
      </p:sp>
      <p:sp>
        <p:nvSpPr>
          <p:cNvPr id="18" name="Text 16"/>
          <p:cNvSpPr txBox="1"/>
          <p:nvPr/>
        </p:nvSpPr>
        <p:spPr>
          <a:xfrm>
            <a:off x="8339328" y="2651760"/>
            <a:ext cx="2935224" cy="1371600"/>
          </a:xfrm>
          <a:prstGeom prst="rect">
            <a:avLst/>
          </a:prstGeom>
          <a:noFill/>
          <a:ln/>
        </p:spPr>
        <p:txBody>
          <a:bodyPr wrap="square" lIns="0" tIns="0" rIns="0" bIns="0" rtlCol="0" anchor="t"/>
          <a:lstStyle/>
          <a:p>
            <a:pPr indent="0" marL="0">
              <a:lnSpc>
                <a:spcPts val="1800"/>
              </a:lnSpc>
              <a:buNone/>
            </a:pPr>
            <a:r>
              <a:rPr lang="en-US" sz="1250" dirty="0">
                <a:solidFill>
                  <a:srgbClr val="231F3D"/>
                </a:solidFill>
                <a:latin typeface="Calibri" pitchFamily="34" charset="0"/>
                <a:ea typeface="Calibri" pitchFamily="34" charset="-122"/>
                <a:cs typeface="Calibri" pitchFamily="34" charset="-120"/>
              </a:rPr>
              <a:t>Nilai yang tidak kompatibel dapat sama-sama sah dan perlu ditoleransi. Tidak menyamakan semua perspektif dan tidak memenangkan satu pendekatan.</a:t>
            </a:r>
            <a:endParaRPr lang="en-US" sz="1250" dirty="0"/>
          </a:p>
        </p:txBody>
      </p:sp>
      <p:sp>
        <p:nvSpPr>
          <p:cNvPr id="19" name="Text 17"/>
          <p:cNvSpPr txBox="1"/>
          <p:nvPr/>
        </p:nvSpPr>
        <p:spPr>
          <a:xfrm>
            <a:off x="8339328" y="4133088"/>
            <a:ext cx="2935224" cy="365760"/>
          </a:xfrm>
          <a:prstGeom prst="rect">
            <a:avLst/>
          </a:prstGeom>
          <a:noFill/>
          <a:ln/>
        </p:spPr>
        <p:txBody>
          <a:bodyPr wrap="square" lIns="0" tIns="0" rIns="0" bIns="0" rtlCol="0" anchor="t"/>
          <a:lstStyle/>
          <a:p>
            <a:pPr indent="0" marL="0">
              <a:lnSpc>
                <a:spcPts val="1500"/>
              </a:lnSpc>
              <a:buNone/>
            </a:pPr>
            <a:r>
              <a:rPr lang="en-US" sz="1150" i="1" dirty="0">
                <a:solidFill>
                  <a:srgbClr val="5C5773"/>
                </a:solidFill>
                <a:latin typeface="Calibri" pitchFamily="34" charset="0"/>
                <a:ea typeface="Calibri" pitchFamily="34" charset="-122"/>
                <a:cs typeface="Calibri" pitchFamily="34" charset="-120"/>
              </a:rPr>
              <a:t>Posisi yang diambil buku ini</a:t>
            </a:r>
            <a:endParaRPr lang="en-US" sz="1150" dirty="0"/>
          </a:p>
        </p:txBody>
      </p:sp>
      <p:sp>
        <p:nvSpPr>
          <p:cNvPr id="20" name="Shape 18"/>
          <p:cNvSpPr/>
          <p:nvPr/>
        </p:nvSpPr>
        <p:spPr>
          <a:xfrm>
            <a:off x="640080" y="4864608"/>
            <a:ext cx="10908792" cy="1051560"/>
          </a:xfrm>
          <a:prstGeom prst="roundRect">
            <a:avLst>
              <a:gd name="adj" fmla="val 3478"/>
            </a:avLst>
          </a:prstGeom>
          <a:solidFill>
            <a:srgbClr val="F6F4FC"/>
          </a:solidFill>
          <a:ln w="9525">
            <a:solidFill>
              <a:srgbClr val="D9D5E6"/>
            </a:solidFill>
            <a:prstDash val="solid"/>
          </a:ln>
        </p:spPr>
      </p:sp>
      <p:sp>
        <p:nvSpPr>
          <p:cNvPr id="21" name="Text 19"/>
          <p:cNvSpPr txBox="1"/>
          <p:nvPr/>
        </p:nvSpPr>
        <p:spPr>
          <a:xfrm>
            <a:off x="960120" y="4992624"/>
            <a:ext cx="10268712"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Kelemahan pluralism (Liu, 2018)</a:t>
            </a:r>
            <a:endParaRPr lang="en-US" sz="1200" dirty="0"/>
          </a:p>
        </p:txBody>
      </p:sp>
      <p:sp>
        <p:nvSpPr>
          <p:cNvPr id="22" name="Text 20"/>
          <p:cNvSpPr txBox="1"/>
          <p:nvPr/>
        </p:nvSpPr>
        <p:spPr>
          <a:xfrm>
            <a:off x="960120" y="5285232"/>
            <a:ext cx="10268712" cy="502920"/>
          </a:xfrm>
          <a:prstGeom prst="rect">
            <a:avLst/>
          </a:prstGeom>
          <a:noFill/>
          <a:ln/>
        </p:spPr>
        <p:txBody>
          <a:bodyPr wrap="square" lIns="0" tIns="0" rIns="0" bIns="0" rtlCol="0" anchor="t"/>
          <a:lstStyle/>
          <a:p>
            <a:pPr indent="0" marL="0">
              <a:lnSpc>
                <a:spcPts val="1700"/>
              </a:lnSpc>
              <a:buNone/>
            </a:pPr>
            <a:r>
              <a:rPr lang="en-US" sz="1250" dirty="0">
                <a:solidFill>
                  <a:srgbClr val="231F3D"/>
                </a:solidFill>
                <a:latin typeface="Calibri" pitchFamily="34" charset="0"/>
                <a:ea typeface="Calibri" pitchFamily="34" charset="-122"/>
                <a:cs typeface="Calibri" pitchFamily="34" charset="-120"/>
              </a:rPr>
              <a:t>Pluralism dikhawatirkan terlalu toleran. Sebagian praktik dan tradisi memang keliru secara mendalam dan untuk hal tersebut toleransi tidak tepat diberikan. Konflik antarperspektif merupakan bagian yang tidak terhindarkan dan harus dihadapi.</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1</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Teori etika normatif dan agama</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640080" y="1517904"/>
            <a:ext cx="10908792" cy="310896"/>
          </a:xfrm>
          <a:prstGeom prst="rect">
            <a:avLst/>
          </a:prstGeom>
          <a:noFill/>
          <a:ln/>
        </p:spPr>
        <p:txBody>
          <a:bodyPr wrap="square" lIns="0" tIns="0" rIns="0" bIns="0" rtlCol="0" anchor="t"/>
          <a:lstStyle/>
          <a:p>
            <a:pPr indent="0" marL="0">
              <a:lnSpc>
                <a:spcPts val="2100"/>
              </a:lnSpc>
              <a:buNone/>
            </a:pPr>
            <a:r>
              <a:rPr lang="en-US" sz="1500" dirty="0">
                <a:solidFill>
                  <a:srgbClr val="231F3D"/>
                </a:solidFill>
                <a:latin typeface="Calibri" pitchFamily="34" charset="0"/>
                <a:ea typeface="Calibri" pitchFamily="34" charset="-122"/>
                <a:cs typeface="Calibri" pitchFamily="34" charset="-120"/>
              </a:rPr>
              <a:t>Tujuan keduanya sama, memastikan bisnis bertanggung jawab dan bermanfaat. Ada dua perbedaan pokok.</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993392"/>
          <a:ext cx="10908792" cy="914400"/>
        </p:xfrm>
        <a:graphic>
          <a:graphicData uri="http://schemas.openxmlformats.org/drawingml/2006/table">
            <a:tbl>
              <a:tblPr/>
              <a:tblGrid>
                <a:gridCol w="1920240"/>
                <a:gridCol w="4480560"/>
                <a:gridCol w="4507992"/>
              </a:tblGrid>
              <a:tr h="310896">
                <a:tc>
                  <a:txBody>
                    <a:bodyPr/>
                    <a:lstStyle/>
                    <a:p>
                      <a:pPr indent="0" marL="0">
                        <a:buNone/>
                      </a:pP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Ajaran agama</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Teori filosofis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r>
              <a:tr h="868680">
                <a:tc>
                  <a:txBody>
                    <a:bodyPr/>
                    <a:lstStyle/>
                    <a:p>
                      <a:pPr indent="0" marL="0">
                        <a:buNone/>
                      </a:pPr>
                      <a:r>
                        <a:rPr lang="en-US" sz="1200" b="1" dirty="0">
                          <a:solidFill>
                            <a:srgbClr val="231F3D"/>
                          </a:solidFill>
                          <a:latin typeface="Calibri" pitchFamily="34" charset="0"/>
                          <a:ea typeface="Calibri" pitchFamily="34" charset="-122"/>
                          <a:cs typeface="Calibri" pitchFamily="34" charset="-120"/>
                        </a:rPr>
                        <a:t>Sumber aturan</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200" dirty="0">
                          <a:solidFill>
                            <a:srgbClr val="231F3D"/>
                          </a:solidFill>
                          <a:latin typeface="Calibri" pitchFamily="34" charset="0"/>
                          <a:ea typeface="Calibri" pitchFamily="34" charset="-122"/>
                          <a:cs typeface="Calibri" pitchFamily="34" charset="-120"/>
                        </a:rPr>
                        <a:t>Tuhan atau sistem kepercayaan yang terorganisir, misalnya ajaran dalam Al-Qur’an atau Talmud. Iman menjadi syarat kritis untuk bertindak etis.</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200" dirty="0">
                          <a:solidFill>
                            <a:srgbClr val="231F3D"/>
                          </a:solidFill>
                          <a:latin typeface="Calibri" pitchFamily="34" charset="0"/>
                          <a:ea typeface="Calibri" pitchFamily="34" charset="-122"/>
                          <a:cs typeface="Calibri" pitchFamily="34" charset="-120"/>
                        </a:rPr>
                        <a:t>Nalar manusia sebagai penggerak etika. Rasionalitas menjadi syarat kritis untuk bertindak etis.</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685800">
                <a:tc>
                  <a:txBody>
                    <a:bodyPr/>
                    <a:lstStyle/>
                    <a:p>
                      <a:pPr indent="0" marL="0">
                        <a:buNone/>
                      </a:pPr>
                      <a:r>
                        <a:rPr lang="en-US" sz="1200" b="1" dirty="0">
                          <a:solidFill>
                            <a:srgbClr val="231F3D"/>
                          </a:solidFill>
                          <a:latin typeface="Calibri" pitchFamily="34" charset="0"/>
                          <a:ea typeface="Calibri" pitchFamily="34" charset="-122"/>
                          <a:cs typeface="Calibri" pitchFamily="34" charset="-120"/>
                        </a:rPr>
                        <a:t>Konsekuensi</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200" dirty="0">
                          <a:solidFill>
                            <a:srgbClr val="231F3D"/>
                          </a:solidFill>
                          <a:latin typeface="Calibri" pitchFamily="34" charset="0"/>
                          <a:ea typeface="Calibri" pitchFamily="34" charset="-122"/>
                          <a:cs typeface="Calibri" pitchFamily="34" charset="-120"/>
                        </a:rPr>
                        <a:t>Terdapat konsekuensi spiritual berupa keselamatan, pencerahan, reinkarnasi atau kutukan.</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200" dirty="0">
                          <a:solidFill>
                            <a:srgbClr val="231F3D"/>
                          </a:solidFill>
                          <a:latin typeface="Calibri" pitchFamily="34" charset="0"/>
                          <a:ea typeface="Calibri" pitchFamily="34" charset="-122"/>
                          <a:cs typeface="Calibri" pitchFamily="34" charset="-120"/>
                        </a:rPr>
                        <a:t>Konsekuensinya bersifat sosial dan praktis, bukan spiritual.</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
        <p:nvSpPr>
          <p:cNvPr id="7" name="Shape 4"/>
          <p:cNvSpPr/>
          <p:nvPr/>
        </p:nvSpPr>
        <p:spPr>
          <a:xfrm>
            <a:off x="640080" y="4114800"/>
            <a:ext cx="10908792" cy="1783080"/>
          </a:xfrm>
          <a:prstGeom prst="roundRect">
            <a:avLst>
              <a:gd name="adj" fmla="val 2051"/>
            </a:avLst>
          </a:prstGeom>
          <a:solidFill>
            <a:srgbClr val="F6F4FC"/>
          </a:solidFill>
          <a:ln w="9525">
            <a:solidFill>
              <a:srgbClr val="D9D5E6"/>
            </a:solidFill>
            <a:prstDash val="solid"/>
          </a:ln>
        </p:spPr>
      </p:sp>
      <p:sp>
        <p:nvSpPr>
          <p:cNvPr id="8" name="Text 5"/>
          <p:cNvSpPr txBox="1"/>
          <p:nvPr/>
        </p:nvSpPr>
        <p:spPr>
          <a:xfrm>
            <a:off x="960120" y="4261104"/>
            <a:ext cx="10268712"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Contoh pengaruh agama pada praktik bisnis</a:t>
            </a:r>
            <a:endParaRPr lang="en-US" sz="1200" dirty="0"/>
          </a:p>
        </p:txBody>
      </p:sp>
      <p:sp>
        <p:nvSpPr>
          <p:cNvPr id="9" name="Text 6"/>
          <p:cNvSpPr txBox="1"/>
          <p:nvPr/>
        </p:nvSpPr>
        <p:spPr>
          <a:xfrm>
            <a:off x="960120" y="4553712"/>
            <a:ext cx="10222992" cy="11887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31F3D"/>
                </a:solidFill>
                <a:latin typeface="Calibri" pitchFamily="34" charset="0"/>
                <a:ea typeface="Calibri" pitchFamily="34" charset="-122"/>
                <a:cs typeface="Calibri" pitchFamily="34" charset="-120"/>
              </a:rPr>
              <a:t>Yudaisme: periode abstain dari aktivitas ekonomi yang di Yerusalem melahirkan pertentangan mengenai jam operasi toko dan bioskop pada hari istirahat</a:t>
            </a:r>
            <a:endParaRPr lang="en-US" sz="1250" dirty="0"/>
          </a:p>
          <a:p>
            <a:pPr marL="342900" indent="-342900">
              <a:spcAft>
                <a:spcPts val="400"/>
              </a:spcAft>
              <a:buSzPct val="100000"/>
              <a:buChar char="•"/>
            </a:pPr>
            <a:r>
              <a:rPr lang="en-US" sz="1250" dirty="0">
                <a:solidFill>
                  <a:srgbClr val="231F3D"/>
                </a:solidFill>
                <a:latin typeface="Calibri" pitchFamily="34" charset="0"/>
                <a:ea typeface="Calibri" pitchFamily="34" charset="-122"/>
                <a:cs typeface="Calibri" pitchFamily="34" charset="-120"/>
              </a:rPr>
              <a:t>Islam: aturan praktik bisnis yang melahirkan sistem perbankan syariah yang melarang pengenaan bunga</a:t>
            </a:r>
            <a:endParaRPr lang="en-US" sz="1250" dirty="0"/>
          </a:p>
          <a:p>
            <a:pPr marL="342900" indent="-342900">
              <a:spcAft>
                <a:spcPts val="400"/>
              </a:spcAft>
              <a:buSzPct val="100000"/>
              <a:buChar char="•"/>
            </a:pPr>
            <a:r>
              <a:rPr lang="en-US" sz="1250" dirty="0">
                <a:solidFill>
                  <a:srgbClr val="231F3D"/>
                </a:solidFill>
                <a:latin typeface="Calibri" pitchFamily="34" charset="0"/>
                <a:ea typeface="Calibri" pitchFamily="34" charset="-122"/>
                <a:cs typeface="Calibri" pitchFamily="34" charset="-120"/>
              </a:rPr>
              <a:t>Protestant Work Ethic (Weber, 1905) yang dikembangkan Uygur et al. (2017) menjadi Islamic work ethic pada pemilik usaha kecil di Turki</a:t>
            </a:r>
            <a:endParaRPr lang="en-US" sz="1250" dirty="0"/>
          </a:p>
        </p:txBody>
      </p:sp>
      <p:sp>
        <p:nvSpPr>
          <p:cNvPr id="10" name="Text 7"/>
          <p:cNvSpPr txBox="1"/>
          <p:nvPr/>
        </p:nvSpPr>
        <p:spPr>
          <a:xfrm>
            <a:off x="640080" y="5989320"/>
            <a:ext cx="10908792" cy="320040"/>
          </a:xfrm>
          <a:prstGeom prst="rect">
            <a:avLst/>
          </a:prstGeom>
          <a:noFill/>
          <a:ln/>
        </p:spPr>
        <p:txBody>
          <a:bodyPr wrap="square" lIns="0" tIns="0" rIns="0" bIns="0" rtlCol="0" anchor="t"/>
          <a:lstStyle/>
          <a:p>
            <a:pPr indent="0" marL="0">
              <a:buNone/>
            </a:pPr>
            <a:r>
              <a:rPr lang="en-US" sz="1250" i="1" dirty="0">
                <a:solidFill>
                  <a:srgbClr val="2E2566"/>
                </a:solidFill>
                <a:latin typeface="Calibri" pitchFamily="34" charset="0"/>
                <a:ea typeface="Calibri" pitchFamily="34" charset="-122"/>
                <a:cs typeface="Calibri" pitchFamily="34" charset="-120"/>
              </a:rPr>
              <a:t>Karena sekularisasi berlangsung luas, teori normatif berbasis prinsip filosofis tetap menjadi landasan etika bisnis kontemporer.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2</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Dua keluarga teori Western modernist</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640080" y="1517904"/>
            <a:ext cx="10908792" cy="292608"/>
          </a:xfrm>
          <a:prstGeom prst="rect">
            <a:avLst/>
          </a:prstGeom>
          <a:noFill/>
          <a:ln/>
        </p:spPr>
        <p:txBody>
          <a:bodyPr wrap="square" lIns="0" tIns="0" rIns="0" bIns="0" rtlCol="0" anchor="t"/>
          <a:lstStyle/>
          <a:p>
            <a:pPr indent="0" marL="0">
              <a:lnSpc>
                <a:spcPts val="2000"/>
              </a:lnSpc>
              <a:buNone/>
            </a:pPr>
            <a:r>
              <a:rPr lang="en-US" sz="1450" dirty="0">
                <a:solidFill>
                  <a:srgbClr val="231F3D"/>
                </a:solidFill>
                <a:latin typeface="Calibri" pitchFamily="34" charset="0"/>
                <a:ea typeface="Calibri" pitchFamily="34" charset="-122"/>
                <a:cs typeface="Calibri" pitchFamily="34" charset="-120"/>
              </a:rPr>
              <a:t>Lahir dari Pencerahan abad ke-18, menawarkan satu aturan untuk segala situasi dan bersifat absolutis.</a:t>
            </a:r>
            <a:endParaRPr lang="en-US" sz="1450" dirty="0"/>
          </a:p>
        </p:txBody>
      </p:sp>
      <p:sp>
        <p:nvSpPr>
          <p:cNvPr id="6" name="Shape 4"/>
          <p:cNvSpPr/>
          <p:nvPr/>
        </p:nvSpPr>
        <p:spPr>
          <a:xfrm>
            <a:off x="640080" y="2011680"/>
            <a:ext cx="5317236" cy="1371600"/>
          </a:xfrm>
          <a:prstGeom prst="roundRect">
            <a:avLst>
              <a:gd name="adj" fmla="val 2667"/>
            </a:avLst>
          </a:prstGeom>
          <a:solidFill>
            <a:srgbClr val="F6F4FC"/>
          </a:solidFill>
          <a:ln w="9525">
            <a:solidFill>
              <a:srgbClr val="D9D5E6"/>
            </a:solidFill>
            <a:prstDash val="solid"/>
          </a:ln>
        </p:spPr>
      </p:sp>
      <p:sp>
        <p:nvSpPr>
          <p:cNvPr id="7" name="Text 5"/>
          <p:cNvSpPr txBox="1"/>
          <p:nvPr/>
        </p:nvSpPr>
        <p:spPr>
          <a:xfrm>
            <a:off x="932688" y="2157984"/>
            <a:ext cx="4722876" cy="292608"/>
          </a:xfrm>
          <a:prstGeom prst="rect">
            <a:avLst/>
          </a:prstGeom>
          <a:noFill/>
          <a:ln/>
        </p:spPr>
        <p:txBody>
          <a:bodyPr wrap="square" lIns="0" tIns="0" rIns="0" bIns="0" rtlCol="0" anchor="t"/>
          <a:lstStyle/>
          <a:p>
            <a:pPr indent="0" marL="0">
              <a:buNone/>
            </a:pPr>
            <a:r>
              <a:rPr lang="en-US" sz="1500" b="1" dirty="0">
                <a:solidFill>
                  <a:srgbClr val="B96A2C"/>
                </a:solidFill>
                <a:latin typeface="Calibri" pitchFamily="34" charset="0"/>
                <a:ea typeface="Calibri" pitchFamily="34" charset="-122"/>
                <a:cs typeface="Calibri" pitchFamily="34" charset="-120"/>
              </a:rPr>
              <a:t>Consequentialist atau teleological</a:t>
            </a:r>
            <a:endParaRPr lang="en-US" sz="1500" dirty="0"/>
          </a:p>
        </p:txBody>
      </p:sp>
      <p:sp>
        <p:nvSpPr>
          <p:cNvPr id="8" name="Text 6"/>
          <p:cNvSpPr txBox="1"/>
          <p:nvPr/>
        </p:nvSpPr>
        <p:spPr>
          <a:xfrm>
            <a:off x="932688" y="2505456"/>
            <a:ext cx="4722876" cy="777240"/>
          </a:xfrm>
          <a:prstGeom prst="rect">
            <a:avLst/>
          </a:prstGeom>
          <a:noFill/>
          <a:ln/>
        </p:spPr>
        <p:txBody>
          <a:bodyPr wrap="square" lIns="0" tIns="0" rIns="0" bIns="0" rtlCol="0" anchor="t"/>
          <a:lstStyle/>
          <a:p>
            <a:pPr indent="0" marL="0">
              <a:lnSpc>
                <a:spcPts val="1800"/>
              </a:lnSpc>
              <a:buNone/>
            </a:pPr>
            <a:r>
              <a:rPr lang="en-US" sz="1250" dirty="0">
                <a:solidFill>
                  <a:srgbClr val="231F3D"/>
                </a:solidFill>
                <a:latin typeface="Calibri" pitchFamily="34" charset="0"/>
                <a:ea typeface="Calibri" pitchFamily="34" charset="-122"/>
                <a:cs typeface="Calibri" pitchFamily="34" charset="-120"/>
              </a:rPr>
              <a:t>Penilaian moral berdasar hasil dari sebuah tindakan. Hasil yang diinginkan berarti tindakan tersebut benar. Teorinya: ethical egoism dan utilitarianism.</a:t>
            </a:r>
            <a:endParaRPr lang="en-US" sz="1250" dirty="0"/>
          </a:p>
        </p:txBody>
      </p:sp>
      <p:sp>
        <p:nvSpPr>
          <p:cNvPr id="9" name="Shape 7"/>
          <p:cNvSpPr/>
          <p:nvPr/>
        </p:nvSpPr>
        <p:spPr>
          <a:xfrm>
            <a:off x="6231636" y="2011680"/>
            <a:ext cx="5317236" cy="1371600"/>
          </a:xfrm>
          <a:prstGeom prst="roundRect">
            <a:avLst>
              <a:gd name="adj" fmla="val 2667"/>
            </a:avLst>
          </a:prstGeom>
          <a:solidFill>
            <a:srgbClr val="F6F4FC"/>
          </a:solidFill>
          <a:ln w="9525">
            <a:solidFill>
              <a:srgbClr val="D9D5E6"/>
            </a:solidFill>
            <a:prstDash val="solid"/>
          </a:ln>
        </p:spPr>
      </p:sp>
      <p:sp>
        <p:nvSpPr>
          <p:cNvPr id="10" name="Text 8"/>
          <p:cNvSpPr txBox="1"/>
          <p:nvPr/>
        </p:nvSpPr>
        <p:spPr>
          <a:xfrm>
            <a:off x="6524244" y="2157984"/>
            <a:ext cx="4722876" cy="292608"/>
          </a:xfrm>
          <a:prstGeom prst="rect">
            <a:avLst/>
          </a:prstGeom>
          <a:noFill/>
          <a:ln/>
        </p:spPr>
        <p:txBody>
          <a:bodyPr wrap="square" lIns="0" tIns="0" rIns="0" bIns="0" rtlCol="0" anchor="t"/>
          <a:lstStyle/>
          <a:p>
            <a:pPr indent="0" marL="0">
              <a:buNone/>
            </a:pPr>
            <a:r>
              <a:rPr lang="en-US" sz="1500" b="1" dirty="0">
                <a:solidFill>
                  <a:srgbClr val="4A5CA4"/>
                </a:solidFill>
                <a:latin typeface="Calibri" pitchFamily="34" charset="0"/>
                <a:ea typeface="Calibri" pitchFamily="34" charset="-122"/>
                <a:cs typeface="Calibri" pitchFamily="34" charset="-120"/>
              </a:rPr>
              <a:t>Principle-based atau deontological</a:t>
            </a:r>
            <a:endParaRPr lang="en-US" sz="1500" dirty="0"/>
          </a:p>
        </p:txBody>
      </p:sp>
      <p:sp>
        <p:nvSpPr>
          <p:cNvPr id="11" name="Text 9"/>
          <p:cNvSpPr txBox="1"/>
          <p:nvPr/>
        </p:nvSpPr>
        <p:spPr>
          <a:xfrm>
            <a:off x="6524244" y="2505456"/>
            <a:ext cx="4722876" cy="777240"/>
          </a:xfrm>
          <a:prstGeom prst="rect">
            <a:avLst/>
          </a:prstGeom>
          <a:noFill/>
          <a:ln/>
        </p:spPr>
        <p:txBody>
          <a:bodyPr wrap="square" lIns="0" tIns="0" rIns="0" bIns="0" rtlCol="0" anchor="t"/>
          <a:lstStyle/>
          <a:p>
            <a:pPr indent="0" marL="0">
              <a:lnSpc>
                <a:spcPts val="1800"/>
              </a:lnSpc>
              <a:buNone/>
            </a:pPr>
            <a:r>
              <a:rPr lang="en-US" sz="1250" dirty="0">
                <a:solidFill>
                  <a:srgbClr val="231F3D"/>
                </a:solidFill>
                <a:latin typeface="Calibri" pitchFamily="34" charset="0"/>
                <a:ea typeface="Calibri" pitchFamily="34" charset="-122"/>
                <a:cs typeface="Calibri" pitchFamily="34" charset="-120"/>
              </a:rPr>
              <a:t>Penilaian moral berdasar prinsip dan prosedur. Mengutamakan apa yang benar, bukan yang diinginkan. Teorinya: ethics of duties serta rights and justice.</a:t>
            </a:r>
            <a:endParaRPr lang="en-US" sz="1250" dirty="0"/>
          </a:p>
        </p:txBody>
      </p:sp>
      <p:sp>
        <p:nvSpPr>
          <p:cNvPr id="12" name="Text 10"/>
          <p:cNvSpPr txBox="1"/>
          <p:nvPr/>
        </p:nvSpPr>
        <p:spPr>
          <a:xfrm>
            <a:off x="640080" y="3566160"/>
            <a:ext cx="10908792" cy="256032"/>
          </a:xfrm>
          <a:prstGeom prst="rect">
            <a:avLst/>
          </a:prstGeom>
          <a:noFill/>
          <a:ln/>
        </p:spPr>
        <p:txBody>
          <a:bodyPr wrap="square" lIns="0" tIns="0" rIns="0" bIns="0" rtlCol="0" anchor="t"/>
          <a:lstStyle/>
          <a:p>
            <a:pPr indent="0" marL="0">
              <a:buNone/>
            </a:pPr>
            <a:r>
              <a:rPr lang="en-US" sz="1150" b="1" dirty="0">
                <a:solidFill>
                  <a:srgbClr val="5C5773"/>
                </a:solidFill>
                <a:latin typeface="Calibri" pitchFamily="34" charset="0"/>
                <a:ea typeface="Calibri" pitchFamily="34" charset="-122"/>
                <a:cs typeface="Calibri" pitchFamily="34" charset="-120"/>
              </a:rPr>
              <a:t>Tabel 3.1  Normative theories in business ethics: part one (halaman 92)</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3858768"/>
          <a:ext cx="10908792" cy="914400"/>
        </p:xfrm>
        <a:graphic>
          <a:graphicData uri="http://schemas.openxmlformats.org/drawingml/2006/table">
            <a:tbl>
              <a:tblPr/>
              <a:tblGrid>
                <a:gridCol w="1600200"/>
                <a:gridCol w="2322576"/>
                <a:gridCol w="2322576"/>
                <a:gridCol w="2322576"/>
                <a:gridCol w="2340864"/>
              </a:tblGrid>
              <a:tr h="274320">
                <a:tc>
                  <a:txBody>
                    <a:bodyPr/>
                    <a:lstStyle/>
                    <a:p>
                      <a:pPr indent="0" marL="0">
                        <a:buNone/>
                      </a:pP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Ethical egoism</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Utilitarianism</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Ethics of duties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Rights and justice</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r>
              <a:tr h="566928">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Kontributor</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Thomas Hobbes</a:t>
                      </a:r>
                      <a:endParaRPr lang="en-US" sz="1100" dirty="0">
                        <a:latin typeface="Calibri" charset="0"/>
                        <a:ea typeface="Calibri" charset="0"/>
                        <a:cs typeface="Calibri" charset="0"/>
                      </a:endParaRPr>
                    </a:p>
                    <a:p>
                      <a:pPr indent="0" marL="0">
                        <a:buNone/>
                      </a:pPr>
                      <a:r>
                        <a:rPr lang="en-US" sz="1100" dirty="0">
                          <a:solidFill>
                            <a:srgbClr val="231F3D"/>
                          </a:solidFill>
                          <a:latin typeface="Calibri" pitchFamily="34" charset="0"/>
                          <a:ea typeface="Calibri" pitchFamily="34" charset="-122"/>
                          <a:cs typeface="Calibri" pitchFamily="34" charset="-120"/>
                        </a:rPr>
                        <a:t>Ayn Rand</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Jeremy Bentham</a:t>
                      </a:r>
                      <a:endParaRPr lang="en-US" sz="1100" dirty="0">
                        <a:latin typeface="Calibri" charset="0"/>
                        <a:ea typeface="Calibri" charset="0"/>
                        <a:cs typeface="Calibri" charset="0"/>
                      </a:endParaRPr>
                    </a:p>
                    <a:p>
                      <a:pPr indent="0" marL="0">
                        <a:buNone/>
                      </a:pPr>
                      <a:r>
                        <a:rPr lang="en-US" sz="1100" dirty="0">
                          <a:solidFill>
                            <a:srgbClr val="231F3D"/>
                          </a:solidFill>
                          <a:latin typeface="Calibri" pitchFamily="34" charset="0"/>
                          <a:ea typeface="Calibri" pitchFamily="34" charset="-122"/>
                          <a:cs typeface="Calibri" pitchFamily="34" charset="-120"/>
                        </a:rPr>
                        <a:t>John Stuart Mill</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Immanuel Kant</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John Locke</a:t>
                      </a:r>
                      <a:endParaRPr lang="en-US" sz="1100" dirty="0">
                        <a:latin typeface="Calibri" charset="0"/>
                        <a:ea typeface="Calibri" charset="0"/>
                        <a:cs typeface="Calibri" charset="0"/>
                      </a:endParaRPr>
                    </a:p>
                    <a:p>
                      <a:pPr indent="0" marL="0">
                        <a:buNone/>
                      </a:pPr>
                      <a:r>
                        <a:rPr lang="en-US" sz="1100" dirty="0">
                          <a:solidFill>
                            <a:srgbClr val="231F3D"/>
                          </a:solidFill>
                          <a:latin typeface="Calibri" pitchFamily="34" charset="0"/>
                          <a:ea typeface="Calibri" pitchFamily="34" charset="-122"/>
                          <a:cs typeface="Calibri" pitchFamily="34" charset="-120"/>
                        </a:rPr>
                        <a:t>J. J. Rousseau</a:t>
                      </a:r>
                      <a:endParaRPr lang="en-US" sz="1100" dirty="0">
                        <a:latin typeface="Calibri" charset="0"/>
                        <a:ea typeface="Calibri" charset="0"/>
                        <a:cs typeface="Calibri" charset="0"/>
                      </a:endParaRPr>
                    </a:p>
                    <a:p>
                      <a:pPr indent="0" marL="0">
                        <a:buNone/>
                      </a:pPr>
                      <a:r>
                        <a:rPr lang="en-US" sz="1100" dirty="0">
                          <a:solidFill>
                            <a:srgbClr val="231F3D"/>
                          </a:solidFill>
                          <a:latin typeface="Calibri" pitchFamily="34" charset="0"/>
                          <a:ea typeface="Calibri" pitchFamily="34" charset="-122"/>
                          <a:cs typeface="Calibri" pitchFamily="34" charset="-120"/>
                        </a:rPr>
                        <a:t>John Rawls</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57200">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Fokus</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Hasrat atau kepentingan individu</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Hasil dan kesejahteraan kolektif</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Kewajiban</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Hak dan hakikat keadilan</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566928">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Konsep manusia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Manusia wajib melayani kepentingan dirinya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Manusia digerakkan penghindaran pain dan perolehan pleasure</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Manusia adalah aktor moral rasional dengan kehendak bebas</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Manusia dibedakan oleh martabat</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274320">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Jenis</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00" b="1" dirty="0">
                          <a:solidFill>
                            <a:srgbClr val="B96A2C"/>
                          </a:solidFill>
                          <a:latin typeface="Calibri" pitchFamily="34" charset="0"/>
                          <a:ea typeface="Calibri" pitchFamily="34" charset="-122"/>
                          <a:cs typeface="Calibri" pitchFamily="34" charset="-120"/>
                        </a:rPr>
                        <a:t>Consequentialist</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b="1" dirty="0">
                          <a:solidFill>
                            <a:srgbClr val="B96A2C"/>
                          </a:solidFill>
                          <a:latin typeface="Calibri" pitchFamily="34" charset="0"/>
                          <a:ea typeface="Calibri" pitchFamily="34" charset="-122"/>
                          <a:cs typeface="Calibri" pitchFamily="34" charset="-120"/>
                        </a:rPr>
                        <a:t>Consequentialist</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b="1" dirty="0">
                          <a:solidFill>
                            <a:srgbClr val="4A5CA4"/>
                          </a:solidFill>
                          <a:latin typeface="Calibri" pitchFamily="34" charset="0"/>
                          <a:ea typeface="Calibri" pitchFamily="34" charset="-122"/>
                          <a:cs typeface="Calibri" pitchFamily="34" charset="-120"/>
                        </a:rPr>
                        <a:t>Principle-based</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b="1" dirty="0">
                          <a:solidFill>
                            <a:srgbClr val="4A5CA4"/>
                          </a:solidFill>
                          <a:latin typeface="Calibri" pitchFamily="34" charset="0"/>
                          <a:ea typeface="Calibri" pitchFamily="34" charset="-122"/>
                          <a:cs typeface="Calibri" pitchFamily="34" charset="-120"/>
                        </a:rPr>
                        <a:t>Principle-based</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2</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Ethical Dilemma 3: Producing Toys, Child’s Play?</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640080" y="1481328"/>
            <a:ext cx="10908792" cy="292608"/>
          </a:xfrm>
          <a:prstGeom prst="rect">
            <a:avLst/>
          </a:prstGeom>
          <a:noFill/>
          <a:ln/>
        </p:spPr>
        <p:txBody>
          <a:bodyPr wrap="square" lIns="0" tIns="0" rIns="0" bIns="0" rtlCol="0" anchor="t"/>
          <a:lstStyle/>
          <a:p>
            <a:pPr indent="0" marL="0">
              <a:buNone/>
            </a:pPr>
            <a:r>
              <a:rPr lang="en-US" sz="1400" i="1" dirty="0">
                <a:solidFill>
                  <a:srgbClr val="2E2566"/>
                </a:solidFill>
                <a:latin typeface="Calibri" pitchFamily="34" charset="0"/>
                <a:ea typeface="Calibri" pitchFamily="34" charset="-122"/>
                <a:cs typeface="Calibri" pitchFamily="34" charset="-120"/>
              </a:rPr>
              <a:t>Satu kasus yang sama dipakai untuk menguji seluruh teori dalam bab ini. Kasus ini adalah benang merah presentasi.</a:t>
            </a:r>
            <a:endParaRPr lang="en-US" sz="1400" dirty="0"/>
          </a:p>
        </p:txBody>
      </p:sp>
      <p:sp>
        <p:nvSpPr>
          <p:cNvPr id="6" name="Shape 4"/>
          <p:cNvSpPr/>
          <p:nvPr/>
        </p:nvSpPr>
        <p:spPr>
          <a:xfrm>
            <a:off x="640080" y="1901952"/>
            <a:ext cx="6763451" cy="3273552"/>
          </a:xfrm>
          <a:prstGeom prst="roundRect">
            <a:avLst>
              <a:gd name="adj" fmla="val 1117"/>
            </a:avLst>
          </a:prstGeom>
          <a:solidFill>
            <a:srgbClr val="EEEBF8"/>
          </a:solidFill>
          <a:ln w="9525">
            <a:solidFill>
              <a:srgbClr val="D9D5E6"/>
            </a:solidFill>
            <a:prstDash val="solid"/>
          </a:ln>
        </p:spPr>
      </p:sp>
      <p:sp>
        <p:nvSpPr>
          <p:cNvPr id="7" name="Text 5"/>
          <p:cNvSpPr txBox="1"/>
          <p:nvPr/>
        </p:nvSpPr>
        <p:spPr>
          <a:xfrm>
            <a:off x="932688" y="2048256"/>
            <a:ext cx="6178235"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Ringkasan kasus (halaman 94)</a:t>
            </a:r>
            <a:endParaRPr lang="en-US" sz="1200" dirty="0"/>
          </a:p>
        </p:txBody>
      </p:sp>
      <p:sp>
        <p:nvSpPr>
          <p:cNvPr id="8" name="Text 6"/>
          <p:cNvSpPr txBox="1"/>
          <p:nvPr/>
        </p:nvSpPr>
        <p:spPr>
          <a:xfrm>
            <a:off x="932688" y="2340864"/>
            <a:ext cx="6178235" cy="2697480"/>
          </a:xfrm>
          <a:prstGeom prst="rect">
            <a:avLst/>
          </a:prstGeom>
          <a:noFill/>
          <a:ln/>
        </p:spPr>
        <p:txBody>
          <a:bodyPr wrap="square" lIns="0" tIns="0" rIns="0" bIns="0" rtlCol="0" anchor="t"/>
          <a:lstStyle/>
          <a:p>
            <a:pPr indent="0" marL="0">
              <a:lnSpc>
                <a:spcPts val="1650"/>
              </a:lnSpc>
              <a:buNone/>
            </a:pPr>
            <a:r>
              <a:rPr lang="en-US" sz="1150" dirty="0">
                <a:solidFill>
                  <a:srgbClr val="231F3D"/>
                </a:solidFill>
                <a:latin typeface="Calibri" pitchFamily="34" charset="0"/>
                <a:ea typeface="Calibri" pitchFamily="34" charset="-122"/>
                <a:cs typeface="Calibri" pitchFamily="34" charset="-120"/>
              </a:rPr>
              <a:t>Anda product manager perusahaan kembang gula yang menyertakan mainan plastik kecil dalam produknya. Di timur laut Thailand Anda memperoleh kesepakatan dengan harga sepertiga dari pemasok Portugal, dengan kualitas yang setara.</a:t>
            </a:r>
            <a:endParaRPr lang="en-US" sz="1150" dirty="0"/>
          </a:p>
          <a:p>
            <a:pPr indent="0" marL="0">
              <a:lnSpc>
                <a:spcPts val="1650"/>
              </a:lnSpc>
              <a:buNone/>
            </a:pPr>
            <a:endParaRPr lang="en-US" sz="1150" dirty="0"/>
          </a:p>
          <a:p>
            <a:pPr indent="0" marL="0">
              <a:lnSpc>
                <a:spcPts val="1650"/>
              </a:lnSpc>
              <a:buNone/>
            </a:pPr>
            <a:r>
              <a:rPr lang="en-US" sz="1150" dirty="0">
                <a:solidFill>
                  <a:srgbClr val="231F3D"/>
                </a:solidFill>
                <a:latin typeface="Calibri" pitchFamily="34" charset="0"/>
                <a:ea typeface="Calibri" pitchFamily="34" charset="-122"/>
                <a:cs typeface="Calibri" pitchFamily="34" charset="-120"/>
              </a:rPr>
              <a:t>Ketika meninjau proses produksi Anda mendapati tidak ada bengkel kerja. Komponen dibawa pulang oleh sekitar 30 pria. Di sebuah bangunan menyerupai garasi Anda melihat satu keluarga merakit mainan, yaitu ayah, ibu dan 6 anak berusia 5 sampai 14 tahun.</a:t>
            </a:r>
            <a:endParaRPr lang="en-US" sz="1150" dirty="0"/>
          </a:p>
          <a:p>
            <a:pPr indent="0" marL="0">
              <a:lnSpc>
                <a:spcPts val="1650"/>
              </a:lnSpc>
              <a:buNone/>
            </a:pPr>
            <a:endParaRPr lang="en-US" sz="1150" dirty="0"/>
          </a:p>
          <a:p>
            <a:pPr indent="0" marL="0">
              <a:lnSpc>
                <a:spcPts val="1650"/>
              </a:lnSpc>
              <a:buNone/>
            </a:pPr>
            <a:r>
              <a:rPr lang="en-US" sz="1150" dirty="0">
                <a:solidFill>
                  <a:srgbClr val="231F3D"/>
                </a:solidFill>
                <a:latin typeface="Calibri" pitchFamily="34" charset="0"/>
                <a:ea typeface="Calibri" pitchFamily="34" charset="-122"/>
                <a:cs typeface="Calibri" pitchFamily="34" charset="-120"/>
              </a:rPr>
              <a:t>Namun, ketika membeli suvenir untuk keponakan Anda yang berusia 5 dan 7 tahun di bandara, Anda mulai mempertanyakan apakah Anda bersedia melihat keponakan Anda tumbuh seperti anak-anak pekerja tersebut.</a:t>
            </a:r>
            <a:endParaRPr lang="en-US" sz="1150" dirty="0"/>
          </a:p>
        </p:txBody>
      </p:sp>
      <p:sp>
        <p:nvSpPr>
          <p:cNvPr id="9" name="Shape 7"/>
          <p:cNvSpPr/>
          <p:nvPr/>
        </p:nvSpPr>
        <p:spPr>
          <a:xfrm>
            <a:off x="7632131" y="1901952"/>
            <a:ext cx="3916741" cy="1481328"/>
          </a:xfrm>
          <a:prstGeom prst="roundRect">
            <a:avLst>
              <a:gd name="adj" fmla="val 2469"/>
            </a:avLst>
          </a:prstGeom>
          <a:solidFill>
            <a:srgbClr val="F6F4FC"/>
          </a:solidFill>
          <a:ln w="9525">
            <a:solidFill>
              <a:srgbClr val="D9D5E6"/>
            </a:solidFill>
            <a:prstDash val="solid"/>
          </a:ln>
        </p:spPr>
      </p:sp>
      <p:sp>
        <p:nvSpPr>
          <p:cNvPr id="10" name="Text 8"/>
          <p:cNvSpPr txBox="1"/>
          <p:nvPr/>
        </p:nvSpPr>
        <p:spPr>
          <a:xfrm>
            <a:off x="7906451" y="2048256"/>
            <a:ext cx="3368101"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Dua pertanyaan buku</a:t>
            </a:r>
            <a:endParaRPr lang="en-US" sz="1200" dirty="0"/>
          </a:p>
        </p:txBody>
      </p:sp>
      <p:sp>
        <p:nvSpPr>
          <p:cNvPr id="11" name="Text 9"/>
          <p:cNvSpPr txBox="1"/>
          <p:nvPr/>
        </p:nvSpPr>
        <p:spPr>
          <a:xfrm>
            <a:off x="7906451" y="2359152"/>
            <a:ext cx="3322381" cy="9144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1F3D"/>
                </a:solidFill>
                <a:latin typeface="Calibri" pitchFamily="34" charset="0"/>
                <a:ea typeface="Calibri" pitchFamily="34" charset="-122"/>
                <a:cs typeface="Calibri" pitchFamily="34" charset="-120"/>
              </a:rPr>
              <a:t>Sebagai product manager, apa reaksi spontan Anda?</a:t>
            </a:r>
            <a:endParaRPr lang="en-US" sz="1250" dirty="0"/>
          </a:p>
          <a:p>
            <a:pPr marL="342900" indent="-342900">
              <a:spcAft>
                <a:spcPts val="500"/>
              </a:spcAft>
              <a:buSzPct val="100000"/>
              <a:buChar char="•"/>
            </a:pPr>
            <a:r>
              <a:rPr lang="en-US" sz="1250" dirty="0">
                <a:solidFill>
                  <a:srgbClr val="231F3D"/>
                </a:solidFill>
                <a:latin typeface="Calibri" pitchFamily="34" charset="0"/>
                <a:ea typeface="Calibri" pitchFamily="34" charset="-122"/>
                <a:cs typeface="Calibri" pitchFamily="34" charset="-120"/>
              </a:rPr>
              <a:t>Jelaskan alasannya dan kaitkan dengan nilai atau prinsip yang penting untuk Anda.</a:t>
            </a:r>
            <a:endParaRPr lang="en-US" sz="1250" dirty="0"/>
          </a:p>
        </p:txBody>
      </p:sp>
      <p:sp>
        <p:nvSpPr>
          <p:cNvPr id="12" name="Shape 10"/>
          <p:cNvSpPr/>
          <p:nvPr/>
        </p:nvSpPr>
        <p:spPr>
          <a:xfrm>
            <a:off x="7632131" y="3566160"/>
            <a:ext cx="3916741" cy="1581912"/>
          </a:xfrm>
          <a:prstGeom prst="roundRect">
            <a:avLst>
              <a:gd name="adj" fmla="val 2312"/>
            </a:avLst>
          </a:prstGeom>
          <a:solidFill>
            <a:srgbClr val="F6F4FC"/>
          </a:solidFill>
          <a:ln w="9525">
            <a:solidFill>
              <a:srgbClr val="D9D5E6"/>
            </a:solidFill>
            <a:prstDash val="solid"/>
          </a:ln>
        </p:spPr>
      </p:sp>
      <p:sp>
        <p:nvSpPr>
          <p:cNvPr id="13" name="Text 11"/>
          <p:cNvSpPr txBox="1"/>
          <p:nvPr/>
        </p:nvSpPr>
        <p:spPr>
          <a:xfrm>
            <a:off x="7906451" y="3712464"/>
            <a:ext cx="3368101"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Diuji dengan sembilan teori</a:t>
            </a:r>
            <a:endParaRPr lang="en-US" sz="1200" dirty="0"/>
          </a:p>
        </p:txBody>
      </p:sp>
      <p:sp>
        <p:nvSpPr>
          <p:cNvPr id="14" name="Shape 12"/>
          <p:cNvSpPr/>
          <p:nvPr/>
        </p:nvSpPr>
        <p:spPr>
          <a:xfrm>
            <a:off x="7924739" y="4064508"/>
            <a:ext cx="118872" cy="118872"/>
          </a:xfrm>
          <a:prstGeom prst="ellipse">
            <a:avLst/>
          </a:prstGeom>
          <a:solidFill>
            <a:srgbClr val="AB463C"/>
          </a:solidFill>
          <a:ln/>
        </p:spPr>
      </p:sp>
      <p:sp>
        <p:nvSpPr>
          <p:cNvPr id="15" name="Text 13"/>
          <p:cNvSpPr txBox="1"/>
          <p:nvPr/>
        </p:nvSpPr>
        <p:spPr>
          <a:xfrm>
            <a:off x="8107619" y="4023360"/>
            <a:ext cx="1665762" cy="201168"/>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Egoism</a:t>
            </a:r>
            <a:endParaRPr lang="en-US" sz="1100" dirty="0"/>
          </a:p>
        </p:txBody>
      </p:sp>
      <p:sp>
        <p:nvSpPr>
          <p:cNvPr id="16" name="Shape 14"/>
          <p:cNvSpPr/>
          <p:nvPr/>
        </p:nvSpPr>
        <p:spPr>
          <a:xfrm>
            <a:off x="7924739" y="4283964"/>
            <a:ext cx="118872" cy="118872"/>
          </a:xfrm>
          <a:prstGeom prst="ellipse">
            <a:avLst/>
          </a:prstGeom>
          <a:solidFill>
            <a:srgbClr val="B96A2C"/>
          </a:solidFill>
          <a:ln/>
        </p:spPr>
      </p:sp>
      <p:sp>
        <p:nvSpPr>
          <p:cNvPr id="17" name="Text 15"/>
          <p:cNvSpPr txBox="1"/>
          <p:nvPr/>
        </p:nvSpPr>
        <p:spPr>
          <a:xfrm>
            <a:off x="8107619" y="4242816"/>
            <a:ext cx="1665762" cy="201168"/>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Utilitarianism</a:t>
            </a:r>
            <a:endParaRPr lang="en-US" sz="1100" dirty="0"/>
          </a:p>
        </p:txBody>
      </p:sp>
      <p:sp>
        <p:nvSpPr>
          <p:cNvPr id="18" name="Shape 16"/>
          <p:cNvSpPr/>
          <p:nvPr/>
        </p:nvSpPr>
        <p:spPr>
          <a:xfrm>
            <a:off x="7924739" y="4503420"/>
            <a:ext cx="118872" cy="118872"/>
          </a:xfrm>
          <a:prstGeom prst="ellipse">
            <a:avLst/>
          </a:prstGeom>
          <a:solidFill>
            <a:srgbClr val="9C8226"/>
          </a:solidFill>
          <a:ln/>
        </p:spPr>
      </p:sp>
      <p:sp>
        <p:nvSpPr>
          <p:cNvPr id="19" name="Text 17"/>
          <p:cNvSpPr txBox="1"/>
          <p:nvPr/>
        </p:nvSpPr>
        <p:spPr>
          <a:xfrm>
            <a:off x="8107619" y="4462272"/>
            <a:ext cx="1665762" cy="201168"/>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Ethics of duty</a:t>
            </a:r>
            <a:endParaRPr lang="en-US" sz="1100" dirty="0"/>
          </a:p>
        </p:txBody>
      </p:sp>
      <p:sp>
        <p:nvSpPr>
          <p:cNvPr id="20" name="Shape 18"/>
          <p:cNvSpPr/>
          <p:nvPr/>
        </p:nvSpPr>
        <p:spPr>
          <a:xfrm>
            <a:off x="7924739" y="4722876"/>
            <a:ext cx="118872" cy="118872"/>
          </a:xfrm>
          <a:prstGeom prst="ellipse">
            <a:avLst/>
          </a:prstGeom>
          <a:solidFill>
            <a:srgbClr val="5A8637"/>
          </a:solidFill>
          <a:ln/>
        </p:spPr>
      </p:sp>
      <p:sp>
        <p:nvSpPr>
          <p:cNvPr id="21" name="Text 19"/>
          <p:cNvSpPr txBox="1"/>
          <p:nvPr/>
        </p:nvSpPr>
        <p:spPr>
          <a:xfrm>
            <a:off x="8107619" y="4681728"/>
            <a:ext cx="1665762" cy="201168"/>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Ethics of rights</a:t>
            </a:r>
            <a:endParaRPr lang="en-US" sz="1100" dirty="0"/>
          </a:p>
        </p:txBody>
      </p:sp>
      <p:sp>
        <p:nvSpPr>
          <p:cNvPr id="22" name="Shape 20"/>
          <p:cNvSpPr/>
          <p:nvPr/>
        </p:nvSpPr>
        <p:spPr>
          <a:xfrm>
            <a:off x="7924739" y="4942332"/>
            <a:ext cx="118872" cy="118872"/>
          </a:xfrm>
          <a:prstGeom prst="ellipse">
            <a:avLst/>
          </a:prstGeom>
          <a:solidFill>
            <a:srgbClr val="2C8072"/>
          </a:solidFill>
          <a:ln/>
        </p:spPr>
      </p:sp>
      <p:sp>
        <p:nvSpPr>
          <p:cNvPr id="23" name="Text 21"/>
          <p:cNvSpPr txBox="1"/>
          <p:nvPr/>
        </p:nvSpPr>
        <p:spPr>
          <a:xfrm>
            <a:off x="8107619" y="4901184"/>
            <a:ext cx="1665762" cy="201168"/>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Justice</a:t>
            </a:r>
            <a:endParaRPr lang="en-US" sz="1100" dirty="0"/>
          </a:p>
        </p:txBody>
      </p:sp>
      <p:sp>
        <p:nvSpPr>
          <p:cNvPr id="24" name="Shape 22"/>
          <p:cNvSpPr/>
          <p:nvPr/>
        </p:nvSpPr>
        <p:spPr>
          <a:xfrm>
            <a:off x="9837390" y="4064508"/>
            <a:ext cx="118872" cy="118872"/>
          </a:xfrm>
          <a:prstGeom prst="ellipse">
            <a:avLst/>
          </a:prstGeom>
          <a:solidFill>
            <a:srgbClr val="2C6F92"/>
          </a:solidFill>
          <a:ln/>
        </p:spPr>
      </p:sp>
      <p:sp>
        <p:nvSpPr>
          <p:cNvPr id="25" name="Text 23"/>
          <p:cNvSpPr txBox="1"/>
          <p:nvPr/>
        </p:nvSpPr>
        <p:spPr>
          <a:xfrm>
            <a:off x="10020270" y="4023360"/>
            <a:ext cx="1665762" cy="201168"/>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Virtue ethics</a:t>
            </a:r>
            <a:endParaRPr lang="en-US" sz="1100" dirty="0"/>
          </a:p>
        </p:txBody>
      </p:sp>
      <p:sp>
        <p:nvSpPr>
          <p:cNvPr id="26" name="Shape 24"/>
          <p:cNvSpPr/>
          <p:nvPr/>
        </p:nvSpPr>
        <p:spPr>
          <a:xfrm>
            <a:off x="9837390" y="4283964"/>
            <a:ext cx="118872" cy="118872"/>
          </a:xfrm>
          <a:prstGeom prst="ellipse">
            <a:avLst/>
          </a:prstGeom>
          <a:solidFill>
            <a:srgbClr val="4A5CA4"/>
          </a:solidFill>
          <a:ln/>
        </p:spPr>
      </p:sp>
      <p:sp>
        <p:nvSpPr>
          <p:cNvPr id="27" name="Text 25"/>
          <p:cNvSpPr txBox="1"/>
          <p:nvPr/>
        </p:nvSpPr>
        <p:spPr>
          <a:xfrm>
            <a:off x="10020270" y="4242816"/>
            <a:ext cx="1665762" cy="201168"/>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Ethic of care</a:t>
            </a:r>
            <a:endParaRPr lang="en-US" sz="1100" dirty="0"/>
          </a:p>
        </p:txBody>
      </p:sp>
      <p:sp>
        <p:nvSpPr>
          <p:cNvPr id="28" name="Shape 26"/>
          <p:cNvSpPr/>
          <p:nvPr/>
        </p:nvSpPr>
        <p:spPr>
          <a:xfrm>
            <a:off x="9837390" y="4503420"/>
            <a:ext cx="118872" cy="118872"/>
          </a:xfrm>
          <a:prstGeom prst="ellipse">
            <a:avLst/>
          </a:prstGeom>
          <a:solidFill>
            <a:srgbClr val="764B99"/>
          </a:solidFill>
          <a:ln/>
        </p:spPr>
      </p:sp>
      <p:sp>
        <p:nvSpPr>
          <p:cNvPr id="29" name="Text 27"/>
          <p:cNvSpPr txBox="1"/>
          <p:nvPr/>
        </p:nvSpPr>
        <p:spPr>
          <a:xfrm>
            <a:off x="10020270" y="4462272"/>
            <a:ext cx="1665762" cy="201168"/>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Discourse ethics</a:t>
            </a:r>
            <a:endParaRPr lang="en-US" sz="1100" dirty="0"/>
          </a:p>
        </p:txBody>
      </p:sp>
      <p:sp>
        <p:nvSpPr>
          <p:cNvPr id="30" name="Shape 28"/>
          <p:cNvSpPr/>
          <p:nvPr/>
        </p:nvSpPr>
        <p:spPr>
          <a:xfrm>
            <a:off x="9837390" y="4722876"/>
            <a:ext cx="118872" cy="118872"/>
          </a:xfrm>
          <a:prstGeom prst="ellipse">
            <a:avLst/>
          </a:prstGeom>
          <a:solidFill>
            <a:srgbClr val="9E4176"/>
          </a:solidFill>
          <a:ln/>
        </p:spPr>
      </p:sp>
      <p:sp>
        <p:nvSpPr>
          <p:cNvPr id="31" name="Text 29"/>
          <p:cNvSpPr txBox="1"/>
          <p:nvPr/>
        </p:nvSpPr>
        <p:spPr>
          <a:xfrm>
            <a:off x="10020270" y="4681728"/>
            <a:ext cx="1665762" cy="201168"/>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Postmodern ethics</a:t>
            </a:r>
            <a:endParaRPr lang="en-US" sz="1100" dirty="0"/>
          </a:p>
        </p:txBody>
      </p:sp>
      <p:sp>
        <p:nvSpPr>
          <p:cNvPr id="32" name="Text 30"/>
          <p:cNvSpPr txBox="1"/>
          <p:nvPr/>
        </p:nvSpPr>
        <p:spPr>
          <a:xfrm>
            <a:off x="640080" y="5376672"/>
            <a:ext cx="10908792" cy="320040"/>
          </a:xfrm>
          <a:prstGeom prst="rect">
            <a:avLst/>
          </a:prstGeom>
          <a:noFill/>
          <a:ln/>
        </p:spPr>
        <p:txBody>
          <a:bodyPr wrap="square" lIns="0" tIns="0" rIns="0" bIns="0" rtlCol="0" anchor="t"/>
          <a:lstStyle/>
          <a:p>
            <a:pPr indent="0" marL="0">
              <a:buNone/>
            </a:pPr>
            <a:r>
              <a:rPr lang="en-US" sz="1300" i="1" dirty="0">
                <a:solidFill>
                  <a:srgbClr val="2E2566"/>
                </a:solidFill>
                <a:latin typeface="Calibri" pitchFamily="34" charset="0"/>
                <a:ea typeface="Calibri" pitchFamily="34" charset="-122"/>
                <a:cs typeface="Calibri" pitchFamily="34" charset="-120"/>
              </a:rPr>
              <a:t>Teori yang berbeda menghasilkan kesimpulan yang berbeda atas fakta yang sama. Itulah pesan utama bab ini.</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Teori 1  ·  Consequentialist</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Ethical egoism</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11064240" y="658368"/>
            <a:ext cx="457200" cy="457200"/>
          </a:xfrm>
          <a:prstGeom prst="ellipse">
            <a:avLst/>
          </a:prstGeom>
          <a:solidFill>
            <a:srgbClr val="AB463C"/>
          </a:solidFill>
          <a:ln/>
        </p:spPr>
      </p:sp>
      <p:sp>
        <p:nvSpPr>
          <p:cNvPr id="6" name="Text 4"/>
          <p:cNvSpPr txBox="1"/>
          <p:nvPr/>
        </p:nvSpPr>
        <p:spPr>
          <a:xfrm>
            <a:off x="11064240" y="658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Shape 5"/>
          <p:cNvSpPr/>
          <p:nvPr/>
        </p:nvSpPr>
        <p:spPr>
          <a:xfrm>
            <a:off x="640080" y="1517904"/>
            <a:ext cx="10908792" cy="749808"/>
          </a:xfrm>
          <a:prstGeom prst="roundRect">
            <a:avLst>
              <a:gd name="adj" fmla="val 4878"/>
            </a:avLst>
          </a:prstGeom>
          <a:solidFill>
            <a:srgbClr val="EEEBF8"/>
          </a:solidFill>
          <a:ln w="9525">
            <a:solidFill>
              <a:srgbClr val="D9D5E6"/>
            </a:solidFill>
            <a:prstDash val="solid"/>
          </a:ln>
        </p:spPr>
      </p:sp>
      <p:sp>
        <p:nvSpPr>
          <p:cNvPr id="8" name="Text 6"/>
          <p:cNvSpPr txBox="1"/>
          <p:nvPr/>
        </p:nvSpPr>
        <p:spPr>
          <a:xfrm>
            <a:off x="932688" y="1645920"/>
            <a:ext cx="10323576" cy="512064"/>
          </a:xfrm>
          <a:prstGeom prst="rect">
            <a:avLst/>
          </a:prstGeom>
          <a:noFill/>
          <a:ln/>
        </p:spPr>
        <p:txBody>
          <a:bodyPr wrap="square" lIns="0" tIns="0" rIns="0" bIns="0" rtlCol="0" anchor="t"/>
          <a:lstStyle/>
          <a:p>
            <a:pPr indent="0" marL="0">
              <a:lnSpc>
                <a:spcPts val="2100"/>
              </a:lnSpc>
              <a:buNone/>
            </a:pPr>
            <a:r>
              <a:rPr lang="en-US" sz="1500" dirty="0">
                <a:solidFill>
                  <a:srgbClr val="231F3D"/>
                </a:solidFill>
                <a:latin typeface="Cambria" pitchFamily="34" charset="0"/>
                <a:ea typeface="Cambria" pitchFamily="34" charset="-122"/>
                <a:cs typeface="Cambria" pitchFamily="34" charset="-120"/>
              </a:rPr>
              <a:t>Sebuah tindakan benar secara moral apabila dalam situasi tertentu semua pengambil keputusan secara bebas memilih untuk mengejar hasrat jangka pendek atau kepentingan jangka panjang mereka.</a:t>
            </a:r>
            <a:endParaRPr lang="en-US" sz="1500" dirty="0"/>
          </a:p>
        </p:txBody>
      </p:sp>
      <p:sp>
        <p:nvSpPr>
          <p:cNvPr id="9" name="Shape 7"/>
          <p:cNvSpPr/>
          <p:nvPr/>
        </p:nvSpPr>
        <p:spPr>
          <a:xfrm>
            <a:off x="640080" y="2432304"/>
            <a:ext cx="5317236" cy="1664208"/>
          </a:xfrm>
          <a:prstGeom prst="roundRect">
            <a:avLst>
              <a:gd name="adj" fmla="val 2198"/>
            </a:avLst>
          </a:prstGeom>
          <a:solidFill>
            <a:srgbClr val="F6F4FC"/>
          </a:solidFill>
          <a:ln w="9525">
            <a:solidFill>
              <a:srgbClr val="D9D5E6"/>
            </a:solidFill>
            <a:prstDash val="solid"/>
          </a:ln>
        </p:spPr>
      </p:sp>
      <p:sp>
        <p:nvSpPr>
          <p:cNvPr id="10" name="Text 8"/>
          <p:cNvSpPr txBox="1"/>
          <p:nvPr/>
        </p:nvSpPr>
        <p:spPr>
          <a:xfrm>
            <a:off x="932688" y="2560320"/>
            <a:ext cx="4722876"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Tokoh</a:t>
            </a:r>
            <a:endParaRPr lang="en-US" sz="1200" dirty="0"/>
          </a:p>
        </p:txBody>
      </p:sp>
      <p:sp>
        <p:nvSpPr>
          <p:cNvPr id="11" name="Text 9"/>
          <p:cNvSpPr txBox="1"/>
          <p:nvPr/>
        </p:nvSpPr>
        <p:spPr>
          <a:xfrm>
            <a:off x="932688" y="2871216"/>
            <a:ext cx="4677156" cy="11430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31F3D"/>
                </a:solidFill>
                <a:latin typeface="Calibri" pitchFamily="34" charset="0"/>
                <a:ea typeface="Calibri" pitchFamily="34" charset="-122"/>
                <a:cs typeface="Calibri" pitchFamily="34" charset="-120"/>
              </a:rPr>
              <a:t>Thomas Hobbes, Leviathan. Tanpa pencegahan yang kuat, dalam state of nature timbul perang semua melawan semua.</a:t>
            </a:r>
            <a:endParaRPr lang="en-US" sz="1200" dirty="0"/>
          </a:p>
          <a:p>
            <a:pPr marL="342900" indent="-342900">
              <a:spcAft>
                <a:spcPts val="500"/>
              </a:spcAft>
              <a:buSzPct val="100000"/>
              <a:buChar char="•"/>
            </a:pPr>
            <a:r>
              <a:rPr lang="en-US" sz="1200" dirty="0">
                <a:solidFill>
                  <a:srgbClr val="231F3D"/>
                </a:solidFill>
                <a:latin typeface="Calibri" pitchFamily="34" charset="0"/>
                <a:ea typeface="Calibri" pitchFamily="34" charset="-122"/>
                <a:cs typeface="Calibri" pitchFamily="34" charset="-120"/>
              </a:rPr>
              <a:t>Ayn Rand, The Virtue of Selfishness. Setiap orang bertanggung jawab atas kebahagiaan dan pengembangan dirinya sendiri.</a:t>
            </a:r>
            <a:endParaRPr lang="en-US" sz="1200" dirty="0"/>
          </a:p>
        </p:txBody>
      </p:sp>
      <p:sp>
        <p:nvSpPr>
          <p:cNvPr id="12" name="Shape 10"/>
          <p:cNvSpPr/>
          <p:nvPr/>
        </p:nvSpPr>
        <p:spPr>
          <a:xfrm>
            <a:off x="6231636" y="2432304"/>
            <a:ext cx="5317236" cy="1664208"/>
          </a:xfrm>
          <a:prstGeom prst="roundRect">
            <a:avLst>
              <a:gd name="adj" fmla="val 2198"/>
            </a:avLst>
          </a:prstGeom>
          <a:solidFill>
            <a:srgbClr val="F6F4FC"/>
          </a:solidFill>
          <a:ln w="9525">
            <a:solidFill>
              <a:srgbClr val="D9D5E6"/>
            </a:solidFill>
            <a:prstDash val="solid"/>
          </a:ln>
        </p:spPr>
      </p:sp>
      <p:sp>
        <p:nvSpPr>
          <p:cNvPr id="13" name="Text 11"/>
          <p:cNvSpPr txBox="1"/>
          <p:nvPr/>
        </p:nvSpPr>
        <p:spPr>
          <a:xfrm>
            <a:off x="6524244" y="2560320"/>
            <a:ext cx="4722876"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Egoism bukan selfishness</a:t>
            </a:r>
            <a:endParaRPr lang="en-US" sz="1200" dirty="0"/>
          </a:p>
        </p:txBody>
      </p:sp>
      <p:sp>
        <p:nvSpPr>
          <p:cNvPr id="14" name="Text 12"/>
          <p:cNvSpPr txBox="1"/>
          <p:nvPr/>
        </p:nvSpPr>
        <p:spPr>
          <a:xfrm>
            <a:off x="6524244" y="2852928"/>
            <a:ext cx="4677156" cy="914400"/>
          </a:xfrm>
          <a:prstGeom prst="rect">
            <a:avLst/>
          </a:prstGeom>
          <a:noFill/>
          <a:ln/>
        </p:spPr>
        <p:txBody>
          <a:bodyPr wrap="square" lIns="0" tIns="0" rIns="0" bIns="0" rtlCol="0" anchor="t"/>
          <a:lstStyle/>
          <a:p>
            <a:pPr indent="0" marL="0">
              <a:lnSpc>
                <a:spcPts val="1700"/>
              </a:lnSpc>
              <a:buNone/>
            </a:pPr>
            <a:r>
              <a:rPr lang="en-US" sz="1200" dirty="0">
                <a:solidFill>
                  <a:srgbClr val="231F3D"/>
                </a:solidFill>
                <a:latin typeface="Calibri" pitchFamily="34" charset="0"/>
                <a:ea typeface="Calibri" pitchFamily="34" charset="-122"/>
                <a:cs typeface="Calibri" pitchFamily="34" charset="-120"/>
              </a:rPr>
              <a:t>Seorang egois masih dapat tergerak oleh rasa iba. Perusahaan yang berdonasi untuk memperbaiki reputasinya masih sejalan dengan egoism. Perusahaan yang mengabaikan amal dan memakai dananya untuk iklan promosi diri lebih tepat disebut selfishness.</a:t>
            </a:r>
            <a:endParaRPr lang="en-US" sz="1200" dirty="0"/>
          </a:p>
        </p:txBody>
      </p:sp>
      <p:sp>
        <p:nvSpPr>
          <p:cNvPr id="15" name="Text 13"/>
          <p:cNvSpPr txBox="1"/>
          <p:nvPr/>
        </p:nvSpPr>
        <p:spPr>
          <a:xfrm>
            <a:off x="640080" y="4242816"/>
            <a:ext cx="10908792" cy="256032"/>
          </a:xfrm>
          <a:prstGeom prst="rect">
            <a:avLst/>
          </a:prstGeom>
          <a:noFill/>
          <a:ln/>
        </p:spPr>
        <p:txBody>
          <a:bodyPr wrap="square" lIns="0" tIns="0" rIns="0" bIns="0" rtlCol="0" anchor="t"/>
          <a:lstStyle/>
          <a:p>
            <a:pPr indent="0" marL="0">
              <a:buNone/>
            </a:pPr>
            <a:r>
              <a:rPr lang="en-US" sz="1300" b="1" dirty="0">
                <a:solidFill>
                  <a:srgbClr val="2E2566"/>
                </a:solidFill>
                <a:latin typeface="Calibri" pitchFamily="34" charset="0"/>
                <a:ea typeface="Calibri" pitchFamily="34" charset="-122"/>
                <a:cs typeface="Calibri" pitchFamily="34" charset="-120"/>
              </a:rPr>
              <a:t>Empat kelemahan</a:t>
            </a:r>
            <a:endParaRPr lang="en-US" sz="1300" dirty="0"/>
          </a:p>
        </p:txBody>
      </p:sp>
      <p:sp>
        <p:nvSpPr>
          <p:cNvPr id="16" name="Shape 14"/>
          <p:cNvSpPr/>
          <p:nvPr/>
        </p:nvSpPr>
        <p:spPr>
          <a:xfrm>
            <a:off x="640080" y="4517136"/>
            <a:ext cx="2590038" cy="1170432"/>
          </a:xfrm>
          <a:prstGeom prst="roundRect">
            <a:avLst>
              <a:gd name="adj" fmla="val 3125"/>
            </a:avLst>
          </a:prstGeom>
          <a:solidFill>
            <a:srgbClr val="F6F4FC"/>
          </a:solidFill>
          <a:ln w="9525">
            <a:solidFill>
              <a:srgbClr val="D9D5E6"/>
            </a:solidFill>
            <a:prstDash val="solid"/>
          </a:ln>
        </p:spPr>
      </p:sp>
      <p:sp>
        <p:nvSpPr>
          <p:cNvPr id="17" name="Text 15"/>
          <p:cNvSpPr txBox="1"/>
          <p:nvPr/>
        </p:nvSpPr>
        <p:spPr>
          <a:xfrm>
            <a:off x="841248" y="4626864"/>
            <a:ext cx="2187702" cy="237744"/>
          </a:xfrm>
          <a:prstGeom prst="rect">
            <a:avLst/>
          </a:prstGeom>
          <a:noFill/>
          <a:ln/>
        </p:spPr>
        <p:txBody>
          <a:bodyPr wrap="square" lIns="0" tIns="0" rIns="0" bIns="0" rtlCol="0" anchor="t"/>
          <a:lstStyle/>
          <a:p>
            <a:pPr indent="0" marL="0">
              <a:buNone/>
            </a:pPr>
            <a:r>
              <a:rPr lang="en-US" sz="1250" b="1" dirty="0">
                <a:solidFill>
                  <a:srgbClr val="AB463C"/>
                </a:solidFill>
                <a:latin typeface="Calibri" pitchFamily="34" charset="0"/>
                <a:ea typeface="Calibri" pitchFamily="34" charset="-122"/>
                <a:cs typeface="Calibri" pitchFamily="34" charset="-120"/>
              </a:rPr>
              <a:t>Butuh mekanisme</a:t>
            </a:r>
            <a:endParaRPr lang="en-US" sz="1250" dirty="0"/>
          </a:p>
        </p:txBody>
      </p:sp>
      <p:sp>
        <p:nvSpPr>
          <p:cNvPr id="18" name="Text 16"/>
          <p:cNvSpPr txBox="1"/>
          <p:nvPr/>
        </p:nvSpPr>
        <p:spPr>
          <a:xfrm>
            <a:off x="841248" y="4919472"/>
            <a:ext cx="2187702" cy="713232"/>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Hanya bekerja bila ada mekanisme yang mencegah egois saling mengorbankan.</a:t>
            </a:r>
            <a:endParaRPr lang="en-US" sz="1050" dirty="0"/>
          </a:p>
        </p:txBody>
      </p:sp>
      <p:sp>
        <p:nvSpPr>
          <p:cNvPr id="19" name="Shape 17"/>
          <p:cNvSpPr/>
          <p:nvPr/>
        </p:nvSpPr>
        <p:spPr>
          <a:xfrm>
            <a:off x="3412998" y="4517136"/>
            <a:ext cx="2590038" cy="1170432"/>
          </a:xfrm>
          <a:prstGeom prst="roundRect">
            <a:avLst>
              <a:gd name="adj" fmla="val 3125"/>
            </a:avLst>
          </a:prstGeom>
          <a:solidFill>
            <a:srgbClr val="F6F4FC"/>
          </a:solidFill>
          <a:ln w="9525">
            <a:solidFill>
              <a:srgbClr val="D9D5E6"/>
            </a:solidFill>
            <a:prstDash val="solid"/>
          </a:ln>
        </p:spPr>
      </p:sp>
      <p:sp>
        <p:nvSpPr>
          <p:cNvPr id="20" name="Text 18"/>
          <p:cNvSpPr txBox="1"/>
          <p:nvPr/>
        </p:nvSpPr>
        <p:spPr>
          <a:xfrm>
            <a:off x="3614166" y="4626864"/>
            <a:ext cx="2187702" cy="237744"/>
          </a:xfrm>
          <a:prstGeom prst="rect">
            <a:avLst/>
          </a:prstGeom>
          <a:noFill/>
          <a:ln/>
        </p:spPr>
        <p:txBody>
          <a:bodyPr wrap="square" lIns="0" tIns="0" rIns="0" bIns="0" rtlCol="0" anchor="t"/>
          <a:lstStyle/>
          <a:p>
            <a:pPr indent="0" marL="0">
              <a:buNone/>
            </a:pPr>
            <a:r>
              <a:rPr lang="en-US" sz="1250" b="1" dirty="0">
                <a:solidFill>
                  <a:srgbClr val="AB463C"/>
                </a:solidFill>
                <a:latin typeface="Calibri" pitchFamily="34" charset="0"/>
                <a:ea typeface="Calibri" pitchFamily="34" charset="-122"/>
                <a:cs typeface="Calibri" pitchFamily="34" charset="-120"/>
              </a:rPr>
              <a:t>Market failure</a:t>
            </a:r>
            <a:endParaRPr lang="en-US" sz="1250" dirty="0"/>
          </a:p>
        </p:txBody>
      </p:sp>
      <p:sp>
        <p:nvSpPr>
          <p:cNvPr id="21" name="Text 19"/>
          <p:cNvSpPr txBox="1"/>
          <p:nvPr/>
        </p:nvSpPr>
        <p:spPr>
          <a:xfrm>
            <a:off x="3614166" y="4919472"/>
            <a:ext cx="2187702" cy="713232"/>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Korban perubahan iklim adalah generasi mendatang yang belum hadir untuk ikut dalam pasar.</a:t>
            </a:r>
            <a:endParaRPr lang="en-US" sz="1050" dirty="0"/>
          </a:p>
        </p:txBody>
      </p:sp>
      <p:sp>
        <p:nvSpPr>
          <p:cNvPr id="22" name="Shape 20"/>
          <p:cNvSpPr/>
          <p:nvPr/>
        </p:nvSpPr>
        <p:spPr>
          <a:xfrm>
            <a:off x="6185916" y="4517136"/>
            <a:ext cx="2590038" cy="1170432"/>
          </a:xfrm>
          <a:prstGeom prst="roundRect">
            <a:avLst>
              <a:gd name="adj" fmla="val 3125"/>
            </a:avLst>
          </a:prstGeom>
          <a:solidFill>
            <a:srgbClr val="F6F4FC"/>
          </a:solidFill>
          <a:ln w="9525">
            <a:solidFill>
              <a:srgbClr val="D9D5E6"/>
            </a:solidFill>
            <a:prstDash val="solid"/>
          </a:ln>
        </p:spPr>
      </p:sp>
      <p:sp>
        <p:nvSpPr>
          <p:cNvPr id="23" name="Text 21"/>
          <p:cNvSpPr txBox="1"/>
          <p:nvPr/>
        </p:nvSpPr>
        <p:spPr>
          <a:xfrm>
            <a:off x="6387084" y="4626864"/>
            <a:ext cx="2187702" cy="237744"/>
          </a:xfrm>
          <a:prstGeom prst="rect">
            <a:avLst/>
          </a:prstGeom>
          <a:noFill/>
          <a:ln/>
        </p:spPr>
        <p:txBody>
          <a:bodyPr wrap="square" lIns="0" tIns="0" rIns="0" bIns="0" rtlCol="0" anchor="t"/>
          <a:lstStyle/>
          <a:p>
            <a:pPr indent="0" marL="0">
              <a:buNone/>
            </a:pPr>
            <a:r>
              <a:rPr lang="en-US" sz="1250" b="1" dirty="0">
                <a:solidFill>
                  <a:srgbClr val="AB463C"/>
                </a:solidFill>
                <a:latin typeface="Calibri" pitchFamily="34" charset="0"/>
                <a:ea typeface="Calibri" pitchFamily="34" charset="-122"/>
                <a:cs typeface="Calibri" pitchFamily="34" charset="-120"/>
              </a:rPr>
              <a:t>Tidak konsisten</a:t>
            </a:r>
            <a:endParaRPr lang="en-US" sz="1250" dirty="0"/>
          </a:p>
        </p:txBody>
      </p:sp>
      <p:sp>
        <p:nvSpPr>
          <p:cNvPr id="24" name="Text 22"/>
          <p:cNvSpPr txBox="1"/>
          <p:nvPr/>
        </p:nvSpPr>
        <p:spPr>
          <a:xfrm>
            <a:off x="6387084" y="4919472"/>
            <a:ext cx="2187702" cy="713232"/>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Setiap orang mengejar kepentingannya dan harus menerima orang lain berbuat sama.</a:t>
            </a:r>
            <a:endParaRPr lang="en-US" sz="1050" dirty="0"/>
          </a:p>
        </p:txBody>
      </p:sp>
      <p:sp>
        <p:nvSpPr>
          <p:cNvPr id="25" name="Shape 23"/>
          <p:cNvSpPr/>
          <p:nvPr/>
        </p:nvSpPr>
        <p:spPr>
          <a:xfrm>
            <a:off x="8958834" y="4517136"/>
            <a:ext cx="2590038" cy="1170432"/>
          </a:xfrm>
          <a:prstGeom prst="roundRect">
            <a:avLst>
              <a:gd name="adj" fmla="val 3125"/>
            </a:avLst>
          </a:prstGeom>
          <a:solidFill>
            <a:srgbClr val="F6F4FC"/>
          </a:solidFill>
          <a:ln w="9525">
            <a:solidFill>
              <a:srgbClr val="D9D5E6"/>
            </a:solidFill>
            <a:prstDash val="solid"/>
          </a:ln>
        </p:spPr>
      </p:sp>
      <p:sp>
        <p:nvSpPr>
          <p:cNvPr id="26" name="Text 24"/>
          <p:cNvSpPr txBox="1"/>
          <p:nvPr/>
        </p:nvSpPr>
        <p:spPr>
          <a:xfrm>
            <a:off x="9160002" y="4626864"/>
            <a:ext cx="2187702" cy="237744"/>
          </a:xfrm>
          <a:prstGeom prst="rect">
            <a:avLst/>
          </a:prstGeom>
          <a:noFill/>
          <a:ln/>
        </p:spPr>
        <p:txBody>
          <a:bodyPr wrap="square" lIns="0" tIns="0" rIns="0" bIns="0" rtlCol="0" anchor="t"/>
          <a:lstStyle/>
          <a:p>
            <a:pPr indent="0" marL="0">
              <a:buNone/>
            </a:pPr>
            <a:r>
              <a:rPr lang="en-US" sz="1250" b="1" dirty="0">
                <a:solidFill>
                  <a:srgbClr val="AB463C"/>
                </a:solidFill>
                <a:latin typeface="Calibri" pitchFamily="34" charset="0"/>
                <a:ea typeface="Calibri" pitchFamily="34" charset="-122"/>
                <a:cs typeface="Calibri" pitchFamily="34" charset="-120"/>
              </a:rPr>
              <a:t>Membenarkan salah</a:t>
            </a:r>
            <a:endParaRPr lang="en-US" sz="1250" dirty="0"/>
          </a:p>
        </p:txBody>
      </p:sp>
      <p:sp>
        <p:nvSpPr>
          <p:cNvPr id="27" name="Text 25"/>
          <p:cNvSpPr txBox="1"/>
          <p:nvPr/>
        </p:nvSpPr>
        <p:spPr>
          <a:xfrm>
            <a:off x="9160002" y="4919472"/>
            <a:ext cx="2187702" cy="713232"/>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Segala sesuatu diperbolehkan selama kebutuhan si egois terlayani.</a:t>
            </a:r>
            <a:endParaRPr lang="en-US" sz="1050" dirty="0"/>
          </a:p>
        </p:txBody>
      </p:sp>
      <p:sp>
        <p:nvSpPr>
          <p:cNvPr id="28" name="Text 26"/>
          <p:cNvSpPr txBox="1"/>
          <p:nvPr/>
        </p:nvSpPr>
        <p:spPr>
          <a:xfrm>
            <a:off x="640080" y="5815584"/>
            <a:ext cx="10908792" cy="365760"/>
          </a:xfrm>
          <a:prstGeom prst="rect">
            <a:avLst/>
          </a:prstGeom>
          <a:noFill/>
          <a:ln/>
        </p:spPr>
        <p:txBody>
          <a:bodyPr wrap="square" lIns="0" tIns="0" rIns="0" bIns="0" rtlCol="0" anchor="t"/>
          <a:lstStyle/>
          <a:p>
            <a:pPr indent="0" marL="0">
              <a:lnSpc>
                <a:spcPts val="1600"/>
              </a:lnSpc>
              <a:buNone/>
            </a:pPr>
            <a:r>
              <a:rPr lang="en-US" sz="1200" i="1" dirty="0">
                <a:solidFill>
                  <a:srgbClr val="2E2566"/>
                </a:solidFill>
                <a:latin typeface="Calibri" pitchFamily="34" charset="0"/>
                <a:ea typeface="Calibri" pitchFamily="34" charset="-122"/>
                <a:cs typeface="Calibri" pitchFamily="34" charset="-120"/>
              </a:rPr>
              <a:t>Penerapan pada Ethical Dilemma 3: anak-anak tidak benar-benar bebas mengejar kepentingannya karena pekerjaan tersebut menghalangi pendidikan dan waktu bermain. Dari sudut egoism pun tindakan tersebut dapat dinilai tidak bermoral.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Teori 2  ·  Consequentialist</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Utilitarianism</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11064240" y="658368"/>
            <a:ext cx="457200" cy="457200"/>
          </a:xfrm>
          <a:prstGeom prst="ellipse">
            <a:avLst/>
          </a:prstGeom>
          <a:solidFill>
            <a:srgbClr val="B96A2C"/>
          </a:solidFill>
          <a:ln/>
        </p:spPr>
      </p:sp>
      <p:sp>
        <p:nvSpPr>
          <p:cNvPr id="6" name="Text 4"/>
          <p:cNvSpPr txBox="1"/>
          <p:nvPr/>
        </p:nvSpPr>
        <p:spPr>
          <a:xfrm>
            <a:off x="11064240" y="658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7" name="Shape 5"/>
          <p:cNvSpPr/>
          <p:nvPr/>
        </p:nvSpPr>
        <p:spPr>
          <a:xfrm>
            <a:off x="640080" y="1517904"/>
            <a:ext cx="10908792" cy="713232"/>
          </a:xfrm>
          <a:prstGeom prst="roundRect">
            <a:avLst>
              <a:gd name="adj" fmla="val 5128"/>
            </a:avLst>
          </a:prstGeom>
          <a:solidFill>
            <a:srgbClr val="EEEBF8"/>
          </a:solidFill>
          <a:ln w="9525">
            <a:solidFill>
              <a:srgbClr val="D9D5E6"/>
            </a:solidFill>
            <a:prstDash val="solid"/>
          </a:ln>
        </p:spPr>
      </p:sp>
      <p:sp>
        <p:nvSpPr>
          <p:cNvPr id="8" name="Text 6"/>
          <p:cNvSpPr txBox="1"/>
          <p:nvPr/>
        </p:nvSpPr>
        <p:spPr>
          <a:xfrm>
            <a:off x="932688" y="1664208"/>
            <a:ext cx="10323576" cy="457200"/>
          </a:xfrm>
          <a:prstGeom prst="rect">
            <a:avLst/>
          </a:prstGeom>
          <a:noFill/>
          <a:ln/>
        </p:spPr>
        <p:txBody>
          <a:bodyPr wrap="square" lIns="0" tIns="0" rIns="0" bIns="0" rtlCol="0" anchor="t"/>
          <a:lstStyle/>
          <a:p>
            <a:pPr indent="0" marL="0">
              <a:lnSpc>
                <a:spcPts val="2100"/>
              </a:lnSpc>
              <a:buNone/>
            </a:pPr>
            <a:r>
              <a:rPr lang="en-US" sz="1500" dirty="0">
                <a:solidFill>
                  <a:srgbClr val="231F3D"/>
                </a:solidFill>
                <a:latin typeface="Cambria" pitchFamily="34" charset="0"/>
                <a:ea typeface="Cambria" pitchFamily="34" charset="-122"/>
                <a:cs typeface="Cambria" pitchFamily="34" charset="-120"/>
              </a:rPr>
              <a:t>Sebuah tindakan benar secara moral apabila menghasilkan jumlah kebaikan terbesar untuk jumlah orang terbesar yang terdampak oleh tindakan tersebut.</a:t>
            </a:r>
            <a:endParaRPr lang="en-US" sz="1500" dirty="0"/>
          </a:p>
        </p:txBody>
      </p:sp>
      <p:sp>
        <p:nvSpPr>
          <p:cNvPr id="9" name="Shape 7"/>
          <p:cNvSpPr/>
          <p:nvPr/>
        </p:nvSpPr>
        <p:spPr>
          <a:xfrm>
            <a:off x="640080" y="2395728"/>
            <a:ext cx="5018044" cy="2121408"/>
          </a:xfrm>
          <a:prstGeom prst="roundRect">
            <a:avLst>
              <a:gd name="adj" fmla="val 1724"/>
            </a:avLst>
          </a:prstGeom>
          <a:solidFill>
            <a:srgbClr val="F6F4FC"/>
          </a:solidFill>
          <a:ln w="9525">
            <a:solidFill>
              <a:srgbClr val="D9D5E6"/>
            </a:solidFill>
            <a:prstDash val="solid"/>
          </a:ln>
        </p:spPr>
      </p:sp>
      <p:sp>
        <p:nvSpPr>
          <p:cNvPr id="10" name="Text 8"/>
          <p:cNvSpPr txBox="1"/>
          <p:nvPr/>
        </p:nvSpPr>
        <p:spPr>
          <a:xfrm>
            <a:off x="932688" y="2523744"/>
            <a:ext cx="4432828"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Greatest happiness principle</a:t>
            </a:r>
            <a:endParaRPr lang="en-US" sz="1200" dirty="0"/>
          </a:p>
        </p:txBody>
      </p:sp>
      <p:sp>
        <p:nvSpPr>
          <p:cNvPr id="11" name="Text 9"/>
          <p:cNvSpPr txBox="1"/>
          <p:nvPr/>
        </p:nvSpPr>
        <p:spPr>
          <a:xfrm>
            <a:off x="932688" y="2798064"/>
            <a:ext cx="4396252" cy="1097280"/>
          </a:xfrm>
          <a:prstGeom prst="rect">
            <a:avLst/>
          </a:prstGeom>
          <a:noFill/>
          <a:ln/>
        </p:spPr>
        <p:txBody>
          <a:bodyPr wrap="square" lIns="0" tIns="0" rIns="0" bIns="0" rtlCol="0" anchor="t"/>
          <a:lstStyle/>
          <a:p>
            <a:pPr indent="0" marL="0">
              <a:lnSpc>
                <a:spcPts val="1700"/>
              </a:lnSpc>
              <a:buNone/>
            </a:pPr>
            <a:r>
              <a:rPr lang="en-US" sz="1200" dirty="0">
                <a:solidFill>
                  <a:srgbClr val="231F3D"/>
                </a:solidFill>
                <a:latin typeface="Calibri" pitchFamily="34" charset="0"/>
                <a:ea typeface="Calibri" pitchFamily="34" charset="-122"/>
                <a:cs typeface="Calibri" pitchFamily="34" charset="-120"/>
              </a:rPr>
              <a:t>Bentham dan Mill berpendapat bersikap etis berarti melakukan hal yang menghasilkan akibat baik untuk semua orang. Berbeda dari egoism, utilitarianism menanyakan berapa besar kesejahteraan kolektif yang dihasilkan.</a:t>
            </a:r>
            <a:endParaRPr lang="en-US" sz="1200" dirty="0"/>
          </a:p>
        </p:txBody>
      </p:sp>
      <p:sp>
        <p:nvSpPr>
          <p:cNvPr id="12" name="Text 10"/>
          <p:cNvSpPr txBox="1"/>
          <p:nvPr/>
        </p:nvSpPr>
        <p:spPr>
          <a:xfrm>
            <a:off x="932688" y="3986784"/>
            <a:ext cx="4396252" cy="402336"/>
          </a:xfrm>
          <a:prstGeom prst="rect">
            <a:avLst/>
          </a:prstGeom>
          <a:noFill/>
          <a:ln/>
        </p:spPr>
        <p:txBody>
          <a:bodyPr wrap="square" lIns="0" tIns="0" rIns="0" bIns="0" rtlCol="0" anchor="t"/>
          <a:lstStyle/>
          <a:p>
            <a:pPr indent="0" marL="0">
              <a:lnSpc>
                <a:spcPts val="1500"/>
              </a:lnSpc>
              <a:buNone/>
            </a:pPr>
            <a:r>
              <a:rPr lang="en-US" sz="1150" i="1" dirty="0">
                <a:solidFill>
                  <a:srgbClr val="2E2566"/>
                </a:solidFill>
                <a:latin typeface="Calibri" pitchFamily="34" charset="0"/>
                <a:ea typeface="Calibri" pitchFamily="34" charset="-122"/>
                <a:cs typeface="Calibri" pitchFamily="34" charset="-120"/>
              </a:rPr>
              <a:t>Mendekati versi pleasure dan pain dari analisis biaya manfaat.</a:t>
            </a:r>
            <a:endParaRPr lang="en-US" sz="1150" dirty="0"/>
          </a:p>
        </p:txBody>
      </p:sp>
      <p:sp>
        <p:nvSpPr>
          <p:cNvPr id="13" name="Text 11"/>
          <p:cNvSpPr txBox="1"/>
          <p:nvPr/>
        </p:nvSpPr>
        <p:spPr>
          <a:xfrm>
            <a:off x="5886724" y="2395728"/>
            <a:ext cx="5662148" cy="237744"/>
          </a:xfrm>
          <a:prstGeom prst="rect">
            <a:avLst/>
          </a:prstGeom>
          <a:noFill/>
          <a:ln/>
        </p:spPr>
        <p:txBody>
          <a:bodyPr wrap="square" lIns="0" tIns="0" rIns="0" bIns="0" rtlCol="0" anchor="t"/>
          <a:lstStyle/>
          <a:p>
            <a:pPr indent="0" marL="0">
              <a:buNone/>
            </a:pPr>
            <a:r>
              <a:rPr lang="en-US" sz="1150" b="1" dirty="0">
                <a:solidFill>
                  <a:srgbClr val="5C5773"/>
                </a:solidFill>
                <a:latin typeface="Calibri" pitchFamily="34" charset="0"/>
                <a:ea typeface="Calibri" pitchFamily="34" charset="-122"/>
                <a:cs typeface="Calibri" pitchFamily="34" charset="-120"/>
              </a:rPr>
              <a:t>Tabel 3.2  Empat karakteristik utilitarianism (halaman 97)</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886724" y="2670048"/>
          <a:ext cx="5662148" cy="914400"/>
        </p:xfrm>
        <a:graphic>
          <a:graphicData uri="http://schemas.openxmlformats.org/drawingml/2006/table">
            <a:tbl>
              <a:tblPr/>
              <a:tblGrid>
                <a:gridCol w="1737360"/>
                <a:gridCol w="3924788"/>
              </a:tblGrid>
              <a:tr h="384048">
                <a:tc>
                  <a:txBody>
                    <a:bodyPr/>
                    <a:lstStyle/>
                    <a:p>
                      <a:pPr indent="0" marL="0">
                        <a:buNone/>
                      </a:pPr>
                      <a:r>
                        <a:rPr lang="en-US" sz="1150" b="1" dirty="0">
                          <a:solidFill>
                            <a:srgbClr val="B96A2C"/>
                          </a:solidFill>
                          <a:latin typeface="Calibri" pitchFamily="34" charset="0"/>
                          <a:ea typeface="Calibri" pitchFamily="34" charset="-122"/>
                          <a:cs typeface="Calibri" pitchFamily="34" charset="-120"/>
                        </a:rPr>
                        <a:t>Consequentialism</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Akibat sebuah tindakan yang menentukan benar salahnya secara etis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84048">
                <a:tc>
                  <a:txBody>
                    <a:bodyPr/>
                    <a:lstStyle/>
                    <a:p>
                      <a:pPr indent="0" marL="0">
                        <a:buNone/>
                      </a:pPr>
                      <a:r>
                        <a:rPr lang="en-US" sz="1150" b="1" dirty="0">
                          <a:solidFill>
                            <a:srgbClr val="B96A2C"/>
                          </a:solidFill>
                          <a:latin typeface="Calibri" pitchFamily="34" charset="0"/>
                          <a:ea typeface="Calibri" pitchFamily="34" charset="-122"/>
                          <a:cs typeface="Calibri" pitchFamily="34" charset="-120"/>
                        </a:rPr>
                        <a:t>Hedonism</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Utility diukur lewat pleasure, dan pain dikurangkan untuk menghasilkan net pleasure</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84048">
                <a:tc>
                  <a:txBody>
                    <a:bodyPr/>
                    <a:lstStyle/>
                    <a:p>
                      <a:pPr indent="0" marL="0">
                        <a:buNone/>
                      </a:pPr>
                      <a:r>
                        <a:rPr lang="en-US" sz="1150" b="1" dirty="0">
                          <a:solidFill>
                            <a:srgbClr val="B96A2C"/>
                          </a:solidFill>
                          <a:latin typeface="Calibri" pitchFamily="34" charset="0"/>
                          <a:ea typeface="Calibri" pitchFamily="34" charset="-122"/>
                          <a:cs typeface="Calibri" pitchFamily="34" charset="-120"/>
                        </a:rPr>
                        <a:t>Maximalism</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Bukan sebagian akibat baik, melainkan jumlah terbesar yang mungkin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84048">
                <a:tc>
                  <a:txBody>
                    <a:bodyPr/>
                    <a:lstStyle/>
                    <a:p>
                      <a:pPr indent="0" marL="0">
                        <a:buNone/>
                      </a:pPr>
                      <a:r>
                        <a:rPr lang="en-US" sz="1150" b="1" dirty="0">
                          <a:solidFill>
                            <a:srgbClr val="B96A2C"/>
                          </a:solidFill>
                          <a:latin typeface="Calibri" pitchFamily="34" charset="0"/>
                          <a:ea typeface="Calibri" pitchFamily="34" charset="-122"/>
                          <a:cs typeface="Calibri" pitchFamily="34" charset="-120"/>
                        </a:rPr>
                        <a:t>Universalism</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Akibat untuk setiap orang perlu dipertimbangkan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
        <p:nvSpPr>
          <p:cNvPr id="15" name="Shape 12"/>
          <p:cNvSpPr/>
          <p:nvPr/>
        </p:nvSpPr>
        <p:spPr>
          <a:xfrm>
            <a:off x="640080" y="4663440"/>
            <a:ext cx="10908792" cy="1298448"/>
          </a:xfrm>
          <a:prstGeom prst="roundRect">
            <a:avLst>
              <a:gd name="adj" fmla="val 2817"/>
            </a:avLst>
          </a:prstGeom>
          <a:solidFill>
            <a:srgbClr val="F6F4FC"/>
          </a:solidFill>
          <a:ln w="9525">
            <a:solidFill>
              <a:srgbClr val="D9D5E6"/>
            </a:solidFill>
            <a:prstDash val="solid"/>
          </a:ln>
        </p:spPr>
      </p:sp>
      <p:sp>
        <p:nvSpPr>
          <p:cNvPr id="16" name="Text 13"/>
          <p:cNvSpPr txBox="1"/>
          <p:nvPr/>
        </p:nvSpPr>
        <p:spPr>
          <a:xfrm>
            <a:off x="960120" y="4791456"/>
            <a:ext cx="10268712" cy="237744"/>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Penerapan yang tipikal dalam bisnis</a:t>
            </a:r>
            <a:endParaRPr lang="en-US" sz="1200" dirty="0"/>
          </a:p>
        </p:txBody>
      </p:sp>
      <p:sp>
        <p:nvSpPr>
          <p:cNvPr id="17" name="Text 14"/>
          <p:cNvSpPr txBox="1"/>
          <p:nvPr/>
        </p:nvSpPr>
        <p:spPr>
          <a:xfrm>
            <a:off x="960120" y="5065776"/>
            <a:ext cx="10268712" cy="749808"/>
          </a:xfrm>
          <a:prstGeom prst="rect">
            <a:avLst/>
          </a:prstGeom>
          <a:noFill/>
          <a:ln/>
        </p:spPr>
        <p:txBody>
          <a:bodyPr wrap="square" lIns="0" tIns="0" rIns="0" bIns="0" rtlCol="0" anchor="t"/>
          <a:lstStyle/>
          <a:p>
            <a:pPr indent="0" marL="0">
              <a:lnSpc>
                <a:spcPts val="1700"/>
              </a:lnSpc>
              <a:buNone/>
            </a:pPr>
            <a:r>
              <a:rPr lang="en-US" sz="1200" dirty="0">
                <a:solidFill>
                  <a:srgbClr val="231F3D"/>
                </a:solidFill>
                <a:latin typeface="Calibri" pitchFamily="34" charset="0"/>
                <a:ea typeface="Calibri" pitchFamily="34" charset="-122"/>
                <a:cs typeface="Calibri" pitchFamily="34" charset="-120"/>
              </a:rPr>
              <a:t>Analisis dampak sosial dan lingkungan untuk proyek pertambangan atau infrastruktur. Contoh dalam buku adalah rencana tambang emas terbesar di Eropa di Roșia Montană, Rumania. Setelah protes massal berulang, pemerintah mengajukan status warisan UNESCO dan Gabriel Resources menuntut ganti rugi 4,4 miliar dolar melalui arbitrase Bank Dunia.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Teori 2  ·  Consequentialist</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Tabel 3.3  Neraca utilitarian Ethical Dilemma 3</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640080" y="1481328"/>
            <a:ext cx="10908792" cy="274320"/>
          </a:xfrm>
          <a:prstGeom prst="rect">
            <a:avLst/>
          </a:prstGeom>
          <a:noFill/>
          <a:ln/>
        </p:spPr>
        <p:txBody>
          <a:bodyPr wrap="square" lIns="0" tIns="0" rIns="0" bIns="0" rtlCol="0" anchor="t"/>
          <a:lstStyle/>
          <a:p>
            <a:pPr indent="0" marL="0">
              <a:buNone/>
            </a:pPr>
            <a:r>
              <a:rPr lang="en-US" sz="1400" dirty="0">
                <a:solidFill>
                  <a:srgbClr val="231F3D"/>
                </a:solidFill>
                <a:latin typeface="Calibri" pitchFamily="34" charset="0"/>
                <a:ea typeface="Calibri" pitchFamily="34" charset="-122"/>
                <a:cs typeface="Calibri" pitchFamily="34" charset="-120"/>
              </a:rPr>
              <a:t>Petakan seluruh pihak, lalu bandingkan pleasure dan pain dari dua pilihan tindakan.</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08792" cy="914400"/>
        </p:xfrm>
        <a:graphic>
          <a:graphicData uri="http://schemas.openxmlformats.org/drawingml/2006/table">
            <a:tbl>
              <a:tblPr/>
              <a:tblGrid>
                <a:gridCol w="1737360"/>
                <a:gridCol w="2377440"/>
                <a:gridCol w="2240280"/>
                <a:gridCol w="2148840"/>
                <a:gridCol w="2404872"/>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Pihak</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Aksi 1 melanjutkan: Pleasure</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Aksi 1: Pain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Aksi 2 menolak: Pleasure</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Aksi 2: Pain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r>
              <a:tr h="566928">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Product manager</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Kesepakatan baik untuk bisnis dan potensi bonus pribadi</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Nurani terganggu dan risiko reputasi perusahaan</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Nurani bersih dan risiko lebih kecil</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Kehilangan kesepakatan yang baik</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57200">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Pemasok Thailand</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Kesepakatan yang baik</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Tidak ada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Tidak ada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Kehilangan kesepakatan dan harus mencari pelanggan baru</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57200">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Orang tua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Pendapatan keluarga terjamin</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Prospek anak-anak terbatas</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Tidak ada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Harus mencari sumber pendapatan lain</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566928">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Anak-anak</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Merasa dibutuhkan dan memperoleh persetujuan orang tua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Pekerjaan berat dan tidak ada kesempatan pendidikan</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Ada waktu bermain dan bersekolah</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Berpotensi dipaksa melakukan pekerjaan yang lebih menyakitkan</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84048">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Nenek</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Keluarga mampu menyokongnya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Tidak ada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Tidak ada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Kehilangan dukungan ekonomi</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
        <p:nvSpPr>
          <p:cNvPr id="7" name="Shape 4"/>
          <p:cNvSpPr/>
          <p:nvPr/>
        </p:nvSpPr>
        <p:spPr>
          <a:xfrm>
            <a:off x="640080" y="5029200"/>
            <a:ext cx="10908792" cy="868680"/>
          </a:xfrm>
          <a:prstGeom prst="roundRect">
            <a:avLst>
              <a:gd name="adj" fmla="val 4211"/>
            </a:avLst>
          </a:prstGeom>
          <a:solidFill>
            <a:srgbClr val="EEEBF8"/>
          </a:solidFill>
          <a:ln w="9525">
            <a:solidFill>
              <a:srgbClr val="D9D5E6"/>
            </a:solidFill>
            <a:prstDash val="solid"/>
          </a:ln>
        </p:spPr>
      </p:sp>
      <p:sp>
        <p:nvSpPr>
          <p:cNvPr id="8" name="Text 5"/>
          <p:cNvSpPr txBox="1"/>
          <p:nvPr/>
        </p:nvSpPr>
        <p:spPr>
          <a:xfrm>
            <a:off x="960120" y="5212080"/>
            <a:ext cx="10268712" cy="548640"/>
          </a:xfrm>
          <a:prstGeom prst="rect">
            <a:avLst/>
          </a:prstGeom>
          <a:noFill/>
          <a:ln/>
        </p:spPr>
        <p:txBody>
          <a:bodyPr wrap="square" lIns="0" tIns="0" rIns="0" bIns="0" rtlCol="0" anchor="t"/>
          <a:lstStyle/>
          <a:p>
            <a:pPr indent="0" marL="0">
              <a:lnSpc>
                <a:spcPts val="1900"/>
              </a:lnSpc>
              <a:buNone/>
            </a:pPr>
            <a:r>
              <a:rPr lang="en-US" sz="1300" dirty="0">
                <a:solidFill>
                  <a:srgbClr val="231F3D"/>
                </a:solidFill>
                <a:latin typeface="Calibri" pitchFamily="34" charset="0"/>
                <a:ea typeface="Calibri" pitchFamily="34" charset="-122"/>
                <a:cs typeface="Calibri" pitchFamily="34" charset="-120"/>
              </a:rPr>
              <a:t>Hasilnya condong ke aksi 1, yaitu melanjutkan kesepakatan, karena aksi tersebut melibatkan pleasure terbanyak. Hasil yang tidak nyaman inilah yang membuka empat masalah pokok utilitarianism.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Teori 2  ·  Consequentialist</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Empat masalah utilitarianism dan dua jenisnya</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640080" y="1572768"/>
            <a:ext cx="2590038" cy="1600200"/>
          </a:xfrm>
          <a:prstGeom prst="roundRect">
            <a:avLst>
              <a:gd name="adj" fmla="val 2286"/>
            </a:avLst>
          </a:prstGeom>
          <a:solidFill>
            <a:srgbClr val="F6F4FC"/>
          </a:solidFill>
          <a:ln w="9525">
            <a:solidFill>
              <a:srgbClr val="D9D5E6"/>
            </a:solidFill>
            <a:prstDash val="solid"/>
          </a:ln>
        </p:spPr>
      </p:sp>
      <p:sp>
        <p:nvSpPr>
          <p:cNvPr id="6" name="Shape 4"/>
          <p:cNvSpPr/>
          <p:nvPr/>
        </p:nvSpPr>
        <p:spPr>
          <a:xfrm>
            <a:off x="841248" y="1755648"/>
            <a:ext cx="329184" cy="329184"/>
          </a:xfrm>
          <a:prstGeom prst="ellipse">
            <a:avLst/>
          </a:prstGeom>
          <a:solidFill>
            <a:srgbClr val="B96A2C"/>
          </a:solidFill>
          <a:ln/>
        </p:spPr>
      </p:sp>
      <p:sp>
        <p:nvSpPr>
          <p:cNvPr id="7" name="Text 5"/>
          <p:cNvSpPr txBox="1"/>
          <p:nvPr/>
        </p:nvSpPr>
        <p:spPr>
          <a:xfrm>
            <a:off x="841248" y="17556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243584" y="1773936"/>
            <a:ext cx="1785366" cy="274320"/>
          </a:xfrm>
          <a:prstGeom prst="rect">
            <a:avLst/>
          </a:prstGeom>
          <a:noFill/>
          <a:ln/>
        </p:spPr>
        <p:txBody>
          <a:bodyPr wrap="square" lIns="0" tIns="0" rIns="0" bIns="0" rtlCol="0" anchor="t"/>
          <a:lstStyle/>
          <a:p>
            <a:pPr indent="0" marL="0">
              <a:buNone/>
            </a:pPr>
            <a:r>
              <a:rPr lang="en-US" sz="1300" b="1" dirty="0">
                <a:solidFill>
                  <a:srgbClr val="2E2566"/>
                </a:solidFill>
                <a:latin typeface="Calibri" pitchFamily="34" charset="0"/>
                <a:ea typeface="Calibri" pitchFamily="34" charset="-122"/>
                <a:cs typeface="Calibri" pitchFamily="34" charset="-120"/>
              </a:rPr>
              <a:t>Subjectivity</a:t>
            </a:r>
            <a:endParaRPr lang="en-US" sz="1300" dirty="0"/>
          </a:p>
        </p:txBody>
      </p:sp>
      <p:sp>
        <p:nvSpPr>
          <p:cNvPr id="9" name="Text 7"/>
          <p:cNvSpPr txBox="1"/>
          <p:nvPr/>
        </p:nvSpPr>
        <p:spPr>
          <a:xfrm>
            <a:off x="841248" y="2212848"/>
            <a:ext cx="2187702" cy="86868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Penilaian pleasure dan pain bergantung pada perspektif penganalisis. Singer (2011): hewan pun setara.</a:t>
            </a:r>
            <a:endParaRPr lang="en-US" sz="1150" dirty="0"/>
          </a:p>
        </p:txBody>
      </p:sp>
      <p:sp>
        <p:nvSpPr>
          <p:cNvPr id="10" name="Shape 8"/>
          <p:cNvSpPr/>
          <p:nvPr/>
        </p:nvSpPr>
        <p:spPr>
          <a:xfrm>
            <a:off x="3412998" y="1572768"/>
            <a:ext cx="2590038" cy="1600200"/>
          </a:xfrm>
          <a:prstGeom prst="roundRect">
            <a:avLst>
              <a:gd name="adj" fmla="val 2286"/>
            </a:avLst>
          </a:prstGeom>
          <a:solidFill>
            <a:srgbClr val="F6F4FC"/>
          </a:solidFill>
          <a:ln w="9525">
            <a:solidFill>
              <a:srgbClr val="D9D5E6"/>
            </a:solidFill>
            <a:prstDash val="solid"/>
          </a:ln>
        </p:spPr>
      </p:sp>
      <p:sp>
        <p:nvSpPr>
          <p:cNvPr id="11" name="Shape 9"/>
          <p:cNvSpPr/>
          <p:nvPr/>
        </p:nvSpPr>
        <p:spPr>
          <a:xfrm>
            <a:off x="3614166" y="1755648"/>
            <a:ext cx="329184" cy="329184"/>
          </a:xfrm>
          <a:prstGeom prst="ellipse">
            <a:avLst/>
          </a:prstGeom>
          <a:solidFill>
            <a:srgbClr val="B96A2C"/>
          </a:solidFill>
          <a:ln/>
        </p:spPr>
      </p:sp>
      <p:sp>
        <p:nvSpPr>
          <p:cNvPr id="12" name="Text 10"/>
          <p:cNvSpPr txBox="1"/>
          <p:nvPr/>
        </p:nvSpPr>
        <p:spPr>
          <a:xfrm>
            <a:off x="3614166" y="17556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4016502" y="1773936"/>
            <a:ext cx="1785366" cy="274320"/>
          </a:xfrm>
          <a:prstGeom prst="rect">
            <a:avLst/>
          </a:prstGeom>
          <a:noFill/>
          <a:ln/>
        </p:spPr>
        <p:txBody>
          <a:bodyPr wrap="square" lIns="0" tIns="0" rIns="0" bIns="0" rtlCol="0" anchor="t"/>
          <a:lstStyle/>
          <a:p>
            <a:pPr indent="0" marL="0">
              <a:buNone/>
            </a:pPr>
            <a:r>
              <a:rPr lang="en-US" sz="1300" b="1" dirty="0">
                <a:solidFill>
                  <a:srgbClr val="2E2566"/>
                </a:solidFill>
                <a:latin typeface="Calibri" pitchFamily="34" charset="0"/>
                <a:ea typeface="Calibri" pitchFamily="34" charset="-122"/>
                <a:cs typeface="Calibri" pitchFamily="34" charset="-120"/>
              </a:rPr>
              <a:t>Equal weighting</a:t>
            </a:r>
            <a:endParaRPr lang="en-US" sz="1300" dirty="0"/>
          </a:p>
        </p:txBody>
      </p:sp>
      <p:sp>
        <p:nvSpPr>
          <p:cNvPr id="14" name="Text 12"/>
          <p:cNvSpPr txBox="1"/>
          <p:nvPr/>
        </p:nvSpPr>
        <p:spPr>
          <a:xfrm>
            <a:off x="3614166" y="2212848"/>
            <a:ext cx="2187702" cy="86868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Seluruh pihak diberi bobot sama. Seseorang tidak boleh mengecualikan atau memprioritaskan dirinya.</a:t>
            </a:r>
            <a:endParaRPr lang="en-US" sz="1150" dirty="0"/>
          </a:p>
        </p:txBody>
      </p:sp>
      <p:sp>
        <p:nvSpPr>
          <p:cNvPr id="15" name="Shape 13"/>
          <p:cNvSpPr/>
          <p:nvPr/>
        </p:nvSpPr>
        <p:spPr>
          <a:xfrm>
            <a:off x="6185916" y="1572768"/>
            <a:ext cx="2590038" cy="1600200"/>
          </a:xfrm>
          <a:prstGeom prst="roundRect">
            <a:avLst>
              <a:gd name="adj" fmla="val 2286"/>
            </a:avLst>
          </a:prstGeom>
          <a:solidFill>
            <a:srgbClr val="F6F4FC"/>
          </a:solidFill>
          <a:ln w="9525">
            <a:solidFill>
              <a:srgbClr val="D9D5E6"/>
            </a:solidFill>
            <a:prstDash val="solid"/>
          </a:ln>
        </p:spPr>
      </p:sp>
      <p:sp>
        <p:nvSpPr>
          <p:cNvPr id="16" name="Shape 14"/>
          <p:cNvSpPr/>
          <p:nvPr/>
        </p:nvSpPr>
        <p:spPr>
          <a:xfrm>
            <a:off x="6387084" y="1755648"/>
            <a:ext cx="329184" cy="329184"/>
          </a:xfrm>
          <a:prstGeom prst="ellipse">
            <a:avLst/>
          </a:prstGeom>
          <a:solidFill>
            <a:srgbClr val="B96A2C"/>
          </a:solidFill>
          <a:ln/>
        </p:spPr>
      </p:sp>
      <p:sp>
        <p:nvSpPr>
          <p:cNvPr id="17" name="Text 15"/>
          <p:cNvSpPr txBox="1"/>
          <p:nvPr/>
        </p:nvSpPr>
        <p:spPr>
          <a:xfrm>
            <a:off x="6387084" y="17556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6789420" y="1773936"/>
            <a:ext cx="1785366" cy="274320"/>
          </a:xfrm>
          <a:prstGeom prst="rect">
            <a:avLst/>
          </a:prstGeom>
          <a:noFill/>
          <a:ln/>
        </p:spPr>
        <p:txBody>
          <a:bodyPr wrap="square" lIns="0" tIns="0" rIns="0" bIns="0" rtlCol="0" anchor="t"/>
          <a:lstStyle/>
          <a:p>
            <a:pPr indent="0" marL="0">
              <a:buNone/>
            </a:pPr>
            <a:r>
              <a:rPr lang="en-US" sz="1300" b="1" dirty="0">
                <a:solidFill>
                  <a:srgbClr val="2E2566"/>
                </a:solidFill>
                <a:latin typeface="Calibri" pitchFamily="34" charset="0"/>
                <a:ea typeface="Calibri" pitchFamily="34" charset="-122"/>
                <a:cs typeface="Calibri" pitchFamily="34" charset="-120"/>
              </a:rPr>
              <a:t>Kuantifikasi</a:t>
            </a:r>
            <a:endParaRPr lang="en-US" sz="1300" dirty="0"/>
          </a:p>
        </p:txBody>
      </p:sp>
      <p:sp>
        <p:nvSpPr>
          <p:cNvPr id="19" name="Text 17"/>
          <p:cNvSpPr txBox="1"/>
          <p:nvPr/>
        </p:nvSpPr>
        <p:spPr>
          <a:xfrm>
            <a:off x="6387084" y="2212848"/>
            <a:ext cx="2187702" cy="86868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Sulit memberi nilai uang pada setiap situasi. Pleasure dan pain anak-anak tidak terkuantifikasi.</a:t>
            </a:r>
            <a:endParaRPr lang="en-US" sz="1150" dirty="0"/>
          </a:p>
        </p:txBody>
      </p:sp>
      <p:sp>
        <p:nvSpPr>
          <p:cNvPr id="20" name="Shape 18"/>
          <p:cNvSpPr/>
          <p:nvPr/>
        </p:nvSpPr>
        <p:spPr>
          <a:xfrm>
            <a:off x="8958834" y="1572768"/>
            <a:ext cx="2590038" cy="1600200"/>
          </a:xfrm>
          <a:prstGeom prst="roundRect">
            <a:avLst>
              <a:gd name="adj" fmla="val 2286"/>
            </a:avLst>
          </a:prstGeom>
          <a:solidFill>
            <a:srgbClr val="F6F4FC"/>
          </a:solidFill>
          <a:ln w="9525">
            <a:solidFill>
              <a:srgbClr val="D9D5E6"/>
            </a:solidFill>
            <a:prstDash val="solid"/>
          </a:ln>
        </p:spPr>
      </p:sp>
      <p:sp>
        <p:nvSpPr>
          <p:cNvPr id="21" name="Shape 19"/>
          <p:cNvSpPr/>
          <p:nvPr/>
        </p:nvSpPr>
        <p:spPr>
          <a:xfrm>
            <a:off x="9160002" y="1755648"/>
            <a:ext cx="329184" cy="329184"/>
          </a:xfrm>
          <a:prstGeom prst="ellipse">
            <a:avLst/>
          </a:prstGeom>
          <a:solidFill>
            <a:srgbClr val="B96A2C"/>
          </a:solidFill>
          <a:ln/>
        </p:spPr>
      </p:sp>
      <p:sp>
        <p:nvSpPr>
          <p:cNvPr id="22" name="Text 20"/>
          <p:cNvSpPr txBox="1"/>
          <p:nvPr/>
        </p:nvSpPr>
        <p:spPr>
          <a:xfrm>
            <a:off x="9160002" y="17556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9562338" y="1773936"/>
            <a:ext cx="1785366" cy="274320"/>
          </a:xfrm>
          <a:prstGeom prst="rect">
            <a:avLst/>
          </a:prstGeom>
          <a:noFill/>
          <a:ln/>
        </p:spPr>
        <p:txBody>
          <a:bodyPr wrap="square" lIns="0" tIns="0" rIns="0" bIns="0" rtlCol="0" anchor="t"/>
          <a:lstStyle/>
          <a:p>
            <a:pPr indent="0" marL="0">
              <a:buNone/>
            </a:pPr>
            <a:r>
              <a:rPr lang="en-US" sz="1300" b="1" dirty="0">
                <a:solidFill>
                  <a:srgbClr val="2E2566"/>
                </a:solidFill>
                <a:latin typeface="Calibri" pitchFamily="34" charset="0"/>
                <a:ea typeface="Calibri" pitchFamily="34" charset="-122"/>
                <a:cs typeface="Calibri" pitchFamily="34" charset="-120"/>
              </a:rPr>
              <a:t>Distribusi utility</a:t>
            </a:r>
            <a:endParaRPr lang="en-US" sz="1300" dirty="0"/>
          </a:p>
        </p:txBody>
      </p:sp>
      <p:sp>
        <p:nvSpPr>
          <p:cNvPr id="24" name="Text 22"/>
          <p:cNvSpPr txBox="1"/>
          <p:nvPr/>
        </p:nvSpPr>
        <p:spPr>
          <a:xfrm>
            <a:off x="9160002" y="2212848"/>
            <a:ext cx="2187702" cy="86868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Kepentingan minoritas terabaikan. Distribusi jangka pendek dan jangka panjang juga berbeda hasilnya.</a:t>
            </a:r>
            <a:endParaRPr lang="en-US" sz="1150" dirty="0"/>
          </a:p>
        </p:txBody>
      </p:sp>
      <p:sp>
        <p:nvSpPr>
          <p:cNvPr id="25" name="Text 23"/>
          <p:cNvSpPr txBox="1"/>
          <p:nvPr/>
        </p:nvSpPr>
        <p:spPr>
          <a:xfrm>
            <a:off x="640080" y="3401568"/>
            <a:ext cx="10908792" cy="274320"/>
          </a:xfrm>
          <a:prstGeom prst="rect">
            <a:avLst/>
          </a:prstGeom>
          <a:noFill/>
          <a:ln/>
        </p:spPr>
        <p:txBody>
          <a:bodyPr wrap="square" lIns="0" tIns="0" rIns="0" bIns="0" rtlCol="0" anchor="t"/>
          <a:lstStyle/>
          <a:p>
            <a:pPr indent="0" marL="0">
              <a:buNone/>
            </a:pPr>
            <a:r>
              <a:rPr lang="en-US" sz="1400" b="1" dirty="0">
                <a:solidFill>
                  <a:srgbClr val="2E2566"/>
                </a:solidFill>
                <a:latin typeface="Calibri" pitchFamily="34" charset="0"/>
                <a:ea typeface="Calibri" pitchFamily="34" charset="-122"/>
                <a:cs typeface="Calibri" pitchFamily="34" charset="-120"/>
              </a:rPr>
              <a:t>Penyempurnaan Mill: dua jenis utilitarianism</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3712464"/>
          <a:ext cx="10908792" cy="914400"/>
        </p:xfrm>
        <a:graphic>
          <a:graphicData uri="http://schemas.openxmlformats.org/drawingml/2006/table">
            <a:tbl>
              <a:tblPr/>
              <a:tblGrid>
                <a:gridCol w="2286000"/>
                <a:gridCol w="4023360"/>
                <a:gridCol w="4599432"/>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Jenis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Cara menilai</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Hasilnya pada Ethical Dilemma 3</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r>
              <a:tr h="713232">
                <a:tc>
                  <a:txBody>
                    <a:bodyPr/>
                    <a:lstStyle/>
                    <a:p>
                      <a:pPr indent="0" marL="0">
                        <a:buNone/>
                      </a:pPr>
                      <a:r>
                        <a:rPr lang="en-US" sz="1200" b="1" dirty="0">
                          <a:solidFill>
                            <a:srgbClr val="231F3D"/>
                          </a:solidFill>
                          <a:latin typeface="Calibri" pitchFamily="34" charset="0"/>
                          <a:ea typeface="Calibri" pitchFamily="34" charset="-122"/>
                          <a:cs typeface="Calibri" pitchFamily="34" charset="-120"/>
                        </a:rPr>
                        <a:t>Act utilitarianism</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200" dirty="0">
                          <a:solidFill>
                            <a:srgbClr val="231F3D"/>
                          </a:solidFill>
                          <a:latin typeface="Calibri" pitchFamily="34" charset="0"/>
                          <a:ea typeface="Calibri" pitchFamily="34" charset="-122"/>
                          <a:cs typeface="Calibri" pitchFamily="34" charset="-120"/>
                        </a:rPr>
                        <a:t>Melihat tindakan tunggal dan menghitung pleasure serta pain dari tindakan itu saja</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200" dirty="0">
                          <a:solidFill>
                            <a:srgbClr val="231F3D"/>
                          </a:solidFill>
                          <a:latin typeface="Calibri" pitchFamily="34" charset="0"/>
                          <a:ea typeface="Calibri" pitchFamily="34" charset="-122"/>
                          <a:cs typeface="Calibri" pitchFamily="34" charset="-120"/>
                        </a:rPr>
                        <a:t>Dapat menyimpulkan tindakan tersebut benar, karena pain anak dianggap kecil mengingat mereka mungkin tetap harus bekerja</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713232">
                <a:tc>
                  <a:txBody>
                    <a:bodyPr/>
                    <a:lstStyle/>
                    <a:p>
                      <a:pPr indent="0" marL="0">
                        <a:buNone/>
                      </a:pPr>
                      <a:r>
                        <a:rPr lang="en-US" sz="1200" b="1" dirty="0">
                          <a:solidFill>
                            <a:srgbClr val="231F3D"/>
                          </a:solidFill>
                          <a:latin typeface="Calibri" pitchFamily="34" charset="0"/>
                          <a:ea typeface="Calibri" pitchFamily="34" charset="-122"/>
                          <a:cs typeface="Calibri" pitchFamily="34" charset="-120"/>
                        </a:rPr>
                        <a:t>Rule utilitarianism</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200" dirty="0">
                          <a:solidFill>
                            <a:srgbClr val="231F3D"/>
                          </a:solidFill>
                          <a:latin typeface="Calibri" pitchFamily="34" charset="0"/>
                          <a:ea typeface="Calibri" pitchFamily="34" charset="-122"/>
                          <a:cs typeface="Calibri" pitchFamily="34" charset="-120"/>
                        </a:rPr>
                        <a:t>Melihat kelas tindakan dan menanyakan apakah prinsipnya menghasilkan lebih banyak pleasure dalam jangka panjang</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200" dirty="0">
                          <a:solidFill>
                            <a:srgbClr val="231F3D"/>
                          </a:solidFill>
                          <a:latin typeface="Calibri" pitchFamily="34" charset="0"/>
                          <a:ea typeface="Calibri" pitchFamily="34" charset="-122"/>
                          <a:cs typeface="Calibri" pitchFamily="34" charset="-120"/>
                        </a:rPr>
                        <a:t>Menolak, karena tidak sulit berpendapat bahwa penderitaan akibat pekerja anak melampaui manfaat ekonominya</a:t>
                      </a:r>
                      <a:endParaRPr lang="en-US" sz="12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
        <p:nvSpPr>
          <p:cNvPr id="27" name="Text 24"/>
          <p:cNvSpPr txBox="1"/>
          <p:nvPr/>
        </p:nvSpPr>
        <p:spPr>
          <a:xfrm>
            <a:off x="640080" y="5577840"/>
            <a:ext cx="10908792" cy="320040"/>
          </a:xfrm>
          <a:prstGeom prst="rect">
            <a:avLst/>
          </a:prstGeom>
          <a:noFill/>
          <a:ln/>
        </p:spPr>
        <p:txBody>
          <a:bodyPr wrap="square" lIns="0" tIns="0" rIns="0" bIns="0" rtlCol="0" anchor="t"/>
          <a:lstStyle/>
          <a:p>
            <a:pPr indent="0" marL="0">
              <a:buNone/>
            </a:pPr>
            <a:r>
              <a:rPr lang="en-US" sz="1250" i="1" dirty="0">
                <a:solidFill>
                  <a:srgbClr val="2E2566"/>
                </a:solidFill>
                <a:latin typeface="Calibri" pitchFamily="34" charset="0"/>
                <a:ea typeface="Calibri" pitchFamily="34" charset="-122"/>
                <a:cs typeface="Calibri" pitchFamily="34" charset="-120"/>
              </a:rPr>
              <a:t>Dua jenis ini menghasilkan kesimpulan yang berlawanan atas kasus yang sama. Perbedaan tersebut akan muncul lagi pada kasus oil sands.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Teori 3  ·  Principle-based</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Ethics of duties: categorical imperative</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11064240" y="658368"/>
            <a:ext cx="457200" cy="457200"/>
          </a:xfrm>
          <a:prstGeom prst="ellipse">
            <a:avLst/>
          </a:prstGeom>
          <a:solidFill>
            <a:srgbClr val="9C8226"/>
          </a:solidFill>
          <a:ln/>
        </p:spPr>
      </p:sp>
      <p:sp>
        <p:nvSpPr>
          <p:cNvPr id="6" name="Text 4"/>
          <p:cNvSpPr txBox="1"/>
          <p:nvPr/>
        </p:nvSpPr>
        <p:spPr>
          <a:xfrm>
            <a:off x="11064240" y="658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7" name="Shape 5"/>
          <p:cNvSpPr/>
          <p:nvPr/>
        </p:nvSpPr>
        <p:spPr>
          <a:xfrm>
            <a:off x="640080" y="1517904"/>
            <a:ext cx="10908792" cy="658368"/>
          </a:xfrm>
          <a:prstGeom prst="roundRect">
            <a:avLst>
              <a:gd name="adj" fmla="val 5556"/>
            </a:avLst>
          </a:prstGeom>
          <a:solidFill>
            <a:srgbClr val="EEEBF8"/>
          </a:solidFill>
          <a:ln w="9525">
            <a:solidFill>
              <a:srgbClr val="D9D5E6"/>
            </a:solidFill>
            <a:prstDash val="solid"/>
          </a:ln>
        </p:spPr>
      </p:sp>
      <p:sp>
        <p:nvSpPr>
          <p:cNvPr id="8" name="Text 6"/>
          <p:cNvSpPr txBox="1"/>
          <p:nvPr/>
        </p:nvSpPr>
        <p:spPr>
          <a:xfrm>
            <a:off x="932688" y="1645920"/>
            <a:ext cx="10323576" cy="420624"/>
          </a:xfrm>
          <a:prstGeom prst="rect">
            <a:avLst/>
          </a:prstGeom>
          <a:noFill/>
          <a:ln/>
        </p:spPr>
        <p:txBody>
          <a:bodyPr wrap="square" lIns="0" tIns="0" rIns="0" bIns="0" rtlCol="0" anchor="t"/>
          <a:lstStyle/>
          <a:p>
            <a:pPr indent="0" marL="0">
              <a:lnSpc>
                <a:spcPts val="2100"/>
              </a:lnSpc>
              <a:buNone/>
            </a:pPr>
            <a:r>
              <a:rPr lang="en-US" sz="1500" dirty="0">
                <a:solidFill>
                  <a:srgbClr val="231F3D"/>
                </a:solidFill>
                <a:latin typeface="Cambria" pitchFamily="34" charset="0"/>
                <a:ea typeface="Cambria" pitchFamily="34" charset="-122"/>
                <a:cs typeface="Cambria" pitchFamily="34" charset="-120"/>
              </a:rPr>
              <a:t>Categorical imperative: bertindak hanya menurut maksim yang pada saat bersamaan dapat dikehendaki menjadi hukum universal.</a:t>
            </a:r>
            <a:endParaRPr lang="en-US" sz="1500" dirty="0"/>
          </a:p>
        </p:txBody>
      </p:sp>
      <p:sp>
        <p:nvSpPr>
          <p:cNvPr id="9" name="Text 7"/>
          <p:cNvSpPr txBox="1"/>
          <p:nvPr/>
        </p:nvSpPr>
        <p:spPr>
          <a:xfrm>
            <a:off x="640080" y="2322576"/>
            <a:ext cx="10908792" cy="237744"/>
          </a:xfrm>
          <a:prstGeom prst="rect">
            <a:avLst/>
          </a:prstGeom>
          <a:noFill/>
          <a:ln/>
        </p:spPr>
        <p:txBody>
          <a:bodyPr wrap="square" lIns="0" tIns="0" rIns="0" bIns="0" rtlCol="0" anchor="t"/>
          <a:lstStyle/>
          <a:p>
            <a:pPr indent="0" marL="0">
              <a:buNone/>
            </a:pPr>
            <a:r>
              <a:rPr lang="en-US" sz="1150" b="1" dirty="0">
                <a:solidFill>
                  <a:srgbClr val="5C5773"/>
                </a:solidFill>
                <a:latin typeface="Calibri" pitchFamily="34" charset="0"/>
                <a:ea typeface="Calibri" pitchFamily="34" charset="-122"/>
                <a:cs typeface="Calibri" pitchFamily="34" charset="-120"/>
              </a:rPr>
              <a:t>Tabel 3.4  Dua formulasi kunci (halaman 102)</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596896"/>
          <a:ext cx="10908792" cy="914400"/>
        </p:xfrm>
        <a:graphic>
          <a:graphicData uri="http://schemas.openxmlformats.org/drawingml/2006/table">
            <a:tbl>
              <a:tblPr/>
              <a:tblGrid>
                <a:gridCol w="2103120"/>
                <a:gridCol w="4389120"/>
                <a:gridCol w="4416552"/>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Formulasi</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Pemikiran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Penerapan pada Ethical Dilemma 3</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r>
              <a:tr h="1005840">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Universal acceptability</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Terima sebuah hukum moral hanya apabila semua makhluk rasional juga dapat menerimanya. Kegagalan membayar utang dan berbohong tidak dapat diuniversalkan.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Anda sudah tidak nyaman membayangkan prinsip mempekerjakan anak diterapkan pada keluarga Anda di Eropa. Karena Anda tidak menghendaki hal itu menjadi hukum, tindakan tersebut dinilai tidak bermoral.</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1005840">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Respect for persons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Perlakukan kemanusiaan sebagai tujuan, tidak pernah hanya sebagai sarana. Bisnis memang memakai orang sebagai sarana, namun tidak boleh hanya sebagai sarana.</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Dengan memanfaatkan tenaga anak-anak, Anda memperlakukan mereka sebagai tenaga kerja murah untuk tujuan Anda sendiri dan bukan sebagai tujuan pada dirinya sendiri.</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
        <p:nvSpPr>
          <p:cNvPr id="11" name="Text 8"/>
          <p:cNvSpPr txBox="1"/>
          <p:nvPr/>
        </p:nvSpPr>
        <p:spPr>
          <a:xfrm>
            <a:off x="640080" y="4992624"/>
            <a:ext cx="10908792" cy="256032"/>
          </a:xfrm>
          <a:prstGeom prst="rect">
            <a:avLst/>
          </a:prstGeom>
          <a:noFill/>
          <a:ln/>
        </p:spPr>
        <p:txBody>
          <a:bodyPr wrap="square" lIns="0" tIns="0" rIns="0" bIns="0" rtlCol="0" anchor="t"/>
          <a:lstStyle/>
          <a:p>
            <a:pPr indent="0" marL="0">
              <a:buNone/>
            </a:pPr>
            <a:r>
              <a:rPr lang="en-US" sz="1350" b="1" dirty="0">
                <a:solidFill>
                  <a:srgbClr val="2E2566"/>
                </a:solidFill>
                <a:latin typeface="Calibri" pitchFamily="34" charset="0"/>
                <a:ea typeface="Calibri" pitchFamily="34" charset="-122"/>
                <a:cs typeface="Calibri" pitchFamily="34" charset="-120"/>
              </a:rPr>
              <a:t>Tiga kritik terhadap Kantianisme</a:t>
            </a:r>
            <a:endParaRPr lang="en-US" sz="1350" dirty="0"/>
          </a:p>
        </p:txBody>
      </p:sp>
      <p:sp>
        <p:nvSpPr>
          <p:cNvPr id="12" name="Shape 9"/>
          <p:cNvSpPr/>
          <p:nvPr/>
        </p:nvSpPr>
        <p:spPr>
          <a:xfrm>
            <a:off x="640080" y="5285232"/>
            <a:ext cx="3514344" cy="1024128"/>
          </a:xfrm>
          <a:prstGeom prst="roundRect">
            <a:avLst>
              <a:gd name="adj" fmla="val 3571"/>
            </a:avLst>
          </a:prstGeom>
          <a:solidFill>
            <a:srgbClr val="F6F4FC"/>
          </a:solidFill>
          <a:ln w="9525">
            <a:solidFill>
              <a:srgbClr val="D9D5E6"/>
            </a:solidFill>
            <a:prstDash val="solid"/>
          </a:ln>
        </p:spPr>
      </p:sp>
      <p:sp>
        <p:nvSpPr>
          <p:cNvPr id="13" name="Text 10"/>
          <p:cNvSpPr txBox="1"/>
          <p:nvPr/>
        </p:nvSpPr>
        <p:spPr>
          <a:xfrm>
            <a:off x="841248" y="5376672"/>
            <a:ext cx="3112008" cy="237744"/>
          </a:xfrm>
          <a:prstGeom prst="rect">
            <a:avLst/>
          </a:prstGeom>
          <a:noFill/>
          <a:ln/>
        </p:spPr>
        <p:txBody>
          <a:bodyPr wrap="square" lIns="0" tIns="0" rIns="0" bIns="0" rtlCol="0" anchor="t"/>
          <a:lstStyle/>
          <a:p>
            <a:pPr indent="0" marL="0">
              <a:buNone/>
            </a:pPr>
            <a:r>
              <a:rPr lang="en-US" sz="1200" b="1" dirty="0">
                <a:solidFill>
                  <a:srgbClr val="9C8226"/>
                </a:solidFill>
                <a:latin typeface="Calibri" pitchFamily="34" charset="0"/>
                <a:ea typeface="Calibri" pitchFamily="34" charset="-122"/>
                <a:cs typeface="Calibri" pitchFamily="34" charset="-120"/>
              </a:rPr>
              <a:t>Kurang menghargai motivasi</a:t>
            </a:r>
            <a:endParaRPr lang="en-US" sz="1200" dirty="0"/>
          </a:p>
        </p:txBody>
      </p:sp>
      <p:sp>
        <p:nvSpPr>
          <p:cNvPr id="14" name="Text 11"/>
          <p:cNvSpPr txBox="1"/>
          <p:nvPr/>
        </p:nvSpPr>
        <p:spPr>
          <a:xfrm>
            <a:off x="841248" y="5614416"/>
            <a:ext cx="3112008" cy="640080"/>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Menaikkan upah karena kasihan tidak bernilai moral, karena menalar kewajiban bernilai moral, padahal hasilnya sama.</a:t>
            </a:r>
            <a:endParaRPr lang="en-US" sz="1050" dirty="0"/>
          </a:p>
        </p:txBody>
      </p:sp>
      <p:sp>
        <p:nvSpPr>
          <p:cNvPr id="15" name="Shape 12"/>
          <p:cNvSpPr/>
          <p:nvPr/>
        </p:nvSpPr>
        <p:spPr>
          <a:xfrm>
            <a:off x="4337304" y="5285232"/>
            <a:ext cx="3514344" cy="1024128"/>
          </a:xfrm>
          <a:prstGeom prst="roundRect">
            <a:avLst>
              <a:gd name="adj" fmla="val 3571"/>
            </a:avLst>
          </a:prstGeom>
          <a:solidFill>
            <a:srgbClr val="F6F4FC"/>
          </a:solidFill>
          <a:ln w="9525">
            <a:solidFill>
              <a:srgbClr val="D9D5E6"/>
            </a:solidFill>
            <a:prstDash val="solid"/>
          </a:ln>
        </p:spPr>
      </p:sp>
      <p:sp>
        <p:nvSpPr>
          <p:cNvPr id="16" name="Text 13"/>
          <p:cNvSpPr txBox="1"/>
          <p:nvPr/>
        </p:nvSpPr>
        <p:spPr>
          <a:xfrm>
            <a:off x="4538472" y="5376672"/>
            <a:ext cx="3112008" cy="237744"/>
          </a:xfrm>
          <a:prstGeom prst="rect">
            <a:avLst/>
          </a:prstGeom>
          <a:noFill/>
          <a:ln/>
        </p:spPr>
        <p:txBody>
          <a:bodyPr wrap="square" lIns="0" tIns="0" rIns="0" bIns="0" rtlCol="0" anchor="t"/>
          <a:lstStyle/>
          <a:p>
            <a:pPr indent="0" marL="0">
              <a:buNone/>
            </a:pPr>
            <a:r>
              <a:rPr lang="en-US" sz="1200" b="1" dirty="0">
                <a:solidFill>
                  <a:srgbClr val="9C8226"/>
                </a:solidFill>
                <a:latin typeface="Calibri" pitchFamily="34" charset="0"/>
                <a:ea typeface="Calibri" pitchFamily="34" charset="-122"/>
                <a:cs typeface="Calibri" pitchFamily="34" charset="-120"/>
              </a:rPr>
              <a:t>Kurang menghargai akibat</a:t>
            </a:r>
            <a:endParaRPr lang="en-US" sz="1200" dirty="0"/>
          </a:p>
        </p:txBody>
      </p:sp>
      <p:sp>
        <p:nvSpPr>
          <p:cNvPr id="17" name="Text 14"/>
          <p:cNvSpPr txBox="1"/>
          <p:nvPr/>
        </p:nvSpPr>
        <p:spPr>
          <a:xfrm>
            <a:off x="4538472" y="5614416"/>
            <a:ext cx="3112008" cy="640080"/>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Tidak ada ruang untuk situasi ketika sedikit pelenturan aturan menghasilkan hasil yang lebih baik.</a:t>
            </a:r>
            <a:endParaRPr lang="en-US" sz="1050" dirty="0"/>
          </a:p>
        </p:txBody>
      </p:sp>
      <p:sp>
        <p:nvSpPr>
          <p:cNvPr id="18" name="Shape 15"/>
          <p:cNvSpPr/>
          <p:nvPr/>
        </p:nvSpPr>
        <p:spPr>
          <a:xfrm>
            <a:off x="8034528" y="5285232"/>
            <a:ext cx="3514344" cy="1024128"/>
          </a:xfrm>
          <a:prstGeom prst="roundRect">
            <a:avLst>
              <a:gd name="adj" fmla="val 3571"/>
            </a:avLst>
          </a:prstGeom>
          <a:solidFill>
            <a:srgbClr val="F6F4FC"/>
          </a:solidFill>
          <a:ln w="9525">
            <a:solidFill>
              <a:srgbClr val="D9D5E6"/>
            </a:solidFill>
            <a:prstDash val="solid"/>
          </a:ln>
        </p:spPr>
      </p:sp>
      <p:sp>
        <p:nvSpPr>
          <p:cNvPr id="19" name="Text 16"/>
          <p:cNvSpPr txBox="1"/>
          <p:nvPr/>
        </p:nvSpPr>
        <p:spPr>
          <a:xfrm>
            <a:off x="8235696" y="5376672"/>
            <a:ext cx="3112008" cy="237744"/>
          </a:xfrm>
          <a:prstGeom prst="rect">
            <a:avLst/>
          </a:prstGeom>
          <a:noFill/>
          <a:ln/>
        </p:spPr>
        <p:txBody>
          <a:bodyPr wrap="square" lIns="0" tIns="0" rIns="0" bIns="0" rtlCol="0" anchor="t"/>
          <a:lstStyle/>
          <a:p>
            <a:pPr indent="0" marL="0">
              <a:buNone/>
            </a:pPr>
            <a:r>
              <a:rPr lang="en-US" sz="1200" b="1" dirty="0">
                <a:solidFill>
                  <a:srgbClr val="9C8226"/>
                </a:solidFill>
                <a:latin typeface="Calibri" pitchFamily="34" charset="0"/>
                <a:ea typeface="Calibri" pitchFamily="34" charset="-122"/>
                <a:cs typeface="Calibri" pitchFamily="34" charset="-120"/>
              </a:rPr>
              <a:t>Asumsi rasionalitas</a:t>
            </a:r>
            <a:endParaRPr lang="en-US" sz="1200" dirty="0"/>
          </a:p>
        </p:txBody>
      </p:sp>
      <p:sp>
        <p:nvSpPr>
          <p:cNvPr id="20" name="Text 17"/>
          <p:cNvSpPr txBox="1"/>
          <p:nvPr/>
        </p:nvSpPr>
        <p:spPr>
          <a:xfrm>
            <a:off x="8235696" y="5614416"/>
            <a:ext cx="3112008" cy="640080"/>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Manusia sebagai makhluk rasional yang selalu menalar kewajibannya lebih merupakan ideal daripada realitas.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Teori 4  ·  Principle-based</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Ethics of rights: human rights</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11064240" y="658368"/>
            <a:ext cx="457200" cy="457200"/>
          </a:xfrm>
          <a:prstGeom prst="ellipse">
            <a:avLst/>
          </a:prstGeom>
          <a:solidFill>
            <a:srgbClr val="5A8637"/>
          </a:solidFill>
          <a:ln/>
        </p:spPr>
      </p:sp>
      <p:sp>
        <p:nvSpPr>
          <p:cNvPr id="6" name="Text 4"/>
          <p:cNvSpPr txBox="1"/>
          <p:nvPr/>
        </p:nvSpPr>
        <p:spPr>
          <a:xfrm>
            <a:off x="11064240" y="658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7" name="Shape 5"/>
          <p:cNvSpPr/>
          <p:nvPr/>
        </p:nvSpPr>
        <p:spPr>
          <a:xfrm>
            <a:off x="640080" y="1517904"/>
            <a:ext cx="10908792" cy="658368"/>
          </a:xfrm>
          <a:prstGeom prst="roundRect">
            <a:avLst>
              <a:gd name="adj" fmla="val 5556"/>
            </a:avLst>
          </a:prstGeom>
          <a:solidFill>
            <a:srgbClr val="EEEBF8"/>
          </a:solidFill>
          <a:ln w="9525">
            <a:solidFill>
              <a:srgbClr val="D9D5E6"/>
            </a:solidFill>
            <a:prstDash val="solid"/>
          </a:ln>
        </p:spPr>
      </p:sp>
      <p:sp>
        <p:nvSpPr>
          <p:cNvPr id="8" name="Text 6"/>
          <p:cNvSpPr txBox="1"/>
          <p:nvPr/>
        </p:nvSpPr>
        <p:spPr>
          <a:xfrm>
            <a:off x="932688" y="1645920"/>
            <a:ext cx="10323576" cy="420624"/>
          </a:xfrm>
          <a:prstGeom prst="rect">
            <a:avLst/>
          </a:prstGeom>
          <a:noFill/>
          <a:ln/>
        </p:spPr>
        <p:txBody>
          <a:bodyPr wrap="square" lIns="0" tIns="0" rIns="0" bIns="0" rtlCol="0" anchor="t"/>
          <a:lstStyle/>
          <a:p>
            <a:pPr indent="0" marL="0">
              <a:lnSpc>
                <a:spcPts val="2100"/>
              </a:lnSpc>
              <a:buNone/>
            </a:pPr>
            <a:r>
              <a:rPr lang="en-US" sz="1500" dirty="0">
                <a:solidFill>
                  <a:srgbClr val="231F3D"/>
                </a:solidFill>
                <a:latin typeface="Cambria" pitchFamily="34" charset="0"/>
                <a:ea typeface="Cambria" pitchFamily="34" charset="-122"/>
                <a:cs typeface="Cambria" pitchFamily="34" charset="-120"/>
              </a:rPr>
              <a:t>Human rights adalah hak dasar yang tidak dapat dicabut dan tidak bersyarat, yang melekat pada seluruh manusia tanpa kecuali.</a:t>
            </a:r>
            <a:endParaRPr lang="en-US" sz="1500" dirty="0"/>
          </a:p>
        </p:txBody>
      </p:sp>
      <p:sp>
        <p:nvSpPr>
          <p:cNvPr id="9" name="Shape 7"/>
          <p:cNvSpPr/>
          <p:nvPr/>
        </p:nvSpPr>
        <p:spPr>
          <a:xfrm>
            <a:off x="640080" y="2340864"/>
            <a:ext cx="5127132" cy="2139696"/>
          </a:xfrm>
          <a:prstGeom prst="roundRect">
            <a:avLst>
              <a:gd name="adj" fmla="val 1709"/>
            </a:avLst>
          </a:prstGeom>
          <a:solidFill>
            <a:srgbClr val="F6F4FC"/>
          </a:solidFill>
          <a:ln w="9525">
            <a:solidFill>
              <a:srgbClr val="D9D5E6"/>
            </a:solidFill>
            <a:prstDash val="solid"/>
          </a:ln>
        </p:spPr>
      </p:sp>
      <p:sp>
        <p:nvSpPr>
          <p:cNvPr id="10" name="Text 8"/>
          <p:cNvSpPr txBox="1"/>
          <p:nvPr/>
        </p:nvSpPr>
        <p:spPr>
          <a:xfrm>
            <a:off x="932688" y="2468880"/>
            <a:ext cx="4541916"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Dari Locke sampai UDHR</a:t>
            </a:r>
            <a:endParaRPr lang="en-US" sz="1200" dirty="0"/>
          </a:p>
        </p:txBody>
      </p:sp>
      <p:sp>
        <p:nvSpPr>
          <p:cNvPr id="11" name="Text 9"/>
          <p:cNvSpPr txBox="1"/>
          <p:nvPr/>
        </p:nvSpPr>
        <p:spPr>
          <a:xfrm>
            <a:off x="932688" y="2724912"/>
            <a:ext cx="4505340" cy="1664208"/>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John Locke mengonsepkan natural rights: hak atas hidup, kebebasan dan properti. Hak menghasilkan kewajiban bagi pihak lain, keduanya dua sisi mata uang.</a:t>
            </a:r>
            <a:endParaRPr lang="en-US" sz="1150" dirty="0"/>
          </a:p>
          <a:p>
            <a:pPr indent="0" marL="0">
              <a:lnSpc>
                <a:spcPts val="1600"/>
              </a:lnSpc>
              <a:buNone/>
            </a:pPr>
            <a:endParaRPr lang="en-US" sz="1150" dirty="0"/>
          </a:p>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Gagasan itu membentuk Konstitusi Amerika 1787 dan UDHR 1948. Lebih dari 13.100 organisasi menandatangani UN Global Compact, dengan human rights di dua prinsip pertama.</a:t>
            </a:r>
            <a:endParaRPr lang="en-US" sz="1150" dirty="0"/>
          </a:p>
        </p:txBody>
      </p:sp>
      <p:sp>
        <p:nvSpPr>
          <p:cNvPr id="12" name="Text 10"/>
          <p:cNvSpPr txBox="1"/>
          <p:nvPr/>
        </p:nvSpPr>
        <p:spPr>
          <a:xfrm>
            <a:off x="5995812" y="2340864"/>
            <a:ext cx="5553060" cy="256032"/>
          </a:xfrm>
          <a:prstGeom prst="rect">
            <a:avLst/>
          </a:prstGeom>
          <a:noFill/>
          <a:ln/>
        </p:spPr>
        <p:txBody>
          <a:bodyPr wrap="square" lIns="0" tIns="0" rIns="0" bIns="0" rtlCol="0" anchor="t"/>
          <a:lstStyle/>
          <a:p>
            <a:pPr indent="0" marL="0">
              <a:buNone/>
            </a:pPr>
            <a:r>
              <a:rPr lang="en-US" sz="1300" b="1" dirty="0">
                <a:solidFill>
                  <a:srgbClr val="2E2566"/>
                </a:solidFill>
                <a:latin typeface="Calibri" pitchFamily="34" charset="0"/>
                <a:ea typeface="Calibri" pitchFamily="34" charset="-122"/>
                <a:cs typeface="Calibri" pitchFamily="34" charset="-120"/>
              </a:rPr>
              <a:t>UN Guiding Principles atau Prinsip Ruggie (2011): tiga pilar</a:t>
            </a:r>
            <a:endParaRPr lang="en-US" sz="1300" dirty="0"/>
          </a:p>
        </p:txBody>
      </p:sp>
      <p:sp>
        <p:nvSpPr>
          <p:cNvPr id="13" name="Shape 11"/>
          <p:cNvSpPr/>
          <p:nvPr/>
        </p:nvSpPr>
        <p:spPr>
          <a:xfrm>
            <a:off x="5995812" y="2670048"/>
            <a:ext cx="5553060" cy="502920"/>
          </a:xfrm>
          <a:prstGeom prst="roundRect">
            <a:avLst>
              <a:gd name="adj" fmla="val 7273"/>
            </a:avLst>
          </a:prstGeom>
          <a:solidFill>
            <a:srgbClr val="F6F4FC"/>
          </a:solidFill>
          <a:ln w="9525">
            <a:solidFill>
              <a:srgbClr val="D9D5E6"/>
            </a:solidFill>
            <a:prstDash val="solid"/>
          </a:ln>
        </p:spPr>
      </p:sp>
      <p:sp>
        <p:nvSpPr>
          <p:cNvPr id="14" name="Text 12"/>
          <p:cNvSpPr txBox="1"/>
          <p:nvPr/>
        </p:nvSpPr>
        <p:spPr>
          <a:xfrm>
            <a:off x="6178692" y="2724912"/>
            <a:ext cx="1051560" cy="384048"/>
          </a:xfrm>
          <a:prstGeom prst="rect">
            <a:avLst/>
          </a:prstGeom>
          <a:noFill/>
          <a:ln/>
        </p:spPr>
        <p:txBody>
          <a:bodyPr wrap="square" lIns="0" tIns="0" rIns="0" bIns="0" rtlCol="0" anchor="t"/>
          <a:lstStyle/>
          <a:p>
            <a:pPr indent="0" marL="0">
              <a:buNone/>
            </a:pPr>
            <a:r>
              <a:rPr lang="en-US" sz="1300" b="1" dirty="0">
                <a:solidFill>
                  <a:srgbClr val="5A8637"/>
                </a:solidFill>
                <a:latin typeface="Calibri" pitchFamily="34" charset="0"/>
                <a:ea typeface="Calibri" pitchFamily="34" charset="-122"/>
                <a:cs typeface="Calibri" pitchFamily="34" charset="-120"/>
              </a:rPr>
              <a:t>Protect</a:t>
            </a:r>
            <a:endParaRPr lang="en-US" sz="1300" dirty="0"/>
          </a:p>
        </p:txBody>
      </p:sp>
      <p:sp>
        <p:nvSpPr>
          <p:cNvPr id="15" name="Text 13"/>
          <p:cNvSpPr txBox="1"/>
          <p:nvPr/>
        </p:nvSpPr>
        <p:spPr>
          <a:xfrm>
            <a:off x="7230252" y="2724912"/>
            <a:ext cx="868680" cy="384048"/>
          </a:xfrm>
          <a:prstGeom prst="rect">
            <a:avLst/>
          </a:prstGeom>
          <a:noFill/>
          <a:ln/>
        </p:spPr>
        <p:txBody>
          <a:bodyPr wrap="square" lIns="0" tIns="0" rIns="0" bIns="0" rtlCol="0" anchor="t"/>
          <a:lstStyle/>
          <a:p>
            <a:pPr indent="0" marL="0">
              <a:buNone/>
            </a:pPr>
            <a:r>
              <a:rPr lang="en-US" sz="1100" dirty="0">
                <a:solidFill>
                  <a:srgbClr val="5C5773"/>
                </a:solidFill>
                <a:latin typeface="Calibri" pitchFamily="34" charset="0"/>
                <a:ea typeface="Calibri" pitchFamily="34" charset="-122"/>
                <a:cs typeface="Calibri" pitchFamily="34" charset="-120"/>
              </a:rPr>
              <a:t>Negara</a:t>
            </a:r>
            <a:endParaRPr lang="en-US" sz="1100" dirty="0"/>
          </a:p>
        </p:txBody>
      </p:sp>
      <p:sp>
        <p:nvSpPr>
          <p:cNvPr id="16" name="Text 14"/>
          <p:cNvSpPr txBox="1"/>
          <p:nvPr/>
        </p:nvSpPr>
        <p:spPr>
          <a:xfrm>
            <a:off x="8144652" y="2715768"/>
            <a:ext cx="3221340" cy="420624"/>
          </a:xfrm>
          <a:prstGeom prst="rect">
            <a:avLst/>
          </a:prstGeom>
          <a:noFill/>
          <a:ln/>
        </p:spPr>
        <p:txBody>
          <a:bodyPr wrap="square" lIns="0" tIns="0" rIns="0" bIns="0" rtlCol="0" anchor="t"/>
          <a:lstStyle/>
          <a:p>
            <a:pPr indent="0" marL="0">
              <a:lnSpc>
                <a:spcPts val="1400"/>
              </a:lnSpc>
              <a:buNone/>
            </a:pPr>
            <a:r>
              <a:rPr lang="en-US" sz="1100" dirty="0">
                <a:solidFill>
                  <a:srgbClr val="231F3D"/>
                </a:solidFill>
                <a:latin typeface="Calibri" pitchFamily="34" charset="0"/>
                <a:ea typeface="Calibri" pitchFamily="34" charset="-122"/>
                <a:cs typeface="Calibri" pitchFamily="34" charset="-120"/>
              </a:rPr>
              <a:t>Kewajiban negara melindungi human rights</a:t>
            </a:r>
            <a:endParaRPr lang="en-US" sz="1100" dirty="0"/>
          </a:p>
        </p:txBody>
      </p:sp>
      <p:sp>
        <p:nvSpPr>
          <p:cNvPr id="17" name="Shape 15"/>
          <p:cNvSpPr/>
          <p:nvPr/>
        </p:nvSpPr>
        <p:spPr>
          <a:xfrm>
            <a:off x="5995812" y="3246120"/>
            <a:ext cx="5553060" cy="502920"/>
          </a:xfrm>
          <a:prstGeom prst="roundRect">
            <a:avLst>
              <a:gd name="adj" fmla="val 7273"/>
            </a:avLst>
          </a:prstGeom>
          <a:solidFill>
            <a:srgbClr val="F6F4FC"/>
          </a:solidFill>
          <a:ln w="9525">
            <a:solidFill>
              <a:srgbClr val="D9D5E6"/>
            </a:solidFill>
            <a:prstDash val="solid"/>
          </a:ln>
        </p:spPr>
      </p:sp>
      <p:sp>
        <p:nvSpPr>
          <p:cNvPr id="18" name="Text 16"/>
          <p:cNvSpPr txBox="1"/>
          <p:nvPr/>
        </p:nvSpPr>
        <p:spPr>
          <a:xfrm>
            <a:off x="6178692" y="3300984"/>
            <a:ext cx="1051560" cy="384048"/>
          </a:xfrm>
          <a:prstGeom prst="rect">
            <a:avLst/>
          </a:prstGeom>
          <a:noFill/>
          <a:ln/>
        </p:spPr>
        <p:txBody>
          <a:bodyPr wrap="square" lIns="0" tIns="0" rIns="0" bIns="0" rtlCol="0" anchor="t"/>
          <a:lstStyle/>
          <a:p>
            <a:pPr indent="0" marL="0">
              <a:buNone/>
            </a:pPr>
            <a:r>
              <a:rPr lang="en-US" sz="1300" b="1" dirty="0">
                <a:solidFill>
                  <a:srgbClr val="5A8637"/>
                </a:solidFill>
                <a:latin typeface="Calibri" pitchFamily="34" charset="0"/>
                <a:ea typeface="Calibri" pitchFamily="34" charset="-122"/>
                <a:cs typeface="Calibri" pitchFamily="34" charset="-120"/>
              </a:rPr>
              <a:t>Respect</a:t>
            </a:r>
            <a:endParaRPr lang="en-US" sz="1300" dirty="0"/>
          </a:p>
        </p:txBody>
      </p:sp>
      <p:sp>
        <p:nvSpPr>
          <p:cNvPr id="19" name="Text 17"/>
          <p:cNvSpPr txBox="1"/>
          <p:nvPr/>
        </p:nvSpPr>
        <p:spPr>
          <a:xfrm>
            <a:off x="7230252" y="3300984"/>
            <a:ext cx="868680" cy="384048"/>
          </a:xfrm>
          <a:prstGeom prst="rect">
            <a:avLst/>
          </a:prstGeom>
          <a:noFill/>
          <a:ln/>
        </p:spPr>
        <p:txBody>
          <a:bodyPr wrap="square" lIns="0" tIns="0" rIns="0" bIns="0" rtlCol="0" anchor="t"/>
          <a:lstStyle/>
          <a:p>
            <a:pPr indent="0" marL="0">
              <a:buNone/>
            </a:pPr>
            <a:r>
              <a:rPr lang="en-US" sz="1100" dirty="0">
                <a:solidFill>
                  <a:srgbClr val="5C5773"/>
                </a:solidFill>
                <a:latin typeface="Calibri" pitchFamily="34" charset="0"/>
                <a:ea typeface="Calibri" pitchFamily="34" charset="-122"/>
                <a:cs typeface="Calibri" pitchFamily="34" charset="-120"/>
              </a:rPr>
              <a:t>Bisnis</a:t>
            </a:r>
            <a:endParaRPr lang="en-US" sz="1100" dirty="0"/>
          </a:p>
        </p:txBody>
      </p:sp>
      <p:sp>
        <p:nvSpPr>
          <p:cNvPr id="20" name="Text 18"/>
          <p:cNvSpPr txBox="1"/>
          <p:nvPr/>
        </p:nvSpPr>
        <p:spPr>
          <a:xfrm>
            <a:off x="8144652" y="3291840"/>
            <a:ext cx="3221340" cy="420624"/>
          </a:xfrm>
          <a:prstGeom prst="rect">
            <a:avLst/>
          </a:prstGeom>
          <a:noFill/>
          <a:ln/>
        </p:spPr>
        <p:txBody>
          <a:bodyPr wrap="square" lIns="0" tIns="0" rIns="0" bIns="0" rtlCol="0" anchor="t"/>
          <a:lstStyle/>
          <a:p>
            <a:pPr indent="0" marL="0">
              <a:lnSpc>
                <a:spcPts val="1400"/>
              </a:lnSpc>
              <a:buNone/>
            </a:pPr>
            <a:r>
              <a:rPr lang="en-US" sz="1100" dirty="0">
                <a:solidFill>
                  <a:srgbClr val="231F3D"/>
                </a:solidFill>
                <a:latin typeface="Calibri" pitchFamily="34" charset="0"/>
                <a:ea typeface="Calibri" pitchFamily="34" charset="-122"/>
                <a:cs typeface="Calibri" pitchFamily="34" charset="-120"/>
              </a:rPr>
              <a:t>Tanggung jawab perusahaan menghormati human rights lewat relasi bisnisnya</a:t>
            </a:r>
            <a:endParaRPr lang="en-US" sz="1100" dirty="0"/>
          </a:p>
        </p:txBody>
      </p:sp>
      <p:sp>
        <p:nvSpPr>
          <p:cNvPr id="21" name="Shape 19"/>
          <p:cNvSpPr/>
          <p:nvPr/>
        </p:nvSpPr>
        <p:spPr>
          <a:xfrm>
            <a:off x="5995812" y="3822192"/>
            <a:ext cx="5553060" cy="502920"/>
          </a:xfrm>
          <a:prstGeom prst="roundRect">
            <a:avLst>
              <a:gd name="adj" fmla="val 7273"/>
            </a:avLst>
          </a:prstGeom>
          <a:solidFill>
            <a:srgbClr val="F6F4FC"/>
          </a:solidFill>
          <a:ln w="9525">
            <a:solidFill>
              <a:srgbClr val="D9D5E6"/>
            </a:solidFill>
            <a:prstDash val="solid"/>
          </a:ln>
        </p:spPr>
      </p:sp>
      <p:sp>
        <p:nvSpPr>
          <p:cNvPr id="22" name="Text 20"/>
          <p:cNvSpPr txBox="1"/>
          <p:nvPr/>
        </p:nvSpPr>
        <p:spPr>
          <a:xfrm>
            <a:off x="6178692" y="3877056"/>
            <a:ext cx="1051560" cy="384048"/>
          </a:xfrm>
          <a:prstGeom prst="rect">
            <a:avLst/>
          </a:prstGeom>
          <a:noFill/>
          <a:ln/>
        </p:spPr>
        <p:txBody>
          <a:bodyPr wrap="square" lIns="0" tIns="0" rIns="0" bIns="0" rtlCol="0" anchor="t"/>
          <a:lstStyle/>
          <a:p>
            <a:pPr indent="0" marL="0">
              <a:buNone/>
            </a:pPr>
            <a:r>
              <a:rPr lang="en-US" sz="1300" b="1" dirty="0">
                <a:solidFill>
                  <a:srgbClr val="5A8637"/>
                </a:solidFill>
                <a:latin typeface="Calibri" pitchFamily="34" charset="0"/>
                <a:ea typeface="Calibri" pitchFamily="34" charset="-122"/>
                <a:cs typeface="Calibri" pitchFamily="34" charset="-120"/>
              </a:rPr>
              <a:t>Remedy</a:t>
            </a:r>
            <a:endParaRPr lang="en-US" sz="1300" dirty="0"/>
          </a:p>
        </p:txBody>
      </p:sp>
      <p:sp>
        <p:nvSpPr>
          <p:cNvPr id="23" name="Text 21"/>
          <p:cNvSpPr txBox="1"/>
          <p:nvPr/>
        </p:nvSpPr>
        <p:spPr>
          <a:xfrm>
            <a:off x="7230252" y="3877056"/>
            <a:ext cx="868680" cy="384048"/>
          </a:xfrm>
          <a:prstGeom prst="rect">
            <a:avLst/>
          </a:prstGeom>
          <a:noFill/>
          <a:ln/>
        </p:spPr>
        <p:txBody>
          <a:bodyPr wrap="square" lIns="0" tIns="0" rIns="0" bIns="0" rtlCol="0" anchor="t"/>
          <a:lstStyle/>
          <a:p>
            <a:pPr indent="0" marL="0">
              <a:buNone/>
            </a:pPr>
            <a:r>
              <a:rPr lang="en-US" sz="1100" dirty="0">
                <a:solidFill>
                  <a:srgbClr val="5C5773"/>
                </a:solidFill>
                <a:latin typeface="Calibri" pitchFamily="34" charset="0"/>
                <a:ea typeface="Calibri" pitchFamily="34" charset="-122"/>
                <a:cs typeface="Calibri" pitchFamily="34" charset="-120"/>
              </a:rPr>
              <a:t>Peradilan</a:t>
            </a:r>
            <a:endParaRPr lang="en-US" sz="1100" dirty="0"/>
          </a:p>
        </p:txBody>
      </p:sp>
      <p:sp>
        <p:nvSpPr>
          <p:cNvPr id="24" name="Text 22"/>
          <p:cNvSpPr txBox="1"/>
          <p:nvPr/>
        </p:nvSpPr>
        <p:spPr>
          <a:xfrm>
            <a:off x="8144652" y="3867912"/>
            <a:ext cx="3221340" cy="420624"/>
          </a:xfrm>
          <a:prstGeom prst="rect">
            <a:avLst/>
          </a:prstGeom>
          <a:noFill/>
          <a:ln/>
        </p:spPr>
        <p:txBody>
          <a:bodyPr wrap="square" lIns="0" tIns="0" rIns="0" bIns="0" rtlCol="0" anchor="t"/>
          <a:lstStyle/>
          <a:p>
            <a:pPr indent="0" marL="0">
              <a:lnSpc>
                <a:spcPts val="1400"/>
              </a:lnSpc>
              <a:buNone/>
            </a:pPr>
            <a:r>
              <a:rPr lang="en-US" sz="1100" dirty="0">
                <a:solidFill>
                  <a:srgbClr val="231F3D"/>
                </a:solidFill>
                <a:latin typeface="Calibri" pitchFamily="34" charset="0"/>
                <a:ea typeface="Calibri" pitchFamily="34" charset="-122"/>
                <a:cs typeface="Calibri" pitchFamily="34" charset="-120"/>
              </a:rPr>
              <a:t>Akses pemulihan untuk korban pelanggaran yang terkait bisnis</a:t>
            </a:r>
            <a:endParaRPr lang="en-US" sz="1100" dirty="0"/>
          </a:p>
        </p:txBody>
      </p:sp>
      <p:sp>
        <p:nvSpPr>
          <p:cNvPr id="25" name="Shape 23"/>
          <p:cNvSpPr/>
          <p:nvPr/>
        </p:nvSpPr>
        <p:spPr>
          <a:xfrm>
            <a:off x="640080" y="4590288"/>
            <a:ext cx="10908792" cy="1298448"/>
          </a:xfrm>
          <a:prstGeom prst="roundRect">
            <a:avLst>
              <a:gd name="adj" fmla="val 2817"/>
            </a:avLst>
          </a:prstGeom>
          <a:solidFill>
            <a:srgbClr val="EEEBF8"/>
          </a:solidFill>
          <a:ln w="9525">
            <a:solidFill>
              <a:srgbClr val="D9D5E6"/>
            </a:solidFill>
            <a:prstDash val="solid"/>
          </a:ln>
        </p:spPr>
      </p:sp>
      <p:sp>
        <p:nvSpPr>
          <p:cNvPr id="26" name="Text 24"/>
          <p:cNvSpPr txBox="1"/>
          <p:nvPr/>
        </p:nvSpPr>
        <p:spPr>
          <a:xfrm>
            <a:off x="960120" y="4718304"/>
            <a:ext cx="10268712" cy="237744"/>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Tiga pasal UDHR yang paling relevan untuk bisnis</a:t>
            </a:r>
            <a:endParaRPr lang="en-US" sz="1200" dirty="0"/>
          </a:p>
        </p:txBody>
      </p:sp>
      <p:sp>
        <p:nvSpPr>
          <p:cNvPr id="27" name="Text 25"/>
          <p:cNvSpPr txBox="1"/>
          <p:nvPr/>
        </p:nvSpPr>
        <p:spPr>
          <a:xfrm>
            <a:off x="960120" y="4992624"/>
            <a:ext cx="10268712" cy="82296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Pasal 12: privasi pekerja dan pelanggan     </a:t>
            </a:r>
            <a:endParaRPr lang="en-US" sz="1150" dirty="0"/>
          </a:p>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Pasal 20: kebebasan berkumpul dan berserikat, yang berkaitan dengan serikat pekerja</a:t>
            </a:r>
            <a:endParaRPr lang="en-US" sz="1150" dirty="0"/>
          </a:p>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Pasal 23: hak atas pekerjaan, kondisi kerja yang adil, perlindungan dari pengangguran dan upah yang sama</a:t>
            </a:r>
            <a:endParaRPr lang="en-US" sz="1150" dirty="0"/>
          </a:p>
        </p:txBody>
      </p:sp>
      <p:sp>
        <p:nvSpPr>
          <p:cNvPr id="28" name="Text 26"/>
          <p:cNvSpPr txBox="1"/>
          <p:nvPr/>
        </p:nvSpPr>
        <p:spPr>
          <a:xfrm>
            <a:off x="640080" y="5961888"/>
            <a:ext cx="10908792" cy="274320"/>
          </a:xfrm>
          <a:prstGeom prst="rect">
            <a:avLst/>
          </a:prstGeom>
          <a:noFill/>
          <a:ln/>
        </p:spPr>
        <p:txBody>
          <a:bodyPr wrap="square" lIns="0" tIns="0" rIns="0" bIns="0" rtlCol="0" anchor="t"/>
          <a:lstStyle/>
          <a:p>
            <a:pPr indent="0" marL="0">
              <a:lnSpc>
                <a:spcPts val="1500"/>
              </a:lnSpc>
              <a:buNone/>
            </a:pPr>
            <a:r>
              <a:rPr lang="en-US" sz="1150" i="1" dirty="0">
                <a:solidFill>
                  <a:srgbClr val="2E2566"/>
                </a:solidFill>
                <a:latin typeface="Calibri" pitchFamily="34" charset="0"/>
                <a:ea typeface="Calibri" pitchFamily="34" charset="-122"/>
                <a:cs typeface="Calibri" pitchFamily="34" charset="-120"/>
              </a:rPr>
              <a:t>Penerapan pada Ethical Dilemma 3: mempekerjakan anak melanggar hak atas pendidikan dan hak atas kebebasan memberi persetujuan.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Teori 5  ·  Principle-based</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Justice dan social contract: John Rawls</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11064240" y="658368"/>
            <a:ext cx="457200" cy="457200"/>
          </a:xfrm>
          <a:prstGeom prst="ellipse">
            <a:avLst/>
          </a:prstGeom>
          <a:solidFill>
            <a:srgbClr val="2C8072"/>
          </a:solidFill>
          <a:ln/>
        </p:spPr>
      </p:sp>
      <p:sp>
        <p:nvSpPr>
          <p:cNvPr id="6" name="Text 4"/>
          <p:cNvSpPr txBox="1"/>
          <p:nvPr/>
        </p:nvSpPr>
        <p:spPr>
          <a:xfrm>
            <a:off x="11064240" y="658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7" name="Shape 5"/>
          <p:cNvSpPr/>
          <p:nvPr/>
        </p:nvSpPr>
        <p:spPr>
          <a:xfrm>
            <a:off x="640080" y="1517904"/>
            <a:ext cx="4581693" cy="1700784"/>
          </a:xfrm>
          <a:prstGeom prst="roundRect">
            <a:avLst>
              <a:gd name="adj" fmla="val 2151"/>
            </a:avLst>
          </a:prstGeom>
          <a:solidFill>
            <a:srgbClr val="F6F4FC"/>
          </a:solidFill>
          <a:ln w="9525">
            <a:solidFill>
              <a:srgbClr val="D9D5E6"/>
            </a:solidFill>
            <a:prstDash val="solid"/>
          </a:ln>
        </p:spPr>
      </p:sp>
      <p:sp>
        <p:nvSpPr>
          <p:cNvPr id="8" name="Text 6"/>
          <p:cNvSpPr txBox="1"/>
          <p:nvPr/>
        </p:nvSpPr>
        <p:spPr>
          <a:xfrm>
            <a:off x="914400" y="1645920"/>
            <a:ext cx="4033053" cy="237744"/>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Dua cara memandang keadilan</a:t>
            </a:r>
            <a:endParaRPr lang="en-US" sz="1200" dirty="0"/>
          </a:p>
        </p:txBody>
      </p:sp>
      <p:sp>
        <p:nvSpPr>
          <p:cNvPr id="9" name="Text 7"/>
          <p:cNvSpPr txBox="1"/>
          <p:nvPr/>
        </p:nvSpPr>
        <p:spPr>
          <a:xfrm>
            <a:off x="914400" y="1956816"/>
            <a:ext cx="3987333" cy="120700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31F3D"/>
                </a:solidFill>
                <a:latin typeface="Calibri" pitchFamily="34" charset="0"/>
                <a:ea typeface="Calibri" pitchFamily="34" charset="-122"/>
                <a:cs typeface="Calibri" pitchFamily="34" charset="-120"/>
              </a:rPr>
              <a:t>Fair procedures: apakah setiap orang bebas memperoleh imbalan atas usahanya (Boatright, 2014)</a:t>
            </a:r>
            <a:endParaRPr lang="en-US" sz="1200" dirty="0"/>
          </a:p>
          <a:p>
            <a:pPr marL="342900" indent="-342900">
              <a:spcAft>
                <a:spcPts val="500"/>
              </a:spcAft>
              <a:buSzPct val="100000"/>
              <a:buChar char="•"/>
            </a:pPr>
            <a:r>
              <a:rPr lang="en-US" sz="1200" dirty="0">
                <a:solidFill>
                  <a:srgbClr val="231F3D"/>
                </a:solidFill>
                <a:latin typeface="Calibri" pitchFamily="34" charset="0"/>
                <a:ea typeface="Calibri" pitchFamily="34" charset="-122"/>
                <a:cs typeface="Calibri" pitchFamily="34" charset="-120"/>
              </a:rPr>
              <a:t>Fair outcomes: apakah konsekuensinya terdistribusi adil menurut kebutuhan atau merit</a:t>
            </a:r>
            <a:endParaRPr lang="en-US" sz="1200" dirty="0"/>
          </a:p>
        </p:txBody>
      </p:sp>
      <p:sp>
        <p:nvSpPr>
          <p:cNvPr id="10" name="Shape 8"/>
          <p:cNvSpPr/>
          <p:nvPr/>
        </p:nvSpPr>
        <p:spPr>
          <a:xfrm>
            <a:off x="5450373" y="1517904"/>
            <a:ext cx="6098499" cy="1700784"/>
          </a:xfrm>
          <a:prstGeom prst="roundRect">
            <a:avLst>
              <a:gd name="adj" fmla="val 2151"/>
            </a:avLst>
          </a:prstGeom>
          <a:solidFill>
            <a:srgbClr val="EEEBF8"/>
          </a:solidFill>
          <a:ln w="9525">
            <a:solidFill>
              <a:srgbClr val="D9D5E6"/>
            </a:solidFill>
            <a:prstDash val="solid"/>
          </a:ln>
        </p:spPr>
      </p:sp>
      <p:sp>
        <p:nvSpPr>
          <p:cNvPr id="11" name="Text 9"/>
          <p:cNvSpPr txBox="1"/>
          <p:nvPr/>
        </p:nvSpPr>
        <p:spPr>
          <a:xfrm>
            <a:off x="5724693" y="1645920"/>
            <a:ext cx="5549859"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Veil of ignorance</a:t>
            </a:r>
            <a:endParaRPr lang="en-US" sz="1200" dirty="0"/>
          </a:p>
        </p:txBody>
      </p:sp>
      <p:sp>
        <p:nvSpPr>
          <p:cNvPr id="12" name="Text 10"/>
          <p:cNvSpPr txBox="1"/>
          <p:nvPr/>
        </p:nvSpPr>
        <p:spPr>
          <a:xfrm>
            <a:off x="5724693" y="1938528"/>
            <a:ext cx="5504139" cy="1207008"/>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Bayangkan orang-orang yang setara, bebas dan rasional, namun tidak mengetahui peran apa yang akan mereka tempati dalam masyarakat. Mereka dapat menjadi petugas kebersihan, balerina, pengidap penyakit terminal, seorang ratu, orang kaya atau miskin. Ketidaktahuan tersebut memaksa mereka bersikap adil karena harus memutuskan dari perspektif seluruh orang sekaligus.</a:t>
            </a:r>
            <a:endParaRPr lang="en-US" sz="1150" dirty="0"/>
          </a:p>
        </p:txBody>
      </p:sp>
      <p:sp>
        <p:nvSpPr>
          <p:cNvPr id="13" name="Text 11"/>
          <p:cNvSpPr txBox="1"/>
          <p:nvPr/>
        </p:nvSpPr>
        <p:spPr>
          <a:xfrm>
            <a:off x="640080" y="3346704"/>
            <a:ext cx="10908792" cy="274320"/>
          </a:xfrm>
          <a:prstGeom prst="rect">
            <a:avLst/>
          </a:prstGeom>
          <a:noFill/>
          <a:ln/>
        </p:spPr>
        <p:txBody>
          <a:bodyPr wrap="square" lIns="0" tIns="0" rIns="0" bIns="0" rtlCol="0" anchor="t"/>
          <a:lstStyle/>
          <a:p>
            <a:pPr indent="0" marL="0">
              <a:buNone/>
            </a:pPr>
            <a:r>
              <a:rPr lang="en-US" sz="1400" b="1" dirty="0">
                <a:solidFill>
                  <a:srgbClr val="2E2566"/>
                </a:solidFill>
                <a:latin typeface="Calibri" pitchFamily="34" charset="0"/>
                <a:ea typeface="Calibri" pitchFamily="34" charset="-122"/>
                <a:cs typeface="Calibri" pitchFamily="34" charset="-120"/>
              </a:rPr>
              <a:t>Dua kriteria masyarakat yang adil</a:t>
            </a:r>
            <a:endParaRPr lang="en-US" sz="1400" dirty="0"/>
          </a:p>
        </p:txBody>
      </p:sp>
      <p:sp>
        <p:nvSpPr>
          <p:cNvPr id="14" name="Shape 12"/>
          <p:cNvSpPr/>
          <p:nvPr/>
        </p:nvSpPr>
        <p:spPr>
          <a:xfrm>
            <a:off x="640080" y="3657600"/>
            <a:ext cx="5317236" cy="1572768"/>
          </a:xfrm>
          <a:prstGeom prst="roundRect">
            <a:avLst>
              <a:gd name="adj" fmla="val 2326"/>
            </a:avLst>
          </a:prstGeom>
          <a:solidFill>
            <a:srgbClr val="EEEBF8"/>
          </a:solidFill>
          <a:ln w="9525">
            <a:solidFill>
              <a:srgbClr val="D9D5E6"/>
            </a:solidFill>
            <a:prstDash val="solid"/>
          </a:ln>
        </p:spPr>
      </p:sp>
      <p:sp>
        <p:nvSpPr>
          <p:cNvPr id="15" name="Text 13"/>
          <p:cNvSpPr txBox="1"/>
          <p:nvPr/>
        </p:nvSpPr>
        <p:spPr>
          <a:xfrm>
            <a:off x="914400" y="3767328"/>
            <a:ext cx="4905756" cy="237744"/>
          </a:xfrm>
          <a:prstGeom prst="rect">
            <a:avLst/>
          </a:prstGeom>
          <a:noFill/>
          <a:ln/>
        </p:spPr>
        <p:txBody>
          <a:bodyPr wrap="square" lIns="0" tIns="0" rIns="0" bIns="0" rtlCol="0" anchor="t"/>
          <a:lstStyle/>
          <a:p>
            <a:pPr indent="0" marL="0">
              <a:buNone/>
            </a:pPr>
            <a:r>
              <a:rPr lang="en-US" sz="1250" b="1" dirty="0">
                <a:solidFill>
                  <a:srgbClr val="2C8072"/>
                </a:solidFill>
                <a:latin typeface="Calibri" pitchFamily="34" charset="0"/>
                <a:ea typeface="Calibri" pitchFamily="34" charset="-122"/>
                <a:cs typeface="Calibri" pitchFamily="34" charset="-120"/>
              </a:rPr>
              <a:t>Kriteria 1</a:t>
            </a:r>
            <a:endParaRPr lang="en-US" sz="1250" dirty="0"/>
          </a:p>
        </p:txBody>
      </p:sp>
      <p:sp>
        <p:nvSpPr>
          <p:cNvPr id="16" name="Text 14"/>
          <p:cNvSpPr txBox="1"/>
          <p:nvPr/>
        </p:nvSpPr>
        <p:spPr>
          <a:xfrm>
            <a:off x="914400" y="4041648"/>
            <a:ext cx="4860036" cy="658368"/>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Setiap orang memiliki hak yang setara atas sistem kebebasan dasar paling luas yang kompatibel dengan sistem kebebasan serupa untuk semua orang.</a:t>
            </a:r>
            <a:endParaRPr lang="en-US" sz="1150" dirty="0"/>
          </a:p>
        </p:txBody>
      </p:sp>
      <p:sp>
        <p:nvSpPr>
          <p:cNvPr id="17" name="Text 15"/>
          <p:cNvSpPr txBox="1"/>
          <p:nvPr/>
        </p:nvSpPr>
        <p:spPr>
          <a:xfrm>
            <a:off x="914400" y="4718304"/>
            <a:ext cx="4860036" cy="457200"/>
          </a:xfrm>
          <a:prstGeom prst="rect">
            <a:avLst/>
          </a:prstGeom>
          <a:noFill/>
          <a:ln/>
        </p:spPr>
        <p:txBody>
          <a:bodyPr wrap="square" lIns="0" tIns="0" rIns="0" bIns="0" rtlCol="0" anchor="t"/>
          <a:lstStyle/>
          <a:p>
            <a:pPr indent="0" marL="0">
              <a:lnSpc>
                <a:spcPts val="1400"/>
              </a:lnSpc>
              <a:buNone/>
            </a:pPr>
            <a:r>
              <a:rPr lang="en-US" sz="1050" i="1" dirty="0">
                <a:solidFill>
                  <a:srgbClr val="5C5773"/>
                </a:solidFill>
                <a:latin typeface="Calibri" pitchFamily="34" charset="0"/>
                <a:ea typeface="Calibri" pitchFamily="34" charset="-122"/>
                <a:cs typeface="Calibri" pitchFamily="34" charset="-120"/>
              </a:rPr>
              <a:t>Bersifat fondasional. Kebebasan dasar harus terwujud sama rata sebelum ketimpangan apa pun boleh dibenarkan.</a:t>
            </a:r>
            <a:endParaRPr lang="en-US" sz="1050" dirty="0"/>
          </a:p>
        </p:txBody>
      </p:sp>
      <p:sp>
        <p:nvSpPr>
          <p:cNvPr id="18" name="Shape 16"/>
          <p:cNvSpPr/>
          <p:nvPr/>
        </p:nvSpPr>
        <p:spPr>
          <a:xfrm>
            <a:off x="6231636" y="3657600"/>
            <a:ext cx="5317236" cy="1572768"/>
          </a:xfrm>
          <a:prstGeom prst="roundRect">
            <a:avLst>
              <a:gd name="adj" fmla="val 2326"/>
            </a:avLst>
          </a:prstGeom>
          <a:solidFill>
            <a:srgbClr val="F6F4FC"/>
          </a:solidFill>
          <a:ln w="9525">
            <a:solidFill>
              <a:srgbClr val="D9D5E6"/>
            </a:solidFill>
            <a:prstDash val="solid"/>
          </a:ln>
        </p:spPr>
      </p:sp>
      <p:sp>
        <p:nvSpPr>
          <p:cNvPr id="19" name="Text 17"/>
          <p:cNvSpPr txBox="1"/>
          <p:nvPr/>
        </p:nvSpPr>
        <p:spPr>
          <a:xfrm>
            <a:off x="6505956" y="3767328"/>
            <a:ext cx="4905756" cy="237744"/>
          </a:xfrm>
          <a:prstGeom prst="rect">
            <a:avLst/>
          </a:prstGeom>
          <a:noFill/>
          <a:ln/>
        </p:spPr>
        <p:txBody>
          <a:bodyPr wrap="square" lIns="0" tIns="0" rIns="0" bIns="0" rtlCol="0" anchor="t"/>
          <a:lstStyle/>
          <a:p>
            <a:pPr indent="0" marL="0">
              <a:buNone/>
            </a:pPr>
            <a:r>
              <a:rPr lang="en-US" sz="1250" b="1" dirty="0">
                <a:solidFill>
                  <a:srgbClr val="2C8072"/>
                </a:solidFill>
                <a:latin typeface="Calibri" pitchFamily="34" charset="0"/>
                <a:ea typeface="Calibri" pitchFamily="34" charset="-122"/>
                <a:cs typeface="Calibri" pitchFamily="34" charset="-120"/>
              </a:rPr>
              <a:t>Kriteria 2</a:t>
            </a:r>
            <a:endParaRPr lang="en-US" sz="1250" dirty="0"/>
          </a:p>
        </p:txBody>
      </p:sp>
      <p:sp>
        <p:nvSpPr>
          <p:cNvPr id="20" name="Text 18"/>
          <p:cNvSpPr txBox="1"/>
          <p:nvPr/>
        </p:nvSpPr>
        <p:spPr>
          <a:xfrm>
            <a:off x="6505956" y="4041648"/>
            <a:ext cx="4860036" cy="658368"/>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Ketimpangan diatur sehingga memberi manfaat terbesar untuk pihak yang paling tidak beruntung, dan melekat pada jabatan yang terbuka untuk semua.</a:t>
            </a:r>
            <a:endParaRPr lang="en-US" sz="1150" dirty="0"/>
          </a:p>
        </p:txBody>
      </p:sp>
      <p:sp>
        <p:nvSpPr>
          <p:cNvPr id="21" name="Text 19"/>
          <p:cNvSpPr txBox="1"/>
          <p:nvPr/>
        </p:nvSpPr>
        <p:spPr>
          <a:xfrm>
            <a:off x="6505956" y="4718304"/>
            <a:ext cx="4860036" cy="457200"/>
          </a:xfrm>
          <a:prstGeom prst="rect">
            <a:avLst/>
          </a:prstGeom>
          <a:noFill/>
          <a:ln/>
        </p:spPr>
        <p:txBody>
          <a:bodyPr wrap="square" lIns="0" tIns="0" rIns="0" bIns="0" rtlCol="0" anchor="t"/>
          <a:lstStyle/>
          <a:p>
            <a:pPr indent="0" marL="0">
              <a:lnSpc>
                <a:spcPts val="1400"/>
              </a:lnSpc>
              <a:buNone/>
            </a:pPr>
            <a:r>
              <a:rPr lang="en-US" sz="1050" i="1" dirty="0">
                <a:solidFill>
                  <a:srgbClr val="5C5773"/>
                </a:solidFill>
                <a:latin typeface="Calibri" pitchFamily="34" charset="0"/>
                <a:ea typeface="Calibri" pitchFamily="34" charset="-122"/>
                <a:cs typeface="Calibri" pitchFamily="34" charset="-120"/>
              </a:rPr>
              <a:t>Disebut difference principle dan equal opportunity. Gaji tinggi pemimpin dapat diterima bila karyawan terbawah ikut lebih baik.</a:t>
            </a:r>
            <a:endParaRPr lang="en-US" sz="1050" dirty="0"/>
          </a:p>
        </p:txBody>
      </p:sp>
      <p:sp>
        <p:nvSpPr>
          <p:cNvPr id="22" name="Shape 20"/>
          <p:cNvSpPr/>
          <p:nvPr/>
        </p:nvSpPr>
        <p:spPr>
          <a:xfrm>
            <a:off x="640080" y="5358384"/>
            <a:ext cx="10908792" cy="786384"/>
          </a:xfrm>
          <a:prstGeom prst="roundRect">
            <a:avLst>
              <a:gd name="adj" fmla="val 4651"/>
            </a:avLst>
          </a:prstGeom>
          <a:solidFill>
            <a:srgbClr val="F6F4FC"/>
          </a:solidFill>
          <a:ln w="9525">
            <a:solidFill>
              <a:srgbClr val="D9D5E6"/>
            </a:solidFill>
            <a:prstDash val="solid"/>
          </a:ln>
        </p:spPr>
      </p:sp>
      <p:sp>
        <p:nvSpPr>
          <p:cNvPr id="23" name="Text 21"/>
          <p:cNvSpPr txBox="1"/>
          <p:nvPr/>
        </p:nvSpPr>
        <p:spPr>
          <a:xfrm>
            <a:off x="960120" y="5486400"/>
            <a:ext cx="10268712" cy="566928"/>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Penerapan pada Ethical Dilemma 3: anak-anak tidak memiliki kebebasan dasar yang sama karena tidak memperoleh pendidikan. Tanpa pendidikan mereka juga tidak memiliki peluang realistis mencapai posisi pihak yang lebih beruntung, sehingga syarat kesetaraan kesempatan tidak terpenuhi.</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2</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Enam kritik terhadap teori Western modernist</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640080" y="1481328"/>
            <a:ext cx="10908792" cy="347472"/>
          </a:xfrm>
          <a:prstGeom prst="rect">
            <a:avLst/>
          </a:prstGeom>
          <a:noFill/>
          <a:ln/>
        </p:spPr>
        <p:txBody>
          <a:bodyPr wrap="square" lIns="0" tIns="0" rIns="0" bIns="0" rtlCol="0" anchor="t"/>
          <a:lstStyle/>
          <a:p>
            <a:pPr indent="0" marL="0">
              <a:lnSpc>
                <a:spcPts val="2000"/>
              </a:lnSpc>
              <a:buNone/>
            </a:pPr>
            <a:r>
              <a:rPr lang="en-US" sz="1400" dirty="0">
                <a:solidFill>
                  <a:srgbClr val="231F3D"/>
                </a:solidFill>
                <a:latin typeface="Calibri" pitchFamily="34" charset="0"/>
                <a:ea typeface="Calibri" pitchFamily="34" charset="-122"/>
                <a:cs typeface="Calibri" pitchFamily="34" charset="-120"/>
              </a:rPr>
              <a:t>Teori-teori tersebut menyajikan pandangan yang komprehensif, namun pandangan dunianya hanya menyajikan satu aspek kehidupan manusia sedangkan realitas jauh lebih kompleks.</a:t>
            </a:r>
            <a:endParaRPr lang="en-US" sz="1400" dirty="0"/>
          </a:p>
        </p:txBody>
      </p:sp>
      <p:sp>
        <p:nvSpPr>
          <p:cNvPr id="6" name="Shape 4"/>
          <p:cNvSpPr/>
          <p:nvPr/>
        </p:nvSpPr>
        <p:spPr>
          <a:xfrm>
            <a:off x="640080" y="2103120"/>
            <a:ext cx="3483864" cy="1737360"/>
          </a:xfrm>
          <a:prstGeom prst="roundRect">
            <a:avLst>
              <a:gd name="adj" fmla="val 2105"/>
            </a:avLst>
          </a:prstGeom>
          <a:solidFill>
            <a:srgbClr val="F6F4FC"/>
          </a:solidFill>
          <a:ln w="9525">
            <a:solidFill>
              <a:srgbClr val="D9D5E6"/>
            </a:solidFill>
            <a:prstDash val="solid"/>
          </a:ln>
        </p:spPr>
      </p:sp>
      <p:sp>
        <p:nvSpPr>
          <p:cNvPr id="7" name="Shape 5"/>
          <p:cNvSpPr/>
          <p:nvPr/>
        </p:nvSpPr>
        <p:spPr>
          <a:xfrm>
            <a:off x="859536" y="2304288"/>
            <a:ext cx="347472" cy="347472"/>
          </a:xfrm>
          <a:prstGeom prst="ellipse">
            <a:avLst/>
          </a:prstGeom>
          <a:solidFill>
            <a:srgbClr val="B96A2C"/>
          </a:solidFill>
          <a:ln/>
        </p:spPr>
      </p:sp>
      <p:sp>
        <p:nvSpPr>
          <p:cNvPr id="8" name="Text 6"/>
          <p:cNvSpPr txBox="1"/>
          <p:nvPr/>
        </p:nvSpPr>
        <p:spPr>
          <a:xfrm>
            <a:off x="859536" y="23042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280160" y="2322576"/>
            <a:ext cx="2615184" cy="292608"/>
          </a:xfrm>
          <a:prstGeom prst="rect">
            <a:avLst/>
          </a:prstGeom>
          <a:noFill/>
          <a:ln/>
        </p:spPr>
        <p:txBody>
          <a:bodyPr wrap="square" lIns="0" tIns="0" rIns="0" bIns="0" rtlCol="0" anchor="t"/>
          <a:lstStyle/>
          <a:p>
            <a:pPr indent="0" marL="0">
              <a:buNone/>
            </a:pPr>
            <a:r>
              <a:rPr lang="en-US" sz="1400" b="1" dirty="0">
                <a:solidFill>
                  <a:srgbClr val="2E2566"/>
                </a:solidFill>
                <a:latin typeface="Calibri" pitchFamily="34" charset="0"/>
                <a:ea typeface="Calibri" pitchFamily="34" charset="-122"/>
                <a:cs typeface="Calibri" pitchFamily="34" charset="-120"/>
              </a:rPr>
              <a:t>Too abstract</a:t>
            </a:r>
            <a:endParaRPr lang="en-US" sz="1400" dirty="0"/>
          </a:p>
        </p:txBody>
      </p:sp>
      <p:sp>
        <p:nvSpPr>
          <p:cNvPr id="10" name="Text 8"/>
          <p:cNvSpPr txBox="1"/>
          <p:nvPr/>
        </p:nvSpPr>
        <p:spPr>
          <a:xfrm>
            <a:off x="859536" y="2724912"/>
            <a:ext cx="3044952" cy="237744"/>
          </a:xfrm>
          <a:prstGeom prst="rect">
            <a:avLst/>
          </a:prstGeom>
          <a:noFill/>
          <a:ln/>
        </p:spPr>
        <p:txBody>
          <a:bodyPr wrap="square" lIns="0" tIns="0" rIns="0" bIns="0" rtlCol="0" anchor="t"/>
          <a:lstStyle/>
          <a:p>
            <a:pPr indent="0" marL="0">
              <a:buNone/>
            </a:pPr>
            <a:r>
              <a:rPr lang="en-US" sz="1050" i="1" dirty="0">
                <a:solidFill>
                  <a:srgbClr val="5C5773"/>
                </a:solidFill>
                <a:latin typeface="Calibri" pitchFamily="34" charset="0"/>
                <a:ea typeface="Calibri" pitchFamily="34" charset="-122"/>
                <a:cs typeface="Calibri" pitchFamily="34" charset="-120"/>
              </a:rPr>
              <a:t>Stark (1994) dan Brenkert (2010)</a:t>
            </a:r>
            <a:endParaRPr lang="en-US" sz="1050" dirty="0"/>
          </a:p>
        </p:txBody>
      </p:sp>
      <p:sp>
        <p:nvSpPr>
          <p:cNvPr id="11" name="Text 9"/>
          <p:cNvSpPr txBox="1"/>
          <p:nvPr/>
        </p:nvSpPr>
        <p:spPr>
          <a:xfrm>
            <a:off x="859536" y="2999232"/>
            <a:ext cx="3044952" cy="77724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Terlalu teoretis untuk keprihatinan sehari-hari manajer. Manajer tidak akan menerapkan prinsip abstrak dari filsuf yang sudah lama meninggal.</a:t>
            </a:r>
            <a:endParaRPr lang="en-US" sz="1150" dirty="0"/>
          </a:p>
        </p:txBody>
      </p:sp>
      <p:sp>
        <p:nvSpPr>
          <p:cNvPr id="12" name="Shape 10"/>
          <p:cNvSpPr/>
          <p:nvPr/>
        </p:nvSpPr>
        <p:spPr>
          <a:xfrm>
            <a:off x="4352544" y="2103120"/>
            <a:ext cx="3483864" cy="1737360"/>
          </a:xfrm>
          <a:prstGeom prst="roundRect">
            <a:avLst>
              <a:gd name="adj" fmla="val 2105"/>
            </a:avLst>
          </a:prstGeom>
          <a:solidFill>
            <a:srgbClr val="F6F4FC"/>
          </a:solidFill>
          <a:ln w="9525">
            <a:solidFill>
              <a:srgbClr val="D9D5E6"/>
            </a:solidFill>
            <a:prstDash val="solid"/>
          </a:ln>
        </p:spPr>
      </p:sp>
      <p:sp>
        <p:nvSpPr>
          <p:cNvPr id="13" name="Shape 11"/>
          <p:cNvSpPr/>
          <p:nvPr/>
        </p:nvSpPr>
        <p:spPr>
          <a:xfrm>
            <a:off x="4572000" y="2304288"/>
            <a:ext cx="347472" cy="347472"/>
          </a:xfrm>
          <a:prstGeom prst="ellipse">
            <a:avLst/>
          </a:prstGeom>
          <a:solidFill>
            <a:srgbClr val="9C8226"/>
          </a:solidFill>
          <a:ln/>
        </p:spPr>
      </p:sp>
      <p:sp>
        <p:nvSpPr>
          <p:cNvPr id="14" name="Text 12"/>
          <p:cNvSpPr txBox="1"/>
          <p:nvPr/>
        </p:nvSpPr>
        <p:spPr>
          <a:xfrm>
            <a:off x="4572000" y="23042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4992624" y="2322576"/>
            <a:ext cx="2615184" cy="292608"/>
          </a:xfrm>
          <a:prstGeom prst="rect">
            <a:avLst/>
          </a:prstGeom>
          <a:noFill/>
          <a:ln/>
        </p:spPr>
        <p:txBody>
          <a:bodyPr wrap="square" lIns="0" tIns="0" rIns="0" bIns="0" rtlCol="0" anchor="t"/>
          <a:lstStyle/>
          <a:p>
            <a:pPr indent="0" marL="0">
              <a:buNone/>
            </a:pPr>
            <a:r>
              <a:rPr lang="en-US" sz="1400" b="1" dirty="0">
                <a:solidFill>
                  <a:srgbClr val="2E2566"/>
                </a:solidFill>
                <a:latin typeface="Calibri" pitchFamily="34" charset="0"/>
                <a:ea typeface="Calibri" pitchFamily="34" charset="-122"/>
                <a:cs typeface="Calibri" pitchFamily="34" charset="-120"/>
              </a:rPr>
              <a:t>Too narrow</a:t>
            </a:r>
            <a:endParaRPr lang="en-US" sz="1400" dirty="0"/>
          </a:p>
        </p:txBody>
      </p:sp>
      <p:sp>
        <p:nvSpPr>
          <p:cNvPr id="16" name="Text 14"/>
          <p:cNvSpPr txBox="1"/>
          <p:nvPr/>
        </p:nvSpPr>
        <p:spPr>
          <a:xfrm>
            <a:off x="4572000" y="2724912"/>
            <a:ext cx="3044952" cy="237744"/>
          </a:xfrm>
          <a:prstGeom prst="rect">
            <a:avLst/>
          </a:prstGeom>
          <a:noFill/>
          <a:ln/>
        </p:spPr>
        <p:txBody>
          <a:bodyPr wrap="square" lIns="0" tIns="0" rIns="0" bIns="0" rtlCol="0" anchor="t"/>
          <a:lstStyle/>
          <a:p>
            <a:pPr indent="0" marL="0">
              <a:buNone/>
            </a:pPr>
            <a:r>
              <a:rPr lang="en-US" sz="1050" i="1" dirty="0">
                <a:solidFill>
                  <a:srgbClr val="5C5773"/>
                </a:solidFill>
                <a:latin typeface="Calibri" pitchFamily="34" charset="0"/>
                <a:ea typeface="Calibri" pitchFamily="34" charset="-122"/>
                <a:cs typeface="Calibri" pitchFamily="34" charset="-120"/>
              </a:rPr>
              <a:t>Crane et al. (2019)</a:t>
            </a:r>
            <a:endParaRPr lang="en-US" sz="1050" dirty="0"/>
          </a:p>
        </p:txBody>
      </p:sp>
      <p:sp>
        <p:nvSpPr>
          <p:cNvPr id="17" name="Text 15"/>
          <p:cNvSpPr txBox="1"/>
          <p:nvPr/>
        </p:nvSpPr>
        <p:spPr>
          <a:xfrm>
            <a:off x="4572000" y="2999232"/>
            <a:ext cx="3044952" cy="77724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Setiap teori berfokus pada satu aspek moralitas. Kenapa harus memilih akibat, kewajiban, keadilan atau hak, padahal seluruhnya penting?</a:t>
            </a:r>
            <a:endParaRPr lang="en-US" sz="1150" dirty="0"/>
          </a:p>
        </p:txBody>
      </p:sp>
      <p:sp>
        <p:nvSpPr>
          <p:cNvPr id="18" name="Shape 16"/>
          <p:cNvSpPr/>
          <p:nvPr/>
        </p:nvSpPr>
        <p:spPr>
          <a:xfrm>
            <a:off x="8065008" y="2103120"/>
            <a:ext cx="3483864" cy="1737360"/>
          </a:xfrm>
          <a:prstGeom prst="roundRect">
            <a:avLst>
              <a:gd name="adj" fmla="val 2105"/>
            </a:avLst>
          </a:prstGeom>
          <a:solidFill>
            <a:srgbClr val="F6F4FC"/>
          </a:solidFill>
          <a:ln w="9525">
            <a:solidFill>
              <a:srgbClr val="D9D5E6"/>
            </a:solidFill>
            <a:prstDash val="solid"/>
          </a:ln>
        </p:spPr>
      </p:sp>
      <p:sp>
        <p:nvSpPr>
          <p:cNvPr id="19" name="Shape 17"/>
          <p:cNvSpPr/>
          <p:nvPr/>
        </p:nvSpPr>
        <p:spPr>
          <a:xfrm>
            <a:off x="8284464" y="2304288"/>
            <a:ext cx="347472" cy="347472"/>
          </a:xfrm>
          <a:prstGeom prst="ellipse">
            <a:avLst/>
          </a:prstGeom>
          <a:solidFill>
            <a:srgbClr val="5A8637"/>
          </a:solidFill>
          <a:ln/>
        </p:spPr>
      </p:sp>
      <p:sp>
        <p:nvSpPr>
          <p:cNvPr id="20" name="Text 18"/>
          <p:cNvSpPr txBox="1"/>
          <p:nvPr/>
        </p:nvSpPr>
        <p:spPr>
          <a:xfrm>
            <a:off x="8284464" y="23042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txBox="1"/>
          <p:nvPr/>
        </p:nvSpPr>
        <p:spPr>
          <a:xfrm>
            <a:off x="8705088" y="2322576"/>
            <a:ext cx="2615184" cy="292608"/>
          </a:xfrm>
          <a:prstGeom prst="rect">
            <a:avLst/>
          </a:prstGeom>
          <a:noFill/>
          <a:ln/>
        </p:spPr>
        <p:txBody>
          <a:bodyPr wrap="square" lIns="0" tIns="0" rIns="0" bIns="0" rtlCol="0" anchor="t"/>
          <a:lstStyle/>
          <a:p>
            <a:pPr indent="0" marL="0">
              <a:buNone/>
            </a:pPr>
            <a:r>
              <a:rPr lang="en-US" sz="1400" b="1" dirty="0">
                <a:solidFill>
                  <a:srgbClr val="2E2566"/>
                </a:solidFill>
                <a:latin typeface="Calibri" pitchFamily="34" charset="0"/>
                <a:ea typeface="Calibri" pitchFamily="34" charset="-122"/>
                <a:cs typeface="Calibri" pitchFamily="34" charset="-120"/>
              </a:rPr>
              <a:t>Too objective and elitist</a:t>
            </a:r>
            <a:endParaRPr lang="en-US" sz="1400" dirty="0"/>
          </a:p>
        </p:txBody>
      </p:sp>
      <p:sp>
        <p:nvSpPr>
          <p:cNvPr id="22" name="Text 20"/>
          <p:cNvSpPr txBox="1"/>
          <p:nvPr/>
        </p:nvSpPr>
        <p:spPr>
          <a:xfrm>
            <a:off x="8284464" y="2724912"/>
            <a:ext cx="3044952" cy="237744"/>
          </a:xfrm>
          <a:prstGeom prst="rect">
            <a:avLst/>
          </a:prstGeom>
          <a:noFill/>
          <a:ln/>
        </p:spPr>
        <p:txBody>
          <a:bodyPr wrap="square" lIns="0" tIns="0" rIns="0" bIns="0" rtlCol="0" anchor="t"/>
          <a:lstStyle/>
          <a:p>
            <a:pPr indent="0" marL="0">
              <a:buNone/>
            </a:pPr>
            <a:r>
              <a:rPr lang="en-US" sz="1050" i="1" dirty="0">
                <a:solidFill>
                  <a:srgbClr val="5C5773"/>
                </a:solidFill>
                <a:latin typeface="Calibri" pitchFamily="34" charset="0"/>
                <a:ea typeface="Calibri" pitchFamily="34" charset="-122"/>
                <a:cs typeface="Calibri" pitchFamily="34" charset="-120"/>
              </a:rPr>
              <a:t>Parker (1998)</a:t>
            </a:r>
            <a:endParaRPr lang="en-US" sz="1050" dirty="0"/>
          </a:p>
        </p:txBody>
      </p:sp>
      <p:sp>
        <p:nvSpPr>
          <p:cNvPr id="23" name="Text 21"/>
          <p:cNvSpPr txBox="1"/>
          <p:nvPr/>
        </p:nvSpPr>
        <p:spPr>
          <a:xfrm>
            <a:off x="8284464" y="2999232"/>
            <a:ext cx="3044952" cy="77724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Etikawan spesialis dapat memvonis benar salahnya tindakan orang lain tanpa memiliki pengalaman atas situasi yang dihadapi orang tersebut.</a:t>
            </a:r>
            <a:endParaRPr lang="en-US" sz="1150" dirty="0"/>
          </a:p>
        </p:txBody>
      </p:sp>
      <p:sp>
        <p:nvSpPr>
          <p:cNvPr id="24" name="Shape 22"/>
          <p:cNvSpPr/>
          <p:nvPr/>
        </p:nvSpPr>
        <p:spPr>
          <a:xfrm>
            <a:off x="640080" y="3986784"/>
            <a:ext cx="3483864" cy="1737360"/>
          </a:xfrm>
          <a:prstGeom prst="roundRect">
            <a:avLst>
              <a:gd name="adj" fmla="val 2105"/>
            </a:avLst>
          </a:prstGeom>
          <a:solidFill>
            <a:srgbClr val="F6F4FC"/>
          </a:solidFill>
          <a:ln w="9525">
            <a:solidFill>
              <a:srgbClr val="D9D5E6"/>
            </a:solidFill>
            <a:prstDash val="solid"/>
          </a:ln>
        </p:spPr>
      </p:sp>
      <p:sp>
        <p:nvSpPr>
          <p:cNvPr id="25" name="Shape 23"/>
          <p:cNvSpPr/>
          <p:nvPr/>
        </p:nvSpPr>
        <p:spPr>
          <a:xfrm>
            <a:off x="859536" y="4187952"/>
            <a:ext cx="347472" cy="347472"/>
          </a:xfrm>
          <a:prstGeom prst="ellipse">
            <a:avLst/>
          </a:prstGeom>
          <a:solidFill>
            <a:srgbClr val="2C8072"/>
          </a:solidFill>
          <a:ln/>
        </p:spPr>
      </p:sp>
      <p:sp>
        <p:nvSpPr>
          <p:cNvPr id="26" name="Text 24"/>
          <p:cNvSpPr txBox="1"/>
          <p:nvPr/>
        </p:nvSpPr>
        <p:spPr>
          <a:xfrm>
            <a:off x="859536" y="41879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txBox="1"/>
          <p:nvPr/>
        </p:nvSpPr>
        <p:spPr>
          <a:xfrm>
            <a:off x="1280160" y="4206240"/>
            <a:ext cx="2615184" cy="292608"/>
          </a:xfrm>
          <a:prstGeom prst="rect">
            <a:avLst/>
          </a:prstGeom>
          <a:noFill/>
          <a:ln/>
        </p:spPr>
        <p:txBody>
          <a:bodyPr wrap="square" lIns="0" tIns="0" rIns="0" bIns="0" rtlCol="0" anchor="t"/>
          <a:lstStyle/>
          <a:p>
            <a:pPr indent="0" marL="0">
              <a:buNone/>
            </a:pPr>
            <a:r>
              <a:rPr lang="en-US" sz="1400" b="1" dirty="0">
                <a:solidFill>
                  <a:srgbClr val="2E2566"/>
                </a:solidFill>
                <a:latin typeface="Calibri" pitchFamily="34" charset="0"/>
                <a:ea typeface="Calibri" pitchFamily="34" charset="-122"/>
                <a:cs typeface="Calibri" pitchFamily="34" charset="-120"/>
              </a:rPr>
              <a:t>Too impersonal</a:t>
            </a:r>
            <a:endParaRPr lang="en-US" sz="1400" dirty="0"/>
          </a:p>
        </p:txBody>
      </p:sp>
      <p:sp>
        <p:nvSpPr>
          <p:cNvPr id="28" name="Text 26"/>
          <p:cNvSpPr txBox="1"/>
          <p:nvPr/>
        </p:nvSpPr>
        <p:spPr>
          <a:xfrm>
            <a:off x="859536" y="4608576"/>
            <a:ext cx="3044952" cy="237744"/>
          </a:xfrm>
          <a:prstGeom prst="rect">
            <a:avLst/>
          </a:prstGeom>
          <a:noFill/>
          <a:ln/>
        </p:spPr>
        <p:txBody>
          <a:bodyPr wrap="square" lIns="0" tIns="0" rIns="0" bIns="0" rtlCol="0" anchor="t"/>
          <a:lstStyle/>
          <a:p>
            <a:pPr indent="0" marL="0">
              <a:buNone/>
            </a:pPr>
            <a:r>
              <a:rPr lang="en-US" sz="1050" i="1" dirty="0">
                <a:solidFill>
                  <a:srgbClr val="5C5773"/>
                </a:solidFill>
                <a:latin typeface="Calibri" pitchFamily="34" charset="0"/>
                <a:ea typeface="Calibri" pitchFamily="34" charset="-122"/>
                <a:cs typeface="Calibri" pitchFamily="34" charset="-120"/>
              </a:rPr>
              <a:t>Held (2006)</a:t>
            </a:r>
            <a:endParaRPr lang="en-US" sz="1050" dirty="0"/>
          </a:p>
        </p:txBody>
      </p:sp>
      <p:sp>
        <p:nvSpPr>
          <p:cNvPr id="29" name="Text 27"/>
          <p:cNvSpPr txBox="1"/>
          <p:nvPr/>
        </p:nvSpPr>
        <p:spPr>
          <a:xfrm>
            <a:off x="859536" y="4882896"/>
            <a:ext cx="3044952" cy="77724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Fokus pada prinsip abstrak mengabaikan ikatan personal dan relasi yang membentuk perasaan seseorang mengenai benar dan salah.</a:t>
            </a:r>
            <a:endParaRPr lang="en-US" sz="1150" dirty="0"/>
          </a:p>
        </p:txBody>
      </p:sp>
      <p:sp>
        <p:nvSpPr>
          <p:cNvPr id="30" name="Shape 28"/>
          <p:cNvSpPr/>
          <p:nvPr/>
        </p:nvSpPr>
        <p:spPr>
          <a:xfrm>
            <a:off x="4352544" y="3986784"/>
            <a:ext cx="3483864" cy="1737360"/>
          </a:xfrm>
          <a:prstGeom prst="roundRect">
            <a:avLst>
              <a:gd name="adj" fmla="val 2105"/>
            </a:avLst>
          </a:prstGeom>
          <a:solidFill>
            <a:srgbClr val="F6F4FC"/>
          </a:solidFill>
          <a:ln w="9525">
            <a:solidFill>
              <a:srgbClr val="D9D5E6"/>
            </a:solidFill>
            <a:prstDash val="solid"/>
          </a:ln>
        </p:spPr>
      </p:sp>
      <p:sp>
        <p:nvSpPr>
          <p:cNvPr id="31" name="Shape 29"/>
          <p:cNvSpPr/>
          <p:nvPr/>
        </p:nvSpPr>
        <p:spPr>
          <a:xfrm>
            <a:off x="4572000" y="4187952"/>
            <a:ext cx="347472" cy="347472"/>
          </a:xfrm>
          <a:prstGeom prst="ellipse">
            <a:avLst/>
          </a:prstGeom>
          <a:solidFill>
            <a:srgbClr val="2C6F92"/>
          </a:solidFill>
          <a:ln/>
        </p:spPr>
      </p:sp>
      <p:sp>
        <p:nvSpPr>
          <p:cNvPr id="32" name="Text 30"/>
          <p:cNvSpPr txBox="1"/>
          <p:nvPr/>
        </p:nvSpPr>
        <p:spPr>
          <a:xfrm>
            <a:off x="4572000" y="41879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txBox="1"/>
          <p:nvPr/>
        </p:nvSpPr>
        <p:spPr>
          <a:xfrm>
            <a:off x="4992624" y="4206240"/>
            <a:ext cx="2615184" cy="292608"/>
          </a:xfrm>
          <a:prstGeom prst="rect">
            <a:avLst/>
          </a:prstGeom>
          <a:noFill/>
          <a:ln/>
        </p:spPr>
        <p:txBody>
          <a:bodyPr wrap="square" lIns="0" tIns="0" rIns="0" bIns="0" rtlCol="0" anchor="t"/>
          <a:lstStyle/>
          <a:p>
            <a:pPr indent="0" marL="0">
              <a:buNone/>
            </a:pPr>
            <a:r>
              <a:rPr lang="en-US" sz="1400" b="1" dirty="0">
                <a:solidFill>
                  <a:srgbClr val="2E2566"/>
                </a:solidFill>
                <a:latin typeface="Calibri" pitchFamily="34" charset="0"/>
                <a:ea typeface="Calibri" pitchFamily="34" charset="-122"/>
                <a:cs typeface="Calibri" pitchFamily="34" charset="-120"/>
              </a:rPr>
              <a:t>Too rational and codified</a:t>
            </a:r>
            <a:endParaRPr lang="en-US" sz="1400" dirty="0"/>
          </a:p>
        </p:txBody>
      </p:sp>
      <p:sp>
        <p:nvSpPr>
          <p:cNvPr id="34" name="Text 32"/>
          <p:cNvSpPr txBox="1"/>
          <p:nvPr/>
        </p:nvSpPr>
        <p:spPr>
          <a:xfrm>
            <a:off x="4572000" y="4608576"/>
            <a:ext cx="3044952" cy="237744"/>
          </a:xfrm>
          <a:prstGeom prst="rect">
            <a:avLst/>
          </a:prstGeom>
          <a:noFill/>
          <a:ln/>
        </p:spPr>
        <p:txBody>
          <a:bodyPr wrap="square" lIns="0" tIns="0" rIns="0" bIns="0" rtlCol="0" anchor="t"/>
          <a:lstStyle/>
          <a:p>
            <a:pPr indent="0" marL="0">
              <a:buNone/>
            </a:pPr>
            <a:r>
              <a:rPr lang="en-US" sz="1050" i="1" dirty="0">
                <a:solidFill>
                  <a:srgbClr val="5C5773"/>
                </a:solidFill>
                <a:latin typeface="Calibri" pitchFamily="34" charset="0"/>
                <a:ea typeface="Calibri" pitchFamily="34" charset="-122"/>
                <a:cs typeface="Calibri" pitchFamily="34" charset="-120"/>
              </a:rPr>
              <a:t>Bauman (1993) dan Rorty (2006)</a:t>
            </a:r>
            <a:endParaRPr lang="en-US" sz="1050" dirty="0"/>
          </a:p>
        </p:txBody>
      </p:sp>
      <p:sp>
        <p:nvSpPr>
          <p:cNvPr id="35" name="Text 33"/>
          <p:cNvSpPr txBox="1"/>
          <p:nvPr/>
        </p:nvSpPr>
        <p:spPr>
          <a:xfrm>
            <a:off x="4572000" y="4882896"/>
            <a:ext cx="3044952" cy="77724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Aturan yang terkodifikasi menekan otonomi moral dan merendahkan emosi moral. Yang dibutuhkan adalah imajinasi moral dan kisah etis yang lebih baik.</a:t>
            </a:r>
            <a:endParaRPr lang="en-US" sz="1150" dirty="0"/>
          </a:p>
        </p:txBody>
      </p:sp>
      <p:sp>
        <p:nvSpPr>
          <p:cNvPr id="36" name="Shape 34"/>
          <p:cNvSpPr/>
          <p:nvPr/>
        </p:nvSpPr>
        <p:spPr>
          <a:xfrm>
            <a:off x="8065008" y="3986784"/>
            <a:ext cx="3483864" cy="1737360"/>
          </a:xfrm>
          <a:prstGeom prst="roundRect">
            <a:avLst>
              <a:gd name="adj" fmla="val 2105"/>
            </a:avLst>
          </a:prstGeom>
          <a:solidFill>
            <a:srgbClr val="F6F4FC"/>
          </a:solidFill>
          <a:ln w="9525">
            <a:solidFill>
              <a:srgbClr val="D9D5E6"/>
            </a:solidFill>
            <a:prstDash val="solid"/>
          </a:ln>
        </p:spPr>
      </p:sp>
      <p:sp>
        <p:nvSpPr>
          <p:cNvPr id="37" name="Shape 35"/>
          <p:cNvSpPr/>
          <p:nvPr/>
        </p:nvSpPr>
        <p:spPr>
          <a:xfrm>
            <a:off x="8284464" y="4187952"/>
            <a:ext cx="347472" cy="347472"/>
          </a:xfrm>
          <a:prstGeom prst="ellipse">
            <a:avLst/>
          </a:prstGeom>
          <a:solidFill>
            <a:srgbClr val="4A5CA4"/>
          </a:solidFill>
          <a:ln/>
        </p:spPr>
      </p:sp>
      <p:sp>
        <p:nvSpPr>
          <p:cNvPr id="38" name="Text 36"/>
          <p:cNvSpPr txBox="1"/>
          <p:nvPr/>
        </p:nvSpPr>
        <p:spPr>
          <a:xfrm>
            <a:off x="8284464" y="41879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9" name="Text 37"/>
          <p:cNvSpPr txBox="1"/>
          <p:nvPr/>
        </p:nvSpPr>
        <p:spPr>
          <a:xfrm>
            <a:off x="8705088" y="4206240"/>
            <a:ext cx="2615184" cy="292608"/>
          </a:xfrm>
          <a:prstGeom prst="rect">
            <a:avLst/>
          </a:prstGeom>
          <a:noFill/>
          <a:ln/>
        </p:spPr>
        <p:txBody>
          <a:bodyPr wrap="square" lIns="0" tIns="0" rIns="0" bIns="0" rtlCol="0" anchor="t"/>
          <a:lstStyle/>
          <a:p>
            <a:pPr indent="0" marL="0">
              <a:buNone/>
            </a:pPr>
            <a:r>
              <a:rPr lang="en-US" sz="1400" b="1" dirty="0">
                <a:solidFill>
                  <a:srgbClr val="2E2566"/>
                </a:solidFill>
                <a:latin typeface="Calibri" pitchFamily="34" charset="0"/>
                <a:ea typeface="Calibri" pitchFamily="34" charset="-122"/>
                <a:cs typeface="Calibri" pitchFamily="34" charset="-120"/>
              </a:rPr>
              <a:t>Too imperialist</a:t>
            </a:r>
            <a:endParaRPr lang="en-US" sz="1400" dirty="0"/>
          </a:p>
        </p:txBody>
      </p:sp>
      <p:sp>
        <p:nvSpPr>
          <p:cNvPr id="40" name="Text 38"/>
          <p:cNvSpPr txBox="1"/>
          <p:nvPr/>
        </p:nvSpPr>
        <p:spPr>
          <a:xfrm>
            <a:off x="8284464" y="4608576"/>
            <a:ext cx="3044952" cy="237744"/>
          </a:xfrm>
          <a:prstGeom prst="rect">
            <a:avLst/>
          </a:prstGeom>
          <a:noFill/>
          <a:ln/>
        </p:spPr>
        <p:txBody>
          <a:bodyPr wrap="square" lIns="0" tIns="0" rIns="0" bIns="0" rtlCol="0" anchor="t"/>
          <a:lstStyle/>
          <a:p>
            <a:pPr indent="0" marL="0">
              <a:buNone/>
            </a:pPr>
            <a:r>
              <a:rPr lang="en-US" sz="1050" i="1" dirty="0">
                <a:solidFill>
                  <a:srgbClr val="5C5773"/>
                </a:solidFill>
                <a:latin typeface="Calibri" pitchFamily="34" charset="0"/>
                <a:ea typeface="Calibri" pitchFamily="34" charset="-122"/>
                <a:cs typeface="Calibri" pitchFamily="34" charset="-120"/>
              </a:rPr>
              <a:t>Naude (2017)</a:t>
            </a:r>
            <a:endParaRPr lang="en-US" sz="1050" dirty="0"/>
          </a:p>
        </p:txBody>
      </p:sp>
      <p:sp>
        <p:nvSpPr>
          <p:cNvPr id="41" name="Text 39"/>
          <p:cNvSpPr txBox="1"/>
          <p:nvPr/>
        </p:nvSpPr>
        <p:spPr>
          <a:xfrm>
            <a:off x="8284464" y="4882896"/>
            <a:ext cx="3044952" cy="77724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Tidak ada alasan mengasumsikan teori dari Barat cocok untuk seluruh dunia. Filsafat Asia klasik dan Afrika tradisional juga punya kontribusi.</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638"/>
        </a:solidFill>
      </p:bgPr>
    </p:bg>
    <p:spTree>
      <p:nvGrpSpPr>
        <p:cNvPr id="1" name=""/>
        <p:cNvGrpSpPr/>
        <p:nvPr/>
      </p:nvGrpSpPr>
      <p:grpSpPr>
        <a:xfrm>
          <a:off x="0" y="0"/>
          <a:ext cx="0" cy="0"/>
          <a:chOff x="0" y="0"/>
          <a:chExt cx="0" cy="0"/>
        </a:xfrm>
      </p:grpSpPr>
      <p:sp>
        <p:nvSpPr>
          <p:cNvPr id="2" name="Text 0"/>
          <p:cNvSpPr txBox="1"/>
          <p:nvPr/>
        </p:nvSpPr>
        <p:spPr>
          <a:xfrm>
            <a:off x="640080" y="2148840"/>
            <a:ext cx="10908792" cy="292608"/>
          </a:xfrm>
          <a:prstGeom prst="rect">
            <a:avLst/>
          </a:prstGeom>
          <a:noFill/>
          <a:ln/>
        </p:spPr>
        <p:txBody>
          <a:bodyPr wrap="square" lIns="0" tIns="0" rIns="0" bIns="0" rtlCol="0" anchor="t"/>
          <a:lstStyle/>
          <a:p>
            <a:pPr indent="0" marL="0">
              <a:buNone/>
            </a:pPr>
            <a:r>
              <a:rPr lang="en-US" sz="1200" b="1" spc="240" kern="0" dirty="0">
                <a:solidFill>
                  <a:srgbClr val="C97B2E"/>
                </a:solidFill>
                <a:latin typeface="Calibri" pitchFamily="34" charset="0"/>
                <a:ea typeface="Calibri" pitchFamily="34" charset="-122"/>
                <a:cs typeface="Calibri" pitchFamily="34" charset="-120"/>
              </a:rPr>
              <a:t>Bagian 3</a:t>
            </a:r>
            <a:endParaRPr lang="en-US" sz="1200" dirty="0"/>
          </a:p>
        </p:txBody>
      </p:sp>
      <p:sp>
        <p:nvSpPr>
          <p:cNvPr id="3" name="Text 1"/>
          <p:cNvSpPr txBox="1"/>
          <p:nvPr/>
        </p:nvSpPr>
        <p:spPr>
          <a:xfrm>
            <a:off x="640080" y="2560320"/>
            <a:ext cx="9811512" cy="13716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Empat perspektif alternatif</a:t>
            </a:r>
            <a:endParaRPr lang="en-US" sz="4000" dirty="0"/>
          </a:p>
        </p:txBody>
      </p:sp>
      <p:sp>
        <p:nvSpPr>
          <p:cNvPr id="4" name="Shape 2"/>
          <p:cNvSpPr/>
          <p:nvPr/>
        </p:nvSpPr>
        <p:spPr>
          <a:xfrm>
            <a:off x="640080" y="5989320"/>
            <a:ext cx="173736" cy="173736"/>
          </a:xfrm>
          <a:prstGeom prst="ellipse">
            <a:avLst/>
          </a:prstGeom>
          <a:solidFill>
            <a:srgbClr val="AB463C"/>
          </a:solidFill>
          <a:ln/>
        </p:spPr>
      </p:sp>
      <p:sp>
        <p:nvSpPr>
          <p:cNvPr id="5" name="Shape 3"/>
          <p:cNvSpPr/>
          <p:nvPr/>
        </p:nvSpPr>
        <p:spPr>
          <a:xfrm>
            <a:off x="914400" y="5989320"/>
            <a:ext cx="173736" cy="173736"/>
          </a:xfrm>
          <a:prstGeom prst="ellipse">
            <a:avLst/>
          </a:prstGeom>
          <a:solidFill>
            <a:srgbClr val="B96A2C"/>
          </a:solidFill>
          <a:ln/>
        </p:spPr>
      </p:sp>
      <p:sp>
        <p:nvSpPr>
          <p:cNvPr id="6" name="Shape 4"/>
          <p:cNvSpPr/>
          <p:nvPr/>
        </p:nvSpPr>
        <p:spPr>
          <a:xfrm>
            <a:off x="1188720" y="5989320"/>
            <a:ext cx="173736" cy="173736"/>
          </a:xfrm>
          <a:prstGeom prst="ellipse">
            <a:avLst/>
          </a:prstGeom>
          <a:solidFill>
            <a:srgbClr val="9C8226"/>
          </a:solidFill>
          <a:ln/>
        </p:spPr>
      </p:sp>
      <p:sp>
        <p:nvSpPr>
          <p:cNvPr id="7" name="Shape 5"/>
          <p:cNvSpPr/>
          <p:nvPr/>
        </p:nvSpPr>
        <p:spPr>
          <a:xfrm>
            <a:off x="1463040" y="5989320"/>
            <a:ext cx="173736" cy="173736"/>
          </a:xfrm>
          <a:prstGeom prst="ellipse">
            <a:avLst/>
          </a:prstGeom>
          <a:solidFill>
            <a:srgbClr val="5A8637"/>
          </a:solidFill>
          <a:ln/>
        </p:spPr>
      </p:sp>
      <p:sp>
        <p:nvSpPr>
          <p:cNvPr id="8" name="Shape 6"/>
          <p:cNvSpPr/>
          <p:nvPr/>
        </p:nvSpPr>
        <p:spPr>
          <a:xfrm>
            <a:off x="1737360" y="5989320"/>
            <a:ext cx="173736" cy="173736"/>
          </a:xfrm>
          <a:prstGeom prst="ellipse">
            <a:avLst/>
          </a:prstGeom>
          <a:solidFill>
            <a:srgbClr val="2C8072"/>
          </a:solidFill>
          <a:ln/>
        </p:spPr>
      </p:sp>
      <p:sp>
        <p:nvSpPr>
          <p:cNvPr id="9" name="Shape 7"/>
          <p:cNvSpPr/>
          <p:nvPr/>
        </p:nvSpPr>
        <p:spPr>
          <a:xfrm>
            <a:off x="2011680" y="5989320"/>
            <a:ext cx="173736" cy="173736"/>
          </a:xfrm>
          <a:prstGeom prst="ellipse">
            <a:avLst/>
          </a:prstGeom>
          <a:solidFill>
            <a:srgbClr val="2C6F92"/>
          </a:solidFill>
          <a:ln/>
        </p:spPr>
      </p:sp>
      <p:sp>
        <p:nvSpPr>
          <p:cNvPr id="10" name="Shape 8"/>
          <p:cNvSpPr/>
          <p:nvPr/>
        </p:nvSpPr>
        <p:spPr>
          <a:xfrm>
            <a:off x="2286000" y="5989320"/>
            <a:ext cx="173736" cy="173736"/>
          </a:xfrm>
          <a:prstGeom prst="ellipse">
            <a:avLst/>
          </a:prstGeom>
          <a:solidFill>
            <a:srgbClr val="4A5CA4"/>
          </a:solidFill>
          <a:ln/>
        </p:spPr>
      </p:sp>
      <p:sp>
        <p:nvSpPr>
          <p:cNvPr id="11" name="Shape 9"/>
          <p:cNvSpPr/>
          <p:nvPr/>
        </p:nvSpPr>
        <p:spPr>
          <a:xfrm>
            <a:off x="2560320" y="5989320"/>
            <a:ext cx="173736" cy="173736"/>
          </a:xfrm>
          <a:prstGeom prst="ellipse">
            <a:avLst/>
          </a:prstGeom>
          <a:solidFill>
            <a:srgbClr val="764B99"/>
          </a:solidFill>
          <a:ln/>
        </p:spPr>
      </p:sp>
      <p:sp>
        <p:nvSpPr>
          <p:cNvPr id="12" name="Shape 10"/>
          <p:cNvSpPr/>
          <p:nvPr/>
        </p:nvSpPr>
        <p:spPr>
          <a:xfrm>
            <a:off x="2834640" y="5989320"/>
            <a:ext cx="173736" cy="173736"/>
          </a:xfrm>
          <a:prstGeom prst="ellipse">
            <a:avLst/>
          </a:prstGeom>
          <a:solidFill>
            <a:srgbClr val="9E4176"/>
          </a:solidFill>
          <a:ln/>
        </p:spPr>
      </p:sp>
      <p:sp>
        <p:nvSpPr>
          <p:cNvPr id="13" name="Text 11"/>
          <p:cNvSpPr txBox="1"/>
          <p:nvPr/>
        </p:nvSpPr>
        <p:spPr>
          <a:xfrm>
            <a:off x="640080" y="4069080"/>
            <a:ext cx="5669280" cy="1371600"/>
          </a:xfrm>
          <a:prstGeom prst="rect">
            <a:avLst/>
          </a:prstGeom>
          <a:noFill/>
          <a:ln/>
        </p:spPr>
        <p:txBody>
          <a:bodyPr wrap="square" lIns="0" tIns="0" rIns="0" bIns="0" rtlCol="0" anchor="t"/>
          <a:lstStyle/>
          <a:p>
            <a:pPr indent="0" marL="0">
              <a:lnSpc>
                <a:spcPts val="2300"/>
              </a:lnSpc>
              <a:buNone/>
            </a:pPr>
            <a:r>
              <a:rPr lang="en-US" sz="1450" dirty="0">
                <a:solidFill>
                  <a:srgbClr val="BDB6D6"/>
                </a:solidFill>
                <a:latin typeface="Calibri" pitchFamily="34" charset="0"/>
                <a:ea typeface="Calibri" pitchFamily="34" charset="-122"/>
                <a:cs typeface="Calibri" pitchFamily="34" charset="-120"/>
              </a:rPr>
              <a:t>Teori yang menekankan fleksibilitas serta mempertimbangkan pengambil keputusan, konteksnya dan relasinya dengan orang lain. Keempatnya jauh lebih jarang muncul dalam buku teks etika bisnis.</a:t>
            </a:r>
            <a:endParaRPr lang="en-US" sz="1450" dirty="0"/>
          </a:p>
        </p:txBody>
      </p:sp>
      <p:sp>
        <p:nvSpPr>
          <p:cNvPr id="14" name="Shape 12"/>
          <p:cNvSpPr/>
          <p:nvPr/>
        </p:nvSpPr>
        <p:spPr>
          <a:xfrm>
            <a:off x="6675120" y="4069080"/>
            <a:ext cx="384048" cy="384048"/>
          </a:xfrm>
          <a:prstGeom prst="ellipse">
            <a:avLst/>
          </a:prstGeom>
          <a:solidFill>
            <a:srgbClr val="2C6F92"/>
          </a:solidFill>
          <a:ln/>
        </p:spPr>
      </p:sp>
      <p:sp>
        <p:nvSpPr>
          <p:cNvPr id="15" name="Text 13"/>
          <p:cNvSpPr txBox="1"/>
          <p:nvPr/>
        </p:nvSpPr>
        <p:spPr>
          <a:xfrm>
            <a:off x="6675120" y="40965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6" name="Text 14"/>
          <p:cNvSpPr txBox="1"/>
          <p:nvPr/>
        </p:nvSpPr>
        <p:spPr>
          <a:xfrm>
            <a:off x="7178040" y="4069080"/>
            <a:ext cx="1920240" cy="237744"/>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Virtue ethics</a:t>
            </a:r>
            <a:endParaRPr lang="en-US" sz="1300" dirty="0"/>
          </a:p>
        </p:txBody>
      </p:sp>
      <p:sp>
        <p:nvSpPr>
          <p:cNvPr id="17" name="Text 15"/>
          <p:cNvSpPr txBox="1"/>
          <p:nvPr/>
        </p:nvSpPr>
        <p:spPr>
          <a:xfrm>
            <a:off x="7178040" y="4306824"/>
            <a:ext cx="1920240" cy="219456"/>
          </a:xfrm>
          <a:prstGeom prst="rect">
            <a:avLst/>
          </a:prstGeom>
          <a:noFill/>
          <a:ln/>
        </p:spPr>
        <p:txBody>
          <a:bodyPr wrap="square" lIns="0" tIns="0" rIns="0" bIns="0" rtlCol="0" anchor="t"/>
          <a:lstStyle/>
          <a:p>
            <a:pPr indent="0" marL="0">
              <a:buNone/>
            </a:pPr>
            <a:r>
              <a:rPr lang="en-US" sz="1150" dirty="0">
                <a:solidFill>
                  <a:srgbClr val="9F98BE"/>
                </a:solidFill>
                <a:latin typeface="Calibri" pitchFamily="34" charset="0"/>
                <a:ea typeface="Calibri" pitchFamily="34" charset="-122"/>
                <a:cs typeface="Calibri" pitchFamily="34" charset="-120"/>
              </a:rPr>
              <a:t>Karakter</a:t>
            </a:r>
            <a:endParaRPr lang="en-US" sz="1150" dirty="0"/>
          </a:p>
        </p:txBody>
      </p:sp>
      <p:sp>
        <p:nvSpPr>
          <p:cNvPr id="18" name="Shape 16"/>
          <p:cNvSpPr/>
          <p:nvPr/>
        </p:nvSpPr>
        <p:spPr>
          <a:xfrm>
            <a:off x="9098280" y="4069080"/>
            <a:ext cx="384048" cy="384048"/>
          </a:xfrm>
          <a:prstGeom prst="ellipse">
            <a:avLst/>
          </a:prstGeom>
          <a:solidFill>
            <a:srgbClr val="4A5CA4"/>
          </a:solidFill>
          <a:ln/>
        </p:spPr>
      </p:sp>
      <p:sp>
        <p:nvSpPr>
          <p:cNvPr id="19" name="Text 17"/>
          <p:cNvSpPr txBox="1"/>
          <p:nvPr/>
        </p:nvSpPr>
        <p:spPr>
          <a:xfrm>
            <a:off x="9098280" y="40965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0" name="Text 18"/>
          <p:cNvSpPr txBox="1"/>
          <p:nvPr/>
        </p:nvSpPr>
        <p:spPr>
          <a:xfrm>
            <a:off x="9601200" y="4069080"/>
            <a:ext cx="1920240" cy="237744"/>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Ethic of care</a:t>
            </a:r>
            <a:endParaRPr lang="en-US" sz="1300" dirty="0"/>
          </a:p>
        </p:txBody>
      </p:sp>
      <p:sp>
        <p:nvSpPr>
          <p:cNvPr id="21" name="Text 19"/>
          <p:cNvSpPr txBox="1"/>
          <p:nvPr/>
        </p:nvSpPr>
        <p:spPr>
          <a:xfrm>
            <a:off x="9601200" y="4306824"/>
            <a:ext cx="1920240" cy="219456"/>
          </a:xfrm>
          <a:prstGeom prst="rect">
            <a:avLst/>
          </a:prstGeom>
          <a:noFill/>
          <a:ln/>
        </p:spPr>
        <p:txBody>
          <a:bodyPr wrap="square" lIns="0" tIns="0" rIns="0" bIns="0" rtlCol="0" anchor="t"/>
          <a:lstStyle/>
          <a:p>
            <a:pPr indent="0" marL="0">
              <a:buNone/>
            </a:pPr>
            <a:r>
              <a:rPr lang="en-US" sz="1150" dirty="0">
                <a:solidFill>
                  <a:srgbClr val="9F98BE"/>
                </a:solidFill>
                <a:latin typeface="Calibri" pitchFamily="34" charset="0"/>
                <a:ea typeface="Calibri" pitchFamily="34" charset="-122"/>
                <a:cs typeface="Calibri" pitchFamily="34" charset="-120"/>
              </a:rPr>
              <a:t>Relasi</a:t>
            </a:r>
            <a:endParaRPr lang="en-US" sz="1150" dirty="0"/>
          </a:p>
        </p:txBody>
      </p:sp>
      <p:sp>
        <p:nvSpPr>
          <p:cNvPr id="22" name="Shape 20"/>
          <p:cNvSpPr/>
          <p:nvPr/>
        </p:nvSpPr>
        <p:spPr>
          <a:xfrm>
            <a:off x="6675120" y="4937760"/>
            <a:ext cx="384048" cy="384048"/>
          </a:xfrm>
          <a:prstGeom prst="ellipse">
            <a:avLst/>
          </a:prstGeom>
          <a:solidFill>
            <a:srgbClr val="764B99"/>
          </a:solidFill>
          <a:ln/>
        </p:spPr>
      </p:sp>
      <p:sp>
        <p:nvSpPr>
          <p:cNvPr id="23" name="Text 21"/>
          <p:cNvSpPr txBox="1"/>
          <p:nvPr/>
        </p:nvSpPr>
        <p:spPr>
          <a:xfrm>
            <a:off x="6675120" y="496519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4" name="Text 22"/>
          <p:cNvSpPr txBox="1"/>
          <p:nvPr/>
        </p:nvSpPr>
        <p:spPr>
          <a:xfrm>
            <a:off x="7178040" y="4937760"/>
            <a:ext cx="1920240" cy="237744"/>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Discourse ethics</a:t>
            </a:r>
            <a:endParaRPr lang="en-US" sz="1300" dirty="0"/>
          </a:p>
        </p:txBody>
      </p:sp>
      <p:sp>
        <p:nvSpPr>
          <p:cNvPr id="25" name="Text 23"/>
          <p:cNvSpPr txBox="1"/>
          <p:nvPr/>
        </p:nvSpPr>
        <p:spPr>
          <a:xfrm>
            <a:off x="7178040" y="5175504"/>
            <a:ext cx="1920240" cy="219456"/>
          </a:xfrm>
          <a:prstGeom prst="rect">
            <a:avLst/>
          </a:prstGeom>
          <a:noFill/>
          <a:ln/>
        </p:spPr>
        <p:txBody>
          <a:bodyPr wrap="square" lIns="0" tIns="0" rIns="0" bIns="0" rtlCol="0" anchor="t"/>
          <a:lstStyle/>
          <a:p>
            <a:pPr indent="0" marL="0">
              <a:buNone/>
            </a:pPr>
            <a:r>
              <a:rPr lang="en-US" sz="1150" dirty="0">
                <a:solidFill>
                  <a:srgbClr val="9F98BE"/>
                </a:solidFill>
                <a:latin typeface="Calibri" pitchFamily="34" charset="0"/>
                <a:ea typeface="Calibri" pitchFamily="34" charset="-122"/>
                <a:cs typeface="Calibri" pitchFamily="34" charset="-120"/>
              </a:rPr>
              <a:t>Proses deliberatif</a:t>
            </a:r>
            <a:endParaRPr lang="en-US" sz="1150" dirty="0"/>
          </a:p>
        </p:txBody>
      </p:sp>
      <p:sp>
        <p:nvSpPr>
          <p:cNvPr id="26" name="Shape 24"/>
          <p:cNvSpPr/>
          <p:nvPr/>
        </p:nvSpPr>
        <p:spPr>
          <a:xfrm>
            <a:off x="9098280" y="4937760"/>
            <a:ext cx="384048" cy="384048"/>
          </a:xfrm>
          <a:prstGeom prst="ellipse">
            <a:avLst/>
          </a:prstGeom>
          <a:solidFill>
            <a:srgbClr val="9E4176"/>
          </a:solidFill>
          <a:ln/>
        </p:spPr>
      </p:sp>
      <p:sp>
        <p:nvSpPr>
          <p:cNvPr id="27" name="Text 25"/>
          <p:cNvSpPr txBox="1"/>
          <p:nvPr/>
        </p:nvSpPr>
        <p:spPr>
          <a:xfrm>
            <a:off x="9098280" y="496519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28" name="Text 26"/>
          <p:cNvSpPr txBox="1"/>
          <p:nvPr/>
        </p:nvSpPr>
        <p:spPr>
          <a:xfrm>
            <a:off x="9601200" y="4937760"/>
            <a:ext cx="1920240" cy="237744"/>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Postmodern ethics</a:t>
            </a:r>
            <a:endParaRPr lang="en-US" sz="1300" dirty="0"/>
          </a:p>
        </p:txBody>
      </p:sp>
      <p:sp>
        <p:nvSpPr>
          <p:cNvPr id="29" name="Text 27"/>
          <p:cNvSpPr txBox="1"/>
          <p:nvPr/>
        </p:nvSpPr>
        <p:spPr>
          <a:xfrm>
            <a:off x="9601200" y="5175504"/>
            <a:ext cx="1920240" cy="219456"/>
          </a:xfrm>
          <a:prstGeom prst="rect">
            <a:avLst/>
          </a:prstGeom>
          <a:noFill/>
          <a:ln/>
        </p:spPr>
        <p:txBody>
          <a:bodyPr wrap="square" lIns="0" tIns="0" rIns="0" bIns="0" rtlCol="0" anchor="t"/>
          <a:lstStyle/>
          <a:p>
            <a:pPr indent="0" marL="0">
              <a:buNone/>
            </a:pPr>
            <a:r>
              <a:rPr lang="en-US" sz="1150" dirty="0">
                <a:solidFill>
                  <a:srgbClr val="9F98BE"/>
                </a:solidFill>
                <a:latin typeface="Calibri" pitchFamily="34" charset="0"/>
                <a:ea typeface="Calibri" pitchFamily="34" charset="-122"/>
                <a:cs typeface="Calibri" pitchFamily="34" charset="-120"/>
              </a:rPr>
              <a:t>Dorongan moral</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3</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Virtue ethics dan ethic of care</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640080" y="1517904"/>
            <a:ext cx="5317236" cy="4535424"/>
          </a:xfrm>
          <a:prstGeom prst="roundRect">
            <a:avLst>
              <a:gd name="adj" fmla="val 806"/>
            </a:avLst>
          </a:prstGeom>
          <a:solidFill>
            <a:srgbClr val="F6F4FC"/>
          </a:solidFill>
          <a:ln w="9525">
            <a:solidFill>
              <a:srgbClr val="D9D5E6"/>
            </a:solidFill>
            <a:prstDash val="solid"/>
          </a:ln>
        </p:spPr>
      </p:sp>
      <p:sp>
        <p:nvSpPr>
          <p:cNvPr id="6" name="Shape 4"/>
          <p:cNvSpPr/>
          <p:nvPr/>
        </p:nvSpPr>
        <p:spPr>
          <a:xfrm>
            <a:off x="914400" y="1737360"/>
            <a:ext cx="402336" cy="402336"/>
          </a:xfrm>
          <a:prstGeom prst="ellipse">
            <a:avLst/>
          </a:prstGeom>
          <a:solidFill>
            <a:srgbClr val="2C6F92"/>
          </a:solidFill>
          <a:ln/>
        </p:spPr>
      </p:sp>
      <p:sp>
        <p:nvSpPr>
          <p:cNvPr id="7" name="Text 5"/>
          <p:cNvSpPr txBox="1"/>
          <p:nvPr/>
        </p:nvSpPr>
        <p:spPr>
          <a:xfrm>
            <a:off x="914400" y="1737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8" name="Text 6"/>
          <p:cNvSpPr txBox="1"/>
          <p:nvPr/>
        </p:nvSpPr>
        <p:spPr>
          <a:xfrm>
            <a:off x="1444752" y="1764792"/>
            <a:ext cx="4265676" cy="310896"/>
          </a:xfrm>
          <a:prstGeom prst="rect">
            <a:avLst/>
          </a:prstGeom>
          <a:noFill/>
          <a:ln/>
        </p:spPr>
        <p:txBody>
          <a:bodyPr wrap="square" lIns="0" tIns="0" rIns="0" bIns="0" rtlCol="0" anchor="t"/>
          <a:lstStyle/>
          <a:p>
            <a:pPr indent="0" marL="0">
              <a:buNone/>
            </a:pPr>
            <a:r>
              <a:rPr lang="en-US" sz="1700" b="1" dirty="0">
                <a:solidFill>
                  <a:srgbClr val="2E2566"/>
                </a:solidFill>
                <a:latin typeface="Calibri" pitchFamily="34" charset="0"/>
                <a:ea typeface="Calibri" pitchFamily="34" charset="-122"/>
                <a:cs typeface="Calibri" pitchFamily="34" charset="-120"/>
              </a:rPr>
              <a:t>Virtue ethics</a:t>
            </a:r>
            <a:endParaRPr lang="en-US" sz="1700" dirty="0"/>
          </a:p>
        </p:txBody>
      </p:sp>
      <p:sp>
        <p:nvSpPr>
          <p:cNvPr id="9" name="Shape 7"/>
          <p:cNvSpPr/>
          <p:nvPr/>
        </p:nvSpPr>
        <p:spPr>
          <a:xfrm>
            <a:off x="914400" y="2286000"/>
            <a:ext cx="4768596" cy="896112"/>
          </a:xfrm>
          <a:prstGeom prst="roundRect">
            <a:avLst>
              <a:gd name="adj" fmla="val 4082"/>
            </a:avLst>
          </a:prstGeom>
          <a:solidFill>
            <a:srgbClr val="FFFFFF"/>
          </a:solidFill>
          <a:ln w="9525">
            <a:solidFill>
              <a:srgbClr val="D9D5E6"/>
            </a:solidFill>
            <a:prstDash val="solid"/>
          </a:ln>
        </p:spPr>
      </p:sp>
      <p:sp>
        <p:nvSpPr>
          <p:cNvPr id="10" name="Text 8"/>
          <p:cNvSpPr txBox="1"/>
          <p:nvPr/>
        </p:nvSpPr>
        <p:spPr>
          <a:xfrm>
            <a:off x="1097280" y="2395728"/>
            <a:ext cx="4402836" cy="731520"/>
          </a:xfrm>
          <a:prstGeom prst="rect">
            <a:avLst/>
          </a:prstGeom>
          <a:noFill/>
          <a:ln/>
        </p:spPr>
        <p:txBody>
          <a:bodyPr wrap="square" lIns="0" tIns="0" rIns="0" bIns="0" rtlCol="0" anchor="t"/>
          <a:lstStyle/>
          <a:p>
            <a:pPr indent="0" marL="0">
              <a:lnSpc>
                <a:spcPts val="1800"/>
              </a:lnSpc>
              <a:buNone/>
            </a:pPr>
            <a:r>
              <a:rPr lang="en-US" sz="1250" dirty="0">
                <a:solidFill>
                  <a:srgbClr val="231F3D"/>
                </a:solidFill>
                <a:latin typeface="Cambria" pitchFamily="34" charset="0"/>
                <a:ea typeface="Cambria" pitchFamily="34" charset="-122"/>
                <a:cs typeface="Cambria" pitchFamily="34" charset="-120"/>
              </a:rPr>
              <a:t>Kepemilikan sifat karakter yang unggul, atau kebajikan, merupakan syarat untuk menjadi orang yang baik.</a:t>
            </a:r>
            <a:endParaRPr lang="en-US" sz="1250" dirty="0"/>
          </a:p>
        </p:txBody>
      </p:sp>
      <p:sp>
        <p:nvSpPr>
          <p:cNvPr id="11" name="Text 9"/>
          <p:cNvSpPr txBox="1"/>
          <p:nvPr/>
        </p:nvSpPr>
        <p:spPr>
          <a:xfrm>
            <a:off x="932688" y="3310128"/>
            <a:ext cx="4695444" cy="190195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Berusia lebih dari 2000 tahun, berasal dari Aristoteles. Tindakan yang baik berasal dari orang yang baik</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Fokus penilaian berpindah dari tindakan kepada pelakunya, sehingga beresonansi kuat pada profesi seperti dokter dan akuntan</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Kebajikan seperti courage dan honesty menuntut keseimbangan. The good life berarti laba hanya satu bagian, kepuasan karyawan sama pentingnya</a:t>
            </a:r>
            <a:endParaRPr lang="en-US" sz="1150" dirty="0"/>
          </a:p>
        </p:txBody>
      </p:sp>
      <p:sp>
        <p:nvSpPr>
          <p:cNvPr id="12" name="Text 10"/>
          <p:cNvSpPr txBox="1"/>
          <p:nvPr/>
        </p:nvSpPr>
        <p:spPr>
          <a:xfrm>
            <a:off x="932688" y="5266944"/>
            <a:ext cx="4695444" cy="749808"/>
          </a:xfrm>
          <a:prstGeom prst="rect">
            <a:avLst/>
          </a:prstGeom>
          <a:noFill/>
          <a:ln/>
        </p:spPr>
        <p:txBody>
          <a:bodyPr wrap="square" lIns="0" tIns="0" rIns="0" bIns="0" rtlCol="0" anchor="t"/>
          <a:lstStyle/>
          <a:p>
            <a:pPr indent="0" marL="0">
              <a:lnSpc>
                <a:spcPts val="1400"/>
              </a:lnSpc>
              <a:buNone/>
            </a:pPr>
            <a:r>
              <a:rPr lang="en-US" sz="1050" i="1" dirty="0">
                <a:solidFill>
                  <a:srgbClr val="2E2566"/>
                </a:solidFill>
                <a:latin typeface="Calibri" pitchFamily="34" charset="0"/>
                <a:ea typeface="Calibri" pitchFamily="34" charset="-122"/>
                <a:cs typeface="Calibri" pitchFamily="34" charset="-120"/>
              </a:rPr>
              <a:t>Ethical Dilemma 3: manajer yang berbudi dapat tetap berbisnis sambil memikul tanggung jawab atas pendidikan anak-anak, misalnya mendukung sekolah setempat.</a:t>
            </a:r>
            <a:endParaRPr lang="en-US" sz="1050" dirty="0"/>
          </a:p>
        </p:txBody>
      </p:sp>
      <p:sp>
        <p:nvSpPr>
          <p:cNvPr id="13" name="Shape 11"/>
          <p:cNvSpPr/>
          <p:nvPr/>
        </p:nvSpPr>
        <p:spPr>
          <a:xfrm>
            <a:off x="6231636" y="1517904"/>
            <a:ext cx="5317236" cy="4535424"/>
          </a:xfrm>
          <a:prstGeom prst="roundRect">
            <a:avLst>
              <a:gd name="adj" fmla="val 806"/>
            </a:avLst>
          </a:prstGeom>
          <a:solidFill>
            <a:srgbClr val="F6F4FC"/>
          </a:solidFill>
          <a:ln w="9525">
            <a:solidFill>
              <a:srgbClr val="D9D5E6"/>
            </a:solidFill>
            <a:prstDash val="solid"/>
          </a:ln>
        </p:spPr>
      </p:sp>
      <p:sp>
        <p:nvSpPr>
          <p:cNvPr id="14" name="Shape 12"/>
          <p:cNvSpPr/>
          <p:nvPr/>
        </p:nvSpPr>
        <p:spPr>
          <a:xfrm>
            <a:off x="6505956" y="1737360"/>
            <a:ext cx="402336" cy="402336"/>
          </a:xfrm>
          <a:prstGeom prst="ellipse">
            <a:avLst/>
          </a:prstGeom>
          <a:solidFill>
            <a:srgbClr val="4A5CA4"/>
          </a:solidFill>
          <a:ln/>
        </p:spPr>
      </p:sp>
      <p:sp>
        <p:nvSpPr>
          <p:cNvPr id="15" name="Text 13"/>
          <p:cNvSpPr txBox="1"/>
          <p:nvPr/>
        </p:nvSpPr>
        <p:spPr>
          <a:xfrm>
            <a:off x="6505956" y="1737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6" name="Text 14"/>
          <p:cNvSpPr txBox="1"/>
          <p:nvPr/>
        </p:nvSpPr>
        <p:spPr>
          <a:xfrm>
            <a:off x="7036308" y="1764792"/>
            <a:ext cx="4265676" cy="310896"/>
          </a:xfrm>
          <a:prstGeom prst="rect">
            <a:avLst/>
          </a:prstGeom>
          <a:noFill/>
          <a:ln/>
        </p:spPr>
        <p:txBody>
          <a:bodyPr wrap="square" lIns="0" tIns="0" rIns="0" bIns="0" rtlCol="0" anchor="t"/>
          <a:lstStyle/>
          <a:p>
            <a:pPr indent="0" marL="0">
              <a:buNone/>
            </a:pPr>
            <a:r>
              <a:rPr lang="en-US" sz="1700" b="1" dirty="0">
                <a:solidFill>
                  <a:srgbClr val="2E2566"/>
                </a:solidFill>
                <a:latin typeface="Calibri" pitchFamily="34" charset="0"/>
                <a:ea typeface="Calibri" pitchFamily="34" charset="-122"/>
                <a:cs typeface="Calibri" pitchFamily="34" charset="-120"/>
              </a:rPr>
              <a:t>Ethic of care</a:t>
            </a:r>
            <a:endParaRPr lang="en-US" sz="1700" dirty="0"/>
          </a:p>
        </p:txBody>
      </p:sp>
      <p:sp>
        <p:nvSpPr>
          <p:cNvPr id="17" name="Shape 15"/>
          <p:cNvSpPr/>
          <p:nvPr/>
        </p:nvSpPr>
        <p:spPr>
          <a:xfrm>
            <a:off x="6505956" y="2286000"/>
            <a:ext cx="4768596" cy="896112"/>
          </a:xfrm>
          <a:prstGeom prst="roundRect">
            <a:avLst>
              <a:gd name="adj" fmla="val 4082"/>
            </a:avLst>
          </a:prstGeom>
          <a:solidFill>
            <a:srgbClr val="FFFFFF"/>
          </a:solidFill>
          <a:ln w="9525">
            <a:solidFill>
              <a:srgbClr val="D9D5E6"/>
            </a:solidFill>
            <a:prstDash val="solid"/>
          </a:ln>
        </p:spPr>
      </p:sp>
      <p:sp>
        <p:nvSpPr>
          <p:cNvPr id="18" name="Text 16"/>
          <p:cNvSpPr txBox="1"/>
          <p:nvPr/>
        </p:nvSpPr>
        <p:spPr>
          <a:xfrm>
            <a:off x="6688836" y="2395728"/>
            <a:ext cx="4402836" cy="731520"/>
          </a:xfrm>
          <a:prstGeom prst="rect">
            <a:avLst/>
          </a:prstGeom>
          <a:noFill/>
          <a:ln/>
        </p:spPr>
        <p:txBody>
          <a:bodyPr wrap="square" lIns="0" tIns="0" rIns="0" bIns="0" rtlCol="0" anchor="t"/>
          <a:lstStyle/>
          <a:p>
            <a:pPr indent="0" marL="0">
              <a:lnSpc>
                <a:spcPts val="1800"/>
              </a:lnSpc>
              <a:buNone/>
            </a:pPr>
            <a:r>
              <a:rPr lang="en-US" sz="1250" dirty="0">
                <a:solidFill>
                  <a:srgbClr val="231F3D"/>
                </a:solidFill>
                <a:latin typeface="Cambria" pitchFamily="34" charset="0"/>
                <a:ea typeface="Cambria" pitchFamily="34" charset="-122"/>
                <a:cs typeface="Cambria" pitchFamily="34" charset="-120"/>
              </a:rPr>
              <a:t>Menekankan saling ketergantungan seseorang dengan pihak yang memiliki relasi penting dengannya, serta mengakui peran emosi.</a:t>
            </a:r>
            <a:endParaRPr lang="en-US" sz="1250" dirty="0"/>
          </a:p>
        </p:txBody>
      </p:sp>
      <p:sp>
        <p:nvSpPr>
          <p:cNvPr id="19" name="Text 17"/>
          <p:cNvSpPr txBox="1"/>
          <p:nvPr/>
        </p:nvSpPr>
        <p:spPr>
          <a:xfrm>
            <a:off x="6524244" y="3310128"/>
            <a:ext cx="4695444" cy="190195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Bentuk feminist ethics yang berakar pada Gilligan (1982), In a Different Voice</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Lima asumsinya: manusia tidak otonom, terikat keadaan dan relasi, serta posisinya tidak setara</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Masalah moral dipahami sebagai konflik tanggung jawab dalam relasi, bukan konflik hak</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Tujuan utamanya menghindari bahaya dan memelihara relasi yang sehat</a:t>
            </a:r>
            <a:endParaRPr lang="en-US" sz="1150" dirty="0"/>
          </a:p>
        </p:txBody>
      </p:sp>
      <p:sp>
        <p:nvSpPr>
          <p:cNvPr id="20" name="Text 18"/>
          <p:cNvSpPr txBox="1"/>
          <p:nvPr/>
        </p:nvSpPr>
        <p:spPr>
          <a:xfrm>
            <a:off x="6524244" y="5266944"/>
            <a:ext cx="4695444" cy="749808"/>
          </a:xfrm>
          <a:prstGeom prst="rect">
            <a:avLst/>
          </a:prstGeom>
          <a:noFill/>
          <a:ln/>
        </p:spPr>
        <p:txBody>
          <a:bodyPr wrap="square" lIns="0" tIns="0" rIns="0" bIns="0" rtlCol="0" anchor="t"/>
          <a:lstStyle/>
          <a:p>
            <a:pPr indent="0" marL="0">
              <a:lnSpc>
                <a:spcPts val="1400"/>
              </a:lnSpc>
              <a:buNone/>
            </a:pPr>
            <a:r>
              <a:rPr lang="en-US" sz="1050" i="1" dirty="0">
                <a:solidFill>
                  <a:srgbClr val="2E2566"/>
                </a:solidFill>
                <a:latin typeface="Calibri" pitchFamily="34" charset="0"/>
                <a:ea typeface="Calibri" pitchFamily="34" charset="-122"/>
                <a:cs typeface="Calibri" pitchFamily="34" charset="-120"/>
              </a:rPr>
              <a:t>Ethical Dilemma 3: menolak pekerja anak bukan karena melanggar prinsip Barat, melainkan karena penderitaan anak-anak serta hilangnya agensi mereka.</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3</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Discourse ethics dan postmodern ethics</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640080" y="1517904"/>
            <a:ext cx="5317236" cy="4535424"/>
          </a:xfrm>
          <a:prstGeom prst="roundRect">
            <a:avLst>
              <a:gd name="adj" fmla="val 806"/>
            </a:avLst>
          </a:prstGeom>
          <a:solidFill>
            <a:srgbClr val="F6F4FC"/>
          </a:solidFill>
          <a:ln w="9525">
            <a:solidFill>
              <a:srgbClr val="D9D5E6"/>
            </a:solidFill>
            <a:prstDash val="solid"/>
          </a:ln>
        </p:spPr>
      </p:sp>
      <p:sp>
        <p:nvSpPr>
          <p:cNvPr id="6" name="Shape 4"/>
          <p:cNvSpPr/>
          <p:nvPr/>
        </p:nvSpPr>
        <p:spPr>
          <a:xfrm>
            <a:off x="914400" y="1737360"/>
            <a:ext cx="402336" cy="402336"/>
          </a:xfrm>
          <a:prstGeom prst="ellipse">
            <a:avLst/>
          </a:prstGeom>
          <a:solidFill>
            <a:srgbClr val="764B99"/>
          </a:solidFill>
          <a:ln/>
        </p:spPr>
      </p:sp>
      <p:sp>
        <p:nvSpPr>
          <p:cNvPr id="7" name="Text 5"/>
          <p:cNvSpPr txBox="1"/>
          <p:nvPr/>
        </p:nvSpPr>
        <p:spPr>
          <a:xfrm>
            <a:off x="914400" y="1737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8" name="Text 6"/>
          <p:cNvSpPr txBox="1"/>
          <p:nvPr/>
        </p:nvSpPr>
        <p:spPr>
          <a:xfrm>
            <a:off x="1444752" y="1764792"/>
            <a:ext cx="4265676" cy="310896"/>
          </a:xfrm>
          <a:prstGeom prst="rect">
            <a:avLst/>
          </a:prstGeom>
          <a:noFill/>
          <a:ln/>
        </p:spPr>
        <p:txBody>
          <a:bodyPr wrap="square" lIns="0" tIns="0" rIns="0" bIns="0" rtlCol="0" anchor="t"/>
          <a:lstStyle/>
          <a:p>
            <a:pPr indent="0" marL="0">
              <a:buNone/>
            </a:pPr>
            <a:r>
              <a:rPr lang="en-US" sz="1700" b="1" dirty="0">
                <a:solidFill>
                  <a:srgbClr val="2E2566"/>
                </a:solidFill>
                <a:latin typeface="Calibri" pitchFamily="34" charset="0"/>
                <a:ea typeface="Calibri" pitchFamily="34" charset="-122"/>
                <a:cs typeface="Calibri" pitchFamily="34" charset="-120"/>
              </a:rPr>
              <a:t>Discourse ethics</a:t>
            </a:r>
            <a:endParaRPr lang="en-US" sz="1700" dirty="0"/>
          </a:p>
        </p:txBody>
      </p:sp>
      <p:sp>
        <p:nvSpPr>
          <p:cNvPr id="9" name="Shape 7"/>
          <p:cNvSpPr/>
          <p:nvPr/>
        </p:nvSpPr>
        <p:spPr>
          <a:xfrm>
            <a:off x="914400" y="2286000"/>
            <a:ext cx="4768596" cy="896112"/>
          </a:xfrm>
          <a:prstGeom prst="roundRect">
            <a:avLst>
              <a:gd name="adj" fmla="val 4082"/>
            </a:avLst>
          </a:prstGeom>
          <a:solidFill>
            <a:srgbClr val="FFFFFF"/>
          </a:solidFill>
          <a:ln w="9525">
            <a:solidFill>
              <a:srgbClr val="D9D5E6"/>
            </a:solidFill>
            <a:prstDash val="solid"/>
          </a:ln>
        </p:spPr>
      </p:sp>
      <p:sp>
        <p:nvSpPr>
          <p:cNvPr id="10" name="Text 8"/>
          <p:cNvSpPr txBox="1"/>
          <p:nvPr/>
        </p:nvSpPr>
        <p:spPr>
          <a:xfrm>
            <a:off x="1097280" y="2395728"/>
            <a:ext cx="4402836" cy="731520"/>
          </a:xfrm>
          <a:prstGeom prst="rect">
            <a:avLst/>
          </a:prstGeom>
          <a:noFill/>
          <a:ln/>
        </p:spPr>
        <p:txBody>
          <a:bodyPr wrap="square" lIns="0" tIns="0" rIns="0" bIns="0" rtlCol="0" anchor="t"/>
          <a:lstStyle/>
          <a:p>
            <a:pPr indent="0" marL="0">
              <a:lnSpc>
                <a:spcPts val="1800"/>
              </a:lnSpc>
              <a:buNone/>
            </a:pPr>
            <a:r>
              <a:rPr lang="en-US" sz="1250" dirty="0">
                <a:solidFill>
                  <a:srgbClr val="231F3D"/>
                </a:solidFill>
                <a:latin typeface="Cambria" pitchFamily="34" charset="0"/>
                <a:ea typeface="Cambria" pitchFamily="34" charset="-122"/>
                <a:cs typeface="Cambria" pitchFamily="34" charset="-120"/>
              </a:rPr>
              <a:t>Menyelesaikan konflik etis melalui proses deliberatif penghasilan norma, dengan komunikasi terbuka seluruh partisipan.</a:t>
            </a:r>
            <a:endParaRPr lang="en-US" sz="1250" dirty="0"/>
          </a:p>
        </p:txBody>
      </p:sp>
      <p:sp>
        <p:nvSpPr>
          <p:cNvPr id="11" name="Text 9"/>
          <p:cNvSpPr txBox="1"/>
          <p:nvPr/>
        </p:nvSpPr>
        <p:spPr>
          <a:xfrm>
            <a:off x="932688" y="3310128"/>
            <a:ext cx="4695444" cy="190195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Landasannya Habermas. Hal yang benar harus dihasilkan lewat debat terbuka, bukan lewat argumen rasional saja</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Empat syarat diskursus ideal: imparsialitas, tanpa manipulasi persuasif, tanpa paksaan, dan keahlian partisipan</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Pihak yang lebih berkuasa harus menahan diri dari memaksakan nilainya</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Keputusan benar apabila dicapai lewat cara yang benar, terlepas dari isinya</a:t>
            </a:r>
            <a:endParaRPr lang="en-US" sz="1150" dirty="0"/>
          </a:p>
        </p:txBody>
      </p:sp>
      <p:sp>
        <p:nvSpPr>
          <p:cNvPr id="12" name="Text 10"/>
          <p:cNvSpPr txBox="1"/>
          <p:nvPr/>
        </p:nvSpPr>
        <p:spPr>
          <a:xfrm>
            <a:off x="932688" y="5266944"/>
            <a:ext cx="4695444" cy="749808"/>
          </a:xfrm>
          <a:prstGeom prst="rect">
            <a:avLst/>
          </a:prstGeom>
          <a:noFill/>
          <a:ln/>
        </p:spPr>
        <p:txBody>
          <a:bodyPr wrap="square" lIns="0" tIns="0" rIns="0" bIns="0" rtlCol="0" anchor="t"/>
          <a:lstStyle/>
          <a:p>
            <a:pPr indent="0" marL="0">
              <a:lnSpc>
                <a:spcPts val="1400"/>
              </a:lnSpc>
              <a:buNone/>
            </a:pPr>
            <a:r>
              <a:rPr lang="en-US" sz="1050" i="1" dirty="0">
                <a:solidFill>
                  <a:srgbClr val="2E2566"/>
                </a:solidFill>
                <a:latin typeface="Calibri" pitchFamily="34" charset="0"/>
                <a:ea typeface="Calibri" pitchFamily="34" charset="-122"/>
                <a:cs typeface="Calibri" pitchFamily="34" charset="-120"/>
              </a:rPr>
              <a:t>Ethical Dilemma 3: seluruh pihak termasuk orang tua, anak-anak dan konsumen di Eropa sebaiknya bertemu untuk menghasilkan norma bersama.</a:t>
            </a:r>
            <a:endParaRPr lang="en-US" sz="1050" dirty="0"/>
          </a:p>
        </p:txBody>
      </p:sp>
      <p:sp>
        <p:nvSpPr>
          <p:cNvPr id="13" name="Shape 11"/>
          <p:cNvSpPr/>
          <p:nvPr/>
        </p:nvSpPr>
        <p:spPr>
          <a:xfrm>
            <a:off x="6231636" y="1517904"/>
            <a:ext cx="5317236" cy="4535424"/>
          </a:xfrm>
          <a:prstGeom prst="roundRect">
            <a:avLst>
              <a:gd name="adj" fmla="val 806"/>
            </a:avLst>
          </a:prstGeom>
          <a:solidFill>
            <a:srgbClr val="F6F4FC"/>
          </a:solidFill>
          <a:ln w="9525">
            <a:solidFill>
              <a:srgbClr val="D9D5E6"/>
            </a:solidFill>
            <a:prstDash val="solid"/>
          </a:ln>
        </p:spPr>
      </p:sp>
      <p:sp>
        <p:nvSpPr>
          <p:cNvPr id="14" name="Shape 12"/>
          <p:cNvSpPr/>
          <p:nvPr/>
        </p:nvSpPr>
        <p:spPr>
          <a:xfrm>
            <a:off x="6505956" y="1737360"/>
            <a:ext cx="402336" cy="402336"/>
          </a:xfrm>
          <a:prstGeom prst="ellipse">
            <a:avLst/>
          </a:prstGeom>
          <a:solidFill>
            <a:srgbClr val="9E4176"/>
          </a:solidFill>
          <a:ln/>
        </p:spPr>
      </p:sp>
      <p:sp>
        <p:nvSpPr>
          <p:cNvPr id="15" name="Text 13"/>
          <p:cNvSpPr txBox="1"/>
          <p:nvPr/>
        </p:nvSpPr>
        <p:spPr>
          <a:xfrm>
            <a:off x="6505956" y="1737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6" name="Text 14"/>
          <p:cNvSpPr txBox="1"/>
          <p:nvPr/>
        </p:nvSpPr>
        <p:spPr>
          <a:xfrm>
            <a:off x="7036308" y="1764792"/>
            <a:ext cx="4265676" cy="310896"/>
          </a:xfrm>
          <a:prstGeom prst="rect">
            <a:avLst/>
          </a:prstGeom>
          <a:noFill/>
          <a:ln/>
        </p:spPr>
        <p:txBody>
          <a:bodyPr wrap="square" lIns="0" tIns="0" rIns="0" bIns="0" rtlCol="0" anchor="t"/>
          <a:lstStyle/>
          <a:p>
            <a:pPr indent="0" marL="0">
              <a:buNone/>
            </a:pPr>
            <a:r>
              <a:rPr lang="en-US" sz="1700" b="1" dirty="0">
                <a:solidFill>
                  <a:srgbClr val="2E2566"/>
                </a:solidFill>
                <a:latin typeface="Calibri" pitchFamily="34" charset="0"/>
                <a:ea typeface="Calibri" pitchFamily="34" charset="-122"/>
                <a:cs typeface="Calibri" pitchFamily="34" charset="-120"/>
              </a:rPr>
              <a:t>Postmodern ethics</a:t>
            </a:r>
            <a:endParaRPr lang="en-US" sz="1700" dirty="0"/>
          </a:p>
        </p:txBody>
      </p:sp>
      <p:sp>
        <p:nvSpPr>
          <p:cNvPr id="17" name="Shape 15"/>
          <p:cNvSpPr/>
          <p:nvPr/>
        </p:nvSpPr>
        <p:spPr>
          <a:xfrm>
            <a:off x="6505956" y="2286000"/>
            <a:ext cx="4768596" cy="896112"/>
          </a:xfrm>
          <a:prstGeom prst="roundRect">
            <a:avLst>
              <a:gd name="adj" fmla="val 4082"/>
            </a:avLst>
          </a:prstGeom>
          <a:solidFill>
            <a:srgbClr val="FFFFFF"/>
          </a:solidFill>
          <a:ln w="9525">
            <a:solidFill>
              <a:srgbClr val="D9D5E6"/>
            </a:solidFill>
            <a:prstDash val="solid"/>
          </a:ln>
        </p:spPr>
      </p:sp>
      <p:sp>
        <p:nvSpPr>
          <p:cNvPr id="18" name="Text 16"/>
          <p:cNvSpPr txBox="1"/>
          <p:nvPr/>
        </p:nvSpPr>
        <p:spPr>
          <a:xfrm>
            <a:off x="6688836" y="2395728"/>
            <a:ext cx="4402836" cy="731520"/>
          </a:xfrm>
          <a:prstGeom prst="rect">
            <a:avLst/>
          </a:prstGeom>
          <a:noFill/>
          <a:ln/>
        </p:spPr>
        <p:txBody>
          <a:bodyPr wrap="square" lIns="0" tIns="0" rIns="0" bIns="0" rtlCol="0" anchor="t"/>
          <a:lstStyle/>
          <a:p>
            <a:pPr indent="0" marL="0">
              <a:lnSpc>
                <a:spcPts val="1800"/>
              </a:lnSpc>
              <a:buNone/>
            </a:pPr>
            <a:r>
              <a:rPr lang="en-US" sz="1250" dirty="0">
                <a:solidFill>
                  <a:srgbClr val="231F3D"/>
                </a:solidFill>
                <a:latin typeface="Cambria" pitchFamily="34" charset="0"/>
                <a:ea typeface="Cambria" pitchFamily="34" charset="-122"/>
                <a:cs typeface="Cambria" pitchFamily="34" charset="-120"/>
              </a:rPr>
              <a:t>Menempatkan moralitas di luar wilayah rasionalitas, yaitu pada dorongan moral yang bersifat emosional terhadap orang lain.</a:t>
            </a:r>
            <a:endParaRPr lang="en-US" sz="1250" dirty="0"/>
          </a:p>
        </p:txBody>
      </p:sp>
      <p:sp>
        <p:nvSpPr>
          <p:cNvPr id="19" name="Text 17"/>
          <p:cNvSpPr txBox="1"/>
          <p:nvPr/>
        </p:nvSpPr>
        <p:spPr>
          <a:xfrm>
            <a:off x="6524244" y="3310128"/>
            <a:ext cx="4695444" cy="190195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Menurut Bauman (1993) mengkodifikasi moralitas ke dalam aturan menyangkal sumber moralitas sesungguhnya</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Penilaian moral adalah perasaan spontan, dan lumpuh ketika orang berjarak dari penanggung akibatnya</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Empat implikasinya: holistik, praktik dan bukan prinsip, berpikir lokal, serta bersifat sementara</a:t>
            </a:r>
            <a:endParaRPr lang="en-US" sz="1150" dirty="0"/>
          </a:p>
          <a:p>
            <a:pPr marL="342900" indent="-342900">
              <a:spcAft>
                <a:spcPts val="500"/>
              </a:spcAft>
              <a:buSzPct val="100000"/>
              <a:buChar char="•"/>
            </a:pPr>
            <a:r>
              <a:rPr lang="en-US" sz="1150" dirty="0">
                <a:solidFill>
                  <a:srgbClr val="231F3D"/>
                </a:solidFill>
                <a:latin typeface="Calibri" pitchFamily="34" charset="0"/>
                <a:ea typeface="Calibri" pitchFamily="34" charset="-122"/>
                <a:cs typeface="Calibri" pitchFamily="34" charset="-120"/>
              </a:rPr>
              <a:t>Skeptis terhadap usaha etika bisnis, karena kode etis universal tidak akan pernah ditemukan</a:t>
            </a:r>
            <a:endParaRPr lang="en-US" sz="1150" dirty="0"/>
          </a:p>
        </p:txBody>
      </p:sp>
      <p:sp>
        <p:nvSpPr>
          <p:cNvPr id="20" name="Text 18"/>
          <p:cNvSpPr txBox="1"/>
          <p:nvPr/>
        </p:nvSpPr>
        <p:spPr>
          <a:xfrm>
            <a:off x="6524244" y="5266944"/>
            <a:ext cx="4695444" cy="749808"/>
          </a:xfrm>
          <a:prstGeom prst="rect">
            <a:avLst/>
          </a:prstGeom>
          <a:noFill/>
          <a:ln/>
        </p:spPr>
        <p:txBody>
          <a:bodyPr wrap="square" lIns="0" tIns="0" rIns="0" bIns="0" rtlCol="0" anchor="t"/>
          <a:lstStyle/>
          <a:p>
            <a:pPr indent="0" marL="0">
              <a:lnSpc>
                <a:spcPts val="1400"/>
              </a:lnSpc>
              <a:buNone/>
            </a:pPr>
            <a:r>
              <a:rPr lang="en-US" sz="1050" i="1" dirty="0">
                <a:solidFill>
                  <a:srgbClr val="2E2566"/>
                </a:solidFill>
                <a:latin typeface="Calibri" pitchFamily="34" charset="0"/>
                <a:ea typeface="Calibri" pitchFamily="34" charset="-122"/>
                <a:cs typeface="Calibri" pitchFamily="34" charset="-120"/>
              </a:rPr>
              <a:t>Ethical Dilemma 3: penilaian hanya mungkin bila kita mendatangi Thailand dan berbicara langsung.</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3</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Dari lensa ke prisma: pesan utama Chapter 3</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640080" y="1463040"/>
            <a:ext cx="10908792" cy="274320"/>
          </a:xfrm>
          <a:prstGeom prst="rect">
            <a:avLst/>
          </a:prstGeom>
          <a:noFill/>
          <a:ln/>
        </p:spPr>
        <p:txBody>
          <a:bodyPr wrap="square" lIns="0" tIns="0" rIns="0" bIns="0" rtlCol="0" anchor="t"/>
          <a:lstStyle/>
          <a:p>
            <a:pPr indent="0" marL="0">
              <a:buNone/>
            </a:pPr>
            <a:r>
              <a:rPr lang="en-US" sz="1400" dirty="0">
                <a:solidFill>
                  <a:srgbClr val="231F3D"/>
                </a:solidFill>
                <a:latin typeface="Calibri" pitchFamily="34" charset="0"/>
                <a:ea typeface="Calibri" pitchFamily="34" charset="-122"/>
                <a:cs typeface="Calibri" pitchFamily="34" charset="-120"/>
              </a:rPr>
              <a:t>Crane et al. (2019) tidak menyarankan satu teori sebagai pandangan yang terbaik atau paling benar.</a:t>
            </a:r>
            <a:endParaRPr lang="en-US" sz="1400" dirty="0"/>
          </a:p>
        </p:txBody>
      </p:sp>
      <p:sp>
        <p:nvSpPr>
          <p:cNvPr id="6" name="Shape 4"/>
          <p:cNvSpPr/>
          <p:nvPr/>
        </p:nvSpPr>
        <p:spPr>
          <a:xfrm>
            <a:off x="640080" y="1828800"/>
            <a:ext cx="5317236" cy="3017520"/>
          </a:xfrm>
          <a:prstGeom prst="roundRect">
            <a:avLst>
              <a:gd name="adj" fmla="val 1212"/>
            </a:avLst>
          </a:prstGeom>
          <a:solidFill>
            <a:srgbClr val="F6F4FC"/>
          </a:solidFill>
          <a:ln w="9525">
            <a:solidFill>
              <a:srgbClr val="D9D5E6"/>
            </a:solidFill>
            <a:prstDash val="solid"/>
          </a:ln>
        </p:spPr>
      </p:sp>
      <p:sp>
        <p:nvSpPr>
          <p:cNvPr id="7" name="Text 5"/>
          <p:cNvSpPr txBox="1"/>
          <p:nvPr/>
        </p:nvSpPr>
        <p:spPr>
          <a:xfrm>
            <a:off x="914400" y="1956816"/>
            <a:ext cx="4905756"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Figure 3.1  Pandangan tipikal</a:t>
            </a:r>
            <a:endParaRPr lang="en-US" sz="1200" dirty="0"/>
          </a:p>
        </p:txBody>
      </p:sp>
      <p:sp>
        <p:nvSpPr>
          <p:cNvPr id="8" name="Shape 6"/>
          <p:cNvSpPr/>
          <p:nvPr/>
        </p:nvSpPr>
        <p:spPr>
          <a:xfrm>
            <a:off x="960120" y="2926080"/>
            <a:ext cx="868680" cy="457200"/>
          </a:xfrm>
          <a:prstGeom prst="rightArrow">
            <a:avLst/>
          </a:prstGeom>
          <a:solidFill>
            <a:srgbClr val="C97B2E"/>
          </a:solidFill>
          <a:ln/>
        </p:spPr>
      </p:sp>
      <p:sp>
        <p:nvSpPr>
          <p:cNvPr id="9" name="Shape 7"/>
          <p:cNvSpPr/>
          <p:nvPr/>
        </p:nvSpPr>
        <p:spPr>
          <a:xfrm>
            <a:off x="2121408" y="2487168"/>
            <a:ext cx="329184" cy="1371600"/>
          </a:xfrm>
          <a:prstGeom prst="ellipse">
            <a:avLst/>
          </a:prstGeom>
          <a:solidFill>
            <a:srgbClr val="2C8072"/>
          </a:solidFill>
          <a:ln/>
        </p:spPr>
      </p:sp>
      <p:sp>
        <p:nvSpPr>
          <p:cNvPr id="10" name="Shape 8"/>
          <p:cNvSpPr/>
          <p:nvPr/>
        </p:nvSpPr>
        <p:spPr>
          <a:xfrm>
            <a:off x="2606040" y="2697480"/>
            <a:ext cx="1143000" cy="475488"/>
          </a:xfrm>
          <a:prstGeom prst="line">
            <a:avLst/>
          </a:prstGeom>
          <a:noFill/>
          <a:ln w="15875">
            <a:solidFill>
              <a:srgbClr val="5C5773"/>
            </a:solidFill>
            <a:prstDash val="solid"/>
            <a:tailEnd type="triangle"/>
          </a:ln>
        </p:spPr>
      </p:sp>
      <p:sp>
        <p:nvSpPr>
          <p:cNvPr id="11" name="Shape 9"/>
          <p:cNvSpPr/>
          <p:nvPr/>
        </p:nvSpPr>
        <p:spPr>
          <a:xfrm>
            <a:off x="2606040" y="3172968"/>
            <a:ext cx="1143000" cy="0"/>
          </a:xfrm>
          <a:prstGeom prst="line">
            <a:avLst/>
          </a:prstGeom>
          <a:noFill/>
          <a:ln w="15875">
            <a:solidFill>
              <a:srgbClr val="5C5773"/>
            </a:solidFill>
            <a:prstDash val="solid"/>
            <a:tailEnd type="triangle"/>
          </a:ln>
        </p:spPr>
      </p:sp>
      <p:sp>
        <p:nvSpPr>
          <p:cNvPr id="12" name="Shape 10"/>
          <p:cNvSpPr/>
          <p:nvPr/>
        </p:nvSpPr>
        <p:spPr>
          <a:xfrm flipV="1">
            <a:off x="2606040" y="3172968"/>
            <a:ext cx="1143000" cy="475488"/>
          </a:xfrm>
          <a:prstGeom prst="line">
            <a:avLst/>
          </a:prstGeom>
          <a:noFill/>
          <a:ln w="15875">
            <a:solidFill>
              <a:srgbClr val="5C5773"/>
            </a:solidFill>
            <a:prstDash val="solid"/>
            <a:tailEnd type="triangle"/>
          </a:ln>
        </p:spPr>
      </p:sp>
      <p:sp>
        <p:nvSpPr>
          <p:cNvPr id="13" name="Shape 11"/>
          <p:cNvSpPr/>
          <p:nvPr/>
        </p:nvSpPr>
        <p:spPr>
          <a:xfrm>
            <a:off x="3840480" y="2825496"/>
            <a:ext cx="694944" cy="694944"/>
          </a:xfrm>
          <a:prstGeom prst="diamond">
            <a:avLst/>
          </a:prstGeom>
          <a:solidFill>
            <a:srgbClr val="5A8637"/>
          </a:solidFill>
          <a:ln/>
        </p:spPr>
      </p:sp>
      <p:sp>
        <p:nvSpPr>
          <p:cNvPr id="14" name="Text 12"/>
          <p:cNvSpPr txBox="1"/>
          <p:nvPr/>
        </p:nvSpPr>
        <p:spPr>
          <a:xfrm>
            <a:off x="822960" y="3456432"/>
            <a:ext cx="1188720" cy="219456"/>
          </a:xfrm>
          <a:prstGeom prst="rect">
            <a:avLst/>
          </a:prstGeom>
          <a:noFill/>
          <a:ln/>
        </p:spPr>
        <p:txBody>
          <a:bodyPr wrap="square" lIns="0" tIns="0" rIns="0" bIns="0" rtlCol="0" anchor="t"/>
          <a:lstStyle/>
          <a:p>
            <a:pPr algn="ctr" indent="0" marL="0">
              <a:buNone/>
            </a:pPr>
            <a:r>
              <a:rPr lang="en-US" sz="1050" dirty="0">
                <a:solidFill>
                  <a:srgbClr val="5C5773"/>
                </a:solidFill>
                <a:latin typeface="Calibri" pitchFamily="34" charset="0"/>
                <a:ea typeface="Calibri" pitchFamily="34" charset="-122"/>
                <a:cs typeface="Calibri" pitchFamily="34" charset="-120"/>
              </a:rPr>
              <a:t>Dilema etis</a:t>
            </a:r>
            <a:endParaRPr lang="en-US" sz="1050" dirty="0"/>
          </a:p>
        </p:txBody>
      </p:sp>
      <p:sp>
        <p:nvSpPr>
          <p:cNvPr id="15" name="Text 13"/>
          <p:cNvSpPr txBox="1"/>
          <p:nvPr/>
        </p:nvSpPr>
        <p:spPr>
          <a:xfrm>
            <a:off x="1645920" y="3950208"/>
            <a:ext cx="1280160" cy="219456"/>
          </a:xfrm>
          <a:prstGeom prst="rect">
            <a:avLst/>
          </a:prstGeom>
          <a:noFill/>
          <a:ln/>
        </p:spPr>
        <p:txBody>
          <a:bodyPr wrap="square" lIns="0" tIns="0" rIns="0" bIns="0" rtlCol="0" anchor="t"/>
          <a:lstStyle/>
          <a:p>
            <a:pPr algn="ctr" indent="0" marL="0">
              <a:buNone/>
            </a:pPr>
            <a:r>
              <a:rPr lang="en-US" sz="1050" dirty="0">
                <a:solidFill>
                  <a:srgbClr val="5C5773"/>
                </a:solidFill>
                <a:latin typeface="Calibri" pitchFamily="34" charset="0"/>
                <a:ea typeface="Calibri" pitchFamily="34" charset="-122"/>
                <a:cs typeface="Calibri" pitchFamily="34" charset="-120"/>
              </a:rPr>
              <a:t>Lensa satu teori</a:t>
            </a:r>
            <a:endParaRPr lang="en-US" sz="1050" dirty="0"/>
          </a:p>
        </p:txBody>
      </p:sp>
      <p:sp>
        <p:nvSpPr>
          <p:cNvPr id="16" name="Text 14"/>
          <p:cNvSpPr txBox="1"/>
          <p:nvPr/>
        </p:nvSpPr>
        <p:spPr>
          <a:xfrm>
            <a:off x="3383280" y="3611880"/>
            <a:ext cx="1645920" cy="457200"/>
          </a:xfrm>
          <a:prstGeom prst="rect">
            <a:avLst/>
          </a:prstGeom>
          <a:noFill/>
          <a:ln/>
        </p:spPr>
        <p:txBody>
          <a:bodyPr wrap="square" lIns="0" tIns="0" rIns="0" bIns="0" rtlCol="0" anchor="t"/>
          <a:lstStyle/>
          <a:p>
            <a:pPr algn="ctr" indent="0" marL="0">
              <a:lnSpc>
                <a:spcPts val="1300"/>
              </a:lnSpc>
              <a:buNone/>
            </a:pPr>
            <a:r>
              <a:rPr lang="en-US" sz="1050" dirty="0">
                <a:solidFill>
                  <a:srgbClr val="5C5773"/>
                </a:solidFill>
                <a:latin typeface="Calibri" pitchFamily="34" charset="0"/>
                <a:ea typeface="Calibri" pitchFamily="34" charset="-122"/>
                <a:cs typeface="Calibri" pitchFamily="34" charset="-120"/>
              </a:rPr>
              <a:t>Satu pertimbangan</a:t>
            </a:r>
            <a:endParaRPr lang="en-US" sz="1050" dirty="0"/>
          </a:p>
          <a:p>
            <a:pPr algn="ctr" indent="0" marL="0">
              <a:lnSpc>
                <a:spcPts val="1300"/>
              </a:lnSpc>
              <a:buNone/>
            </a:pPr>
            <a:r>
              <a:rPr lang="en-US" sz="1050" dirty="0">
                <a:solidFill>
                  <a:srgbClr val="5C5773"/>
                </a:solidFill>
                <a:latin typeface="Calibri" pitchFamily="34" charset="0"/>
                <a:ea typeface="Calibri" pitchFamily="34" charset="-122"/>
                <a:cs typeface="Calibri" pitchFamily="34" charset="-120"/>
              </a:rPr>
              <a:t>normatif tunggal</a:t>
            </a:r>
            <a:endParaRPr lang="en-US" sz="1050" dirty="0"/>
          </a:p>
        </p:txBody>
      </p:sp>
      <p:sp>
        <p:nvSpPr>
          <p:cNvPr id="17" name="Text 15"/>
          <p:cNvSpPr txBox="1"/>
          <p:nvPr/>
        </p:nvSpPr>
        <p:spPr>
          <a:xfrm>
            <a:off x="914400" y="4407408"/>
            <a:ext cx="4860036" cy="384048"/>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Teori etika memfokuskan keputusan pada satu pertimbangan saja, misalnya hak atau kewajiban.</a:t>
            </a:r>
            <a:endParaRPr lang="en-US" sz="1150" dirty="0"/>
          </a:p>
        </p:txBody>
      </p:sp>
      <p:sp>
        <p:nvSpPr>
          <p:cNvPr id="18" name="Shape 16"/>
          <p:cNvSpPr/>
          <p:nvPr/>
        </p:nvSpPr>
        <p:spPr>
          <a:xfrm>
            <a:off x="6231636" y="1828800"/>
            <a:ext cx="5317236" cy="3017520"/>
          </a:xfrm>
          <a:prstGeom prst="roundRect">
            <a:avLst>
              <a:gd name="adj" fmla="val 1212"/>
            </a:avLst>
          </a:prstGeom>
          <a:solidFill>
            <a:srgbClr val="EEEBF8"/>
          </a:solidFill>
          <a:ln w="9525">
            <a:solidFill>
              <a:srgbClr val="D9D5E6"/>
            </a:solidFill>
            <a:prstDash val="solid"/>
          </a:ln>
        </p:spPr>
      </p:sp>
      <p:sp>
        <p:nvSpPr>
          <p:cNvPr id="19" name="Text 17"/>
          <p:cNvSpPr txBox="1"/>
          <p:nvPr/>
        </p:nvSpPr>
        <p:spPr>
          <a:xfrm>
            <a:off x="6505956" y="1956816"/>
            <a:ext cx="4905756"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Figure 3.2  Pandangan pluralis, posisi buku ini</a:t>
            </a:r>
            <a:endParaRPr lang="en-US" sz="1200" dirty="0"/>
          </a:p>
        </p:txBody>
      </p:sp>
      <p:sp>
        <p:nvSpPr>
          <p:cNvPr id="20" name="Shape 18"/>
          <p:cNvSpPr/>
          <p:nvPr/>
        </p:nvSpPr>
        <p:spPr>
          <a:xfrm>
            <a:off x="6551676" y="2926080"/>
            <a:ext cx="868680" cy="457200"/>
          </a:xfrm>
          <a:prstGeom prst="rightArrow">
            <a:avLst/>
          </a:prstGeom>
          <a:solidFill>
            <a:srgbClr val="C97B2E"/>
          </a:solidFill>
          <a:ln/>
        </p:spPr>
      </p:sp>
      <p:sp>
        <p:nvSpPr>
          <p:cNvPr id="21" name="Shape 19"/>
          <p:cNvSpPr/>
          <p:nvPr/>
        </p:nvSpPr>
        <p:spPr>
          <a:xfrm>
            <a:off x="7603236" y="2487168"/>
            <a:ext cx="868680" cy="1371600"/>
          </a:xfrm>
          <a:prstGeom prst="triangle">
            <a:avLst/>
          </a:prstGeom>
          <a:solidFill>
            <a:srgbClr val="2C8072"/>
          </a:solidFill>
          <a:ln/>
        </p:spPr>
      </p:sp>
      <p:sp>
        <p:nvSpPr>
          <p:cNvPr id="22" name="Shape 20"/>
          <p:cNvSpPr/>
          <p:nvPr/>
        </p:nvSpPr>
        <p:spPr>
          <a:xfrm flipV="1">
            <a:off x="8609076" y="2651760"/>
            <a:ext cx="1051560" cy="521208"/>
          </a:xfrm>
          <a:prstGeom prst="line">
            <a:avLst/>
          </a:prstGeom>
          <a:noFill/>
          <a:ln w="15875">
            <a:solidFill>
              <a:srgbClr val="5C5773"/>
            </a:solidFill>
            <a:prstDash val="solid"/>
            <a:tailEnd type="triangle"/>
          </a:ln>
        </p:spPr>
      </p:sp>
      <p:sp>
        <p:nvSpPr>
          <p:cNvPr id="23" name="Shape 21"/>
          <p:cNvSpPr/>
          <p:nvPr/>
        </p:nvSpPr>
        <p:spPr>
          <a:xfrm>
            <a:off x="8609076" y="3172968"/>
            <a:ext cx="1051560" cy="0"/>
          </a:xfrm>
          <a:prstGeom prst="line">
            <a:avLst/>
          </a:prstGeom>
          <a:noFill/>
          <a:ln w="15875">
            <a:solidFill>
              <a:srgbClr val="5C5773"/>
            </a:solidFill>
            <a:prstDash val="solid"/>
            <a:tailEnd type="triangle"/>
          </a:ln>
        </p:spPr>
      </p:sp>
      <p:sp>
        <p:nvSpPr>
          <p:cNvPr id="24" name="Shape 22"/>
          <p:cNvSpPr/>
          <p:nvPr/>
        </p:nvSpPr>
        <p:spPr>
          <a:xfrm>
            <a:off x="8609076" y="3172968"/>
            <a:ext cx="1051560" cy="521208"/>
          </a:xfrm>
          <a:prstGeom prst="line">
            <a:avLst/>
          </a:prstGeom>
          <a:noFill/>
          <a:ln w="15875">
            <a:solidFill>
              <a:srgbClr val="5C5773"/>
            </a:solidFill>
            <a:prstDash val="solid"/>
            <a:tailEnd type="triangle"/>
          </a:ln>
        </p:spPr>
      </p:sp>
      <p:sp>
        <p:nvSpPr>
          <p:cNvPr id="25" name="Shape 23"/>
          <p:cNvSpPr/>
          <p:nvPr/>
        </p:nvSpPr>
        <p:spPr>
          <a:xfrm>
            <a:off x="9752076" y="2487168"/>
            <a:ext cx="365760" cy="256032"/>
          </a:xfrm>
          <a:prstGeom prst="rect">
            <a:avLst/>
          </a:prstGeom>
          <a:solidFill>
            <a:srgbClr val="AB463C"/>
          </a:solidFill>
          <a:ln/>
        </p:spPr>
      </p:sp>
      <p:sp>
        <p:nvSpPr>
          <p:cNvPr id="26" name="Shape 24"/>
          <p:cNvSpPr/>
          <p:nvPr/>
        </p:nvSpPr>
        <p:spPr>
          <a:xfrm>
            <a:off x="9752076" y="2761488"/>
            <a:ext cx="365760" cy="256032"/>
          </a:xfrm>
          <a:prstGeom prst="rect">
            <a:avLst/>
          </a:prstGeom>
          <a:solidFill>
            <a:srgbClr val="B96A2C"/>
          </a:solidFill>
          <a:ln/>
        </p:spPr>
      </p:sp>
      <p:sp>
        <p:nvSpPr>
          <p:cNvPr id="27" name="Shape 25"/>
          <p:cNvSpPr/>
          <p:nvPr/>
        </p:nvSpPr>
        <p:spPr>
          <a:xfrm>
            <a:off x="9752076" y="3035808"/>
            <a:ext cx="365760" cy="256032"/>
          </a:xfrm>
          <a:prstGeom prst="rect">
            <a:avLst/>
          </a:prstGeom>
          <a:solidFill>
            <a:srgbClr val="9C8226"/>
          </a:solidFill>
          <a:ln/>
        </p:spPr>
      </p:sp>
      <p:sp>
        <p:nvSpPr>
          <p:cNvPr id="28" name="Shape 26"/>
          <p:cNvSpPr/>
          <p:nvPr/>
        </p:nvSpPr>
        <p:spPr>
          <a:xfrm>
            <a:off x="9752076" y="3310128"/>
            <a:ext cx="365760" cy="256032"/>
          </a:xfrm>
          <a:prstGeom prst="rect">
            <a:avLst/>
          </a:prstGeom>
          <a:solidFill>
            <a:srgbClr val="5A8637"/>
          </a:solidFill>
          <a:ln/>
        </p:spPr>
      </p:sp>
      <p:sp>
        <p:nvSpPr>
          <p:cNvPr id="29" name="Shape 27"/>
          <p:cNvSpPr/>
          <p:nvPr/>
        </p:nvSpPr>
        <p:spPr>
          <a:xfrm>
            <a:off x="9752076" y="3584448"/>
            <a:ext cx="365760" cy="256032"/>
          </a:xfrm>
          <a:prstGeom prst="rect">
            <a:avLst/>
          </a:prstGeom>
          <a:solidFill>
            <a:srgbClr val="2C8072"/>
          </a:solidFill>
          <a:ln/>
        </p:spPr>
      </p:sp>
      <p:sp>
        <p:nvSpPr>
          <p:cNvPr id="30" name="Text 28"/>
          <p:cNvSpPr txBox="1"/>
          <p:nvPr/>
        </p:nvSpPr>
        <p:spPr>
          <a:xfrm>
            <a:off x="6414516" y="3456432"/>
            <a:ext cx="1188720" cy="219456"/>
          </a:xfrm>
          <a:prstGeom prst="rect">
            <a:avLst/>
          </a:prstGeom>
          <a:noFill/>
          <a:ln/>
        </p:spPr>
        <p:txBody>
          <a:bodyPr wrap="square" lIns="0" tIns="0" rIns="0" bIns="0" rtlCol="0" anchor="t"/>
          <a:lstStyle/>
          <a:p>
            <a:pPr algn="ctr" indent="0" marL="0">
              <a:buNone/>
            </a:pPr>
            <a:r>
              <a:rPr lang="en-US" sz="1050" dirty="0">
                <a:solidFill>
                  <a:srgbClr val="5C5773"/>
                </a:solidFill>
                <a:latin typeface="Calibri" pitchFamily="34" charset="0"/>
                <a:ea typeface="Calibri" pitchFamily="34" charset="-122"/>
                <a:cs typeface="Calibri" pitchFamily="34" charset="-120"/>
              </a:rPr>
              <a:t>Dilema etis</a:t>
            </a:r>
            <a:endParaRPr lang="en-US" sz="1050" dirty="0"/>
          </a:p>
        </p:txBody>
      </p:sp>
      <p:sp>
        <p:nvSpPr>
          <p:cNvPr id="31" name="Text 29"/>
          <p:cNvSpPr txBox="1"/>
          <p:nvPr/>
        </p:nvSpPr>
        <p:spPr>
          <a:xfrm>
            <a:off x="7237476" y="3950208"/>
            <a:ext cx="1600200" cy="219456"/>
          </a:xfrm>
          <a:prstGeom prst="rect">
            <a:avLst/>
          </a:prstGeom>
          <a:noFill/>
          <a:ln/>
        </p:spPr>
        <p:txBody>
          <a:bodyPr wrap="square" lIns="0" tIns="0" rIns="0" bIns="0" rtlCol="0" anchor="t"/>
          <a:lstStyle/>
          <a:p>
            <a:pPr algn="ctr" indent="0" marL="0">
              <a:buNone/>
            </a:pPr>
            <a:r>
              <a:rPr lang="en-US" sz="1050" dirty="0">
                <a:solidFill>
                  <a:srgbClr val="5C5773"/>
                </a:solidFill>
                <a:latin typeface="Calibri" pitchFamily="34" charset="0"/>
                <a:ea typeface="Calibri" pitchFamily="34" charset="-122"/>
                <a:cs typeface="Calibri" pitchFamily="34" charset="-120"/>
              </a:rPr>
              <a:t>Prisma banyak teori</a:t>
            </a:r>
            <a:endParaRPr lang="en-US" sz="1050" dirty="0"/>
          </a:p>
        </p:txBody>
      </p:sp>
      <p:sp>
        <p:nvSpPr>
          <p:cNvPr id="32" name="Text 30"/>
          <p:cNvSpPr txBox="1"/>
          <p:nvPr/>
        </p:nvSpPr>
        <p:spPr>
          <a:xfrm>
            <a:off x="9111996" y="3913632"/>
            <a:ext cx="1737360" cy="402336"/>
          </a:xfrm>
          <a:prstGeom prst="rect">
            <a:avLst/>
          </a:prstGeom>
          <a:noFill/>
          <a:ln/>
        </p:spPr>
        <p:txBody>
          <a:bodyPr wrap="square" lIns="0" tIns="0" rIns="0" bIns="0" rtlCol="0" anchor="t"/>
          <a:lstStyle/>
          <a:p>
            <a:pPr algn="ctr" indent="0" marL="0">
              <a:lnSpc>
                <a:spcPts val="1300"/>
              </a:lnSpc>
              <a:buNone/>
            </a:pPr>
            <a:r>
              <a:rPr lang="en-US" sz="1050" dirty="0">
                <a:solidFill>
                  <a:srgbClr val="5C5773"/>
                </a:solidFill>
                <a:latin typeface="Calibri" pitchFamily="34" charset="0"/>
                <a:ea typeface="Calibri" pitchFamily="34" charset="-122"/>
                <a:cs typeface="Calibri" pitchFamily="34" charset="-120"/>
              </a:rPr>
              <a:t>Beragam pertimbangan</a:t>
            </a:r>
            <a:endParaRPr lang="en-US" sz="1050" dirty="0"/>
          </a:p>
        </p:txBody>
      </p:sp>
      <p:sp>
        <p:nvSpPr>
          <p:cNvPr id="33" name="Text 31"/>
          <p:cNvSpPr txBox="1"/>
          <p:nvPr/>
        </p:nvSpPr>
        <p:spPr>
          <a:xfrm>
            <a:off x="6505956" y="4407408"/>
            <a:ext cx="4860036" cy="384048"/>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Seluruh teori menyinari masalah dari sudut yang berbeda sehingga saling melengkapi dan bukan saling meniadakan.</a:t>
            </a:r>
            <a:endParaRPr lang="en-US" sz="1150" dirty="0"/>
          </a:p>
        </p:txBody>
      </p:sp>
      <p:sp>
        <p:nvSpPr>
          <p:cNvPr id="34" name="Shape 32"/>
          <p:cNvSpPr/>
          <p:nvPr/>
        </p:nvSpPr>
        <p:spPr>
          <a:xfrm>
            <a:off x="640080" y="5029200"/>
            <a:ext cx="10908792" cy="868680"/>
          </a:xfrm>
          <a:prstGeom prst="roundRect">
            <a:avLst>
              <a:gd name="adj" fmla="val 4211"/>
            </a:avLst>
          </a:prstGeom>
          <a:solidFill>
            <a:srgbClr val="EEEBF8"/>
          </a:solidFill>
          <a:ln w="9525">
            <a:solidFill>
              <a:srgbClr val="D9D5E6"/>
            </a:solidFill>
            <a:prstDash val="solid"/>
          </a:ln>
        </p:spPr>
      </p:sp>
      <p:sp>
        <p:nvSpPr>
          <p:cNvPr id="35" name="Text 33"/>
          <p:cNvSpPr txBox="1"/>
          <p:nvPr/>
        </p:nvSpPr>
        <p:spPr>
          <a:xfrm>
            <a:off x="960120" y="5212080"/>
            <a:ext cx="10268712" cy="548640"/>
          </a:xfrm>
          <a:prstGeom prst="rect">
            <a:avLst/>
          </a:prstGeom>
          <a:noFill/>
          <a:ln/>
        </p:spPr>
        <p:txBody>
          <a:bodyPr wrap="square" lIns="0" tIns="0" rIns="0" bIns="0" rtlCol="0" anchor="t"/>
          <a:lstStyle/>
          <a:p>
            <a:pPr indent="0" marL="0">
              <a:lnSpc>
                <a:spcPts val="2100"/>
              </a:lnSpc>
              <a:buNone/>
            </a:pPr>
            <a:r>
              <a:rPr lang="en-US" sz="1500" dirty="0">
                <a:solidFill>
                  <a:srgbClr val="2E2566"/>
                </a:solidFill>
                <a:latin typeface="Cambria" pitchFamily="34" charset="0"/>
                <a:ea typeface="Cambria" pitchFamily="34" charset="-122"/>
                <a:cs typeface="Cambria" pitchFamily="34" charset="-120"/>
              </a:rPr>
              <a:t>Lensa mengumpulkan cahaya menjadi satu titik, sedangkan prisma memecah cahaya putih menjadi spektrum warna. Analogi tersebut merangkum pesan utama seluruh Chapter 3.</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3  ·  Tabel 3.8</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Daftar periksa sembilan pertimbangan etis</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640080" y="1463040"/>
            <a:ext cx="10908792" cy="274320"/>
          </a:xfrm>
          <a:prstGeom prst="rect">
            <a:avLst/>
          </a:prstGeom>
          <a:noFill/>
          <a:ln/>
        </p:spPr>
        <p:txBody>
          <a:bodyPr wrap="square" lIns="0" tIns="0" rIns="0" bIns="0" rtlCol="0" anchor="t"/>
          <a:lstStyle/>
          <a:p>
            <a:pPr indent="0" marL="0">
              <a:lnSpc>
                <a:spcPts val="1900"/>
              </a:lnSpc>
              <a:buNone/>
            </a:pPr>
            <a:r>
              <a:rPr lang="en-US" sz="1350" dirty="0">
                <a:solidFill>
                  <a:srgbClr val="231F3D"/>
                </a:solidFill>
                <a:latin typeface="Calibri" pitchFamily="34" charset="0"/>
                <a:ea typeface="Calibri" pitchFamily="34" charset="-122"/>
                <a:cs typeface="Calibri" pitchFamily="34" charset="-120"/>
              </a:rPr>
              <a:t>Gunakan sebagai daftar periksa, bukan rencana sepuluh langkah, lalu tentukan teori mana yang relevan.</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901952"/>
          <a:ext cx="10908792" cy="914400"/>
        </p:xfrm>
        <a:graphic>
          <a:graphicData uri="http://schemas.openxmlformats.org/drawingml/2006/table">
            <a:tbl>
              <a:tblPr/>
              <a:tblGrid>
                <a:gridCol w="2286000"/>
                <a:gridCol w="6583680"/>
                <a:gridCol w="2039112"/>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Pertimbangan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Pertanyaan yang dapat diajukan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Teori</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r>
              <a:tr h="402336">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Kepentingan diri</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Apakah ini kepentingan jangka panjang terbaik untuk saya atau organisasi saya?</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AB463C"/>
                          </a:solidFill>
                          <a:latin typeface="Calibri" pitchFamily="34" charset="0"/>
                          <a:ea typeface="Calibri" pitchFamily="34" charset="-122"/>
                          <a:cs typeface="Calibri" pitchFamily="34" charset="-120"/>
                        </a:rPr>
                        <a:t>Egoism</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Konsekuensi sosial</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Bila seluruh konsekuensi untuk semua pihak dihitung, apakah kita lebih baik atau lebih buruk?</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B96A2C"/>
                          </a:solidFill>
                          <a:latin typeface="Calibri" pitchFamily="34" charset="0"/>
                          <a:ea typeface="Calibri" pitchFamily="34" charset="-122"/>
                          <a:cs typeface="Calibri" pitchFamily="34" charset="-120"/>
                        </a:rPr>
                        <a:t>Utilitarianism</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Kewajiban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Kepada siapa saya berkewajiban? Apa yang terjadi bila setiap orang bertindak seperti saya?</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9C8226"/>
                          </a:solidFill>
                          <a:latin typeface="Calibri" pitchFamily="34" charset="0"/>
                          <a:ea typeface="Calibri" pitchFamily="34" charset="-122"/>
                          <a:cs typeface="Calibri" pitchFamily="34" charset="-120"/>
                        </a:rPr>
                        <a:t>Ethics of duty</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Hak orang lain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Hak siapa yang perlu saya pertimbangkan? Apakah martabat mereka saya hormati?</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5A8637"/>
                          </a:solidFill>
                          <a:latin typeface="Calibri" pitchFamily="34" charset="0"/>
                          <a:ea typeface="Calibri" pitchFamily="34" charset="-122"/>
                          <a:cs typeface="Calibri" pitchFamily="34" charset="-120"/>
                        </a:rPr>
                        <a:t>Ethics of rights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Keadilan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Apakah saya memperlakukan setiap orang secara adil? Adakah disparitas yang dapat dihindari?</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C8072"/>
                          </a:solidFill>
                          <a:latin typeface="Calibri" pitchFamily="34" charset="0"/>
                          <a:ea typeface="Calibri" pitchFamily="34" charset="-122"/>
                          <a:cs typeface="Calibri" pitchFamily="34" charset="-120"/>
                        </a:rPr>
                        <a:t>Justice</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Karakter</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Apa yang akan dilakukan orang yang layak dan jujur dalam situasi yang sama?</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C6F92"/>
                          </a:solidFill>
                          <a:latin typeface="Calibri" pitchFamily="34" charset="0"/>
                          <a:ea typeface="Calibri" pitchFamily="34" charset="-122"/>
                          <a:cs typeface="Calibri" pitchFamily="34" charset="-120"/>
                        </a:rPr>
                        <a:t>Virtue ethics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Relasi</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Bagaimana perasaan pihak lain? Solusi mana yang memelihara relasi yang sehat?</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4A5CA4"/>
                          </a:solidFill>
                          <a:latin typeface="Calibri" pitchFamily="34" charset="0"/>
                          <a:ea typeface="Calibri" pitchFamily="34" charset="-122"/>
                          <a:cs typeface="Calibri" pitchFamily="34" charset="-120"/>
                        </a:rPr>
                        <a:t>Ethic of care</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Proses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Norma apa yang dapat kita susun bersama lewat komunikasi yang terbuka?</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764B99"/>
                          </a:solidFill>
                          <a:latin typeface="Calibri" pitchFamily="34" charset="0"/>
                          <a:ea typeface="Calibri" pitchFamily="34" charset="-122"/>
                          <a:cs typeface="Calibri" pitchFamily="34" charset="-120"/>
                        </a:rPr>
                        <a:t>Discourse ethics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Dorongan moral</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Apakah saya hanya mengikuti praktik lazim tanpa mempertanyakan apakah ini terasa benar?</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9E4176"/>
                          </a:solidFill>
                          <a:latin typeface="Calibri" pitchFamily="34" charset="0"/>
                          <a:ea typeface="Calibri" pitchFamily="34" charset="-122"/>
                          <a:cs typeface="Calibri" pitchFamily="34" charset="-120"/>
                        </a:rPr>
                        <a:t>Postmodern ethics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638"/>
        </a:solidFill>
      </p:bgPr>
    </p:bg>
    <p:spTree>
      <p:nvGrpSpPr>
        <p:cNvPr id="1" name=""/>
        <p:cNvGrpSpPr/>
        <p:nvPr/>
      </p:nvGrpSpPr>
      <p:grpSpPr>
        <a:xfrm>
          <a:off x="0" y="0"/>
          <a:ext cx="0" cy="0"/>
          <a:chOff x="0" y="0"/>
          <a:chExt cx="0" cy="0"/>
        </a:xfrm>
      </p:grpSpPr>
      <p:sp>
        <p:nvSpPr>
          <p:cNvPr id="2" name="Text 0"/>
          <p:cNvSpPr txBox="1"/>
          <p:nvPr/>
        </p:nvSpPr>
        <p:spPr>
          <a:xfrm>
            <a:off x="640080" y="2148840"/>
            <a:ext cx="10908792" cy="292608"/>
          </a:xfrm>
          <a:prstGeom prst="rect">
            <a:avLst/>
          </a:prstGeom>
          <a:noFill/>
          <a:ln/>
        </p:spPr>
        <p:txBody>
          <a:bodyPr wrap="square" lIns="0" tIns="0" rIns="0" bIns="0" rtlCol="0" anchor="t"/>
          <a:lstStyle/>
          <a:p>
            <a:pPr indent="0" marL="0">
              <a:buNone/>
            </a:pPr>
            <a:r>
              <a:rPr lang="en-US" sz="1200" b="1" spc="240" kern="0" dirty="0">
                <a:solidFill>
                  <a:srgbClr val="C97B2E"/>
                </a:solidFill>
                <a:latin typeface="Calibri" pitchFamily="34" charset="0"/>
                <a:ea typeface="Calibri" pitchFamily="34" charset="-122"/>
                <a:cs typeface="Calibri" pitchFamily="34" charset="-120"/>
              </a:rPr>
              <a:t>Bagian 4  ·  Diskusi kasus</a:t>
            </a:r>
            <a:endParaRPr lang="en-US" sz="1200" dirty="0"/>
          </a:p>
        </p:txBody>
      </p:sp>
      <p:sp>
        <p:nvSpPr>
          <p:cNvPr id="3" name="Text 1"/>
          <p:cNvSpPr txBox="1"/>
          <p:nvPr/>
        </p:nvSpPr>
        <p:spPr>
          <a:xfrm>
            <a:off x="640080" y="2560320"/>
            <a:ext cx="9811512" cy="13716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Canada’s Oil Sands</a:t>
            </a:r>
            <a:endParaRPr lang="en-US" sz="4000" dirty="0"/>
          </a:p>
        </p:txBody>
      </p:sp>
      <p:sp>
        <p:nvSpPr>
          <p:cNvPr id="4" name="Text 2"/>
          <p:cNvSpPr txBox="1"/>
          <p:nvPr/>
        </p:nvSpPr>
        <p:spPr>
          <a:xfrm>
            <a:off x="640080" y="4069080"/>
            <a:ext cx="8531352" cy="1005840"/>
          </a:xfrm>
          <a:prstGeom prst="rect">
            <a:avLst/>
          </a:prstGeom>
          <a:noFill/>
          <a:ln/>
        </p:spPr>
        <p:txBody>
          <a:bodyPr wrap="square" lIns="0" tIns="0" rIns="0" bIns="0" rtlCol="0" anchor="t"/>
          <a:lstStyle/>
          <a:p>
            <a:pPr indent="0" marL="0">
              <a:lnSpc>
                <a:spcPts val="2400"/>
              </a:lnSpc>
              <a:buNone/>
            </a:pPr>
            <a:r>
              <a:rPr lang="en-US" sz="1500" dirty="0">
                <a:solidFill>
                  <a:srgbClr val="BDB6D6"/>
                </a:solidFill>
                <a:latin typeface="Calibri" pitchFamily="34" charset="0"/>
                <a:ea typeface="Calibri" pitchFamily="34" charset="-122"/>
                <a:cs typeface="Calibri" pitchFamily="34" charset="-120"/>
              </a:rPr>
              <a:t>Most Destructive Project on Earth atau Ethical Oil? Case 3, halaman 129 sampai 134. Kasus ini dipilih menjadi penutup karena tidak memiliki jawaban tunggal. Perdebatannya telah berlangsung puluhan tahun tanpa kesimpulan yang konklusif.</a:t>
            </a:r>
            <a:endParaRPr lang="en-US" sz="1500" dirty="0"/>
          </a:p>
        </p:txBody>
      </p:sp>
      <p:sp>
        <p:nvSpPr>
          <p:cNvPr id="5" name="Shape 3"/>
          <p:cNvSpPr/>
          <p:nvPr/>
        </p:nvSpPr>
        <p:spPr>
          <a:xfrm>
            <a:off x="640080" y="5989320"/>
            <a:ext cx="173736" cy="173736"/>
          </a:xfrm>
          <a:prstGeom prst="ellipse">
            <a:avLst/>
          </a:prstGeom>
          <a:solidFill>
            <a:srgbClr val="AB463C"/>
          </a:solidFill>
          <a:ln/>
        </p:spPr>
      </p:sp>
      <p:sp>
        <p:nvSpPr>
          <p:cNvPr id="6" name="Shape 4"/>
          <p:cNvSpPr/>
          <p:nvPr/>
        </p:nvSpPr>
        <p:spPr>
          <a:xfrm>
            <a:off x="914400" y="5989320"/>
            <a:ext cx="173736" cy="173736"/>
          </a:xfrm>
          <a:prstGeom prst="ellipse">
            <a:avLst/>
          </a:prstGeom>
          <a:solidFill>
            <a:srgbClr val="B96A2C"/>
          </a:solidFill>
          <a:ln/>
        </p:spPr>
      </p:sp>
      <p:sp>
        <p:nvSpPr>
          <p:cNvPr id="7" name="Shape 5"/>
          <p:cNvSpPr/>
          <p:nvPr/>
        </p:nvSpPr>
        <p:spPr>
          <a:xfrm>
            <a:off x="1188720" y="5989320"/>
            <a:ext cx="173736" cy="173736"/>
          </a:xfrm>
          <a:prstGeom prst="ellipse">
            <a:avLst/>
          </a:prstGeom>
          <a:solidFill>
            <a:srgbClr val="9C8226"/>
          </a:solidFill>
          <a:ln/>
        </p:spPr>
      </p:sp>
      <p:sp>
        <p:nvSpPr>
          <p:cNvPr id="8" name="Shape 6"/>
          <p:cNvSpPr/>
          <p:nvPr/>
        </p:nvSpPr>
        <p:spPr>
          <a:xfrm>
            <a:off x="1463040" y="5989320"/>
            <a:ext cx="173736" cy="173736"/>
          </a:xfrm>
          <a:prstGeom prst="ellipse">
            <a:avLst/>
          </a:prstGeom>
          <a:solidFill>
            <a:srgbClr val="5A8637"/>
          </a:solidFill>
          <a:ln/>
        </p:spPr>
      </p:sp>
      <p:sp>
        <p:nvSpPr>
          <p:cNvPr id="9" name="Shape 7"/>
          <p:cNvSpPr/>
          <p:nvPr/>
        </p:nvSpPr>
        <p:spPr>
          <a:xfrm>
            <a:off x="1737360" y="5989320"/>
            <a:ext cx="173736" cy="173736"/>
          </a:xfrm>
          <a:prstGeom prst="ellipse">
            <a:avLst/>
          </a:prstGeom>
          <a:solidFill>
            <a:srgbClr val="2C8072"/>
          </a:solidFill>
          <a:ln/>
        </p:spPr>
      </p:sp>
      <p:sp>
        <p:nvSpPr>
          <p:cNvPr id="10" name="Shape 8"/>
          <p:cNvSpPr/>
          <p:nvPr/>
        </p:nvSpPr>
        <p:spPr>
          <a:xfrm>
            <a:off x="2011680" y="5989320"/>
            <a:ext cx="173736" cy="173736"/>
          </a:xfrm>
          <a:prstGeom prst="ellipse">
            <a:avLst/>
          </a:prstGeom>
          <a:solidFill>
            <a:srgbClr val="2C6F92"/>
          </a:solidFill>
          <a:ln/>
        </p:spPr>
      </p:sp>
      <p:sp>
        <p:nvSpPr>
          <p:cNvPr id="11" name="Shape 9"/>
          <p:cNvSpPr/>
          <p:nvPr/>
        </p:nvSpPr>
        <p:spPr>
          <a:xfrm>
            <a:off x="2286000" y="5989320"/>
            <a:ext cx="173736" cy="173736"/>
          </a:xfrm>
          <a:prstGeom prst="ellipse">
            <a:avLst/>
          </a:prstGeom>
          <a:solidFill>
            <a:srgbClr val="4A5CA4"/>
          </a:solidFill>
          <a:ln/>
        </p:spPr>
      </p:sp>
      <p:sp>
        <p:nvSpPr>
          <p:cNvPr id="12" name="Shape 10"/>
          <p:cNvSpPr/>
          <p:nvPr/>
        </p:nvSpPr>
        <p:spPr>
          <a:xfrm>
            <a:off x="2560320" y="5989320"/>
            <a:ext cx="173736" cy="173736"/>
          </a:xfrm>
          <a:prstGeom prst="ellipse">
            <a:avLst/>
          </a:prstGeom>
          <a:solidFill>
            <a:srgbClr val="764B99"/>
          </a:solidFill>
          <a:ln/>
        </p:spPr>
      </p:sp>
      <p:sp>
        <p:nvSpPr>
          <p:cNvPr id="13" name="Shape 11"/>
          <p:cNvSpPr/>
          <p:nvPr/>
        </p:nvSpPr>
        <p:spPr>
          <a:xfrm>
            <a:off x="2834640" y="5989320"/>
            <a:ext cx="173736" cy="173736"/>
          </a:xfrm>
          <a:prstGeom prst="ellipse">
            <a:avLst/>
          </a:prstGeom>
          <a:solidFill>
            <a:srgbClr val="9E4176"/>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4</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Profil dan perkembangan industri oil sands</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19</a:t>
            </a:r>
            <a:endParaRPr lang="en-US" sz="1000" dirty="0"/>
          </a:p>
        </p:txBody>
      </p:sp>
      <p:sp>
        <p:nvSpPr>
          <p:cNvPr id="5" name="Shape 3"/>
          <p:cNvSpPr/>
          <p:nvPr/>
        </p:nvSpPr>
        <p:spPr>
          <a:xfrm>
            <a:off x="640080" y="1517904"/>
            <a:ext cx="4799868" cy="2304288"/>
          </a:xfrm>
          <a:prstGeom prst="roundRect">
            <a:avLst>
              <a:gd name="adj" fmla="val 1587"/>
            </a:avLst>
          </a:prstGeom>
          <a:solidFill>
            <a:srgbClr val="F6F4FC"/>
          </a:solidFill>
          <a:ln w="9525">
            <a:solidFill>
              <a:srgbClr val="D9D5E6"/>
            </a:solidFill>
            <a:prstDash val="solid"/>
          </a:ln>
        </p:spPr>
      </p:sp>
      <p:sp>
        <p:nvSpPr>
          <p:cNvPr id="6" name="Text 4"/>
          <p:cNvSpPr txBox="1"/>
          <p:nvPr/>
        </p:nvSpPr>
        <p:spPr>
          <a:xfrm>
            <a:off x="914400" y="1645920"/>
            <a:ext cx="4251228" cy="256032"/>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Apa itu oil sands</a:t>
            </a:r>
            <a:endParaRPr lang="en-US" sz="1200" dirty="0"/>
          </a:p>
        </p:txBody>
      </p:sp>
      <p:sp>
        <p:nvSpPr>
          <p:cNvPr id="7" name="Text 5"/>
          <p:cNvSpPr txBox="1"/>
          <p:nvPr/>
        </p:nvSpPr>
        <p:spPr>
          <a:xfrm>
            <a:off x="914400" y="1920240"/>
            <a:ext cx="4205508" cy="1755648"/>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Campuran pasir, lempung, air dan bitumen yang berat dan sangat kental. Depositnya ada di Kazakhstan, Rusia dan Venezuela, namun deposit di provinsi Alberta merupakan yang terbesar dan paling berkembang secara komersial.</a:t>
            </a:r>
            <a:endParaRPr lang="en-US" sz="1150" dirty="0"/>
          </a:p>
          <a:p>
            <a:pPr indent="0" marL="0">
              <a:lnSpc>
                <a:spcPts val="1600"/>
              </a:lnSpc>
              <a:buNone/>
            </a:pPr>
            <a:endParaRPr lang="en-US" sz="1150" dirty="0"/>
          </a:p>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Luasnya sekitar 140.000 kilometer persegi dengan Fort McMurray sebagai pusat industrinya.</a:t>
            </a:r>
            <a:endParaRPr lang="en-US" sz="1150" dirty="0"/>
          </a:p>
        </p:txBody>
      </p:sp>
      <p:sp>
        <p:nvSpPr>
          <p:cNvPr id="8" name="Text 6"/>
          <p:cNvSpPr txBox="1"/>
          <p:nvPr/>
        </p:nvSpPr>
        <p:spPr>
          <a:xfrm>
            <a:off x="5668548" y="1517904"/>
            <a:ext cx="5880324" cy="256032"/>
          </a:xfrm>
          <a:prstGeom prst="rect">
            <a:avLst/>
          </a:prstGeom>
          <a:noFill/>
          <a:ln/>
        </p:spPr>
        <p:txBody>
          <a:bodyPr wrap="square" lIns="0" tIns="0" rIns="0" bIns="0" rtlCol="0" anchor="t"/>
          <a:lstStyle/>
          <a:p>
            <a:pPr indent="0" marL="0">
              <a:buNone/>
            </a:pPr>
            <a:r>
              <a:rPr lang="en-US" sz="1300" b="1" dirty="0">
                <a:solidFill>
                  <a:srgbClr val="2E2566"/>
                </a:solidFill>
                <a:latin typeface="Calibri" pitchFamily="34" charset="0"/>
                <a:ea typeface="Calibri" pitchFamily="34" charset="-122"/>
                <a:cs typeface="Calibri" pitchFamily="34" charset="-120"/>
              </a:rPr>
              <a:t>Perjalanan pengembangannya</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8548" y="1810512"/>
          <a:ext cx="5880324" cy="914400"/>
        </p:xfrm>
        <a:graphic>
          <a:graphicData uri="http://schemas.openxmlformats.org/drawingml/2006/table">
            <a:tbl>
              <a:tblPr/>
              <a:tblGrid>
                <a:gridCol w="1234440"/>
                <a:gridCol w="4645884"/>
              </a:tblGrid>
              <a:tr h="274320">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1920-an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Paten pertama untuk proses pemisahan komersial</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20624">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1960-an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Operasi komersial baru dimulai serius. Perkembangan lambat karena biaya ekstraksi tinggi dan harga minyak rendah</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20624">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2000-an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Harga minyak melonjak. Shell, Chevron, Total, Exxon dan CNOOC masuk bersama Suncor dan Syncrude</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274320">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2012</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Investasi tahunan memuncak di atas 30 miliar dolar Amerika</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20624">
                <a:tc>
                  <a:txBody>
                    <a:bodyPr/>
                    <a:lstStyle/>
                    <a:p>
                      <a:pPr indent="0" marL="0">
                        <a:buNone/>
                      </a:pPr>
                      <a:r>
                        <a:rPr lang="en-US" sz="1150" b="1" dirty="0">
                          <a:solidFill>
                            <a:srgbClr val="231F3D"/>
                          </a:solidFill>
                          <a:latin typeface="Calibri" pitchFamily="34" charset="0"/>
                          <a:ea typeface="Calibri" pitchFamily="34" charset="-122"/>
                          <a:cs typeface="Calibri" pitchFamily="34" charset="-120"/>
                        </a:rPr>
                        <a:t>2018</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Investasi turun sampai dua pertiga menjadi sekitar 10 miliar dolar per tahun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
        <p:nvSpPr>
          <p:cNvPr id="10" name="Shape 7"/>
          <p:cNvSpPr/>
          <p:nvPr/>
        </p:nvSpPr>
        <p:spPr>
          <a:xfrm>
            <a:off x="640080" y="4069080"/>
            <a:ext cx="2590038" cy="1051560"/>
          </a:xfrm>
          <a:prstGeom prst="roundRect">
            <a:avLst>
              <a:gd name="adj" fmla="val 3478"/>
            </a:avLst>
          </a:prstGeom>
          <a:solidFill>
            <a:srgbClr val="F6F4FC"/>
          </a:solidFill>
          <a:ln w="9525">
            <a:solidFill>
              <a:srgbClr val="D9D5E6"/>
            </a:solidFill>
            <a:prstDash val="solid"/>
          </a:ln>
        </p:spPr>
      </p:sp>
      <p:sp>
        <p:nvSpPr>
          <p:cNvPr id="11" name="Text 8"/>
          <p:cNvSpPr txBox="1"/>
          <p:nvPr/>
        </p:nvSpPr>
        <p:spPr>
          <a:xfrm>
            <a:off x="822960" y="4187952"/>
            <a:ext cx="2224278" cy="457200"/>
          </a:xfrm>
          <a:prstGeom prst="rect">
            <a:avLst/>
          </a:prstGeom>
          <a:noFill/>
          <a:ln/>
        </p:spPr>
        <p:txBody>
          <a:bodyPr wrap="square" lIns="0" tIns="0" rIns="0" bIns="0" rtlCol="0" anchor="t"/>
          <a:lstStyle/>
          <a:p>
            <a:pPr indent="0" marL="0">
              <a:buNone/>
            </a:pPr>
            <a:r>
              <a:rPr lang="en-US" sz="2500" b="1" dirty="0">
                <a:solidFill>
                  <a:srgbClr val="2E2566"/>
                </a:solidFill>
                <a:latin typeface="Cambria" pitchFamily="34" charset="0"/>
                <a:ea typeface="Cambria" pitchFamily="34" charset="-122"/>
                <a:cs typeface="Cambria" pitchFamily="34" charset="-120"/>
              </a:rPr>
              <a:t>0,5 juta</a:t>
            </a:r>
            <a:endParaRPr lang="en-US" sz="2500" dirty="0"/>
          </a:p>
        </p:txBody>
      </p:sp>
      <p:sp>
        <p:nvSpPr>
          <p:cNvPr id="12" name="Text 9"/>
          <p:cNvSpPr txBox="1"/>
          <p:nvPr/>
        </p:nvSpPr>
        <p:spPr>
          <a:xfrm>
            <a:off x="822960" y="4663440"/>
            <a:ext cx="2224278" cy="402336"/>
          </a:xfrm>
          <a:prstGeom prst="rect">
            <a:avLst/>
          </a:prstGeom>
          <a:noFill/>
          <a:ln/>
        </p:spPr>
        <p:txBody>
          <a:bodyPr wrap="square" lIns="0" tIns="0" rIns="0" bIns="0" rtlCol="0" anchor="t"/>
          <a:lstStyle/>
          <a:p>
            <a:pPr indent="0" marL="0">
              <a:lnSpc>
                <a:spcPts val="1400"/>
              </a:lnSpc>
              <a:buNone/>
            </a:pPr>
            <a:r>
              <a:rPr lang="en-US" sz="1100" dirty="0">
                <a:solidFill>
                  <a:srgbClr val="5C5773"/>
                </a:solidFill>
                <a:latin typeface="Calibri" pitchFamily="34" charset="0"/>
                <a:ea typeface="Calibri" pitchFamily="34" charset="-122"/>
                <a:cs typeface="Calibri" pitchFamily="34" charset="-120"/>
              </a:rPr>
              <a:t>barel per hari pada 1997</a:t>
            </a:r>
            <a:endParaRPr lang="en-US" sz="1100" dirty="0"/>
          </a:p>
        </p:txBody>
      </p:sp>
      <p:sp>
        <p:nvSpPr>
          <p:cNvPr id="13" name="Shape 10"/>
          <p:cNvSpPr/>
          <p:nvPr/>
        </p:nvSpPr>
        <p:spPr>
          <a:xfrm>
            <a:off x="3412998" y="4069080"/>
            <a:ext cx="2590038" cy="1051560"/>
          </a:xfrm>
          <a:prstGeom prst="roundRect">
            <a:avLst>
              <a:gd name="adj" fmla="val 3478"/>
            </a:avLst>
          </a:prstGeom>
          <a:solidFill>
            <a:srgbClr val="EEEBF8"/>
          </a:solidFill>
          <a:ln w="9525">
            <a:solidFill>
              <a:srgbClr val="D9D5E6"/>
            </a:solidFill>
            <a:prstDash val="solid"/>
          </a:ln>
        </p:spPr>
      </p:sp>
      <p:sp>
        <p:nvSpPr>
          <p:cNvPr id="14" name="Text 11"/>
          <p:cNvSpPr txBox="1"/>
          <p:nvPr/>
        </p:nvSpPr>
        <p:spPr>
          <a:xfrm>
            <a:off x="3595878" y="4187952"/>
            <a:ext cx="2224278" cy="457200"/>
          </a:xfrm>
          <a:prstGeom prst="rect">
            <a:avLst/>
          </a:prstGeom>
          <a:noFill/>
          <a:ln/>
        </p:spPr>
        <p:txBody>
          <a:bodyPr wrap="square" lIns="0" tIns="0" rIns="0" bIns="0" rtlCol="0" anchor="t"/>
          <a:lstStyle/>
          <a:p>
            <a:pPr indent="0" marL="0">
              <a:buNone/>
            </a:pPr>
            <a:r>
              <a:rPr lang="en-US" sz="2500" b="1" dirty="0">
                <a:solidFill>
                  <a:srgbClr val="2E2566"/>
                </a:solidFill>
                <a:latin typeface="Cambria" pitchFamily="34" charset="0"/>
                <a:ea typeface="Cambria" pitchFamily="34" charset="-122"/>
                <a:cs typeface="Cambria" pitchFamily="34" charset="-120"/>
              </a:rPr>
              <a:t>2,77 juta</a:t>
            </a:r>
            <a:endParaRPr lang="en-US" sz="2500" dirty="0"/>
          </a:p>
        </p:txBody>
      </p:sp>
      <p:sp>
        <p:nvSpPr>
          <p:cNvPr id="15" name="Text 12"/>
          <p:cNvSpPr txBox="1"/>
          <p:nvPr/>
        </p:nvSpPr>
        <p:spPr>
          <a:xfrm>
            <a:off x="3595878" y="4663440"/>
            <a:ext cx="2224278" cy="402336"/>
          </a:xfrm>
          <a:prstGeom prst="rect">
            <a:avLst/>
          </a:prstGeom>
          <a:noFill/>
          <a:ln/>
        </p:spPr>
        <p:txBody>
          <a:bodyPr wrap="square" lIns="0" tIns="0" rIns="0" bIns="0" rtlCol="0" anchor="t"/>
          <a:lstStyle/>
          <a:p>
            <a:pPr indent="0" marL="0">
              <a:lnSpc>
                <a:spcPts val="1400"/>
              </a:lnSpc>
              <a:buNone/>
            </a:pPr>
            <a:r>
              <a:rPr lang="en-US" sz="1100" dirty="0">
                <a:solidFill>
                  <a:srgbClr val="5C5773"/>
                </a:solidFill>
                <a:latin typeface="Calibri" pitchFamily="34" charset="0"/>
                <a:ea typeface="Calibri" pitchFamily="34" charset="-122"/>
                <a:cs typeface="Calibri" pitchFamily="34" charset="-120"/>
              </a:rPr>
              <a:t>barel per hari pada 2017</a:t>
            </a:r>
            <a:endParaRPr lang="en-US" sz="1100" dirty="0"/>
          </a:p>
        </p:txBody>
      </p:sp>
      <p:sp>
        <p:nvSpPr>
          <p:cNvPr id="16" name="Shape 13"/>
          <p:cNvSpPr/>
          <p:nvPr/>
        </p:nvSpPr>
        <p:spPr>
          <a:xfrm>
            <a:off x="6185916" y="4069080"/>
            <a:ext cx="2590038" cy="1051560"/>
          </a:xfrm>
          <a:prstGeom prst="roundRect">
            <a:avLst>
              <a:gd name="adj" fmla="val 3478"/>
            </a:avLst>
          </a:prstGeom>
          <a:solidFill>
            <a:srgbClr val="F6F4FC"/>
          </a:solidFill>
          <a:ln w="9525">
            <a:solidFill>
              <a:srgbClr val="D9D5E6"/>
            </a:solidFill>
            <a:prstDash val="solid"/>
          </a:ln>
        </p:spPr>
      </p:sp>
      <p:sp>
        <p:nvSpPr>
          <p:cNvPr id="17" name="Text 14"/>
          <p:cNvSpPr txBox="1"/>
          <p:nvPr/>
        </p:nvSpPr>
        <p:spPr>
          <a:xfrm>
            <a:off x="6368796" y="4187952"/>
            <a:ext cx="2224278" cy="457200"/>
          </a:xfrm>
          <a:prstGeom prst="rect">
            <a:avLst/>
          </a:prstGeom>
          <a:noFill/>
          <a:ln/>
        </p:spPr>
        <p:txBody>
          <a:bodyPr wrap="square" lIns="0" tIns="0" rIns="0" bIns="0" rtlCol="0" anchor="t"/>
          <a:lstStyle/>
          <a:p>
            <a:pPr indent="0" marL="0">
              <a:buNone/>
            </a:pPr>
            <a:r>
              <a:rPr lang="en-US" sz="2500" b="1" dirty="0">
                <a:solidFill>
                  <a:srgbClr val="2E2566"/>
                </a:solidFill>
                <a:latin typeface="Cambria" pitchFamily="34" charset="0"/>
                <a:ea typeface="Cambria" pitchFamily="34" charset="-122"/>
                <a:cs typeface="Cambria" pitchFamily="34" charset="-120"/>
              </a:rPr>
              <a:t>140.000</a:t>
            </a:r>
            <a:endParaRPr lang="en-US" sz="2500" dirty="0"/>
          </a:p>
        </p:txBody>
      </p:sp>
      <p:sp>
        <p:nvSpPr>
          <p:cNvPr id="18" name="Text 15"/>
          <p:cNvSpPr txBox="1"/>
          <p:nvPr/>
        </p:nvSpPr>
        <p:spPr>
          <a:xfrm>
            <a:off x="6368796" y="4663440"/>
            <a:ext cx="2224278" cy="402336"/>
          </a:xfrm>
          <a:prstGeom prst="rect">
            <a:avLst/>
          </a:prstGeom>
          <a:noFill/>
          <a:ln/>
        </p:spPr>
        <p:txBody>
          <a:bodyPr wrap="square" lIns="0" tIns="0" rIns="0" bIns="0" rtlCol="0" anchor="t"/>
          <a:lstStyle/>
          <a:p>
            <a:pPr indent="0" marL="0">
              <a:lnSpc>
                <a:spcPts val="1400"/>
              </a:lnSpc>
              <a:buNone/>
            </a:pPr>
            <a:r>
              <a:rPr lang="en-US" sz="1100" dirty="0">
                <a:solidFill>
                  <a:srgbClr val="5C5773"/>
                </a:solidFill>
                <a:latin typeface="Calibri" pitchFamily="34" charset="0"/>
                <a:ea typeface="Calibri" pitchFamily="34" charset="-122"/>
                <a:cs typeface="Calibri" pitchFamily="34" charset="-120"/>
              </a:rPr>
              <a:t>kilometer persegi di Alberta</a:t>
            </a:r>
            <a:endParaRPr lang="en-US" sz="1100" dirty="0"/>
          </a:p>
        </p:txBody>
      </p:sp>
      <p:sp>
        <p:nvSpPr>
          <p:cNvPr id="19" name="Shape 16"/>
          <p:cNvSpPr/>
          <p:nvPr/>
        </p:nvSpPr>
        <p:spPr>
          <a:xfrm>
            <a:off x="8958834" y="4069080"/>
            <a:ext cx="2590038" cy="1051560"/>
          </a:xfrm>
          <a:prstGeom prst="roundRect">
            <a:avLst>
              <a:gd name="adj" fmla="val 3478"/>
            </a:avLst>
          </a:prstGeom>
          <a:solidFill>
            <a:srgbClr val="F6F4FC"/>
          </a:solidFill>
          <a:ln w="9525">
            <a:solidFill>
              <a:srgbClr val="D9D5E6"/>
            </a:solidFill>
            <a:prstDash val="solid"/>
          </a:ln>
        </p:spPr>
      </p:sp>
      <p:sp>
        <p:nvSpPr>
          <p:cNvPr id="20" name="Text 17"/>
          <p:cNvSpPr txBox="1"/>
          <p:nvPr/>
        </p:nvSpPr>
        <p:spPr>
          <a:xfrm>
            <a:off x="9141714" y="4187952"/>
            <a:ext cx="2224278" cy="457200"/>
          </a:xfrm>
          <a:prstGeom prst="rect">
            <a:avLst/>
          </a:prstGeom>
          <a:noFill/>
          <a:ln/>
        </p:spPr>
        <p:txBody>
          <a:bodyPr wrap="square" lIns="0" tIns="0" rIns="0" bIns="0" rtlCol="0" anchor="t"/>
          <a:lstStyle/>
          <a:p>
            <a:pPr indent="0" marL="0">
              <a:buNone/>
            </a:pPr>
            <a:r>
              <a:rPr lang="en-US" sz="2500" b="1" dirty="0">
                <a:solidFill>
                  <a:srgbClr val="2E2566"/>
                </a:solidFill>
                <a:latin typeface="Cambria" pitchFamily="34" charset="0"/>
                <a:ea typeface="Cambria" pitchFamily="34" charset="-122"/>
                <a:cs typeface="Cambria" pitchFamily="34" charset="-120"/>
              </a:rPr>
              <a:t>99%</a:t>
            </a:r>
            <a:endParaRPr lang="en-US" sz="2500" dirty="0"/>
          </a:p>
        </p:txBody>
      </p:sp>
      <p:sp>
        <p:nvSpPr>
          <p:cNvPr id="21" name="Text 18"/>
          <p:cNvSpPr txBox="1"/>
          <p:nvPr/>
        </p:nvSpPr>
        <p:spPr>
          <a:xfrm>
            <a:off x="9141714" y="4663440"/>
            <a:ext cx="2224278" cy="402336"/>
          </a:xfrm>
          <a:prstGeom prst="rect">
            <a:avLst/>
          </a:prstGeom>
          <a:noFill/>
          <a:ln/>
        </p:spPr>
        <p:txBody>
          <a:bodyPr wrap="square" lIns="0" tIns="0" rIns="0" bIns="0" rtlCol="0" anchor="t"/>
          <a:lstStyle/>
          <a:p>
            <a:pPr indent="0" marL="0">
              <a:lnSpc>
                <a:spcPts val="1400"/>
              </a:lnSpc>
              <a:buNone/>
            </a:pPr>
            <a:r>
              <a:rPr lang="en-US" sz="1100" dirty="0">
                <a:solidFill>
                  <a:srgbClr val="5C5773"/>
                </a:solidFill>
                <a:latin typeface="Calibri" pitchFamily="34" charset="0"/>
                <a:ea typeface="Calibri" pitchFamily="34" charset="-122"/>
                <a:cs typeface="Calibri" pitchFamily="34" charset="-120"/>
              </a:rPr>
              <a:t>ekspor minyak Kanada ke Amerika</a:t>
            </a:r>
            <a:endParaRPr lang="en-US" sz="1100" dirty="0"/>
          </a:p>
        </p:txBody>
      </p:sp>
      <p:sp>
        <p:nvSpPr>
          <p:cNvPr id="22" name="Text 19"/>
          <p:cNvSpPr txBox="1"/>
          <p:nvPr/>
        </p:nvSpPr>
        <p:spPr>
          <a:xfrm>
            <a:off x="640080" y="5321808"/>
            <a:ext cx="10908792" cy="320040"/>
          </a:xfrm>
          <a:prstGeom prst="rect">
            <a:avLst/>
          </a:prstGeom>
          <a:noFill/>
          <a:ln/>
        </p:spPr>
        <p:txBody>
          <a:bodyPr wrap="square" lIns="0" tIns="0" rIns="0" bIns="0" rtlCol="0" anchor="t"/>
          <a:lstStyle/>
          <a:p>
            <a:pPr indent="0" marL="0">
              <a:buNone/>
            </a:pPr>
            <a:r>
              <a:rPr lang="en-US" sz="1250" i="1" dirty="0">
                <a:solidFill>
                  <a:srgbClr val="2E2566"/>
                </a:solidFill>
                <a:latin typeface="Calibri" pitchFamily="34" charset="0"/>
                <a:ea typeface="Calibri" pitchFamily="34" charset="-122"/>
                <a:cs typeface="Calibri" pitchFamily="34" charset="-120"/>
              </a:rPr>
              <a:t>Meskipun investasi turun, produksinya terus meningkat setiap tahun. Ketegangan itulah yang membuat kasus ini belum selesai.</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4</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Argumen pendukung dan argumen penentang</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640080" y="1444752"/>
            <a:ext cx="10908792" cy="274320"/>
          </a:xfrm>
          <a:prstGeom prst="rect">
            <a:avLst/>
          </a:prstGeom>
          <a:noFill/>
          <a:ln/>
        </p:spPr>
        <p:txBody>
          <a:bodyPr wrap="square" lIns="0" tIns="0" rIns="0" bIns="0" rtlCol="0" anchor="t"/>
          <a:lstStyle/>
          <a:p>
            <a:pPr indent="0" marL="0">
              <a:lnSpc>
                <a:spcPts val="1900"/>
              </a:lnSpc>
              <a:buNone/>
            </a:pPr>
            <a:r>
              <a:rPr lang="en-US" sz="1350" dirty="0">
                <a:solidFill>
                  <a:srgbClr val="231F3D"/>
                </a:solidFill>
                <a:latin typeface="Calibri" pitchFamily="34" charset="0"/>
                <a:ea typeface="Calibri" pitchFamily="34" charset="-122"/>
                <a:cs typeface="Calibri" pitchFamily="34" charset="-120"/>
              </a:rPr>
              <a:t>Pengembangan oil sands wajib memenuhi regulasi Kanada, namun kedua sisi menyajikan angka yang sama besar.</a:t>
            </a:r>
            <a:endParaRPr lang="en-US" sz="1350" dirty="0"/>
          </a:p>
        </p:txBody>
      </p:sp>
      <p:sp>
        <p:nvSpPr>
          <p:cNvPr id="6" name="Text 4"/>
          <p:cNvSpPr txBox="1"/>
          <p:nvPr/>
        </p:nvSpPr>
        <p:spPr>
          <a:xfrm>
            <a:off x="640080" y="1920240"/>
            <a:ext cx="5317236" cy="274320"/>
          </a:xfrm>
          <a:prstGeom prst="rect">
            <a:avLst/>
          </a:prstGeom>
          <a:noFill/>
          <a:ln/>
        </p:spPr>
        <p:txBody>
          <a:bodyPr wrap="square" lIns="0" tIns="0" rIns="0" bIns="0" rtlCol="0" anchor="t"/>
          <a:lstStyle/>
          <a:p>
            <a:pPr indent="0" marL="0">
              <a:buNone/>
            </a:pPr>
            <a:r>
              <a:rPr lang="en-US" sz="1350" b="1" dirty="0">
                <a:solidFill>
                  <a:srgbClr val="5A8637"/>
                </a:solidFill>
                <a:latin typeface="Calibri" pitchFamily="34" charset="0"/>
                <a:ea typeface="Calibri" pitchFamily="34" charset="-122"/>
                <a:cs typeface="Calibri" pitchFamily="34" charset="-120"/>
              </a:rPr>
              <a:t>Manfaat ekonomi (halaman 130)</a:t>
            </a:r>
            <a:endParaRPr lang="en-US" sz="13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2212848"/>
          <a:ext cx="5317236" cy="914400"/>
        </p:xfrm>
        <a:graphic>
          <a:graphicData uri="http://schemas.openxmlformats.org/drawingml/2006/table">
            <a:tbl>
              <a:tblPr/>
              <a:tblGrid>
                <a:gridCol w="2606040"/>
                <a:gridCol w="2743200"/>
              </a:tblGrid>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Lapangan kerja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206.000 pada 2017 menjadi 461.000 pada 2027</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Pemasok di luar Alberta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3.400 perusahaan Kanada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Kontribusi ke ekonomi Kanada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CAD 1,6 triliun pada 2017 sampai 2027</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Pajak federal dan provinsi</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CAD 139 miliar dan CAD 98 miliar</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Dampak di Amerika Serikat</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USD 16 miliar dan 145.000 pekerjaan</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Bisnis perusahaan masyarakat adat</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CAD 3,3 miliar untuk 399 perusahaan dari 65 komunitas</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
        <p:nvSpPr>
          <p:cNvPr id="8" name="Text 5"/>
          <p:cNvSpPr txBox="1"/>
          <p:nvPr/>
        </p:nvSpPr>
        <p:spPr>
          <a:xfrm>
            <a:off x="6231636" y="1920240"/>
            <a:ext cx="5317236" cy="274320"/>
          </a:xfrm>
          <a:prstGeom prst="rect">
            <a:avLst/>
          </a:prstGeom>
          <a:noFill/>
          <a:ln/>
        </p:spPr>
        <p:txBody>
          <a:bodyPr wrap="square" lIns="0" tIns="0" rIns="0" bIns="0" rtlCol="0" anchor="t"/>
          <a:lstStyle/>
          <a:p>
            <a:pPr indent="0" marL="0">
              <a:buNone/>
            </a:pPr>
            <a:r>
              <a:rPr lang="en-US" sz="1350" b="1" dirty="0">
                <a:solidFill>
                  <a:srgbClr val="AB463C"/>
                </a:solidFill>
                <a:latin typeface="Calibri" pitchFamily="34" charset="0"/>
                <a:ea typeface="Calibri" pitchFamily="34" charset="-122"/>
                <a:cs typeface="Calibri" pitchFamily="34" charset="-120"/>
              </a:rPr>
              <a:t>Dampak lingkungan (halaman 131)</a:t>
            </a:r>
            <a:endParaRPr lang="en-US" sz="135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231636" y="2212848"/>
          <a:ext cx="5317236" cy="914400"/>
        </p:xfrm>
        <a:graphic>
          <a:graphicData uri="http://schemas.openxmlformats.org/drawingml/2006/table">
            <a:tbl>
              <a:tblPr/>
              <a:tblGrid>
                <a:gridCol w="2377440"/>
                <a:gridCol w="2971800"/>
              </a:tblGrid>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Emisi gas rumah kaca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20 persen lebih tinggi dari minyak konvensional</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Kontribusi emisi</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10 persen emisi Kanada, 0,14 persen emisi global</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Proyeksi ekspansi</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b="1" dirty="0">
                          <a:solidFill>
                            <a:srgbClr val="231F3D"/>
                          </a:solidFill>
                          <a:latin typeface="Calibri" pitchFamily="34" charset="0"/>
                          <a:ea typeface="Calibri" pitchFamily="34" charset="-122"/>
                          <a:cs typeface="Calibri" pitchFamily="34" charset="-120"/>
                        </a:rPr>
                        <a:t>Tambahan 50 sampai 150 juta ton per tahun pada 2030</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Kolam limbah beracun</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220 kilometer persegi berisi 1 triliun liter yang bocor</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Kerusakan habitat</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Hutan boreal seluas Kota New York telah hancur</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393192">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Reklamasi</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Hanya 11 persen jejak tambang aktif yang direklamasi</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
        <p:nvSpPr>
          <p:cNvPr id="10" name="Shape 6"/>
          <p:cNvSpPr/>
          <p:nvPr/>
        </p:nvSpPr>
        <p:spPr>
          <a:xfrm>
            <a:off x="640080" y="4754880"/>
            <a:ext cx="10908792" cy="1234440"/>
          </a:xfrm>
          <a:prstGeom prst="roundRect">
            <a:avLst>
              <a:gd name="adj" fmla="val 2963"/>
            </a:avLst>
          </a:prstGeom>
          <a:solidFill>
            <a:srgbClr val="EEEBF8"/>
          </a:solidFill>
          <a:ln w="9525">
            <a:solidFill>
              <a:srgbClr val="D9D5E6"/>
            </a:solidFill>
            <a:prstDash val="solid"/>
          </a:ln>
        </p:spPr>
      </p:sp>
      <p:sp>
        <p:nvSpPr>
          <p:cNvPr id="11" name="Text 7"/>
          <p:cNvSpPr txBox="1"/>
          <p:nvPr/>
        </p:nvSpPr>
        <p:spPr>
          <a:xfrm>
            <a:off x="960120" y="4864608"/>
            <a:ext cx="10268712" cy="237744"/>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Spektrum sikap penentang</a:t>
            </a:r>
            <a:endParaRPr lang="en-US" sz="1200" dirty="0"/>
          </a:p>
        </p:txBody>
      </p:sp>
      <p:sp>
        <p:nvSpPr>
          <p:cNvPr id="12" name="Text 8"/>
          <p:cNvSpPr txBox="1"/>
          <p:nvPr/>
        </p:nvSpPr>
        <p:spPr>
          <a:xfrm>
            <a:off x="960120" y="5157216"/>
            <a:ext cx="2464308" cy="219456"/>
          </a:xfrm>
          <a:prstGeom prst="rect">
            <a:avLst/>
          </a:prstGeom>
          <a:noFill/>
          <a:ln/>
        </p:spPr>
        <p:txBody>
          <a:bodyPr wrap="square" lIns="0" tIns="0" rIns="0" bIns="0" rtlCol="0" anchor="t"/>
          <a:lstStyle/>
          <a:p>
            <a:pPr indent="0" marL="0">
              <a:buNone/>
            </a:pPr>
            <a:r>
              <a:rPr lang="en-US" sz="1150" b="1" dirty="0">
                <a:solidFill>
                  <a:srgbClr val="2E2566"/>
                </a:solidFill>
                <a:latin typeface="Calibri" pitchFamily="34" charset="0"/>
                <a:ea typeface="Calibri" pitchFamily="34" charset="-122"/>
                <a:cs typeface="Calibri" pitchFamily="34" charset="-120"/>
              </a:rPr>
              <a:t>Sierra Club</a:t>
            </a:r>
            <a:endParaRPr lang="en-US" sz="1150" dirty="0"/>
          </a:p>
        </p:txBody>
      </p:sp>
      <p:sp>
        <p:nvSpPr>
          <p:cNvPr id="13" name="Text 9"/>
          <p:cNvSpPr txBox="1"/>
          <p:nvPr/>
        </p:nvSpPr>
        <p:spPr>
          <a:xfrm>
            <a:off x="960120" y="5376672"/>
            <a:ext cx="2464308" cy="502920"/>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Bahan bakar fosil paling beracun di planet ini</a:t>
            </a:r>
            <a:endParaRPr lang="en-US" sz="1050" dirty="0"/>
          </a:p>
        </p:txBody>
      </p:sp>
      <p:sp>
        <p:nvSpPr>
          <p:cNvPr id="14" name="Text 10"/>
          <p:cNvSpPr txBox="1"/>
          <p:nvPr/>
        </p:nvSpPr>
        <p:spPr>
          <a:xfrm>
            <a:off x="3561588" y="5157216"/>
            <a:ext cx="2464308" cy="219456"/>
          </a:xfrm>
          <a:prstGeom prst="rect">
            <a:avLst/>
          </a:prstGeom>
          <a:noFill/>
          <a:ln/>
        </p:spPr>
        <p:txBody>
          <a:bodyPr wrap="square" lIns="0" tIns="0" rIns="0" bIns="0" rtlCol="0" anchor="t"/>
          <a:lstStyle/>
          <a:p>
            <a:pPr indent="0" marL="0">
              <a:buNone/>
            </a:pPr>
            <a:r>
              <a:rPr lang="en-US" sz="1150" b="1" dirty="0">
                <a:solidFill>
                  <a:srgbClr val="2E2566"/>
                </a:solidFill>
                <a:latin typeface="Calibri" pitchFamily="34" charset="0"/>
                <a:ea typeface="Calibri" pitchFamily="34" charset="-122"/>
                <a:cs typeface="Calibri" pitchFamily="34" charset="-120"/>
              </a:rPr>
              <a:t>Environmental Defence</a:t>
            </a:r>
            <a:endParaRPr lang="en-US" sz="1150" dirty="0"/>
          </a:p>
        </p:txBody>
      </p:sp>
      <p:sp>
        <p:nvSpPr>
          <p:cNvPr id="15" name="Text 11"/>
          <p:cNvSpPr txBox="1"/>
          <p:nvPr/>
        </p:nvSpPr>
        <p:spPr>
          <a:xfrm>
            <a:off x="3561588" y="5376672"/>
            <a:ext cx="2464308" cy="502920"/>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Proyek paling merusak di bumi</a:t>
            </a:r>
            <a:endParaRPr lang="en-US" sz="1050" dirty="0"/>
          </a:p>
        </p:txBody>
      </p:sp>
      <p:sp>
        <p:nvSpPr>
          <p:cNvPr id="16" name="Text 12"/>
          <p:cNvSpPr txBox="1"/>
          <p:nvPr/>
        </p:nvSpPr>
        <p:spPr>
          <a:xfrm>
            <a:off x="6163056" y="5157216"/>
            <a:ext cx="2464308" cy="219456"/>
          </a:xfrm>
          <a:prstGeom prst="rect">
            <a:avLst/>
          </a:prstGeom>
          <a:noFill/>
          <a:ln/>
        </p:spPr>
        <p:txBody>
          <a:bodyPr wrap="square" lIns="0" tIns="0" rIns="0" bIns="0" rtlCol="0" anchor="t"/>
          <a:lstStyle/>
          <a:p>
            <a:pPr indent="0" marL="0">
              <a:buNone/>
            </a:pPr>
            <a:r>
              <a:rPr lang="en-US" sz="1150" b="1" dirty="0">
                <a:solidFill>
                  <a:srgbClr val="2E2566"/>
                </a:solidFill>
                <a:latin typeface="Calibri" pitchFamily="34" charset="0"/>
                <a:ea typeface="Calibri" pitchFamily="34" charset="-122"/>
                <a:cs typeface="Calibri" pitchFamily="34" charset="-120"/>
              </a:rPr>
              <a:t>Greenpeace</a:t>
            </a:r>
            <a:endParaRPr lang="en-US" sz="1150" dirty="0"/>
          </a:p>
        </p:txBody>
      </p:sp>
      <p:sp>
        <p:nvSpPr>
          <p:cNvPr id="17" name="Text 13"/>
          <p:cNvSpPr txBox="1"/>
          <p:nvPr/>
        </p:nvSpPr>
        <p:spPr>
          <a:xfrm>
            <a:off x="6163056" y="5376672"/>
            <a:ext cx="2464308" cy="502920"/>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Menyerukan penghentian tar sands</a:t>
            </a:r>
            <a:endParaRPr lang="en-US" sz="1050" dirty="0"/>
          </a:p>
        </p:txBody>
      </p:sp>
      <p:sp>
        <p:nvSpPr>
          <p:cNvPr id="18" name="Text 14"/>
          <p:cNvSpPr txBox="1"/>
          <p:nvPr/>
        </p:nvSpPr>
        <p:spPr>
          <a:xfrm>
            <a:off x="8764524" y="5157216"/>
            <a:ext cx="2464308" cy="219456"/>
          </a:xfrm>
          <a:prstGeom prst="rect">
            <a:avLst/>
          </a:prstGeom>
          <a:noFill/>
          <a:ln/>
        </p:spPr>
        <p:txBody>
          <a:bodyPr wrap="square" lIns="0" tIns="0" rIns="0" bIns="0" rtlCol="0" anchor="t"/>
          <a:lstStyle/>
          <a:p>
            <a:pPr indent="0" marL="0">
              <a:buNone/>
            </a:pPr>
            <a:r>
              <a:rPr lang="en-US" sz="1150" b="1" dirty="0">
                <a:solidFill>
                  <a:srgbClr val="2E2566"/>
                </a:solidFill>
                <a:latin typeface="Calibri" pitchFamily="34" charset="0"/>
                <a:ea typeface="Calibri" pitchFamily="34" charset="-122"/>
                <a:cs typeface="Calibri" pitchFamily="34" charset="-120"/>
              </a:rPr>
              <a:t>Pembina Institute</a:t>
            </a:r>
            <a:endParaRPr lang="en-US" sz="1150" dirty="0"/>
          </a:p>
        </p:txBody>
      </p:sp>
      <p:sp>
        <p:nvSpPr>
          <p:cNvPr id="19" name="Text 15"/>
          <p:cNvSpPr txBox="1"/>
          <p:nvPr/>
        </p:nvSpPr>
        <p:spPr>
          <a:xfrm>
            <a:off x="8764524" y="5376672"/>
            <a:ext cx="2464308" cy="502920"/>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Tidak menuntut penghentian, mendorong pengembangan yang bertanggung jawab</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4</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Kampanye ethical oil dan bantahannya</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21</a:t>
            </a:r>
            <a:endParaRPr lang="en-US" sz="1000" dirty="0"/>
          </a:p>
        </p:txBody>
      </p:sp>
      <p:sp>
        <p:nvSpPr>
          <p:cNvPr id="5" name="Shape 3"/>
          <p:cNvSpPr/>
          <p:nvPr/>
        </p:nvSpPr>
        <p:spPr>
          <a:xfrm>
            <a:off x="640080" y="1481328"/>
            <a:ext cx="5454396" cy="1572768"/>
          </a:xfrm>
          <a:prstGeom prst="roundRect">
            <a:avLst>
              <a:gd name="adj" fmla="val 2326"/>
            </a:avLst>
          </a:prstGeom>
          <a:solidFill>
            <a:srgbClr val="F6F4FC"/>
          </a:solidFill>
          <a:ln w="9525">
            <a:solidFill>
              <a:srgbClr val="D9D5E6"/>
            </a:solidFill>
            <a:prstDash val="solid"/>
          </a:ln>
        </p:spPr>
      </p:sp>
      <p:sp>
        <p:nvSpPr>
          <p:cNvPr id="6" name="Text 4"/>
          <p:cNvSpPr txBox="1"/>
          <p:nvPr/>
        </p:nvSpPr>
        <p:spPr>
          <a:xfrm>
            <a:off x="914400" y="1609344"/>
            <a:ext cx="4905756" cy="237744"/>
          </a:xfrm>
          <a:prstGeom prst="rect">
            <a:avLst/>
          </a:prstGeom>
          <a:noFill/>
          <a:ln/>
        </p:spPr>
        <p:txBody>
          <a:bodyPr wrap="square" lIns="0" tIns="0" rIns="0" bIns="0" rtlCol="0" anchor="t"/>
          <a:lstStyle/>
          <a:p>
            <a:pPr indent="0" marL="0">
              <a:buNone/>
            </a:pPr>
            <a:r>
              <a:rPr lang="en-US" sz="1200" b="1" spc="100" kern="0" dirty="0">
                <a:solidFill>
                  <a:srgbClr val="C97B2E"/>
                </a:solidFill>
                <a:latin typeface="Calibri" pitchFamily="34" charset="0"/>
                <a:ea typeface="Calibri" pitchFamily="34" charset="-122"/>
                <a:cs typeface="Calibri" pitchFamily="34" charset="-120"/>
              </a:rPr>
              <a:t>Argumennya</a:t>
            </a:r>
            <a:endParaRPr lang="en-US" sz="1200" dirty="0"/>
          </a:p>
        </p:txBody>
      </p:sp>
      <p:sp>
        <p:nvSpPr>
          <p:cNvPr id="7" name="Text 5"/>
          <p:cNvSpPr txBox="1"/>
          <p:nvPr/>
        </p:nvSpPr>
        <p:spPr>
          <a:xfrm>
            <a:off x="914400" y="1883664"/>
            <a:ext cx="4860036" cy="109728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Membeli minyak dari Kanada lebih bertanggung jawab karena oil sands diatur secara demokratis dan tidak terjerat korupsi. Ezra Levant memopulerkannya lewat buku Ethical Oil, lalu mendirikan Ethicaloil.org yang membagi negara menjadi penghasil ethical oil dan conflict oil.</a:t>
            </a:r>
            <a:endParaRPr lang="en-US" sz="1150" dirty="0"/>
          </a:p>
        </p:txBody>
      </p:sp>
      <p:sp>
        <p:nvSpPr>
          <p:cNvPr id="8" name="Text 6"/>
          <p:cNvSpPr txBox="1"/>
          <p:nvPr/>
        </p:nvSpPr>
        <p:spPr>
          <a:xfrm>
            <a:off x="640080" y="3145536"/>
            <a:ext cx="5454396" cy="237744"/>
          </a:xfrm>
          <a:prstGeom prst="rect">
            <a:avLst/>
          </a:prstGeom>
          <a:noFill/>
          <a:ln/>
        </p:spPr>
        <p:txBody>
          <a:bodyPr wrap="square" lIns="0" tIns="0" rIns="0" bIns="0" rtlCol="0" anchor="t"/>
          <a:lstStyle/>
          <a:p>
            <a:pPr indent="0" marL="0">
              <a:buNone/>
            </a:pPr>
            <a:r>
              <a:rPr lang="en-US" sz="1150" b="1" dirty="0">
                <a:solidFill>
                  <a:srgbClr val="5C5773"/>
                </a:solidFill>
                <a:latin typeface="Calibri" pitchFamily="34" charset="0"/>
                <a:ea typeface="Calibri" pitchFamily="34" charset="-122"/>
                <a:cs typeface="Calibri" pitchFamily="34" charset="-120"/>
              </a:rPr>
              <a:t>Tabel 3.9  Cadangan terbukti terbesar 2017 (miliar barel)</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3401568"/>
          <a:ext cx="5454396" cy="914400"/>
        </p:xfrm>
        <a:graphic>
          <a:graphicData uri="http://schemas.openxmlformats.org/drawingml/2006/table">
            <a:tbl>
              <a:tblPr/>
              <a:tblGrid>
                <a:gridCol w="502920"/>
                <a:gridCol w="3291840"/>
                <a:gridCol w="1659636"/>
              </a:tblGrid>
              <a:tr h="23774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Negara</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Cadangan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r>
              <a:tr h="224028">
                <a:tc>
                  <a:txBody>
                    <a:bodyPr/>
                    <a:lstStyle/>
                    <a:p>
                      <a:pPr indent="0" marL="0">
                        <a:buNone/>
                      </a:pPr>
                      <a:r>
                        <a:rPr lang="en-US" sz="1100" dirty="0">
                          <a:solidFill>
                            <a:srgbClr val="5C577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Venezuela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31F3D"/>
                          </a:solidFill>
                          <a:latin typeface="Calibri" pitchFamily="34" charset="0"/>
                          <a:ea typeface="Calibri" pitchFamily="34" charset="-122"/>
                          <a:cs typeface="Calibri" pitchFamily="34" charset="-120"/>
                        </a:rPr>
                        <a:t>301</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r>
              <a:tr h="224028">
                <a:tc>
                  <a:txBody>
                    <a:bodyPr/>
                    <a:lstStyle/>
                    <a:p>
                      <a:pPr indent="0" marL="0">
                        <a:buNone/>
                      </a:pPr>
                      <a:r>
                        <a:rPr lang="en-US" sz="1100" dirty="0">
                          <a:solidFill>
                            <a:srgbClr val="5C57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Arab Saudi</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31F3D"/>
                          </a:solidFill>
                          <a:latin typeface="Calibri" pitchFamily="34" charset="0"/>
                          <a:ea typeface="Calibri" pitchFamily="34" charset="-122"/>
                          <a:cs typeface="Calibri" pitchFamily="34" charset="-120"/>
                        </a:rPr>
                        <a:t>267</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r>
              <a:tr h="224028">
                <a:tc>
                  <a:txBody>
                    <a:bodyPr/>
                    <a:lstStyle/>
                    <a:p>
                      <a:pPr indent="0" marL="0">
                        <a:buNone/>
                      </a:pPr>
                      <a:r>
                        <a:rPr lang="en-US" sz="1100" dirty="0">
                          <a:solidFill>
                            <a:srgbClr val="5C577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b="1" dirty="0">
                          <a:solidFill>
                            <a:srgbClr val="2E2566"/>
                          </a:solidFill>
                          <a:latin typeface="Calibri" pitchFamily="34" charset="0"/>
                          <a:ea typeface="Calibri" pitchFamily="34" charset="-122"/>
                          <a:cs typeface="Calibri" pitchFamily="34" charset="-120"/>
                        </a:rPr>
                        <a:t>Kanada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algn="r" indent="0" marL="0">
                        <a:buNone/>
                      </a:pPr>
                      <a:r>
                        <a:rPr lang="en-US" sz="1100" b="1" dirty="0">
                          <a:solidFill>
                            <a:srgbClr val="231F3D"/>
                          </a:solidFill>
                          <a:latin typeface="Calibri" pitchFamily="34" charset="0"/>
                          <a:ea typeface="Calibri" pitchFamily="34" charset="-122"/>
                          <a:cs typeface="Calibri" pitchFamily="34" charset="-120"/>
                        </a:rPr>
                        <a:t>170</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r>
              <a:tr h="224028">
                <a:tc>
                  <a:txBody>
                    <a:bodyPr/>
                    <a:lstStyle/>
                    <a:p>
                      <a:pPr indent="0" marL="0">
                        <a:buNone/>
                      </a:pPr>
                      <a:r>
                        <a:rPr lang="en-US" sz="1100" dirty="0">
                          <a:solidFill>
                            <a:srgbClr val="5C5773"/>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Iran</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31F3D"/>
                          </a:solidFill>
                          <a:latin typeface="Calibri" pitchFamily="34" charset="0"/>
                          <a:ea typeface="Calibri" pitchFamily="34" charset="-122"/>
                          <a:cs typeface="Calibri" pitchFamily="34" charset="-120"/>
                        </a:rPr>
                        <a:t>158</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r>
              <a:tr h="224028">
                <a:tc>
                  <a:txBody>
                    <a:bodyPr/>
                    <a:lstStyle/>
                    <a:p>
                      <a:pPr indent="0" marL="0">
                        <a:buNone/>
                      </a:pPr>
                      <a:r>
                        <a:rPr lang="en-US" sz="1100" dirty="0">
                          <a:solidFill>
                            <a:srgbClr val="5C577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Irak</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31F3D"/>
                          </a:solidFill>
                          <a:latin typeface="Calibri" pitchFamily="34" charset="0"/>
                          <a:ea typeface="Calibri" pitchFamily="34" charset="-122"/>
                          <a:cs typeface="Calibri" pitchFamily="34" charset="-120"/>
                        </a:rPr>
                        <a:t>143</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r>
              <a:tr h="224028">
                <a:tc>
                  <a:txBody>
                    <a:bodyPr/>
                    <a:lstStyle/>
                    <a:p>
                      <a:pPr indent="0" marL="0">
                        <a:buNone/>
                      </a:pPr>
                      <a:r>
                        <a:rPr lang="en-US" sz="1100" dirty="0">
                          <a:solidFill>
                            <a:srgbClr val="5C5773"/>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Kuwait</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31F3D"/>
                          </a:solidFill>
                          <a:latin typeface="Calibri" pitchFamily="34" charset="0"/>
                          <a:ea typeface="Calibri" pitchFamily="34" charset="-122"/>
                          <a:cs typeface="Calibri" pitchFamily="34" charset="-120"/>
                        </a:rPr>
                        <a:t>102</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r>
              <a:tr h="224028">
                <a:tc>
                  <a:txBody>
                    <a:bodyPr/>
                    <a:lstStyle/>
                    <a:p>
                      <a:pPr indent="0" marL="0">
                        <a:buNone/>
                      </a:pPr>
                      <a:r>
                        <a:rPr lang="en-US" sz="1100" dirty="0">
                          <a:solidFill>
                            <a:srgbClr val="5C5773"/>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Uni Emirat Arab</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31F3D"/>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r>
              <a:tr h="224028">
                <a:tc>
                  <a:txBody>
                    <a:bodyPr/>
                    <a:lstStyle/>
                    <a:p>
                      <a:pPr indent="0" marL="0">
                        <a:buNone/>
                      </a:pPr>
                      <a:r>
                        <a:rPr lang="en-US" sz="1100" dirty="0">
                          <a:solidFill>
                            <a:srgbClr val="5C5773"/>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Rusia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31F3D"/>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r>
              <a:tr h="224028">
                <a:tc>
                  <a:txBody>
                    <a:bodyPr/>
                    <a:lstStyle/>
                    <a:p>
                      <a:pPr indent="0" marL="0">
                        <a:buNone/>
                      </a:pPr>
                      <a:r>
                        <a:rPr lang="en-US" sz="1100" dirty="0">
                          <a:solidFill>
                            <a:srgbClr val="5C5773"/>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Libya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31F3D"/>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r>
              <a:tr h="224028">
                <a:tc>
                  <a:txBody>
                    <a:bodyPr/>
                    <a:lstStyle/>
                    <a:p>
                      <a:pPr indent="0" marL="0">
                        <a:buNone/>
                      </a:pPr>
                      <a:r>
                        <a:rPr lang="en-US" sz="1100" dirty="0">
                          <a:solidFill>
                            <a:srgbClr val="5C5773"/>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00" dirty="0">
                          <a:solidFill>
                            <a:srgbClr val="231F3D"/>
                          </a:solidFill>
                          <a:latin typeface="Calibri" pitchFamily="34" charset="0"/>
                          <a:ea typeface="Calibri" pitchFamily="34" charset="-122"/>
                          <a:cs typeface="Calibri" pitchFamily="34" charset="-120"/>
                        </a:rPr>
                        <a:t>Nigeria</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31F3D"/>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6368796" y="1481328"/>
            <a:ext cx="5180076" cy="256032"/>
          </a:xfrm>
          <a:prstGeom prst="rect">
            <a:avLst/>
          </a:prstGeom>
          <a:noFill/>
          <a:ln/>
        </p:spPr>
        <p:txBody>
          <a:bodyPr wrap="square" lIns="0" tIns="0" rIns="0" bIns="0" rtlCol="0" anchor="t"/>
          <a:lstStyle/>
          <a:p>
            <a:pPr indent="0" marL="0">
              <a:buNone/>
            </a:pPr>
            <a:r>
              <a:rPr lang="en-US" sz="1300" b="1" dirty="0">
                <a:solidFill>
                  <a:srgbClr val="2E2566"/>
                </a:solidFill>
                <a:latin typeface="Calibri" pitchFamily="34" charset="0"/>
                <a:ea typeface="Calibri" pitchFamily="34" charset="-122"/>
                <a:cs typeface="Calibri" pitchFamily="34" charset="-120"/>
              </a:rPr>
              <a:t>Bantahannya datang dari dua arah</a:t>
            </a:r>
            <a:endParaRPr lang="en-US" sz="1300" dirty="0"/>
          </a:p>
        </p:txBody>
      </p:sp>
      <p:sp>
        <p:nvSpPr>
          <p:cNvPr id="11" name="Shape 8"/>
          <p:cNvSpPr/>
          <p:nvPr/>
        </p:nvSpPr>
        <p:spPr>
          <a:xfrm>
            <a:off x="6368796" y="1792224"/>
            <a:ext cx="5180076" cy="1481328"/>
          </a:xfrm>
          <a:prstGeom prst="roundRect">
            <a:avLst>
              <a:gd name="adj" fmla="val 2469"/>
            </a:avLst>
          </a:prstGeom>
          <a:solidFill>
            <a:srgbClr val="F6F4FC"/>
          </a:solidFill>
          <a:ln w="9525">
            <a:solidFill>
              <a:srgbClr val="D9D5E6"/>
            </a:solidFill>
            <a:prstDash val="solid"/>
          </a:ln>
        </p:spPr>
      </p:sp>
      <p:sp>
        <p:nvSpPr>
          <p:cNvPr id="12" name="Text 9"/>
          <p:cNvSpPr txBox="1"/>
          <p:nvPr/>
        </p:nvSpPr>
        <p:spPr>
          <a:xfrm>
            <a:off x="6624828" y="1920240"/>
            <a:ext cx="4668012" cy="237744"/>
          </a:xfrm>
          <a:prstGeom prst="rect">
            <a:avLst/>
          </a:prstGeom>
          <a:noFill/>
          <a:ln/>
        </p:spPr>
        <p:txBody>
          <a:bodyPr wrap="square" lIns="0" tIns="0" rIns="0" bIns="0" rtlCol="0" anchor="t"/>
          <a:lstStyle/>
          <a:p>
            <a:pPr indent="0" marL="0">
              <a:buNone/>
            </a:pPr>
            <a:r>
              <a:rPr lang="en-US" sz="1150" b="1" dirty="0">
                <a:solidFill>
                  <a:srgbClr val="AB463C"/>
                </a:solidFill>
                <a:latin typeface="Calibri" pitchFamily="34" charset="0"/>
                <a:ea typeface="Calibri" pitchFamily="34" charset="-122"/>
                <a:cs typeface="Calibri" pitchFamily="34" charset="-120"/>
              </a:rPr>
              <a:t>John Bennett, Sierra Club of Canada</a:t>
            </a:r>
            <a:endParaRPr lang="en-US" sz="1150" dirty="0"/>
          </a:p>
        </p:txBody>
      </p:sp>
      <p:sp>
        <p:nvSpPr>
          <p:cNvPr id="13" name="Text 10"/>
          <p:cNvSpPr txBox="1"/>
          <p:nvPr/>
        </p:nvSpPr>
        <p:spPr>
          <a:xfrm>
            <a:off x="6624828" y="2194560"/>
            <a:ext cx="4631436" cy="1005840"/>
          </a:xfrm>
          <a:prstGeom prst="rect">
            <a:avLst/>
          </a:prstGeom>
          <a:noFill/>
          <a:ln/>
        </p:spPr>
        <p:txBody>
          <a:bodyPr wrap="square" lIns="0" tIns="0" rIns="0" bIns="0" rtlCol="0" anchor="t"/>
          <a:lstStyle/>
          <a:p>
            <a:pPr indent="0" marL="0">
              <a:lnSpc>
                <a:spcPts val="1700"/>
              </a:lnSpc>
              <a:buNone/>
            </a:pPr>
            <a:r>
              <a:rPr lang="en-US" sz="1250" i="1" dirty="0">
                <a:solidFill>
                  <a:srgbClr val="231F3D"/>
                </a:solidFill>
                <a:latin typeface="Cambria" pitchFamily="34" charset="0"/>
                <a:ea typeface="Cambria" pitchFamily="34" charset="-122"/>
                <a:cs typeface="Cambria" pitchFamily="34" charset="-120"/>
              </a:rPr>
              <a:t>Fakta bahwa negara lain lebih buruk dalam hak asasi manusia tidak relevan. Kanada tidak dapat berbuat apa-apa mengenai negara tersebut, sedangkan Kanada dapat menangani oil sands miliknya dan tidak melakukannya.</a:t>
            </a:r>
            <a:endParaRPr lang="en-US" sz="1250" dirty="0"/>
          </a:p>
        </p:txBody>
      </p:sp>
      <p:sp>
        <p:nvSpPr>
          <p:cNvPr id="14" name="Shape 11"/>
          <p:cNvSpPr/>
          <p:nvPr/>
        </p:nvSpPr>
        <p:spPr>
          <a:xfrm>
            <a:off x="6368796" y="3401568"/>
            <a:ext cx="5180076" cy="1051560"/>
          </a:xfrm>
          <a:prstGeom prst="roundRect">
            <a:avLst>
              <a:gd name="adj" fmla="val 3478"/>
            </a:avLst>
          </a:prstGeom>
          <a:solidFill>
            <a:srgbClr val="F6F4FC"/>
          </a:solidFill>
          <a:ln w="9525">
            <a:solidFill>
              <a:srgbClr val="D9D5E6"/>
            </a:solidFill>
            <a:prstDash val="solid"/>
          </a:ln>
        </p:spPr>
      </p:sp>
      <p:sp>
        <p:nvSpPr>
          <p:cNvPr id="15" name="Text 12"/>
          <p:cNvSpPr txBox="1"/>
          <p:nvPr/>
        </p:nvSpPr>
        <p:spPr>
          <a:xfrm>
            <a:off x="6624828" y="3529584"/>
            <a:ext cx="4668012" cy="237744"/>
          </a:xfrm>
          <a:prstGeom prst="rect">
            <a:avLst/>
          </a:prstGeom>
          <a:noFill/>
          <a:ln/>
        </p:spPr>
        <p:txBody>
          <a:bodyPr wrap="square" lIns="0" tIns="0" rIns="0" bIns="0" rtlCol="0" anchor="t"/>
          <a:lstStyle/>
          <a:p>
            <a:pPr indent="0" marL="0">
              <a:buNone/>
            </a:pPr>
            <a:r>
              <a:rPr lang="en-US" sz="1150" b="1" dirty="0">
                <a:solidFill>
                  <a:srgbClr val="9E4176"/>
                </a:solidFill>
                <a:latin typeface="Calibri" pitchFamily="34" charset="0"/>
                <a:ea typeface="Calibri" pitchFamily="34" charset="-122"/>
                <a:cs typeface="Calibri" pitchFamily="34" charset="-120"/>
              </a:rPr>
              <a:t>David Suzuki, environmentalis Kanada</a:t>
            </a:r>
            <a:endParaRPr lang="en-US" sz="1150" dirty="0"/>
          </a:p>
        </p:txBody>
      </p:sp>
      <p:sp>
        <p:nvSpPr>
          <p:cNvPr id="16" name="Text 13"/>
          <p:cNvSpPr txBox="1"/>
          <p:nvPr/>
        </p:nvSpPr>
        <p:spPr>
          <a:xfrm>
            <a:off x="6624828" y="3785616"/>
            <a:ext cx="4631436" cy="566928"/>
          </a:xfrm>
          <a:prstGeom prst="rect">
            <a:avLst/>
          </a:prstGeom>
          <a:noFill/>
          <a:ln/>
        </p:spPr>
        <p:txBody>
          <a:bodyPr wrap="square" lIns="0" tIns="0" rIns="0" bIns="0" rtlCol="0" anchor="t"/>
          <a:lstStyle/>
          <a:p>
            <a:pPr indent="0" marL="0">
              <a:lnSpc>
                <a:spcPts val="1700"/>
              </a:lnSpc>
              <a:buNone/>
            </a:pPr>
            <a:r>
              <a:rPr lang="en-US" sz="1250" i="1" dirty="0">
                <a:solidFill>
                  <a:srgbClr val="231F3D"/>
                </a:solidFill>
                <a:latin typeface="Cambria" pitchFamily="34" charset="0"/>
                <a:ea typeface="Cambria" pitchFamily="34" charset="-122"/>
                <a:cs typeface="Cambria" pitchFamily="34" charset="-120"/>
              </a:rPr>
              <a:t>Di dunia saat ini seluruh bahan bakar fosil tidak etis. Tidak ada yang namanya minyak yang etis.</a:t>
            </a:r>
            <a:endParaRPr lang="en-US" sz="1250" dirty="0"/>
          </a:p>
        </p:txBody>
      </p:sp>
      <p:sp>
        <p:nvSpPr>
          <p:cNvPr id="17" name="Shape 14"/>
          <p:cNvSpPr/>
          <p:nvPr/>
        </p:nvSpPr>
        <p:spPr>
          <a:xfrm>
            <a:off x="6368796" y="4590288"/>
            <a:ext cx="5180076" cy="1234440"/>
          </a:xfrm>
          <a:prstGeom prst="roundRect">
            <a:avLst>
              <a:gd name="adj" fmla="val 2963"/>
            </a:avLst>
          </a:prstGeom>
          <a:solidFill>
            <a:srgbClr val="EEEBF8"/>
          </a:solidFill>
          <a:ln w="9525">
            <a:solidFill>
              <a:srgbClr val="D9D5E6"/>
            </a:solidFill>
            <a:prstDash val="solid"/>
          </a:ln>
        </p:spPr>
      </p:sp>
      <p:sp>
        <p:nvSpPr>
          <p:cNvPr id="18" name="Text 15"/>
          <p:cNvSpPr txBox="1"/>
          <p:nvPr/>
        </p:nvSpPr>
        <p:spPr>
          <a:xfrm>
            <a:off x="6624828" y="4718304"/>
            <a:ext cx="4668012" cy="237744"/>
          </a:xfrm>
          <a:prstGeom prst="rect">
            <a:avLst/>
          </a:prstGeom>
          <a:noFill/>
          <a:ln/>
        </p:spPr>
        <p:txBody>
          <a:bodyPr wrap="square" lIns="0" tIns="0" rIns="0" bIns="0" rtlCol="0" anchor="t"/>
          <a:lstStyle/>
          <a:p>
            <a:pPr indent="0" marL="0">
              <a:buNone/>
            </a:pPr>
            <a:r>
              <a:rPr lang="en-US" sz="1150" b="1" spc="100" kern="0" dirty="0">
                <a:solidFill>
                  <a:srgbClr val="C97B2E"/>
                </a:solidFill>
                <a:latin typeface="Calibri" pitchFamily="34" charset="0"/>
                <a:ea typeface="Calibri" pitchFamily="34" charset="-122"/>
                <a:cs typeface="Calibri" pitchFamily="34" charset="-120"/>
              </a:rPr>
              <a:t>Catatan penting</a:t>
            </a:r>
            <a:endParaRPr lang="en-US" sz="1150" dirty="0"/>
          </a:p>
        </p:txBody>
      </p:sp>
      <p:sp>
        <p:nvSpPr>
          <p:cNvPr id="19" name="Text 16"/>
          <p:cNvSpPr txBox="1"/>
          <p:nvPr/>
        </p:nvSpPr>
        <p:spPr>
          <a:xfrm>
            <a:off x="6624828" y="4974336"/>
            <a:ext cx="4631436" cy="77724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Ethicaloil.org diyakini memperoleh dana dari industri minyak. Menurut juru bicara Greenpeace organisasi tersebut merupakan kelompok kedok untuk industri minyak besar.</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4</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Kasus oil sands dibedah dengan sembilan teori</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22</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536192"/>
          <a:ext cx="10908792" cy="914400"/>
        </p:xfrm>
        <a:graphic>
          <a:graphicData uri="http://schemas.openxmlformats.org/drawingml/2006/table">
            <a:tbl>
              <a:tblPr/>
              <a:tblGrid>
                <a:gridCol w="1874520"/>
                <a:gridCol w="7132320"/>
                <a:gridCol w="1901952"/>
              </a:tblGrid>
              <a:tr h="2560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Teori</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Sorotan pada kasus oil sands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Kecenderungan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2E2566"/>
                    </a:solidFill>
                  </a:tcPr>
                </a:tc>
              </a:tr>
              <a:tr h="402336">
                <a:tc>
                  <a:txBody>
                    <a:bodyPr/>
                    <a:lstStyle/>
                    <a:p>
                      <a:pPr indent="0" marL="0">
                        <a:buNone/>
                      </a:pPr>
                      <a:r>
                        <a:rPr lang="en-US" sz="1150" b="1" dirty="0">
                          <a:solidFill>
                            <a:srgbClr val="AB463C"/>
                          </a:solidFill>
                          <a:latin typeface="Calibri" pitchFamily="34" charset="0"/>
                          <a:ea typeface="Calibri" pitchFamily="34" charset="-122"/>
                          <a:cs typeface="Calibri" pitchFamily="34" charset="-120"/>
                        </a:rPr>
                        <a:t>Egoism</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Market failure terlihat karena generasi mendatang tidak hadir di pasar</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E2566"/>
                          </a:solidFill>
                          <a:latin typeface="Calibri" pitchFamily="34" charset="0"/>
                          <a:ea typeface="Calibri" pitchFamily="34" charset="-122"/>
                          <a:cs typeface="Calibri" pitchFamily="34" charset="-120"/>
                        </a:rPr>
                        <a:t>Netral</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B96A2C"/>
                          </a:solidFill>
                          <a:latin typeface="Calibri" pitchFamily="34" charset="0"/>
                          <a:ea typeface="Calibri" pitchFamily="34" charset="-122"/>
                          <a:cs typeface="Calibri" pitchFamily="34" charset="-120"/>
                        </a:rPr>
                        <a:t>Utilitarianism</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Act cenderung mendukung, rule cenderung menolak karena target Paris mustahil</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E2566"/>
                          </a:solidFill>
                          <a:latin typeface="Calibri" pitchFamily="34" charset="0"/>
                          <a:ea typeface="Calibri" pitchFamily="34" charset="-122"/>
                          <a:cs typeface="Calibri" pitchFamily="34" charset="-120"/>
                        </a:rPr>
                        <a:t>Terbelah</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9C8226"/>
                          </a:solidFill>
                          <a:latin typeface="Calibri" pitchFamily="34" charset="0"/>
                          <a:ea typeface="Calibri" pitchFamily="34" charset="-122"/>
                          <a:cs typeface="Calibri" pitchFamily="34" charset="-120"/>
                        </a:rPr>
                        <a:t>Ethics of duty</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Bila seluruh negara pada Tabel 3.9 berbuat sama, prinsipnya tidak dapat diuniversalkan</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E2566"/>
                          </a:solidFill>
                          <a:latin typeface="Calibri" pitchFamily="34" charset="0"/>
                          <a:ea typeface="Calibri" pitchFamily="34" charset="-122"/>
                          <a:cs typeface="Calibri" pitchFamily="34" charset="-120"/>
                        </a:rPr>
                        <a:t>Menolak</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5A8637"/>
                          </a:solidFill>
                          <a:latin typeface="Calibri" pitchFamily="34" charset="0"/>
                          <a:ea typeface="Calibri" pitchFamily="34" charset="-122"/>
                          <a:cs typeface="Calibri" pitchFamily="34" charset="-120"/>
                        </a:rPr>
                        <a:t>Ethics of rights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Pasal 23 mendukung, hak atas kesehatan dan tanah adat menentang</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E2566"/>
                          </a:solidFill>
                          <a:latin typeface="Calibri" pitchFamily="34" charset="0"/>
                          <a:ea typeface="Calibri" pitchFamily="34" charset="-122"/>
                          <a:cs typeface="Calibri" pitchFamily="34" charset="-120"/>
                        </a:rPr>
                        <a:t>Menolak bersyarat</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2C8072"/>
                          </a:solidFill>
                          <a:latin typeface="Calibri" pitchFamily="34" charset="0"/>
                          <a:ea typeface="Calibri" pitchFamily="34" charset="-122"/>
                          <a:cs typeface="Calibri" pitchFamily="34" charset="-120"/>
                        </a:rPr>
                        <a:t>Justice</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Manfaat tersebar nasional, beban terkonsentrasi. Kriteria pertama Rawls tidak terpenuhi</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E2566"/>
                          </a:solidFill>
                          <a:latin typeface="Calibri" pitchFamily="34" charset="0"/>
                          <a:ea typeface="Calibri" pitchFamily="34" charset="-122"/>
                          <a:cs typeface="Calibri" pitchFamily="34" charset="-120"/>
                        </a:rPr>
                        <a:t>Menolak</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2C6F92"/>
                          </a:solidFill>
                          <a:latin typeface="Calibri" pitchFamily="34" charset="0"/>
                          <a:ea typeface="Calibri" pitchFamily="34" charset="-122"/>
                          <a:cs typeface="Calibri" pitchFamily="34" charset="-120"/>
                        </a:rPr>
                        <a:t>Virtue ethics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Mengukur diri terhadap negara terburuk adalah perbandingan ke bawah</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E2566"/>
                          </a:solidFill>
                          <a:latin typeface="Calibri" pitchFamily="34" charset="0"/>
                          <a:ea typeface="Calibri" pitchFamily="34" charset="-122"/>
                          <a:cs typeface="Calibri" pitchFamily="34" charset="-120"/>
                        </a:rPr>
                        <a:t>Menolak framing</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4A5CA4"/>
                          </a:solidFill>
                          <a:latin typeface="Calibri" pitchFamily="34" charset="0"/>
                          <a:ea typeface="Calibri" pitchFamily="34" charset="-122"/>
                          <a:cs typeface="Calibri" pitchFamily="34" charset="-120"/>
                        </a:rPr>
                        <a:t>Ethic of care</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Menempatkan komunitas hilir dan generasi mendatang sebagai relasi, bukan variabel</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E2566"/>
                          </a:solidFill>
                          <a:latin typeface="Calibri" pitchFamily="34" charset="0"/>
                          <a:ea typeface="Calibri" pitchFamily="34" charset="-122"/>
                          <a:cs typeface="Calibri" pitchFamily="34" charset="-120"/>
                        </a:rPr>
                        <a:t>Transisi yang adil</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764B99"/>
                          </a:solidFill>
                          <a:latin typeface="Calibri" pitchFamily="34" charset="0"/>
                          <a:ea typeface="Calibri" pitchFamily="34" charset="-122"/>
                          <a:cs typeface="Calibri" pitchFamily="34" charset="-120"/>
                        </a:rPr>
                        <a:t>Discourse ethics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Label ethical oil lahir dari kampanye berdana industri, melanggar imparsialitas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E2566"/>
                          </a:solidFill>
                          <a:latin typeface="Calibri" pitchFamily="34" charset="0"/>
                          <a:ea typeface="Calibri" pitchFamily="34" charset="-122"/>
                          <a:cs typeface="Calibri" pitchFamily="34" charset="-120"/>
                        </a:rPr>
                        <a:t>Menolak prosesnya</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r h="402336">
                <a:tc>
                  <a:txBody>
                    <a:bodyPr/>
                    <a:lstStyle/>
                    <a:p>
                      <a:pPr indent="0" marL="0">
                        <a:buNone/>
                      </a:pPr>
                      <a:r>
                        <a:rPr lang="en-US" sz="1150" b="1" dirty="0">
                          <a:solidFill>
                            <a:srgbClr val="9E4176"/>
                          </a:solidFill>
                          <a:latin typeface="Calibri" pitchFamily="34" charset="0"/>
                          <a:ea typeface="Calibri" pitchFamily="34" charset="-122"/>
                          <a:cs typeface="Calibri" pitchFamily="34" charset="-120"/>
                        </a:rPr>
                        <a:t>Postmodern ethics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solidFill>
                      <a:srgbClr val="EEEBF8"/>
                    </a:solidFill>
                  </a:tcPr>
                </a:tc>
                <a:tc>
                  <a:txBody>
                    <a:bodyPr/>
                    <a:lstStyle/>
                    <a:p>
                      <a:pPr indent="0" marL="0">
                        <a:buNone/>
                      </a:pPr>
                      <a:r>
                        <a:rPr lang="en-US" sz="1150" dirty="0">
                          <a:solidFill>
                            <a:srgbClr val="231F3D"/>
                          </a:solidFill>
                          <a:latin typeface="Calibri" pitchFamily="34" charset="0"/>
                          <a:ea typeface="Calibri" pitchFamily="34" charset="-122"/>
                          <a:cs typeface="Calibri" pitchFamily="34" charset="-120"/>
                        </a:rPr>
                        <a:t>Perebutan istilah oil sands dan tar sands menunjukkan bahasa membentuk moralitas</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c>
                  <a:txBody>
                    <a:bodyPr/>
                    <a:lstStyle/>
                    <a:p>
                      <a:pPr indent="0" marL="0">
                        <a:buNone/>
                      </a:pPr>
                      <a:r>
                        <a:rPr lang="en-US" sz="1150" b="1" dirty="0">
                          <a:solidFill>
                            <a:srgbClr val="2E2566"/>
                          </a:solidFill>
                          <a:latin typeface="Calibri" pitchFamily="34" charset="0"/>
                          <a:ea typeface="Calibri" pitchFamily="34" charset="-122"/>
                          <a:cs typeface="Calibri" pitchFamily="34" charset="-120"/>
                        </a:rPr>
                        <a:t>Anti absolutisme</a:t>
                      </a:r>
                      <a:endParaRPr lang="en-US" sz="1150" dirty="0">
                        <a:latin typeface="Calibri" charset="0"/>
                        <a:ea typeface="Calibri" charset="0"/>
                        <a:cs typeface="Calibri" charset="0"/>
                      </a:endParaRPr>
                    </a:p>
                  </a:txBody>
                  <a:tcPr marL="91440" marR="91440" marT="45720" marB="45720" anchor="t">
                    <a:lnL w="9525" cap="flat" cmpd="sng" algn="ctr">
                      <a:solidFill>
                        <a:srgbClr val="D9D5E6"/>
                      </a:solidFill>
                      <a:prstDash val="solid"/>
                      <a:round/>
                      <a:headEnd type="none" w="med" len="med"/>
                      <a:tailEnd type="none" w="med" len="med"/>
                    </a:lnL>
                    <a:lnR w="9525" cap="flat" cmpd="sng" algn="ctr">
                      <a:solidFill>
                        <a:srgbClr val="D9D5E6"/>
                      </a:solidFill>
                      <a:prstDash val="solid"/>
                      <a:round/>
                      <a:headEnd type="none" w="med" len="med"/>
                      <a:tailEnd type="none" w="med" len="med"/>
                    </a:lnR>
                    <a:lnT w="9525" cap="flat" cmpd="sng" algn="ctr">
                      <a:solidFill>
                        <a:srgbClr val="D9D5E6"/>
                      </a:solidFill>
                      <a:prstDash val="solid"/>
                      <a:round/>
                      <a:headEnd type="none" w="med" len="med"/>
                      <a:tailEnd type="none" w="med" len="med"/>
                    </a:lnT>
                    <a:lnB w="9525" cap="flat" cmpd="sng" algn="ctr">
                      <a:solidFill>
                        <a:srgbClr val="D9D5E6"/>
                      </a:solidFill>
                      <a:prstDash val="solid"/>
                      <a:round/>
                      <a:headEnd type="none" w="med" len="med"/>
                      <a:tailEnd type="none" w="med" len="med"/>
                    </a:lnB>
                  </a:tcPr>
                </a:tc>
              </a:tr>
            </a:tbl>
          </a:graphicData>
        </a:graphic>
      </p:graphicFrame>
      <p:sp>
        <p:nvSpPr>
          <p:cNvPr id="6" name="Text 3"/>
          <p:cNvSpPr txBox="1"/>
          <p:nvPr/>
        </p:nvSpPr>
        <p:spPr>
          <a:xfrm>
            <a:off x="640080" y="5559552"/>
            <a:ext cx="10908792" cy="365760"/>
          </a:xfrm>
          <a:prstGeom prst="rect">
            <a:avLst/>
          </a:prstGeom>
          <a:noFill/>
          <a:ln/>
        </p:spPr>
        <p:txBody>
          <a:bodyPr wrap="square" lIns="0" tIns="0" rIns="0" bIns="0" rtlCol="0" anchor="t"/>
          <a:lstStyle/>
          <a:p>
            <a:pPr indent="0" marL="0">
              <a:lnSpc>
                <a:spcPts val="1600"/>
              </a:lnSpc>
              <a:buNone/>
            </a:pPr>
            <a:r>
              <a:rPr lang="en-US" sz="1250" i="1" dirty="0">
                <a:solidFill>
                  <a:srgbClr val="2E2566"/>
                </a:solidFill>
                <a:latin typeface="Calibri" pitchFamily="34" charset="0"/>
                <a:ea typeface="Calibri" pitchFamily="34" charset="-122"/>
                <a:cs typeface="Calibri" pitchFamily="34" charset="-120"/>
              </a:rPr>
              <a:t>Sembilan teori menghasilkan sembilan sorotan yang berbeda atas satu rangkaian fakta yang sama. Inilah prisma pada Figure 3.2 yang bekerja pada kasus nyata.</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t"/>
          <a:lstStyle/>
          <a:p>
            <a:pPr indent="0" marL="0">
              <a:buNone/>
            </a:pPr>
            <a:r>
              <a:rPr lang="en-US" sz="1100" b="1" spc="200" kern="0" dirty="0">
                <a:solidFill>
                  <a:srgbClr val="C97B2E"/>
                </a:solidFill>
                <a:latin typeface="Calibri" pitchFamily="34" charset="0"/>
                <a:ea typeface="Calibri" pitchFamily="34" charset="-122"/>
                <a:cs typeface="Calibri" pitchFamily="34" charset="-120"/>
              </a:rPr>
              <a:t>Bagian 4</a:t>
            </a:r>
            <a:endParaRPr lang="en-US" sz="1100" dirty="0"/>
          </a:p>
        </p:txBody>
      </p:sp>
      <p:sp>
        <p:nvSpPr>
          <p:cNvPr id="3" name="Text 1"/>
          <p:cNvSpPr txBox="1"/>
          <p:nvPr/>
        </p:nvSpPr>
        <p:spPr>
          <a:xfrm>
            <a:off x="640080" y="676656"/>
            <a:ext cx="10908792" cy="658368"/>
          </a:xfrm>
          <a:prstGeom prst="rect">
            <a:avLst/>
          </a:prstGeom>
          <a:noFill/>
          <a:ln/>
        </p:spPr>
        <p:txBody>
          <a:bodyPr wrap="square" lIns="0" tIns="0" rIns="0" bIns="0" rtlCol="0" anchor="t"/>
          <a:lstStyle/>
          <a:p>
            <a:pPr indent="0" marL="0">
              <a:buNone/>
            </a:pPr>
            <a:r>
              <a:rPr lang="en-US" sz="3100" b="1" dirty="0">
                <a:solidFill>
                  <a:srgbClr val="2E2566"/>
                </a:solidFill>
                <a:latin typeface="Cambria" pitchFamily="34" charset="0"/>
                <a:ea typeface="Cambria" pitchFamily="34" charset="-122"/>
                <a:cs typeface="Cambria" pitchFamily="34" charset="-120"/>
              </a:rPr>
              <a:t>Rancangan diskusi kelas</a:t>
            </a:r>
            <a:endParaRPr lang="en-US" sz="3100" dirty="0"/>
          </a:p>
        </p:txBody>
      </p:sp>
      <p:sp>
        <p:nvSpPr>
          <p:cNvPr id="4" name="Text 2"/>
          <p:cNvSpPr txBox="1"/>
          <p:nvPr/>
        </p:nvSpPr>
        <p:spPr>
          <a:xfrm>
            <a:off x="11430000" y="6327648"/>
            <a:ext cx="457200" cy="274320"/>
          </a:xfrm>
          <a:prstGeom prst="rect">
            <a:avLst/>
          </a:prstGeom>
          <a:noFill/>
          <a:ln/>
        </p:spPr>
        <p:txBody>
          <a:bodyPr wrap="square" lIns="0" tIns="0" rIns="0" bIns="0" rtlCol="0" anchor="t"/>
          <a:lstStyle/>
          <a:p>
            <a:pPr algn="r" indent="0" marL="0">
              <a:buNone/>
            </a:pPr>
            <a:r>
              <a:rPr lang="en-US" sz="1000" dirty="0">
                <a:solidFill>
                  <a:srgbClr val="5C5773"/>
                </a:solidFill>
                <a:latin typeface="Calibri" pitchFamily="34" charset="0"/>
                <a:ea typeface="Calibri" pitchFamily="34" charset="-122"/>
                <a:cs typeface="Calibri" pitchFamily="34" charset="-120"/>
              </a:rPr>
              <a:t>23</a:t>
            </a:r>
            <a:endParaRPr lang="en-US" sz="1000" dirty="0"/>
          </a:p>
        </p:txBody>
      </p:sp>
      <p:sp>
        <p:nvSpPr>
          <p:cNvPr id="5" name="Shape 3"/>
          <p:cNvSpPr/>
          <p:nvPr/>
        </p:nvSpPr>
        <p:spPr>
          <a:xfrm>
            <a:off x="640080" y="1517904"/>
            <a:ext cx="5781660" cy="3054096"/>
          </a:xfrm>
          <a:prstGeom prst="roundRect">
            <a:avLst>
              <a:gd name="adj" fmla="val 1198"/>
            </a:avLst>
          </a:prstGeom>
          <a:solidFill>
            <a:srgbClr val="EEEBF8"/>
          </a:solidFill>
          <a:ln w="9525">
            <a:solidFill>
              <a:srgbClr val="D9D5E6"/>
            </a:solidFill>
            <a:prstDash val="solid"/>
          </a:ln>
        </p:spPr>
      </p:sp>
      <p:sp>
        <p:nvSpPr>
          <p:cNvPr id="6" name="Text 4"/>
          <p:cNvSpPr txBox="1"/>
          <p:nvPr/>
        </p:nvSpPr>
        <p:spPr>
          <a:xfrm>
            <a:off x="932688" y="1645920"/>
            <a:ext cx="5196444" cy="274320"/>
          </a:xfrm>
          <a:prstGeom prst="rect">
            <a:avLst/>
          </a:prstGeom>
          <a:noFill/>
          <a:ln/>
        </p:spPr>
        <p:txBody>
          <a:bodyPr wrap="square" lIns="0" tIns="0" rIns="0" bIns="0" rtlCol="0" anchor="t"/>
          <a:lstStyle/>
          <a:p>
            <a:pPr indent="0" marL="0">
              <a:buNone/>
            </a:pPr>
            <a:r>
              <a:rPr lang="en-US" sz="1500" b="1" dirty="0">
                <a:solidFill>
                  <a:srgbClr val="2E2566"/>
                </a:solidFill>
                <a:latin typeface="Calibri" pitchFamily="34" charset="0"/>
                <a:ea typeface="Calibri" pitchFamily="34" charset="-122"/>
                <a:cs typeface="Calibri" pitchFamily="34" charset="-120"/>
              </a:rPr>
              <a:t>Simulasi discourse ethics</a:t>
            </a:r>
            <a:endParaRPr lang="en-US" sz="1500" dirty="0"/>
          </a:p>
        </p:txBody>
      </p:sp>
      <p:sp>
        <p:nvSpPr>
          <p:cNvPr id="7" name="Text 5"/>
          <p:cNvSpPr txBox="1"/>
          <p:nvPr/>
        </p:nvSpPr>
        <p:spPr>
          <a:xfrm>
            <a:off x="932688" y="1956816"/>
            <a:ext cx="5159868" cy="868680"/>
          </a:xfrm>
          <a:prstGeom prst="rect">
            <a:avLst/>
          </a:prstGeom>
          <a:noFill/>
          <a:ln/>
        </p:spPr>
        <p:txBody>
          <a:bodyPr wrap="square" lIns="0" tIns="0" rIns="0" bIns="0" rtlCol="0" anchor="t"/>
          <a:lstStyle/>
          <a:p>
            <a:pPr indent="0" marL="0">
              <a:lnSpc>
                <a:spcPts val="1700"/>
              </a:lnSpc>
              <a:buNone/>
            </a:pPr>
            <a:r>
              <a:rPr lang="en-US" sz="1200" dirty="0">
                <a:solidFill>
                  <a:srgbClr val="231F3D"/>
                </a:solidFill>
                <a:latin typeface="Calibri" pitchFamily="34" charset="0"/>
                <a:ea typeface="Calibri" pitchFamily="34" charset="-122"/>
                <a:cs typeface="Calibri" pitchFamily="34" charset="-120"/>
              </a:rPr>
              <a:t>Bagi kelas menjadi enam kelompok. Beri masing-masing 2 menit menyampaikan posisinya, lalu minta seluruh kelompok menghasilkan satu norma bersama. Aturan mainnya mengikuti empat syarat diskursus ideal Habermas.</a:t>
            </a:r>
            <a:endParaRPr lang="en-US" sz="1200" dirty="0"/>
          </a:p>
        </p:txBody>
      </p:sp>
      <p:sp>
        <p:nvSpPr>
          <p:cNvPr id="8" name="Shape 6"/>
          <p:cNvSpPr/>
          <p:nvPr/>
        </p:nvSpPr>
        <p:spPr>
          <a:xfrm>
            <a:off x="950976" y="2953512"/>
            <a:ext cx="137160" cy="137160"/>
          </a:xfrm>
          <a:prstGeom prst="ellipse">
            <a:avLst/>
          </a:prstGeom>
          <a:solidFill>
            <a:srgbClr val="AB463C"/>
          </a:solidFill>
          <a:ln/>
        </p:spPr>
      </p:sp>
      <p:sp>
        <p:nvSpPr>
          <p:cNvPr id="9" name="Text 7"/>
          <p:cNvSpPr txBox="1"/>
          <p:nvPr/>
        </p:nvSpPr>
        <p:spPr>
          <a:xfrm>
            <a:off x="1170432" y="2907792"/>
            <a:ext cx="2506782" cy="274320"/>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Pemerintah Alberta</a:t>
            </a:r>
            <a:endParaRPr lang="en-US" sz="1100" dirty="0"/>
          </a:p>
        </p:txBody>
      </p:sp>
      <p:sp>
        <p:nvSpPr>
          <p:cNvPr id="10" name="Shape 8"/>
          <p:cNvSpPr/>
          <p:nvPr/>
        </p:nvSpPr>
        <p:spPr>
          <a:xfrm>
            <a:off x="950976" y="3282696"/>
            <a:ext cx="137160" cy="137160"/>
          </a:xfrm>
          <a:prstGeom prst="ellipse">
            <a:avLst/>
          </a:prstGeom>
          <a:solidFill>
            <a:srgbClr val="B96A2C"/>
          </a:solidFill>
          <a:ln/>
        </p:spPr>
      </p:sp>
      <p:sp>
        <p:nvSpPr>
          <p:cNvPr id="11" name="Text 9"/>
          <p:cNvSpPr txBox="1"/>
          <p:nvPr/>
        </p:nvSpPr>
        <p:spPr>
          <a:xfrm>
            <a:off x="1170432" y="3236976"/>
            <a:ext cx="2506782" cy="274320"/>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Konsorsium perusahaan minyak</a:t>
            </a:r>
            <a:endParaRPr lang="en-US" sz="1100" dirty="0"/>
          </a:p>
        </p:txBody>
      </p:sp>
      <p:sp>
        <p:nvSpPr>
          <p:cNvPr id="12" name="Shape 10"/>
          <p:cNvSpPr/>
          <p:nvPr/>
        </p:nvSpPr>
        <p:spPr>
          <a:xfrm>
            <a:off x="950976" y="3611880"/>
            <a:ext cx="137160" cy="137160"/>
          </a:xfrm>
          <a:prstGeom prst="ellipse">
            <a:avLst/>
          </a:prstGeom>
          <a:solidFill>
            <a:srgbClr val="9C8226"/>
          </a:solidFill>
          <a:ln/>
        </p:spPr>
      </p:sp>
      <p:sp>
        <p:nvSpPr>
          <p:cNvPr id="13" name="Text 11"/>
          <p:cNvSpPr txBox="1"/>
          <p:nvPr/>
        </p:nvSpPr>
        <p:spPr>
          <a:xfrm>
            <a:off x="1170432" y="3566160"/>
            <a:ext cx="2506782" cy="274320"/>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Sierra Club Canada</a:t>
            </a:r>
            <a:endParaRPr lang="en-US" sz="1100" dirty="0"/>
          </a:p>
        </p:txBody>
      </p:sp>
      <p:sp>
        <p:nvSpPr>
          <p:cNvPr id="14" name="Shape 12"/>
          <p:cNvSpPr/>
          <p:nvPr/>
        </p:nvSpPr>
        <p:spPr>
          <a:xfrm>
            <a:off x="3750366" y="2953512"/>
            <a:ext cx="137160" cy="137160"/>
          </a:xfrm>
          <a:prstGeom prst="ellipse">
            <a:avLst/>
          </a:prstGeom>
          <a:solidFill>
            <a:srgbClr val="5A8637"/>
          </a:solidFill>
          <a:ln/>
        </p:spPr>
      </p:sp>
      <p:sp>
        <p:nvSpPr>
          <p:cNvPr id="15" name="Text 13"/>
          <p:cNvSpPr txBox="1"/>
          <p:nvPr/>
        </p:nvSpPr>
        <p:spPr>
          <a:xfrm>
            <a:off x="3969822" y="2907792"/>
            <a:ext cx="2506782" cy="274320"/>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Masyarakat adat hilir Athabasca</a:t>
            </a:r>
            <a:endParaRPr lang="en-US" sz="1100" dirty="0"/>
          </a:p>
        </p:txBody>
      </p:sp>
      <p:sp>
        <p:nvSpPr>
          <p:cNvPr id="16" name="Shape 14"/>
          <p:cNvSpPr/>
          <p:nvPr/>
        </p:nvSpPr>
        <p:spPr>
          <a:xfrm>
            <a:off x="3750366" y="3282696"/>
            <a:ext cx="137160" cy="137160"/>
          </a:xfrm>
          <a:prstGeom prst="ellipse">
            <a:avLst/>
          </a:prstGeom>
          <a:solidFill>
            <a:srgbClr val="2C8072"/>
          </a:solidFill>
          <a:ln/>
        </p:spPr>
      </p:sp>
      <p:sp>
        <p:nvSpPr>
          <p:cNvPr id="17" name="Text 15"/>
          <p:cNvSpPr txBox="1"/>
          <p:nvPr/>
        </p:nvSpPr>
        <p:spPr>
          <a:xfrm>
            <a:off x="3969822" y="3236976"/>
            <a:ext cx="2506782" cy="274320"/>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Serikat pekerja Fort McMurray</a:t>
            </a:r>
            <a:endParaRPr lang="en-US" sz="1100" dirty="0"/>
          </a:p>
        </p:txBody>
      </p:sp>
      <p:sp>
        <p:nvSpPr>
          <p:cNvPr id="18" name="Shape 16"/>
          <p:cNvSpPr/>
          <p:nvPr/>
        </p:nvSpPr>
        <p:spPr>
          <a:xfrm>
            <a:off x="3750366" y="3611880"/>
            <a:ext cx="137160" cy="137160"/>
          </a:xfrm>
          <a:prstGeom prst="ellipse">
            <a:avLst/>
          </a:prstGeom>
          <a:solidFill>
            <a:srgbClr val="2C6F92"/>
          </a:solidFill>
          <a:ln/>
        </p:spPr>
      </p:sp>
      <p:sp>
        <p:nvSpPr>
          <p:cNvPr id="19" name="Text 17"/>
          <p:cNvSpPr txBox="1"/>
          <p:nvPr/>
        </p:nvSpPr>
        <p:spPr>
          <a:xfrm>
            <a:off x="3969822" y="3566160"/>
            <a:ext cx="2506782" cy="274320"/>
          </a:xfrm>
          <a:prstGeom prst="rect">
            <a:avLst/>
          </a:prstGeom>
          <a:noFill/>
          <a:ln/>
        </p:spPr>
        <p:txBody>
          <a:bodyPr wrap="square" lIns="0" tIns="0" rIns="0" bIns="0" rtlCol="0" anchor="t"/>
          <a:lstStyle/>
          <a:p>
            <a:pPr indent="0" marL="0">
              <a:buNone/>
            </a:pPr>
            <a:r>
              <a:rPr lang="en-US" sz="1100" dirty="0">
                <a:solidFill>
                  <a:srgbClr val="231F3D"/>
                </a:solidFill>
                <a:latin typeface="Calibri" pitchFamily="34" charset="0"/>
                <a:ea typeface="Calibri" pitchFamily="34" charset="-122"/>
                <a:cs typeface="Calibri" pitchFamily="34" charset="-120"/>
              </a:rPr>
              <a:t>Perwakilan generasi 2060</a:t>
            </a:r>
            <a:endParaRPr lang="en-US" sz="1100" dirty="0"/>
          </a:p>
        </p:txBody>
      </p:sp>
      <p:sp>
        <p:nvSpPr>
          <p:cNvPr id="20" name="Text 18"/>
          <p:cNvSpPr txBox="1"/>
          <p:nvPr/>
        </p:nvSpPr>
        <p:spPr>
          <a:xfrm>
            <a:off x="932688" y="3950208"/>
            <a:ext cx="5159868" cy="548640"/>
          </a:xfrm>
          <a:prstGeom prst="rect">
            <a:avLst/>
          </a:prstGeom>
          <a:noFill/>
          <a:ln/>
        </p:spPr>
        <p:txBody>
          <a:bodyPr wrap="square" lIns="0" tIns="0" rIns="0" bIns="0" rtlCol="0" anchor="t"/>
          <a:lstStyle/>
          <a:p>
            <a:pPr indent="0" marL="0">
              <a:lnSpc>
                <a:spcPts val="1600"/>
              </a:lnSpc>
              <a:buNone/>
            </a:pPr>
            <a:r>
              <a:rPr lang="en-US" sz="1150" i="1" dirty="0">
                <a:solidFill>
                  <a:srgbClr val="2E2566"/>
                </a:solidFill>
                <a:latin typeface="Calibri" pitchFamily="34" charset="0"/>
                <a:ea typeface="Calibri" pitchFamily="34" charset="-122"/>
                <a:cs typeface="Calibri" pitchFamily="34" charset="-120"/>
              </a:rPr>
              <a:t>Setelah selesai, tanyakan apakah keempat syarat tersebut benar-benar dapat dipenuhi di ruang kelas. Bila di kelas saja sulit, bagaimana di dunia nyata?</a:t>
            </a:r>
            <a:endParaRPr lang="en-US" sz="1150" dirty="0"/>
          </a:p>
        </p:txBody>
      </p:sp>
      <p:sp>
        <p:nvSpPr>
          <p:cNvPr id="21" name="Text 19"/>
          <p:cNvSpPr txBox="1"/>
          <p:nvPr/>
        </p:nvSpPr>
        <p:spPr>
          <a:xfrm>
            <a:off x="6650340" y="1517904"/>
            <a:ext cx="4898532" cy="274320"/>
          </a:xfrm>
          <a:prstGeom prst="rect">
            <a:avLst/>
          </a:prstGeom>
          <a:noFill/>
          <a:ln/>
        </p:spPr>
        <p:txBody>
          <a:bodyPr wrap="square" lIns="0" tIns="0" rIns="0" bIns="0" rtlCol="0" anchor="t"/>
          <a:lstStyle/>
          <a:p>
            <a:pPr indent="0" marL="0">
              <a:buNone/>
            </a:pPr>
            <a:r>
              <a:rPr lang="en-US" sz="1350" b="1" dirty="0">
                <a:solidFill>
                  <a:srgbClr val="2E2566"/>
                </a:solidFill>
                <a:latin typeface="Calibri" pitchFamily="34" charset="0"/>
                <a:ea typeface="Calibri" pitchFamily="34" charset="-122"/>
                <a:cs typeface="Calibri" pitchFamily="34" charset="-120"/>
              </a:rPr>
              <a:t>Empat pertanyaan pemantik, pilih dua</a:t>
            </a:r>
            <a:endParaRPr lang="en-US" sz="1350" dirty="0"/>
          </a:p>
        </p:txBody>
      </p:sp>
      <p:sp>
        <p:nvSpPr>
          <p:cNvPr id="22" name="Shape 20"/>
          <p:cNvSpPr/>
          <p:nvPr/>
        </p:nvSpPr>
        <p:spPr>
          <a:xfrm>
            <a:off x="6650340" y="1847088"/>
            <a:ext cx="4898532" cy="566928"/>
          </a:xfrm>
          <a:prstGeom prst="roundRect">
            <a:avLst>
              <a:gd name="adj" fmla="val 6452"/>
            </a:avLst>
          </a:prstGeom>
          <a:solidFill>
            <a:srgbClr val="F6F4FC"/>
          </a:solidFill>
          <a:ln w="9525">
            <a:solidFill>
              <a:srgbClr val="D9D5E6"/>
            </a:solidFill>
            <a:prstDash val="solid"/>
          </a:ln>
        </p:spPr>
      </p:sp>
      <p:sp>
        <p:nvSpPr>
          <p:cNvPr id="23" name="Text 21"/>
          <p:cNvSpPr txBox="1"/>
          <p:nvPr/>
        </p:nvSpPr>
        <p:spPr>
          <a:xfrm>
            <a:off x="6869796" y="1901952"/>
            <a:ext cx="1051560" cy="457200"/>
          </a:xfrm>
          <a:prstGeom prst="rect">
            <a:avLst/>
          </a:prstGeom>
          <a:noFill/>
          <a:ln/>
        </p:spPr>
        <p:txBody>
          <a:bodyPr wrap="square" lIns="0" tIns="0" rIns="0" bIns="0" rtlCol="0" anchor="t"/>
          <a:lstStyle/>
          <a:p>
            <a:pPr indent="0" marL="0">
              <a:buNone/>
            </a:pPr>
            <a:r>
              <a:rPr lang="en-US" sz="1150" b="1" dirty="0">
                <a:solidFill>
                  <a:srgbClr val="AB463C"/>
                </a:solidFill>
                <a:latin typeface="Calibri" pitchFamily="34" charset="0"/>
                <a:ea typeface="Calibri" pitchFamily="34" charset="-122"/>
                <a:cs typeface="Calibri" pitchFamily="34" charset="-120"/>
              </a:rPr>
              <a:t>Uji Kant</a:t>
            </a:r>
            <a:endParaRPr lang="en-US" sz="1150" dirty="0"/>
          </a:p>
        </p:txBody>
      </p:sp>
      <p:sp>
        <p:nvSpPr>
          <p:cNvPr id="24" name="Text 22"/>
          <p:cNvSpPr txBox="1"/>
          <p:nvPr/>
        </p:nvSpPr>
        <p:spPr>
          <a:xfrm>
            <a:off x="7948788" y="1892808"/>
            <a:ext cx="3380628" cy="493776"/>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Bila prinsip Kanada diterapkan seluruh negara pada Tabel 3.9, apa yang tersisa dari target Paris?</a:t>
            </a:r>
            <a:endParaRPr lang="en-US" sz="1050" dirty="0"/>
          </a:p>
        </p:txBody>
      </p:sp>
      <p:sp>
        <p:nvSpPr>
          <p:cNvPr id="25" name="Shape 23"/>
          <p:cNvSpPr/>
          <p:nvPr/>
        </p:nvSpPr>
        <p:spPr>
          <a:xfrm>
            <a:off x="6650340" y="2487168"/>
            <a:ext cx="4898532" cy="566928"/>
          </a:xfrm>
          <a:prstGeom prst="roundRect">
            <a:avLst>
              <a:gd name="adj" fmla="val 6452"/>
            </a:avLst>
          </a:prstGeom>
          <a:solidFill>
            <a:srgbClr val="F6F4FC"/>
          </a:solidFill>
          <a:ln w="9525">
            <a:solidFill>
              <a:srgbClr val="D9D5E6"/>
            </a:solidFill>
            <a:prstDash val="solid"/>
          </a:ln>
        </p:spPr>
      </p:sp>
      <p:sp>
        <p:nvSpPr>
          <p:cNvPr id="26" name="Text 24"/>
          <p:cNvSpPr txBox="1"/>
          <p:nvPr/>
        </p:nvSpPr>
        <p:spPr>
          <a:xfrm>
            <a:off x="6869796" y="2542032"/>
            <a:ext cx="1051560" cy="457200"/>
          </a:xfrm>
          <a:prstGeom prst="rect">
            <a:avLst/>
          </a:prstGeom>
          <a:noFill/>
          <a:ln/>
        </p:spPr>
        <p:txBody>
          <a:bodyPr wrap="square" lIns="0" tIns="0" rIns="0" bIns="0" rtlCol="0" anchor="t"/>
          <a:lstStyle/>
          <a:p>
            <a:pPr indent="0" marL="0">
              <a:buNone/>
            </a:pPr>
            <a:r>
              <a:rPr lang="en-US" sz="1150" b="1" dirty="0">
                <a:solidFill>
                  <a:srgbClr val="9C8226"/>
                </a:solidFill>
                <a:latin typeface="Calibri" pitchFamily="34" charset="0"/>
                <a:ea typeface="Calibri" pitchFamily="34" charset="-122"/>
                <a:cs typeface="Calibri" pitchFamily="34" charset="-120"/>
              </a:rPr>
              <a:t>Uji Rawls</a:t>
            </a:r>
            <a:endParaRPr lang="en-US" sz="1150" dirty="0"/>
          </a:p>
        </p:txBody>
      </p:sp>
      <p:sp>
        <p:nvSpPr>
          <p:cNvPr id="27" name="Text 25"/>
          <p:cNvSpPr txBox="1"/>
          <p:nvPr/>
        </p:nvSpPr>
        <p:spPr>
          <a:xfrm>
            <a:off x="7948788" y="2532888"/>
            <a:ext cx="3380628" cy="493776"/>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Aturan apa yang Anda pilih bila tidak tahu akan terlahir sebagai pekerja, warga adat atau anak yang lahir 2060?</a:t>
            </a:r>
            <a:endParaRPr lang="en-US" sz="1050" dirty="0"/>
          </a:p>
        </p:txBody>
      </p:sp>
      <p:sp>
        <p:nvSpPr>
          <p:cNvPr id="28" name="Shape 26"/>
          <p:cNvSpPr/>
          <p:nvPr/>
        </p:nvSpPr>
        <p:spPr>
          <a:xfrm>
            <a:off x="6650340" y="3127248"/>
            <a:ext cx="4898532" cy="566928"/>
          </a:xfrm>
          <a:prstGeom prst="roundRect">
            <a:avLst>
              <a:gd name="adj" fmla="val 6452"/>
            </a:avLst>
          </a:prstGeom>
          <a:solidFill>
            <a:srgbClr val="F6F4FC"/>
          </a:solidFill>
          <a:ln w="9525">
            <a:solidFill>
              <a:srgbClr val="D9D5E6"/>
            </a:solidFill>
            <a:prstDash val="solid"/>
          </a:ln>
        </p:spPr>
      </p:sp>
      <p:sp>
        <p:nvSpPr>
          <p:cNvPr id="29" name="Text 27"/>
          <p:cNvSpPr txBox="1"/>
          <p:nvPr/>
        </p:nvSpPr>
        <p:spPr>
          <a:xfrm>
            <a:off x="6869796" y="3182112"/>
            <a:ext cx="1051560" cy="457200"/>
          </a:xfrm>
          <a:prstGeom prst="rect">
            <a:avLst/>
          </a:prstGeom>
          <a:noFill/>
          <a:ln/>
        </p:spPr>
        <p:txBody>
          <a:bodyPr wrap="square" lIns="0" tIns="0" rIns="0" bIns="0" rtlCol="0" anchor="t"/>
          <a:lstStyle/>
          <a:p>
            <a:pPr indent="0" marL="0">
              <a:buNone/>
            </a:pPr>
            <a:r>
              <a:rPr lang="en-US" sz="1150" b="1" dirty="0">
                <a:solidFill>
                  <a:srgbClr val="2C8072"/>
                </a:solidFill>
                <a:latin typeface="Calibri" pitchFamily="34" charset="0"/>
                <a:ea typeface="Calibri" pitchFamily="34" charset="-122"/>
                <a:cs typeface="Calibri" pitchFamily="34" charset="-120"/>
              </a:rPr>
              <a:t>Uji Bennett</a:t>
            </a:r>
            <a:endParaRPr lang="en-US" sz="1150" dirty="0"/>
          </a:p>
        </p:txBody>
      </p:sp>
      <p:sp>
        <p:nvSpPr>
          <p:cNvPr id="30" name="Text 28"/>
          <p:cNvSpPr txBox="1"/>
          <p:nvPr/>
        </p:nvSpPr>
        <p:spPr>
          <a:xfrm>
            <a:off x="7948788" y="3172968"/>
            <a:ext cx="3380628" cy="493776"/>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Apakah pernyataan bahwa pihak lain lebih buruk merupakan argumen moral atau pengalihan perhatian?</a:t>
            </a:r>
            <a:endParaRPr lang="en-US" sz="1050" dirty="0"/>
          </a:p>
        </p:txBody>
      </p:sp>
      <p:sp>
        <p:nvSpPr>
          <p:cNvPr id="31" name="Shape 29"/>
          <p:cNvSpPr/>
          <p:nvPr/>
        </p:nvSpPr>
        <p:spPr>
          <a:xfrm>
            <a:off x="6650340" y="3767328"/>
            <a:ext cx="4898532" cy="566928"/>
          </a:xfrm>
          <a:prstGeom prst="roundRect">
            <a:avLst>
              <a:gd name="adj" fmla="val 6452"/>
            </a:avLst>
          </a:prstGeom>
          <a:solidFill>
            <a:srgbClr val="F6F4FC"/>
          </a:solidFill>
          <a:ln w="9525">
            <a:solidFill>
              <a:srgbClr val="D9D5E6"/>
            </a:solidFill>
            <a:prstDash val="solid"/>
          </a:ln>
        </p:spPr>
      </p:sp>
      <p:sp>
        <p:nvSpPr>
          <p:cNvPr id="32" name="Text 30"/>
          <p:cNvSpPr txBox="1"/>
          <p:nvPr/>
        </p:nvSpPr>
        <p:spPr>
          <a:xfrm>
            <a:off x="6869796" y="3822192"/>
            <a:ext cx="1051560" cy="457200"/>
          </a:xfrm>
          <a:prstGeom prst="rect">
            <a:avLst/>
          </a:prstGeom>
          <a:noFill/>
          <a:ln/>
        </p:spPr>
        <p:txBody>
          <a:bodyPr wrap="square" lIns="0" tIns="0" rIns="0" bIns="0" rtlCol="0" anchor="t"/>
          <a:lstStyle/>
          <a:p>
            <a:pPr indent="0" marL="0">
              <a:buNone/>
            </a:pPr>
            <a:r>
              <a:rPr lang="en-US" sz="1150" b="1" dirty="0">
                <a:solidFill>
                  <a:srgbClr val="4A5CA4"/>
                </a:solidFill>
                <a:latin typeface="Calibri" pitchFamily="34" charset="0"/>
                <a:ea typeface="Calibri" pitchFamily="34" charset="-122"/>
                <a:cs typeface="Calibri" pitchFamily="34" charset="-120"/>
              </a:rPr>
              <a:t>Uji bahasa</a:t>
            </a:r>
            <a:endParaRPr lang="en-US" sz="1150" dirty="0"/>
          </a:p>
        </p:txBody>
      </p:sp>
      <p:sp>
        <p:nvSpPr>
          <p:cNvPr id="33" name="Text 31"/>
          <p:cNvSpPr txBox="1"/>
          <p:nvPr/>
        </p:nvSpPr>
        <p:spPr>
          <a:xfrm>
            <a:off x="7948788" y="3813048"/>
            <a:ext cx="3380628" cy="493776"/>
          </a:xfrm>
          <a:prstGeom prst="rect">
            <a:avLst/>
          </a:prstGeom>
          <a:noFill/>
          <a:ln/>
        </p:spPr>
        <p:txBody>
          <a:bodyPr wrap="square" lIns="0" tIns="0" rIns="0" bIns="0" rtlCol="0" anchor="t"/>
          <a:lstStyle/>
          <a:p>
            <a:pPr indent="0" marL="0">
              <a:lnSpc>
                <a:spcPts val="1400"/>
              </a:lnSpc>
              <a:buNone/>
            </a:pPr>
            <a:r>
              <a:rPr lang="en-US" sz="1050" dirty="0">
                <a:solidFill>
                  <a:srgbClr val="231F3D"/>
                </a:solidFill>
                <a:latin typeface="Calibri" pitchFamily="34" charset="0"/>
                <a:ea typeface="Calibri" pitchFamily="34" charset="-122"/>
                <a:cs typeface="Calibri" pitchFamily="34" charset="-120"/>
              </a:rPr>
              <a:t>Siapa yang diuntungkan ketika istilah oil sands atau tar sands disepakati?</a:t>
            </a:r>
            <a:endParaRPr lang="en-US" sz="1050" dirty="0"/>
          </a:p>
        </p:txBody>
      </p:sp>
      <p:sp>
        <p:nvSpPr>
          <p:cNvPr id="34" name="Shape 32"/>
          <p:cNvSpPr/>
          <p:nvPr/>
        </p:nvSpPr>
        <p:spPr>
          <a:xfrm>
            <a:off x="640080" y="4681728"/>
            <a:ext cx="10908792" cy="1298448"/>
          </a:xfrm>
          <a:prstGeom prst="roundRect">
            <a:avLst>
              <a:gd name="adj" fmla="val 2817"/>
            </a:avLst>
          </a:prstGeom>
          <a:solidFill>
            <a:srgbClr val="F6F4FC"/>
          </a:solidFill>
          <a:ln w="9525">
            <a:solidFill>
              <a:srgbClr val="D9D5E6"/>
            </a:solidFill>
            <a:prstDash val="solid"/>
          </a:ln>
        </p:spPr>
      </p:sp>
      <p:sp>
        <p:nvSpPr>
          <p:cNvPr id="35" name="Text 33"/>
          <p:cNvSpPr txBox="1"/>
          <p:nvPr/>
        </p:nvSpPr>
        <p:spPr>
          <a:xfrm>
            <a:off x="960120" y="4809744"/>
            <a:ext cx="10268712" cy="256032"/>
          </a:xfrm>
          <a:prstGeom prst="rect">
            <a:avLst/>
          </a:prstGeom>
          <a:noFill/>
          <a:ln/>
        </p:spPr>
        <p:txBody>
          <a:bodyPr wrap="square" lIns="0" tIns="0" rIns="0" bIns="0" rtlCol="0" anchor="t"/>
          <a:lstStyle/>
          <a:p>
            <a:pPr indent="0" marL="0">
              <a:buNone/>
            </a:pPr>
            <a:r>
              <a:rPr lang="en-US" sz="1350" b="1" dirty="0">
                <a:solidFill>
                  <a:srgbClr val="C97B2E"/>
                </a:solidFill>
                <a:latin typeface="Calibri" pitchFamily="34" charset="0"/>
                <a:ea typeface="Calibri" pitchFamily="34" charset="-122"/>
                <a:cs typeface="Calibri" pitchFamily="34" charset="-120"/>
              </a:rPr>
              <a:t>Penutup: relevansi Indonesia</a:t>
            </a:r>
            <a:endParaRPr lang="en-US" sz="1350" dirty="0"/>
          </a:p>
        </p:txBody>
      </p:sp>
      <p:sp>
        <p:nvSpPr>
          <p:cNvPr id="36" name="Text 34"/>
          <p:cNvSpPr txBox="1"/>
          <p:nvPr/>
        </p:nvSpPr>
        <p:spPr>
          <a:xfrm>
            <a:off x="960120" y="5102352"/>
            <a:ext cx="10268712" cy="822960"/>
          </a:xfrm>
          <a:prstGeom prst="rect">
            <a:avLst/>
          </a:prstGeom>
          <a:noFill/>
          <a:ln/>
        </p:spPr>
        <p:txBody>
          <a:bodyPr wrap="square" lIns="0" tIns="0" rIns="0" bIns="0" rtlCol="0" anchor="t"/>
          <a:lstStyle/>
          <a:p>
            <a:pPr indent="0" marL="0">
              <a:lnSpc>
                <a:spcPts val="1600"/>
              </a:lnSpc>
              <a:buNone/>
            </a:pPr>
            <a:r>
              <a:rPr lang="en-US" sz="1150" dirty="0">
                <a:solidFill>
                  <a:srgbClr val="231F3D"/>
                </a:solidFill>
                <a:latin typeface="Calibri" pitchFamily="34" charset="0"/>
                <a:ea typeface="Calibri" pitchFamily="34" charset="-122"/>
                <a:cs typeface="Calibri" pitchFamily="34" charset="-120"/>
              </a:rPr>
              <a:t>Hilirisasi nikel di Morowali dan Weda Bay memiliki struktur dilema yang hampir sama. Manfaat ekonominya besar dan terukur berupa investasi, lapangan kerja dan posisi Indonesia dalam rantai pasok baterai global. Biaya lingkungan dan sosialnya tersebar dan sulit dikuantifikasi. Yang membuatnya menjadi paralel yang tepat adalah adanya narasi pembenar yang berstruktur sama dengan ethical oil, yaitu bahwa nikel Indonesia dibutuhkan untuk transisi energi dunia.</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638"/>
        </a:solidFill>
      </p:bgPr>
    </p:bg>
    <p:spTree>
      <p:nvGrpSpPr>
        <p:cNvPr id="1" name=""/>
        <p:cNvGrpSpPr/>
        <p:nvPr/>
      </p:nvGrpSpPr>
      <p:grpSpPr>
        <a:xfrm>
          <a:off x="0" y="0"/>
          <a:ext cx="0" cy="0"/>
          <a:chOff x="0" y="0"/>
          <a:chExt cx="0" cy="0"/>
        </a:xfrm>
      </p:grpSpPr>
      <p:sp>
        <p:nvSpPr>
          <p:cNvPr id="2" name="Text 0"/>
          <p:cNvSpPr txBox="1"/>
          <p:nvPr/>
        </p:nvSpPr>
        <p:spPr>
          <a:xfrm>
            <a:off x="640080" y="932688"/>
            <a:ext cx="10908792" cy="310896"/>
          </a:xfrm>
          <a:prstGeom prst="rect">
            <a:avLst/>
          </a:prstGeom>
          <a:noFill/>
          <a:ln/>
        </p:spPr>
        <p:txBody>
          <a:bodyPr wrap="square" lIns="0" tIns="0" rIns="0" bIns="0" rtlCol="0" anchor="t"/>
          <a:lstStyle/>
          <a:p>
            <a:pPr indent="0" marL="0">
              <a:buNone/>
            </a:pPr>
            <a:r>
              <a:rPr lang="en-US" sz="1200" b="1" spc="240" kern="0" dirty="0">
                <a:solidFill>
                  <a:srgbClr val="C97B2E"/>
                </a:solidFill>
                <a:latin typeface="Calibri" pitchFamily="34" charset="0"/>
                <a:ea typeface="Calibri" pitchFamily="34" charset="-122"/>
                <a:cs typeface="Calibri" pitchFamily="34" charset="-120"/>
              </a:rPr>
              <a:t>Penutup</a:t>
            </a:r>
            <a:endParaRPr lang="en-US" sz="1200" dirty="0"/>
          </a:p>
        </p:txBody>
      </p:sp>
      <p:sp>
        <p:nvSpPr>
          <p:cNvPr id="3" name="Text 1"/>
          <p:cNvSpPr txBox="1"/>
          <p:nvPr/>
        </p:nvSpPr>
        <p:spPr>
          <a:xfrm>
            <a:off x="640080" y="1316736"/>
            <a:ext cx="9537192" cy="1115568"/>
          </a:xfrm>
          <a:prstGeom prst="rect">
            <a:avLst/>
          </a:prstGeom>
          <a:noFill/>
          <a:ln/>
        </p:spPr>
        <p:txBody>
          <a:bodyPr wrap="square" lIns="0" tIns="0" rIns="0" bIns="0" rtlCol="0" anchor="t"/>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Setelah sembilan teori, kita tetap tidak memiliki satu jawaban</a:t>
            </a:r>
            <a:endParaRPr lang="en-US" sz="3400" dirty="0"/>
          </a:p>
        </p:txBody>
      </p:sp>
      <p:sp>
        <p:nvSpPr>
          <p:cNvPr id="4" name="Text 2"/>
          <p:cNvSpPr txBox="1"/>
          <p:nvPr/>
        </p:nvSpPr>
        <p:spPr>
          <a:xfrm>
            <a:off x="640080" y="2468880"/>
            <a:ext cx="9537192" cy="365760"/>
          </a:xfrm>
          <a:prstGeom prst="rect">
            <a:avLst/>
          </a:prstGeom>
          <a:noFill/>
          <a:ln/>
        </p:spPr>
        <p:txBody>
          <a:bodyPr wrap="square" lIns="0" tIns="0" rIns="0" bIns="0" rtlCol="0" anchor="t"/>
          <a:lstStyle/>
          <a:p>
            <a:pPr indent="0" marL="0">
              <a:buNone/>
            </a:pPr>
            <a:r>
              <a:rPr lang="en-US" sz="2000" i="1" dirty="0">
                <a:solidFill>
                  <a:srgbClr val="C97B2E"/>
                </a:solidFill>
                <a:latin typeface="Cambria" pitchFamily="34" charset="0"/>
                <a:ea typeface="Cambria" pitchFamily="34" charset="-122"/>
                <a:cs typeface="Cambria" pitchFamily="34" charset="-120"/>
              </a:rPr>
              <a:t>Buku ini memang tidak menjanjikannya.</a:t>
            </a:r>
            <a:endParaRPr lang="en-US" sz="2000" dirty="0"/>
          </a:p>
        </p:txBody>
      </p:sp>
      <p:sp>
        <p:nvSpPr>
          <p:cNvPr id="5" name="Shape 3"/>
          <p:cNvSpPr/>
          <p:nvPr/>
        </p:nvSpPr>
        <p:spPr>
          <a:xfrm>
            <a:off x="640080" y="3035808"/>
            <a:ext cx="146304" cy="146304"/>
          </a:xfrm>
          <a:prstGeom prst="ellipse">
            <a:avLst/>
          </a:prstGeom>
          <a:solidFill>
            <a:srgbClr val="AB463C"/>
          </a:solidFill>
          <a:ln/>
        </p:spPr>
      </p:sp>
      <p:sp>
        <p:nvSpPr>
          <p:cNvPr id="6" name="Text 4"/>
          <p:cNvSpPr txBox="1"/>
          <p:nvPr/>
        </p:nvSpPr>
        <p:spPr>
          <a:xfrm>
            <a:off x="896112" y="2980944"/>
            <a:ext cx="182880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Utilitarianism</a:t>
            </a:r>
            <a:endParaRPr lang="en-US" sz="1250" dirty="0"/>
          </a:p>
        </p:txBody>
      </p:sp>
      <p:sp>
        <p:nvSpPr>
          <p:cNvPr id="7" name="Text 5"/>
          <p:cNvSpPr txBox="1"/>
          <p:nvPr/>
        </p:nvSpPr>
        <p:spPr>
          <a:xfrm>
            <a:off x="2743200" y="2980944"/>
            <a:ext cx="3076956" cy="274320"/>
          </a:xfrm>
          <a:prstGeom prst="rect">
            <a:avLst/>
          </a:prstGeom>
          <a:noFill/>
          <a:ln/>
        </p:spPr>
        <p:txBody>
          <a:bodyPr wrap="square" lIns="0" tIns="0" rIns="0" bIns="0" rtlCol="0" anchor="t"/>
          <a:lstStyle/>
          <a:p>
            <a:pPr indent="0" marL="0">
              <a:buNone/>
            </a:pPr>
            <a:r>
              <a:rPr lang="en-US" sz="1200" dirty="0">
                <a:solidFill>
                  <a:srgbClr val="9F98BE"/>
                </a:solidFill>
                <a:latin typeface="Calibri" pitchFamily="34" charset="0"/>
                <a:ea typeface="Calibri" pitchFamily="34" charset="-122"/>
                <a:cs typeface="Calibri" pitchFamily="34" charset="-120"/>
              </a:rPr>
              <a:t>Terbelah, bergantung batasnya</a:t>
            </a:r>
            <a:endParaRPr lang="en-US" sz="1200" dirty="0"/>
          </a:p>
        </p:txBody>
      </p:sp>
      <p:sp>
        <p:nvSpPr>
          <p:cNvPr id="8" name="Shape 6"/>
          <p:cNvSpPr/>
          <p:nvPr/>
        </p:nvSpPr>
        <p:spPr>
          <a:xfrm>
            <a:off x="640080" y="3419856"/>
            <a:ext cx="146304" cy="146304"/>
          </a:xfrm>
          <a:prstGeom prst="ellipse">
            <a:avLst/>
          </a:prstGeom>
          <a:solidFill>
            <a:srgbClr val="9C8226"/>
          </a:solidFill>
          <a:ln/>
        </p:spPr>
      </p:sp>
      <p:sp>
        <p:nvSpPr>
          <p:cNvPr id="9" name="Text 7"/>
          <p:cNvSpPr txBox="1"/>
          <p:nvPr/>
        </p:nvSpPr>
        <p:spPr>
          <a:xfrm>
            <a:off x="896112" y="3364992"/>
            <a:ext cx="182880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Duty, rights, justice</a:t>
            </a:r>
            <a:endParaRPr lang="en-US" sz="1250" dirty="0"/>
          </a:p>
        </p:txBody>
      </p:sp>
      <p:sp>
        <p:nvSpPr>
          <p:cNvPr id="10" name="Text 8"/>
          <p:cNvSpPr txBox="1"/>
          <p:nvPr/>
        </p:nvSpPr>
        <p:spPr>
          <a:xfrm>
            <a:off x="2743200" y="3364992"/>
            <a:ext cx="3076956" cy="274320"/>
          </a:xfrm>
          <a:prstGeom prst="rect">
            <a:avLst/>
          </a:prstGeom>
          <a:noFill/>
          <a:ln/>
        </p:spPr>
        <p:txBody>
          <a:bodyPr wrap="square" lIns="0" tIns="0" rIns="0" bIns="0" rtlCol="0" anchor="t"/>
          <a:lstStyle/>
          <a:p>
            <a:pPr indent="0" marL="0">
              <a:buNone/>
            </a:pPr>
            <a:r>
              <a:rPr lang="en-US" sz="1200" dirty="0">
                <a:solidFill>
                  <a:srgbClr val="9F98BE"/>
                </a:solidFill>
                <a:latin typeface="Calibri" pitchFamily="34" charset="0"/>
                <a:ea typeface="Calibri" pitchFamily="34" charset="-122"/>
                <a:cs typeface="Calibri" pitchFamily="34" charset="-120"/>
              </a:rPr>
              <a:t>Cenderung menolak</a:t>
            </a:r>
            <a:endParaRPr lang="en-US" sz="1200" dirty="0"/>
          </a:p>
        </p:txBody>
      </p:sp>
      <p:sp>
        <p:nvSpPr>
          <p:cNvPr id="11" name="Shape 9"/>
          <p:cNvSpPr/>
          <p:nvPr/>
        </p:nvSpPr>
        <p:spPr>
          <a:xfrm>
            <a:off x="640080" y="3803904"/>
            <a:ext cx="146304" cy="146304"/>
          </a:xfrm>
          <a:prstGeom prst="ellipse">
            <a:avLst/>
          </a:prstGeom>
          <a:solidFill>
            <a:srgbClr val="2C8072"/>
          </a:solidFill>
          <a:ln/>
        </p:spPr>
      </p:sp>
      <p:sp>
        <p:nvSpPr>
          <p:cNvPr id="12" name="Text 10"/>
          <p:cNvSpPr txBox="1"/>
          <p:nvPr/>
        </p:nvSpPr>
        <p:spPr>
          <a:xfrm>
            <a:off x="896112" y="3749040"/>
            <a:ext cx="182880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Ethic of care</a:t>
            </a:r>
            <a:endParaRPr lang="en-US" sz="1250" dirty="0"/>
          </a:p>
        </p:txBody>
      </p:sp>
      <p:sp>
        <p:nvSpPr>
          <p:cNvPr id="13" name="Text 11"/>
          <p:cNvSpPr txBox="1"/>
          <p:nvPr/>
        </p:nvSpPr>
        <p:spPr>
          <a:xfrm>
            <a:off x="2743200" y="3749040"/>
            <a:ext cx="3076956" cy="274320"/>
          </a:xfrm>
          <a:prstGeom prst="rect">
            <a:avLst/>
          </a:prstGeom>
          <a:noFill/>
          <a:ln/>
        </p:spPr>
        <p:txBody>
          <a:bodyPr wrap="square" lIns="0" tIns="0" rIns="0" bIns="0" rtlCol="0" anchor="t"/>
          <a:lstStyle/>
          <a:p>
            <a:pPr indent="0" marL="0">
              <a:buNone/>
            </a:pPr>
            <a:r>
              <a:rPr lang="en-US" sz="1200" dirty="0">
                <a:solidFill>
                  <a:srgbClr val="9F98BE"/>
                </a:solidFill>
                <a:latin typeface="Calibri" pitchFamily="34" charset="0"/>
                <a:ea typeface="Calibri" pitchFamily="34" charset="-122"/>
                <a:cs typeface="Calibri" pitchFamily="34" charset="-120"/>
              </a:rPr>
              <a:t>Menuntut transisi yang adil</a:t>
            </a:r>
            <a:endParaRPr lang="en-US" sz="1200" dirty="0"/>
          </a:p>
        </p:txBody>
      </p:sp>
      <p:sp>
        <p:nvSpPr>
          <p:cNvPr id="14" name="Shape 12"/>
          <p:cNvSpPr/>
          <p:nvPr/>
        </p:nvSpPr>
        <p:spPr>
          <a:xfrm>
            <a:off x="6094476" y="3035808"/>
            <a:ext cx="146304" cy="146304"/>
          </a:xfrm>
          <a:prstGeom prst="ellipse">
            <a:avLst/>
          </a:prstGeom>
          <a:solidFill>
            <a:srgbClr val="4A5CA4"/>
          </a:solidFill>
          <a:ln/>
        </p:spPr>
      </p:sp>
      <p:sp>
        <p:nvSpPr>
          <p:cNvPr id="15" name="Text 13"/>
          <p:cNvSpPr txBox="1"/>
          <p:nvPr/>
        </p:nvSpPr>
        <p:spPr>
          <a:xfrm>
            <a:off x="6350508" y="2980944"/>
            <a:ext cx="182880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Discourse ethics</a:t>
            </a:r>
            <a:endParaRPr lang="en-US" sz="1250" dirty="0"/>
          </a:p>
        </p:txBody>
      </p:sp>
      <p:sp>
        <p:nvSpPr>
          <p:cNvPr id="16" name="Text 14"/>
          <p:cNvSpPr txBox="1"/>
          <p:nvPr/>
        </p:nvSpPr>
        <p:spPr>
          <a:xfrm>
            <a:off x="8197596" y="2980944"/>
            <a:ext cx="3076956" cy="274320"/>
          </a:xfrm>
          <a:prstGeom prst="rect">
            <a:avLst/>
          </a:prstGeom>
          <a:noFill/>
          <a:ln/>
        </p:spPr>
        <p:txBody>
          <a:bodyPr wrap="square" lIns="0" tIns="0" rIns="0" bIns="0" rtlCol="0" anchor="t"/>
          <a:lstStyle/>
          <a:p>
            <a:pPr indent="0" marL="0">
              <a:buNone/>
            </a:pPr>
            <a:r>
              <a:rPr lang="en-US" sz="1200" dirty="0">
                <a:solidFill>
                  <a:srgbClr val="9F98BE"/>
                </a:solidFill>
                <a:latin typeface="Calibri" pitchFamily="34" charset="0"/>
                <a:ea typeface="Calibri" pitchFamily="34" charset="-122"/>
                <a:cs typeface="Calibri" pitchFamily="34" charset="-120"/>
              </a:rPr>
              <a:t>Menolak proses, tawarkan jalannya</a:t>
            </a:r>
            <a:endParaRPr lang="en-US" sz="1200" dirty="0"/>
          </a:p>
        </p:txBody>
      </p:sp>
      <p:sp>
        <p:nvSpPr>
          <p:cNvPr id="17" name="Shape 15"/>
          <p:cNvSpPr/>
          <p:nvPr/>
        </p:nvSpPr>
        <p:spPr>
          <a:xfrm>
            <a:off x="6094476" y="3419856"/>
            <a:ext cx="146304" cy="146304"/>
          </a:xfrm>
          <a:prstGeom prst="ellipse">
            <a:avLst/>
          </a:prstGeom>
          <a:solidFill>
            <a:srgbClr val="9E4176"/>
          </a:solidFill>
          <a:ln/>
        </p:spPr>
      </p:sp>
      <p:sp>
        <p:nvSpPr>
          <p:cNvPr id="18" name="Text 16"/>
          <p:cNvSpPr txBox="1"/>
          <p:nvPr/>
        </p:nvSpPr>
        <p:spPr>
          <a:xfrm>
            <a:off x="6350508" y="3364992"/>
            <a:ext cx="182880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Virtue, postmodern</a:t>
            </a:r>
            <a:endParaRPr lang="en-US" sz="1250" dirty="0"/>
          </a:p>
        </p:txBody>
      </p:sp>
      <p:sp>
        <p:nvSpPr>
          <p:cNvPr id="19" name="Text 17"/>
          <p:cNvSpPr txBox="1"/>
          <p:nvPr/>
        </p:nvSpPr>
        <p:spPr>
          <a:xfrm>
            <a:off x="8197596" y="3364992"/>
            <a:ext cx="3076956" cy="274320"/>
          </a:xfrm>
          <a:prstGeom prst="rect">
            <a:avLst/>
          </a:prstGeom>
          <a:noFill/>
          <a:ln/>
        </p:spPr>
        <p:txBody>
          <a:bodyPr wrap="square" lIns="0" tIns="0" rIns="0" bIns="0" rtlCol="0" anchor="t"/>
          <a:lstStyle/>
          <a:p>
            <a:pPr indent="0" marL="0">
              <a:buNone/>
            </a:pPr>
            <a:r>
              <a:rPr lang="en-US" sz="1200" dirty="0">
                <a:solidFill>
                  <a:srgbClr val="9F98BE"/>
                </a:solidFill>
                <a:latin typeface="Calibri" pitchFamily="34" charset="0"/>
                <a:ea typeface="Calibri" pitchFamily="34" charset="-122"/>
                <a:cs typeface="Calibri" pitchFamily="34" charset="-120"/>
              </a:rPr>
              <a:t>Membongkar bahasanya</a:t>
            </a:r>
            <a:endParaRPr lang="en-US" sz="1200" dirty="0"/>
          </a:p>
        </p:txBody>
      </p:sp>
      <p:sp>
        <p:nvSpPr>
          <p:cNvPr id="20" name="Text 18"/>
          <p:cNvSpPr txBox="1"/>
          <p:nvPr/>
        </p:nvSpPr>
        <p:spPr>
          <a:xfrm>
            <a:off x="640080" y="4297680"/>
            <a:ext cx="9811512" cy="1234440"/>
          </a:xfrm>
          <a:prstGeom prst="rect">
            <a:avLst/>
          </a:prstGeom>
          <a:noFill/>
          <a:ln/>
        </p:spPr>
        <p:txBody>
          <a:bodyPr wrap="square" lIns="0" tIns="0" rIns="0" bIns="0" rtlCol="0" anchor="t"/>
          <a:lstStyle/>
          <a:p>
            <a:pPr indent="0" marL="0">
              <a:lnSpc>
                <a:spcPts val="2300"/>
              </a:lnSpc>
              <a:buNone/>
            </a:pPr>
            <a:r>
              <a:rPr lang="en-US" sz="1400" dirty="0">
                <a:solidFill>
                  <a:srgbClr val="CFC9E3"/>
                </a:solidFill>
                <a:latin typeface="Calibri" pitchFamily="34" charset="0"/>
                <a:ea typeface="Calibri" pitchFamily="34" charset="-122"/>
                <a:cs typeface="Calibri" pitchFamily="34" charset="-120"/>
              </a:rPr>
              <a:t>Hal tersebut bukan kegagalan melainkan pesan dari Figure 3.2. Memandang melalui prisma memberi kita spektrum pertimbangan yang tidak akan terlihat melalui lensa satu teori. Keputusan yang baik bukan keputusan yang menemukan teori paling benar, melainkan keputusan yang menyadari seluruh spektrum tersebut dan dapat dipertanggungjawabkan kepada seluruh pihak yang terdampak.</a:t>
            </a:r>
            <a:endParaRPr lang="en-US" sz="1400" dirty="0"/>
          </a:p>
        </p:txBody>
      </p:sp>
      <p:sp>
        <p:nvSpPr>
          <p:cNvPr id="21" name="Shape 19"/>
          <p:cNvSpPr/>
          <p:nvPr/>
        </p:nvSpPr>
        <p:spPr>
          <a:xfrm>
            <a:off x="640080" y="5943600"/>
            <a:ext cx="173736" cy="173736"/>
          </a:xfrm>
          <a:prstGeom prst="ellipse">
            <a:avLst/>
          </a:prstGeom>
          <a:solidFill>
            <a:srgbClr val="AB463C"/>
          </a:solidFill>
          <a:ln/>
        </p:spPr>
      </p:sp>
      <p:sp>
        <p:nvSpPr>
          <p:cNvPr id="22" name="Shape 20"/>
          <p:cNvSpPr/>
          <p:nvPr/>
        </p:nvSpPr>
        <p:spPr>
          <a:xfrm>
            <a:off x="914400" y="5943600"/>
            <a:ext cx="173736" cy="173736"/>
          </a:xfrm>
          <a:prstGeom prst="ellipse">
            <a:avLst/>
          </a:prstGeom>
          <a:solidFill>
            <a:srgbClr val="B96A2C"/>
          </a:solidFill>
          <a:ln/>
        </p:spPr>
      </p:sp>
      <p:sp>
        <p:nvSpPr>
          <p:cNvPr id="23" name="Shape 21"/>
          <p:cNvSpPr/>
          <p:nvPr/>
        </p:nvSpPr>
        <p:spPr>
          <a:xfrm>
            <a:off x="1188720" y="5943600"/>
            <a:ext cx="173736" cy="173736"/>
          </a:xfrm>
          <a:prstGeom prst="ellipse">
            <a:avLst/>
          </a:prstGeom>
          <a:solidFill>
            <a:srgbClr val="9C8226"/>
          </a:solidFill>
          <a:ln/>
        </p:spPr>
      </p:sp>
      <p:sp>
        <p:nvSpPr>
          <p:cNvPr id="24" name="Shape 22"/>
          <p:cNvSpPr/>
          <p:nvPr/>
        </p:nvSpPr>
        <p:spPr>
          <a:xfrm>
            <a:off x="1463040" y="5943600"/>
            <a:ext cx="173736" cy="173736"/>
          </a:xfrm>
          <a:prstGeom prst="ellipse">
            <a:avLst/>
          </a:prstGeom>
          <a:solidFill>
            <a:srgbClr val="5A8637"/>
          </a:solidFill>
          <a:ln/>
        </p:spPr>
      </p:sp>
      <p:sp>
        <p:nvSpPr>
          <p:cNvPr id="25" name="Shape 23"/>
          <p:cNvSpPr/>
          <p:nvPr/>
        </p:nvSpPr>
        <p:spPr>
          <a:xfrm>
            <a:off x="1737360" y="5943600"/>
            <a:ext cx="173736" cy="173736"/>
          </a:xfrm>
          <a:prstGeom prst="ellipse">
            <a:avLst/>
          </a:prstGeom>
          <a:solidFill>
            <a:srgbClr val="2C8072"/>
          </a:solidFill>
          <a:ln/>
        </p:spPr>
      </p:sp>
      <p:sp>
        <p:nvSpPr>
          <p:cNvPr id="26" name="Shape 24"/>
          <p:cNvSpPr/>
          <p:nvPr/>
        </p:nvSpPr>
        <p:spPr>
          <a:xfrm>
            <a:off x="2011680" y="5943600"/>
            <a:ext cx="173736" cy="173736"/>
          </a:xfrm>
          <a:prstGeom prst="ellipse">
            <a:avLst/>
          </a:prstGeom>
          <a:solidFill>
            <a:srgbClr val="2C6F92"/>
          </a:solidFill>
          <a:ln/>
        </p:spPr>
      </p:sp>
      <p:sp>
        <p:nvSpPr>
          <p:cNvPr id="27" name="Shape 25"/>
          <p:cNvSpPr/>
          <p:nvPr/>
        </p:nvSpPr>
        <p:spPr>
          <a:xfrm>
            <a:off x="2286000" y="5943600"/>
            <a:ext cx="173736" cy="173736"/>
          </a:xfrm>
          <a:prstGeom prst="ellipse">
            <a:avLst/>
          </a:prstGeom>
          <a:solidFill>
            <a:srgbClr val="4A5CA4"/>
          </a:solidFill>
          <a:ln/>
        </p:spPr>
      </p:sp>
      <p:sp>
        <p:nvSpPr>
          <p:cNvPr id="28" name="Shape 26"/>
          <p:cNvSpPr/>
          <p:nvPr/>
        </p:nvSpPr>
        <p:spPr>
          <a:xfrm>
            <a:off x="2560320" y="5943600"/>
            <a:ext cx="173736" cy="173736"/>
          </a:xfrm>
          <a:prstGeom prst="ellipse">
            <a:avLst/>
          </a:prstGeom>
          <a:solidFill>
            <a:srgbClr val="764B99"/>
          </a:solidFill>
          <a:ln/>
        </p:spPr>
      </p:sp>
      <p:sp>
        <p:nvSpPr>
          <p:cNvPr id="29" name="Shape 27"/>
          <p:cNvSpPr/>
          <p:nvPr/>
        </p:nvSpPr>
        <p:spPr>
          <a:xfrm>
            <a:off x="2834640" y="5943600"/>
            <a:ext cx="173736" cy="173736"/>
          </a:xfrm>
          <a:prstGeom prst="ellipse">
            <a:avLst/>
          </a:prstGeom>
          <a:solidFill>
            <a:srgbClr val="9E417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Evaluating Business Ethics</dc:title>
  <dc:subject>PptxGenJS Presentation</dc:subject>
  <dc:creator>Aslih Abnuri</dc:creator>
  <cp:lastModifiedBy>Aslih Abnuri</cp:lastModifiedBy>
  <cp:revision>1</cp:revision>
  <dcterms:created xsi:type="dcterms:W3CDTF">2026-08-26T09:56:33Z</dcterms:created>
  <dcterms:modified xsi:type="dcterms:W3CDTF">2026-08-26T09:56:33Z</dcterms:modified>
</cp:coreProperties>
</file>