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ini punya dua bagian. Separuh pertama fakta, separuh kedua penilaian. Jangan campur keduanya saat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01 sampai 08 adalah fakta. Bagian 09 dan 10 adalah penilaian. Batas itu perlu dijaga.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kunci: kebijakan ini berhasil secara ekonomi sekaligus kalah secara hukum dagang. Dua fakta itu berjalan bersamaan.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angka ini tanpa keberatan apa pun. Keberatannya menyusul di tiga slide berikutnya, dan justru itu yang membuat kasusnya menarik.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107 kematian ini yang paling sering luput. Sandingkan dengan angka 166 ribu pekerja di slide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Ironinya di sini: nikel dijual sebagai bahan transisi energi, tetapi pengolahannya justru menjadi penopang terbesar batu bara captive.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angka amonia di Kobe: hampir empat kali ambang batasnya. Itu bukan selisih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hanya satu angka yang diingat kelas dari deck ini, angka itu 4,35 persen. Sembilan puluh lima persen nilai tambahnya meninggalkan daerah.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menutup bagian fakta. Dua ujung rantai: 300 sampai 500 jiwa di hulu, jutaan konsumen di hilir.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penutup ini yang menjustifikasi seluruh analisis berikutnya. Kalau sengketanya soal kriteria, maka teori nilailah alatnya.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 antara bagian fakta dan bagian penilaian ada di slide ini. Tegaskan bahwa faktanya tidak berubah, hanya kriterianya yang berganti.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Kedua kesimpulan sama sahnya secara internal. Yang membedakan hanya unit analisisnya: tindakan tunggal atau kelas tindakan.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Rawls adalah lensa paling tajam di sini. Angka 4,35 persen itu yang membuat difference principle langsung gugur.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Discourse ethics paling praktis untuk kasus ini karena menyerang cara keputusan dibuat, bukan isinya.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inilah temuannya. Bukan satu putusan, melainkan konvergensi dari sembilan pintu masuk yang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Penting: analisis ini menolak klaimnya, bukan menuntut kebijakannya dicabut. Bedakan dua hal itu di depan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bagian ini dengan pertanyaan Rawls versi Indonesia pada baris terakhir. Itu pertanyaan yang bisa dilempar ke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penutup ini merangkum seluruh deck. Manfaatnya mudah dihitung, bebannya tidak, dan asimetri itu yang menyesatkan penilaian.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tidak perlu dibacakan. Fungsinya menjawab kalau ada yang menanyakan asal angkanya.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tanya jawab dengan pertanyaan pada slide implikasi: siapa menikmati manfaatnya, siapa menanggung bebannya.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0" y="6327648"/>
            <a:ext cx="530352" cy="530352"/>
          </a:xfrm>
          <a:prstGeom prst="rect">
            <a:avLst/>
          </a:prstGeom>
          <a:solidFill>
            <a:srgbClr val="FF5A2D"/>
          </a:solidFill>
          <a:ln/>
        </p:spPr>
      </p:sp>
      <p:sp>
        <p:nvSpPr>
          <p:cNvPr id="4" name="Shape 2"/>
          <p:cNvSpPr/>
          <p:nvPr/>
        </p:nvSpPr>
        <p:spPr>
          <a:xfrm>
            <a:off x="6740042" y="1070762"/>
            <a:ext cx="53035" cy="53035"/>
          </a:xfrm>
          <a:prstGeom prst="ellipse">
            <a:avLst/>
          </a:prstGeom>
          <a:solidFill>
            <a:srgbClr val="283044"/>
          </a:solidFill>
          <a:ln/>
        </p:spPr>
      </p:sp>
      <p:sp>
        <p:nvSpPr>
          <p:cNvPr id="5" name="Shape 3"/>
          <p:cNvSpPr/>
          <p:nvPr/>
        </p:nvSpPr>
        <p:spPr>
          <a:xfrm>
            <a:off x="6849373" y="1018468"/>
            <a:ext cx="53035" cy="53035"/>
          </a:xfrm>
          <a:prstGeom prst="ellipse">
            <a:avLst/>
          </a:prstGeom>
          <a:solidFill>
            <a:srgbClr val="283044"/>
          </a:solidFill>
          <a:ln/>
        </p:spPr>
      </p:sp>
      <p:sp>
        <p:nvSpPr>
          <p:cNvPr id="6" name="Shape 4"/>
          <p:cNvSpPr/>
          <p:nvPr/>
        </p:nvSpPr>
        <p:spPr>
          <a:xfrm>
            <a:off x="6958703" y="967147"/>
            <a:ext cx="53035" cy="53035"/>
          </a:xfrm>
          <a:prstGeom prst="ellipse">
            <a:avLst/>
          </a:prstGeom>
          <a:solidFill>
            <a:srgbClr val="283044"/>
          </a:solidFill>
          <a:ln/>
        </p:spPr>
      </p:sp>
      <p:sp>
        <p:nvSpPr>
          <p:cNvPr id="7" name="Shape 5"/>
          <p:cNvSpPr/>
          <p:nvPr/>
        </p:nvSpPr>
        <p:spPr>
          <a:xfrm>
            <a:off x="7068034" y="917757"/>
            <a:ext cx="53035" cy="53035"/>
          </a:xfrm>
          <a:prstGeom prst="ellipse">
            <a:avLst/>
          </a:prstGeom>
          <a:solidFill>
            <a:srgbClr val="283044"/>
          </a:solidFill>
          <a:ln/>
        </p:spPr>
      </p:sp>
      <p:sp>
        <p:nvSpPr>
          <p:cNvPr id="8" name="Shape 6"/>
          <p:cNvSpPr/>
          <p:nvPr/>
        </p:nvSpPr>
        <p:spPr>
          <a:xfrm>
            <a:off x="7177364" y="871217"/>
            <a:ext cx="53035" cy="53035"/>
          </a:xfrm>
          <a:prstGeom prst="ellipse">
            <a:avLst/>
          </a:prstGeom>
          <a:solidFill>
            <a:srgbClr val="283044"/>
          </a:solidFill>
          <a:ln/>
        </p:spPr>
      </p:sp>
      <p:sp>
        <p:nvSpPr>
          <p:cNvPr id="9" name="Shape 7"/>
          <p:cNvSpPr/>
          <p:nvPr/>
        </p:nvSpPr>
        <p:spPr>
          <a:xfrm>
            <a:off x="7286695" y="828394"/>
            <a:ext cx="53035" cy="53035"/>
          </a:xfrm>
          <a:prstGeom prst="ellipse">
            <a:avLst/>
          </a:prstGeom>
          <a:solidFill>
            <a:srgbClr val="283044"/>
          </a:solidFill>
          <a:ln/>
        </p:spPr>
      </p:sp>
      <p:sp>
        <p:nvSpPr>
          <p:cNvPr id="10" name="Shape 8"/>
          <p:cNvSpPr/>
          <p:nvPr/>
        </p:nvSpPr>
        <p:spPr>
          <a:xfrm>
            <a:off x="7396025" y="790086"/>
            <a:ext cx="53035" cy="53035"/>
          </a:xfrm>
          <a:prstGeom prst="ellipse">
            <a:avLst/>
          </a:prstGeom>
          <a:solidFill>
            <a:srgbClr val="283044"/>
          </a:solidFill>
          <a:ln/>
        </p:spPr>
      </p:sp>
      <p:sp>
        <p:nvSpPr>
          <p:cNvPr id="11" name="Shape 9"/>
          <p:cNvSpPr/>
          <p:nvPr/>
        </p:nvSpPr>
        <p:spPr>
          <a:xfrm>
            <a:off x="7505355" y="757007"/>
            <a:ext cx="53035" cy="53035"/>
          </a:xfrm>
          <a:prstGeom prst="ellipse">
            <a:avLst/>
          </a:prstGeom>
          <a:solidFill>
            <a:srgbClr val="283044"/>
          </a:solidFill>
          <a:ln/>
        </p:spPr>
      </p:sp>
      <p:sp>
        <p:nvSpPr>
          <p:cNvPr id="12" name="Shape 10"/>
          <p:cNvSpPr/>
          <p:nvPr/>
        </p:nvSpPr>
        <p:spPr>
          <a:xfrm>
            <a:off x="7614686" y="729772"/>
            <a:ext cx="53035" cy="53035"/>
          </a:xfrm>
          <a:prstGeom prst="ellipse">
            <a:avLst/>
          </a:prstGeom>
          <a:solidFill>
            <a:srgbClr val="283044"/>
          </a:solidFill>
          <a:ln/>
        </p:spPr>
      </p:sp>
      <p:sp>
        <p:nvSpPr>
          <p:cNvPr id="13" name="Shape 11"/>
          <p:cNvSpPr/>
          <p:nvPr/>
        </p:nvSpPr>
        <p:spPr>
          <a:xfrm>
            <a:off x="7724016" y="708889"/>
            <a:ext cx="53035" cy="53035"/>
          </a:xfrm>
          <a:prstGeom prst="ellipse">
            <a:avLst/>
          </a:prstGeom>
          <a:solidFill>
            <a:srgbClr val="283044"/>
          </a:solidFill>
          <a:ln/>
        </p:spPr>
      </p:sp>
      <p:sp>
        <p:nvSpPr>
          <p:cNvPr id="14" name="Shape 12"/>
          <p:cNvSpPr/>
          <p:nvPr/>
        </p:nvSpPr>
        <p:spPr>
          <a:xfrm>
            <a:off x="7833347" y="694747"/>
            <a:ext cx="53035" cy="53035"/>
          </a:xfrm>
          <a:prstGeom prst="ellipse">
            <a:avLst/>
          </a:prstGeom>
          <a:solidFill>
            <a:srgbClr val="283044"/>
          </a:solidFill>
          <a:ln/>
        </p:spPr>
      </p:sp>
      <p:sp>
        <p:nvSpPr>
          <p:cNvPr id="15" name="Shape 13"/>
          <p:cNvSpPr/>
          <p:nvPr/>
        </p:nvSpPr>
        <p:spPr>
          <a:xfrm>
            <a:off x="7942677" y="687610"/>
            <a:ext cx="53035" cy="53035"/>
          </a:xfrm>
          <a:prstGeom prst="ellipse">
            <a:avLst/>
          </a:prstGeom>
          <a:solidFill>
            <a:srgbClr val="283044"/>
          </a:solidFill>
          <a:ln/>
        </p:spPr>
      </p:sp>
      <p:sp>
        <p:nvSpPr>
          <p:cNvPr id="16" name="Shape 14"/>
          <p:cNvSpPr/>
          <p:nvPr/>
        </p:nvSpPr>
        <p:spPr>
          <a:xfrm>
            <a:off x="8052008" y="687610"/>
            <a:ext cx="53035" cy="53035"/>
          </a:xfrm>
          <a:prstGeom prst="ellipse">
            <a:avLst/>
          </a:prstGeom>
          <a:solidFill>
            <a:srgbClr val="283044"/>
          </a:solidFill>
          <a:ln/>
        </p:spPr>
      </p:sp>
      <p:sp>
        <p:nvSpPr>
          <p:cNvPr id="17" name="Shape 15"/>
          <p:cNvSpPr/>
          <p:nvPr/>
        </p:nvSpPr>
        <p:spPr>
          <a:xfrm>
            <a:off x="8161338" y="694747"/>
            <a:ext cx="53035" cy="53035"/>
          </a:xfrm>
          <a:prstGeom prst="ellipse">
            <a:avLst/>
          </a:prstGeom>
          <a:solidFill>
            <a:srgbClr val="283044"/>
          </a:solidFill>
          <a:ln/>
        </p:spPr>
      </p:sp>
      <p:sp>
        <p:nvSpPr>
          <p:cNvPr id="18" name="Shape 16"/>
          <p:cNvSpPr/>
          <p:nvPr/>
        </p:nvSpPr>
        <p:spPr>
          <a:xfrm>
            <a:off x="8270668" y="708889"/>
            <a:ext cx="53035" cy="53035"/>
          </a:xfrm>
          <a:prstGeom prst="ellipse">
            <a:avLst/>
          </a:prstGeom>
          <a:solidFill>
            <a:srgbClr val="283044"/>
          </a:solidFill>
          <a:ln/>
        </p:spPr>
      </p:sp>
      <p:sp>
        <p:nvSpPr>
          <p:cNvPr id="19" name="Shape 17"/>
          <p:cNvSpPr/>
          <p:nvPr/>
        </p:nvSpPr>
        <p:spPr>
          <a:xfrm>
            <a:off x="8379999" y="729772"/>
            <a:ext cx="53035" cy="53035"/>
          </a:xfrm>
          <a:prstGeom prst="ellipse">
            <a:avLst/>
          </a:prstGeom>
          <a:solidFill>
            <a:srgbClr val="283044"/>
          </a:solidFill>
          <a:ln/>
        </p:spPr>
      </p:sp>
      <p:sp>
        <p:nvSpPr>
          <p:cNvPr id="20" name="Shape 18"/>
          <p:cNvSpPr/>
          <p:nvPr/>
        </p:nvSpPr>
        <p:spPr>
          <a:xfrm>
            <a:off x="8489329" y="757007"/>
            <a:ext cx="53035" cy="53035"/>
          </a:xfrm>
          <a:prstGeom prst="ellipse">
            <a:avLst/>
          </a:prstGeom>
          <a:solidFill>
            <a:srgbClr val="283044"/>
          </a:solidFill>
          <a:ln/>
        </p:spPr>
      </p:sp>
      <p:sp>
        <p:nvSpPr>
          <p:cNvPr id="21" name="Shape 19"/>
          <p:cNvSpPr/>
          <p:nvPr/>
        </p:nvSpPr>
        <p:spPr>
          <a:xfrm>
            <a:off x="8598660" y="790086"/>
            <a:ext cx="53035" cy="53035"/>
          </a:xfrm>
          <a:prstGeom prst="ellipse">
            <a:avLst/>
          </a:prstGeom>
          <a:solidFill>
            <a:srgbClr val="283044"/>
          </a:solidFill>
          <a:ln/>
        </p:spPr>
      </p:sp>
      <p:sp>
        <p:nvSpPr>
          <p:cNvPr id="22" name="Shape 20"/>
          <p:cNvSpPr/>
          <p:nvPr/>
        </p:nvSpPr>
        <p:spPr>
          <a:xfrm>
            <a:off x="8707990" y="828394"/>
            <a:ext cx="53035" cy="53035"/>
          </a:xfrm>
          <a:prstGeom prst="ellipse">
            <a:avLst/>
          </a:prstGeom>
          <a:solidFill>
            <a:srgbClr val="283044"/>
          </a:solidFill>
          <a:ln/>
        </p:spPr>
      </p:sp>
      <p:sp>
        <p:nvSpPr>
          <p:cNvPr id="23" name="Shape 21"/>
          <p:cNvSpPr/>
          <p:nvPr/>
        </p:nvSpPr>
        <p:spPr>
          <a:xfrm>
            <a:off x="8817321" y="871217"/>
            <a:ext cx="53035" cy="53035"/>
          </a:xfrm>
          <a:prstGeom prst="ellipse">
            <a:avLst/>
          </a:prstGeom>
          <a:solidFill>
            <a:srgbClr val="283044"/>
          </a:solidFill>
          <a:ln/>
        </p:spPr>
      </p:sp>
      <p:sp>
        <p:nvSpPr>
          <p:cNvPr id="24" name="Shape 22"/>
          <p:cNvSpPr/>
          <p:nvPr/>
        </p:nvSpPr>
        <p:spPr>
          <a:xfrm>
            <a:off x="8926651" y="917757"/>
            <a:ext cx="53035" cy="53035"/>
          </a:xfrm>
          <a:prstGeom prst="ellipse">
            <a:avLst/>
          </a:prstGeom>
          <a:solidFill>
            <a:srgbClr val="283044"/>
          </a:solidFill>
          <a:ln/>
        </p:spPr>
      </p:sp>
      <p:sp>
        <p:nvSpPr>
          <p:cNvPr id="25" name="Shape 23"/>
          <p:cNvSpPr/>
          <p:nvPr/>
        </p:nvSpPr>
        <p:spPr>
          <a:xfrm>
            <a:off x="9035982" y="967147"/>
            <a:ext cx="53035" cy="53035"/>
          </a:xfrm>
          <a:prstGeom prst="ellipse">
            <a:avLst/>
          </a:prstGeom>
          <a:solidFill>
            <a:srgbClr val="283044"/>
          </a:solidFill>
          <a:ln/>
        </p:spPr>
      </p:sp>
      <p:sp>
        <p:nvSpPr>
          <p:cNvPr id="26" name="Shape 24"/>
          <p:cNvSpPr/>
          <p:nvPr/>
        </p:nvSpPr>
        <p:spPr>
          <a:xfrm>
            <a:off x="9145312" y="1018468"/>
            <a:ext cx="53035" cy="53035"/>
          </a:xfrm>
          <a:prstGeom prst="ellipse">
            <a:avLst/>
          </a:prstGeom>
          <a:solidFill>
            <a:srgbClr val="283044"/>
          </a:solidFill>
          <a:ln/>
        </p:spPr>
      </p:sp>
      <p:sp>
        <p:nvSpPr>
          <p:cNvPr id="27" name="Shape 25"/>
          <p:cNvSpPr/>
          <p:nvPr/>
        </p:nvSpPr>
        <p:spPr>
          <a:xfrm>
            <a:off x="9254642" y="1070762"/>
            <a:ext cx="53035" cy="53035"/>
          </a:xfrm>
          <a:prstGeom prst="ellipse">
            <a:avLst/>
          </a:prstGeom>
          <a:solidFill>
            <a:srgbClr val="283044"/>
          </a:solidFill>
          <a:ln/>
        </p:spPr>
      </p:sp>
      <p:sp>
        <p:nvSpPr>
          <p:cNvPr id="28" name="Shape 26"/>
          <p:cNvSpPr/>
          <p:nvPr/>
        </p:nvSpPr>
        <p:spPr>
          <a:xfrm>
            <a:off x="9363973" y="1123057"/>
            <a:ext cx="53035" cy="53035"/>
          </a:xfrm>
          <a:prstGeom prst="ellipse">
            <a:avLst/>
          </a:prstGeom>
          <a:solidFill>
            <a:srgbClr val="283044"/>
          </a:solidFill>
          <a:ln/>
        </p:spPr>
      </p:sp>
      <p:sp>
        <p:nvSpPr>
          <p:cNvPr id="29" name="Shape 27"/>
          <p:cNvSpPr/>
          <p:nvPr/>
        </p:nvSpPr>
        <p:spPr>
          <a:xfrm>
            <a:off x="9473303" y="1174377"/>
            <a:ext cx="53035" cy="53035"/>
          </a:xfrm>
          <a:prstGeom prst="ellipse">
            <a:avLst/>
          </a:prstGeom>
          <a:solidFill>
            <a:srgbClr val="283044"/>
          </a:solidFill>
          <a:ln/>
        </p:spPr>
      </p:sp>
      <p:sp>
        <p:nvSpPr>
          <p:cNvPr id="30" name="Shape 28"/>
          <p:cNvSpPr/>
          <p:nvPr/>
        </p:nvSpPr>
        <p:spPr>
          <a:xfrm>
            <a:off x="9582634" y="1223768"/>
            <a:ext cx="53035" cy="53035"/>
          </a:xfrm>
          <a:prstGeom prst="ellipse">
            <a:avLst/>
          </a:prstGeom>
          <a:solidFill>
            <a:srgbClr val="283044"/>
          </a:solidFill>
          <a:ln/>
        </p:spPr>
      </p:sp>
      <p:sp>
        <p:nvSpPr>
          <p:cNvPr id="31" name="Shape 29"/>
          <p:cNvSpPr/>
          <p:nvPr/>
        </p:nvSpPr>
        <p:spPr>
          <a:xfrm>
            <a:off x="9691964" y="1270308"/>
            <a:ext cx="53035" cy="53035"/>
          </a:xfrm>
          <a:prstGeom prst="ellipse">
            <a:avLst/>
          </a:prstGeom>
          <a:solidFill>
            <a:srgbClr val="283044"/>
          </a:solidFill>
          <a:ln/>
        </p:spPr>
      </p:sp>
      <p:sp>
        <p:nvSpPr>
          <p:cNvPr id="32" name="Shape 30"/>
          <p:cNvSpPr/>
          <p:nvPr/>
        </p:nvSpPr>
        <p:spPr>
          <a:xfrm>
            <a:off x="9801295" y="1313130"/>
            <a:ext cx="53035" cy="53035"/>
          </a:xfrm>
          <a:prstGeom prst="ellipse">
            <a:avLst/>
          </a:prstGeom>
          <a:solidFill>
            <a:srgbClr val="283044"/>
          </a:solidFill>
          <a:ln/>
        </p:spPr>
      </p:sp>
      <p:sp>
        <p:nvSpPr>
          <p:cNvPr id="33" name="Shape 31"/>
          <p:cNvSpPr/>
          <p:nvPr/>
        </p:nvSpPr>
        <p:spPr>
          <a:xfrm>
            <a:off x="9910625" y="1351438"/>
            <a:ext cx="53035" cy="53035"/>
          </a:xfrm>
          <a:prstGeom prst="ellipse">
            <a:avLst/>
          </a:prstGeom>
          <a:solidFill>
            <a:srgbClr val="283044"/>
          </a:solidFill>
          <a:ln/>
        </p:spPr>
      </p:sp>
      <p:sp>
        <p:nvSpPr>
          <p:cNvPr id="34" name="Shape 32"/>
          <p:cNvSpPr/>
          <p:nvPr/>
        </p:nvSpPr>
        <p:spPr>
          <a:xfrm>
            <a:off x="10019955" y="1384518"/>
            <a:ext cx="53035" cy="53035"/>
          </a:xfrm>
          <a:prstGeom prst="ellipse">
            <a:avLst/>
          </a:prstGeom>
          <a:solidFill>
            <a:srgbClr val="283044"/>
          </a:solidFill>
          <a:ln/>
        </p:spPr>
      </p:sp>
      <p:sp>
        <p:nvSpPr>
          <p:cNvPr id="35" name="Shape 33"/>
          <p:cNvSpPr/>
          <p:nvPr/>
        </p:nvSpPr>
        <p:spPr>
          <a:xfrm>
            <a:off x="10129286" y="1411753"/>
            <a:ext cx="53035" cy="53035"/>
          </a:xfrm>
          <a:prstGeom prst="ellipse">
            <a:avLst/>
          </a:prstGeom>
          <a:solidFill>
            <a:srgbClr val="283044"/>
          </a:solidFill>
          <a:ln/>
        </p:spPr>
      </p:sp>
      <p:sp>
        <p:nvSpPr>
          <p:cNvPr id="36" name="Shape 34"/>
          <p:cNvSpPr/>
          <p:nvPr/>
        </p:nvSpPr>
        <p:spPr>
          <a:xfrm>
            <a:off x="10238616" y="1432636"/>
            <a:ext cx="53035" cy="53035"/>
          </a:xfrm>
          <a:prstGeom prst="ellipse">
            <a:avLst/>
          </a:prstGeom>
          <a:solidFill>
            <a:srgbClr val="283044"/>
          </a:solidFill>
          <a:ln/>
        </p:spPr>
      </p:sp>
      <p:sp>
        <p:nvSpPr>
          <p:cNvPr id="37" name="Shape 35"/>
          <p:cNvSpPr/>
          <p:nvPr/>
        </p:nvSpPr>
        <p:spPr>
          <a:xfrm>
            <a:off x="10347947" y="1446778"/>
            <a:ext cx="53035" cy="53035"/>
          </a:xfrm>
          <a:prstGeom prst="ellipse">
            <a:avLst/>
          </a:prstGeom>
          <a:solidFill>
            <a:srgbClr val="283044"/>
          </a:solidFill>
          <a:ln/>
        </p:spPr>
      </p:sp>
      <p:sp>
        <p:nvSpPr>
          <p:cNvPr id="38" name="Shape 36"/>
          <p:cNvSpPr/>
          <p:nvPr/>
        </p:nvSpPr>
        <p:spPr>
          <a:xfrm>
            <a:off x="10457277" y="1453915"/>
            <a:ext cx="53035" cy="53035"/>
          </a:xfrm>
          <a:prstGeom prst="ellipse">
            <a:avLst/>
          </a:prstGeom>
          <a:solidFill>
            <a:srgbClr val="283044"/>
          </a:solidFill>
          <a:ln/>
        </p:spPr>
      </p:sp>
      <p:sp>
        <p:nvSpPr>
          <p:cNvPr id="39" name="Shape 37"/>
          <p:cNvSpPr/>
          <p:nvPr/>
        </p:nvSpPr>
        <p:spPr>
          <a:xfrm>
            <a:off x="10566608" y="1453915"/>
            <a:ext cx="53035" cy="53035"/>
          </a:xfrm>
          <a:prstGeom prst="ellipse">
            <a:avLst/>
          </a:prstGeom>
          <a:solidFill>
            <a:srgbClr val="283044"/>
          </a:solidFill>
          <a:ln/>
        </p:spPr>
      </p:sp>
      <p:sp>
        <p:nvSpPr>
          <p:cNvPr id="40" name="Shape 38"/>
          <p:cNvSpPr/>
          <p:nvPr/>
        </p:nvSpPr>
        <p:spPr>
          <a:xfrm>
            <a:off x="10675938" y="1446778"/>
            <a:ext cx="53035" cy="53035"/>
          </a:xfrm>
          <a:prstGeom prst="ellipse">
            <a:avLst/>
          </a:prstGeom>
          <a:solidFill>
            <a:srgbClr val="283044"/>
          </a:solidFill>
          <a:ln/>
        </p:spPr>
      </p:sp>
      <p:sp>
        <p:nvSpPr>
          <p:cNvPr id="41" name="Shape 39"/>
          <p:cNvSpPr/>
          <p:nvPr/>
        </p:nvSpPr>
        <p:spPr>
          <a:xfrm>
            <a:off x="10785268" y="1432636"/>
            <a:ext cx="53035" cy="53035"/>
          </a:xfrm>
          <a:prstGeom prst="ellipse">
            <a:avLst/>
          </a:prstGeom>
          <a:solidFill>
            <a:srgbClr val="283044"/>
          </a:solidFill>
          <a:ln/>
        </p:spPr>
      </p:sp>
      <p:sp>
        <p:nvSpPr>
          <p:cNvPr id="42" name="Shape 40"/>
          <p:cNvSpPr/>
          <p:nvPr/>
        </p:nvSpPr>
        <p:spPr>
          <a:xfrm>
            <a:off x="10894599" y="1411753"/>
            <a:ext cx="53035" cy="53035"/>
          </a:xfrm>
          <a:prstGeom prst="ellipse">
            <a:avLst/>
          </a:prstGeom>
          <a:solidFill>
            <a:srgbClr val="283044"/>
          </a:solidFill>
          <a:ln/>
        </p:spPr>
      </p:sp>
      <p:sp>
        <p:nvSpPr>
          <p:cNvPr id="43" name="Shape 41"/>
          <p:cNvSpPr/>
          <p:nvPr/>
        </p:nvSpPr>
        <p:spPr>
          <a:xfrm>
            <a:off x="11003929" y="1384518"/>
            <a:ext cx="53035" cy="53035"/>
          </a:xfrm>
          <a:prstGeom prst="ellipse">
            <a:avLst/>
          </a:prstGeom>
          <a:solidFill>
            <a:srgbClr val="283044"/>
          </a:solidFill>
          <a:ln/>
        </p:spPr>
      </p:sp>
      <p:sp>
        <p:nvSpPr>
          <p:cNvPr id="44" name="Shape 42"/>
          <p:cNvSpPr/>
          <p:nvPr/>
        </p:nvSpPr>
        <p:spPr>
          <a:xfrm>
            <a:off x="11113260" y="1351438"/>
            <a:ext cx="53035" cy="53035"/>
          </a:xfrm>
          <a:prstGeom prst="ellipse">
            <a:avLst/>
          </a:prstGeom>
          <a:solidFill>
            <a:srgbClr val="283044"/>
          </a:solidFill>
          <a:ln/>
        </p:spPr>
      </p:sp>
      <p:sp>
        <p:nvSpPr>
          <p:cNvPr id="45" name="Shape 43"/>
          <p:cNvSpPr/>
          <p:nvPr/>
        </p:nvSpPr>
        <p:spPr>
          <a:xfrm>
            <a:off x="11222590" y="1313130"/>
            <a:ext cx="53035" cy="53035"/>
          </a:xfrm>
          <a:prstGeom prst="ellipse">
            <a:avLst/>
          </a:prstGeom>
          <a:solidFill>
            <a:srgbClr val="283044"/>
          </a:solidFill>
          <a:ln/>
        </p:spPr>
      </p:sp>
      <p:sp>
        <p:nvSpPr>
          <p:cNvPr id="46" name="Shape 44"/>
          <p:cNvSpPr/>
          <p:nvPr/>
        </p:nvSpPr>
        <p:spPr>
          <a:xfrm>
            <a:off x="11331921" y="1270308"/>
            <a:ext cx="53035" cy="53035"/>
          </a:xfrm>
          <a:prstGeom prst="ellipse">
            <a:avLst/>
          </a:prstGeom>
          <a:solidFill>
            <a:srgbClr val="283044"/>
          </a:solidFill>
          <a:ln/>
        </p:spPr>
      </p:sp>
      <p:sp>
        <p:nvSpPr>
          <p:cNvPr id="47" name="Shape 45"/>
          <p:cNvSpPr/>
          <p:nvPr/>
        </p:nvSpPr>
        <p:spPr>
          <a:xfrm>
            <a:off x="11441251" y="1223768"/>
            <a:ext cx="53035" cy="53035"/>
          </a:xfrm>
          <a:prstGeom prst="ellipse">
            <a:avLst/>
          </a:prstGeom>
          <a:solidFill>
            <a:srgbClr val="283044"/>
          </a:solidFill>
          <a:ln/>
        </p:spPr>
      </p:sp>
      <p:sp>
        <p:nvSpPr>
          <p:cNvPr id="48" name="Shape 46"/>
          <p:cNvSpPr/>
          <p:nvPr/>
        </p:nvSpPr>
        <p:spPr>
          <a:xfrm>
            <a:off x="11550582" y="1174377"/>
            <a:ext cx="53035" cy="53035"/>
          </a:xfrm>
          <a:prstGeom prst="ellipse">
            <a:avLst/>
          </a:prstGeom>
          <a:solidFill>
            <a:srgbClr val="283044"/>
          </a:solidFill>
          <a:ln/>
        </p:spPr>
      </p:sp>
      <p:sp>
        <p:nvSpPr>
          <p:cNvPr id="49" name="Shape 47"/>
          <p:cNvSpPr/>
          <p:nvPr/>
        </p:nvSpPr>
        <p:spPr>
          <a:xfrm>
            <a:off x="11659912" y="1123057"/>
            <a:ext cx="53035" cy="53035"/>
          </a:xfrm>
          <a:prstGeom prst="ellipse">
            <a:avLst/>
          </a:prstGeom>
          <a:solidFill>
            <a:srgbClr val="283044"/>
          </a:solidFill>
          <a:ln/>
        </p:spPr>
      </p:sp>
      <p:sp>
        <p:nvSpPr>
          <p:cNvPr id="50" name="Shape 48"/>
          <p:cNvSpPr/>
          <p:nvPr/>
        </p:nvSpPr>
        <p:spPr>
          <a:xfrm>
            <a:off x="11769242" y="1070762"/>
            <a:ext cx="53035" cy="53035"/>
          </a:xfrm>
          <a:prstGeom prst="ellipse">
            <a:avLst/>
          </a:prstGeom>
          <a:solidFill>
            <a:srgbClr val="283044"/>
          </a:solidFill>
          <a:ln/>
        </p:spPr>
      </p:sp>
      <p:sp>
        <p:nvSpPr>
          <p:cNvPr id="51" name="Text 49"/>
          <p:cNvSpPr txBox="1"/>
          <p:nvPr/>
        </p:nvSpPr>
        <p:spPr>
          <a:xfrm>
            <a:off x="621792" y="457200"/>
            <a:ext cx="3657600"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Business Ethics</a:t>
            </a:r>
            <a:endParaRPr lang="en-US" sz="1150" dirty="0"/>
          </a:p>
        </p:txBody>
      </p:sp>
      <p:sp>
        <p:nvSpPr>
          <p:cNvPr id="52" name="Shape 50"/>
          <p:cNvSpPr/>
          <p:nvPr/>
        </p:nvSpPr>
        <p:spPr>
          <a:xfrm>
            <a:off x="8076895" y="420624"/>
            <a:ext cx="1143914" cy="283464"/>
          </a:xfrm>
          <a:prstGeom prst="roundRect">
            <a:avLst>
              <a:gd name="adj" fmla="val 50000"/>
            </a:avLst>
          </a:prstGeom>
          <a:solidFill>
            <a:srgbClr val="C6F04A"/>
          </a:solidFill>
          <a:ln w="12700">
            <a:solidFill>
              <a:srgbClr val="C6F04A"/>
            </a:solidFill>
            <a:prstDash val="solid"/>
          </a:ln>
        </p:spPr>
      </p:sp>
      <p:sp>
        <p:nvSpPr>
          <p:cNvPr id="53" name="Text 51"/>
          <p:cNvSpPr txBox="1"/>
          <p:nvPr/>
        </p:nvSpPr>
        <p:spPr>
          <a:xfrm>
            <a:off x="8076895" y="420624"/>
            <a:ext cx="114391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MBA · UGM</a:t>
            </a:r>
            <a:endParaRPr lang="en-US" sz="950" dirty="0"/>
          </a:p>
        </p:txBody>
      </p:sp>
      <p:sp>
        <p:nvSpPr>
          <p:cNvPr id="54" name="Shape 52"/>
          <p:cNvSpPr/>
          <p:nvPr/>
        </p:nvSpPr>
        <p:spPr>
          <a:xfrm>
            <a:off x="9339682" y="420624"/>
            <a:ext cx="2230222" cy="283464"/>
          </a:xfrm>
          <a:prstGeom prst="roundRect">
            <a:avLst>
              <a:gd name="adj" fmla="val 50000"/>
            </a:avLst>
          </a:prstGeom>
          <a:solidFill>
            <a:srgbClr val="1B2233"/>
          </a:solidFill>
          <a:ln w="12700">
            <a:solidFill>
              <a:srgbClr val="1B2233"/>
            </a:solidFill>
            <a:prstDash val="solid"/>
          </a:ln>
        </p:spPr>
      </p:sp>
      <p:sp>
        <p:nvSpPr>
          <p:cNvPr id="55" name="Text 53"/>
          <p:cNvSpPr txBox="1"/>
          <p:nvPr/>
        </p:nvSpPr>
        <p:spPr>
          <a:xfrm>
            <a:off x="9339682" y="420624"/>
            <a:ext cx="2230222" cy="283464"/>
          </a:xfrm>
          <a:prstGeom prst="rect">
            <a:avLst/>
          </a:prstGeom>
          <a:noFill/>
          <a:ln/>
        </p:spPr>
        <p:txBody>
          <a:bodyPr wrap="square" lIns="0" tIns="0" rIns="0" bIns="0" rtlCol="0" anchor="ctr"/>
          <a:lstStyle/>
          <a:p>
            <a:pPr algn="ctr" indent="0" marL="0">
              <a:buNone/>
            </a:pPr>
            <a:r>
              <a:rPr lang="en-US" sz="950" b="1" spc="110" kern="0" dirty="0">
                <a:solidFill>
                  <a:srgbClr val="B9C0CE"/>
                </a:solidFill>
                <a:latin typeface="Calibri" pitchFamily="34" charset="0"/>
                <a:ea typeface="Calibri" pitchFamily="34" charset="-122"/>
                <a:cs typeface="Calibri" pitchFamily="34" charset="-120"/>
              </a:rPr>
              <a:t>STUDI KASUS INDONESIA</a:t>
            </a:r>
            <a:endParaRPr lang="en-US" sz="950" dirty="0"/>
          </a:p>
        </p:txBody>
      </p:sp>
      <p:sp>
        <p:nvSpPr>
          <p:cNvPr id="56" name="Text 54"/>
          <p:cNvSpPr txBox="1"/>
          <p:nvPr/>
        </p:nvSpPr>
        <p:spPr>
          <a:xfrm>
            <a:off x="621792" y="1481328"/>
            <a:ext cx="6766560" cy="292608"/>
          </a:xfrm>
          <a:prstGeom prst="rect">
            <a:avLst/>
          </a:prstGeom>
          <a:noFill/>
          <a:ln/>
        </p:spPr>
        <p:txBody>
          <a:bodyPr wrap="square" lIns="0" tIns="0" rIns="0" bIns="0" rtlCol="0" anchor="t"/>
          <a:lstStyle/>
          <a:p>
            <a:pPr indent="0" marL="0">
              <a:buNone/>
            </a:pPr>
            <a:r>
              <a:rPr lang="en-US" sz="1350" dirty="0">
                <a:solidFill>
                  <a:srgbClr val="B9C0CE"/>
                </a:solidFill>
                <a:latin typeface="Calibri" pitchFamily="34" charset="0"/>
                <a:ea typeface="Calibri" pitchFamily="34" charset="-122"/>
                <a:cs typeface="Calibri" pitchFamily="34" charset="-120"/>
              </a:rPr>
              <a:t>Evaluating Business Ethics</a:t>
            </a:r>
            <a:endParaRPr lang="en-US" sz="1350" dirty="0"/>
          </a:p>
        </p:txBody>
      </p:sp>
      <p:sp>
        <p:nvSpPr>
          <p:cNvPr id="57" name="Text 55"/>
          <p:cNvSpPr txBox="1"/>
          <p:nvPr/>
        </p:nvSpPr>
        <p:spPr>
          <a:xfrm>
            <a:off x="621792" y="1810512"/>
            <a:ext cx="6766560" cy="310896"/>
          </a:xfrm>
          <a:prstGeom prst="rect">
            <a:avLst/>
          </a:prstGeom>
          <a:noFill/>
          <a:ln/>
        </p:spPr>
        <p:txBody>
          <a:bodyPr wrap="square" lIns="0" tIns="0" rIns="0" bIns="0" rtlCol="0" anchor="t"/>
          <a:lstStyle/>
          <a:p>
            <a:pPr indent="0" marL="0">
              <a:buNone/>
            </a:pPr>
            <a:r>
              <a:rPr lang="en-US" sz="1600" b="1" dirty="0">
                <a:solidFill>
                  <a:srgbClr val="C6F04A"/>
                </a:solidFill>
                <a:latin typeface="Calibri" pitchFamily="34" charset="0"/>
                <a:ea typeface="Calibri" pitchFamily="34" charset="-122"/>
                <a:cs typeface="Calibri" pitchFamily="34" charset="-120"/>
              </a:rPr>
              <a:t>Analisis Kasus —</a:t>
            </a:r>
            <a:endParaRPr lang="en-US" sz="1600" dirty="0"/>
          </a:p>
        </p:txBody>
      </p:sp>
      <p:sp>
        <p:nvSpPr>
          <p:cNvPr id="58" name="Text 56"/>
          <p:cNvSpPr txBox="1"/>
          <p:nvPr/>
        </p:nvSpPr>
        <p:spPr>
          <a:xfrm>
            <a:off x="621792" y="2286000"/>
            <a:ext cx="7498080" cy="1591056"/>
          </a:xfrm>
          <a:prstGeom prst="rect">
            <a:avLst/>
          </a:prstGeom>
          <a:noFill/>
          <a:ln/>
        </p:spPr>
        <p:txBody>
          <a:bodyPr wrap="square" lIns="0" tIns="0" rIns="0" bIns="0" rtlCol="0" anchor="t"/>
          <a:lstStyle/>
          <a:p>
            <a:pPr indent="0" marL="0">
              <a:lnSpc>
                <a:spcPts val="6000"/>
              </a:lnSpc>
              <a:buNone/>
            </a:pPr>
            <a:r>
              <a:rPr lang="en-US" sz="5400" b="1" dirty="0">
                <a:solidFill>
                  <a:srgbClr val="FFFFFF"/>
                </a:solidFill>
                <a:latin typeface="Calibri" pitchFamily="34" charset="0"/>
                <a:ea typeface="Calibri" pitchFamily="34" charset="-122"/>
                <a:cs typeface="Calibri" pitchFamily="34" charset="-120"/>
              </a:rPr>
              <a:t>Hilirisasi</a:t>
            </a:r>
            <a:endParaRPr lang="en-US" sz="5400" dirty="0"/>
          </a:p>
          <a:p>
            <a:pPr indent="0" marL="0">
              <a:lnSpc>
                <a:spcPts val="6000"/>
              </a:lnSpc>
              <a:buNone/>
            </a:pPr>
            <a:r>
              <a:rPr lang="en-US" sz="5400" b="1" dirty="0">
                <a:solidFill>
                  <a:srgbClr val="FFFFFF"/>
                </a:solidFill>
                <a:latin typeface="Calibri" pitchFamily="34" charset="0"/>
                <a:ea typeface="Calibri" pitchFamily="34" charset="-122"/>
                <a:cs typeface="Calibri" pitchFamily="34" charset="-120"/>
              </a:rPr>
              <a:t>Nikel</a:t>
            </a:r>
            <a:pPr indent="0" marL="0">
              <a:lnSpc>
                <a:spcPts val="6000"/>
              </a:lnSpc>
              <a:buNone/>
            </a:pPr>
            <a:r>
              <a:rPr lang="en-US" sz="5400" b="1" dirty="0">
                <a:solidFill>
                  <a:srgbClr val="FF5A2D"/>
                </a:solidFill>
                <a:latin typeface="Calibri" pitchFamily="34" charset="0"/>
                <a:ea typeface="Calibri" pitchFamily="34" charset="-122"/>
                <a:cs typeface="Calibri" pitchFamily="34" charset="-120"/>
              </a:rPr>
              <a:t>.</a:t>
            </a:r>
            <a:endParaRPr lang="en-US" sz="5400" dirty="0"/>
          </a:p>
        </p:txBody>
      </p:sp>
      <p:sp>
        <p:nvSpPr>
          <p:cNvPr id="59" name="Text 57"/>
          <p:cNvSpPr txBox="1"/>
          <p:nvPr/>
        </p:nvSpPr>
        <p:spPr>
          <a:xfrm>
            <a:off x="621792" y="4114800"/>
            <a:ext cx="6675120" cy="822960"/>
          </a:xfrm>
          <a:prstGeom prst="rect">
            <a:avLst/>
          </a:prstGeom>
          <a:noFill/>
          <a:ln/>
        </p:spPr>
        <p:txBody>
          <a:bodyPr wrap="square" lIns="0" tIns="0" rIns="0" bIns="0" rtlCol="0" anchor="t"/>
          <a:lstStyle/>
          <a:p>
            <a:pPr indent="0" marL="0">
              <a:lnSpc>
                <a:spcPts val="2200"/>
              </a:lnSpc>
              <a:buNone/>
            </a:pPr>
            <a:r>
              <a:rPr lang="en-US" sz="1400" dirty="0">
                <a:solidFill>
                  <a:srgbClr val="B9C0CE"/>
                </a:solidFill>
                <a:latin typeface="Calibri" pitchFamily="34" charset="0"/>
                <a:ea typeface="Calibri" pitchFamily="34" charset="-122"/>
                <a:cs typeface="Calibri" pitchFamily="34" charset="-120"/>
              </a:rPr>
              <a:t>Lompatan industri nasional atau pemindahan beban ke Morowali dan Weda Bay? Satu kebijakan diuji dengan sembilan teori etika normatif.</a:t>
            </a:r>
            <a:endParaRPr lang="en-US" sz="1400" dirty="0"/>
          </a:p>
        </p:txBody>
      </p:sp>
      <p:sp>
        <p:nvSpPr>
          <p:cNvPr id="60" name="Shape 58"/>
          <p:cNvSpPr/>
          <p:nvPr/>
        </p:nvSpPr>
        <p:spPr>
          <a:xfrm>
            <a:off x="621792" y="5230368"/>
            <a:ext cx="4114800" cy="713232"/>
          </a:xfrm>
          <a:prstGeom prst="roundRect">
            <a:avLst>
              <a:gd name="adj" fmla="val 20513"/>
            </a:avLst>
          </a:prstGeom>
          <a:solidFill>
            <a:srgbClr val="1B2233"/>
          </a:solidFill>
          <a:ln/>
        </p:spPr>
      </p:sp>
      <p:sp>
        <p:nvSpPr>
          <p:cNvPr id="61" name="Shape 59"/>
          <p:cNvSpPr/>
          <p:nvPr/>
        </p:nvSpPr>
        <p:spPr>
          <a:xfrm>
            <a:off x="621792" y="5285232"/>
            <a:ext cx="54864" cy="603504"/>
          </a:xfrm>
          <a:prstGeom prst="rect">
            <a:avLst/>
          </a:prstGeom>
          <a:solidFill>
            <a:srgbClr val="C6F04A"/>
          </a:solidFill>
          <a:ln/>
        </p:spPr>
      </p:sp>
      <p:sp>
        <p:nvSpPr>
          <p:cNvPr id="62" name="Text 60"/>
          <p:cNvSpPr txBox="1"/>
          <p:nvPr/>
        </p:nvSpPr>
        <p:spPr>
          <a:xfrm>
            <a:off x="877824" y="5367528"/>
            <a:ext cx="3657600"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Aslih Abnuri</a:t>
            </a:r>
            <a:endParaRPr lang="en-US" sz="1300" dirty="0"/>
          </a:p>
        </p:txBody>
      </p:sp>
      <p:sp>
        <p:nvSpPr>
          <p:cNvPr id="63" name="Text 61"/>
          <p:cNvSpPr txBox="1"/>
          <p:nvPr/>
        </p:nvSpPr>
        <p:spPr>
          <a:xfrm>
            <a:off x="877824" y="5614416"/>
            <a:ext cx="3657600" cy="237744"/>
          </a:xfrm>
          <a:prstGeom prst="rect">
            <a:avLst/>
          </a:prstGeom>
          <a:noFill/>
          <a:ln/>
        </p:spPr>
        <p:txBody>
          <a:bodyPr wrap="square" lIns="0" tIns="0" rIns="0" bIns="0" rtlCol="0" anchor="t"/>
          <a:lstStyle/>
          <a:p>
            <a:pPr indent="0" marL="0">
              <a:buNone/>
            </a:pPr>
            <a:r>
              <a:rPr lang="en-US" sz="1050" dirty="0">
                <a:solidFill>
                  <a:srgbClr val="8C93A3"/>
                </a:solidFill>
                <a:latin typeface="Courier New" pitchFamily="34" charset="0"/>
                <a:ea typeface="Courier New" pitchFamily="34" charset="-122"/>
                <a:cs typeface="Courier New" pitchFamily="34" charset="-120"/>
              </a:rPr>
              <a:t>25/574338/PEK/31801</a:t>
            </a:r>
            <a:endParaRPr lang="en-US" sz="1050" dirty="0"/>
          </a:p>
        </p:txBody>
      </p:sp>
      <p:sp>
        <p:nvSpPr>
          <p:cNvPr id="64" name="Shape 62"/>
          <p:cNvSpPr/>
          <p:nvPr/>
        </p:nvSpPr>
        <p:spPr>
          <a:xfrm>
            <a:off x="5650992" y="5431536"/>
            <a:ext cx="274320" cy="274320"/>
          </a:xfrm>
          <a:prstGeom prst="rect">
            <a:avLst/>
          </a:prstGeom>
          <a:solidFill>
            <a:srgbClr val="AB463C"/>
          </a:solidFill>
          <a:ln/>
        </p:spPr>
      </p:sp>
      <p:sp>
        <p:nvSpPr>
          <p:cNvPr id="65" name="Shape 63"/>
          <p:cNvSpPr/>
          <p:nvPr/>
        </p:nvSpPr>
        <p:spPr>
          <a:xfrm>
            <a:off x="6035040" y="5431536"/>
            <a:ext cx="274320" cy="274320"/>
          </a:xfrm>
          <a:prstGeom prst="rect">
            <a:avLst/>
          </a:prstGeom>
          <a:solidFill>
            <a:srgbClr val="FF5A2D"/>
          </a:solidFill>
          <a:ln/>
        </p:spPr>
      </p:sp>
      <p:sp>
        <p:nvSpPr>
          <p:cNvPr id="66" name="Shape 64"/>
          <p:cNvSpPr/>
          <p:nvPr/>
        </p:nvSpPr>
        <p:spPr>
          <a:xfrm>
            <a:off x="6419088" y="5431536"/>
            <a:ext cx="274320" cy="274320"/>
          </a:xfrm>
          <a:prstGeom prst="rect">
            <a:avLst/>
          </a:prstGeom>
          <a:solidFill>
            <a:srgbClr val="F5B722"/>
          </a:solidFill>
          <a:ln/>
        </p:spPr>
      </p:sp>
      <p:sp>
        <p:nvSpPr>
          <p:cNvPr id="67" name="Shape 65"/>
          <p:cNvSpPr/>
          <p:nvPr/>
        </p:nvSpPr>
        <p:spPr>
          <a:xfrm>
            <a:off x="6803136" y="5431536"/>
            <a:ext cx="274320" cy="274320"/>
          </a:xfrm>
          <a:prstGeom prst="rect">
            <a:avLst/>
          </a:prstGeom>
          <a:solidFill>
            <a:srgbClr val="C6F04A"/>
          </a:solidFill>
          <a:ln/>
        </p:spPr>
      </p:sp>
      <p:sp>
        <p:nvSpPr>
          <p:cNvPr id="68" name="Shape 66"/>
          <p:cNvSpPr/>
          <p:nvPr/>
        </p:nvSpPr>
        <p:spPr>
          <a:xfrm>
            <a:off x="7187184" y="5431536"/>
            <a:ext cx="274320" cy="274320"/>
          </a:xfrm>
          <a:prstGeom prst="rect">
            <a:avLst/>
          </a:prstGeom>
          <a:solidFill>
            <a:srgbClr val="0FA98E"/>
          </a:solidFill>
          <a:ln/>
        </p:spPr>
      </p:sp>
      <p:sp>
        <p:nvSpPr>
          <p:cNvPr id="69" name="Shape 67"/>
          <p:cNvSpPr/>
          <p:nvPr/>
        </p:nvSpPr>
        <p:spPr>
          <a:xfrm>
            <a:off x="7571232" y="5431536"/>
            <a:ext cx="274320" cy="274320"/>
          </a:xfrm>
          <a:prstGeom prst="rect">
            <a:avLst/>
          </a:prstGeom>
          <a:solidFill>
            <a:srgbClr val="4EA8DE"/>
          </a:solidFill>
          <a:ln/>
        </p:spPr>
      </p:sp>
      <p:sp>
        <p:nvSpPr>
          <p:cNvPr id="70" name="Shape 68"/>
          <p:cNvSpPr/>
          <p:nvPr/>
        </p:nvSpPr>
        <p:spPr>
          <a:xfrm>
            <a:off x="7955280" y="5431536"/>
            <a:ext cx="274320" cy="274320"/>
          </a:xfrm>
          <a:prstGeom prst="rect">
            <a:avLst/>
          </a:prstGeom>
          <a:solidFill>
            <a:srgbClr val="6C7BE0"/>
          </a:solidFill>
          <a:ln/>
        </p:spPr>
      </p:sp>
      <p:sp>
        <p:nvSpPr>
          <p:cNvPr id="71" name="Shape 69"/>
          <p:cNvSpPr/>
          <p:nvPr/>
        </p:nvSpPr>
        <p:spPr>
          <a:xfrm>
            <a:off x="8339328" y="5431536"/>
            <a:ext cx="274320" cy="274320"/>
          </a:xfrm>
          <a:prstGeom prst="rect">
            <a:avLst/>
          </a:prstGeom>
          <a:solidFill>
            <a:srgbClr val="B8A6F5"/>
          </a:solidFill>
          <a:ln/>
        </p:spPr>
      </p:sp>
      <p:sp>
        <p:nvSpPr>
          <p:cNvPr id="72" name="Shape 70"/>
          <p:cNvSpPr/>
          <p:nvPr/>
        </p:nvSpPr>
        <p:spPr>
          <a:xfrm>
            <a:off x="8723376" y="5431536"/>
            <a:ext cx="274320" cy="274320"/>
          </a:xfrm>
          <a:prstGeom prst="rect">
            <a:avLst/>
          </a:prstGeom>
          <a:solidFill>
            <a:srgbClr val="E86A9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Text 1"/>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02</a:t>
            </a:r>
            <a:endParaRPr lang="en-US" sz="950" dirty="0"/>
          </a:p>
        </p:txBody>
      </p:sp>
      <p:sp>
        <p:nvSpPr>
          <p:cNvPr id="4" name="Text 2"/>
          <p:cNvSpPr txBox="1"/>
          <p:nvPr/>
        </p:nvSpPr>
        <p:spPr>
          <a:xfrm>
            <a:off x="621792" y="566928"/>
            <a:ext cx="10948111" cy="1024128"/>
          </a:xfrm>
          <a:prstGeom prst="rect">
            <a:avLst/>
          </a:prstGeom>
          <a:noFill/>
          <a:ln/>
        </p:spPr>
        <p:txBody>
          <a:bodyPr wrap="square" lIns="0" tIns="0" rIns="0" bIns="0" rtlCol="0" anchor="t"/>
          <a:lstStyle/>
          <a:p>
            <a:pPr indent="0" marL="0">
              <a:lnSpc>
                <a:spcPts val="4640"/>
              </a:lnSpc>
              <a:buNone/>
            </a:pPr>
            <a:r>
              <a:rPr lang="en-US" sz="4000" b="1" dirty="0">
                <a:solidFill>
                  <a:srgbClr val="0E1626"/>
                </a:solidFill>
                <a:latin typeface="Calibri" pitchFamily="34" charset="0"/>
                <a:ea typeface="Calibri" pitchFamily="34" charset="-122"/>
                <a:cs typeface="Calibri" pitchFamily="34" charset="-120"/>
              </a:rPr>
              <a:t>Index</a:t>
            </a:r>
            <a:pPr indent="0" marL="0">
              <a:lnSpc>
                <a:spcPts val="4640"/>
              </a:lnSpc>
              <a:buNone/>
            </a:pPr>
            <a:r>
              <a:rPr lang="en-US" sz="4000" b="1" dirty="0">
                <a:solidFill>
                  <a:srgbClr val="FF5A2D"/>
                </a:solidFill>
                <a:latin typeface="Calibri" pitchFamily="34" charset="0"/>
                <a:ea typeface="Calibri" pitchFamily="34" charset="-122"/>
                <a:cs typeface="Calibri" pitchFamily="34" charset="-120"/>
              </a:rPr>
              <a:t>.</a:t>
            </a:r>
            <a:endParaRPr lang="en-US" sz="4000" dirty="0"/>
          </a:p>
        </p:txBody>
      </p:sp>
      <p:sp>
        <p:nvSpPr>
          <p:cNvPr id="5" name="Shape 3"/>
          <p:cNvSpPr/>
          <p:nvPr/>
        </p:nvSpPr>
        <p:spPr>
          <a:xfrm>
            <a:off x="621792" y="1298448"/>
            <a:ext cx="781812" cy="283464"/>
          </a:xfrm>
          <a:prstGeom prst="roundRect">
            <a:avLst>
              <a:gd name="adj" fmla="val 50000"/>
            </a:avLst>
          </a:prstGeom>
          <a:solidFill>
            <a:srgbClr val="C6F04A"/>
          </a:solidFill>
          <a:ln w="12700">
            <a:solidFill>
              <a:srgbClr val="C6F04A"/>
            </a:solidFill>
            <a:prstDash val="solid"/>
          </a:ln>
        </p:spPr>
      </p:sp>
      <p:sp>
        <p:nvSpPr>
          <p:cNvPr id="6" name="Text 4"/>
          <p:cNvSpPr txBox="1"/>
          <p:nvPr/>
        </p:nvSpPr>
        <p:spPr>
          <a:xfrm>
            <a:off x="621792" y="1298448"/>
            <a:ext cx="781812"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FAKTA</a:t>
            </a:r>
            <a:endParaRPr lang="en-US" sz="950" dirty="0"/>
          </a:p>
        </p:txBody>
      </p:sp>
      <p:sp>
        <p:nvSpPr>
          <p:cNvPr id="7" name="Shape 5"/>
          <p:cNvSpPr/>
          <p:nvPr/>
        </p:nvSpPr>
        <p:spPr>
          <a:xfrm>
            <a:off x="1522476" y="1298448"/>
            <a:ext cx="872338" cy="283464"/>
          </a:xfrm>
          <a:prstGeom prst="roundRect">
            <a:avLst>
              <a:gd name="adj" fmla="val 50000"/>
            </a:avLst>
          </a:prstGeom>
          <a:solidFill>
            <a:srgbClr val="FF5A2D"/>
          </a:solidFill>
          <a:ln w="12700">
            <a:solidFill>
              <a:srgbClr val="FF5A2D"/>
            </a:solidFill>
            <a:prstDash val="solid"/>
          </a:ln>
        </p:spPr>
      </p:sp>
      <p:sp>
        <p:nvSpPr>
          <p:cNvPr id="8" name="Text 6"/>
          <p:cNvSpPr txBox="1"/>
          <p:nvPr/>
        </p:nvSpPr>
        <p:spPr>
          <a:xfrm>
            <a:off x="1522476" y="1298448"/>
            <a:ext cx="872338"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NARASI</a:t>
            </a:r>
            <a:endParaRPr lang="en-US" sz="950" dirty="0"/>
          </a:p>
        </p:txBody>
      </p:sp>
      <p:sp>
        <p:nvSpPr>
          <p:cNvPr id="9" name="Shape 7"/>
          <p:cNvSpPr/>
          <p:nvPr/>
        </p:nvSpPr>
        <p:spPr>
          <a:xfrm>
            <a:off x="2513686" y="1298448"/>
            <a:ext cx="1596542" cy="283464"/>
          </a:xfrm>
          <a:prstGeom prst="roundRect">
            <a:avLst>
              <a:gd name="adj" fmla="val 50000"/>
            </a:avLst>
          </a:prstGeom>
          <a:solidFill>
            <a:srgbClr val="B8A6F5"/>
          </a:solidFill>
          <a:ln w="12700">
            <a:solidFill>
              <a:srgbClr val="B8A6F5"/>
            </a:solidFill>
            <a:prstDash val="solid"/>
          </a:ln>
        </p:spPr>
      </p:sp>
      <p:sp>
        <p:nvSpPr>
          <p:cNvPr id="10" name="Text 8"/>
          <p:cNvSpPr txBox="1"/>
          <p:nvPr/>
        </p:nvSpPr>
        <p:spPr>
          <a:xfrm>
            <a:off x="2513686" y="1298448"/>
            <a:ext cx="1596542"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SEMBILAN LENSA</a:t>
            </a:r>
            <a:endParaRPr lang="en-US" sz="950" dirty="0"/>
          </a:p>
        </p:txBody>
      </p:sp>
      <p:sp>
        <p:nvSpPr>
          <p:cNvPr id="11" name="Shape 9"/>
          <p:cNvSpPr/>
          <p:nvPr/>
        </p:nvSpPr>
        <p:spPr>
          <a:xfrm>
            <a:off x="4229100" y="1298448"/>
            <a:ext cx="962863" cy="283464"/>
          </a:xfrm>
          <a:prstGeom prst="roundRect">
            <a:avLst>
              <a:gd name="adj" fmla="val 50000"/>
            </a:avLst>
          </a:prstGeom>
          <a:solidFill>
            <a:srgbClr val="0E1626"/>
          </a:solidFill>
          <a:ln w="12700">
            <a:solidFill>
              <a:srgbClr val="0E1626"/>
            </a:solidFill>
            <a:prstDash val="solid"/>
          </a:ln>
        </p:spPr>
      </p:sp>
      <p:sp>
        <p:nvSpPr>
          <p:cNvPr id="12" name="Text 10"/>
          <p:cNvSpPr txBox="1"/>
          <p:nvPr/>
        </p:nvSpPr>
        <p:spPr>
          <a:xfrm>
            <a:off x="4229100" y="1298448"/>
            <a:ext cx="962863"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PUTUSAN</a:t>
            </a:r>
            <a:endParaRPr lang="en-US" sz="950" dirty="0"/>
          </a:p>
        </p:txBody>
      </p:sp>
      <p:sp>
        <p:nvSpPr>
          <p:cNvPr id="13" name="Text 11"/>
          <p:cNvSpPr txBox="1"/>
          <p:nvPr/>
        </p:nvSpPr>
        <p:spPr>
          <a:xfrm>
            <a:off x="621792" y="1975104"/>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01.</a:t>
            </a:r>
            <a:endParaRPr lang="en-US" sz="1400" dirty="0"/>
          </a:p>
        </p:txBody>
      </p:sp>
      <p:sp>
        <p:nvSpPr>
          <p:cNvPr id="14" name="Text 12"/>
          <p:cNvSpPr txBox="1"/>
          <p:nvPr/>
        </p:nvSpPr>
        <p:spPr>
          <a:xfrm>
            <a:off x="1335024" y="1956816"/>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Anatomi Kebijakan</a:t>
            </a:r>
            <a:endParaRPr lang="en-US" sz="1400" dirty="0"/>
          </a:p>
        </p:txBody>
      </p:sp>
      <p:sp>
        <p:nvSpPr>
          <p:cNvPr id="15" name="Text 13"/>
          <p:cNvSpPr txBox="1"/>
          <p:nvPr/>
        </p:nvSpPr>
        <p:spPr>
          <a:xfrm>
            <a:off x="1335024" y="2221992"/>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Larangan ekspor bijih dan sengketa yang menyertainya</a:t>
            </a:r>
            <a:endParaRPr lang="en-US" sz="1150" dirty="0"/>
          </a:p>
        </p:txBody>
      </p:sp>
      <p:sp>
        <p:nvSpPr>
          <p:cNvPr id="16" name="Shape 14"/>
          <p:cNvSpPr/>
          <p:nvPr/>
        </p:nvSpPr>
        <p:spPr>
          <a:xfrm>
            <a:off x="621792" y="2578608"/>
            <a:ext cx="5291176" cy="10058"/>
          </a:xfrm>
          <a:prstGeom prst="rect">
            <a:avLst/>
          </a:prstGeom>
          <a:solidFill>
            <a:srgbClr val="DDD8CE"/>
          </a:solidFill>
          <a:ln/>
        </p:spPr>
      </p:sp>
      <p:sp>
        <p:nvSpPr>
          <p:cNvPr id="17" name="Text 15"/>
          <p:cNvSpPr txBox="1"/>
          <p:nvPr/>
        </p:nvSpPr>
        <p:spPr>
          <a:xfrm>
            <a:off x="621792" y="2779776"/>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02.</a:t>
            </a:r>
            <a:endParaRPr lang="en-US" sz="1400" dirty="0"/>
          </a:p>
        </p:txBody>
      </p:sp>
      <p:sp>
        <p:nvSpPr>
          <p:cNvPr id="18" name="Text 16"/>
          <p:cNvSpPr txBox="1"/>
          <p:nvPr/>
        </p:nvSpPr>
        <p:spPr>
          <a:xfrm>
            <a:off x="1335024" y="2761488"/>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Skala Manfaat</a:t>
            </a:r>
            <a:endParaRPr lang="en-US" sz="1400" dirty="0"/>
          </a:p>
        </p:txBody>
      </p:sp>
      <p:sp>
        <p:nvSpPr>
          <p:cNvPr id="19" name="Text 17"/>
          <p:cNvSpPr txBox="1"/>
          <p:nvPr/>
        </p:nvSpPr>
        <p:spPr>
          <a:xfrm>
            <a:off x="1335024" y="3026664"/>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Investasi, ekspor, dan penyerapan tenaga kerja</a:t>
            </a:r>
            <a:endParaRPr lang="en-US" sz="1150" dirty="0"/>
          </a:p>
        </p:txBody>
      </p:sp>
      <p:sp>
        <p:nvSpPr>
          <p:cNvPr id="20" name="Shape 18"/>
          <p:cNvSpPr/>
          <p:nvPr/>
        </p:nvSpPr>
        <p:spPr>
          <a:xfrm>
            <a:off x="621792" y="3383280"/>
            <a:ext cx="5291176" cy="10058"/>
          </a:xfrm>
          <a:prstGeom prst="rect">
            <a:avLst/>
          </a:prstGeom>
          <a:solidFill>
            <a:srgbClr val="DDD8CE"/>
          </a:solidFill>
          <a:ln/>
        </p:spPr>
      </p:sp>
      <p:sp>
        <p:nvSpPr>
          <p:cNvPr id="21" name="Text 19"/>
          <p:cNvSpPr txBox="1"/>
          <p:nvPr/>
        </p:nvSpPr>
        <p:spPr>
          <a:xfrm>
            <a:off x="621792" y="3584448"/>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03.</a:t>
            </a:r>
            <a:endParaRPr lang="en-US" sz="1400" dirty="0"/>
          </a:p>
        </p:txBody>
      </p:sp>
      <p:sp>
        <p:nvSpPr>
          <p:cNvPr id="22" name="Text 20"/>
          <p:cNvSpPr txBox="1"/>
          <p:nvPr/>
        </p:nvSpPr>
        <p:spPr>
          <a:xfrm>
            <a:off x="1335024" y="3566160"/>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Kondisi Ketenagakerjaan</a:t>
            </a:r>
            <a:endParaRPr lang="en-US" sz="1400" dirty="0"/>
          </a:p>
        </p:txBody>
      </p:sp>
      <p:sp>
        <p:nvSpPr>
          <p:cNvPr id="23" name="Text 21"/>
          <p:cNvSpPr txBox="1"/>
          <p:nvPr/>
        </p:nvSpPr>
        <p:spPr>
          <a:xfrm>
            <a:off x="1335024" y="3831336"/>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Upah, jam kerja, dan keselamatan di kawasan</a:t>
            </a:r>
            <a:endParaRPr lang="en-US" sz="1150" dirty="0"/>
          </a:p>
        </p:txBody>
      </p:sp>
      <p:sp>
        <p:nvSpPr>
          <p:cNvPr id="24" name="Shape 22"/>
          <p:cNvSpPr/>
          <p:nvPr/>
        </p:nvSpPr>
        <p:spPr>
          <a:xfrm>
            <a:off x="621792" y="4187952"/>
            <a:ext cx="5291176" cy="10058"/>
          </a:xfrm>
          <a:prstGeom prst="rect">
            <a:avLst/>
          </a:prstGeom>
          <a:solidFill>
            <a:srgbClr val="DDD8CE"/>
          </a:solidFill>
          <a:ln/>
        </p:spPr>
      </p:sp>
      <p:sp>
        <p:nvSpPr>
          <p:cNvPr id="25" name="Text 23"/>
          <p:cNvSpPr txBox="1"/>
          <p:nvPr/>
        </p:nvSpPr>
        <p:spPr>
          <a:xfrm>
            <a:off x="621792" y="4389120"/>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04.</a:t>
            </a:r>
            <a:endParaRPr lang="en-US" sz="1400" dirty="0"/>
          </a:p>
        </p:txBody>
      </p:sp>
      <p:sp>
        <p:nvSpPr>
          <p:cNvPr id="26" name="Text 24"/>
          <p:cNvSpPr txBox="1"/>
          <p:nvPr/>
        </p:nvSpPr>
        <p:spPr>
          <a:xfrm>
            <a:off x="1335024" y="4370832"/>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Beban Ekologis</a:t>
            </a:r>
            <a:endParaRPr lang="en-US" sz="1400" dirty="0"/>
          </a:p>
        </p:txBody>
      </p:sp>
      <p:sp>
        <p:nvSpPr>
          <p:cNvPr id="27" name="Text 25"/>
          <p:cNvSpPr txBox="1"/>
          <p:nvPr/>
        </p:nvSpPr>
        <p:spPr>
          <a:xfrm>
            <a:off x="1335024" y="4636008"/>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Emisi, listrik batu bara, dan tutupan hutan</a:t>
            </a:r>
            <a:endParaRPr lang="en-US" sz="1150" dirty="0"/>
          </a:p>
        </p:txBody>
      </p:sp>
      <p:sp>
        <p:nvSpPr>
          <p:cNvPr id="28" name="Shape 26"/>
          <p:cNvSpPr/>
          <p:nvPr/>
        </p:nvSpPr>
        <p:spPr>
          <a:xfrm>
            <a:off x="621792" y="4992624"/>
            <a:ext cx="5291176" cy="10058"/>
          </a:xfrm>
          <a:prstGeom prst="rect">
            <a:avLst/>
          </a:prstGeom>
          <a:solidFill>
            <a:srgbClr val="DDD8CE"/>
          </a:solidFill>
          <a:ln/>
        </p:spPr>
      </p:sp>
      <p:sp>
        <p:nvSpPr>
          <p:cNvPr id="29" name="Text 27"/>
          <p:cNvSpPr txBox="1"/>
          <p:nvPr/>
        </p:nvSpPr>
        <p:spPr>
          <a:xfrm>
            <a:off x="621792" y="5193792"/>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05.</a:t>
            </a:r>
            <a:endParaRPr lang="en-US" sz="1400" dirty="0"/>
          </a:p>
        </p:txBody>
      </p:sp>
      <p:sp>
        <p:nvSpPr>
          <p:cNvPr id="30" name="Text 28"/>
          <p:cNvSpPr txBox="1"/>
          <p:nvPr/>
        </p:nvSpPr>
        <p:spPr>
          <a:xfrm>
            <a:off x="1335024" y="5175504"/>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Beban Hidrologis</a:t>
            </a:r>
            <a:endParaRPr lang="en-US" sz="1400" dirty="0"/>
          </a:p>
        </p:txBody>
      </p:sp>
      <p:sp>
        <p:nvSpPr>
          <p:cNvPr id="31" name="Text 29"/>
          <p:cNvSpPr txBox="1"/>
          <p:nvPr/>
        </p:nvSpPr>
        <p:spPr>
          <a:xfrm>
            <a:off x="1335024" y="5440680"/>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Air, udara, dan kesehatan warga Halmahera</a:t>
            </a:r>
            <a:endParaRPr lang="en-US" sz="1150" dirty="0"/>
          </a:p>
        </p:txBody>
      </p:sp>
      <p:sp>
        <p:nvSpPr>
          <p:cNvPr id="32" name="Shape 30"/>
          <p:cNvSpPr/>
          <p:nvPr/>
        </p:nvSpPr>
        <p:spPr>
          <a:xfrm>
            <a:off x="621792" y="5797296"/>
            <a:ext cx="5291176" cy="10058"/>
          </a:xfrm>
          <a:prstGeom prst="rect">
            <a:avLst/>
          </a:prstGeom>
          <a:solidFill>
            <a:srgbClr val="DDD8CE"/>
          </a:solidFill>
          <a:ln/>
        </p:spPr>
      </p:sp>
      <p:sp>
        <p:nvSpPr>
          <p:cNvPr id="33" name="Text 31"/>
          <p:cNvSpPr txBox="1"/>
          <p:nvPr/>
        </p:nvSpPr>
        <p:spPr>
          <a:xfrm>
            <a:off x="6278728" y="1975104"/>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06.</a:t>
            </a:r>
            <a:endParaRPr lang="en-US" sz="1400" dirty="0"/>
          </a:p>
        </p:txBody>
      </p:sp>
      <p:sp>
        <p:nvSpPr>
          <p:cNvPr id="34" name="Text 32"/>
          <p:cNvSpPr txBox="1"/>
          <p:nvPr/>
        </p:nvSpPr>
        <p:spPr>
          <a:xfrm>
            <a:off x="6991960" y="1956816"/>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Paradoks Kesejahteraan</a:t>
            </a:r>
            <a:endParaRPr lang="en-US" sz="1400" dirty="0"/>
          </a:p>
        </p:txBody>
      </p:sp>
      <p:sp>
        <p:nvSpPr>
          <p:cNvPr id="35" name="Text 33"/>
          <p:cNvSpPr txBox="1"/>
          <p:nvPr/>
        </p:nvSpPr>
        <p:spPr>
          <a:xfrm>
            <a:off x="6991960" y="2221992"/>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Pertumbuhan tertinggi di kabupaten yang tetap miskin</a:t>
            </a:r>
            <a:endParaRPr lang="en-US" sz="1150" dirty="0"/>
          </a:p>
        </p:txBody>
      </p:sp>
      <p:sp>
        <p:nvSpPr>
          <p:cNvPr id="36" name="Shape 34"/>
          <p:cNvSpPr/>
          <p:nvPr/>
        </p:nvSpPr>
        <p:spPr>
          <a:xfrm>
            <a:off x="6278728" y="2578608"/>
            <a:ext cx="5291176" cy="10058"/>
          </a:xfrm>
          <a:prstGeom prst="rect">
            <a:avLst/>
          </a:prstGeom>
          <a:solidFill>
            <a:srgbClr val="DDD8CE"/>
          </a:solidFill>
          <a:ln/>
        </p:spPr>
      </p:sp>
      <p:sp>
        <p:nvSpPr>
          <p:cNvPr id="37" name="Text 35"/>
          <p:cNvSpPr txBox="1"/>
          <p:nvPr/>
        </p:nvSpPr>
        <p:spPr>
          <a:xfrm>
            <a:off x="6278728" y="2779776"/>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07.</a:t>
            </a:r>
            <a:endParaRPr lang="en-US" sz="1400" dirty="0"/>
          </a:p>
        </p:txBody>
      </p:sp>
      <p:sp>
        <p:nvSpPr>
          <p:cNvPr id="38" name="Text 36"/>
          <p:cNvSpPr txBox="1"/>
          <p:nvPr/>
        </p:nvSpPr>
        <p:spPr>
          <a:xfrm>
            <a:off x="6991960" y="2761488"/>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Pihak Paling Rentan</a:t>
            </a:r>
            <a:endParaRPr lang="en-US" sz="1400" dirty="0"/>
          </a:p>
        </p:txBody>
      </p:sp>
      <p:sp>
        <p:nvSpPr>
          <p:cNvPr id="39" name="Text 37"/>
          <p:cNvSpPr txBox="1"/>
          <p:nvPr/>
        </p:nvSpPr>
        <p:spPr>
          <a:xfrm>
            <a:off x="6991960" y="3026664"/>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Masyarakat adat dan rantai pasok kendaraan listrik</a:t>
            </a:r>
            <a:endParaRPr lang="en-US" sz="1150" dirty="0"/>
          </a:p>
        </p:txBody>
      </p:sp>
      <p:sp>
        <p:nvSpPr>
          <p:cNvPr id="40" name="Shape 38"/>
          <p:cNvSpPr/>
          <p:nvPr/>
        </p:nvSpPr>
        <p:spPr>
          <a:xfrm>
            <a:off x="6278728" y="3383280"/>
            <a:ext cx="5291176" cy="10058"/>
          </a:xfrm>
          <a:prstGeom prst="rect">
            <a:avLst/>
          </a:prstGeom>
          <a:solidFill>
            <a:srgbClr val="DDD8CE"/>
          </a:solidFill>
          <a:ln/>
        </p:spPr>
      </p:sp>
      <p:sp>
        <p:nvSpPr>
          <p:cNvPr id="41" name="Text 39"/>
          <p:cNvSpPr txBox="1"/>
          <p:nvPr/>
        </p:nvSpPr>
        <p:spPr>
          <a:xfrm>
            <a:off x="6278728" y="3584448"/>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08.</a:t>
            </a:r>
            <a:endParaRPr lang="en-US" sz="1400" dirty="0"/>
          </a:p>
        </p:txBody>
      </p:sp>
      <p:sp>
        <p:nvSpPr>
          <p:cNvPr id="42" name="Text 40"/>
          <p:cNvSpPr txBox="1"/>
          <p:nvPr/>
        </p:nvSpPr>
        <p:spPr>
          <a:xfrm>
            <a:off x="6991960" y="3566160"/>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Dua Narasi</a:t>
            </a:r>
            <a:endParaRPr lang="en-US" sz="1400" dirty="0"/>
          </a:p>
        </p:txBody>
      </p:sp>
      <p:sp>
        <p:nvSpPr>
          <p:cNvPr id="43" name="Text 41"/>
          <p:cNvSpPr txBox="1"/>
          <p:nvPr/>
        </p:nvSpPr>
        <p:spPr>
          <a:xfrm>
            <a:off x="6991960" y="3831336"/>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Hilirisasi berhadapan dengan ekstraksi</a:t>
            </a:r>
            <a:endParaRPr lang="en-US" sz="1150" dirty="0"/>
          </a:p>
        </p:txBody>
      </p:sp>
      <p:sp>
        <p:nvSpPr>
          <p:cNvPr id="44" name="Shape 42"/>
          <p:cNvSpPr/>
          <p:nvPr/>
        </p:nvSpPr>
        <p:spPr>
          <a:xfrm>
            <a:off x="6278728" y="4187952"/>
            <a:ext cx="5291176" cy="10058"/>
          </a:xfrm>
          <a:prstGeom prst="rect">
            <a:avLst/>
          </a:prstGeom>
          <a:solidFill>
            <a:srgbClr val="DDD8CE"/>
          </a:solidFill>
          <a:ln/>
        </p:spPr>
      </p:sp>
      <p:sp>
        <p:nvSpPr>
          <p:cNvPr id="45" name="Text 43"/>
          <p:cNvSpPr txBox="1"/>
          <p:nvPr/>
        </p:nvSpPr>
        <p:spPr>
          <a:xfrm>
            <a:off x="6278728" y="4389120"/>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09.</a:t>
            </a:r>
            <a:endParaRPr lang="en-US" sz="1400" dirty="0"/>
          </a:p>
        </p:txBody>
      </p:sp>
      <p:sp>
        <p:nvSpPr>
          <p:cNvPr id="46" name="Text 44"/>
          <p:cNvSpPr txBox="1"/>
          <p:nvPr/>
        </p:nvSpPr>
        <p:spPr>
          <a:xfrm>
            <a:off x="6991960" y="4370832"/>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Sembilan Lensa</a:t>
            </a:r>
            <a:endParaRPr lang="en-US" sz="1400" dirty="0"/>
          </a:p>
        </p:txBody>
      </p:sp>
      <p:sp>
        <p:nvSpPr>
          <p:cNvPr id="47" name="Text 45"/>
          <p:cNvSpPr txBox="1"/>
          <p:nvPr/>
        </p:nvSpPr>
        <p:spPr>
          <a:xfrm>
            <a:off x="6991960" y="4636008"/>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Penilaian akibat, prinsip, dan konteks</a:t>
            </a:r>
            <a:endParaRPr lang="en-US" sz="1150" dirty="0"/>
          </a:p>
        </p:txBody>
      </p:sp>
      <p:sp>
        <p:nvSpPr>
          <p:cNvPr id="48" name="Shape 46"/>
          <p:cNvSpPr/>
          <p:nvPr/>
        </p:nvSpPr>
        <p:spPr>
          <a:xfrm>
            <a:off x="6278728" y="4992624"/>
            <a:ext cx="5291176" cy="10058"/>
          </a:xfrm>
          <a:prstGeom prst="rect">
            <a:avLst/>
          </a:prstGeom>
          <a:solidFill>
            <a:srgbClr val="DDD8CE"/>
          </a:solidFill>
          <a:ln/>
        </p:spPr>
      </p:sp>
      <p:sp>
        <p:nvSpPr>
          <p:cNvPr id="49" name="Text 47"/>
          <p:cNvSpPr txBox="1"/>
          <p:nvPr/>
        </p:nvSpPr>
        <p:spPr>
          <a:xfrm>
            <a:off x="6278728" y="5193792"/>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10.</a:t>
            </a:r>
            <a:endParaRPr lang="en-US" sz="1400" dirty="0"/>
          </a:p>
        </p:txBody>
      </p:sp>
      <p:sp>
        <p:nvSpPr>
          <p:cNvPr id="50" name="Text 48"/>
          <p:cNvSpPr txBox="1"/>
          <p:nvPr/>
        </p:nvSpPr>
        <p:spPr>
          <a:xfrm>
            <a:off x="6991960" y="5175504"/>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Putusan dan Implikasi</a:t>
            </a:r>
            <a:endParaRPr lang="en-US" sz="1400" dirty="0"/>
          </a:p>
        </p:txBody>
      </p:sp>
      <p:sp>
        <p:nvSpPr>
          <p:cNvPr id="51" name="Text 49"/>
          <p:cNvSpPr txBox="1"/>
          <p:nvPr/>
        </p:nvSpPr>
        <p:spPr>
          <a:xfrm>
            <a:off x="6991960" y="5440680"/>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Matriks, evaluasi klaim, dan simpulan</a:t>
            </a:r>
            <a:endParaRPr lang="en-US" sz="1150" dirty="0"/>
          </a:p>
        </p:txBody>
      </p:sp>
      <p:sp>
        <p:nvSpPr>
          <p:cNvPr id="52" name="Shape 50"/>
          <p:cNvSpPr/>
          <p:nvPr/>
        </p:nvSpPr>
        <p:spPr>
          <a:xfrm>
            <a:off x="6278728" y="5797296"/>
            <a:ext cx="5291176" cy="10058"/>
          </a:xfrm>
          <a:prstGeom prst="rect">
            <a:avLst/>
          </a:prstGeom>
          <a:solidFill>
            <a:srgbClr val="DDD8C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143914" cy="283464"/>
          </a:xfrm>
          <a:prstGeom prst="roundRect">
            <a:avLst>
              <a:gd name="adj" fmla="val 50000"/>
            </a:avLst>
          </a:prstGeom>
          <a:solidFill>
            <a:srgbClr val="C6F04A"/>
          </a:solidFill>
          <a:ln w="12700">
            <a:solidFill>
              <a:srgbClr val="C6F04A"/>
            </a:solidFill>
            <a:prstDash val="solid"/>
          </a:ln>
        </p:spPr>
      </p:sp>
      <p:sp>
        <p:nvSpPr>
          <p:cNvPr id="4" name="Text 2"/>
          <p:cNvSpPr txBox="1"/>
          <p:nvPr/>
        </p:nvSpPr>
        <p:spPr>
          <a:xfrm>
            <a:off x="621792" y="457200"/>
            <a:ext cx="114391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KEBIJAKAN</a:t>
            </a:r>
            <a:endParaRPr lang="en-US" sz="950" dirty="0"/>
          </a:p>
        </p:txBody>
      </p:sp>
      <p:sp>
        <p:nvSpPr>
          <p:cNvPr id="5" name="Shape 3"/>
          <p:cNvSpPr/>
          <p:nvPr/>
        </p:nvSpPr>
        <p:spPr>
          <a:xfrm>
            <a:off x="1884578" y="457200"/>
            <a:ext cx="2320747"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884578" y="457200"/>
            <a:ext cx="2320747"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INSTRUMEN DAN SENGKETA</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03</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Anatomi Kebijakan Hilirisasi</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Satu instrumen regulasi yang mengubah struktur industri nikel nasional.</a:t>
            </a:r>
            <a:endParaRPr lang="en-US" sz="1350" dirty="0"/>
          </a:p>
        </p:txBody>
      </p:sp>
      <p:sp>
        <p:nvSpPr>
          <p:cNvPr id="10" name="Shape 8"/>
          <p:cNvSpPr/>
          <p:nvPr/>
        </p:nvSpPr>
        <p:spPr>
          <a:xfrm>
            <a:off x="621792" y="1975104"/>
            <a:ext cx="3503066" cy="2011680"/>
          </a:xfrm>
          <a:prstGeom prst="roundRect">
            <a:avLst>
              <a:gd name="adj" fmla="val 7273"/>
            </a:avLst>
          </a:prstGeom>
          <a:solidFill>
            <a:srgbClr val="FF5A2D"/>
          </a:solidFill>
          <a:ln/>
        </p:spPr>
      </p:sp>
      <p:sp>
        <p:nvSpPr>
          <p:cNvPr id="11" name="Shape 9"/>
          <p:cNvSpPr/>
          <p:nvPr/>
        </p:nvSpPr>
        <p:spPr>
          <a:xfrm>
            <a:off x="859536" y="2176272"/>
            <a:ext cx="283464" cy="283464"/>
          </a:xfrm>
          <a:prstGeom prst="roundRect">
            <a:avLst>
              <a:gd name="adj" fmla="val 32258"/>
            </a:avLst>
          </a:prstGeom>
          <a:solidFill>
            <a:srgbClr val="FF744F"/>
          </a:solidFill>
          <a:ln/>
        </p:spPr>
      </p:sp>
      <p:sp>
        <p:nvSpPr>
          <p:cNvPr id="12" name="Text 10"/>
          <p:cNvSpPr txBox="1"/>
          <p:nvPr/>
        </p:nvSpPr>
        <p:spPr>
          <a:xfrm>
            <a:off x="859536" y="2176272"/>
            <a:ext cx="283464"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01</a:t>
            </a:r>
            <a:endParaRPr lang="en-US" sz="1050" dirty="0"/>
          </a:p>
        </p:txBody>
      </p:sp>
      <p:sp>
        <p:nvSpPr>
          <p:cNvPr id="13" name="Text 11"/>
          <p:cNvSpPr txBox="1"/>
          <p:nvPr/>
        </p:nvSpPr>
        <p:spPr>
          <a:xfrm>
            <a:off x="859536" y="2560320"/>
            <a:ext cx="3027578" cy="292608"/>
          </a:xfrm>
          <a:prstGeom prst="rect">
            <a:avLst/>
          </a:prstGeom>
          <a:noFill/>
          <a:ln/>
        </p:spPr>
        <p:txBody>
          <a:bodyPr wrap="square" lIns="0" tIns="0" rIns="0" bIns="0" rtlCol="0" anchor="t"/>
          <a:lstStyle/>
          <a:p>
            <a:pPr indent="0" marL="0">
              <a:lnSpc>
                <a:spcPts val="1708"/>
              </a:lnSpc>
              <a:buNone/>
            </a:pPr>
            <a:r>
              <a:rPr lang="en-US" sz="1400" b="1" dirty="0">
                <a:solidFill>
                  <a:srgbClr val="FFFFFF"/>
                </a:solidFill>
                <a:latin typeface="Calibri" pitchFamily="34" charset="0"/>
                <a:ea typeface="Calibri" pitchFamily="34" charset="-122"/>
                <a:cs typeface="Calibri" pitchFamily="34" charset="-120"/>
              </a:rPr>
              <a:t>Instrumen</a:t>
            </a:r>
            <a:endParaRPr lang="en-US" sz="1400" dirty="0"/>
          </a:p>
        </p:txBody>
      </p:sp>
      <p:sp>
        <p:nvSpPr>
          <p:cNvPr id="14" name="Text 12"/>
          <p:cNvSpPr txBox="1"/>
          <p:nvPr/>
        </p:nvSpPr>
        <p:spPr>
          <a:xfrm>
            <a:off x="859536" y="2926080"/>
            <a:ext cx="3027578" cy="932688"/>
          </a:xfrm>
          <a:prstGeom prst="rect">
            <a:avLst/>
          </a:prstGeom>
          <a:noFill/>
          <a:ln/>
        </p:spPr>
        <p:txBody>
          <a:bodyPr wrap="square" lIns="0" tIns="0" rIns="0" bIns="0" rtlCol="0" anchor="t"/>
          <a:lstStyle/>
          <a:p>
            <a:pPr indent="0" marL="0">
              <a:lnSpc>
                <a:spcPts val="1633"/>
              </a:lnSpc>
              <a:buNone/>
            </a:pPr>
            <a:r>
              <a:rPr lang="en-US" sz="1150" dirty="0">
                <a:solidFill>
                  <a:srgbClr val="E8E4DC"/>
                </a:solidFill>
                <a:latin typeface="Calibri" pitchFamily="34" charset="0"/>
                <a:ea typeface="Calibri" pitchFamily="34" charset="-122"/>
                <a:cs typeface="Calibri" pitchFamily="34" charset="-120"/>
              </a:rPr>
              <a:t>Peraturan Menteri ESDM Nomor 11 Tahun 2019 melarang ekspor bijih nikel dan berlaku sejak 1 Januari 2020, lebih awal dari jadwal semula.</a:t>
            </a:r>
            <a:endParaRPr lang="en-US" sz="1150" dirty="0"/>
          </a:p>
        </p:txBody>
      </p:sp>
      <p:sp>
        <p:nvSpPr>
          <p:cNvPr id="15" name="Shape 13"/>
          <p:cNvSpPr/>
          <p:nvPr/>
        </p:nvSpPr>
        <p:spPr>
          <a:xfrm>
            <a:off x="4344314" y="1975104"/>
            <a:ext cx="3503066" cy="2011680"/>
          </a:xfrm>
          <a:prstGeom prst="roundRect">
            <a:avLst>
              <a:gd name="adj" fmla="val 7273"/>
            </a:avLst>
          </a:prstGeom>
          <a:solidFill>
            <a:srgbClr val="B8A6F5"/>
          </a:solidFill>
          <a:ln/>
        </p:spPr>
      </p:sp>
      <p:sp>
        <p:nvSpPr>
          <p:cNvPr id="16" name="Shape 14"/>
          <p:cNvSpPr/>
          <p:nvPr/>
        </p:nvSpPr>
        <p:spPr>
          <a:xfrm>
            <a:off x="4582058" y="2176272"/>
            <a:ext cx="283464" cy="283464"/>
          </a:xfrm>
          <a:prstGeom prst="roundRect">
            <a:avLst>
              <a:gd name="adj" fmla="val 32258"/>
            </a:avLst>
          </a:prstGeom>
          <a:solidFill>
            <a:srgbClr val="9D8FD4"/>
          </a:solidFill>
          <a:ln/>
        </p:spPr>
      </p:sp>
      <p:sp>
        <p:nvSpPr>
          <p:cNvPr id="17" name="Text 15"/>
          <p:cNvSpPr txBox="1"/>
          <p:nvPr/>
        </p:nvSpPr>
        <p:spPr>
          <a:xfrm>
            <a:off x="4582058" y="2176272"/>
            <a:ext cx="283464" cy="283464"/>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02</a:t>
            </a:r>
            <a:endParaRPr lang="en-US" sz="1050" dirty="0"/>
          </a:p>
        </p:txBody>
      </p:sp>
      <p:sp>
        <p:nvSpPr>
          <p:cNvPr id="18" name="Text 16"/>
          <p:cNvSpPr txBox="1"/>
          <p:nvPr/>
        </p:nvSpPr>
        <p:spPr>
          <a:xfrm>
            <a:off x="4582058" y="2560320"/>
            <a:ext cx="3027578" cy="292608"/>
          </a:xfrm>
          <a:prstGeom prst="rect">
            <a:avLst/>
          </a:prstGeom>
          <a:noFill/>
          <a:ln/>
        </p:spPr>
        <p:txBody>
          <a:bodyPr wrap="square" lIns="0" tIns="0" rIns="0" bIns="0" rtlCol="0" anchor="t"/>
          <a:lstStyle/>
          <a:p>
            <a:pPr indent="0" marL="0">
              <a:lnSpc>
                <a:spcPts val="1708"/>
              </a:lnSpc>
              <a:buNone/>
            </a:pPr>
            <a:r>
              <a:rPr lang="en-US" sz="1400" b="1" dirty="0">
                <a:solidFill>
                  <a:srgbClr val="0E1626"/>
                </a:solidFill>
                <a:latin typeface="Calibri" pitchFamily="34" charset="0"/>
                <a:ea typeface="Calibri" pitchFamily="34" charset="-122"/>
                <a:cs typeface="Calibri" pitchFamily="34" charset="-120"/>
              </a:rPr>
              <a:t>Mekanisme</a:t>
            </a:r>
            <a:endParaRPr lang="en-US" sz="1400" dirty="0"/>
          </a:p>
        </p:txBody>
      </p:sp>
      <p:sp>
        <p:nvSpPr>
          <p:cNvPr id="19" name="Text 17"/>
          <p:cNvSpPr txBox="1"/>
          <p:nvPr/>
        </p:nvSpPr>
        <p:spPr>
          <a:xfrm>
            <a:off x="4582058" y="2926080"/>
            <a:ext cx="3027578" cy="932688"/>
          </a:xfrm>
          <a:prstGeom prst="rect">
            <a:avLst/>
          </a:prstGeom>
          <a:noFill/>
          <a:ln/>
        </p:spPr>
        <p:txBody>
          <a:bodyPr wrap="square" lIns="0" tIns="0" rIns="0" bIns="0" rtlCol="0" anchor="t"/>
          <a:lstStyle/>
          <a:p>
            <a:pPr indent="0" marL="0">
              <a:lnSpc>
                <a:spcPts val="1633"/>
              </a:lnSpc>
              <a:buNone/>
            </a:pPr>
            <a:r>
              <a:rPr lang="en-US" sz="1150" dirty="0">
                <a:solidFill>
                  <a:srgbClr val="2A3243"/>
                </a:solidFill>
                <a:latin typeface="Calibri" pitchFamily="34" charset="0"/>
                <a:ea typeface="Calibri" pitchFamily="34" charset="-122"/>
                <a:cs typeface="Calibri" pitchFamily="34" charset="-120"/>
              </a:rPr>
              <a:t>Bijih wajib diolah di dalam negeri. Kepemilikan smelter menjadi syarat, sehingga modal pengolahan mengalir ke kawasan industri terpadu.</a:t>
            </a:r>
            <a:endParaRPr lang="en-US" sz="1150" dirty="0"/>
          </a:p>
        </p:txBody>
      </p:sp>
      <p:sp>
        <p:nvSpPr>
          <p:cNvPr id="20" name="Shape 18"/>
          <p:cNvSpPr/>
          <p:nvPr/>
        </p:nvSpPr>
        <p:spPr>
          <a:xfrm>
            <a:off x="8066837" y="1975104"/>
            <a:ext cx="3503066" cy="2011680"/>
          </a:xfrm>
          <a:prstGeom prst="roundRect">
            <a:avLst>
              <a:gd name="adj" fmla="val 7273"/>
            </a:avLst>
          </a:prstGeom>
          <a:solidFill>
            <a:srgbClr val="0FA98E"/>
          </a:solidFill>
          <a:ln/>
        </p:spPr>
      </p:sp>
      <p:sp>
        <p:nvSpPr>
          <p:cNvPr id="21" name="Shape 19"/>
          <p:cNvSpPr/>
          <p:nvPr/>
        </p:nvSpPr>
        <p:spPr>
          <a:xfrm>
            <a:off x="8304581" y="2176272"/>
            <a:ext cx="283464" cy="283464"/>
          </a:xfrm>
          <a:prstGeom prst="roundRect">
            <a:avLst>
              <a:gd name="adj" fmla="val 32258"/>
            </a:avLst>
          </a:prstGeom>
          <a:solidFill>
            <a:srgbClr val="35B7A0"/>
          </a:solidFill>
          <a:ln/>
        </p:spPr>
      </p:sp>
      <p:sp>
        <p:nvSpPr>
          <p:cNvPr id="22" name="Text 20"/>
          <p:cNvSpPr txBox="1"/>
          <p:nvPr/>
        </p:nvSpPr>
        <p:spPr>
          <a:xfrm>
            <a:off x="8304581" y="2176272"/>
            <a:ext cx="283464"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03</a:t>
            </a:r>
            <a:endParaRPr lang="en-US" sz="1050" dirty="0"/>
          </a:p>
        </p:txBody>
      </p:sp>
      <p:sp>
        <p:nvSpPr>
          <p:cNvPr id="23" name="Text 21"/>
          <p:cNvSpPr txBox="1"/>
          <p:nvPr/>
        </p:nvSpPr>
        <p:spPr>
          <a:xfrm>
            <a:off x="8304581" y="2560320"/>
            <a:ext cx="3027578" cy="292608"/>
          </a:xfrm>
          <a:prstGeom prst="rect">
            <a:avLst/>
          </a:prstGeom>
          <a:noFill/>
          <a:ln/>
        </p:spPr>
        <p:txBody>
          <a:bodyPr wrap="square" lIns="0" tIns="0" rIns="0" bIns="0" rtlCol="0" anchor="t"/>
          <a:lstStyle/>
          <a:p>
            <a:pPr indent="0" marL="0">
              <a:lnSpc>
                <a:spcPts val="1708"/>
              </a:lnSpc>
              <a:buNone/>
            </a:pPr>
            <a:r>
              <a:rPr lang="en-US" sz="1400" b="1" dirty="0">
                <a:solidFill>
                  <a:srgbClr val="FFFFFF"/>
                </a:solidFill>
                <a:latin typeface="Calibri" pitchFamily="34" charset="0"/>
                <a:ea typeface="Calibri" pitchFamily="34" charset="-122"/>
                <a:cs typeface="Calibri" pitchFamily="34" charset="-120"/>
              </a:rPr>
              <a:t>Sengketa</a:t>
            </a:r>
            <a:endParaRPr lang="en-US" sz="1400" dirty="0"/>
          </a:p>
        </p:txBody>
      </p:sp>
      <p:sp>
        <p:nvSpPr>
          <p:cNvPr id="24" name="Text 22"/>
          <p:cNvSpPr txBox="1"/>
          <p:nvPr/>
        </p:nvSpPr>
        <p:spPr>
          <a:xfrm>
            <a:off x="8304581" y="2926080"/>
            <a:ext cx="3027578" cy="932688"/>
          </a:xfrm>
          <a:prstGeom prst="rect">
            <a:avLst/>
          </a:prstGeom>
          <a:noFill/>
          <a:ln/>
        </p:spPr>
        <p:txBody>
          <a:bodyPr wrap="square" lIns="0" tIns="0" rIns="0" bIns="0" rtlCol="0" anchor="t"/>
          <a:lstStyle/>
          <a:p>
            <a:pPr indent="0" marL="0">
              <a:lnSpc>
                <a:spcPts val="1633"/>
              </a:lnSpc>
              <a:buNone/>
            </a:pPr>
            <a:r>
              <a:rPr lang="en-US" sz="1150" dirty="0">
                <a:solidFill>
                  <a:srgbClr val="E8E4DC"/>
                </a:solidFill>
                <a:latin typeface="Calibri" pitchFamily="34" charset="0"/>
                <a:ea typeface="Calibri" pitchFamily="34" charset="-122"/>
                <a:cs typeface="Calibri" pitchFamily="34" charset="-120"/>
              </a:rPr>
              <a:t>Panel WTO memutus kebijakan ini melanggar aturan perdagangan pada November 2022. Bandingnya menggantung karena Badan Banding tidak berfungsi.</a:t>
            </a:r>
            <a:endParaRPr lang="en-US" sz="1150" dirty="0"/>
          </a:p>
        </p:txBody>
      </p:sp>
      <p:sp>
        <p:nvSpPr>
          <p:cNvPr id="25" name="Text 23"/>
          <p:cNvSpPr txBox="1"/>
          <p:nvPr/>
        </p:nvSpPr>
        <p:spPr>
          <a:xfrm>
            <a:off x="621792" y="4169664"/>
            <a:ext cx="10948111" cy="274320"/>
          </a:xfrm>
          <a:prstGeom prst="rect">
            <a:avLst/>
          </a:prstGeom>
          <a:noFill/>
          <a:ln/>
        </p:spPr>
        <p:txBody>
          <a:bodyPr wrap="square" lIns="0" tIns="0" rIns="0" bIns="0" rtlCol="0" anchor="t"/>
          <a:lstStyle/>
          <a:p>
            <a:pPr indent="0" marL="0">
              <a:buNone/>
            </a:pPr>
            <a:r>
              <a:rPr lang="en-US" sz="1200" b="1" dirty="0">
                <a:solidFill>
                  <a:srgbClr val="6B7A90"/>
                </a:solidFill>
                <a:latin typeface="Calibri" pitchFamily="34" charset="0"/>
                <a:ea typeface="Calibri" pitchFamily="34" charset="-122"/>
                <a:cs typeface="Calibri" pitchFamily="34" charset="-120"/>
              </a:rPr>
              <a:t>Kronologi kebijakan</a:t>
            </a:r>
            <a:endParaRPr lang="en-US" sz="1200" dirty="0"/>
          </a:p>
        </p:txBody>
      </p:sp>
      <p:sp>
        <p:nvSpPr>
          <p:cNvPr id="26" name="Text 24"/>
          <p:cNvSpPr txBox="1"/>
          <p:nvPr/>
        </p:nvSpPr>
        <p:spPr>
          <a:xfrm>
            <a:off x="621792" y="4498848"/>
            <a:ext cx="1005840" cy="292608"/>
          </a:xfrm>
          <a:prstGeom prst="rect">
            <a:avLst/>
          </a:prstGeom>
          <a:noFill/>
          <a:ln/>
        </p:spPr>
        <p:txBody>
          <a:bodyPr wrap="square" lIns="0" tIns="0" rIns="0" bIns="0" rtlCol="0" anchor="t"/>
          <a:lstStyle/>
          <a:p>
            <a:pPr indent="0" marL="0">
              <a:buNone/>
            </a:pPr>
            <a:r>
              <a:rPr lang="en-US" sz="1150" b="1" dirty="0">
                <a:solidFill>
                  <a:srgbClr val="AD432B"/>
                </a:solidFill>
                <a:latin typeface="Courier New" pitchFamily="34" charset="0"/>
                <a:ea typeface="Courier New" pitchFamily="34" charset="-122"/>
                <a:cs typeface="Courier New" pitchFamily="34" charset="-120"/>
              </a:rPr>
              <a:t>2014</a:t>
            </a:r>
            <a:endParaRPr lang="en-US" sz="1150" dirty="0"/>
          </a:p>
        </p:txBody>
      </p:sp>
      <p:sp>
        <p:nvSpPr>
          <p:cNvPr id="27" name="Text 25"/>
          <p:cNvSpPr txBox="1"/>
          <p:nvPr/>
        </p:nvSpPr>
        <p:spPr>
          <a:xfrm>
            <a:off x="1810512" y="4498848"/>
            <a:ext cx="9759391" cy="292608"/>
          </a:xfrm>
          <a:prstGeom prst="rect">
            <a:avLst/>
          </a:prstGeom>
          <a:noFill/>
          <a:ln/>
        </p:spPr>
        <p:txBody>
          <a:bodyPr wrap="square" lIns="0" tIns="0" rIns="0" bIns="0" rtlCol="0" anchor="t"/>
          <a:lstStyle/>
          <a:p>
            <a:pPr indent="0" marL="0">
              <a:buNone/>
            </a:pPr>
            <a:r>
              <a:rPr lang="en-US" sz="1150" dirty="0">
                <a:solidFill>
                  <a:srgbClr val="2A3243"/>
                </a:solidFill>
                <a:latin typeface="Calibri" pitchFamily="34" charset="0"/>
                <a:ea typeface="Calibri" pitchFamily="34" charset="-122"/>
                <a:cs typeface="Calibri" pitchFamily="34" charset="-120"/>
              </a:rPr>
              <a:t>Larangan ekspor bijih diberlakukan, lalu direlaksasi bagi kadar rendah</a:t>
            </a:r>
            <a:endParaRPr lang="en-US" sz="1150" dirty="0"/>
          </a:p>
        </p:txBody>
      </p:sp>
      <p:sp>
        <p:nvSpPr>
          <p:cNvPr id="28" name="Shape 26"/>
          <p:cNvSpPr/>
          <p:nvPr/>
        </p:nvSpPr>
        <p:spPr>
          <a:xfrm>
            <a:off x="621792" y="4818888"/>
            <a:ext cx="10948111" cy="10058"/>
          </a:xfrm>
          <a:prstGeom prst="rect">
            <a:avLst/>
          </a:prstGeom>
          <a:solidFill>
            <a:srgbClr val="DDD8CE"/>
          </a:solidFill>
          <a:ln/>
        </p:spPr>
      </p:sp>
      <p:sp>
        <p:nvSpPr>
          <p:cNvPr id="29" name="Text 27"/>
          <p:cNvSpPr txBox="1"/>
          <p:nvPr/>
        </p:nvSpPr>
        <p:spPr>
          <a:xfrm>
            <a:off x="621792" y="4882896"/>
            <a:ext cx="1005840" cy="292608"/>
          </a:xfrm>
          <a:prstGeom prst="rect">
            <a:avLst/>
          </a:prstGeom>
          <a:noFill/>
          <a:ln/>
        </p:spPr>
        <p:txBody>
          <a:bodyPr wrap="square" lIns="0" tIns="0" rIns="0" bIns="0" rtlCol="0" anchor="t"/>
          <a:lstStyle/>
          <a:p>
            <a:pPr indent="0" marL="0">
              <a:buNone/>
            </a:pPr>
            <a:r>
              <a:rPr lang="en-US" sz="1150" b="1" dirty="0">
                <a:solidFill>
                  <a:srgbClr val="A68023"/>
                </a:solidFill>
                <a:latin typeface="Courier New" pitchFamily="34" charset="0"/>
                <a:ea typeface="Courier New" pitchFamily="34" charset="-122"/>
                <a:cs typeface="Courier New" pitchFamily="34" charset="-120"/>
              </a:rPr>
              <a:t>2019</a:t>
            </a:r>
            <a:endParaRPr lang="en-US" sz="1150" dirty="0"/>
          </a:p>
        </p:txBody>
      </p:sp>
      <p:sp>
        <p:nvSpPr>
          <p:cNvPr id="30" name="Text 28"/>
          <p:cNvSpPr txBox="1"/>
          <p:nvPr/>
        </p:nvSpPr>
        <p:spPr>
          <a:xfrm>
            <a:off x="1810512" y="4882896"/>
            <a:ext cx="9759391" cy="292608"/>
          </a:xfrm>
          <a:prstGeom prst="rect">
            <a:avLst/>
          </a:prstGeom>
          <a:noFill/>
          <a:ln/>
        </p:spPr>
        <p:txBody>
          <a:bodyPr wrap="square" lIns="0" tIns="0" rIns="0" bIns="0" rtlCol="0" anchor="t"/>
          <a:lstStyle/>
          <a:p>
            <a:pPr indent="0" marL="0">
              <a:buNone/>
            </a:pPr>
            <a:r>
              <a:rPr lang="en-US" sz="1150" dirty="0">
                <a:solidFill>
                  <a:srgbClr val="2A3243"/>
                </a:solidFill>
                <a:latin typeface="Calibri" pitchFamily="34" charset="0"/>
                <a:ea typeface="Calibri" pitchFamily="34" charset="-122"/>
                <a:cs typeface="Calibri" pitchFamily="34" charset="-120"/>
              </a:rPr>
              <a:t>Larangan ditegakkan kembali melalui Peraturan Menteri ESDM Nomor 11</a:t>
            </a:r>
            <a:endParaRPr lang="en-US" sz="1150" dirty="0"/>
          </a:p>
        </p:txBody>
      </p:sp>
      <p:sp>
        <p:nvSpPr>
          <p:cNvPr id="31" name="Shape 29"/>
          <p:cNvSpPr/>
          <p:nvPr/>
        </p:nvSpPr>
        <p:spPr>
          <a:xfrm>
            <a:off x="621792" y="5202936"/>
            <a:ext cx="10948111" cy="10058"/>
          </a:xfrm>
          <a:prstGeom prst="rect">
            <a:avLst/>
          </a:prstGeom>
          <a:solidFill>
            <a:srgbClr val="DDD8CE"/>
          </a:solidFill>
          <a:ln/>
        </p:spPr>
      </p:sp>
      <p:sp>
        <p:nvSpPr>
          <p:cNvPr id="32" name="Text 30"/>
          <p:cNvSpPr txBox="1"/>
          <p:nvPr/>
        </p:nvSpPr>
        <p:spPr>
          <a:xfrm>
            <a:off x="621792" y="5266944"/>
            <a:ext cx="1005840" cy="292608"/>
          </a:xfrm>
          <a:prstGeom prst="rect">
            <a:avLst/>
          </a:prstGeom>
          <a:noFill/>
          <a:ln/>
        </p:spPr>
        <p:txBody>
          <a:bodyPr wrap="square" lIns="0" tIns="0" rIns="0" bIns="0" rtlCol="0" anchor="t"/>
          <a:lstStyle/>
          <a:p>
            <a:pPr indent="0" marL="0">
              <a:buNone/>
            </a:pPr>
            <a:r>
              <a:rPr lang="en-US" sz="1150" b="1" dirty="0">
                <a:solidFill>
                  <a:srgbClr val="87A63E"/>
                </a:solidFill>
                <a:latin typeface="Courier New" pitchFamily="34" charset="0"/>
                <a:ea typeface="Courier New" pitchFamily="34" charset="-122"/>
                <a:cs typeface="Courier New" pitchFamily="34" charset="-120"/>
              </a:rPr>
              <a:t>2020</a:t>
            </a:r>
            <a:endParaRPr lang="en-US" sz="1150" dirty="0"/>
          </a:p>
        </p:txBody>
      </p:sp>
      <p:sp>
        <p:nvSpPr>
          <p:cNvPr id="33" name="Text 31"/>
          <p:cNvSpPr txBox="1"/>
          <p:nvPr/>
        </p:nvSpPr>
        <p:spPr>
          <a:xfrm>
            <a:off x="1810512" y="5266944"/>
            <a:ext cx="9759391" cy="292608"/>
          </a:xfrm>
          <a:prstGeom prst="rect">
            <a:avLst/>
          </a:prstGeom>
          <a:noFill/>
          <a:ln/>
        </p:spPr>
        <p:txBody>
          <a:bodyPr wrap="square" lIns="0" tIns="0" rIns="0" bIns="0" rtlCol="0" anchor="t"/>
          <a:lstStyle/>
          <a:p>
            <a:pPr indent="0" marL="0">
              <a:buNone/>
            </a:pPr>
            <a:r>
              <a:rPr lang="en-US" sz="1150" dirty="0">
                <a:solidFill>
                  <a:srgbClr val="2A3243"/>
                </a:solidFill>
                <a:latin typeface="Calibri" pitchFamily="34" charset="0"/>
                <a:ea typeface="Calibri" pitchFamily="34" charset="-122"/>
                <a:cs typeface="Calibri" pitchFamily="34" charset="-120"/>
              </a:rPr>
              <a:t>Larangan berlaku efektif, arus modal smelter masuk ke Morowali dan Weda Bay</a:t>
            </a:r>
            <a:endParaRPr lang="en-US" sz="1150" dirty="0"/>
          </a:p>
        </p:txBody>
      </p:sp>
      <p:sp>
        <p:nvSpPr>
          <p:cNvPr id="34" name="Shape 32"/>
          <p:cNvSpPr/>
          <p:nvPr/>
        </p:nvSpPr>
        <p:spPr>
          <a:xfrm>
            <a:off x="621792" y="5586984"/>
            <a:ext cx="10948111" cy="10058"/>
          </a:xfrm>
          <a:prstGeom prst="rect">
            <a:avLst/>
          </a:prstGeom>
          <a:solidFill>
            <a:srgbClr val="DDD8CE"/>
          </a:solidFill>
          <a:ln/>
        </p:spPr>
      </p:sp>
      <p:sp>
        <p:nvSpPr>
          <p:cNvPr id="35" name="Text 33"/>
          <p:cNvSpPr txBox="1"/>
          <p:nvPr/>
        </p:nvSpPr>
        <p:spPr>
          <a:xfrm>
            <a:off x="621792" y="5650992"/>
            <a:ext cx="1005840" cy="292608"/>
          </a:xfrm>
          <a:prstGeom prst="rect">
            <a:avLst/>
          </a:prstGeom>
          <a:noFill/>
          <a:ln/>
        </p:spPr>
        <p:txBody>
          <a:bodyPr wrap="square" lIns="0" tIns="0" rIns="0" bIns="0" rtlCol="0" anchor="t"/>
          <a:lstStyle/>
          <a:p>
            <a:pPr indent="0" marL="0">
              <a:buNone/>
            </a:pPr>
            <a:r>
              <a:rPr lang="en-US" sz="1150" b="1" dirty="0">
                <a:solidFill>
                  <a:srgbClr val="0F776B"/>
                </a:solidFill>
                <a:latin typeface="Courier New" pitchFamily="34" charset="0"/>
                <a:ea typeface="Courier New" pitchFamily="34" charset="-122"/>
                <a:cs typeface="Courier New" pitchFamily="34" charset="-120"/>
              </a:rPr>
              <a:t>2022</a:t>
            </a:r>
            <a:endParaRPr lang="en-US" sz="1150" dirty="0"/>
          </a:p>
        </p:txBody>
      </p:sp>
      <p:sp>
        <p:nvSpPr>
          <p:cNvPr id="36" name="Text 34"/>
          <p:cNvSpPr txBox="1"/>
          <p:nvPr/>
        </p:nvSpPr>
        <p:spPr>
          <a:xfrm>
            <a:off x="1810512" y="5650992"/>
            <a:ext cx="9759391" cy="292608"/>
          </a:xfrm>
          <a:prstGeom prst="rect">
            <a:avLst/>
          </a:prstGeom>
          <a:noFill/>
          <a:ln/>
        </p:spPr>
        <p:txBody>
          <a:bodyPr wrap="square" lIns="0" tIns="0" rIns="0" bIns="0" rtlCol="0" anchor="t"/>
          <a:lstStyle/>
          <a:p>
            <a:pPr indent="0" marL="0">
              <a:buNone/>
            </a:pPr>
            <a:r>
              <a:rPr lang="en-US" sz="1150" dirty="0">
                <a:solidFill>
                  <a:srgbClr val="2A3243"/>
                </a:solidFill>
                <a:latin typeface="Calibri" pitchFamily="34" charset="0"/>
                <a:ea typeface="Calibri" pitchFamily="34" charset="-122"/>
                <a:cs typeface="Calibri" pitchFamily="34" charset="-120"/>
              </a:rPr>
              <a:t>Panel WTO memenangkan gugatan Uni Eropa atas kebijakan larangan ekspor</a:t>
            </a:r>
            <a:endParaRPr lang="en-US" sz="1150" dirty="0"/>
          </a:p>
        </p:txBody>
      </p:sp>
      <p:sp>
        <p:nvSpPr>
          <p:cNvPr id="37" name="Shape 35"/>
          <p:cNvSpPr/>
          <p:nvPr/>
        </p:nvSpPr>
        <p:spPr>
          <a:xfrm>
            <a:off x="621792" y="5971032"/>
            <a:ext cx="10948111" cy="10058"/>
          </a:xfrm>
          <a:prstGeom prst="rect">
            <a:avLst/>
          </a:prstGeom>
          <a:solidFill>
            <a:srgbClr val="DDD8CE"/>
          </a:solidFill>
          <a:ln/>
        </p:spPr>
      </p:sp>
      <p:sp>
        <p:nvSpPr>
          <p:cNvPr id="38" name="Text 36"/>
          <p:cNvSpPr txBox="1"/>
          <p:nvPr/>
        </p:nvSpPr>
        <p:spPr>
          <a:xfrm>
            <a:off x="621792" y="6035040"/>
            <a:ext cx="1005840" cy="292608"/>
          </a:xfrm>
          <a:prstGeom prst="rect">
            <a:avLst/>
          </a:prstGeom>
          <a:noFill/>
          <a:ln/>
        </p:spPr>
        <p:txBody>
          <a:bodyPr wrap="square" lIns="0" tIns="0" rIns="0" bIns="0" rtlCol="0" anchor="t"/>
          <a:lstStyle/>
          <a:p>
            <a:pPr indent="0" marL="0">
              <a:buNone/>
            </a:pPr>
            <a:r>
              <a:rPr lang="en-US" sz="1150" b="1" dirty="0">
                <a:solidFill>
                  <a:srgbClr val="38769F"/>
                </a:solidFill>
                <a:latin typeface="Courier New" pitchFamily="34" charset="0"/>
                <a:ea typeface="Courier New" pitchFamily="34" charset="-122"/>
                <a:cs typeface="Courier New" pitchFamily="34" charset="-120"/>
              </a:rPr>
              <a:t>2025</a:t>
            </a:r>
            <a:endParaRPr lang="en-US" sz="1150" dirty="0"/>
          </a:p>
        </p:txBody>
      </p:sp>
      <p:sp>
        <p:nvSpPr>
          <p:cNvPr id="39" name="Text 37"/>
          <p:cNvSpPr txBox="1"/>
          <p:nvPr/>
        </p:nvSpPr>
        <p:spPr>
          <a:xfrm>
            <a:off x="1810512" y="6035040"/>
            <a:ext cx="9759391" cy="292608"/>
          </a:xfrm>
          <a:prstGeom prst="rect">
            <a:avLst/>
          </a:prstGeom>
          <a:noFill/>
          <a:ln/>
        </p:spPr>
        <p:txBody>
          <a:bodyPr wrap="square" lIns="0" tIns="0" rIns="0" bIns="0" rtlCol="0" anchor="t"/>
          <a:lstStyle/>
          <a:p>
            <a:pPr indent="0" marL="0">
              <a:buNone/>
            </a:pPr>
            <a:r>
              <a:rPr lang="en-US" sz="1150" dirty="0">
                <a:solidFill>
                  <a:srgbClr val="2A3243"/>
                </a:solidFill>
                <a:latin typeface="Calibri" pitchFamily="34" charset="0"/>
                <a:ea typeface="Calibri" pitchFamily="34" charset="-122"/>
                <a:cs typeface="Calibri" pitchFamily="34" charset="-120"/>
              </a:rPr>
              <a:t>Nilai ekspor produk nikel olahan mencapai 40 miliar dolar Amerika</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053389"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053389"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FAKTA 01</a:t>
            </a:r>
            <a:endParaRPr lang="en-US" sz="950" dirty="0"/>
          </a:p>
        </p:txBody>
      </p:sp>
      <p:sp>
        <p:nvSpPr>
          <p:cNvPr id="5" name="Shape 3"/>
          <p:cNvSpPr/>
          <p:nvPr/>
        </p:nvSpPr>
        <p:spPr>
          <a:xfrm>
            <a:off x="1794053" y="457200"/>
            <a:ext cx="1415491"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94053" y="457200"/>
            <a:ext cx="1415491"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SISI MANFAAT</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04</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Skala Manfaat Ekonomi</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Angka yang menjadi dasar pembenaran kebijakan.</a:t>
            </a:r>
            <a:endParaRPr lang="en-US" sz="1350" dirty="0"/>
          </a:p>
        </p:txBody>
      </p:sp>
      <p:sp>
        <p:nvSpPr>
          <p:cNvPr id="10" name="Shape 8"/>
          <p:cNvSpPr/>
          <p:nvPr/>
        </p:nvSpPr>
        <p:spPr>
          <a:xfrm>
            <a:off x="621792" y="1975104"/>
            <a:ext cx="2599868" cy="1975104"/>
          </a:xfrm>
          <a:prstGeom prst="roundRect">
            <a:avLst>
              <a:gd name="adj" fmla="val 7407"/>
            </a:avLst>
          </a:prstGeom>
          <a:solidFill>
            <a:srgbClr val="FF5A2D"/>
          </a:solidFill>
          <a:ln/>
        </p:spPr>
      </p:sp>
      <p:sp>
        <p:nvSpPr>
          <p:cNvPr id="11" name="Text 9"/>
          <p:cNvSpPr txBox="1"/>
          <p:nvPr/>
        </p:nvSpPr>
        <p:spPr>
          <a:xfrm>
            <a:off x="841248" y="2194560"/>
            <a:ext cx="2160956" cy="566928"/>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41,5</a:t>
            </a:r>
            <a:pPr indent="0" marL="0">
              <a:buNone/>
            </a:pPr>
            <a:r>
              <a:rPr lang="en-US" sz="1260" b="1" dirty="0">
                <a:solidFill>
                  <a:srgbClr val="FFFFFF"/>
                </a:solidFill>
                <a:latin typeface="Calibri" pitchFamily="34" charset="0"/>
                <a:ea typeface="Calibri" pitchFamily="34" charset="-122"/>
                <a:cs typeface="Calibri" pitchFamily="34" charset="-120"/>
              </a:rPr>
              <a:t>  miliar USD</a:t>
            </a:r>
            <a:endParaRPr lang="en-US" sz="3000" dirty="0"/>
          </a:p>
        </p:txBody>
      </p:sp>
      <p:sp>
        <p:nvSpPr>
          <p:cNvPr id="12" name="Text 10"/>
          <p:cNvSpPr txBox="1"/>
          <p:nvPr/>
        </p:nvSpPr>
        <p:spPr>
          <a:xfrm>
            <a:off x="841248" y="2834640"/>
            <a:ext cx="2160956" cy="932688"/>
          </a:xfrm>
          <a:prstGeom prst="rect">
            <a:avLst/>
          </a:prstGeom>
          <a:noFill/>
          <a:ln/>
        </p:spPr>
        <p:txBody>
          <a:bodyPr wrap="square" lIns="0" tIns="0" rIns="0" bIns="0" rtlCol="0" anchor="t"/>
          <a:lstStyle/>
          <a:p>
            <a:pPr indent="0" marL="0">
              <a:lnSpc>
                <a:spcPts val="1540"/>
              </a:lnSpc>
              <a:buNone/>
            </a:pPr>
            <a:r>
              <a:rPr lang="en-US" sz="1100" dirty="0">
                <a:solidFill>
                  <a:srgbClr val="E8E4DC"/>
                </a:solidFill>
                <a:latin typeface="Calibri" pitchFamily="34" charset="0"/>
                <a:ea typeface="Calibri" pitchFamily="34" charset="-122"/>
                <a:cs typeface="Calibri" pitchFamily="34" charset="-120"/>
              </a:rPr>
              <a:t>Investasi terkumpul di Kawasan IMIP Morowali sampai Desember 2025, setara sekitar Rp 697 triliun</a:t>
            </a:r>
            <a:endParaRPr lang="en-US" sz="1100" dirty="0"/>
          </a:p>
        </p:txBody>
      </p:sp>
      <p:sp>
        <p:nvSpPr>
          <p:cNvPr id="13" name="Shape 11"/>
          <p:cNvSpPr/>
          <p:nvPr/>
        </p:nvSpPr>
        <p:spPr>
          <a:xfrm>
            <a:off x="3404540" y="1975104"/>
            <a:ext cx="2599868" cy="1975104"/>
          </a:xfrm>
          <a:prstGeom prst="roundRect">
            <a:avLst>
              <a:gd name="adj" fmla="val 7407"/>
            </a:avLst>
          </a:prstGeom>
          <a:solidFill>
            <a:srgbClr val="B8A6F5"/>
          </a:solidFill>
          <a:ln/>
        </p:spPr>
      </p:sp>
      <p:sp>
        <p:nvSpPr>
          <p:cNvPr id="14" name="Text 12"/>
          <p:cNvSpPr txBox="1"/>
          <p:nvPr/>
        </p:nvSpPr>
        <p:spPr>
          <a:xfrm>
            <a:off x="3623996" y="2194560"/>
            <a:ext cx="2160956" cy="566928"/>
          </a:xfrm>
          <a:prstGeom prst="rect">
            <a:avLst/>
          </a:prstGeom>
          <a:noFill/>
          <a:ln/>
        </p:spPr>
        <p:txBody>
          <a:bodyPr wrap="square" lIns="0" tIns="0" rIns="0" bIns="0" rtlCol="0" anchor="t"/>
          <a:lstStyle/>
          <a:p>
            <a:pPr indent="0" marL="0">
              <a:buNone/>
            </a:pPr>
            <a:r>
              <a:rPr lang="en-US" sz="3000" b="1" dirty="0">
                <a:solidFill>
                  <a:srgbClr val="0E1626"/>
                </a:solidFill>
                <a:latin typeface="Calibri" pitchFamily="34" charset="0"/>
                <a:ea typeface="Calibri" pitchFamily="34" charset="-122"/>
                <a:cs typeface="Calibri" pitchFamily="34" charset="-120"/>
              </a:rPr>
              <a:t>40</a:t>
            </a:r>
            <a:pPr indent="0" marL="0">
              <a:buNone/>
            </a:pPr>
            <a:r>
              <a:rPr lang="en-US" sz="1260" b="1" dirty="0">
                <a:solidFill>
                  <a:srgbClr val="0E1626"/>
                </a:solidFill>
                <a:latin typeface="Calibri" pitchFamily="34" charset="0"/>
                <a:ea typeface="Calibri" pitchFamily="34" charset="-122"/>
                <a:cs typeface="Calibri" pitchFamily="34" charset="-120"/>
              </a:rPr>
              <a:t>  miliar USD</a:t>
            </a:r>
            <a:endParaRPr lang="en-US" sz="3000" dirty="0"/>
          </a:p>
        </p:txBody>
      </p:sp>
      <p:sp>
        <p:nvSpPr>
          <p:cNvPr id="15" name="Text 13"/>
          <p:cNvSpPr txBox="1"/>
          <p:nvPr/>
        </p:nvSpPr>
        <p:spPr>
          <a:xfrm>
            <a:off x="3623996" y="2834640"/>
            <a:ext cx="2160956" cy="932688"/>
          </a:xfrm>
          <a:prstGeom prst="rect">
            <a:avLst/>
          </a:prstGeom>
          <a:noFill/>
          <a:ln/>
        </p:spPr>
        <p:txBody>
          <a:bodyPr wrap="square" lIns="0" tIns="0" rIns="0" bIns="0" rtlCol="0" anchor="t"/>
          <a:lstStyle/>
          <a:p>
            <a:pPr indent="0" marL="0">
              <a:lnSpc>
                <a:spcPts val="1540"/>
              </a:lnSpc>
              <a:buNone/>
            </a:pPr>
            <a:r>
              <a:rPr lang="en-US" sz="1100" dirty="0">
                <a:solidFill>
                  <a:srgbClr val="2A3243"/>
                </a:solidFill>
                <a:latin typeface="Calibri" pitchFamily="34" charset="0"/>
                <a:ea typeface="Calibri" pitchFamily="34" charset="-122"/>
                <a:cs typeface="Calibri" pitchFamily="34" charset="-120"/>
              </a:rPr>
              <a:t>Nilai ekspor produk nikel olahan pada 2025, naik dari 3 miliar dolar pada 2020</a:t>
            </a:r>
            <a:endParaRPr lang="en-US" sz="1100" dirty="0"/>
          </a:p>
        </p:txBody>
      </p:sp>
      <p:sp>
        <p:nvSpPr>
          <p:cNvPr id="16" name="Shape 14"/>
          <p:cNvSpPr/>
          <p:nvPr/>
        </p:nvSpPr>
        <p:spPr>
          <a:xfrm>
            <a:off x="6187288" y="1975104"/>
            <a:ext cx="2599868" cy="1975104"/>
          </a:xfrm>
          <a:prstGeom prst="roundRect">
            <a:avLst>
              <a:gd name="adj" fmla="val 7407"/>
            </a:avLst>
          </a:prstGeom>
          <a:solidFill>
            <a:srgbClr val="0FA98E"/>
          </a:solidFill>
          <a:ln/>
        </p:spPr>
      </p:sp>
      <p:sp>
        <p:nvSpPr>
          <p:cNvPr id="17" name="Text 15"/>
          <p:cNvSpPr txBox="1"/>
          <p:nvPr/>
        </p:nvSpPr>
        <p:spPr>
          <a:xfrm>
            <a:off x="6406744" y="2194560"/>
            <a:ext cx="2160956" cy="566928"/>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85.520</a:t>
            </a:r>
            <a:pPr indent="0" marL="0">
              <a:buNone/>
            </a:pPr>
            <a:r>
              <a:rPr lang="en-US" sz="1092" b="1" dirty="0">
                <a:solidFill>
                  <a:srgbClr val="FFFFFF"/>
                </a:solidFill>
                <a:latin typeface="Calibri" pitchFamily="34" charset="0"/>
                <a:ea typeface="Calibri" pitchFamily="34" charset="-122"/>
                <a:cs typeface="Calibri" pitchFamily="34" charset="-120"/>
              </a:rPr>
              <a:t>  pekerja</a:t>
            </a:r>
            <a:endParaRPr lang="en-US" sz="2600" dirty="0"/>
          </a:p>
        </p:txBody>
      </p:sp>
      <p:sp>
        <p:nvSpPr>
          <p:cNvPr id="18" name="Text 16"/>
          <p:cNvSpPr txBox="1"/>
          <p:nvPr/>
        </p:nvSpPr>
        <p:spPr>
          <a:xfrm>
            <a:off x="6406744" y="2834640"/>
            <a:ext cx="2160956" cy="932688"/>
          </a:xfrm>
          <a:prstGeom prst="rect">
            <a:avLst/>
          </a:prstGeom>
          <a:noFill/>
          <a:ln/>
        </p:spPr>
        <p:txBody>
          <a:bodyPr wrap="square" lIns="0" tIns="0" rIns="0" bIns="0" rtlCol="0" anchor="t"/>
          <a:lstStyle/>
          <a:p>
            <a:pPr indent="0" marL="0">
              <a:lnSpc>
                <a:spcPts val="1540"/>
              </a:lnSpc>
              <a:buNone/>
            </a:pPr>
            <a:r>
              <a:rPr lang="en-US" sz="1100" dirty="0">
                <a:solidFill>
                  <a:srgbClr val="E8E4DC"/>
                </a:solidFill>
                <a:latin typeface="Calibri" pitchFamily="34" charset="0"/>
                <a:ea typeface="Calibri" pitchFamily="34" charset="-122"/>
                <a:cs typeface="Calibri" pitchFamily="34" charset="-120"/>
              </a:rPr>
              <a:t>Tenaga kerja Kawasan IMIP per Juni 2025, dari 35.952 orang pada 2020</a:t>
            </a:r>
            <a:endParaRPr lang="en-US" sz="1100" dirty="0"/>
          </a:p>
        </p:txBody>
      </p:sp>
      <p:sp>
        <p:nvSpPr>
          <p:cNvPr id="19" name="Shape 17"/>
          <p:cNvSpPr/>
          <p:nvPr/>
        </p:nvSpPr>
        <p:spPr>
          <a:xfrm>
            <a:off x="8970035" y="1975104"/>
            <a:ext cx="2599868" cy="1975104"/>
          </a:xfrm>
          <a:prstGeom prst="roundRect">
            <a:avLst>
              <a:gd name="adj" fmla="val 7407"/>
            </a:avLst>
          </a:prstGeom>
          <a:solidFill>
            <a:srgbClr val="C6F04A"/>
          </a:solidFill>
          <a:ln/>
        </p:spPr>
      </p:sp>
      <p:sp>
        <p:nvSpPr>
          <p:cNvPr id="20" name="Text 18"/>
          <p:cNvSpPr txBox="1"/>
          <p:nvPr/>
        </p:nvSpPr>
        <p:spPr>
          <a:xfrm>
            <a:off x="9189491" y="2194560"/>
            <a:ext cx="2160956" cy="566928"/>
          </a:xfrm>
          <a:prstGeom prst="rect">
            <a:avLst/>
          </a:prstGeom>
          <a:noFill/>
          <a:ln/>
        </p:spPr>
        <p:txBody>
          <a:bodyPr wrap="square" lIns="0" tIns="0" rIns="0" bIns="0" rtlCol="0" anchor="t"/>
          <a:lstStyle/>
          <a:p>
            <a:pPr indent="0" marL="0">
              <a:buNone/>
            </a:pPr>
            <a:r>
              <a:rPr lang="en-US" sz="2600" b="1" dirty="0">
                <a:solidFill>
                  <a:srgbClr val="0E1626"/>
                </a:solidFill>
                <a:latin typeface="Calibri" pitchFamily="34" charset="0"/>
                <a:ea typeface="Calibri" pitchFamily="34" charset="-122"/>
                <a:cs typeface="Calibri" pitchFamily="34" charset="-120"/>
              </a:rPr>
              <a:t>81.000</a:t>
            </a:r>
            <a:pPr indent="0" marL="0">
              <a:buNone/>
            </a:pPr>
            <a:r>
              <a:rPr lang="en-US" sz="1092" b="1" dirty="0">
                <a:solidFill>
                  <a:srgbClr val="0E1626"/>
                </a:solidFill>
                <a:latin typeface="Calibri" pitchFamily="34" charset="0"/>
                <a:ea typeface="Calibri" pitchFamily="34" charset="-122"/>
                <a:cs typeface="Calibri" pitchFamily="34" charset="-120"/>
              </a:rPr>
              <a:t>  pekerja</a:t>
            </a:r>
            <a:endParaRPr lang="en-US" sz="2600" dirty="0"/>
          </a:p>
        </p:txBody>
      </p:sp>
      <p:sp>
        <p:nvSpPr>
          <p:cNvPr id="21" name="Text 19"/>
          <p:cNvSpPr txBox="1"/>
          <p:nvPr/>
        </p:nvSpPr>
        <p:spPr>
          <a:xfrm>
            <a:off x="9189491" y="2834640"/>
            <a:ext cx="2160956" cy="932688"/>
          </a:xfrm>
          <a:prstGeom prst="rect">
            <a:avLst/>
          </a:prstGeom>
          <a:noFill/>
          <a:ln/>
        </p:spPr>
        <p:txBody>
          <a:bodyPr wrap="square" lIns="0" tIns="0" rIns="0" bIns="0" rtlCol="0" anchor="t"/>
          <a:lstStyle/>
          <a:p>
            <a:pPr indent="0" marL="0">
              <a:lnSpc>
                <a:spcPts val="1540"/>
              </a:lnSpc>
              <a:buNone/>
            </a:pPr>
            <a:r>
              <a:rPr lang="en-US" sz="1100" dirty="0">
                <a:solidFill>
                  <a:srgbClr val="2A3243"/>
                </a:solidFill>
                <a:latin typeface="Calibri" pitchFamily="34" charset="0"/>
                <a:ea typeface="Calibri" pitchFamily="34" charset="-122"/>
                <a:cs typeface="Calibri" pitchFamily="34" charset="-120"/>
              </a:rPr>
              <a:t>Tenaga kerja Kawasan IWIP Weda Bay, dari target sekitar 100.000 orang</a:t>
            </a:r>
            <a:endParaRPr lang="en-US" sz="1100" dirty="0"/>
          </a:p>
        </p:txBody>
      </p:sp>
      <p:sp>
        <p:nvSpPr>
          <p:cNvPr id="22" name="Shape 20"/>
          <p:cNvSpPr/>
          <p:nvPr/>
        </p:nvSpPr>
        <p:spPr>
          <a:xfrm>
            <a:off x="621792" y="4279392"/>
            <a:ext cx="146304" cy="146304"/>
          </a:xfrm>
          <a:prstGeom prst="rect">
            <a:avLst/>
          </a:prstGeom>
          <a:solidFill>
            <a:srgbClr val="FF5A2D"/>
          </a:solidFill>
          <a:ln/>
        </p:spPr>
      </p:sp>
      <p:sp>
        <p:nvSpPr>
          <p:cNvPr id="23" name="Text 21"/>
          <p:cNvSpPr txBox="1"/>
          <p:nvPr/>
        </p:nvSpPr>
        <p:spPr>
          <a:xfrm>
            <a:off x="914400" y="4169664"/>
            <a:ext cx="1591056" cy="329184"/>
          </a:xfrm>
          <a:prstGeom prst="rect">
            <a:avLst/>
          </a:prstGeom>
          <a:noFill/>
          <a:ln/>
        </p:spPr>
        <p:txBody>
          <a:bodyPr wrap="square" lIns="0" tIns="0" rIns="0" bIns="0" rtlCol="0" anchor="t"/>
          <a:lstStyle/>
          <a:p>
            <a:pPr indent="0" marL="0">
              <a:buNone/>
            </a:pPr>
            <a:r>
              <a:rPr lang="en-US" sz="1050" b="1" dirty="0">
                <a:solidFill>
                  <a:srgbClr val="AB422B"/>
                </a:solidFill>
                <a:latin typeface="Courier New" pitchFamily="34" charset="0"/>
                <a:ea typeface="Courier New" pitchFamily="34" charset="-122"/>
                <a:cs typeface="Courier New" pitchFamily="34" charset="-120"/>
              </a:rPr>
              <a:t>Ekspor Daerah</a:t>
            </a:r>
            <a:endParaRPr lang="en-US" sz="1050" dirty="0"/>
          </a:p>
        </p:txBody>
      </p:sp>
      <p:sp>
        <p:nvSpPr>
          <p:cNvPr id="24" name="Text 22"/>
          <p:cNvSpPr txBox="1"/>
          <p:nvPr/>
        </p:nvSpPr>
        <p:spPr>
          <a:xfrm>
            <a:off x="2651760" y="4169664"/>
            <a:ext cx="8918143" cy="493776"/>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Ekspor melalui Bahodopi dan Morowali mencapai 18,08 miliar dolar Amerika, setara 81 persen seluruh ekspor Sulawesi Tengah</a:t>
            </a:r>
            <a:endParaRPr lang="en-US" sz="1150" dirty="0"/>
          </a:p>
        </p:txBody>
      </p:sp>
      <p:sp>
        <p:nvSpPr>
          <p:cNvPr id="25" name="Shape 23"/>
          <p:cNvSpPr/>
          <p:nvPr/>
        </p:nvSpPr>
        <p:spPr>
          <a:xfrm>
            <a:off x="621792" y="4828032"/>
            <a:ext cx="146304" cy="146304"/>
          </a:xfrm>
          <a:prstGeom prst="rect">
            <a:avLst/>
          </a:prstGeom>
          <a:solidFill>
            <a:srgbClr val="FF5A2D"/>
          </a:solidFill>
          <a:ln/>
        </p:spPr>
      </p:sp>
      <p:sp>
        <p:nvSpPr>
          <p:cNvPr id="26" name="Text 24"/>
          <p:cNvSpPr txBox="1"/>
          <p:nvPr/>
        </p:nvSpPr>
        <p:spPr>
          <a:xfrm>
            <a:off x="914400" y="4718304"/>
            <a:ext cx="1591056" cy="329184"/>
          </a:xfrm>
          <a:prstGeom prst="rect">
            <a:avLst/>
          </a:prstGeom>
          <a:noFill/>
          <a:ln/>
        </p:spPr>
        <p:txBody>
          <a:bodyPr wrap="square" lIns="0" tIns="0" rIns="0" bIns="0" rtlCol="0" anchor="t"/>
          <a:lstStyle/>
          <a:p>
            <a:pPr indent="0" marL="0">
              <a:buNone/>
            </a:pPr>
            <a:r>
              <a:rPr lang="en-US" sz="1050" b="1" dirty="0">
                <a:solidFill>
                  <a:srgbClr val="AB422B"/>
                </a:solidFill>
                <a:latin typeface="Courier New" pitchFamily="34" charset="0"/>
                <a:ea typeface="Courier New" pitchFamily="34" charset="-122"/>
                <a:cs typeface="Courier New" pitchFamily="34" charset="-120"/>
              </a:rPr>
              <a:t>Pertumbuhan</a:t>
            </a:r>
            <a:endParaRPr lang="en-US" sz="1050" dirty="0"/>
          </a:p>
        </p:txBody>
      </p:sp>
      <p:sp>
        <p:nvSpPr>
          <p:cNvPr id="27" name="Text 25"/>
          <p:cNvSpPr txBox="1"/>
          <p:nvPr/>
        </p:nvSpPr>
        <p:spPr>
          <a:xfrm>
            <a:off x="2651760" y="4718304"/>
            <a:ext cx="8918143" cy="493776"/>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Perekonomian Morowali tumbuh 16,24 persen pada 2024, dengan industri pengolahan nikel menyumbang 21 persen pertumbuhan</a:t>
            </a:r>
            <a:endParaRPr lang="en-US" sz="1150" dirty="0"/>
          </a:p>
        </p:txBody>
      </p:sp>
      <p:sp>
        <p:nvSpPr>
          <p:cNvPr id="28" name="Shape 26"/>
          <p:cNvSpPr/>
          <p:nvPr/>
        </p:nvSpPr>
        <p:spPr>
          <a:xfrm>
            <a:off x="621792" y="5376672"/>
            <a:ext cx="146304" cy="146304"/>
          </a:xfrm>
          <a:prstGeom prst="rect">
            <a:avLst/>
          </a:prstGeom>
          <a:solidFill>
            <a:srgbClr val="FF5A2D"/>
          </a:solidFill>
          <a:ln/>
        </p:spPr>
      </p:sp>
      <p:sp>
        <p:nvSpPr>
          <p:cNvPr id="29" name="Text 27"/>
          <p:cNvSpPr txBox="1"/>
          <p:nvPr/>
        </p:nvSpPr>
        <p:spPr>
          <a:xfrm>
            <a:off x="914400" y="5266944"/>
            <a:ext cx="1591056" cy="329184"/>
          </a:xfrm>
          <a:prstGeom prst="rect">
            <a:avLst/>
          </a:prstGeom>
          <a:noFill/>
          <a:ln/>
        </p:spPr>
        <p:txBody>
          <a:bodyPr wrap="square" lIns="0" tIns="0" rIns="0" bIns="0" rtlCol="0" anchor="t"/>
          <a:lstStyle/>
          <a:p>
            <a:pPr indent="0" marL="0">
              <a:buNone/>
            </a:pPr>
            <a:r>
              <a:rPr lang="en-US" sz="1050" b="1" dirty="0">
                <a:solidFill>
                  <a:srgbClr val="AB422B"/>
                </a:solidFill>
                <a:latin typeface="Courier New" pitchFamily="34" charset="0"/>
                <a:ea typeface="Courier New" pitchFamily="34" charset="-122"/>
                <a:cs typeface="Courier New" pitchFamily="34" charset="-120"/>
              </a:rPr>
              <a:t>Posisi Global</a:t>
            </a:r>
            <a:endParaRPr lang="en-US" sz="1050" dirty="0"/>
          </a:p>
        </p:txBody>
      </p:sp>
      <p:sp>
        <p:nvSpPr>
          <p:cNvPr id="30" name="Text 28"/>
          <p:cNvSpPr txBox="1"/>
          <p:nvPr/>
        </p:nvSpPr>
        <p:spPr>
          <a:xfrm>
            <a:off x="2651760" y="5266944"/>
            <a:ext cx="8918143" cy="493776"/>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Indonesia menjadi pemasok nikel olahan terbesar dunia dan simpul utama rantai pasok baterai kendaraan listrik</a:t>
            </a:r>
            <a:endParaRPr lang="en-US" sz="1150" dirty="0"/>
          </a:p>
        </p:txBody>
      </p:sp>
      <p:sp>
        <p:nvSpPr>
          <p:cNvPr id="31" name="Text 29"/>
          <p:cNvSpPr txBox="1"/>
          <p:nvPr/>
        </p:nvSpPr>
        <p:spPr>
          <a:xfrm>
            <a:off x="621792" y="5888736"/>
            <a:ext cx="10948111" cy="256032"/>
          </a:xfrm>
          <a:prstGeom prst="rect">
            <a:avLst/>
          </a:prstGeom>
          <a:noFill/>
          <a:ln/>
        </p:spPr>
        <p:txBody>
          <a:bodyPr wrap="square" lIns="0" tIns="0" rIns="0" bIns="0" rtlCol="0" anchor="t"/>
          <a:lstStyle/>
          <a:p>
            <a:pPr indent="0" marL="0">
              <a:buNone/>
            </a:pPr>
            <a:r>
              <a:rPr lang="en-US" sz="1000" i="1" dirty="0">
                <a:solidFill>
                  <a:srgbClr val="6B7A90"/>
                </a:solidFill>
                <a:latin typeface="Calibri" pitchFamily="34" charset="0"/>
                <a:ea typeface="Calibri" pitchFamily="34" charset="-122"/>
                <a:cs typeface="Calibri" pitchFamily="34" charset="-120"/>
              </a:rPr>
              <a:t>Data pengelola kawasan industri, Badan Pusat Statistik Sulawesi Tengah, dan Kementerian Perindustrian, ditelusuri Agustus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053389"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053389"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FAKTA 02</a:t>
            </a:r>
            <a:endParaRPr lang="en-US" sz="950" dirty="0"/>
          </a:p>
        </p:txBody>
      </p:sp>
      <p:sp>
        <p:nvSpPr>
          <p:cNvPr id="5" name="Shape 3"/>
          <p:cNvSpPr/>
          <p:nvPr/>
        </p:nvSpPr>
        <p:spPr>
          <a:xfrm>
            <a:off x="1794053" y="457200"/>
            <a:ext cx="1506017"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94053" y="457200"/>
            <a:ext cx="1506017"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KONDISI KERJA</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05</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Kondisi Ketenagakerjaan</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Angka penyerapan kerja tidak identik dengan mutu pekerjaannya.</a:t>
            </a:r>
            <a:endParaRPr lang="en-US" sz="1350" dirty="0"/>
          </a:p>
        </p:txBody>
      </p:sp>
      <p:sp>
        <p:nvSpPr>
          <p:cNvPr id="10" name="Shape 8"/>
          <p:cNvSpPr/>
          <p:nvPr/>
        </p:nvSpPr>
        <p:spPr>
          <a:xfrm>
            <a:off x="621792" y="1975104"/>
            <a:ext cx="5346040" cy="3291840"/>
          </a:xfrm>
          <a:prstGeom prst="roundRect">
            <a:avLst>
              <a:gd name="adj" fmla="val 4444"/>
            </a:avLst>
          </a:prstGeom>
          <a:solidFill>
            <a:srgbClr val="0E1626"/>
          </a:solidFill>
          <a:ln/>
        </p:spPr>
      </p:sp>
      <p:sp>
        <p:nvSpPr>
          <p:cNvPr id="11" name="Shape 9"/>
          <p:cNvSpPr/>
          <p:nvPr/>
        </p:nvSpPr>
        <p:spPr>
          <a:xfrm>
            <a:off x="896112" y="2194560"/>
            <a:ext cx="1958645" cy="283464"/>
          </a:xfrm>
          <a:prstGeom prst="roundRect">
            <a:avLst>
              <a:gd name="adj" fmla="val 50000"/>
            </a:avLst>
          </a:prstGeom>
          <a:solidFill>
            <a:srgbClr val="C6F04A"/>
          </a:solidFill>
          <a:ln w="12700">
            <a:solidFill>
              <a:srgbClr val="C6F04A"/>
            </a:solidFill>
            <a:prstDash val="solid"/>
          </a:ln>
        </p:spPr>
      </p:sp>
      <p:sp>
        <p:nvSpPr>
          <p:cNvPr id="12" name="Text 10"/>
          <p:cNvSpPr txBox="1"/>
          <p:nvPr/>
        </p:nvSpPr>
        <p:spPr>
          <a:xfrm>
            <a:off x="896112" y="2194560"/>
            <a:ext cx="1958645"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UPAH DAN JAM KERJA</a:t>
            </a:r>
            <a:endParaRPr lang="en-US" sz="950" dirty="0"/>
          </a:p>
        </p:txBody>
      </p:sp>
      <p:sp>
        <p:nvSpPr>
          <p:cNvPr id="13" name="Text 11"/>
          <p:cNvSpPr txBox="1"/>
          <p:nvPr/>
        </p:nvSpPr>
        <p:spPr>
          <a:xfrm>
            <a:off x="896112" y="2688336"/>
            <a:ext cx="1243584"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Upah pokok</a:t>
            </a:r>
            <a:endParaRPr lang="en-US" sz="1150" dirty="0"/>
          </a:p>
        </p:txBody>
      </p:sp>
      <p:sp>
        <p:nvSpPr>
          <p:cNvPr id="14" name="Text 12"/>
          <p:cNvSpPr txBox="1"/>
          <p:nvPr/>
        </p:nvSpPr>
        <p:spPr>
          <a:xfrm>
            <a:off x="2322576" y="2660904"/>
            <a:ext cx="3370936" cy="612648"/>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Rp 3 juta sampai Rp 3,6 juta per bulan, di bawah upah minimum Morowali 2025 sebesar Rp 3,7 juta</a:t>
            </a:r>
            <a:endParaRPr lang="en-US" sz="1100" dirty="0"/>
          </a:p>
        </p:txBody>
      </p:sp>
      <p:sp>
        <p:nvSpPr>
          <p:cNvPr id="15" name="Text 13"/>
          <p:cNvSpPr txBox="1"/>
          <p:nvPr/>
        </p:nvSpPr>
        <p:spPr>
          <a:xfrm>
            <a:off x="896112" y="3337560"/>
            <a:ext cx="1243584"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Biaya hidup</a:t>
            </a:r>
            <a:endParaRPr lang="en-US" sz="1150" dirty="0"/>
          </a:p>
        </p:txBody>
      </p:sp>
      <p:sp>
        <p:nvSpPr>
          <p:cNvPr id="16" name="Text 14"/>
          <p:cNvSpPr txBox="1"/>
          <p:nvPr/>
        </p:nvSpPr>
        <p:spPr>
          <a:xfrm>
            <a:off x="2322576" y="3310128"/>
            <a:ext cx="3370936" cy="612648"/>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Diperkirakan Rp 7,5 juta sampai Rp 8 juta per bulan bagi pekerja di sekitar kawasan</a:t>
            </a:r>
            <a:endParaRPr lang="en-US" sz="1100" dirty="0"/>
          </a:p>
        </p:txBody>
      </p:sp>
      <p:sp>
        <p:nvSpPr>
          <p:cNvPr id="17" name="Text 15"/>
          <p:cNvSpPr txBox="1"/>
          <p:nvPr/>
        </p:nvSpPr>
        <p:spPr>
          <a:xfrm>
            <a:off x="896112" y="3986784"/>
            <a:ext cx="1243584"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Jam kerja</a:t>
            </a:r>
            <a:endParaRPr lang="en-US" sz="1150" dirty="0"/>
          </a:p>
        </p:txBody>
      </p:sp>
      <p:sp>
        <p:nvSpPr>
          <p:cNvPr id="18" name="Text 16"/>
          <p:cNvSpPr txBox="1"/>
          <p:nvPr/>
        </p:nvSpPr>
        <p:spPr>
          <a:xfrm>
            <a:off x="2322576" y="3959352"/>
            <a:ext cx="3370936" cy="612648"/>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Lembur tercatat sampai 13 jam sehari, dengan rata-rata 56 jam seminggu terhadap batas 40 jam</a:t>
            </a:r>
            <a:endParaRPr lang="en-US" sz="1100" dirty="0"/>
          </a:p>
        </p:txBody>
      </p:sp>
      <p:sp>
        <p:nvSpPr>
          <p:cNvPr id="19" name="Text 17"/>
          <p:cNvSpPr txBox="1"/>
          <p:nvPr/>
        </p:nvSpPr>
        <p:spPr>
          <a:xfrm>
            <a:off x="896112" y="4636008"/>
            <a:ext cx="1243584"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Status</a:t>
            </a:r>
            <a:endParaRPr lang="en-US" sz="1150" dirty="0"/>
          </a:p>
        </p:txBody>
      </p:sp>
      <p:sp>
        <p:nvSpPr>
          <p:cNvPr id="20" name="Text 18"/>
          <p:cNvSpPr txBox="1"/>
          <p:nvPr/>
        </p:nvSpPr>
        <p:spPr>
          <a:xfrm>
            <a:off x="2322576" y="4608576"/>
            <a:ext cx="3370936" cy="612648"/>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Sebagian besar pekerja berstatus kontrak dengan daya tawar terbatas atas perpanjangannya</a:t>
            </a:r>
            <a:endParaRPr lang="en-US" sz="1100" dirty="0"/>
          </a:p>
        </p:txBody>
      </p:sp>
      <p:sp>
        <p:nvSpPr>
          <p:cNvPr id="21" name="Shape 19"/>
          <p:cNvSpPr/>
          <p:nvPr/>
        </p:nvSpPr>
        <p:spPr>
          <a:xfrm>
            <a:off x="6223864" y="1975104"/>
            <a:ext cx="5346040" cy="3291840"/>
          </a:xfrm>
          <a:prstGeom prst="roundRect">
            <a:avLst>
              <a:gd name="adj" fmla="val 4444"/>
            </a:avLst>
          </a:prstGeom>
          <a:solidFill>
            <a:srgbClr val="F5B722"/>
          </a:solidFill>
          <a:ln/>
        </p:spPr>
      </p:sp>
      <p:sp>
        <p:nvSpPr>
          <p:cNvPr id="22" name="Shape 20"/>
          <p:cNvSpPr/>
          <p:nvPr/>
        </p:nvSpPr>
        <p:spPr>
          <a:xfrm>
            <a:off x="6498184" y="2194560"/>
            <a:ext cx="1868119" cy="283464"/>
          </a:xfrm>
          <a:prstGeom prst="roundRect">
            <a:avLst>
              <a:gd name="adj" fmla="val 50000"/>
            </a:avLst>
          </a:prstGeom>
          <a:solidFill>
            <a:srgbClr val="0E1626"/>
          </a:solidFill>
          <a:ln w="12700">
            <a:solidFill>
              <a:srgbClr val="0E1626"/>
            </a:solidFill>
            <a:prstDash val="solid"/>
          </a:ln>
        </p:spPr>
      </p:sp>
      <p:sp>
        <p:nvSpPr>
          <p:cNvPr id="23" name="Text 21"/>
          <p:cNvSpPr txBox="1"/>
          <p:nvPr/>
        </p:nvSpPr>
        <p:spPr>
          <a:xfrm>
            <a:off x="6498184" y="2194560"/>
            <a:ext cx="1868119"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KESELAMATAN KERJA</a:t>
            </a:r>
            <a:endParaRPr lang="en-US" sz="950" dirty="0"/>
          </a:p>
        </p:txBody>
      </p:sp>
      <p:sp>
        <p:nvSpPr>
          <p:cNvPr id="24" name="Text 22"/>
          <p:cNvSpPr txBox="1"/>
          <p:nvPr/>
        </p:nvSpPr>
        <p:spPr>
          <a:xfrm>
            <a:off x="6498184" y="2688336"/>
            <a:ext cx="1243584"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2019–2025</a:t>
            </a:r>
            <a:endParaRPr lang="en-US" sz="1150" dirty="0"/>
          </a:p>
        </p:txBody>
      </p:sp>
      <p:sp>
        <p:nvSpPr>
          <p:cNvPr id="25" name="Text 23"/>
          <p:cNvSpPr txBox="1"/>
          <p:nvPr/>
        </p:nvSpPr>
        <p:spPr>
          <a:xfrm>
            <a:off x="7924648" y="2660904"/>
            <a:ext cx="3370936" cy="612648"/>
          </a:xfrm>
          <a:prstGeom prst="rect">
            <a:avLst/>
          </a:prstGeom>
          <a:noFill/>
          <a:ln/>
        </p:spPr>
        <p:txBody>
          <a:bodyPr wrap="square" lIns="0" tIns="0" rIns="0" bIns="0" rtlCol="0" anchor="t"/>
          <a:lstStyle/>
          <a:p>
            <a:pPr indent="0" marL="0">
              <a:lnSpc>
                <a:spcPts val="1450"/>
              </a:lnSpc>
              <a:buNone/>
            </a:pPr>
            <a:r>
              <a:rPr lang="en-US" sz="1100" dirty="0">
                <a:solidFill>
                  <a:srgbClr val="4A3B0E"/>
                </a:solidFill>
                <a:latin typeface="Calibri" pitchFamily="34" charset="0"/>
                <a:ea typeface="Calibri" pitchFamily="34" charset="-122"/>
                <a:cs typeface="Calibri" pitchFamily="34" charset="-120"/>
              </a:rPr>
              <a:t>104 kecelakaan kerja tercatat di seluruh smelter nikel Indonesia</a:t>
            </a:r>
            <a:endParaRPr lang="en-US" sz="1100" dirty="0"/>
          </a:p>
        </p:txBody>
      </p:sp>
      <p:sp>
        <p:nvSpPr>
          <p:cNvPr id="26" name="Text 24"/>
          <p:cNvSpPr txBox="1"/>
          <p:nvPr/>
        </p:nvSpPr>
        <p:spPr>
          <a:xfrm>
            <a:off x="6498184" y="3337560"/>
            <a:ext cx="1243584"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Korban</a:t>
            </a:r>
            <a:endParaRPr lang="en-US" sz="1150" dirty="0"/>
          </a:p>
        </p:txBody>
      </p:sp>
      <p:sp>
        <p:nvSpPr>
          <p:cNvPr id="27" name="Text 25"/>
          <p:cNvSpPr txBox="1"/>
          <p:nvPr/>
        </p:nvSpPr>
        <p:spPr>
          <a:xfrm>
            <a:off x="7924648" y="3310128"/>
            <a:ext cx="3370936" cy="612648"/>
          </a:xfrm>
          <a:prstGeom prst="rect">
            <a:avLst/>
          </a:prstGeom>
          <a:noFill/>
          <a:ln/>
        </p:spPr>
        <p:txBody>
          <a:bodyPr wrap="square" lIns="0" tIns="0" rIns="0" bIns="0" rtlCol="0" anchor="t"/>
          <a:lstStyle/>
          <a:p>
            <a:pPr indent="0" marL="0">
              <a:lnSpc>
                <a:spcPts val="1450"/>
              </a:lnSpc>
              <a:buNone/>
            </a:pPr>
            <a:r>
              <a:rPr lang="en-US" sz="1100" dirty="0">
                <a:solidFill>
                  <a:srgbClr val="4A3B0E"/>
                </a:solidFill>
                <a:latin typeface="Calibri" pitchFamily="34" charset="0"/>
                <a:ea typeface="Calibri" pitchFamily="34" charset="-122"/>
                <a:cs typeface="Calibri" pitchFamily="34" charset="-120"/>
              </a:rPr>
              <a:t>107 pekerja meninggal dunia dan 155 pekerja mengalami luka</a:t>
            </a:r>
            <a:endParaRPr lang="en-US" sz="1100" dirty="0"/>
          </a:p>
        </p:txBody>
      </p:sp>
      <p:sp>
        <p:nvSpPr>
          <p:cNvPr id="28" name="Text 26"/>
          <p:cNvSpPr txBox="1"/>
          <p:nvPr/>
        </p:nvSpPr>
        <p:spPr>
          <a:xfrm>
            <a:off x="6498184" y="3986784"/>
            <a:ext cx="1243584"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24 Des 2023</a:t>
            </a:r>
            <a:endParaRPr lang="en-US" sz="1150" dirty="0"/>
          </a:p>
        </p:txBody>
      </p:sp>
      <p:sp>
        <p:nvSpPr>
          <p:cNvPr id="29" name="Text 27"/>
          <p:cNvSpPr txBox="1"/>
          <p:nvPr/>
        </p:nvSpPr>
        <p:spPr>
          <a:xfrm>
            <a:off x="7924648" y="3959352"/>
            <a:ext cx="3370936" cy="612648"/>
          </a:xfrm>
          <a:prstGeom prst="rect">
            <a:avLst/>
          </a:prstGeom>
          <a:noFill/>
          <a:ln/>
        </p:spPr>
        <p:txBody>
          <a:bodyPr wrap="square" lIns="0" tIns="0" rIns="0" bIns="0" rtlCol="0" anchor="t"/>
          <a:lstStyle/>
          <a:p>
            <a:pPr indent="0" marL="0">
              <a:lnSpc>
                <a:spcPts val="1450"/>
              </a:lnSpc>
              <a:buNone/>
            </a:pPr>
            <a:r>
              <a:rPr lang="en-US" sz="1100" dirty="0">
                <a:solidFill>
                  <a:srgbClr val="4A3B0E"/>
                </a:solidFill>
                <a:latin typeface="Calibri" pitchFamily="34" charset="0"/>
                <a:ea typeface="Calibri" pitchFamily="34" charset="-122"/>
                <a:cs typeface="Calibri" pitchFamily="34" charset="-120"/>
              </a:rPr>
              <a:t>Ledakan tungku di PT ITSS Morowali menewaskan 21 orang, terdiri atas 13 pekerja Indonesia dan 8 pekerja asing</a:t>
            </a:r>
            <a:endParaRPr lang="en-US" sz="1100" dirty="0"/>
          </a:p>
        </p:txBody>
      </p:sp>
      <p:sp>
        <p:nvSpPr>
          <p:cNvPr id="30" name="Text 28"/>
          <p:cNvSpPr txBox="1"/>
          <p:nvPr/>
        </p:nvSpPr>
        <p:spPr>
          <a:xfrm>
            <a:off x="6498184" y="4636008"/>
            <a:ext cx="1243584"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Tuntutan</a:t>
            </a:r>
            <a:endParaRPr lang="en-US" sz="1150" dirty="0"/>
          </a:p>
        </p:txBody>
      </p:sp>
      <p:sp>
        <p:nvSpPr>
          <p:cNvPr id="31" name="Text 29"/>
          <p:cNvSpPr txBox="1"/>
          <p:nvPr/>
        </p:nvSpPr>
        <p:spPr>
          <a:xfrm>
            <a:off x="7924648" y="4608576"/>
            <a:ext cx="3370936" cy="612648"/>
          </a:xfrm>
          <a:prstGeom prst="rect">
            <a:avLst/>
          </a:prstGeom>
          <a:noFill/>
          <a:ln/>
        </p:spPr>
        <p:txBody>
          <a:bodyPr wrap="square" lIns="0" tIns="0" rIns="0" bIns="0" rtlCol="0" anchor="t"/>
          <a:lstStyle/>
          <a:p>
            <a:pPr indent="0" marL="0">
              <a:lnSpc>
                <a:spcPts val="1450"/>
              </a:lnSpc>
              <a:buNone/>
            </a:pPr>
            <a:r>
              <a:rPr lang="en-US" sz="1100" dirty="0">
                <a:solidFill>
                  <a:srgbClr val="4A3B0E"/>
                </a:solidFill>
                <a:latin typeface="Calibri" pitchFamily="34" charset="0"/>
                <a:ea typeface="Calibri" pitchFamily="34" charset="-122"/>
                <a:cs typeface="Calibri" pitchFamily="34" charset="-120"/>
              </a:rPr>
              <a:t>Audit keselamatan menyeluruh, keterwakilan pekerja dalam panitia pembina K3, serta peninjauan upah dan jam kerja</a:t>
            </a:r>
            <a:endParaRPr lang="en-US" sz="1100" dirty="0"/>
          </a:p>
        </p:txBody>
      </p:sp>
      <p:sp>
        <p:nvSpPr>
          <p:cNvPr id="32" name="Shape 30"/>
          <p:cNvSpPr/>
          <p:nvPr/>
        </p:nvSpPr>
        <p:spPr>
          <a:xfrm>
            <a:off x="621792" y="5449824"/>
            <a:ext cx="10948111" cy="457200"/>
          </a:xfrm>
          <a:prstGeom prst="roundRect">
            <a:avLst>
              <a:gd name="adj" fmla="val 32000"/>
            </a:avLst>
          </a:prstGeom>
          <a:solidFill>
            <a:srgbClr val="FF5A2D"/>
          </a:solidFill>
          <a:ln/>
        </p:spPr>
      </p:sp>
      <p:sp>
        <p:nvSpPr>
          <p:cNvPr id="33" name="Text 31"/>
          <p:cNvSpPr txBox="1"/>
          <p:nvPr/>
        </p:nvSpPr>
        <p:spPr>
          <a:xfrm>
            <a:off x="941832" y="5579840"/>
            <a:ext cx="10308031" cy="310896"/>
          </a:xfrm>
          <a:prstGeom prst="rect">
            <a:avLst/>
          </a:prstGeom>
          <a:noFill/>
          <a:ln/>
        </p:spPr>
        <p:txBody>
          <a:bodyPr wrap="square" lIns="0" tIns="0" rIns="0" bIns="0" rtlCol="0" anchor="t"/>
          <a:lstStyle/>
          <a:p>
            <a:pPr indent="0" marL="0">
              <a:lnSpc>
                <a:spcPts val="1553"/>
              </a:lnSpc>
              <a:buNone/>
            </a:pPr>
            <a:r>
              <a:rPr lang="en-US" sz="1150" b="1" dirty="0">
                <a:solidFill>
                  <a:srgbClr val="FFFFFF"/>
                </a:solidFill>
                <a:latin typeface="Calibri" pitchFamily="34" charset="0"/>
                <a:ea typeface="Calibri" pitchFamily="34" charset="-122"/>
                <a:cs typeface="Calibri" pitchFamily="34" charset="-120"/>
              </a:rPr>
              <a:t>Penyerapan tenaga kerja terbesar dan angka kecelakaan kerja tertinggi berlangsung di kawasan yang sama.</a:t>
            </a:r>
            <a:endParaRPr lang="en-US" sz="1150" dirty="0"/>
          </a:p>
        </p:txBody>
      </p:sp>
      <p:sp>
        <p:nvSpPr>
          <p:cNvPr id="34" name="Text 32"/>
          <p:cNvSpPr txBox="1"/>
          <p:nvPr/>
        </p:nvSpPr>
        <p:spPr>
          <a:xfrm>
            <a:off x="621792" y="6053328"/>
            <a:ext cx="10948111" cy="256032"/>
          </a:xfrm>
          <a:prstGeom prst="rect">
            <a:avLst/>
          </a:prstGeom>
          <a:noFill/>
          <a:ln/>
        </p:spPr>
        <p:txBody>
          <a:bodyPr wrap="square" lIns="0" tIns="0" rIns="0" bIns="0" rtlCol="0" anchor="t"/>
          <a:lstStyle/>
          <a:p>
            <a:pPr indent="0" marL="0">
              <a:buNone/>
            </a:pPr>
            <a:r>
              <a:rPr lang="en-US" sz="1000" i="1" dirty="0">
                <a:solidFill>
                  <a:srgbClr val="6B7A90"/>
                </a:solidFill>
                <a:latin typeface="Calibri" pitchFamily="34" charset="0"/>
                <a:ea typeface="Calibri" pitchFamily="34" charset="-122"/>
                <a:cs typeface="Calibri" pitchFamily="34" charset="-120"/>
              </a:rPr>
              <a:t>Serikat pekerja nasional, organisasi pemantau keselamatan smelter, dan pemberitaan resmi kecelakaan kerja.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053389"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053389"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FAKTA 03</a:t>
            </a:r>
            <a:endParaRPr lang="en-US" sz="950" dirty="0"/>
          </a:p>
        </p:txBody>
      </p:sp>
      <p:sp>
        <p:nvSpPr>
          <p:cNvPr id="5" name="Shape 3"/>
          <p:cNvSpPr/>
          <p:nvPr/>
        </p:nvSpPr>
        <p:spPr>
          <a:xfrm>
            <a:off x="1794053" y="457200"/>
            <a:ext cx="1777594"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94053" y="457200"/>
            <a:ext cx="177759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ENERGI DAN HUTAN</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06</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Beban Ekologis Kawasan</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Pengolahan nikel bertumpu pada pembangkit batu bara di dalam kawasan.</a:t>
            </a:r>
            <a:endParaRPr lang="en-US" sz="1350" dirty="0"/>
          </a:p>
        </p:txBody>
      </p:sp>
      <p:sp>
        <p:nvSpPr>
          <p:cNvPr id="10" name="Shape 8"/>
          <p:cNvSpPr/>
          <p:nvPr/>
        </p:nvSpPr>
        <p:spPr>
          <a:xfrm>
            <a:off x="621792" y="1975104"/>
            <a:ext cx="2599868" cy="1975104"/>
          </a:xfrm>
          <a:prstGeom prst="roundRect">
            <a:avLst>
              <a:gd name="adj" fmla="val 7407"/>
            </a:avLst>
          </a:prstGeom>
          <a:solidFill>
            <a:srgbClr val="0E1626"/>
          </a:solidFill>
          <a:ln/>
        </p:spPr>
      </p:sp>
      <p:sp>
        <p:nvSpPr>
          <p:cNvPr id="11" name="Text 9"/>
          <p:cNvSpPr txBox="1"/>
          <p:nvPr/>
        </p:nvSpPr>
        <p:spPr>
          <a:xfrm>
            <a:off x="841248" y="2194560"/>
            <a:ext cx="2160956"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16,6</a:t>
            </a:r>
            <a:pPr indent="0" marL="0">
              <a:buNone/>
            </a:pPr>
            <a:r>
              <a:rPr lang="en-US" sz="1344" b="1" dirty="0">
                <a:solidFill>
                  <a:srgbClr val="FFFFFF"/>
                </a:solidFill>
                <a:latin typeface="Calibri" pitchFamily="34" charset="0"/>
                <a:ea typeface="Calibri" pitchFamily="34" charset="-122"/>
                <a:cs typeface="Calibri" pitchFamily="34" charset="-120"/>
              </a:rPr>
              <a:t>  GW</a:t>
            </a:r>
            <a:endParaRPr lang="en-US" sz="3200" dirty="0"/>
          </a:p>
        </p:txBody>
      </p:sp>
      <p:sp>
        <p:nvSpPr>
          <p:cNvPr id="12" name="Text 10"/>
          <p:cNvSpPr txBox="1"/>
          <p:nvPr/>
        </p:nvSpPr>
        <p:spPr>
          <a:xfrm>
            <a:off x="841248" y="2834640"/>
            <a:ext cx="2160956" cy="932688"/>
          </a:xfrm>
          <a:prstGeom prst="rect">
            <a:avLst/>
          </a:prstGeom>
          <a:noFill/>
          <a:ln/>
        </p:spPr>
        <p:txBody>
          <a:bodyPr wrap="square" lIns="0" tIns="0" rIns="0" bIns="0" rtlCol="0" anchor="t"/>
          <a:lstStyle/>
          <a:p>
            <a:pPr indent="0" marL="0">
              <a:lnSpc>
                <a:spcPts val="1540"/>
              </a:lnSpc>
              <a:buNone/>
            </a:pPr>
            <a:r>
              <a:rPr lang="en-US" sz="1100" dirty="0">
                <a:solidFill>
                  <a:srgbClr val="E8E4DC"/>
                </a:solidFill>
                <a:latin typeface="Calibri" pitchFamily="34" charset="0"/>
                <a:ea typeface="Calibri" pitchFamily="34" charset="-122"/>
                <a:cs typeface="Calibri" pitchFamily="34" charset="-120"/>
              </a:rPr>
              <a:t>Kapasitas PLTU captive nasional pada 2024, dari 5,5 GW pada 2019</a:t>
            </a:r>
            <a:endParaRPr lang="en-US" sz="1100" dirty="0"/>
          </a:p>
        </p:txBody>
      </p:sp>
      <p:sp>
        <p:nvSpPr>
          <p:cNvPr id="13" name="Shape 11"/>
          <p:cNvSpPr/>
          <p:nvPr/>
        </p:nvSpPr>
        <p:spPr>
          <a:xfrm>
            <a:off x="3404540" y="1975104"/>
            <a:ext cx="2599868" cy="1975104"/>
          </a:xfrm>
          <a:prstGeom prst="roundRect">
            <a:avLst>
              <a:gd name="adj" fmla="val 7407"/>
            </a:avLst>
          </a:prstGeom>
          <a:solidFill>
            <a:srgbClr val="FF5A2D"/>
          </a:solidFill>
          <a:ln/>
        </p:spPr>
      </p:sp>
      <p:sp>
        <p:nvSpPr>
          <p:cNvPr id="14" name="Text 12"/>
          <p:cNvSpPr txBox="1"/>
          <p:nvPr/>
        </p:nvSpPr>
        <p:spPr>
          <a:xfrm>
            <a:off x="3623996" y="2194560"/>
            <a:ext cx="2160956"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76</a:t>
            </a:r>
            <a:pPr indent="0" marL="0">
              <a:buNone/>
            </a:pPr>
            <a:r>
              <a:rPr lang="en-US" sz="1344" b="1" dirty="0">
                <a:solidFill>
                  <a:srgbClr val="FFFFFF"/>
                </a:solidFill>
                <a:latin typeface="Calibri" pitchFamily="34" charset="0"/>
                <a:ea typeface="Calibri" pitchFamily="34" charset="-122"/>
                <a:cs typeface="Calibri" pitchFamily="34" charset="-120"/>
              </a:rPr>
              <a:t>  %</a:t>
            </a:r>
            <a:endParaRPr lang="en-US" sz="3200" dirty="0"/>
          </a:p>
        </p:txBody>
      </p:sp>
      <p:sp>
        <p:nvSpPr>
          <p:cNvPr id="15" name="Text 13"/>
          <p:cNvSpPr txBox="1"/>
          <p:nvPr/>
        </p:nvSpPr>
        <p:spPr>
          <a:xfrm>
            <a:off x="3623996" y="2834640"/>
            <a:ext cx="2160956" cy="932688"/>
          </a:xfrm>
          <a:prstGeom prst="rect">
            <a:avLst/>
          </a:prstGeom>
          <a:noFill/>
          <a:ln/>
        </p:spPr>
        <p:txBody>
          <a:bodyPr wrap="square" lIns="0" tIns="0" rIns="0" bIns="0" rtlCol="0" anchor="t"/>
          <a:lstStyle/>
          <a:p>
            <a:pPr indent="0" marL="0">
              <a:lnSpc>
                <a:spcPts val="1540"/>
              </a:lnSpc>
              <a:buNone/>
            </a:pPr>
            <a:r>
              <a:rPr lang="en-US" sz="1100" dirty="0">
                <a:solidFill>
                  <a:srgbClr val="E8E4DC"/>
                </a:solidFill>
                <a:latin typeface="Calibri" pitchFamily="34" charset="0"/>
                <a:ea typeface="Calibri" pitchFamily="34" charset="-122"/>
                <a:cs typeface="Calibri" pitchFamily="34" charset="-120"/>
              </a:rPr>
              <a:t>Porsi industri nikel dalam seluruh kapasitas PLTU captive nasional</a:t>
            </a:r>
            <a:endParaRPr lang="en-US" sz="1100" dirty="0"/>
          </a:p>
        </p:txBody>
      </p:sp>
      <p:sp>
        <p:nvSpPr>
          <p:cNvPr id="16" name="Shape 14"/>
          <p:cNvSpPr/>
          <p:nvPr/>
        </p:nvSpPr>
        <p:spPr>
          <a:xfrm>
            <a:off x="6187288" y="1975104"/>
            <a:ext cx="2599868" cy="1975104"/>
          </a:xfrm>
          <a:prstGeom prst="roundRect">
            <a:avLst>
              <a:gd name="adj" fmla="val 7407"/>
            </a:avLst>
          </a:prstGeom>
          <a:solidFill>
            <a:srgbClr val="F5B722"/>
          </a:solidFill>
          <a:ln/>
        </p:spPr>
      </p:sp>
      <p:sp>
        <p:nvSpPr>
          <p:cNvPr id="17" name="Text 15"/>
          <p:cNvSpPr txBox="1"/>
          <p:nvPr/>
        </p:nvSpPr>
        <p:spPr>
          <a:xfrm>
            <a:off x="6406744" y="2194560"/>
            <a:ext cx="2160956" cy="566928"/>
          </a:xfrm>
          <a:prstGeom prst="rect">
            <a:avLst/>
          </a:prstGeom>
          <a:noFill/>
          <a:ln/>
        </p:spPr>
        <p:txBody>
          <a:bodyPr wrap="square" lIns="0" tIns="0" rIns="0" bIns="0" rtlCol="0" anchor="t"/>
          <a:lstStyle/>
          <a:p>
            <a:pPr indent="0" marL="0">
              <a:buNone/>
            </a:pPr>
            <a:r>
              <a:rPr lang="en-US" sz="3200" b="1" dirty="0">
                <a:solidFill>
                  <a:srgbClr val="0E1626"/>
                </a:solidFill>
                <a:latin typeface="Calibri" pitchFamily="34" charset="0"/>
                <a:ea typeface="Calibri" pitchFamily="34" charset="-122"/>
                <a:cs typeface="Calibri" pitchFamily="34" charset="-120"/>
              </a:rPr>
              <a:t>22</a:t>
            </a:r>
            <a:pPr indent="0" marL="0">
              <a:buNone/>
            </a:pPr>
            <a:r>
              <a:rPr lang="en-US" sz="1344" b="1" dirty="0">
                <a:solidFill>
                  <a:srgbClr val="0E1626"/>
                </a:solidFill>
                <a:latin typeface="Calibri" pitchFamily="34" charset="0"/>
                <a:ea typeface="Calibri" pitchFamily="34" charset="-122"/>
                <a:cs typeface="Calibri" pitchFamily="34" charset="-120"/>
              </a:rPr>
              <a:t>  %</a:t>
            </a:r>
            <a:endParaRPr lang="en-US" sz="3200" dirty="0"/>
          </a:p>
        </p:txBody>
      </p:sp>
      <p:sp>
        <p:nvSpPr>
          <p:cNvPr id="18" name="Text 16"/>
          <p:cNvSpPr txBox="1"/>
          <p:nvPr/>
        </p:nvSpPr>
        <p:spPr>
          <a:xfrm>
            <a:off x="6406744" y="2834640"/>
            <a:ext cx="2160956" cy="932688"/>
          </a:xfrm>
          <a:prstGeom prst="rect">
            <a:avLst/>
          </a:prstGeom>
          <a:noFill/>
          <a:ln/>
        </p:spPr>
        <p:txBody>
          <a:bodyPr wrap="square" lIns="0" tIns="0" rIns="0" bIns="0" rtlCol="0" anchor="t"/>
          <a:lstStyle/>
          <a:p>
            <a:pPr indent="0" marL="0">
              <a:lnSpc>
                <a:spcPts val="1540"/>
              </a:lnSpc>
              <a:buNone/>
            </a:pPr>
            <a:r>
              <a:rPr lang="en-US" sz="1100" dirty="0">
                <a:solidFill>
                  <a:srgbClr val="2A3243"/>
                </a:solidFill>
                <a:latin typeface="Calibri" pitchFamily="34" charset="0"/>
                <a:ea typeface="Calibri" pitchFamily="34" charset="-122"/>
                <a:cs typeface="Calibri" pitchFamily="34" charset="-120"/>
              </a:rPr>
              <a:t>Porsi pengolahan nikel 2023 dalam emisi energi dan proses industri nasional</a:t>
            </a:r>
            <a:endParaRPr lang="en-US" sz="1100" dirty="0"/>
          </a:p>
        </p:txBody>
      </p:sp>
      <p:sp>
        <p:nvSpPr>
          <p:cNvPr id="19" name="Shape 17"/>
          <p:cNvSpPr/>
          <p:nvPr/>
        </p:nvSpPr>
        <p:spPr>
          <a:xfrm>
            <a:off x="8970035" y="1975104"/>
            <a:ext cx="2599868" cy="1975104"/>
          </a:xfrm>
          <a:prstGeom prst="roundRect">
            <a:avLst>
              <a:gd name="adj" fmla="val 7407"/>
            </a:avLst>
          </a:prstGeom>
          <a:solidFill>
            <a:srgbClr val="0FA98E"/>
          </a:solidFill>
          <a:ln/>
        </p:spPr>
      </p:sp>
      <p:sp>
        <p:nvSpPr>
          <p:cNvPr id="20" name="Text 18"/>
          <p:cNvSpPr txBox="1"/>
          <p:nvPr/>
        </p:nvSpPr>
        <p:spPr>
          <a:xfrm>
            <a:off x="9189491" y="2194560"/>
            <a:ext cx="2160956" cy="56692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163</a:t>
            </a:r>
            <a:pPr indent="0" marL="0">
              <a:buNone/>
            </a:pPr>
            <a:r>
              <a:rPr lang="en-US" sz="1344" b="1" dirty="0">
                <a:solidFill>
                  <a:srgbClr val="FFFFFF"/>
                </a:solidFill>
                <a:latin typeface="Calibri" pitchFamily="34" charset="0"/>
                <a:ea typeface="Calibri" pitchFamily="34" charset="-122"/>
                <a:cs typeface="Calibri" pitchFamily="34" charset="-120"/>
              </a:rPr>
              <a:t>  ribu ha</a:t>
            </a:r>
            <a:endParaRPr lang="en-US" sz="3200" dirty="0"/>
          </a:p>
        </p:txBody>
      </p:sp>
      <p:sp>
        <p:nvSpPr>
          <p:cNvPr id="21" name="Text 19"/>
          <p:cNvSpPr txBox="1"/>
          <p:nvPr/>
        </p:nvSpPr>
        <p:spPr>
          <a:xfrm>
            <a:off x="9189491" y="2834640"/>
            <a:ext cx="2160956" cy="932688"/>
          </a:xfrm>
          <a:prstGeom prst="rect">
            <a:avLst/>
          </a:prstGeom>
          <a:noFill/>
          <a:ln/>
        </p:spPr>
        <p:txBody>
          <a:bodyPr wrap="square" lIns="0" tIns="0" rIns="0" bIns="0" rtlCol="0" anchor="t"/>
          <a:lstStyle/>
          <a:p>
            <a:pPr indent="0" marL="0">
              <a:lnSpc>
                <a:spcPts val="1540"/>
              </a:lnSpc>
              <a:buNone/>
            </a:pPr>
            <a:r>
              <a:rPr lang="en-US" sz="1100" dirty="0">
                <a:solidFill>
                  <a:srgbClr val="E8E4DC"/>
                </a:solidFill>
                <a:latin typeface="Calibri" pitchFamily="34" charset="0"/>
                <a:ea typeface="Calibri" pitchFamily="34" charset="-122"/>
                <a:cs typeface="Calibri" pitchFamily="34" charset="-120"/>
              </a:rPr>
              <a:t>Tutupan pohon hilang di tiga kabupaten Halmahera sepanjang 2001 sampai 2023</a:t>
            </a:r>
            <a:endParaRPr lang="en-US" sz="1100" dirty="0"/>
          </a:p>
        </p:txBody>
      </p:sp>
      <p:sp>
        <p:nvSpPr>
          <p:cNvPr id="22" name="Shape 20"/>
          <p:cNvSpPr/>
          <p:nvPr/>
        </p:nvSpPr>
        <p:spPr>
          <a:xfrm>
            <a:off x="621792" y="4279392"/>
            <a:ext cx="146304" cy="146304"/>
          </a:xfrm>
          <a:prstGeom prst="rect">
            <a:avLst/>
          </a:prstGeom>
          <a:solidFill>
            <a:srgbClr val="0FA98E"/>
          </a:solidFill>
          <a:ln/>
        </p:spPr>
      </p:sp>
      <p:sp>
        <p:nvSpPr>
          <p:cNvPr id="23" name="Text 21"/>
          <p:cNvSpPr txBox="1"/>
          <p:nvPr/>
        </p:nvSpPr>
        <p:spPr>
          <a:xfrm>
            <a:off x="914400" y="4169664"/>
            <a:ext cx="1591056" cy="329184"/>
          </a:xfrm>
          <a:prstGeom prst="rect">
            <a:avLst/>
          </a:prstGeom>
          <a:noFill/>
          <a:ln/>
        </p:spPr>
        <p:txBody>
          <a:bodyPr wrap="square" lIns="0" tIns="0" rIns="0" bIns="0" rtlCol="0" anchor="t"/>
          <a:lstStyle/>
          <a:p>
            <a:pPr indent="0" marL="0">
              <a:buNone/>
            </a:pPr>
            <a:r>
              <a:rPr lang="en-US" sz="1050" b="1" dirty="0">
                <a:solidFill>
                  <a:srgbClr val="0F766A"/>
                </a:solidFill>
                <a:latin typeface="Courier New" pitchFamily="34" charset="0"/>
                <a:ea typeface="Courier New" pitchFamily="34" charset="-122"/>
                <a:cs typeface="Courier New" pitchFamily="34" charset="-120"/>
              </a:rPr>
              <a:t>Rincian Hutan</a:t>
            </a:r>
            <a:endParaRPr lang="en-US" sz="1050" dirty="0"/>
          </a:p>
        </p:txBody>
      </p:sp>
      <p:sp>
        <p:nvSpPr>
          <p:cNvPr id="24" name="Text 22"/>
          <p:cNvSpPr txBox="1"/>
          <p:nvPr/>
        </p:nvSpPr>
        <p:spPr>
          <a:xfrm>
            <a:off x="2651760" y="4169664"/>
            <a:ext cx="8918143" cy="493776"/>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Halmahera Selatan 79.000 hektare, Halmahera Timur 56.300 hektare, dan Halmahera Tengah 27.900 hektare</a:t>
            </a:r>
            <a:endParaRPr lang="en-US" sz="1150" dirty="0"/>
          </a:p>
        </p:txBody>
      </p:sp>
      <p:sp>
        <p:nvSpPr>
          <p:cNvPr id="25" name="Shape 23"/>
          <p:cNvSpPr/>
          <p:nvPr/>
        </p:nvSpPr>
        <p:spPr>
          <a:xfrm>
            <a:off x="621792" y="4828032"/>
            <a:ext cx="146304" cy="146304"/>
          </a:xfrm>
          <a:prstGeom prst="rect">
            <a:avLst/>
          </a:prstGeom>
          <a:solidFill>
            <a:srgbClr val="0FA98E"/>
          </a:solidFill>
          <a:ln/>
        </p:spPr>
      </p:sp>
      <p:sp>
        <p:nvSpPr>
          <p:cNvPr id="26" name="Text 24"/>
          <p:cNvSpPr txBox="1"/>
          <p:nvPr/>
        </p:nvSpPr>
        <p:spPr>
          <a:xfrm>
            <a:off x="914400" y="4718304"/>
            <a:ext cx="1591056" cy="329184"/>
          </a:xfrm>
          <a:prstGeom prst="rect">
            <a:avLst/>
          </a:prstGeom>
          <a:noFill/>
          <a:ln/>
        </p:spPr>
        <p:txBody>
          <a:bodyPr wrap="square" lIns="0" tIns="0" rIns="0" bIns="0" rtlCol="0" anchor="t"/>
          <a:lstStyle/>
          <a:p>
            <a:pPr indent="0" marL="0">
              <a:buNone/>
            </a:pPr>
            <a:r>
              <a:rPr lang="en-US" sz="1050" b="1" dirty="0">
                <a:solidFill>
                  <a:srgbClr val="0F766A"/>
                </a:solidFill>
                <a:latin typeface="Courier New" pitchFamily="34" charset="0"/>
                <a:ea typeface="Courier New" pitchFamily="34" charset="-122"/>
                <a:cs typeface="Courier New" pitchFamily="34" charset="-120"/>
              </a:rPr>
              <a:t>Rencana Baru</a:t>
            </a:r>
            <a:endParaRPr lang="en-US" sz="1050" dirty="0"/>
          </a:p>
        </p:txBody>
      </p:sp>
      <p:sp>
        <p:nvSpPr>
          <p:cNvPr id="27" name="Text 25"/>
          <p:cNvSpPr txBox="1"/>
          <p:nvPr/>
        </p:nvSpPr>
        <p:spPr>
          <a:xfrm>
            <a:off x="2651760" y="4718304"/>
            <a:ext cx="8918143" cy="493776"/>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Sebanyak 13 dari 18 gigawatt rencana pembangkit batu bara baru dirancang untuk melayani industri nikel</a:t>
            </a:r>
            <a:endParaRPr lang="en-US" sz="1150" dirty="0"/>
          </a:p>
        </p:txBody>
      </p:sp>
      <p:sp>
        <p:nvSpPr>
          <p:cNvPr id="28" name="Shape 26"/>
          <p:cNvSpPr/>
          <p:nvPr/>
        </p:nvSpPr>
        <p:spPr>
          <a:xfrm>
            <a:off x="621792" y="5376672"/>
            <a:ext cx="146304" cy="146304"/>
          </a:xfrm>
          <a:prstGeom prst="rect">
            <a:avLst/>
          </a:prstGeom>
          <a:solidFill>
            <a:srgbClr val="0FA98E"/>
          </a:solidFill>
          <a:ln/>
        </p:spPr>
      </p:sp>
      <p:sp>
        <p:nvSpPr>
          <p:cNvPr id="29" name="Text 27"/>
          <p:cNvSpPr txBox="1"/>
          <p:nvPr/>
        </p:nvSpPr>
        <p:spPr>
          <a:xfrm>
            <a:off x="914400" y="5266944"/>
            <a:ext cx="1591056" cy="329184"/>
          </a:xfrm>
          <a:prstGeom prst="rect">
            <a:avLst/>
          </a:prstGeom>
          <a:noFill/>
          <a:ln/>
        </p:spPr>
        <p:txBody>
          <a:bodyPr wrap="square" lIns="0" tIns="0" rIns="0" bIns="0" rtlCol="0" anchor="t"/>
          <a:lstStyle/>
          <a:p>
            <a:pPr indent="0" marL="0">
              <a:buNone/>
            </a:pPr>
            <a:r>
              <a:rPr lang="en-US" sz="1050" b="1" dirty="0">
                <a:solidFill>
                  <a:srgbClr val="0F766A"/>
                </a:solidFill>
                <a:latin typeface="Courier New" pitchFamily="34" charset="0"/>
                <a:ea typeface="Courier New" pitchFamily="34" charset="-122"/>
                <a:cs typeface="Courier New" pitchFamily="34" charset="-120"/>
              </a:rPr>
              <a:t>Konsekuensi</a:t>
            </a:r>
            <a:endParaRPr lang="en-US" sz="1050" dirty="0"/>
          </a:p>
        </p:txBody>
      </p:sp>
      <p:sp>
        <p:nvSpPr>
          <p:cNvPr id="30" name="Text 28"/>
          <p:cNvSpPr txBox="1"/>
          <p:nvPr/>
        </p:nvSpPr>
        <p:spPr>
          <a:xfrm>
            <a:off x="2651760" y="5266944"/>
            <a:ext cx="8918143" cy="493776"/>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Kapasitas batu bara yang dibangun hari ini mengunci emisi selama tiga dekade masa pakai pembangkitnya</a:t>
            </a:r>
            <a:endParaRPr lang="en-US" sz="1150" dirty="0"/>
          </a:p>
        </p:txBody>
      </p:sp>
      <p:sp>
        <p:nvSpPr>
          <p:cNvPr id="31" name="Text 29"/>
          <p:cNvSpPr txBox="1"/>
          <p:nvPr/>
        </p:nvSpPr>
        <p:spPr>
          <a:xfrm>
            <a:off x="621792" y="5888736"/>
            <a:ext cx="10948111" cy="256032"/>
          </a:xfrm>
          <a:prstGeom prst="rect">
            <a:avLst/>
          </a:prstGeom>
          <a:noFill/>
          <a:ln/>
        </p:spPr>
        <p:txBody>
          <a:bodyPr wrap="square" lIns="0" tIns="0" rIns="0" bIns="0" rtlCol="0" anchor="t"/>
          <a:lstStyle/>
          <a:p>
            <a:pPr indent="0" marL="0">
              <a:buNone/>
            </a:pPr>
            <a:r>
              <a:rPr lang="en-US" sz="1000" i="1" dirty="0">
                <a:solidFill>
                  <a:srgbClr val="6B7A90"/>
                </a:solidFill>
                <a:latin typeface="Calibri" pitchFamily="34" charset="0"/>
                <a:ea typeface="Calibri" pitchFamily="34" charset="-122"/>
                <a:cs typeface="Calibri" pitchFamily="34" charset="-120"/>
              </a:rPr>
              <a:t>Global Forest Watch, lembaga pemantau energi dan iklim, serta organisasi kajian energi dan lingkungan Indonesia.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053389"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053389"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FAKTA 04</a:t>
            </a:r>
            <a:endParaRPr lang="en-US" sz="950" dirty="0"/>
          </a:p>
        </p:txBody>
      </p:sp>
      <p:sp>
        <p:nvSpPr>
          <p:cNvPr id="5" name="Shape 3"/>
          <p:cNvSpPr/>
          <p:nvPr/>
        </p:nvSpPr>
        <p:spPr>
          <a:xfrm>
            <a:off x="1794053" y="457200"/>
            <a:ext cx="1868119"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94053" y="457200"/>
            <a:ext cx="1868119"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AIR DAN KESEHATAN</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07</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Beban Hidrologis dan Kesehatan</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Akibat yang tidak pernah masuk ke dalam neraca ekspor.</a:t>
            </a:r>
            <a:endParaRPr lang="en-US" sz="1350" dirty="0"/>
          </a:p>
        </p:txBody>
      </p:sp>
      <p:sp>
        <p:nvSpPr>
          <p:cNvPr id="10" name="Shape 8"/>
          <p:cNvSpPr/>
          <p:nvPr/>
        </p:nvSpPr>
        <p:spPr>
          <a:xfrm>
            <a:off x="621792" y="1975104"/>
            <a:ext cx="5346040" cy="3200400"/>
          </a:xfrm>
          <a:prstGeom prst="roundRect">
            <a:avLst>
              <a:gd name="adj" fmla="val 4571"/>
            </a:avLst>
          </a:prstGeom>
          <a:solidFill>
            <a:srgbClr val="FFFFFF"/>
          </a:solidFill>
          <a:ln w="12700">
            <a:solidFill>
              <a:srgbClr val="DDD8CE"/>
            </a:solidFill>
            <a:prstDash val="solid"/>
          </a:ln>
        </p:spPr>
      </p:sp>
      <p:sp>
        <p:nvSpPr>
          <p:cNvPr id="11" name="Text 9"/>
          <p:cNvSpPr txBox="1"/>
          <p:nvPr/>
        </p:nvSpPr>
        <p:spPr>
          <a:xfrm>
            <a:off x="914400" y="2212848"/>
            <a:ext cx="4760824" cy="237744"/>
          </a:xfrm>
          <a:prstGeom prst="rect">
            <a:avLst/>
          </a:prstGeom>
          <a:noFill/>
          <a:ln/>
        </p:spPr>
        <p:txBody>
          <a:bodyPr wrap="square" lIns="0" tIns="0" rIns="0" bIns="0" rtlCol="0" anchor="t"/>
          <a:lstStyle/>
          <a:p>
            <a:pPr indent="0" marL="0">
              <a:buNone/>
            </a:pPr>
            <a:r>
              <a:rPr lang="en-US" sz="950" b="1" spc="100" kern="0" dirty="0">
                <a:solidFill>
                  <a:srgbClr val="6B7A90"/>
                </a:solidFill>
                <a:latin typeface="Calibri" pitchFamily="34" charset="0"/>
                <a:ea typeface="Calibri" pitchFamily="34" charset="-122"/>
                <a:cs typeface="Calibri" pitchFamily="34" charset="-120"/>
              </a:rPr>
              <a:t>KUALITAS AIR</a:t>
            </a:r>
            <a:endParaRPr lang="en-US" sz="950" dirty="0"/>
          </a:p>
        </p:txBody>
      </p:sp>
      <p:sp>
        <p:nvSpPr>
          <p:cNvPr id="12" name="Text 10"/>
          <p:cNvSpPr txBox="1"/>
          <p:nvPr/>
        </p:nvSpPr>
        <p:spPr>
          <a:xfrm>
            <a:off x="914400" y="2487168"/>
            <a:ext cx="4760824" cy="329184"/>
          </a:xfrm>
          <a:prstGeom prst="rect">
            <a:avLst/>
          </a:prstGeom>
          <a:noFill/>
          <a:ln/>
        </p:spPr>
        <p:txBody>
          <a:bodyPr wrap="square" lIns="0" tIns="0" rIns="0" bIns="0" rtlCol="0" anchor="t"/>
          <a:lstStyle/>
          <a:p>
            <a:pPr indent="0" marL="0">
              <a:buNone/>
            </a:pPr>
            <a:r>
              <a:rPr lang="en-US" sz="1600" b="1" dirty="0">
                <a:solidFill>
                  <a:srgbClr val="0E1626"/>
                </a:solidFill>
                <a:latin typeface="Calibri" pitchFamily="34" charset="0"/>
                <a:ea typeface="Calibri" pitchFamily="34" charset="-122"/>
                <a:cs typeface="Calibri" pitchFamily="34" charset="-120"/>
              </a:rPr>
              <a:t>Sungai di Sekitar Kawasan Weda Bay</a:t>
            </a:r>
            <a:endParaRPr lang="en-US" sz="1600" dirty="0"/>
          </a:p>
        </p:txBody>
      </p:sp>
      <p:sp>
        <p:nvSpPr>
          <p:cNvPr id="13" name="Shape 11"/>
          <p:cNvSpPr/>
          <p:nvPr/>
        </p:nvSpPr>
        <p:spPr>
          <a:xfrm>
            <a:off x="914400" y="3035808"/>
            <a:ext cx="146304" cy="146304"/>
          </a:xfrm>
          <a:prstGeom prst="rect">
            <a:avLst/>
          </a:prstGeom>
          <a:solidFill>
            <a:srgbClr val="0FA98E"/>
          </a:solidFill>
          <a:ln/>
        </p:spPr>
      </p:sp>
      <p:sp>
        <p:nvSpPr>
          <p:cNvPr id="14" name="Text 12"/>
          <p:cNvSpPr txBox="1"/>
          <p:nvPr/>
        </p:nvSpPr>
        <p:spPr>
          <a:xfrm>
            <a:off x="1207008" y="2926080"/>
            <a:ext cx="1207008" cy="329184"/>
          </a:xfrm>
          <a:prstGeom prst="rect">
            <a:avLst/>
          </a:prstGeom>
          <a:noFill/>
          <a:ln/>
        </p:spPr>
        <p:txBody>
          <a:bodyPr wrap="square" lIns="0" tIns="0" rIns="0" bIns="0" rtlCol="0" anchor="t"/>
          <a:lstStyle/>
          <a:p>
            <a:pPr indent="0" marL="0">
              <a:buNone/>
            </a:pPr>
            <a:r>
              <a:rPr lang="en-US" sz="1050" b="1" dirty="0">
                <a:solidFill>
                  <a:srgbClr val="0F766A"/>
                </a:solidFill>
                <a:latin typeface="Courier New" pitchFamily="34" charset="0"/>
                <a:ea typeface="Courier New" pitchFamily="34" charset="-122"/>
                <a:cs typeface="Courier New" pitchFamily="34" charset="-120"/>
              </a:rPr>
              <a:t>Ake Jira</a:t>
            </a:r>
            <a:endParaRPr lang="en-US" sz="1050" dirty="0"/>
          </a:p>
        </p:txBody>
      </p:sp>
      <p:sp>
        <p:nvSpPr>
          <p:cNvPr id="15" name="Text 13"/>
          <p:cNvSpPr txBox="1"/>
          <p:nvPr/>
        </p:nvSpPr>
        <p:spPr>
          <a:xfrm>
            <a:off x="2560320" y="2926080"/>
            <a:ext cx="3114904" cy="621792"/>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Dinyatakan tidak layak dipakai warga; parameter kualitasnya melampaui baku mutu sungai kelas satu</a:t>
            </a:r>
            <a:endParaRPr lang="en-US" sz="1150" dirty="0"/>
          </a:p>
        </p:txBody>
      </p:sp>
      <p:sp>
        <p:nvSpPr>
          <p:cNvPr id="16" name="Shape 14"/>
          <p:cNvSpPr/>
          <p:nvPr/>
        </p:nvSpPr>
        <p:spPr>
          <a:xfrm>
            <a:off x="914400" y="3712464"/>
            <a:ext cx="146304" cy="146304"/>
          </a:xfrm>
          <a:prstGeom prst="rect">
            <a:avLst/>
          </a:prstGeom>
          <a:solidFill>
            <a:srgbClr val="0FA98E"/>
          </a:solidFill>
          <a:ln/>
        </p:spPr>
      </p:sp>
      <p:sp>
        <p:nvSpPr>
          <p:cNvPr id="17" name="Text 15"/>
          <p:cNvSpPr txBox="1"/>
          <p:nvPr/>
        </p:nvSpPr>
        <p:spPr>
          <a:xfrm>
            <a:off x="1207008" y="3602736"/>
            <a:ext cx="1207008" cy="329184"/>
          </a:xfrm>
          <a:prstGeom prst="rect">
            <a:avLst/>
          </a:prstGeom>
          <a:noFill/>
          <a:ln/>
        </p:spPr>
        <p:txBody>
          <a:bodyPr wrap="square" lIns="0" tIns="0" rIns="0" bIns="0" rtlCol="0" anchor="t"/>
          <a:lstStyle/>
          <a:p>
            <a:pPr indent="0" marL="0">
              <a:buNone/>
            </a:pPr>
            <a:r>
              <a:rPr lang="en-US" sz="1050" b="1" dirty="0">
                <a:solidFill>
                  <a:srgbClr val="0F766A"/>
                </a:solidFill>
                <a:latin typeface="Courier New" pitchFamily="34" charset="0"/>
                <a:ea typeface="Courier New" pitchFamily="34" charset="-122"/>
                <a:cs typeface="Courier New" pitchFamily="34" charset="-120"/>
              </a:rPr>
              <a:t>Nikel terlarut</a:t>
            </a:r>
            <a:endParaRPr lang="en-US" sz="1050" dirty="0"/>
          </a:p>
        </p:txBody>
      </p:sp>
      <p:sp>
        <p:nvSpPr>
          <p:cNvPr id="18" name="Text 16"/>
          <p:cNvSpPr txBox="1"/>
          <p:nvPr/>
        </p:nvSpPr>
        <p:spPr>
          <a:xfrm>
            <a:off x="2560320" y="3602736"/>
            <a:ext cx="3114904" cy="621792"/>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Terukur 0,0474 miligram per liter di Sungai Sagea pada pengujian 2024</a:t>
            </a:r>
            <a:endParaRPr lang="en-US" sz="1150" dirty="0"/>
          </a:p>
        </p:txBody>
      </p:sp>
      <p:sp>
        <p:nvSpPr>
          <p:cNvPr id="19" name="Shape 17"/>
          <p:cNvSpPr/>
          <p:nvPr/>
        </p:nvSpPr>
        <p:spPr>
          <a:xfrm>
            <a:off x="914400" y="4389120"/>
            <a:ext cx="146304" cy="146304"/>
          </a:xfrm>
          <a:prstGeom prst="rect">
            <a:avLst/>
          </a:prstGeom>
          <a:solidFill>
            <a:srgbClr val="0FA98E"/>
          </a:solidFill>
          <a:ln/>
        </p:spPr>
      </p:sp>
      <p:sp>
        <p:nvSpPr>
          <p:cNvPr id="20" name="Text 18"/>
          <p:cNvSpPr txBox="1"/>
          <p:nvPr/>
        </p:nvSpPr>
        <p:spPr>
          <a:xfrm>
            <a:off x="1207008" y="4279392"/>
            <a:ext cx="1207008" cy="329184"/>
          </a:xfrm>
          <a:prstGeom prst="rect">
            <a:avLst/>
          </a:prstGeom>
          <a:noFill/>
          <a:ln/>
        </p:spPr>
        <p:txBody>
          <a:bodyPr wrap="square" lIns="0" tIns="0" rIns="0" bIns="0" rtlCol="0" anchor="t"/>
          <a:lstStyle/>
          <a:p>
            <a:pPr indent="0" marL="0">
              <a:buNone/>
            </a:pPr>
            <a:r>
              <a:rPr lang="en-US" sz="1050" b="1" dirty="0">
                <a:solidFill>
                  <a:srgbClr val="0F766A"/>
                </a:solidFill>
                <a:latin typeface="Courier New" pitchFamily="34" charset="0"/>
                <a:ea typeface="Courier New" pitchFamily="34" charset="-122"/>
                <a:cs typeface="Courier New" pitchFamily="34" charset="-120"/>
              </a:rPr>
              <a:t>Amonia</a:t>
            </a:r>
            <a:endParaRPr lang="en-US" sz="1050" dirty="0"/>
          </a:p>
        </p:txBody>
      </p:sp>
      <p:sp>
        <p:nvSpPr>
          <p:cNvPr id="21" name="Text 19"/>
          <p:cNvSpPr txBox="1"/>
          <p:nvPr/>
        </p:nvSpPr>
        <p:spPr>
          <a:xfrm>
            <a:off x="2560320" y="4279392"/>
            <a:ext cx="3114904" cy="621792"/>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Terukur 0,1652 di Sagea dan Boki Maruru serta 0,3752 di Kobe, terhadap ambang 0,1 miligram per liter</a:t>
            </a:r>
            <a:endParaRPr lang="en-US" sz="1150" dirty="0"/>
          </a:p>
        </p:txBody>
      </p:sp>
      <p:sp>
        <p:nvSpPr>
          <p:cNvPr id="22" name="Shape 20"/>
          <p:cNvSpPr/>
          <p:nvPr/>
        </p:nvSpPr>
        <p:spPr>
          <a:xfrm>
            <a:off x="6223864" y="1975104"/>
            <a:ext cx="5346040" cy="3200400"/>
          </a:xfrm>
          <a:prstGeom prst="roundRect">
            <a:avLst>
              <a:gd name="adj" fmla="val 4571"/>
            </a:avLst>
          </a:prstGeom>
          <a:solidFill>
            <a:srgbClr val="0FA98E"/>
          </a:solidFill>
          <a:ln/>
        </p:spPr>
      </p:sp>
      <p:sp>
        <p:nvSpPr>
          <p:cNvPr id="23" name="Text 21"/>
          <p:cNvSpPr txBox="1"/>
          <p:nvPr/>
        </p:nvSpPr>
        <p:spPr>
          <a:xfrm>
            <a:off x="6516472" y="2212848"/>
            <a:ext cx="4760824" cy="237744"/>
          </a:xfrm>
          <a:prstGeom prst="rect">
            <a:avLst/>
          </a:prstGeom>
          <a:noFill/>
          <a:ln/>
        </p:spPr>
        <p:txBody>
          <a:bodyPr wrap="square" lIns="0" tIns="0" rIns="0" bIns="0" rtlCol="0" anchor="t"/>
          <a:lstStyle/>
          <a:p>
            <a:pPr indent="0" marL="0">
              <a:buNone/>
            </a:pPr>
            <a:r>
              <a:rPr lang="en-US" sz="950" b="1" spc="100" kern="0" dirty="0">
                <a:solidFill>
                  <a:srgbClr val="BFEFE4"/>
                </a:solidFill>
                <a:latin typeface="Calibri" pitchFamily="34" charset="0"/>
                <a:ea typeface="Calibri" pitchFamily="34" charset="-122"/>
                <a:cs typeface="Calibri" pitchFamily="34" charset="-120"/>
              </a:rPr>
              <a:t>DAMPAK PADA WARGA</a:t>
            </a:r>
            <a:endParaRPr lang="en-US" sz="950" dirty="0"/>
          </a:p>
        </p:txBody>
      </p:sp>
      <p:sp>
        <p:nvSpPr>
          <p:cNvPr id="24" name="Text 22"/>
          <p:cNvSpPr txBox="1"/>
          <p:nvPr/>
        </p:nvSpPr>
        <p:spPr>
          <a:xfrm>
            <a:off x="6516472" y="2487168"/>
            <a:ext cx="4760824" cy="329184"/>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Kesehatan dan Penghidupan</a:t>
            </a:r>
            <a:endParaRPr lang="en-US" sz="1600" dirty="0"/>
          </a:p>
        </p:txBody>
      </p:sp>
      <p:sp>
        <p:nvSpPr>
          <p:cNvPr id="25" name="Text 23"/>
          <p:cNvSpPr txBox="1"/>
          <p:nvPr/>
        </p:nvSpPr>
        <p:spPr>
          <a:xfrm>
            <a:off x="6516472" y="2926080"/>
            <a:ext cx="1207008"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Kesehatan</a:t>
            </a:r>
            <a:endParaRPr lang="en-US" sz="1150" dirty="0"/>
          </a:p>
        </p:txBody>
      </p:sp>
      <p:sp>
        <p:nvSpPr>
          <p:cNvPr id="26" name="Text 24"/>
          <p:cNvSpPr txBox="1"/>
          <p:nvPr/>
        </p:nvSpPr>
        <p:spPr>
          <a:xfrm>
            <a:off x="7869784" y="2898648"/>
            <a:ext cx="3407512" cy="640080"/>
          </a:xfrm>
          <a:prstGeom prst="rect">
            <a:avLst/>
          </a:prstGeom>
          <a:noFill/>
          <a:ln/>
        </p:spPr>
        <p:txBody>
          <a:bodyPr wrap="square" lIns="0" tIns="0" rIns="0" bIns="0" rtlCol="0" anchor="t"/>
          <a:lstStyle/>
          <a:p>
            <a:pPr indent="0" marL="0">
              <a:lnSpc>
                <a:spcPts val="1450"/>
              </a:lnSpc>
              <a:buNone/>
            </a:pPr>
            <a:r>
              <a:rPr lang="en-US" sz="1100" dirty="0">
                <a:solidFill>
                  <a:srgbClr val="DFF3EE"/>
                </a:solidFill>
                <a:latin typeface="Calibri" pitchFamily="34" charset="0"/>
                <a:ea typeface="Calibri" pitchFamily="34" charset="-122"/>
                <a:cs typeface="Calibri" pitchFamily="34" charset="-120"/>
              </a:rPr>
              <a:t>Fasilitas kesehatan di sekitar kawasan mencatat kenaikan berarti pada infeksi saluran pernapasan</a:t>
            </a:r>
            <a:endParaRPr lang="en-US" sz="1100" dirty="0"/>
          </a:p>
        </p:txBody>
      </p:sp>
      <p:sp>
        <p:nvSpPr>
          <p:cNvPr id="27" name="Text 25"/>
          <p:cNvSpPr txBox="1"/>
          <p:nvPr/>
        </p:nvSpPr>
        <p:spPr>
          <a:xfrm>
            <a:off x="6516472" y="3602736"/>
            <a:ext cx="1207008"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Perikanan</a:t>
            </a:r>
            <a:endParaRPr lang="en-US" sz="1150" dirty="0"/>
          </a:p>
        </p:txBody>
      </p:sp>
      <p:sp>
        <p:nvSpPr>
          <p:cNvPr id="28" name="Text 26"/>
          <p:cNvSpPr txBox="1"/>
          <p:nvPr/>
        </p:nvSpPr>
        <p:spPr>
          <a:xfrm>
            <a:off x="7869784" y="3575304"/>
            <a:ext cx="3407512" cy="640080"/>
          </a:xfrm>
          <a:prstGeom prst="rect">
            <a:avLst/>
          </a:prstGeom>
          <a:noFill/>
          <a:ln/>
        </p:spPr>
        <p:txBody>
          <a:bodyPr wrap="square" lIns="0" tIns="0" rIns="0" bIns="0" rtlCol="0" anchor="t"/>
          <a:lstStyle/>
          <a:p>
            <a:pPr indent="0" marL="0">
              <a:lnSpc>
                <a:spcPts val="1450"/>
              </a:lnSpc>
              <a:buNone/>
            </a:pPr>
            <a:r>
              <a:rPr lang="en-US" sz="1100" dirty="0">
                <a:solidFill>
                  <a:srgbClr val="DFF3EE"/>
                </a:solidFill>
                <a:latin typeface="Calibri" pitchFamily="34" charset="0"/>
                <a:ea typeface="Calibri" pitchFamily="34" charset="-122"/>
                <a:cs typeface="Calibri" pitchFamily="34" charset="-120"/>
              </a:rPr>
              <a:t>Nelayan terdorong melaut lebih jauh karena karang, mangrove, dan padang lamun rusak sehingga tangkapan turun</a:t>
            </a:r>
            <a:endParaRPr lang="en-US" sz="1100" dirty="0"/>
          </a:p>
        </p:txBody>
      </p:sp>
      <p:sp>
        <p:nvSpPr>
          <p:cNvPr id="29" name="Text 27"/>
          <p:cNvSpPr txBox="1"/>
          <p:nvPr/>
        </p:nvSpPr>
        <p:spPr>
          <a:xfrm>
            <a:off x="6516472" y="4279392"/>
            <a:ext cx="1207008"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Pangan</a:t>
            </a:r>
            <a:endParaRPr lang="en-US" sz="1150" dirty="0"/>
          </a:p>
        </p:txBody>
      </p:sp>
      <p:sp>
        <p:nvSpPr>
          <p:cNvPr id="30" name="Text 28"/>
          <p:cNvSpPr txBox="1"/>
          <p:nvPr/>
        </p:nvSpPr>
        <p:spPr>
          <a:xfrm>
            <a:off x="7869784" y="4251960"/>
            <a:ext cx="3407512" cy="640080"/>
          </a:xfrm>
          <a:prstGeom prst="rect">
            <a:avLst/>
          </a:prstGeom>
          <a:noFill/>
          <a:ln/>
        </p:spPr>
        <p:txBody>
          <a:bodyPr wrap="square" lIns="0" tIns="0" rIns="0" bIns="0" rtlCol="0" anchor="t"/>
          <a:lstStyle/>
          <a:p>
            <a:pPr indent="0" marL="0">
              <a:lnSpc>
                <a:spcPts val="1450"/>
              </a:lnSpc>
              <a:buNone/>
            </a:pPr>
            <a:r>
              <a:rPr lang="en-US" sz="1100" dirty="0">
                <a:solidFill>
                  <a:srgbClr val="DFF3EE"/>
                </a:solidFill>
                <a:latin typeface="Calibri" pitchFamily="34" charset="0"/>
                <a:ea typeface="Calibri" pitchFamily="34" charset="-122"/>
                <a:cs typeface="Calibri" pitchFamily="34" charset="-120"/>
              </a:rPr>
              <a:t>Ketergantungan pangan warga bergeser dari hasil kebun dan laut setempat ke pasokan dari luar daerah</a:t>
            </a:r>
            <a:endParaRPr lang="en-US" sz="1100" dirty="0"/>
          </a:p>
        </p:txBody>
      </p:sp>
      <p:sp>
        <p:nvSpPr>
          <p:cNvPr id="31" name="Shape 29"/>
          <p:cNvSpPr/>
          <p:nvPr/>
        </p:nvSpPr>
        <p:spPr>
          <a:xfrm>
            <a:off x="621792" y="5358384"/>
            <a:ext cx="10948111" cy="457200"/>
          </a:xfrm>
          <a:prstGeom prst="roundRect">
            <a:avLst>
              <a:gd name="adj" fmla="val 32000"/>
            </a:avLst>
          </a:prstGeom>
          <a:solidFill>
            <a:srgbClr val="C6F04A"/>
          </a:solidFill>
          <a:ln/>
        </p:spPr>
      </p:sp>
      <p:sp>
        <p:nvSpPr>
          <p:cNvPr id="32" name="Text 30"/>
          <p:cNvSpPr txBox="1"/>
          <p:nvPr/>
        </p:nvSpPr>
        <p:spPr>
          <a:xfrm>
            <a:off x="941832" y="5488400"/>
            <a:ext cx="10308031" cy="310896"/>
          </a:xfrm>
          <a:prstGeom prst="rect">
            <a:avLst/>
          </a:prstGeom>
          <a:noFill/>
          <a:ln/>
        </p:spPr>
        <p:txBody>
          <a:bodyPr wrap="square" lIns="0" tIns="0" rIns="0" bIns="0" rtlCol="0" anchor="t"/>
          <a:lstStyle/>
          <a:p>
            <a:pPr indent="0" marL="0">
              <a:lnSpc>
                <a:spcPts val="1553"/>
              </a:lnSpc>
              <a:buNone/>
            </a:pPr>
            <a:r>
              <a:rPr lang="en-US" sz="1150" b="1" dirty="0">
                <a:solidFill>
                  <a:srgbClr val="0E1626"/>
                </a:solidFill>
                <a:latin typeface="Calibri" pitchFamily="34" charset="0"/>
                <a:ea typeface="Calibri" pitchFamily="34" charset="-122"/>
                <a:cs typeface="Calibri" pitchFamily="34" charset="-120"/>
              </a:rPr>
              <a:t>Biaya kesehatan dan hilangnya penghidupan ditanggung warga, bukan oleh neraca perusahaan pengolah.</a:t>
            </a:r>
            <a:endParaRPr lang="en-US" sz="1150" dirty="0"/>
          </a:p>
        </p:txBody>
      </p:sp>
      <p:sp>
        <p:nvSpPr>
          <p:cNvPr id="33" name="Text 31"/>
          <p:cNvSpPr txBox="1"/>
          <p:nvPr/>
        </p:nvSpPr>
        <p:spPr>
          <a:xfrm>
            <a:off x="621792" y="5961888"/>
            <a:ext cx="10948111" cy="256032"/>
          </a:xfrm>
          <a:prstGeom prst="rect">
            <a:avLst/>
          </a:prstGeom>
          <a:noFill/>
          <a:ln/>
        </p:spPr>
        <p:txBody>
          <a:bodyPr wrap="square" lIns="0" tIns="0" rIns="0" bIns="0" rtlCol="0" anchor="t"/>
          <a:lstStyle/>
          <a:p>
            <a:pPr indent="0" marL="0">
              <a:buNone/>
            </a:pPr>
            <a:r>
              <a:rPr lang="en-US" sz="1000" i="1" dirty="0">
                <a:solidFill>
                  <a:srgbClr val="6B7A90"/>
                </a:solidFill>
                <a:latin typeface="Calibri" pitchFamily="34" charset="0"/>
                <a:ea typeface="Calibri" pitchFamily="34" charset="-122"/>
                <a:cs typeface="Calibri" pitchFamily="34" charset="-120"/>
              </a:rPr>
              <a:t>Pengujian kualitas air oleh organisasi lingkungan setempat dan laporan lapangan mengenai kesehatan warga Halmahera Tengah.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053389"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053389"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FAKTA 05</a:t>
            </a:r>
            <a:endParaRPr lang="en-US" sz="950" dirty="0"/>
          </a:p>
        </p:txBody>
      </p:sp>
      <p:sp>
        <p:nvSpPr>
          <p:cNvPr id="5" name="Shape 3"/>
          <p:cNvSpPr/>
          <p:nvPr/>
        </p:nvSpPr>
        <p:spPr>
          <a:xfrm>
            <a:off x="1794053" y="457200"/>
            <a:ext cx="1777594"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94053" y="457200"/>
            <a:ext cx="177759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DISTRIBUSI HASIL</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08</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Paradoks Kesejahteraan Daerah</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Pertumbuhan tertinggi tidak berpindah menjadi kesejahteraan setempat.</a:t>
            </a:r>
            <a:endParaRPr lang="en-US" sz="1350" dirty="0"/>
          </a:p>
        </p:txBody>
      </p:sp>
      <p:sp>
        <p:nvSpPr>
          <p:cNvPr id="10" name="Shape 8"/>
          <p:cNvSpPr/>
          <p:nvPr/>
        </p:nvSpPr>
        <p:spPr>
          <a:xfrm>
            <a:off x="621792" y="1975104"/>
            <a:ext cx="2599868" cy="2103120"/>
          </a:xfrm>
          <a:prstGeom prst="roundRect">
            <a:avLst>
              <a:gd name="adj" fmla="val 6957"/>
            </a:avLst>
          </a:prstGeom>
          <a:solidFill>
            <a:srgbClr val="C6F04A"/>
          </a:solidFill>
          <a:ln/>
        </p:spPr>
      </p:sp>
      <p:sp>
        <p:nvSpPr>
          <p:cNvPr id="11" name="Text 9"/>
          <p:cNvSpPr txBox="1"/>
          <p:nvPr/>
        </p:nvSpPr>
        <p:spPr>
          <a:xfrm>
            <a:off x="841248" y="2194560"/>
            <a:ext cx="2160956" cy="566928"/>
          </a:xfrm>
          <a:prstGeom prst="rect">
            <a:avLst/>
          </a:prstGeom>
          <a:noFill/>
          <a:ln/>
        </p:spPr>
        <p:txBody>
          <a:bodyPr wrap="square" lIns="0" tIns="0" rIns="0" bIns="0" rtlCol="0" anchor="t"/>
          <a:lstStyle/>
          <a:p>
            <a:pPr indent="0" marL="0">
              <a:buNone/>
            </a:pPr>
            <a:r>
              <a:rPr lang="en-US" sz="3000" b="1" dirty="0">
                <a:solidFill>
                  <a:srgbClr val="0E1626"/>
                </a:solidFill>
                <a:latin typeface="Calibri" pitchFamily="34" charset="0"/>
                <a:ea typeface="Calibri" pitchFamily="34" charset="-122"/>
                <a:cs typeface="Calibri" pitchFamily="34" charset="-120"/>
              </a:rPr>
              <a:t>16,24</a:t>
            </a:r>
            <a:pPr indent="0" marL="0">
              <a:buNone/>
            </a:pPr>
            <a:r>
              <a:rPr lang="en-US" sz="1260" b="1" dirty="0">
                <a:solidFill>
                  <a:srgbClr val="0E1626"/>
                </a:solidFill>
                <a:latin typeface="Calibri" pitchFamily="34" charset="0"/>
                <a:ea typeface="Calibri" pitchFamily="34" charset="-122"/>
                <a:cs typeface="Calibri" pitchFamily="34" charset="-120"/>
              </a:rPr>
              <a:t>  %</a:t>
            </a:r>
            <a:endParaRPr lang="en-US" sz="3000" dirty="0"/>
          </a:p>
        </p:txBody>
      </p:sp>
      <p:sp>
        <p:nvSpPr>
          <p:cNvPr id="12" name="Text 10"/>
          <p:cNvSpPr txBox="1"/>
          <p:nvPr/>
        </p:nvSpPr>
        <p:spPr>
          <a:xfrm>
            <a:off x="841248" y="2834640"/>
            <a:ext cx="2160956" cy="1060704"/>
          </a:xfrm>
          <a:prstGeom prst="rect">
            <a:avLst/>
          </a:prstGeom>
          <a:noFill/>
          <a:ln/>
        </p:spPr>
        <p:txBody>
          <a:bodyPr wrap="square" lIns="0" tIns="0" rIns="0" bIns="0" rtlCol="0" anchor="t"/>
          <a:lstStyle/>
          <a:p>
            <a:pPr indent="0" marL="0">
              <a:lnSpc>
                <a:spcPts val="1540"/>
              </a:lnSpc>
              <a:buNone/>
            </a:pPr>
            <a:r>
              <a:rPr lang="en-US" sz="1100" dirty="0">
                <a:solidFill>
                  <a:srgbClr val="2A3243"/>
                </a:solidFill>
                <a:latin typeface="Calibri" pitchFamily="34" charset="0"/>
                <a:ea typeface="Calibri" pitchFamily="34" charset="-122"/>
                <a:cs typeface="Calibri" pitchFamily="34" charset="-120"/>
              </a:rPr>
              <a:t>Pertumbuhan ekonomi Kabupaten Morowali sepanjang 2024</a:t>
            </a:r>
            <a:endParaRPr lang="en-US" sz="1100" dirty="0"/>
          </a:p>
        </p:txBody>
      </p:sp>
      <p:sp>
        <p:nvSpPr>
          <p:cNvPr id="13" name="Shape 11"/>
          <p:cNvSpPr/>
          <p:nvPr/>
        </p:nvSpPr>
        <p:spPr>
          <a:xfrm>
            <a:off x="3404540" y="1975104"/>
            <a:ext cx="2599868" cy="2103120"/>
          </a:xfrm>
          <a:prstGeom prst="roundRect">
            <a:avLst>
              <a:gd name="adj" fmla="val 6957"/>
            </a:avLst>
          </a:prstGeom>
          <a:solidFill>
            <a:srgbClr val="FF5A2D"/>
          </a:solidFill>
          <a:ln/>
        </p:spPr>
      </p:sp>
      <p:sp>
        <p:nvSpPr>
          <p:cNvPr id="14" name="Text 12"/>
          <p:cNvSpPr txBox="1"/>
          <p:nvPr/>
        </p:nvSpPr>
        <p:spPr>
          <a:xfrm>
            <a:off x="3623996" y="2194560"/>
            <a:ext cx="2160956" cy="566928"/>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4,35</a:t>
            </a:r>
            <a:pPr indent="0" marL="0">
              <a:buNone/>
            </a:pPr>
            <a:r>
              <a:rPr lang="en-US" sz="1260" b="1" dirty="0">
                <a:solidFill>
                  <a:srgbClr val="FFFFFF"/>
                </a:solidFill>
                <a:latin typeface="Calibri" pitchFamily="34" charset="0"/>
                <a:ea typeface="Calibri" pitchFamily="34" charset="-122"/>
                <a:cs typeface="Calibri" pitchFamily="34" charset="-120"/>
              </a:rPr>
              <a:t>  %</a:t>
            </a:r>
            <a:endParaRPr lang="en-US" sz="3000" dirty="0"/>
          </a:p>
        </p:txBody>
      </p:sp>
      <p:sp>
        <p:nvSpPr>
          <p:cNvPr id="15" name="Text 13"/>
          <p:cNvSpPr txBox="1"/>
          <p:nvPr/>
        </p:nvSpPr>
        <p:spPr>
          <a:xfrm>
            <a:off x="3623996" y="2834640"/>
            <a:ext cx="2160956" cy="1060704"/>
          </a:xfrm>
          <a:prstGeom prst="rect">
            <a:avLst/>
          </a:prstGeom>
          <a:noFill/>
          <a:ln/>
        </p:spPr>
        <p:txBody>
          <a:bodyPr wrap="square" lIns="0" tIns="0" rIns="0" bIns="0" rtlCol="0" anchor="t"/>
          <a:lstStyle/>
          <a:p>
            <a:pPr indent="0" marL="0">
              <a:lnSpc>
                <a:spcPts val="1540"/>
              </a:lnSpc>
              <a:buNone/>
            </a:pPr>
            <a:r>
              <a:rPr lang="en-US" sz="1100" dirty="0">
                <a:solidFill>
                  <a:srgbClr val="E8E4DC"/>
                </a:solidFill>
                <a:latin typeface="Calibri" pitchFamily="34" charset="0"/>
                <a:ea typeface="Calibri" pitchFamily="34" charset="-122"/>
                <a:cs typeface="Calibri" pitchFamily="34" charset="-120"/>
              </a:rPr>
              <a:t>Porsi produk domestik regional bruto yang tinggal di Morowali; sisanya mengalir keluar daerah</a:t>
            </a:r>
            <a:endParaRPr lang="en-US" sz="1100" dirty="0"/>
          </a:p>
        </p:txBody>
      </p:sp>
      <p:sp>
        <p:nvSpPr>
          <p:cNvPr id="16" name="Shape 14"/>
          <p:cNvSpPr/>
          <p:nvPr/>
        </p:nvSpPr>
        <p:spPr>
          <a:xfrm>
            <a:off x="6187288" y="1975104"/>
            <a:ext cx="2599868" cy="2103120"/>
          </a:xfrm>
          <a:prstGeom prst="roundRect">
            <a:avLst>
              <a:gd name="adj" fmla="val 6957"/>
            </a:avLst>
          </a:prstGeom>
          <a:solidFill>
            <a:srgbClr val="0E1626"/>
          </a:solidFill>
          <a:ln/>
        </p:spPr>
      </p:sp>
      <p:sp>
        <p:nvSpPr>
          <p:cNvPr id="17" name="Text 15"/>
          <p:cNvSpPr txBox="1"/>
          <p:nvPr/>
        </p:nvSpPr>
        <p:spPr>
          <a:xfrm>
            <a:off x="6406744" y="2194560"/>
            <a:ext cx="2160956" cy="566928"/>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12,58</a:t>
            </a:r>
            <a:pPr indent="0" marL="0">
              <a:buNone/>
            </a:pPr>
            <a:r>
              <a:rPr lang="en-US" sz="1260" b="1" dirty="0">
                <a:solidFill>
                  <a:srgbClr val="FFFFFF"/>
                </a:solidFill>
                <a:latin typeface="Calibri" pitchFamily="34" charset="0"/>
                <a:ea typeface="Calibri" pitchFamily="34" charset="-122"/>
                <a:cs typeface="Calibri" pitchFamily="34" charset="-120"/>
              </a:rPr>
              <a:t>  %</a:t>
            </a:r>
            <a:endParaRPr lang="en-US" sz="3000" dirty="0"/>
          </a:p>
        </p:txBody>
      </p:sp>
      <p:sp>
        <p:nvSpPr>
          <p:cNvPr id="18" name="Text 16"/>
          <p:cNvSpPr txBox="1"/>
          <p:nvPr/>
        </p:nvSpPr>
        <p:spPr>
          <a:xfrm>
            <a:off x="6406744" y="2834640"/>
            <a:ext cx="2160956" cy="1060704"/>
          </a:xfrm>
          <a:prstGeom prst="rect">
            <a:avLst/>
          </a:prstGeom>
          <a:noFill/>
          <a:ln/>
        </p:spPr>
        <p:txBody>
          <a:bodyPr wrap="square" lIns="0" tIns="0" rIns="0" bIns="0" rtlCol="0" anchor="t"/>
          <a:lstStyle/>
          <a:p>
            <a:pPr indent="0" marL="0">
              <a:lnSpc>
                <a:spcPts val="1540"/>
              </a:lnSpc>
              <a:buNone/>
            </a:pPr>
            <a:r>
              <a:rPr lang="en-US" sz="1100" dirty="0">
                <a:solidFill>
                  <a:srgbClr val="E8E4DC"/>
                </a:solidFill>
                <a:latin typeface="Calibri" pitchFamily="34" charset="0"/>
                <a:ea typeface="Calibri" pitchFamily="34" charset="-122"/>
                <a:cs typeface="Calibri" pitchFamily="34" charset="-120"/>
              </a:rPr>
              <a:t>Kemiskinan Morowali, di atas rata-rata Sulawesi Tengah sebesar 12,33 persen</a:t>
            </a:r>
            <a:endParaRPr lang="en-US" sz="1100" dirty="0"/>
          </a:p>
        </p:txBody>
      </p:sp>
      <p:sp>
        <p:nvSpPr>
          <p:cNvPr id="19" name="Shape 17"/>
          <p:cNvSpPr/>
          <p:nvPr/>
        </p:nvSpPr>
        <p:spPr>
          <a:xfrm>
            <a:off x="8970035" y="1975104"/>
            <a:ext cx="2599868" cy="2103120"/>
          </a:xfrm>
          <a:prstGeom prst="roundRect">
            <a:avLst>
              <a:gd name="adj" fmla="val 6957"/>
            </a:avLst>
          </a:prstGeom>
          <a:solidFill>
            <a:srgbClr val="0FA98E"/>
          </a:solidFill>
          <a:ln/>
        </p:spPr>
      </p:sp>
      <p:sp>
        <p:nvSpPr>
          <p:cNvPr id="20" name="Text 18"/>
          <p:cNvSpPr txBox="1"/>
          <p:nvPr/>
        </p:nvSpPr>
        <p:spPr>
          <a:xfrm>
            <a:off x="9189491" y="2194560"/>
            <a:ext cx="2160956" cy="566928"/>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12</a:t>
            </a:r>
            <a:pPr indent="0" marL="0">
              <a:buNone/>
            </a:pPr>
            <a:r>
              <a:rPr lang="en-US" sz="1260" b="1" dirty="0">
                <a:solidFill>
                  <a:srgbClr val="FFFFFF"/>
                </a:solidFill>
                <a:latin typeface="Calibri" pitchFamily="34" charset="0"/>
                <a:ea typeface="Calibri" pitchFamily="34" charset="-122"/>
                <a:cs typeface="Calibri" pitchFamily="34" charset="-120"/>
              </a:rPr>
              <a:t>  %</a:t>
            </a:r>
            <a:endParaRPr lang="en-US" sz="3000" dirty="0"/>
          </a:p>
        </p:txBody>
      </p:sp>
      <p:sp>
        <p:nvSpPr>
          <p:cNvPr id="21" name="Text 19"/>
          <p:cNvSpPr txBox="1"/>
          <p:nvPr/>
        </p:nvSpPr>
        <p:spPr>
          <a:xfrm>
            <a:off x="9189491" y="2834640"/>
            <a:ext cx="2160956" cy="1060704"/>
          </a:xfrm>
          <a:prstGeom prst="rect">
            <a:avLst/>
          </a:prstGeom>
          <a:noFill/>
          <a:ln/>
        </p:spPr>
        <p:txBody>
          <a:bodyPr wrap="square" lIns="0" tIns="0" rIns="0" bIns="0" rtlCol="0" anchor="t"/>
          <a:lstStyle/>
          <a:p>
            <a:pPr indent="0" marL="0">
              <a:lnSpc>
                <a:spcPts val="1540"/>
              </a:lnSpc>
              <a:buNone/>
            </a:pPr>
            <a:r>
              <a:rPr lang="en-US" sz="1100" dirty="0">
                <a:solidFill>
                  <a:srgbClr val="E8E4DC"/>
                </a:solidFill>
                <a:latin typeface="Calibri" pitchFamily="34" charset="0"/>
                <a:ea typeface="Calibri" pitchFamily="34" charset="-122"/>
                <a:cs typeface="Calibri" pitchFamily="34" charset="-120"/>
              </a:rPr>
              <a:t>Kemiskinan Halmahera Tengah, terhadap rata-rata Maluku Utara sebesar 6,46 persen</a:t>
            </a:r>
            <a:endParaRPr lang="en-US" sz="1100" dirty="0"/>
          </a:p>
        </p:txBody>
      </p:sp>
      <p:sp>
        <p:nvSpPr>
          <p:cNvPr id="22" name="Shape 20"/>
          <p:cNvSpPr/>
          <p:nvPr/>
        </p:nvSpPr>
        <p:spPr>
          <a:xfrm>
            <a:off x="621792" y="4370832"/>
            <a:ext cx="146304" cy="146304"/>
          </a:xfrm>
          <a:prstGeom prst="rect">
            <a:avLst/>
          </a:prstGeom>
          <a:solidFill>
            <a:srgbClr val="0E1626"/>
          </a:solidFill>
          <a:ln/>
        </p:spPr>
      </p:sp>
      <p:sp>
        <p:nvSpPr>
          <p:cNvPr id="23" name="Text 21"/>
          <p:cNvSpPr txBox="1"/>
          <p:nvPr/>
        </p:nvSpPr>
        <p:spPr>
          <a:xfrm>
            <a:off x="914400" y="4261104"/>
            <a:ext cx="1591056" cy="329184"/>
          </a:xfrm>
          <a:prstGeom prst="rect">
            <a:avLst/>
          </a:prstGeom>
          <a:noFill/>
          <a:ln/>
        </p:spPr>
        <p:txBody>
          <a:bodyPr wrap="square" lIns="0" tIns="0" rIns="0" bIns="0" rtlCol="0" anchor="t"/>
          <a:lstStyle/>
          <a:p>
            <a:pPr indent="0" marL="0">
              <a:buNone/>
            </a:pPr>
            <a:r>
              <a:rPr lang="en-US" sz="1050" b="1" dirty="0">
                <a:solidFill>
                  <a:srgbClr val="0E1626"/>
                </a:solidFill>
                <a:latin typeface="Courier New" pitchFamily="34" charset="0"/>
                <a:ea typeface="Courier New" pitchFamily="34" charset="-122"/>
                <a:cs typeface="Courier New" pitchFamily="34" charset="-120"/>
              </a:rPr>
              <a:t>Morowali Utara</a:t>
            </a:r>
            <a:endParaRPr lang="en-US" sz="1050" dirty="0"/>
          </a:p>
        </p:txBody>
      </p:sp>
      <p:sp>
        <p:nvSpPr>
          <p:cNvPr id="24" name="Text 22"/>
          <p:cNvSpPr txBox="1"/>
          <p:nvPr/>
        </p:nvSpPr>
        <p:spPr>
          <a:xfrm>
            <a:off x="2651760" y="4261104"/>
            <a:ext cx="8918143" cy="493776"/>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Angka kemiskinannya 12,97 persen, juga berada di atas rata-rata provinsinya</a:t>
            </a:r>
            <a:endParaRPr lang="en-US" sz="1150" dirty="0"/>
          </a:p>
        </p:txBody>
      </p:sp>
      <p:sp>
        <p:nvSpPr>
          <p:cNvPr id="25" name="Shape 23"/>
          <p:cNvSpPr/>
          <p:nvPr/>
        </p:nvSpPr>
        <p:spPr>
          <a:xfrm>
            <a:off x="621792" y="4919472"/>
            <a:ext cx="146304" cy="146304"/>
          </a:xfrm>
          <a:prstGeom prst="rect">
            <a:avLst/>
          </a:prstGeom>
          <a:solidFill>
            <a:srgbClr val="0E1626"/>
          </a:solidFill>
          <a:ln/>
        </p:spPr>
      </p:sp>
      <p:sp>
        <p:nvSpPr>
          <p:cNvPr id="26" name="Text 24"/>
          <p:cNvSpPr txBox="1"/>
          <p:nvPr/>
        </p:nvSpPr>
        <p:spPr>
          <a:xfrm>
            <a:off x="914400" y="4809744"/>
            <a:ext cx="1591056" cy="329184"/>
          </a:xfrm>
          <a:prstGeom prst="rect">
            <a:avLst/>
          </a:prstGeom>
          <a:noFill/>
          <a:ln/>
        </p:spPr>
        <p:txBody>
          <a:bodyPr wrap="square" lIns="0" tIns="0" rIns="0" bIns="0" rtlCol="0" anchor="t"/>
          <a:lstStyle/>
          <a:p>
            <a:pPr indent="0" marL="0">
              <a:buNone/>
            </a:pPr>
            <a:r>
              <a:rPr lang="en-US" sz="1050" b="1" dirty="0">
                <a:solidFill>
                  <a:srgbClr val="0E1626"/>
                </a:solidFill>
                <a:latin typeface="Courier New" pitchFamily="34" charset="0"/>
                <a:ea typeface="Courier New" pitchFamily="34" charset="-122"/>
                <a:cs typeface="Courier New" pitchFamily="34" charset="-120"/>
              </a:rPr>
              <a:t>Arah Aliran</a:t>
            </a:r>
            <a:endParaRPr lang="en-US" sz="1050" dirty="0"/>
          </a:p>
        </p:txBody>
      </p:sp>
      <p:sp>
        <p:nvSpPr>
          <p:cNvPr id="27" name="Text 25"/>
          <p:cNvSpPr txBox="1"/>
          <p:nvPr/>
        </p:nvSpPr>
        <p:spPr>
          <a:xfrm>
            <a:off x="2651760" y="4809744"/>
            <a:ext cx="8918143" cy="493776"/>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Nilai tambah mengalir ke pemodal, penerimaan pusat, dan pasar ekspor, bukan ke ekonomi kabupaten penghasil</a:t>
            </a:r>
            <a:endParaRPr lang="en-US" sz="1150" dirty="0"/>
          </a:p>
        </p:txBody>
      </p:sp>
      <p:sp>
        <p:nvSpPr>
          <p:cNvPr id="28" name="Shape 26"/>
          <p:cNvSpPr/>
          <p:nvPr/>
        </p:nvSpPr>
        <p:spPr>
          <a:xfrm>
            <a:off x="621792" y="5468112"/>
            <a:ext cx="146304" cy="146304"/>
          </a:xfrm>
          <a:prstGeom prst="rect">
            <a:avLst/>
          </a:prstGeom>
          <a:solidFill>
            <a:srgbClr val="0E1626"/>
          </a:solidFill>
          <a:ln/>
        </p:spPr>
      </p:sp>
      <p:sp>
        <p:nvSpPr>
          <p:cNvPr id="29" name="Text 27"/>
          <p:cNvSpPr txBox="1"/>
          <p:nvPr/>
        </p:nvSpPr>
        <p:spPr>
          <a:xfrm>
            <a:off x="914400" y="5358384"/>
            <a:ext cx="1591056" cy="329184"/>
          </a:xfrm>
          <a:prstGeom prst="rect">
            <a:avLst/>
          </a:prstGeom>
          <a:noFill/>
          <a:ln/>
        </p:spPr>
        <p:txBody>
          <a:bodyPr wrap="square" lIns="0" tIns="0" rIns="0" bIns="0" rtlCol="0" anchor="t"/>
          <a:lstStyle/>
          <a:p>
            <a:pPr indent="0" marL="0">
              <a:buNone/>
            </a:pPr>
            <a:r>
              <a:rPr lang="en-US" sz="1050" b="1" dirty="0">
                <a:solidFill>
                  <a:srgbClr val="0E1626"/>
                </a:solidFill>
                <a:latin typeface="Courier New" pitchFamily="34" charset="0"/>
                <a:ea typeface="Courier New" pitchFamily="34" charset="-122"/>
                <a:cs typeface="Courier New" pitchFamily="34" charset="-120"/>
              </a:rPr>
              <a:t>Ketimpangan</a:t>
            </a:r>
            <a:endParaRPr lang="en-US" sz="1050" dirty="0"/>
          </a:p>
        </p:txBody>
      </p:sp>
      <p:sp>
        <p:nvSpPr>
          <p:cNvPr id="30" name="Text 28"/>
          <p:cNvSpPr txBox="1"/>
          <p:nvPr/>
        </p:nvSpPr>
        <p:spPr>
          <a:xfrm>
            <a:off x="2651760" y="5358384"/>
            <a:ext cx="8918143" cy="493776"/>
          </a:xfrm>
          <a:prstGeom prst="rect">
            <a:avLst/>
          </a:prstGeom>
          <a:noFill/>
          <a:ln/>
        </p:spPr>
        <p:txBody>
          <a:bodyPr wrap="square" lIns="0" tIns="0" rIns="0" bIns="0" rtlCol="0" anchor="t"/>
          <a:lstStyle/>
          <a:p>
            <a:pPr indent="0" marL="0">
              <a:lnSpc>
                <a:spcPts val="1500"/>
              </a:lnSpc>
              <a:buNone/>
            </a:pPr>
            <a:r>
              <a:rPr lang="en-US" sz="1150" dirty="0">
                <a:solidFill>
                  <a:srgbClr val="2A3243"/>
                </a:solidFill>
                <a:latin typeface="Calibri" pitchFamily="34" charset="0"/>
                <a:ea typeface="Calibri" pitchFamily="34" charset="-122"/>
                <a:cs typeface="Calibri" pitchFamily="34" charset="-120"/>
              </a:rPr>
              <a:t>Kabupaten dengan pertumbuhan tertinggi di provinsinya sekaligus berada di atas rata-rata kemiskinan</a:t>
            </a:r>
            <a:endParaRPr lang="en-US" sz="1150" dirty="0"/>
          </a:p>
        </p:txBody>
      </p:sp>
      <p:sp>
        <p:nvSpPr>
          <p:cNvPr id="31" name="Shape 29"/>
          <p:cNvSpPr/>
          <p:nvPr/>
        </p:nvSpPr>
        <p:spPr>
          <a:xfrm>
            <a:off x="621792" y="5888736"/>
            <a:ext cx="10948111" cy="457200"/>
          </a:xfrm>
          <a:prstGeom prst="roundRect">
            <a:avLst>
              <a:gd name="adj" fmla="val 32000"/>
            </a:avLst>
          </a:prstGeom>
          <a:solidFill>
            <a:srgbClr val="F5B722"/>
          </a:solidFill>
          <a:ln/>
        </p:spPr>
      </p:sp>
      <p:sp>
        <p:nvSpPr>
          <p:cNvPr id="32" name="Text 30"/>
          <p:cNvSpPr txBox="1"/>
          <p:nvPr/>
        </p:nvSpPr>
        <p:spPr>
          <a:xfrm>
            <a:off x="941832" y="6018752"/>
            <a:ext cx="10308031" cy="310896"/>
          </a:xfrm>
          <a:prstGeom prst="rect">
            <a:avLst/>
          </a:prstGeom>
          <a:noFill/>
          <a:ln/>
        </p:spPr>
        <p:txBody>
          <a:bodyPr wrap="square" lIns="0" tIns="0" rIns="0" bIns="0" rtlCol="0" anchor="t"/>
          <a:lstStyle/>
          <a:p>
            <a:pPr indent="0" marL="0">
              <a:lnSpc>
                <a:spcPts val="1553"/>
              </a:lnSpc>
              <a:buNone/>
            </a:pPr>
            <a:r>
              <a:rPr lang="en-US" sz="1150" b="1" dirty="0">
                <a:solidFill>
                  <a:srgbClr val="0E1626"/>
                </a:solidFill>
                <a:latin typeface="Calibri" pitchFamily="34" charset="0"/>
                <a:ea typeface="Calibri" pitchFamily="34" charset="-122"/>
                <a:cs typeface="Calibri" pitchFamily="34" charset="-120"/>
              </a:rPr>
              <a:t>Fakta inilah yang paling menekan ketika kasus ini diuji dengan teori keadilan distributif.</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053389"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053389"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FAKTA 06</a:t>
            </a:r>
            <a:endParaRPr lang="en-US" sz="950" dirty="0"/>
          </a:p>
        </p:txBody>
      </p:sp>
      <p:sp>
        <p:nvSpPr>
          <p:cNvPr id="5" name="Shape 3"/>
          <p:cNvSpPr/>
          <p:nvPr/>
        </p:nvSpPr>
        <p:spPr>
          <a:xfrm>
            <a:off x="1794053" y="457200"/>
            <a:ext cx="2230222"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94053" y="457200"/>
            <a:ext cx="2230222"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HULU DAN HILIR RANTAI</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09</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Pihak Paling Rentan</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Ujung paling lemah dan ujung paling menguntungkan pada satu rantai yang sama.</a:t>
            </a:r>
            <a:endParaRPr lang="en-US" sz="1350" dirty="0"/>
          </a:p>
        </p:txBody>
      </p:sp>
      <p:sp>
        <p:nvSpPr>
          <p:cNvPr id="10" name="Shape 8"/>
          <p:cNvSpPr/>
          <p:nvPr/>
        </p:nvSpPr>
        <p:spPr>
          <a:xfrm>
            <a:off x="621792" y="1975104"/>
            <a:ext cx="5346040" cy="3200400"/>
          </a:xfrm>
          <a:prstGeom prst="roundRect">
            <a:avLst>
              <a:gd name="adj" fmla="val 4571"/>
            </a:avLst>
          </a:prstGeom>
          <a:solidFill>
            <a:srgbClr val="0E1626"/>
          </a:solidFill>
          <a:ln/>
        </p:spPr>
      </p:sp>
      <p:sp>
        <p:nvSpPr>
          <p:cNvPr id="11" name="Shape 9"/>
          <p:cNvSpPr/>
          <p:nvPr/>
        </p:nvSpPr>
        <p:spPr>
          <a:xfrm>
            <a:off x="896112" y="2194560"/>
            <a:ext cx="1687068" cy="283464"/>
          </a:xfrm>
          <a:prstGeom prst="roundRect">
            <a:avLst>
              <a:gd name="adj" fmla="val 50000"/>
            </a:avLst>
          </a:prstGeom>
          <a:solidFill>
            <a:srgbClr val="C6F04A"/>
          </a:solidFill>
          <a:ln w="12700">
            <a:solidFill>
              <a:srgbClr val="C6F04A"/>
            </a:solidFill>
            <a:prstDash val="solid"/>
          </a:ln>
        </p:spPr>
      </p:sp>
      <p:sp>
        <p:nvSpPr>
          <p:cNvPr id="12" name="Text 10"/>
          <p:cNvSpPr txBox="1"/>
          <p:nvPr/>
        </p:nvSpPr>
        <p:spPr>
          <a:xfrm>
            <a:off x="896112" y="2194560"/>
            <a:ext cx="1687068"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MASYARAKAT ADAT</a:t>
            </a:r>
            <a:endParaRPr lang="en-US" sz="950" dirty="0"/>
          </a:p>
        </p:txBody>
      </p:sp>
      <p:sp>
        <p:nvSpPr>
          <p:cNvPr id="13" name="Text 11"/>
          <p:cNvSpPr txBox="1"/>
          <p:nvPr/>
        </p:nvSpPr>
        <p:spPr>
          <a:xfrm>
            <a:off x="896112" y="2615184"/>
            <a:ext cx="4797400" cy="329184"/>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O Hongana Manyawa</a:t>
            </a:r>
            <a:endParaRPr lang="en-US" sz="1700" dirty="0"/>
          </a:p>
        </p:txBody>
      </p:sp>
      <p:sp>
        <p:nvSpPr>
          <p:cNvPr id="14" name="Text 12"/>
          <p:cNvSpPr txBox="1"/>
          <p:nvPr/>
        </p:nvSpPr>
        <p:spPr>
          <a:xfrm>
            <a:off x="896112" y="3054096"/>
            <a:ext cx="1060704"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Populasi</a:t>
            </a:r>
            <a:endParaRPr lang="en-US" sz="1150" dirty="0"/>
          </a:p>
        </p:txBody>
      </p:sp>
      <p:sp>
        <p:nvSpPr>
          <p:cNvPr id="15" name="Text 13"/>
          <p:cNvSpPr txBox="1"/>
          <p:nvPr/>
        </p:nvSpPr>
        <p:spPr>
          <a:xfrm>
            <a:off x="2139696" y="3026664"/>
            <a:ext cx="3553816" cy="612648"/>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Berjumlah sekitar 300 sampai 500 jiwa, hidup berpindah di dalam hutan Halmahera</a:t>
            </a:r>
            <a:endParaRPr lang="en-US" sz="1100" dirty="0"/>
          </a:p>
        </p:txBody>
      </p:sp>
      <p:sp>
        <p:nvSpPr>
          <p:cNvPr id="16" name="Text 14"/>
          <p:cNvSpPr txBox="1"/>
          <p:nvPr/>
        </p:nvSpPr>
        <p:spPr>
          <a:xfrm>
            <a:off x="896112" y="3703320"/>
            <a:ext cx="1060704"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Wilayah</a:t>
            </a:r>
            <a:endParaRPr lang="en-US" sz="1150" dirty="0"/>
          </a:p>
        </p:txBody>
      </p:sp>
      <p:sp>
        <p:nvSpPr>
          <p:cNvPr id="17" name="Text 15"/>
          <p:cNvSpPr txBox="1"/>
          <p:nvPr/>
        </p:nvSpPr>
        <p:spPr>
          <a:xfrm>
            <a:off x="2139696" y="3675888"/>
            <a:ext cx="3553816" cy="612648"/>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Sedikitnya 19 perusahaan tambang beroperasi di lebih dari 40 persen wilayah adat mereka</a:t>
            </a:r>
            <a:endParaRPr lang="en-US" sz="1100" dirty="0"/>
          </a:p>
        </p:txBody>
      </p:sp>
      <p:sp>
        <p:nvSpPr>
          <p:cNvPr id="18" name="Text 16"/>
          <p:cNvSpPr txBox="1"/>
          <p:nvPr/>
        </p:nvSpPr>
        <p:spPr>
          <a:xfrm>
            <a:off x="896112" y="4352544"/>
            <a:ext cx="1060704"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Ancaman</a:t>
            </a:r>
            <a:endParaRPr lang="en-US" sz="1150" dirty="0"/>
          </a:p>
        </p:txBody>
      </p:sp>
      <p:sp>
        <p:nvSpPr>
          <p:cNvPr id="19" name="Text 17"/>
          <p:cNvSpPr txBox="1"/>
          <p:nvPr/>
        </p:nvSpPr>
        <p:spPr>
          <a:xfrm>
            <a:off x="2139696" y="4325112"/>
            <a:ext cx="3553816" cy="612648"/>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Kerusakan habitat, pencemaran air dan tanah, serta penyakit menular yang belum dikenali sistem imun mereka</a:t>
            </a:r>
            <a:endParaRPr lang="en-US" sz="1100" dirty="0"/>
          </a:p>
        </p:txBody>
      </p:sp>
      <p:sp>
        <p:nvSpPr>
          <p:cNvPr id="20" name="Shape 18"/>
          <p:cNvSpPr/>
          <p:nvPr/>
        </p:nvSpPr>
        <p:spPr>
          <a:xfrm>
            <a:off x="6223864" y="1975104"/>
            <a:ext cx="5346040" cy="3200400"/>
          </a:xfrm>
          <a:prstGeom prst="roundRect">
            <a:avLst>
              <a:gd name="adj" fmla="val 4571"/>
            </a:avLst>
          </a:prstGeom>
          <a:solidFill>
            <a:srgbClr val="B8A6F5"/>
          </a:solidFill>
          <a:ln/>
        </p:spPr>
      </p:sp>
      <p:sp>
        <p:nvSpPr>
          <p:cNvPr id="21" name="Shape 19"/>
          <p:cNvSpPr/>
          <p:nvPr/>
        </p:nvSpPr>
        <p:spPr>
          <a:xfrm>
            <a:off x="6498184" y="2194560"/>
            <a:ext cx="1415491" cy="283464"/>
          </a:xfrm>
          <a:prstGeom prst="roundRect">
            <a:avLst>
              <a:gd name="adj" fmla="val 50000"/>
            </a:avLst>
          </a:prstGeom>
          <a:solidFill>
            <a:srgbClr val="0E1626"/>
          </a:solidFill>
          <a:ln w="12700">
            <a:solidFill>
              <a:srgbClr val="0E1626"/>
            </a:solidFill>
            <a:prstDash val="solid"/>
          </a:ln>
        </p:spPr>
      </p:sp>
      <p:sp>
        <p:nvSpPr>
          <p:cNvPr id="22" name="Text 20"/>
          <p:cNvSpPr txBox="1"/>
          <p:nvPr/>
        </p:nvSpPr>
        <p:spPr>
          <a:xfrm>
            <a:off x="6498184" y="2194560"/>
            <a:ext cx="1415491"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RANTAI PASOK</a:t>
            </a:r>
            <a:endParaRPr lang="en-US" sz="950" dirty="0"/>
          </a:p>
        </p:txBody>
      </p:sp>
      <p:sp>
        <p:nvSpPr>
          <p:cNvPr id="23" name="Text 21"/>
          <p:cNvSpPr txBox="1"/>
          <p:nvPr/>
        </p:nvSpPr>
        <p:spPr>
          <a:xfrm>
            <a:off x="6498184" y="2615184"/>
            <a:ext cx="4797400" cy="329184"/>
          </a:xfrm>
          <a:prstGeom prst="rect">
            <a:avLst/>
          </a:prstGeom>
          <a:noFill/>
          <a:ln/>
        </p:spPr>
        <p:txBody>
          <a:bodyPr wrap="square" lIns="0" tIns="0" rIns="0" bIns="0" rtlCol="0" anchor="t"/>
          <a:lstStyle/>
          <a:p>
            <a:pPr indent="0" marL="0">
              <a:buNone/>
            </a:pPr>
            <a:r>
              <a:rPr lang="en-US" sz="1700" b="1" dirty="0">
                <a:solidFill>
                  <a:srgbClr val="0E1626"/>
                </a:solidFill>
                <a:latin typeface="Calibri" pitchFamily="34" charset="0"/>
                <a:ea typeface="Calibri" pitchFamily="34" charset="-122"/>
                <a:cs typeface="Calibri" pitchFamily="34" charset="-120"/>
              </a:rPr>
              <a:t>Konsumen Kendaraan Listrik</a:t>
            </a:r>
            <a:endParaRPr lang="en-US" sz="1700" dirty="0"/>
          </a:p>
        </p:txBody>
      </p:sp>
      <p:sp>
        <p:nvSpPr>
          <p:cNvPr id="24" name="Text 22"/>
          <p:cNvSpPr txBox="1"/>
          <p:nvPr/>
        </p:nvSpPr>
        <p:spPr>
          <a:xfrm>
            <a:off x="6498184" y="3054096"/>
            <a:ext cx="1060704" cy="274320"/>
          </a:xfrm>
          <a:prstGeom prst="rect">
            <a:avLst/>
          </a:prstGeom>
          <a:noFill/>
          <a:ln/>
        </p:spPr>
        <p:txBody>
          <a:bodyPr wrap="square" lIns="0" tIns="0" rIns="0" bIns="0" rtlCol="0" anchor="t"/>
          <a:lstStyle/>
          <a:p>
            <a:pPr indent="0" marL="0">
              <a:buNone/>
            </a:pPr>
            <a:r>
              <a:rPr lang="en-US" sz="1150" b="1" dirty="0">
                <a:solidFill>
                  <a:srgbClr val="2E2158"/>
                </a:solidFill>
                <a:latin typeface="Calibri" pitchFamily="34" charset="0"/>
                <a:ea typeface="Calibri" pitchFamily="34" charset="-122"/>
                <a:cs typeface="Calibri" pitchFamily="34" charset="-120"/>
              </a:rPr>
              <a:t>Jalur</a:t>
            </a:r>
            <a:endParaRPr lang="en-US" sz="1150" dirty="0"/>
          </a:p>
        </p:txBody>
      </p:sp>
      <p:sp>
        <p:nvSpPr>
          <p:cNvPr id="25" name="Text 23"/>
          <p:cNvSpPr txBox="1"/>
          <p:nvPr/>
        </p:nvSpPr>
        <p:spPr>
          <a:xfrm>
            <a:off x="7741768" y="3026664"/>
            <a:ext cx="3553816" cy="612648"/>
          </a:xfrm>
          <a:prstGeom prst="rect">
            <a:avLst/>
          </a:prstGeom>
          <a:noFill/>
          <a:ln/>
        </p:spPr>
        <p:txBody>
          <a:bodyPr wrap="square" lIns="0" tIns="0" rIns="0" bIns="0" rtlCol="0" anchor="t"/>
          <a:lstStyle/>
          <a:p>
            <a:pPr indent="0" marL="0">
              <a:lnSpc>
                <a:spcPts val="1450"/>
              </a:lnSpc>
              <a:buNone/>
            </a:pPr>
            <a:r>
              <a:rPr lang="en-US" sz="1100" dirty="0">
                <a:solidFill>
                  <a:srgbClr val="241A46"/>
                </a:solidFill>
                <a:latin typeface="Calibri" pitchFamily="34" charset="0"/>
                <a:ea typeface="Calibri" pitchFamily="34" charset="-122"/>
                <a:cs typeface="Calibri" pitchFamily="34" charset="-120"/>
              </a:rPr>
              <a:t>Produsen baterai global terhubung secara tidak langsung dengan pengolah nikel di Weda Bay melalui pemasok antara</a:t>
            </a:r>
            <a:endParaRPr lang="en-US" sz="1100" dirty="0"/>
          </a:p>
        </p:txBody>
      </p:sp>
      <p:sp>
        <p:nvSpPr>
          <p:cNvPr id="26" name="Text 24"/>
          <p:cNvSpPr txBox="1"/>
          <p:nvPr/>
        </p:nvSpPr>
        <p:spPr>
          <a:xfrm>
            <a:off x="6498184" y="3703320"/>
            <a:ext cx="1060704" cy="274320"/>
          </a:xfrm>
          <a:prstGeom prst="rect">
            <a:avLst/>
          </a:prstGeom>
          <a:noFill/>
          <a:ln/>
        </p:spPr>
        <p:txBody>
          <a:bodyPr wrap="square" lIns="0" tIns="0" rIns="0" bIns="0" rtlCol="0" anchor="t"/>
          <a:lstStyle/>
          <a:p>
            <a:pPr indent="0" marL="0">
              <a:buNone/>
            </a:pPr>
            <a:r>
              <a:rPr lang="en-US" sz="1150" b="1" dirty="0">
                <a:solidFill>
                  <a:srgbClr val="2E2158"/>
                </a:solidFill>
                <a:latin typeface="Calibri" pitchFamily="34" charset="0"/>
                <a:ea typeface="Calibri" pitchFamily="34" charset="-122"/>
                <a:cs typeface="Calibri" pitchFamily="34" charset="-120"/>
              </a:rPr>
              <a:t>Merek</a:t>
            </a:r>
            <a:endParaRPr lang="en-US" sz="1150" dirty="0"/>
          </a:p>
        </p:txBody>
      </p:sp>
      <p:sp>
        <p:nvSpPr>
          <p:cNvPr id="27" name="Text 25"/>
          <p:cNvSpPr txBox="1"/>
          <p:nvPr/>
        </p:nvSpPr>
        <p:spPr>
          <a:xfrm>
            <a:off x="7741768" y="3675888"/>
            <a:ext cx="3553816" cy="612648"/>
          </a:xfrm>
          <a:prstGeom prst="rect">
            <a:avLst/>
          </a:prstGeom>
          <a:noFill/>
          <a:ln/>
        </p:spPr>
        <p:txBody>
          <a:bodyPr wrap="square" lIns="0" tIns="0" rIns="0" bIns="0" rtlCol="0" anchor="t"/>
          <a:lstStyle/>
          <a:p>
            <a:pPr indent="0" marL="0">
              <a:lnSpc>
                <a:spcPts val="1450"/>
              </a:lnSpc>
              <a:buNone/>
            </a:pPr>
            <a:r>
              <a:rPr lang="en-US" sz="1100" dirty="0">
                <a:solidFill>
                  <a:srgbClr val="241A46"/>
                </a:solidFill>
                <a:latin typeface="Calibri" pitchFamily="34" charset="0"/>
                <a:ea typeface="Calibri" pitchFamily="34" charset="-122"/>
                <a:cs typeface="Calibri" pitchFamily="34" charset="-120"/>
              </a:rPr>
              <a:t>Baterainya tercatat memasok sejumlah produsen kendaraan listrik terkemuka di Amerika, Eropa, dan Asia Timur</a:t>
            </a:r>
            <a:endParaRPr lang="en-US" sz="1100" dirty="0"/>
          </a:p>
        </p:txBody>
      </p:sp>
      <p:sp>
        <p:nvSpPr>
          <p:cNvPr id="28" name="Text 26"/>
          <p:cNvSpPr txBox="1"/>
          <p:nvPr/>
        </p:nvSpPr>
        <p:spPr>
          <a:xfrm>
            <a:off x="6498184" y="4352544"/>
            <a:ext cx="1060704" cy="274320"/>
          </a:xfrm>
          <a:prstGeom prst="rect">
            <a:avLst/>
          </a:prstGeom>
          <a:noFill/>
          <a:ln/>
        </p:spPr>
        <p:txBody>
          <a:bodyPr wrap="square" lIns="0" tIns="0" rIns="0" bIns="0" rtlCol="0" anchor="t"/>
          <a:lstStyle/>
          <a:p>
            <a:pPr indent="0" marL="0">
              <a:buNone/>
            </a:pPr>
            <a:r>
              <a:rPr lang="en-US" sz="1150" b="1" dirty="0">
                <a:solidFill>
                  <a:srgbClr val="2E2158"/>
                </a:solidFill>
                <a:latin typeface="Calibri" pitchFamily="34" charset="0"/>
                <a:ea typeface="Calibri" pitchFamily="34" charset="-122"/>
                <a:cs typeface="Calibri" pitchFamily="34" charset="-120"/>
              </a:rPr>
              <a:t>Penilaian</a:t>
            </a:r>
            <a:endParaRPr lang="en-US" sz="1150" dirty="0"/>
          </a:p>
        </p:txBody>
      </p:sp>
      <p:sp>
        <p:nvSpPr>
          <p:cNvPr id="29" name="Text 27"/>
          <p:cNvSpPr txBox="1"/>
          <p:nvPr/>
        </p:nvSpPr>
        <p:spPr>
          <a:xfrm>
            <a:off x="7741768" y="4325112"/>
            <a:ext cx="3553816" cy="612648"/>
          </a:xfrm>
          <a:prstGeom prst="rect">
            <a:avLst/>
          </a:prstGeom>
          <a:noFill/>
          <a:ln/>
        </p:spPr>
        <p:txBody>
          <a:bodyPr wrap="square" lIns="0" tIns="0" rIns="0" bIns="0" rtlCol="0" anchor="t"/>
          <a:lstStyle/>
          <a:p>
            <a:pPr indent="0" marL="0">
              <a:lnSpc>
                <a:spcPts val="1450"/>
              </a:lnSpc>
              <a:buNone/>
            </a:pPr>
            <a:r>
              <a:rPr lang="en-US" sz="1100" dirty="0">
                <a:solidFill>
                  <a:srgbClr val="241A46"/>
                </a:solidFill>
                <a:latin typeface="Calibri" pitchFamily="34" charset="0"/>
                <a:ea typeface="Calibri" pitchFamily="34" charset="-122"/>
                <a:cs typeface="Calibri" pitchFamily="34" charset="-120"/>
              </a:rPr>
              <a:t>Lembaga kajian ketenagakerjaan menilai hilirisasi nikel belum memenuhi syarat pekerjaan hijau</a:t>
            </a:r>
            <a:endParaRPr lang="en-US" sz="1100" dirty="0"/>
          </a:p>
        </p:txBody>
      </p:sp>
      <p:sp>
        <p:nvSpPr>
          <p:cNvPr id="30" name="Shape 28"/>
          <p:cNvSpPr/>
          <p:nvPr/>
        </p:nvSpPr>
        <p:spPr>
          <a:xfrm>
            <a:off x="621792" y="5358384"/>
            <a:ext cx="10948111" cy="457200"/>
          </a:xfrm>
          <a:prstGeom prst="roundRect">
            <a:avLst>
              <a:gd name="adj" fmla="val 32000"/>
            </a:avLst>
          </a:prstGeom>
          <a:solidFill>
            <a:srgbClr val="FF5A2D"/>
          </a:solidFill>
          <a:ln/>
        </p:spPr>
      </p:sp>
      <p:sp>
        <p:nvSpPr>
          <p:cNvPr id="31" name="Text 29"/>
          <p:cNvSpPr txBox="1"/>
          <p:nvPr/>
        </p:nvSpPr>
        <p:spPr>
          <a:xfrm>
            <a:off x="941832" y="5488400"/>
            <a:ext cx="10308031" cy="310896"/>
          </a:xfrm>
          <a:prstGeom prst="rect">
            <a:avLst/>
          </a:prstGeom>
          <a:noFill/>
          <a:ln/>
        </p:spPr>
        <p:txBody>
          <a:bodyPr wrap="square" lIns="0" tIns="0" rIns="0" bIns="0" rtlCol="0" anchor="t"/>
          <a:lstStyle/>
          <a:p>
            <a:pPr indent="0" marL="0">
              <a:lnSpc>
                <a:spcPts val="1553"/>
              </a:lnSpc>
              <a:buNone/>
            </a:pPr>
            <a:r>
              <a:rPr lang="en-US" sz="1150" b="1" dirty="0">
                <a:solidFill>
                  <a:srgbClr val="FFFFFF"/>
                </a:solidFill>
                <a:latin typeface="Calibri" pitchFamily="34" charset="0"/>
                <a:ea typeface="Calibri" pitchFamily="34" charset="-122"/>
                <a:cs typeface="Calibri" pitchFamily="34" charset="-120"/>
              </a:rPr>
              <a:t>Pembeli kendaraan listrik di Eropa dan Amerika berada pada rantai yang sama dengan hutan Halmahera.</a:t>
            </a:r>
            <a:endParaRPr lang="en-US" sz="1150" dirty="0"/>
          </a:p>
        </p:txBody>
      </p:sp>
      <p:sp>
        <p:nvSpPr>
          <p:cNvPr id="32" name="Text 30"/>
          <p:cNvSpPr txBox="1"/>
          <p:nvPr/>
        </p:nvSpPr>
        <p:spPr>
          <a:xfrm>
            <a:off x="621792" y="5961888"/>
            <a:ext cx="10948111" cy="256032"/>
          </a:xfrm>
          <a:prstGeom prst="rect">
            <a:avLst/>
          </a:prstGeom>
          <a:noFill/>
          <a:ln/>
        </p:spPr>
        <p:txBody>
          <a:bodyPr wrap="square" lIns="0" tIns="0" rIns="0" bIns="0" rtlCol="0" anchor="t"/>
          <a:lstStyle/>
          <a:p>
            <a:pPr indent="0" marL="0">
              <a:buNone/>
            </a:pPr>
            <a:r>
              <a:rPr lang="en-US" sz="1000" i="1" dirty="0">
                <a:solidFill>
                  <a:srgbClr val="6B7A90"/>
                </a:solidFill>
                <a:latin typeface="Calibri" pitchFamily="34" charset="0"/>
                <a:ea typeface="Calibri" pitchFamily="34" charset="-122"/>
                <a:cs typeface="Calibri" pitchFamily="34" charset="-120"/>
              </a:rPr>
              <a:t>Organisasi advokasi masyarakat adat, laporan penelusuran rantai pasok baterai, dan lembaga kajian ketenagakerjaan hijau.</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872338"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872338"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NARASI</a:t>
            </a:r>
            <a:endParaRPr lang="en-US" sz="950" dirty="0"/>
          </a:p>
        </p:txBody>
      </p:sp>
      <p:sp>
        <p:nvSpPr>
          <p:cNvPr id="5" name="Shape 3"/>
          <p:cNvSpPr/>
          <p:nvPr/>
        </p:nvSpPr>
        <p:spPr>
          <a:xfrm>
            <a:off x="1613002" y="457200"/>
            <a:ext cx="1777594"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613002" y="457200"/>
            <a:ext cx="177759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KLAIM BERHADAPAN</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10</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Dua Narasi Berlawanan</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Shape 7"/>
          <p:cNvSpPr/>
          <p:nvPr/>
        </p:nvSpPr>
        <p:spPr>
          <a:xfrm>
            <a:off x="621792" y="1737360"/>
            <a:ext cx="5346040" cy="3657600"/>
          </a:xfrm>
          <a:prstGeom prst="roundRect">
            <a:avLst>
              <a:gd name="adj" fmla="val 4000"/>
            </a:avLst>
          </a:prstGeom>
          <a:solidFill>
            <a:srgbClr val="FF5A2D"/>
          </a:solidFill>
          <a:ln/>
        </p:spPr>
      </p:sp>
      <p:sp>
        <p:nvSpPr>
          <p:cNvPr id="10" name="Shape 8"/>
          <p:cNvSpPr/>
          <p:nvPr/>
        </p:nvSpPr>
        <p:spPr>
          <a:xfrm>
            <a:off x="896112" y="1956816"/>
            <a:ext cx="1143914" cy="283464"/>
          </a:xfrm>
          <a:prstGeom prst="roundRect">
            <a:avLst>
              <a:gd name="adj" fmla="val 50000"/>
            </a:avLst>
          </a:prstGeom>
          <a:solidFill>
            <a:srgbClr val="0E1626"/>
          </a:solidFill>
          <a:ln w="12700">
            <a:solidFill>
              <a:srgbClr val="0E1626"/>
            </a:solidFill>
            <a:prstDash val="solid"/>
          </a:ln>
        </p:spPr>
      </p:sp>
      <p:sp>
        <p:nvSpPr>
          <p:cNvPr id="11" name="Text 9"/>
          <p:cNvSpPr txBox="1"/>
          <p:nvPr/>
        </p:nvSpPr>
        <p:spPr>
          <a:xfrm>
            <a:off x="896112" y="1956816"/>
            <a:ext cx="1143914"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PENDUKUNG</a:t>
            </a:r>
            <a:endParaRPr lang="en-US" sz="950" dirty="0"/>
          </a:p>
        </p:txBody>
      </p:sp>
      <p:sp>
        <p:nvSpPr>
          <p:cNvPr id="12" name="Text 10"/>
          <p:cNvSpPr txBox="1"/>
          <p:nvPr/>
        </p:nvSpPr>
        <p:spPr>
          <a:xfrm>
            <a:off x="896112" y="2377440"/>
            <a:ext cx="4797400" cy="658368"/>
          </a:xfrm>
          <a:prstGeom prst="rect">
            <a:avLst/>
          </a:prstGeom>
          <a:noFill/>
          <a:ln/>
        </p:spPr>
        <p:txBody>
          <a:bodyPr wrap="square" lIns="0" tIns="0" rIns="0" bIns="0" rtlCol="0" anchor="t"/>
          <a:lstStyle/>
          <a:p>
            <a:pPr indent="0" marL="0">
              <a:lnSpc>
                <a:spcPts val="2500"/>
              </a:lnSpc>
              <a:buNone/>
            </a:pPr>
            <a:r>
              <a:rPr lang="en-US" sz="1900" b="1" dirty="0">
                <a:solidFill>
                  <a:srgbClr val="FFFFFF"/>
                </a:solidFill>
                <a:latin typeface="Calibri" pitchFamily="34" charset="0"/>
                <a:ea typeface="Calibri" pitchFamily="34" charset="-122"/>
                <a:cs typeface="Calibri" pitchFamily="34" charset="-120"/>
              </a:rPr>
              <a:t>Hilirisasi Berdaulat</a:t>
            </a:r>
            <a:endParaRPr lang="en-US" sz="1900" dirty="0"/>
          </a:p>
        </p:txBody>
      </p:sp>
      <p:sp>
        <p:nvSpPr>
          <p:cNvPr id="13" name="Text 11"/>
          <p:cNvSpPr txBox="1"/>
          <p:nvPr/>
        </p:nvSpPr>
        <p:spPr>
          <a:xfrm>
            <a:off x="896112" y="3127248"/>
            <a:ext cx="1316736"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Nilai Tambah</a:t>
            </a:r>
            <a:endParaRPr lang="en-US" sz="1150" dirty="0"/>
          </a:p>
        </p:txBody>
      </p:sp>
      <p:sp>
        <p:nvSpPr>
          <p:cNvPr id="14" name="Text 12"/>
          <p:cNvSpPr txBox="1"/>
          <p:nvPr/>
        </p:nvSpPr>
        <p:spPr>
          <a:xfrm>
            <a:off x="2322576" y="3099816"/>
            <a:ext cx="3370936" cy="512064"/>
          </a:xfrm>
          <a:prstGeom prst="rect">
            <a:avLst/>
          </a:prstGeom>
          <a:noFill/>
          <a:ln/>
        </p:spPr>
        <p:txBody>
          <a:bodyPr wrap="square" lIns="0" tIns="0" rIns="0" bIns="0" rtlCol="0" anchor="t"/>
          <a:lstStyle/>
          <a:p>
            <a:pPr indent="0" marL="0">
              <a:lnSpc>
                <a:spcPts val="1450"/>
              </a:lnSpc>
              <a:buNone/>
            </a:pPr>
            <a:r>
              <a:rPr lang="en-US" sz="1100" dirty="0">
                <a:solidFill>
                  <a:srgbClr val="FFE0D4"/>
                </a:solidFill>
                <a:latin typeface="Calibri" pitchFamily="34" charset="0"/>
                <a:ea typeface="Calibri" pitchFamily="34" charset="-122"/>
                <a:cs typeface="Calibri" pitchFamily="34" charset="-120"/>
              </a:rPr>
              <a:t>Ekspor produk olahan naik dari 3 menjadi 40 miliar dolar dalam lima tahun</a:t>
            </a:r>
            <a:endParaRPr lang="en-US" sz="1100" dirty="0"/>
          </a:p>
        </p:txBody>
      </p:sp>
      <p:sp>
        <p:nvSpPr>
          <p:cNvPr id="15" name="Text 13"/>
          <p:cNvSpPr txBox="1"/>
          <p:nvPr/>
        </p:nvSpPr>
        <p:spPr>
          <a:xfrm>
            <a:off x="896112" y="3694176"/>
            <a:ext cx="1316736"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Kerja</a:t>
            </a:r>
            <a:endParaRPr lang="en-US" sz="1150" dirty="0"/>
          </a:p>
        </p:txBody>
      </p:sp>
      <p:sp>
        <p:nvSpPr>
          <p:cNvPr id="16" name="Text 14"/>
          <p:cNvSpPr txBox="1"/>
          <p:nvPr/>
        </p:nvSpPr>
        <p:spPr>
          <a:xfrm>
            <a:off x="2322576" y="3666744"/>
            <a:ext cx="3370936" cy="512064"/>
          </a:xfrm>
          <a:prstGeom prst="rect">
            <a:avLst/>
          </a:prstGeom>
          <a:noFill/>
          <a:ln/>
        </p:spPr>
        <p:txBody>
          <a:bodyPr wrap="square" lIns="0" tIns="0" rIns="0" bIns="0" rtlCol="0" anchor="t"/>
          <a:lstStyle/>
          <a:p>
            <a:pPr indent="0" marL="0">
              <a:lnSpc>
                <a:spcPts val="1450"/>
              </a:lnSpc>
              <a:buNone/>
            </a:pPr>
            <a:r>
              <a:rPr lang="en-US" sz="1100" dirty="0">
                <a:solidFill>
                  <a:srgbClr val="FFE0D4"/>
                </a:solidFill>
                <a:latin typeface="Calibri" pitchFamily="34" charset="0"/>
                <a:ea typeface="Calibri" pitchFamily="34" charset="-122"/>
                <a:cs typeface="Calibri" pitchFamily="34" charset="-120"/>
              </a:rPr>
              <a:t>Lebih dari 166 ribu pekerja terserap di dua kawasan industri terpadu</a:t>
            </a:r>
            <a:endParaRPr lang="en-US" sz="1100" dirty="0"/>
          </a:p>
        </p:txBody>
      </p:sp>
      <p:sp>
        <p:nvSpPr>
          <p:cNvPr id="17" name="Text 15"/>
          <p:cNvSpPr txBox="1"/>
          <p:nvPr/>
        </p:nvSpPr>
        <p:spPr>
          <a:xfrm>
            <a:off x="896112" y="4261104"/>
            <a:ext cx="1316736"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Kedaulatan</a:t>
            </a:r>
            <a:endParaRPr lang="en-US" sz="1150" dirty="0"/>
          </a:p>
        </p:txBody>
      </p:sp>
      <p:sp>
        <p:nvSpPr>
          <p:cNvPr id="18" name="Text 16"/>
          <p:cNvSpPr txBox="1"/>
          <p:nvPr/>
        </p:nvSpPr>
        <p:spPr>
          <a:xfrm>
            <a:off x="2322576" y="4233672"/>
            <a:ext cx="3370936" cy="512064"/>
          </a:xfrm>
          <a:prstGeom prst="rect">
            <a:avLst/>
          </a:prstGeom>
          <a:noFill/>
          <a:ln/>
        </p:spPr>
        <p:txBody>
          <a:bodyPr wrap="square" lIns="0" tIns="0" rIns="0" bIns="0" rtlCol="0" anchor="t"/>
          <a:lstStyle/>
          <a:p>
            <a:pPr indent="0" marL="0">
              <a:lnSpc>
                <a:spcPts val="1450"/>
              </a:lnSpc>
              <a:buNone/>
            </a:pPr>
            <a:r>
              <a:rPr lang="en-US" sz="1100" dirty="0">
                <a:solidFill>
                  <a:srgbClr val="FFE0D4"/>
                </a:solidFill>
                <a:latin typeface="Calibri" pitchFamily="34" charset="0"/>
                <a:ea typeface="Calibri" pitchFamily="34" charset="-122"/>
                <a:cs typeface="Calibri" pitchFamily="34" charset="-120"/>
              </a:rPr>
              <a:t>Bijih tidak lagi diekspor mentah untuk diolah dan dinikmati negara lain</a:t>
            </a:r>
            <a:endParaRPr lang="en-US" sz="1100" dirty="0"/>
          </a:p>
        </p:txBody>
      </p:sp>
      <p:sp>
        <p:nvSpPr>
          <p:cNvPr id="19" name="Text 17"/>
          <p:cNvSpPr txBox="1"/>
          <p:nvPr/>
        </p:nvSpPr>
        <p:spPr>
          <a:xfrm>
            <a:off x="896112" y="4828032"/>
            <a:ext cx="1316736"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Transisi</a:t>
            </a:r>
            <a:endParaRPr lang="en-US" sz="1150" dirty="0"/>
          </a:p>
        </p:txBody>
      </p:sp>
      <p:sp>
        <p:nvSpPr>
          <p:cNvPr id="20" name="Text 18"/>
          <p:cNvSpPr txBox="1"/>
          <p:nvPr/>
        </p:nvSpPr>
        <p:spPr>
          <a:xfrm>
            <a:off x="2322576" y="4800600"/>
            <a:ext cx="3370936" cy="512064"/>
          </a:xfrm>
          <a:prstGeom prst="rect">
            <a:avLst/>
          </a:prstGeom>
          <a:noFill/>
          <a:ln/>
        </p:spPr>
        <p:txBody>
          <a:bodyPr wrap="square" lIns="0" tIns="0" rIns="0" bIns="0" rtlCol="0" anchor="t"/>
          <a:lstStyle/>
          <a:p>
            <a:pPr indent="0" marL="0">
              <a:lnSpc>
                <a:spcPts val="1450"/>
              </a:lnSpc>
              <a:buNone/>
            </a:pPr>
            <a:r>
              <a:rPr lang="en-US" sz="1100" dirty="0">
                <a:solidFill>
                  <a:srgbClr val="FFE0D4"/>
                </a:solidFill>
                <a:latin typeface="Calibri" pitchFamily="34" charset="0"/>
                <a:ea typeface="Calibri" pitchFamily="34" charset="-122"/>
                <a:cs typeface="Calibri" pitchFamily="34" charset="-120"/>
              </a:rPr>
              <a:t>Nikel Indonesia disebut sebagai prasyarat rantai pasok baterai global</a:t>
            </a:r>
            <a:endParaRPr lang="en-US" sz="1100" dirty="0"/>
          </a:p>
        </p:txBody>
      </p:sp>
      <p:sp>
        <p:nvSpPr>
          <p:cNvPr id="21" name="Shape 19"/>
          <p:cNvSpPr/>
          <p:nvPr/>
        </p:nvSpPr>
        <p:spPr>
          <a:xfrm>
            <a:off x="6223864" y="1737360"/>
            <a:ext cx="5346040" cy="3657600"/>
          </a:xfrm>
          <a:prstGeom prst="roundRect">
            <a:avLst>
              <a:gd name="adj" fmla="val 4000"/>
            </a:avLst>
          </a:prstGeom>
          <a:solidFill>
            <a:srgbClr val="0E1626"/>
          </a:solidFill>
          <a:ln/>
        </p:spPr>
      </p:sp>
      <p:sp>
        <p:nvSpPr>
          <p:cNvPr id="22" name="Shape 20"/>
          <p:cNvSpPr/>
          <p:nvPr/>
        </p:nvSpPr>
        <p:spPr>
          <a:xfrm>
            <a:off x="6498184" y="1956816"/>
            <a:ext cx="1143914" cy="283464"/>
          </a:xfrm>
          <a:prstGeom prst="roundRect">
            <a:avLst>
              <a:gd name="adj" fmla="val 50000"/>
            </a:avLst>
          </a:prstGeom>
          <a:solidFill>
            <a:srgbClr val="C6F04A"/>
          </a:solidFill>
          <a:ln w="12700">
            <a:solidFill>
              <a:srgbClr val="C6F04A"/>
            </a:solidFill>
            <a:prstDash val="solid"/>
          </a:ln>
        </p:spPr>
      </p:sp>
      <p:sp>
        <p:nvSpPr>
          <p:cNvPr id="23" name="Text 21"/>
          <p:cNvSpPr txBox="1"/>
          <p:nvPr/>
        </p:nvSpPr>
        <p:spPr>
          <a:xfrm>
            <a:off x="6498184" y="1956816"/>
            <a:ext cx="114391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PENENTANG</a:t>
            </a:r>
            <a:endParaRPr lang="en-US" sz="950" dirty="0"/>
          </a:p>
        </p:txBody>
      </p:sp>
      <p:sp>
        <p:nvSpPr>
          <p:cNvPr id="24" name="Text 22"/>
          <p:cNvSpPr txBox="1"/>
          <p:nvPr/>
        </p:nvSpPr>
        <p:spPr>
          <a:xfrm>
            <a:off x="6498184" y="2377440"/>
            <a:ext cx="4797400" cy="658368"/>
          </a:xfrm>
          <a:prstGeom prst="rect">
            <a:avLst/>
          </a:prstGeom>
          <a:noFill/>
          <a:ln/>
        </p:spPr>
        <p:txBody>
          <a:bodyPr wrap="square" lIns="0" tIns="0" rIns="0" bIns="0" rtlCol="0" anchor="t"/>
          <a:lstStyle/>
          <a:p>
            <a:pPr indent="0" marL="0">
              <a:lnSpc>
                <a:spcPts val="2500"/>
              </a:lnSpc>
              <a:buNone/>
            </a:pPr>
            <a:r>
              <a:rPr lang="en-US" sz="1900" b="1" dirty="0">
                <a:solidFill>
                  <a:srgbClr val="FFFFFF"/>
                </a:solidFill>
                <a:latin typeface="Calibri" pitchFamily="34" charset="0"/>
                <a:ea typeface="Calibri" pitchFamily="34" charset="-122"/>
                <a:cs typeface="Calibri" pitchFamily="34" charset="-120"/>
              </a:rPr>
              <a:t>Ekstraksi Berbiaya Sosial</a:t>
            </a:r>
            <a:endParaRPr lang="en-US" sz="1900" dirty="0"/>
          </a:p>
        </p:txBody>
      </p:sp>
      <p:sp>
        <p:nvSpPr>
          <p:cNvPr id="25" name="Text 23"/>
          <p:cNvSpPr txBox="1"/>
          <p:nvPr/>
        </p:nvSpPr>
        <p:spPr>
          <a:xfrm>
            <a:off x="6498184" y="3127248"/>
            <a:ext cx="1316736"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Upah</a:t>
            </a:r>
            <a:endParaRPr lang="en-US" sz="1150" dirty="0"/>
          </a:p>
        </p:txBody>
      </p:sp>
      <p:sp>
        <p:nvSpPr>
          <p:cNvPr id="26" name="Text 24"/>
          <p:cNvSpPr txBox="1"/>
          <p:nvPr/>
        </p:nvSpPr>
        <p:spPr>
          <a:xfrm>
            <a:off x="7924648" y="3099816"/>
            <a:ext cx="3370936" cy="512064"/>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Berada di bawah upah minimum setempat sementara biaya hidup dua kali lipat</a:t>
            </a:r>
            <a:endParaRPr lang="en-US" sz="1100" dirty="0"/>
          </a:p>
        </p:txBody>
      </p:sp>
      <p:sp>
        <p:nvSpPr>
          <p:cNvPr id="27" name="Text 25"/>
          <p:cNvSpPr txBox="1"/>
          <p:nvPr/>
        </p:nvSpPr>
        <p:spPr>
          <a:xfrm>
            <a:off x="6498184" y="3694176"/>
            <a:ext cx="1316736"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Keselamatan</a:t>
            </a:r>
            <a:endParaRPr lang="en-US" sz="1150" dirty="0"/>
          </a:p>
        </p:txBody>
      </p:sp>
      <p:sp>
        <p:nvSpPr>
          <p:cNvPr id="28" name="Text 26"/>
          <p:cNvSpPr txBox="1"/>
          <p:nvPr/>
        </p:nvSpPr>
        <p:spPr>
          <a:xfrm>
            <a:off x="7924648" y="3666744"/>
            <a:ext cx="3370936" cy="512064"/>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107 pekerja meninggal dunia di smelter nikel sepanjang 2019 sampai 2025</a:t>
            </a:r>
            <a:endParaRPr lang="en-US" sz="1100" dirty="0"/>
          </a:p>
        </p:txBody>
      </p:sp>
      <p:sp>
        <p:nvSpPr>
          <p:cNvPr id="29" name="Text 27"/>
          <p:cNvSpPr txBox="1"/>
          <p:nvPr/>
        </p:nvSpPr>
        <p:spPr>
          <a:xfrm>
            <a:off x="6498184" y="4261104"/>
            <a:ext cx="1316736"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Lingkungan</a:t>
            </a:r>
            <a:endParaRPr lang="en-US" sz="1150" dirty="0"/>
          </a:p>
        </p:txBody>
      </p:sp>
      <p:sp>
        <p:nvSpPr>
          <p:cNvPr id="30" name="Text 28"/>
          <p:cNvSpPr txBox="1"/>
          <p:nvPr/>
        </p:nvSpPr>
        <p:spPr>
          <a:xfrm>
            <a:off x="7924648" y="4233672"/>
            <a:ext cx="3370936" cy="512064"/>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163 ribu hektare tutupan pohon hilang dan sungai melampaui baku mutu</a:t>
            </a:r>
            <a:endParaRPr lang="en-US" sz="1100" dirty="0"/>
          </a:p>
        </p:txBody>
      </p:sp>
      <p:sp>
        <p:nvSpPr>
          <p:cNvPr id="31" name="Text 29"/>
          <p:cNvSpPr txBox="1"/>
          <p:nvPr/>
        </p:nvSpPr>
        <p:spPr>
          <a:xfrm>
            <a:off x="6498184" y="4828032"/>
            <a:ext cx="1316736"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Distribusi</a:t>
            </a:r>
            <a:endParaRPr lang="en-US" sz="1150" dirty="0"/>
          </a:p>
        </p:txBody>
      </p:sp>
      <p:sp>
        <p:nvSpPr>
          <p:cNvPr id="32" name="Text 30"/>
          <p:cNvSpPr txBox="1"/>
          <p:nvPr/>
        </p:nvSpPr>
        <p:spPr>
          <a:xfrm>
            <a:off x="7924648" y="4800600"/>
            <a:ext cx="3370936" cy="512064"/>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Sekitar 95 persen nilai tambah regional mengalir keluar dari daerah penghasil</a:t>
            </a:r>
            <a:endParaRPr lang="en-US" sz="1100" dirty="0"/>
          </a:p>
        </p:txBody>
      </p:sp>
      <p:sp>
        <p:nvSpPr>
          <p:cNvPr id="33" name="Shape 31"/>
          <p:cNvSpPr/>
          <p:nvPr/>
        </p:nvSpPr>
        <p:spPr>
          <a:xfrm>
            <a:off x="621792" y="5541264"/>
            <a:ext cx="10948111" cy="713232"/>
          </a:xfrm>
          <a:prstGeom prst="roundRect">
            <a:avLst>
              <a:gd name="adj" fmla="val 20513"/>
            </a:avLst>
          </a:prstGeom>
          <a:solidFill>
            <a:srgbClr val="C6F04A"/>
          </a:solidFill>
          <a:ln/>
        </p:spPr>
      </p:sp>
      <p:sp>
        <p:nvSpPr>
          <p:cNvPr id="34" name="Text 32"/>
          <p:cNvSpPr txBox="1"/>
          <p:nvPr/>
        </p:nvSpPr>
        <p:spPr>
          <a:xfrm>
            <a:off x="941832" y="5683567"/>
            <a:ext cx="10308031" cy="566928"/>
          </a:xfrm>
          <a:prstGeom prst="rect">
            <a:avLst/>
          </a:prstGeom>
          <a:noFill/>
          <a:ln/>
        </p:spPr>
        <p:txBody>
          <a:bodyPr wrap="square" lIns="0" tIns="0" rIns="0" bIns="0" rtlCol="0" anchor="t"/>
          <a:lstStyle/>
          <a:p>
            <a:pPr indent="0" marL="0">
              <a:lnSpc>
                <a:spcPts val="1688"/>
              </a:lnSpc>
              <a:buNone/>
            </a:pPr>
            <a:r>
              <a:rPr lang="en-US" sz="1250" b="1" dirty="0">
                <a:solidFill>
                  <a:srgbClr val="0E1626"/>
                </a:solidFill>
                <a:latin typeface="Calibri" pitchFamily="34" charset="0"/>
                <a:ea typeface="Calibri" pitchFamily="34" charset="-122"/>
                <a:cs typeface="Calibri" pitchFamily="34" charset="-120"/>
              </a:rPr>
              <a:t>Kedua kolom bersandar pada data resmi yang sama sahnya. Sengketanya bukan sengketa fakta, melainkan sengketa kriteria penilaian.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872338" cy="283464"/>
          </a:xfrm>
          <a:prstGeom prst="roundRect">
            <a:avLst>
              <a:gd name="adj" fmla="val 50000"/>
            </a:avLst>
          </a:prstGeom>
          <a:solidFill>
            <a:srgbClr val="C6F04A"/>
          </a:solidFill>
          <a:ln w="12700">
            <a:solidFill>
              <a:srgbClr val="C6F04A"/>
            </a:solidFill>
            <a:prstDash val="solid"/>
          </a:ln>
        </p:spPr>
      </p:sp>
      <p:sp>
        <p:nvSpPr>
          <p:cNvPr id="4" name="Text 2"/>
          <p:cNvSpPr txBox="1"/>
          <p:nvPr/>
        </p:nvSpPr>
        <p:spPr>
          <a:xfrm>
            <a:off x="621792" y="457200"/>
            <a:ext cx="872338"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METODE</a:t>
            </a:r>
            <a:endParaRPr lang="en-US" sz="950" dirty="0"/>
          </a:p>
        </p:txBody>
      </p:sp>
      <p:sp>
        <p:nvSpPr>
          <p:cNvPr id="5" name="Shape 3"/>
          <p:cNvSpPr/>
          <p:nvPr/>
        </p:nvSpPr>
        <p:spPr>
          <a:xfrm>
            <a:off x="1613002" y="457200"/>
            <a:ext cx="1868119"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613002" y="457200"/>
            <a:ext cx="1868119"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PENDEKATAN PRISMA</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11</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Dari Fakta ke Penilaian</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Kasus tanpa jawaban tunggal menuntut kerangka penilaian yang jamak.</a:t>
            </a:r>
            <a:endParaRPr lang="en-US" sz="1350" dirty="0"/>
          </a:p>
        </p:txBody>
      </p:sp>
      <p:sp>
        <p:nvSpPr>
          <p:cNvPr id="10" name="Shape 8"/>
          <p:cNvSpPr/>
          <p:nvPr/>
        </p:nvSpPr>
        <p:spPr>
          <a:xfrm>
            <a:off x="621792" y="1975104"/>
            <a:ext cx="5346040" cy="2212848"/>
          </a:xfrm>
          <a:prstGeom prst="roundRect">
            <a:avLst>
              <a:gd name="adj" fmla="val 6612"/>
            </a:avLst>
          </a:prstGeom>
          <a:solidFill>
            <a:srgbClr val="FFFFFF"/>
          </a:solidFill>
          <a:ln w="12700">
            <a:solidFill>
              <a:srgbClr val="DDD8CE"/>
            </a:solidFill>
            <a:prstDash val="dash"/>
          </a:ln>
        </p:spPr>
      </p:sp>
      <p:sp>
        <p:nvSpPr>
          <p:cNvPr id="11" name="Text 9"/>
          <p:cNvSpPr txBox="1"/>
          <p:nvPr/>
        </p:nvSpPr>
        <p:spPr>
          <a:xfrm>
            <a:off x="896112" y="2194560"/>
            <a:ext cx="4797400" cy="237744"/>
          </a:xfrm>
          <a:prstGeom prst="rect">
            <a:avLst/>
          </a:prstGeom>
          <a:noFill/>
          <a:ln/>
        </p:spPr>
        <p:txBody>
          <a:bodyPr wrap="square" lIns="0" tIns="0" rIns="0" bIns="0" rtlCol="0" anchor="t"/>
          <a:lstStyle/>
          <a:p>
            <a:pPr indent="0" marL="0">
              <a:buNone/>
            </a:pPr>
            <a:r>
              <a:rPr lang="en-US" sz="950" b="1" spc="100" kern="0" dirty="0">
                <a:solidFill>
                  <a:srgbClr val="6B7A90"/>
                </a:solidFill>
                <a:latin typeface="Calibri" pitchFamily="34" charset="0"/>
                <a:ea typeface="Calibri" pitchFamily="34" charset="-122"/>
                <a:cs typeface="Calibri" pitchFamily="34" charset="-120"/>
              </a:rPr>
              <a:t>CARA YANG BIASA</a:t>
            </a:r>
            <a:endParaRPr lang="en-US" sz="950" dirty="0"/>
          </a:p>
        </p:txBody>
      </p:sp>
      <p:sp>
        <p:nvSpPr>
          <p:cNvPr id="12" name="Text 10"/>
          <p:cNvSpPr txBox="1"/>
          <p:nvPr/>
        </p:nvSpPr>
        <p:spPr>
          <a:xfrm>
            <a:off x="896112" y="2468880"/>
            <a:ext cx="4797400" cy="329184"/>
          </a:xfrm>
          <a:prstGeom prst="rect">
            <a:avLst/>
          </a:prstGeom>
          <a:noFill/>
          <a:ln/>
        </p:spPr>
        <p:txBody>
          <a:bodyPr wrap="square" lIns="0" tIns="0" rIns="0" bIns="0" rtlCol="0" anchor="t"/>
          <a:lstStyle/>
          <a:p>
            <a:pPr indent="0" marL="0">
              <a:buNone/>
            </a:pPr>
            <a:r>
              <a:rPr lang="en-US" sz="1800" b="1" dirty="0">
                <a:solidFill>
                  <a:srgbClr val="0E1626"/>
                </a:solidFill>
                <a:latin typeface="Calibri" pitchFamily="34" charset="0"/>
                <a:ea typeface="Calibri" pitchFamily="34" charset="-122"/>
                <a:cs typeface="Calibri" pitchFamily="34" charset="-120"/>
              </a:rPr>
              <a:t>Satu Kriteria Tunggal</a:t>
            </a:r>
            <a:endParaRPr lang="en-US" sz="1800" dirty="0"/>
          </a:p>
        </p:txBody>
      </p:sp>
      <p:sp>
        <p:nvSpPr>
          <p:cNvPr id="13" name="Text 11"/>
          <p:cNvSpPr txBox="1"/>
          <p:nvPr/>
        </p:nvSpPr>
        <p:spPr>
          <a:xfrm>
            <a:off x="896112" y="2907792"/>
            <a:ext cx="4742536" cy="1005840"/>
          </a:xfrm>
          <a:prstGeom prst="rect">
            <a:avLst/>
          </a:prstGeom>
          <a:noFill/>
          <a:ln/>
        </p:spPr>
        <p:txBody>
          <a:bodyPr wrap="square" lIns="0" tIns="0" rIns="0" bIns="0" rtlCol="0" anchor="t"/>
          <a:lstStyle/>
          <a:p>
            <a:pPr indent="0" marL="0">
              <a:lnSpc>
                <a:spcPts val="1800"/>
              </a:lnSpc>
              <a:buNone/>
            </a:pPr>
            <a:r>
              <a:rPr lang="en-US" sz="1250" dirty="0">
                <a:solidFill>
                  <a:srgbClr val="2A3243"/>
                </a:solidFill>
                <a:latin typeface="Calibri" pitchFamily="34" charset="0"/>
                <a:ea typeface="Calibri" pitchFamily="34" charset="-122"/>
                <a:cs typeface="Calibri" pitchFamily="34" charset="-120"/>
              </a:rPr>
              <a:t>Kasus direduksi menjadi neraca manfaat dan biaya. Kesimpulannya tegas, namun keberatan pihak yang kalah hitung tidak terakomodasi.</a:t>
            </a:r>
            <a:endParaRPr lang="en-US" sz="1250" dirty="0"/>
          </a:p>
        </p:txBody>
      </p:sp>
      <p:sp>
        <p:nvSpPr>
          <p:cNvPr id="14" name="Shape 12"/>
          <p:cNvSpPr/>
          <p:nvPr/>
        </p:nvSpPr>
        <p:spPr>
          <a:xfrm>
            <a:off x="6223864" y="1975104"/>
            <a:ext cx="5346040" cy="2212848"/>
          </a:xfrm>
          <a:prstGeom prst="roundRect">
            <a:avLst>
              <a:gd name="adj" fmla="val 6612"/>
            </a:avLst>
          </a:prstGeom>
          <a:solidFill>
            <a:srgbClr val="0E1626"/>
          </a:solidFill>
          <a:ln/>
        </p:spPr>
      </p:sp>
      <p:sp>
        <p:nvSpPr>
          <p:cNvPr id="15" name="Text 13"/>
          <p:cNvSpPr txBox="1"/>
          <p:nvPr/>
        </p:nvSpPr>
        <p:spPr>
          <a:xfrm>
            <a:off x="6498184" y="2194560"/>
            <a:ext cx="4797400" cy="237744"/>
          </a:xfrm>
          <a:prstGeom prst="rect">
            <a:avLst/>
          </a:prstGeom>
          <a:noFill/>
          <a:ln/>
        </p:spPr>
        <p:txBody>
          <a:bodyPr wrap="square" lIns="0" tIns="0" rIns="0" bIns="0" rtlCol="0" anchor="t"/>
          <a:lstStyle/>
          <a:p>
            <a:pPr indent="0" marL="0">
              <a:buNone/>
            </a:pPr>
            <a:r>
              <a:rPr lang="en-US" sz="950" b="1" spc="100" kern="0" dirty="0">
                <a:solidFill>
                  <a:srgbClr val="C6F04A"/>
                </a:solidFill>
                <a:latin typeface="Calibri" pitchFamily="34" charset="0"/>
                <a:ea typeface="Calibri" pitchFamily="34" charset="-122"/>
                <a:cs typeface="Calibri" pitchFamily="34" charset="-120"/>
              </a:rPr>
              <a:t>CARA CHAPTER 3</a:t>
            </a:r>
            <a:endParaRPr lang="en-US" sz="950" dirty="0"/>
          </a:p>
        </p:txBody>
      </p:sp>
      <p:sp>
        <p:nvSpPr>
          <p:cNvPr id="16" name="Text 14"/>
          <p:cNvSpPr txBox="1"/>
          <p:nvPr/>
        </p:nvSpPr>
        <p:spPr>
          <a:xfrm>
            <a:off x="6498184" y="2468880"/>
            <a:ext cx="4797400" cy="329184"/>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Sembilan Kriteria Sekaligus</a:t>
            </a:r>
            <a:endParaRPr lang="en-US" sz="1800" dirty="0"/>
          </a:p>
        </p:txBody>
      </p:sp>
      <p:sp>
        <p:nvSpPr>
          <p:cNvPr id="17" name="Text 15"/>
          <p:cNvSpPr txBox="1"/>
          <p:nvPr/>
        </p:nvSpPr>
        <p:spPr>
          <a:xfrm>
            <a:off x="6498184" y="2907792"/>
            <a:ext cx="4742536" cy="1005840"/>
          </a:xfrm>
          <a:prstGeom prst="rect">
            <a:avLst/>
          </a:prstGeom>
          <a:noFill/>
          <a:ln/>
        </p:spPr>
        <p:txBody>
          <a:bodyPr wrap="square" lIns="0" tIns="0" rIns="0" bIns="0" rtlCol="0" anchor="t"/>
          <a:lstStyle/>
          <a:p>
            <a:pPr indent="0" marL="0">
              <a:lnSpc>
                <a:spcPts val="1800"/>
              </a:lnSpc>
              <a:buNone/>
            </a:pPr>
            <a:r>
              <a:rPr lang="en-US" sz="1250" dirty="0">
                <a:solidFill>
                  <a:srgbClr val="E8E4DC"/>
                </a:solidFill>
                <a:latin typeface="Calibri" pitchFamily="34" charset="0"/>
                <a:ea typeface="Calibri" pitchFamily="34" charset="-122"/>
                <a:cs typeface="Calibri" pitchFamily="34" charset="-120"/>
              </a:rPr>
              <a:t>Setiap teori menyoroti dimensi yang luput dari teori lain. Yang dicari pertimbangan yang paling kuat menanggung beban argumen, bukan jawaban tunggal.</a:t>
            </a:r>
            <a:endParaRPr lang="en-US" sz="1250" dirty="0"/>
          </a:p>
        </p:txBody>
      </p:sp>
      <p:sp>
        <p:nvSpPr>
          <p:cNvPr id="18" name="Text 16"/>
          <p:cNvSpPr txBox="1"/>
          <p:nvPr/>
        </p:nvSpPr>
        <p:spPr>
          <a:xfrm>
            <a:off x="621792" y="4352544"/>
            <a:ext cx="10948111" cy="274320"/>
          </a:xfrm>
          <a:prstGeom prst="rect">
            <a:avLst/>
          </a:prstGeom>
          <a:noFill/>
          <a:ln/>
        </p:spPr>
        <p:txBody>
          <a:bodyPr wrap="square" lIns="0" tIns="0" rIns="0" bIns="0" rtlCol="0" anchor="t"/>
          <a:lstStyle/>
          <a:p>
            <a:pPr indent="0" marL="0">
              <a:buNone/>
            </a:pPr>
            <a:r>
              <a:rPr lang="en-US" sz="1200" b="1" dirty="0">
                <a:solidFill>
                  <a:srgbClr val="6B7A90"/>
                </a:solidFill>
                <a:latin typeface="Calibri" pitchFamily="34" charset="0"/>
                <a:ea typeface="Calibri" pitchFamily="34" charset="-122"/>
                <a:cs typeface="Calibri" pitchFamily="34" charset="-120"/>
              </a:rPr>
              <a:t>Sembilan lensa yang dipakai</a:t>
            </a:r>
            <a:endParaRPr lang="en-US" sz="1200" dirty="0"/>
          </a:p>
        </p:txBody>
      </p:sp>
      <p:sp>
        <p:nvSpPr>
          <p:cNvPr id="19" name="Shape 17"/>
          <p:cNvSpPr/>
          <p:nvPr/>
        </p:nvSpPr>
        <p:spPr>
          <a:xfrm>
            <a:off x="621792" y="4764024"/>
            <a:ext cx="182880" cy="182880"/>
          </a:xfrm>
          <a:prstGeom prst="rect">
            <a:avLst/>
          </a:prstGeom>
          <a:solidFill>
            <a:srgbClr val="AB463C"/>
          </a:solidFill>
          <a:ln/>
        </p:spPr>
      </p:sp>
      <p:sp>
        <p:nvSpPr>
          <p:cNvPr id="20" name="Text 18"/>
          <p:cNvSpPr txBox="1"/>
          <p:nvPr/>
        </p:nvSpPr>
        <p:spPr>
          <a:xfrm>
            <a:off x="914400" y="4700016"/>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1. Egoism</a:t>
            </a:r>
            <a:endParaRPr lang="en-US" sz="1200" dirty="0"/>
          </a:p>
        </p:txBody>
      </p:sp>
      <p:sp>
        <p:nvSpPr>
          <p:cNvPr id="21" name="Shape 19"/>
          <p:cNvSpPr/>
          <p:nvPr/>
        </p:nvSpPr>
        <p:spPr>
          <a:xfrm>
            <a:off x="2811414" y="4764024"/>
            <a:ext cx="182880" cy="182880"/>
          </a:xfrm>
          <a:prstGeom prst="rect">
            <a:avLst/>
          </a:prstGeom>
          <a:solidFill>
            <a:srgbClr val="FF5A2D"/>
          </a:solidFill>
          <a:ln/>
        </p:spPr>
      </p:sp>
      <p:sp>
        <p:nvSpPr>
          <p:cNvPr id="22" name="Text 20"/>
          <p:cNvSpPr txBox="1"/>
          <p:nvPr/>
        </p:nvSpPr>
        <p:spPr>
          <a:xfrm>
            <a:off x="3104022" y="4700016"/>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2. Utilitarianism</a:t>
            </a:r>
            <a:endParaRPr lang="en-US" sz="1200" dirty="0"/>
          </a:p>
        </p:txBody>
      </p:sp>
      <p:sp>
        <p:nvSpPr>
          <p:cNvPr id="23" name="Shape 21"/>
          <p:cNvSpPr/>
          <p:nvPr/>
        </p:nvSpPr>
        <p:spPr>
          <a:xfrm>
            <a:off x="5001036" y="4764024"/>
            <a:ext cx="182880" cy="182880"/>
          </a:xfrm>
          <a:prstGeom prst="rect">
            <a:avLst/>
          </a:prstGeom>
          <a:solidFill>
            <a:srgbClr val="F5B722"/>
          </a:solidFill>
          <a:ln/>
        </p:spPr>
      </p:sp>
      <p:sp>
        <p:nvSpPr>
          <p:cNvPr id="24" name="Text 22"/>
          <p:cNvSpPr txBox="1"/>
          <p:nvPr/>
        </p:nvSpPr>
        <p:spPr>
          <a:xfrm>
            <a:off x="5293644" y="4700016"/>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3. Duty</a:t>
            </a:r>
            <a:endParaRPr lang="en-US" sz="1200" dirty="0"/>
          </a:p>
        </p:txBody>
      </p:sp>
      <p:sp>
        <p:nvSpPr>
          <p:cNvPr id="25" name="Shape 23"/>
          <p:cNvSpPr/>
          <p:nvPr/>
        </p:nvSpPr>
        <p:spPr>
          <a:xfrm>
            <a:off x="7190659" y="4764024"/>
            <a:ext cx="182880" cy="182880"/>
          </a:xfrm>
          <a:prstGeom prst="rect">
            <a:avLst/>
          </a:prstGeom>
          <a:solidFill>
            <a:srgbClr val="C6F04A"/>
          </a:solidFill>
          <a:ln/>
        </p:spPr>
      </p:sp>
      <p:sp>
        <p:nvSpPr>
          <p:cNvPr id="26" name="Text 24"/>
          <p:cNvSpPr txBox="1"/>
          <p:nvPr/>
        </p:nvSpPr>
        <p:spPr>
          <a:xfrm>
            <a:off x="7483267" y="4700016"/>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4. Rights</a:t>
            </a:r>
            <a:endParaRPr lang="en-US" sz="1200" dirty="0"/>
          </a:p>
        </p:txBody>
      </p:sp>
      <p:sp>
        <p:nvSpPr>
          <p:cNvPr id="27" name="Shape 25"/>
          <p:cNvSpPr/>
          <p:nvPr/>
        </p:nvSpPr>
        <p:spPr>
          <a:xfrm>
            <a:off x="9380281" y="4764024"/>
            <a:ext cx="182880" cy="182880"/>
          </a:xfrm>
          <a:prstGeom prst="rect">
            <a:avLst/>
          </a:prstGeom>
          <a:solidFill>
            <a:srgbClr val="0FA98E"/>
          </a:solidFill>
          <a:ln/>
        </p:spPr>
      </p:sp>
      <p:sp>
        <p:nvSpPr>
          <p:cNvPr id="28" name="Text 26"/>
          <p:cNvSpPr txBox="1"/>
          <p:nvPr/>
        </p:nvSpPr>
        <p:spPr>
          <a:xfrm>
            <a:off x="9672889" y="4700016"/>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5. Justice</a:t>
            </a:r>
            <a:endParaRPr lang="en-US" sz="1200" dirty="0"/>
          </a:p>
        </p:txBody>
      </p:sp>
      <p:sp>
        <p:nvSpPr>
          <p:cNvPr id="29" name="Shape 27"/>
          <p:cNvSpPr/>
          <p:nvPr/>
        </p:nvSpPr>
        <p:spPr>
          <a:xfrm>
            <a:off x="621792" y="5330952"/>
            <a:ext cx="182880" cy="182880"/>
          </a:xfrm>
          <a:prstGeom prst="rect">
            <a:avLst/>
          </a:prstGeom>
          <a:solidFill>
            <a:srgbClr val="4EA8DE"/>
          </a:solidFill>
          <a:ln/>
        </p:spPr>
      </p:sp>
      <p:sp>
        <p:nvSpPr>
          <p:cNvPr id="30" name="Text 28"/>
          <p:cNvSpPr txBox="1"/>
          <p:nvPr/>
        </p:nvSpPr>
        <p:spPr>
          <a:xfrm>
            <a:off x="914400" y="5266944"/>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6. Virtue</a:t>
            </a:r>
            <a:endParaRPr lang="en-US" sz="1200" dirty="0"/>
          </a:p>
        </p:txBody>
      </p:sp>
      <p:sp>
        <p:nvSpPr>
          <p:cNvPr id="31" name="Shape 29"/>
          <p:cNvSpPr/>
          <p:nvPr/>
        </p:nvSpPr>
        <p:spPr>
          <a:xfrm>
            <a:off x="2811414" y="5330952"/>
            <a:ext cx="182880" cy="182880"/>
          </a:xfrm>
          <a:prstGeom prst="rect">
            <a:avLst/>
          </a:prstGeom>
          <a:solidFill>
            <a:srgbClr val="6C7BE0"/>
          </a:solidFill>
          <a:ln/>
        </p:spPr>
      </p:sp>
      <p:sp>
        <p:nvSpPr>
          <p:cNvPr id="32" name="Text 30"/>
          <p:cNvSpPr txBox="1"/>
          <p:nvPr/>
        </p:nvSpPr>
        <p:spPr>
          <a:xfrm>
            <a:off x="3104022" y="5266944"/>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7. Care</a:t>
            </a:r>
            <a:endParaRPr lang="en-US" sz="1200" dirty="0"/>
          </a:p>
        </p:txBody>
      </p:sp>
      <p:sp>
        <p:nvSpPr>
          <p:cNvPr id="33" name="Shape 31"/>
          <p:cNvSpPr/>
          <p:nvPr/>
        </p:nvSpPr>
        <p:spPr>
          <a:xfrm>
            <a:off x="5001036" y="5330952"/>
            <a:ext cx="182880" cy="182880"/>
          </a:xfrm>
          <a:prstGeom prst="rect">
            <a:avLst/>
          </a:prstGeom>
          <a:solidFill>
            <a:srgbClr val="B8A6F5"/>
          </a:solidFill>
          <a:ln/>
        </p:spPr>
      </p:sp>
      <p:sp>
        <p:nvSpPr>
          <p:cNvPr id="34" name="Text 32"/>
          <p:cNvSpPr txBox="1"/>
          <p:nvPr/>
        </p:nvSpPr>
        <p:spPr>
          <a:xfrm>
            <a:off x="5293644" y="5266944"/>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8. Discourse</a:t>
            </a:r>
            <a:endParaRPr lang="en-US" sz="1200" dirty="0"/>
          </a:p>
        </p:txBody>
      </p:sp>
      <p:sp>
        <p:nvSpPr>
          <p:cNvPr id="35" name="Shape 33"/>
          <p:cNvSpPr/>
          <p:nvPr/>
        </p:nvSpPr>
        <p:spPr>
          <a:xfrm>
            <a:off x="7190659" y="5330952"/>
            <a:ext cx="182880" cy="182880"/>
          </a:xfrm>
          <a:prstGeom prst="rect">
            <a:avLst/>
          </a:prstGeom>
          <a:solidFill>
            <a:srgbClr val="E86A9B"/>
          </a:solidFill>
          <a:ln/>
        </p:spPr>
      </p:sp>
      <p:sp>
        <p:nvSpPr>
          <p:cNvPr id="36" name="Text 34"/>
          <p:cNvSpPr txBox="1"/>
          <p:nvPr/>
        </p:nvSpPr>
        <p:spPr>
          <a:xfrm>
            <a:off x="7483267" y="5266944"/>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9. Postmodern</a:t>
            </a:r>
            <a:endParaRPr lang="en-US" sz="1200" dirty="0"/>
          </a:p>
        </p:txBody>
      </p:sp>
      <p:sp>
        <p:nvSpPr>
          <p:cNvPr id="37" name="Shape 35"/>
          <p:cNvSpPr/>
          <p:nvPr/>
        </p:nvSpPr>
        <p:spPr>
          <a:xfrm>
            <a:off x="621792" y="5852160"/>
            <a:ext cx="10948111" cy="475488"/>
          </a:xfrm>
          <a:prstGeom prst="roundRect">
            <a:avLst>
              <a:gd name="adj" fmla="val 30769"/>
            </a:avLst>
          </a:prstGeom>
          <a:solidFill>
            <a:srgbClr val="C6F04A"/>
          </a:solidFill>
          <a:ln/>
        </p:spPr>
      </p:sp>
      <p:sp>
        <p:nvSpPr>
          <p:cNvPr id="38" name="Text 36"/>
          <p:cNvSpPr txBox="1"/>
          <p:nvPr/>
        </p:nvSpPr>
        <p:spPr>
          <a:xfrm>
            <a:off x="941832" y="5991320"/>
            <a:ext cx="10308031" cy="329184"/>
          </a:xfrm>
          <a:prstGeom prst="rect">
            <a:avLst/>
          </a:prstGeom>
          <a:noFill/>
          <a:ln/>
        </p:spPr>
        <p:txBody>
          <a:bodyPr wrap="square" lIns="0" tIns="0" rIns="0" bIns="0" rtlCol="0" anchor="t"/>
          <a:lstStyle/>
          <a:p>
            <a:pPr indent="0" marL="0">
              <a:lnSpc>
                <a:spcPts val="1553"/>
              </a:lnSpc>
              <a:buNone/>
            </a:pPr>
            <a:r>
              <a:rPr lang="en-US" sz="1150" b="1" dirty="0">
                <a:solidFill>
                  <a:srgbClr val="0E1626"/>
                </a:solidFill>
                <a:latin typeface="Calibri" pitchFamily="34" charset="0"/>
                <a:ea typeface="Calibri" pitchFamily="34" charset="-122"/>
                <a:cs typeface="Calibri" pitchFamily="34" charset="-120"/>
              </a:rPr>
              <a:t>Sembilan penilaian atas satu rangkaian fakta yang identik. Inilah pendekatan prisma.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143914"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143914"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LENSA 1–2</a:t>
            </a:r>
            <a:endParaRPr lang="en-US" sz="950" dirty="0"/>
          </a:p>
        </p:txBody>
      </p:sp>
      <p:sp>
        <p:nvSpPr>
          <p:cNvPr id="5" name="Shape 3"/>
          <p:cNvSpPr/>
          <p:nvPr/>
        </p:nvSpPr>
        <p:spPr>
          <a:xfrm>
            <a:off x="1884578" y="457200"/>
            <a:ext cx="2411273"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884578" y="457200"/>
            <a:ext cx="2411273"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EGOISM · UTILITARIANISM</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12</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Penilaian Berbasis Akibat</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Objek penilaiannya hasil tindakan, bukan niat atau prosedurnya.</a:t>
            </a:r>
            <a:endParaRPr lang="en-US" sz="1350" dirty="0"/>
          </a:p>
        </p:txBody>
      </p:sp>
      <p:sp>
        <p:nvSpPr>
          <p:cNvPr id="10" name="Shape 8"/>
          <p:cNvSpPr/>
          <p:nvPr/>
        </p:nvSpPr>
        <p:spPr>
          <a:xfrm>
            <a:off x="621792" y="1975104"/>
            <a:ext cx="5346040" cy="3529584"/>
          </a:xfrm>
          <a:prstGeom prst="roundRect">
            <a:avLst>
              <a:gd name="adj" fmla="val 4145"/>
            </a:avLst>
          </a:prstGeom>
          <a:solidFill>
            <a:srgbClr val="AB463C"/>
          </a:solidFill>
          <a:ln/>
        </p:spPr>
      </p:sp>
      <p:sp>
        <p:nvSpPr>
          <p:cNvPr id="11" name="Shape 9"/>
          <p:cNvSpPr/>
          <p:nvPr/>
        </p:nvSpPr>
        <p:spPr>
          <a:xfrm>
            <a:off x="859536" y="2194560"/>
            <a:ext cx="301752" cy="301752"/>
          </a:xfrm>
          <a:prstGeom prst="roundRect">
            <a:avLst>
              <a:gd name="adj" fmla="val 30303"/>
            </a:avLst>
          </a:prstGeom>
          <a:solidFill>
            <a:srgbClr val="BA675F"/>
          </a:solidFill>
          <a:ln/>
        </p:spPr>
      </p:sp>
      <p:sp>
        <p:nvSpPr>
          <p:cNvPr id="12" name="Text 10"/>
          <p:cNvSpPr txBox="1"/>
          <p:nvPr/>
        </p:nvSpPr>
        <p:spPr>
          <a:xfrm>
            <a:off x="859536" y="2194560"/>
            <a:ext cx="301752"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3" name="Text 11"/>
          <p:cNvSpPr txBox="1"/>
          <p:nvPr/>
        </p:nvSpPr>
        <p:spPr>
          <a:xfrm>
            <a:off x="1261872" y="2203704"/>
            <a:ext cx="4468216" cy="274320"/>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Egoism</a:t>
            </a:r>
            <a:endParaRPr lang="en-US" sz="1500" dirty="0"/>
          </a:p>
        </p:txBody>
      </p:sp>
      <p:sp>
        <p:nvSpPr>
          <p:cNvPr id="14" name="Text 12"/>
          <p:cNvSpPr txBox="1"/>
          <p:nvPr/>
        </p:nvSpPr>
        <p:spPr>
          <a:xfrm>
            <a:off x="859536" y="2642616"/>
            <a:ext cx="4870552" cy="368300"/>
          </a:xfrm>
          <a:prstGeom prst="rect">
            <a:avLst/>
          </a:prstGeom>
          <a:noFill/>
          <a:ln/>
        </p:spPr>
        <p:txBody>
          <a:bodyPr wrap="square" lIns="0" tIns="0" rIns="0" bIns="0" rtlCol="0" anchor="t"/>
          <a:lstStyle/>
          <a:p>
            <a:pPr indent="0" marL="0">
              <a:lnSpc>
                <a:spcPts val="1450"/>
              </a:lnSpc>
              <a:buNone/>
            </a:pPr>
            <a:r>
              <a:rPr lang="en-US" sz="1100" i="1" dirty="0">
                <a:solidFill>
                  <a:srgbClr val="E9CFCC"/>
                </a:solidFill>
                <a:latin typeface="Calibri" pitchFamily="34" charset="0"/>
                <a:ea typeface="Calibri" pitchFamily="34" charset="-122"/>
                <a:cs typeface="Calibri" pitchFamily="34" charset="-120"/>
              </a:rPr>
              <a:t>Apakah kebijakan ini melayani kepentingan jangka panjang Indonesia dan korporasinya?</a:t>
            </a:r>
            <a:endParaRPr lang="en-US" sz="1100" dirty="0"/>
          </a:p>
        </p:txBody>
      </p:sp>
      <p:sp>
        <p:nvSpPr>
          <p:cNvPr id="15" name="Text 13"/>
          <p:cNvSpPr txBox="1"/>
          <p:nvPr/>
        </p:nvSpPr>
        <p:spPr>
          <a:xfrm>
            <a:off x="859536" y="3175508"/>
            <a:ext cx="4870552" cy="1670812"/>
          </a:xfrm>
          <a:prstGeom prst="rect">
            <a:avLst/>
          </a:prstGeom>
          <a:noFill/>
          <a:ln/>
        </p:spPr>
        <p:txBody>
          <a:bodyPr wrap="square" lIns="0" tIns="0" rIns="0" bIns="0" rtlCol="0" anchor="t"/>
          <a:lstStyle/>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Pada horizon pendek jawabannya afirmatif. Ekspor naik dari 3 menjadi 40 miliar dolar, investasi terkumpul 41,5 miliar dolar, dan posisi tawar Indonesia pada rantai pasok baterai menguat.</a:t>
            </a:r>
            <a:endParaRPr lang="en-US" sz="1150" dirty="0"/>
          </a:p>
          <a:p>
            <a:pPr indent="0" marL="0">
              <a:lnSpc>
                <a:spcPts val="1650"/>
              </a:lnSpc>
              <a:buNone/>
            </a:pPr>
            <a:endParaRPr lang="en-US" sz="1150" dirty="0"/>
          </a:p>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Pada horizon panjang, biaya kesehatan, pemulihan sungai, dan pensiun dini pembangkit batu bara belum terinternalisasi. Kepentingan diri yang dihitung dengan cermat justru menuntut biaya tertunda itu dimasukkan sejak awal.</a:t>
            </a:r>
            <a:endParaRPr lang="en-US" sz="1150" dirty="0"/>
          </a:p>
        </p:txBody>
      </p:sp>
      <p:sp>
        <p:nvSpPr>
          <p:cNvPr id="16" name="Shape 14"/>
          <p:cNvSpPr/>
          <p:nvPr/>
        </p:nvSpPr>
        <p:spPr>
          <a:xfrm>
            <a:off x="859536" y="4974336"/>
            <a:ext cx="4870552" cy="347472"/>
          </a:xfrm>
          <a:prstGeom prst="roundRect">
            <a:avLst>
              <a:gd name="adj" fmla="val 23684"/>
            </a:avLst>
          </a:prstGeom>
          <a:solidFill>
            <a:srgbClr val="6C3333"/>
          </a:solidFill>
          <a:ln/>
        </p:spPr>
      </p:sp>
      <p:sp>
        <p:nvSpPr>
          <p:cNvPr id="17" name="Text 15"/>
          <p:cNvSpPr txBox="1"/>
          <p:nvPr/>
        </p:nvSpPr>
        <p:spPr>
          <a:xfrm>
            <a:off x="932688" y="4974336"/>
            <a:ext cx="4724248" cy="347472"/>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Calibri" pitchFamily="34" charset="0"/>
                <a:ea typeface="Calibri" pitchFamily="34" charset="-122"/>
                <a:cs typeface="Calibri" pitchFamily="34" charset="-120"/>
              </a:rPr>
              <a:t>NETRAL, BATASNYA TERBUKA</a:t>
            </a:r>
            <a:endParaRPr lang="en-US" sz="950" dirty="0"/>
          </a:p>
        </p:txBody>
      </p:sp>
      <p:sp>
        <p:nvSpPr>
          <p:cNvPr id="18" name="Shape 16"/>
          <p:cNvSpPr/>
          <p:nvPr/>
        </p:nvSpPr>
        <p:spPr>
          <a:xfrm>
            <a:off x="6223864" y="1975104"/>
            <a:ext cx="5346040" cy="3529584"/>
          </a:xfrm>
          <a:prstGeom prst="roundRect">
            <a:avLst>
              <a:gd name="adj" fmla="val 4145"/>
            </a:avLst>
          </a:prstGeom>
          <a:solidFill>
            <a:srgbClr val="FF5A2D"/>
          </a:solidFill>
          <a:ln/>
        </p:spPr>
      </p:sp>
      <p:sp>
        <p:nvSpPr>
          <p:cNvPr id="19" name="Shape 17"/>
          <p:cNvSpPr/>
          <p:nvPr/>
        </p:nvSpPr>
        <p:spPr>
          <a:xfrm>
            <a:off x="6461608" y="2194560"/>
            <a:ext cx="301752" cy="301752"/>
          </a:xfrm>
          <a:prstGeom prst="roundRect">
            <a:avLst>
              <a:gd name="adj" fmla="val 30303"/>
            </a:avLst>
          </a:prstGeom>
          <a:solidFill>
            <a:srgbClr val="FF7853"/>
          </a:solidFill>
          <a:ln/>
        </p:spPr>
      </p:sp>
      <p:sp>
        <p:nvSpPr>
          <p:cNvPr id="20" name="Text 18"/>
          <p:cNvSpPr txBox="1"/>
          <p:nvPr/>
        </p:nvSpPr>
        <p:spPr>
          <a:xfrm>
            <a:off x="6461608" y="2194560"/>
            <a:ext cx="301752"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1" name="Text 19"/>
          <p:cNvSpPr txBox="1"/>
          <p:nvPr/>
        </p:nvSpPr>
        <p:spPr>
          <a:xfrm>
            <a:off x="6863944" y="2203704"/>
            <a:ext cx="4468216" cy="274320"/>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Utilitarianism</a:t>
            </a:r>
            <a:endParaRPr lang="en-US" sz="1500" dirty="0"/>
          </a:p>
        </p:txBody>
      </p:sp>
      <p:sp>
        <p:nvSpPr>
          <p:cNvPr id="22" name="Text 20"/>
          <p:cNvSpPr txBox="1"/>
          <p:nvPr/>
        </p:nvSpPr>
        <p:spPr>
          <a:xfrm>
            <a:off x="6461608" y="2642616"/>
            <a:ext cx="4870552" cy="368300"/>
          </a:xfrm>
          <a:prstGeom prst="rect">
            <a:avLst/>
          </a:prstGeom>
          <a:noFill/>
          <a:ln/>
        </p:spPr>
        <p:txBody>
          <a:bodyPr wrap="square" lIns="0" tIns="0" rIns="0" bIns="0" rtlCol="0" anchor="t"/>
          <a:lstStyle/>
          <a:p>
            <a:pPr indent="0" marL="0">
              <a:lnSpc>
                <a:spcPts val="1450"/>
              </a:lnSpc>
              <a:buNone/>
            </a:pPr>
            <a:r>
              <a:rPr lang="en-US" sz="1100" i="1" dirty="0">
                <a:solidFill>
                  <a:srgbClr val="FFD4C8"/>
                </a:solidFill>
                <a:latin typeface="Calibri" pitchFamily="34" charset="0"/>
                <a:ea typeface="Calibri" pitchFamily="34" charset="-122"/>
                <a:cs typeface="Calibri" pitchFamily="34" charset="-120"/>
              </a:rPr>
              <a:t>Bila seluruh akibat bagi semua pihak diagregasi, apakah hasilnya positif?</a:t>
            </a:r>
            <a:endParaRPr lang="en-US" sz="1100" dirty="0"/>
          </a:p>
        </p:txBody>
      </p:sp>
      <p:sp>
        <p:nvSpPr>
          <p:cNvPr id="23" name="Text 21"/>
          <p:cNvSpPr txBox="1"/>
          <p:nvPr/>
        </p:nvSpPr>
        <p:spPr>
          <a:xfrm>
            <a:off x="6461608" y="3175508"/>
            <a:ext cx="4870552" cy="1670812"/>
          </a:xfrm>
          <a:prstGeom prst="rect">
            <a:avLst/>
          </a:prstGeom>
          <a:noFill/>
          <a:ln/>
        </p:spPr>
        <p:txBody>
          <a:bodyPr wrap="square" lIns="0" tIns="0" rIns="0" bIns="0" rtlCol="0" anchor="t"/>
          <a:lstStyle/>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Act utilitarianism cenderung mendukung. Manfaat 166 ribu lapangan kerja dan penerimaan ekspor bersifat nyata dan terukur, sedangkan kerugiannya tersebar dan sulit dikuantifikasi.</a:t>
            </a:r>
            <a:endParaRPr lang="en-US" sz="1150" dirty="0"/>
          </a:p>
          <a:p>
            <a:pPr indent="0" marL="0">
              <a:lnSpc>
                <a:spcPts val="1650"/>
              </a:lnSpc>
              <a:buNone/>
            </a:pPr>
            <a:endParaRPr lang="en-US" sz="1150" dirty="0"/>
          </a:p>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Rule utilitarianism menolak. Bila setiap negara pemilik cadangan menempuh pengolahan bertenaga batu bara, tambahan emisinya membatalkan manfaat transisi energi yang justru menjadi pembenar kebijakan ini.</a:t>
            </a:r>
            <a:endParaRPr lang="en-US" sz="1150" dirty="0"/>
          </a:p>
        </p:txBody>
      </p:sp>
      <p:sp>
        <p:nvSpPr>
          <p:cNvPr id="24" name="Shape 22"/>
          <p:cNvSpPr/>
          <p:nvPr/>
        </p:nvSpPr>
        <p:spPr>
          <a:xfrm>
            <a:off x="6461608" y="4974336"/>
            <a:ext cx="4870552" cy="347472"/>
          </a:xfrm>
          <a:prstGeom prst="roundRect">
            <a:avLst>
              <a:gd name="adj" fmla="val 23684"/>
            </a:avLst>
          </a:prstGeom>
          <a:solidFill>
            <a:srgbClr val="9F3F2A"/>
          </a:solidFill>
          <a:ln/>
        </p:spPr>
      </p:sp>
      <p:sp>
        <p:nvSpPr>
          <p:cNvPr id="25" name="Text 23"/>
          <p:cNvSpPr txBox="1"/>
          <p:nvPr/>
        </p:nvSpPr>
        <p:spPr>
          <a:xfrm>
            <a:off x="6534760" y="4974336"/>
            <a:ext cx="4724248" cy="347472"/>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Calibri" pitchFamily="34" charset="0"/>
                <a:ea typeface="Calibri" pitchFamily="34" charset="-122"/>
                <a:cs typeface="Calibri" pitchFamily="34" charset="-120"/>
              </a:rPr>
              <a:t>TERBELAH</a:t>
            </a:r>
            <a:endParaRPr lang="en-US" sz="950" dirty="0"/>
          </a:p>
        </p:txBody>
      </p:sp>
      <p:sp>
        <p:nvSpPr>
          <p:cNvPr id="26" name="Shape 24"/>
          <p:cNvSpPr/>
          <p:nvPr/>
        </p:nvSpPr>
        <p:spPr>
          <a:xfrm>
            <a:off x="621792" y="5669280"/>
            <a:ext cx="10948111" cy="457200"/>
          </a:xfrm>
          <a:prstGeom prst="roundRect">
            <a:avLst>
              <a:gd name="adj" fmla="val 32000"/>
            </a:avLst>
          </a:prstGeom>
          <a:solidFill>
            <a:srgbClr val="C6F04A"/>
          </a:solidFill>
          <a:ln/>
        </p:spPr>
      </p:sp>
      <p:sp>
        <p:nvSpPr>
          <p:cNvPr id="27" name="Text 25"/>
          <p:cNvSpPr txBox="1"/>
          <p:nvPr/>
        </p:nvSpPr>
        <p:spPr>
          <a:xfrm>
            <a:off x="941832" y="5799296"/>
            <a:ext cx="10308031" cy="310896"/>
          </a:xfrm>
          <a:prstGeom prst="rect">
            <a:avLst/>
          </a:prstGeom>
          <a:noFill/>
          <a:ln/>
        </p:spPr>
        <p:txBody>
          <a:bodyPr wrap="square" lIns="0" tIns="0" rIns="0" bIns="0" rtlCol="0" anchor="t"/>
          <a:lstStyle/>
          <a:p>
            <a:pPr indent="0" marL="0">
              <a:lnSpc>
                <a:spcPts val="1553"/>
              </a:lnSpc>
              <a:buNone/>
            </a:pPr>
            <a:r>
              <a:rPr lang="en-US" sz="1150" b="1" dirty="0">
                <a:solidFill>
                  <a:srgbClr val="0E1626"/>
                </a:solidFill>
                <a:latin typeface="Calibri" pitchFamily="34" charset="0"/>
                <a:ea typeface="Calibri" pitchFamily="34" charset="-122"/>
                <a:cs typeface="Calibri" pitchFamily="34" charset="-120"/>
              </a:rPr>
              <a:t>Dua teori sekeluarga menghasilkan kesimpulan berbeda. Pemisahnya semata unit analisis.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143914" cy="283464"/>
          </a:xfrm>
          <a:prstGeom prst="roundRect">
            <a:avLst>
              <a:gd name="adj" fmla="val 50000"/>
            </a:avLst>
          </a:prstGeom>
          <a:solidFill>
            <a:srgbClr val="B8A6F5"/>
          </a:solidFill>
          <a:ln w="12700">
            <a:solidFill>
              <a:srgbClr val="B8A6F5"/>
            </a:solidFill>
            <a:prstDash val="solid"/>
          </a:ln>
        </p:spPr>
      </p:sp>
      <p:sp>
        <p:nvSpPr>
          <p:cNvPr id="4" name="Text 2"/>
          <p:cNvSpPr txBox="1"/>
          <p:nvPr/>
        </p:nvSpPr>
        <p:spPr>
          <a:xfrm>
            <a:off x="621792" y="457200"/>
            <a:ext cx="114391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LENSA 3–5</a:t>
            </a:r>
            <a:endParaRPr lang="en-US" sz="950" dirty="0"/>
          </a:p>
        </p:txBody>
      </p:sp>
      <p:sp>
        <p:nvSpPr>
          <p:cNvPr id="5" name="Shape 3"/>
          <p:cNvSpPr/>
          <p:nvPr/>
        </p:nvSpPr>
        <p:spPr>
          <a:xfrm>
            <a:off x="1884578" y="457200"/>
            <a:ext cx="2411273"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884578" y="457200"/>
            <a:ext cx="2411273"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DUTY · RIGHTS · JUSTICE</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13</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Penilaian Berbasis Prinsip</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Objek penilaiannya kewajiban, hak, dan keadilan distributif.</a:t>
            </a:r>
            <a:endParaRPr lang="en-US" sz="1350" dirty="0"/>
          </a:p>
        </p:txBody>
      </p:sp>
      <p:sp>
        <p:nvSpPr>
          <p:cNvPr id="10" name="Shape 8"/>
          <p:cNvSpPr/>
          <p:nvPr/>
        </p:nvSpPr>
        <p:spPr>
          <a:xfrm>
            <a:off x="621792" y="1975104"/>
            <a:ext cx="3503066" cy="3931920"/>
          </a:xfrm>
          <a:prstGeom prst="roundRect">
            <a:avLst>
              <a:gd name="adj" fmla="val 4176"/>
            </a:avLst>
          </a:prstGeom>
          <a:solidFill>
            <a:srgbClr val="F5B722"/>
          </a:solidFill>
          <a:ln/>
        </p:spPr>
      </p:sp>
      <p:sp>
        <p:nvSpPr>
          <p:cNvPr id="11" name="Shape 9"/>
          <p:cNvSpPr/>
          <p:nvPr/>
        </p:nvSpPr>
        <p:spPr>
          <a:xfrm>
            <a:off x="859536" y="2194560"/>
            <a:ext cx="301752" cy="301752"/>
          </a:xfrm>
          <a:prstGeom prst="roundRect">
            <a:avLst>
              <a:gd name="adj" fmla="val 30303"/>
            </a:avLst>
          </a:prstGeom>
          <a:solidFill>
            <a:srgbClr val="CB9A23"/>
          </a:solidFill>
          <a:ln/>
        </p:spPr>
      </p:sp>
      <p:sp>
        <p:nvSpPr>
          <p:cNvPr id="12" name="Text 10"/>
          <p:cNvSpPr txBox="1"/>
          <p:nvPr/>
        </p:nvSpPr>
        <p:spPr>
          <a:xfrm>
            <a:off x="859536" y="2194560"/>
            <a:ext cx="301752" cy="301752"/>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3</a:t>
            </a:r>
            <a:endParaRPr lang="en-US" sz="1050" dirty="0"/>
          </a:p>
        </p:txBody>
      </p:sp>
      <p:sp>
        <p:nvSpPr>
          <p:cNvPr id="13" name="Text 11"/>
          <p:cNvSpPr txBox="1"/>
          <p:nvPr/>
        </p:nvSpPr>
        <p:spPr>
          <a:xfrm>
            <a:off x="1261872" y="2203704"/>
            <a:ext cx="2625242" cy="274320"/>
          </a:xfrm>
          <a:prstGeom prst="rect">
            <a:avLst/>
          </a:prstGeom>
          <a:noFill/>
          <a:ln/>
        </p:spPr>
        <p:txBody>
          <a:bodyPr wrap="square" lIns="0" tIns="0" rIns="0" bIns="0" rtlCol="0" anchor="t"/>
          <a:lstStyle/>
          <a:p>
            <a:pPr indent="0" marL="0">
              <a:lnSpc>
                <a:spcPts val="1830"/>
              </a:lnSpc>
              <a:buNone/>
            </a:pPr>
            <a:r>
              <a:rPr lang="en-US" sz="1500" b="1" dirty="0">
                <a:solidFill>
                  <a:srgbClr val="0E1626"/>
                </a:solidFill>
                <a:latin typeface="Calibri" pitchFamily="34" charset="0"/>
                <a:ea typeface="Calibri" pitchFamily="34" charset="-122"/>
                <a:cs typeface="Calibri" pitchFamily="34" charset="-120"/>
              </a:rPr>
              <a:t>Ethics of Duty</a:t>
            </a:r>
            <a:endParaRPr lang="en-US" sz="1500" dirty="0"/>
          </a:p>
        </p:txBody>
      </p:sp>
      <p:sp>
        <p:nvSpPr>
          <p:cNvPr id="14" name="Text 12"/>
          <p:cNvSpPr txBox="1"/>
          <p:nvPr/>
        </p:nvSpPr>
        <p:spPr>
          <a:xfrm>
            <a:off x="859536" y="2642616"/>
            <a:ext cx="3027578" cy="368300"/>
          </a:xfrm>
          <a:prstGeom prst="rect">
            <a:avLst/>
          </a:prstGeom>
          <a:noFill/>
          <a:ln/>
        </p:spPr>
        <p:txBody>
          <a:bodyPr wrap="square" lIns="0" tIns="0" rIns="0" bIns="0" rtlCol="0" anchor="t"/>
          <a:lstStyle/>
          <a:p>
            <a:pPr indent="0" marL="0">
              <a:lnSpc>
                <a:spcPts val="1450"/>
              </a:lnSpc>
              <a:buNone/>
            </a:pPr>
            <a:r>
              <a:rPr lang="en-US" sz="1100" i="1" dirty="0">
                <a:solidFill>
                  <a:srgbClr val="534625"/>
                </a:solidFill>
                <a:latin typeface="Calibri" pitchFamily="34" charset="0"/>
                <a:ea typeface="Calibri" pitchFamily="34" charset="-122"/>
                <a:cs typeface="Calibri" pitchFamily="34" charset="-120"/>
              </a:rPr>
              <a:t>Dapatkah maksim kebijakan ini diuniversalkan ke seluruh negara?</a:t>
            </a:r>
            <a:endParaRPr lang="en-US" sz="1100" dirty="0"/>
          </a:p>
        </p:txBody>
      </p:sp>
      <p:sp>
        <p:nvSpPr>
          <p:cNvPr id="15" name="Text 13"/>
          <p:cNvSpPr txBox="1"/>
          <p:nvPr/>
        </p:nvSpPr>
        <p:spPr>
          <a:xfrm>
            <a:off x="859536" y="3175508"/>
            <a:ext cx="3027578" cy="2073148"/>
          </a:xfrm>
          <a:prstGeom prst="rect">
            <a:avLst/>
          </a:prstGeom>
          <a:noFill/>
          <a:ln/>
        </p:spPr>
        <p:txBody>
          <a:bodyPr wrap="square" lIns="0" tIns="0" rIns="0" bIns="0" rtlCol="0" anchor="t"/>
          <a:lstStyle/>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Maksimnya: pengolahan boleh dipercepat sambil menunda standar upah, keselamatan, dan lingkungan. Diuniversalkan, standar itu kehilangan daya ikat.</a:t>
            </a:r>
            <a:endParaRPr lang="en-US" sz="1150" dirty="0"/>
          </a:p>
          <a:p>
            <a:pPr indent="0" marL="0">
              <a:lnSpc>
                <a:spcPts val="1650"/>
              </a:lnSpc>
              <a:buNone/>
            </a:pPr>
            <a:endParaRPr lang="en-US" sz="1150" dirty="0"/>
          </a:p>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Formulasi kedua pun gagal. Upah di bawah minimum dan lembur 13 jam menjadikan pekerja sarana semata.</a:t>
            </a:r>
            <a:endParaRPr lang="en-US" sz="1150" dirty="0"/>
          </a:p>
        </p:txBody>
      </p:sp>
      <p:sp>
        <p:nvSpPr>
          <p:cNvPr id="16" name="Shape 14"/>
          <p:cNvSpPr/>
          <p:nvPr/>
        </p:nvSpPr>
        <p:spPr>
          <a:xfrm>
            <a:off x="859536" y="5376672"/>
            <a:ext cx="3027578" cy="347472"/>
          </a:xfrm>
          <a:prstGeom prst="roundRect">
            <a:avLst>
              <a:gd name="adj" fmla="val 23684"/>
            </a:avLst>
          </a:prstGeom>
          <a:solidFill>
            <a:srgbClr val="D09D23"/>
          </a:solidFill>
          <a:ln/>
        </p:spPr>
      </p:sp>
      <p:sp>
        <p:nvSpPr>
          <p:cNvPr id="17" name="Text 15"/>
          <p:cNvSpPr txBox="1"/>
          <p:nvPr/>
        </p:nvSpPr>
        <p:spPr>
          <a:xfrm>
            <a:off x="932688" y="5376672"/>
            <a:ext cx="2881274" cy="347472"/>
          </a:xfrm>
          <a:prstGeom prst="rect">
            <a:avLst/>
          </a:prstGeom>
          <a:noFill/>
          <a:ln/>
        </p:spPr>
        <p:txBody>
          <a:bodyPr wrap="square" lIns="0" tIns="0" rIns="0" bIns="0" rtlCol="0" anchor="ctr"/>
          <a:lstStyle/>
          <a:p>
            <a:pPr algn="ctr" indent="0" marL="0">
              <a:buNone/>
            </a:pPr>
            <a:r>
              <a:rPr lang="en-US" sz="950" b="1" spc="80" kern="0" dirty="0">
                <a:solidFill>
                  <a:srgbClr val="0E1626"/>
                </a:solidFill>
                <a:latin typeface="Calibri" pitchFamily="34" charset="0"/>
                <a:ea typeface="Calibri" pitchFamily="34" charset="-122"/>
                <a:cs typeface="Calibri" pitchFamily="34" charset="-120"/>
              </a:rPr>
              <a:t>MENOLAK</a:t>
            </a:r>
            <a:endParaRPr lang="en-US" sz="950" dirty="0"/>
          </a:p>
        </p:txBody>
      </p:sp>
      <p:sp>
        <p:nvSpPr>
          <p:cNvPr id="18" name="Shape 16"/>
          <p:cNvSpPr/>
          <p:nvPr/>
        </p:nvSpPr>
        <p:spPr>
          <a:xfrm>
            <a:off x="4344314" y="1975104"/>
            <a:ext cx="3503066" cy="3931920"/>
          </a:xfrm>
          <a:prstGeom prst="roundRect">
            <a:avLst>
              <a:gd name="adj" fmla="val 4176"/>
            </a:avLst>
          </a:prstGeom>
          <a:solidFill>
            <a:srgbClr val="C6F04A"/>
          </a:solidFill>
          <a:ln/>
        </p:spPr>
      </p:sp>
      <p:sp>
        <p:nvSpPr>
          <p:cNvPr id="19" name="Shape 17"/>
          <p:cNvSpPr/>
          <p:nvPr/>
        </p:nvSpPr>
        <p:spPr>
          <a:xfrm>
            <a:off x="4582058" y="2194560"/>
            <a:ext cx="301752" cy="301752"/>
          </a:xfrm>
          <a:prstGeom prst="roundRect">
            <a:avLst>
              <a:gd name="adj" fmla="val 30303"/>
            </a:avLst>
          </a:prstGeom>
          <a:solidFill>
            <a:srgbClr val="A5C944"/>
          </a:solidFill>
          <a:ln/>
        </p:spPr>
      </p:sp>
      <p:sp>
        <p:nvSpPr>
          <p:cNvPr id="20" name="Text 18"/>
          <p:cNvSpPr txBox="1"/>
          <p:nvPr/>
        </p:nvSpPr>
        <p:spPr>
          <a:xfrm>
            <a:off x="4582058" y="2194560"/>
            <a:ext cx="301752" cy="301752"/>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4</a:t>
            </a:r>
            <a:endParaRPr lang="en-US" sz="1050" dirty="0"/>
          </a:p>
        </p:txBody>
      </p:sp>
      <p:sp>
        <p:nvSpPr>
          <p:cNvPr id="21" name="Text 19"/>
          <p:cNvSpPr txBox="1"/>
          <p:nvPr/>
        </p:nvSpPr>
        <p:spPr>
          <a:xfrm>
            <a:off x="4984394" y="2203704"/>
            <a:ext cx="2625242" cy="274320"/>
          </a:xfrm>
          <a:prstGeom prst="rect">
            <a:avLst/>
          </a:prstGeom>
          <a:noFill/>
          <a:ln/>
        </p:spPr>
        <p:txBody>
          <a:bodyPr wrap="square" lIns="0" tIns="0" rIns="0" bIns="0" rtlCol="0" anchor="t"/>
          <a:lstStyle/>
          <a:p>
            <a:pPr indent="0" marL="0">
              <a:lnSpc>
                <a:spcPts val="1830"/>
              </a:lnSpc>
              <a:buNone/>
            </a:pPr>
            <a:r>
              <a:rPr lang="en-US" sz="1500" b="1" dirty="0">
                <a:solidFill>
                  <a:srgbClr val="0E1626"/>
                </a:solidFill>
                <a:latin typeface="Calibri" pitchFamily="34" charset="0"/>
                <a:ea typeface="Calibri" pitchFamily="34" charset="-122"/>
                <a:cs typeface="Calibri" pitchFamily="34" charset="-120"/>
              </a:rPr>
              <a:t>Ethics of Rights</a:t>
            </a:r>
            <a:endParaRPr lang="en-US" sz="1500" dirty="0"/>
          </a:p>
        </p:txBody>
      </p:sp>
      <p:sp>
        <p:nvSpPr>
          <p:cNvPr id="22" name="Text 20"/>
          <p:cNvSpPr txBox="1"/>
          <p:nvPr/>
        </p:nvSpPr>
        <p:spPr>
          <a:xfrm>
            <a:off x="4582058" y="2642616"/>
            <a:ext cx="3027578" cy="368300"/>
          </a:xfrm>
          <a:prstGeom prst="rect">
            <a:avLst/>
          </a:prstGeom>
          <a:noFill/>
          <a:ln/>
        </p:spPr>
        <p:txBody>
          <a:bodyPr wrap="square" lIns="0" tIns="0" rIns="0" bIns="0" rtlCol="0" anchor="t"/>
          <a:lstStyle/>
          <a:p>
            <a:pPr indent="0" marL="0">
              <a:lnSpc>
                <a:spcPts val="1450"/>
              </a:lnSpc>
              <a:buNone/>
            </a:pPr>
            <a:r>
              <a:rPr lang="en-US" sz="1100" i="1" dirty="0">
                <a:solidFill>
                  <a:srgbClr val="455731"/>
                </a:solidFill>
                <a:latin typeface="Calibri" pitchFamily="34" charset="0"/>
                <a:ea typeface="Calibri" pitchFamily="34" charset="-122"/>
                <a:cs typeface="Calibri" pitchFamily="34" charset="-120"/>
              </a:rPr>
              <a:t>Hak siapa yang terpenuhi, dan hak siapa yang justru terlanggar?</a:t>
            </a:r>
            <a:endParaRPr lang="en-US" sz="1100" dirty="0"/>
          </a:p>
        </p:txBody>
      </p:sp>
      <p:sp>
        <p:nvSpPr>
          <p:cNvPr id="23" name="Text 21"/>
          <p:cNvSpPr txBox="1"/>
          <p:nvPr/>
        </p:nvSpPr>
        <p:spPr>
          <a:xfrm>
            <a:off x="4582058" y="3175508"/>
            <a:ext cx="3027578" cy="2073148"/>
          </a:xfrm>
          <a:prstGeom prst="rect">
            <a:avLst/>
          </a:prstGeom>
          <a:noFill/>
          <a:ln/>
        </p:spPr>
        <p:txBody>
          <a:bodyPr wrap="square" lIns="0" tIns="0" rIns="0" bIns="0" rtlCol="0" anchor="t"/>
          <a:lstStyle/>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Hak atas pekerjaan terpenuhi bagi 166 ribu pekerja. Sampai titik ini kebijakan tersebut dapat dipertahankan.</a:t>
            </a:r>
            <a:endParaRPr lang="en-US" sz="1150" dirty="0"/>
          </a:p>
          <a:p>
            <a:pPr indent="0" marL="0">
              <a:lnSpc>
                <a:spcPts val="1650"/>
              </a:lnSpc>
              <a:buNone/>
            </a:pPr>
            <a:endParaRPr lang="en-US" sz="1150" dirty="0"/>
          </a:p>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Namun hak atas kondisi kerja yang adil, hak atas kesehatan, hak atas air bersih, dan hak masyarakat adat atas tanah leluhur terlanggar bersamaan. Penghormatan hak dituntut pada seluruh relasi bisnis, termasuk pemasok.</a:t>
            </a:r>
            <a:endParaRPr lang="en-US" sz="1150" dirty="0"/>
          </a:p>
        </p:txBody>
      </p:sp>
      <p:sp>
        <p:nvSpPr>
          <p:cNvPr id="24" name="Shape 22"/>
          <p:cNvSpPr/>
          <p:nvPr/>
        </p:nvSpPr>
        <p:spPr>
          <a:xfrm>
            <a:off x="4582058" y="5376672"/>
            <a:ext cx="3027578" cy="347472"/>
          </a:xfrm>
          <a:prstGeom prst="roundRect">
            <a:avLst>
              <a:gd name="adj" fmla="val 23684"/>
            </a:avLst>
          </a:prstGeom>
          <a:solidFill>
            <a:srgbClr val="A9CD44"/>
          </a:solidFill>
          <a:ln/>
        </p:spPr>
      </p:sp>
      <p:sp>
        <p:nvSpPr>
          <p:cNvPr id="25" name="Text 23"/>
          <p:cNvSpPr txBox="1"/>
          <p:nvPr/>
        </p:nvSpPr>
        <p:spPr>
          <a:xfrm>
            <a:off x="4655210" y="5376672"/>
            <a:ext cx="2881274" cy="347472"/>
          </a:xfrm>
          <a:prstGeom prst="rect">
            <a:avLst/>
          </a:prstGeom>
          <a:noFill/>
          <a:ln/>
        </p:spPr>
        <p:txBody>
          <a:bodyPr wrap="square" lIns="0" tIns="0" rIns="0" bIns="0" rtlCol="0" anchor="ctr"/>
          <a:lstStyle/>
          <a:p>
            <a:pPr algn="ctr" indent="0" marL="0">
              <a:buNone/>
            </a:pPr>
            <a:r>
              <a:rPr lang="en-US" sz="950" b="1" spc="80" kern="0" dirty="0">
                <a:solidFill>
                  <a:srgbClr val="0E1626"/>
                </a:solidFill>
                <a:latin typeface="Calibri" pitchFamily="34" charset="0"/>
                <a:ea typeface="Calibri" pitchFamily="34" charset="-122"/>
                <a:cs typeface="Calibri" pitchFamily="34" charset="-120"/>
              </a:rPr>
              <a:t>MENDUKUNG BERSYARAT</a:t>
            </a:r>
            <a:endParaRPr lang="en-US" sz="950" dirty="0"/>
          </a:p>
        </p:txBody>
      </p:sp>
      <p:sp>
        <p:nvSpPr>
          <p:cNvPr id="26" name="Shape 24"/>
          <p:cNvSpPr/>
          <p:nvPr/>
        </p:nvSpPr>
        <p:spPr>
          <a:xfrm>
            <a:off x="8066837" y="1975104"/>
            <a:ext cx="3503066" cy="3931920"/>
          </a:xfrm>
          <a:prstGeom prst="roundRect">
            <a:avLst>
              <a:gd name="adj" fmla="val 4176"/>
            </a:avLst>
          </a:prstGeom>
          <a:solidFill>
            <a:srgbClr val="0FA98E"/>
          </a:solidFill>
          <a:ln/>
        </p:spPr>
      </p:sp>
      <p:sp>
        <p:nvSpPr>
          <p:cNvPr id="27" name="Shape 25"/>
          <p:cNvSpPr/>
          <p:nvPr/>
        </p:nvSpPr>
        <p:spPr>
          <a:xfrm>
            <a:off x="8304581" y="2194560"/>
            <a:ext cx="301752" cy="301752"/>
          </a:xfrm>
          <a:prstGeom prst="roundRect">
            <a:avLst>
              <a:gd name="adj" fmla="val 30303"/>
            </a:avLst>
          </a:prstGeom>
          <a:solidFill>
            <a:srgbClr val="3AB8A2"/>
          </a:solidFill>
          <a:ln/>
        </p:spPr>
      </p:sp>
      <p:sp>
        <p:nvSpPr>
          <p:cNvPr id="28" name="Text 26"/>
          <p:cNvSpPr txBox="1"/>
          <p:nvPr/>
        </p:nvSpPr>
        <p:spPr>
          <a:xfrm>
            <a:off x="8304581" y="2194560"/>
            <a:ext cx="301752"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9" name="Text 27"/>
          <p:cNvSpPr txBox="1"/>
          <p:nvPr/>
        </p:nvSpPr>
        <p:spPr>
          <a:xfrm>
            <a:off x="8706917" y="2203704"/>
            <a:ext cx="2625242" cy="274320"/>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Justice</a:t>
            </a:r>
            <a:endParaRPr lang="en-US" sz="1500" dirty="0"/>
          </a:p>
        </p:txBody>
      </p:sp>
      <p:sp>
        <p:nvSpPr>
          <p:cNvPr id="30" name="Text 28"/>
          <p:cNvSpPr txBox="1"/>
          <p:nvPr/>
        </p:nvSpPr>
        <p:spPr>
          <a:xfrm>
            <a:off x="8304581" y="2642616"/>
            <a:ext cx="3027578" cy="368300"/>
          </a:xfrm>
          <a:prstGeom prst="rect">
            <a:avLst/>
          </a:prstGeom>
          <a:noFill/>
          <a:ln/>
        </p:spPr>
        <p:txBody>
          <a:bodyPr wrap="square" lIns="0" tIns="0" rIns="0" bIns="0" rtlCol="0" anchor="t"/>
          <a:lstStyle/>
          <a:p>
            <a:pPr indent="0" marL="0">
              <a:lnSpc>
                <a:spcPts val="1450"/>
              </a:lnSpc>
              <a:buNone/>
            </a:pPr>
            <a:r>
              <a:rPr lang="en-US" sz="1100" i="1" dirty="0">
                <a:solidFill>
                  <a:srgbClr val="C1E9E2"/>
                </a:solidFill>
                <a:latin typeface="Calibri" pitchFamily="34" charset="0"/>
                <a:ea typeface="Calibri" pitchFamily="34" charset="-122"/>
                <a:cs typeface="Calibri" pitchFamily="34" charset="-120"/>
              </a:rPr>
              <a:t>Susunan apa yang dipilih tanpa mengetahui posisi yang akan ditempati?</a:t>
            </a:r>
            <a:endParaRPr lang="en-US" sz="1100" dirty="0"/>
          </a:p>
        </p:txBody>
      </p:sp>
      <p:sp>
        <p:nvSpPr>
          <p:cNvPr id="31" name="Text 29"/>
          <p:cNvSpPr txBox="1"/>
          <p:nvPr/>
        </p:nvSpPr>
        <p:spPr>
          <a:xfrm>
            <a:off x="8304581" y="3175508"/>
            <a:ext cx="3027578" cy="2073148"/>
          </a:xfrm>
          <a:prstGeom prst="rect">
            <a:avLst/>
          </a:prstGeom>
          <a:noFill/>
          <a:ln/>
        </p:spPr>
        <p:txBody>
          <a:bodyPr wrap="square" lIns="0" tIns="0" rIns="0" bIns="0" rtlCol="0" anchor="t"/>
          <a:lstStyle/>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Manfaat mengalir ke penerimaan nasional dan pemodal, sedangkan beban terkonsentrasi pada pekerja kawasan, warga hilir sungai, dan masyarakat adat.</a:t>
            </a:r>
            <a:endParaRPr lang="en-US" sz="1150" dirty="0"/>
          </a:p>
          <a:p>
            <a:pPr indent="0" marL="0">
              <a:lnSpc>
                <a:spcPts val="1650"/>
              </a:lnSpc>
              <a:buNone/>
            </a:pPr>
            <a:endParaRPr lang="en-US" sz="1150" dirty="0"/>
          </a:p>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Kabupaten penghasil justru lebih miskin daripada rata-rata provinsinya dan hanya 4,35 persen nilai tambah tinggal di daerah. Difference principle menuntut kebalikannya.</a:t>
            </a:r>
            <a:endParaRPr lang="en-US" sz="1150" dirty="0"/>
          </a:p>
        </p:txBody>
      </p:sp>
      <p:sp>
        <p:nvSpPr>
          <p:cNvPr id="32" name="Shape 30"/>
          <p:cNvSpPr/>
          <p:nvPr/>
        </p:nvSpPr>
        <p:spPr>
          <a:xfrm>
            <a:off x="8304581" y="5376672"/>
            <a:ext cx="3027578" cy="347472"/>
          </a:xfrm>
          <a:prstGeom prst="roundRect">
            <a:avLst>
              <a:gd name="adj" fmla="val 23684"/>
            </a:avLst>
          </a:prstGeom>
          <a:solidFill>
            <a:srgbClr val="0F6E64"/>
          </a:solidFill>
          <a:ln/>
        </p:spPr>
      </p:sp>
      <p:sp>
        <p:nvSpPr>
          <p:cNvPr id="33" name="Text 31"/>
          <p:cNvSpPr txBox="1"/>
          <p:nvPr/>
        </p:nvSpPr>
        <p:spPr>
          <a:xfrm>
            <a:off x="8377733" y="5376672"/>
            <a:ext cx="2881274" cy="347472"/>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Calibri" pitchFamily="34" charset="0"/>
                <a:ea typeface="Calibri" pitchFamily="34" charset="-122"/>
                <a:cs typeface="Calibri" pitchFamily="34" charset="-120"/>
              </a:rPr>
              <a:t>MENOLAK</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143914" cy="283464"/>
          </a:xfrm>
          <a:prstGeom prst="roundRect">
            <a:avLst>
              <a:gd name="adj" fmla="val 50000"/>
            </a:avLst>
          </a:prstGeom>
          <a:solidFill>
            <a:srgbClr val="C6F04A"/>
          </a:solidFill>
          <a:ln w="12700">
            <a:solidFill>
              <a:srgbClr val="C6F04A"/>
            </a:solidFill>
            <a:prstDash val="solid"/>
          </a:ln>
        </p:spPr>
      </p:sp>
      <p:sp>
        <p:nvSpPr>
          <p:cNvPr id="4" name="Text 2"/>
          <p:cNvSpPr txBox="1"/>
          <p:nvPr/>
        </p:nvSpPr>
        <p:spPr>
          <a:xfrm>
            <a:off x="621792" y="457200"/>
            <a:ext cx="114391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LENSA 6–9</a:t>
            </a:r>
            <a:endParaRPr lang="en-US" sz="950" dirty="0"/>
          </a:p>
        </p:txBody>
      </p:sp>
      <p:sp>
        <p:nvSpPr>
          <p:cNvPr id="5" name="Shape 3"/>
          <p:cNvSpPr/>
          <p:nvPr/>
        </p:nvSpPr>
        <p:spPr>
          <a:xfrm>
            <a:off x="1884578" y="457200"/>
            <a:ext cx="2320747"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884578" y="457200"/>
            <a:ext cx="2320747"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EMPAT TEORI ALTERNATIF</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14</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Penilaian Berbasis Konteks</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Objek penilaiannya karakter pelaku, relasi, prosedur, dan bahasa.</a:t>
            </a:r>
            <a:endParaRPr lang="en-US" sz="1350" dirty="0"/>
          </a:p>
        </p:txBody>
      </p:sp>
      <p:sp>
        <p:nvSpPr>
          <p:cNvPr id="10" name="Shape 8"/>
          <p:cNvSpPr/>
          <p:nvPr/>
        </p:nvSpPr>
        <p:spPr>
          <a:xfrm>
            <a:off x="621792" y="1975104"/>
            <a:ext cx="2599868" cy="3931920"/>
          </a:xfrm>
          <a:prstGeom prst="roundRect">
            <a:avLst>
              <a:gd name="adj" fmla="val 5627"/>
            </a:avLst>
          </a:prstGeom>
          <a:solidFill>
            <a:srgbClr val="4EA8DE"/>
          </a:solidFill>
          <a:ln/>
        </p:spPr>
      </p:sp>
      <p:sp>
        <p:nvSpPr>
          <p:cNvPr id="11" name="Shape 9"/>
          <p:cNvSpPr/>
          <p:nvPr/>
        </p:nvSpPr>
        <p:spPr>
          <a:xfrm>
            <a:off x="859536" y="2194560"/>
            <a:ext cx="301752" cy="301752"/>
          </a:xfrm>
          <a:prstGeom prst="roundRect">
            <a:avLst>
              <a:gd name="adj" fmla="val 30303"/>
            </a:avLst>
          </a:prstGeom>
          <a:solidFill>
            <a:srgbClr val="428EBD"/>
          </a:solidFill>
          <a:ln/>
        </p:spPr>
      </p:sp>
      <p:sp>
        <p:nvSpPr>
          <p:cNvPr id="12" name="Text 10"/>
          <p:cNvSpPr txBox="1"/>
          <p:nvPr/>
        </p:nvSpPr>
        <p:spPr>
          <a:xfrm>
            <a:off x="859536" y="2194560"/>
            <a:ext cx="301752" cy="301752"/>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6</a:t>
            </a:r>
            <a:endParaRPr lang="en-US" sz="1050" dirty="0"/>
          </a:p>
        </p:txBody>
      </p:sp>
      <p:sp>
        <p:nvSpPr>
          <p:cNvPr id="13" name="Text 11"/>
          <p:cNvSpPr txBox="1"/>
          <p:nvPr/>
        </p:nvSpPr>
        <p:spPr>
          <a:xfrm>
            <a:off x="1261872" y="2203704"/>
            <a:ext cx="1722044" cy="274320"/>
          </a:xfrm>
          <a:prstGeom prst="rect">
            <a:avLst/>
          </a:prstGeom>
          <a:noFill/>
          <a:ln/>
        </p:spPr>
        <p:txBody>
          <a:bodyPr wrap="square" lIns="0" tIns="0" rIns="0" bIns="0" rtlCol="0" anchor="t"/>
          <a:lstStyle/>
          <a:p>
            <a:pPr indent="0" marL="0">
              <a:lnSpc>
                <a:spcPts val="1830"/>
              </a:lnSpc>
              <a:buNone/>
            </a:pPr>
            <a:r>
              <a:rPr lang="en-US" sz="1500" b="1" dirty="0">
                <a:solidFill>
                  <a:srgbClr val="0E1626"/>
                </a:solidFill>
                <a:latin typeface="Calibri" pitchFamily="34" charset="0"/>
                <a:ea typeface="Calibri" pitchFamily="34" charset="-122"/>
                <a:cs typeface="Calibri" pitchFamily="34" charset="-120"/>
              </a:rPr>
              <a:t>Virtue Ethics</a:t>
            </a:r>
            <a:endParaRPr lang="en-US" sz="1500" dirty="0"/>
          </a:p>
        </p:txBody>
      </p:sp>
      <p:sp>
        <p:nvSpPr>
          <p:cNvPr id="14" name="Text 12"/>
          <p:cNvSpPr txBox="1"/>
          <p:nvPr/>
        </p:nvSpPr>
        <p:spPr>
          <a:xfrm>
            <a:off x="859536" y="2642616"/>
            <a:ext cx="2124380" cy="552450"/>
          </a:xfrm>
          <a:prstGeom prst="rect">
            <a:avLst/>
          </a:prstGeom>
          <a:noFill/>
          <a:ln/>
        </p:spPr>
        <p:txBody>
          <a:bodyPr wrap="square" lIns="0" tIns="0" rIns="0" bIns="0" rtlCol="0" anchor="t"/>
          <a:lstStyle/>
          <a:p>
            <a:pPr indent="0" marL="0">
              <a:lnSpc>
                <a:spcPts val="1450"/>
              </a:lnSpc>
              <a:buNone/>
            </a:pPr>
            <a:r>
              <a:rPr lang="en-US" sz="1100" i="1" dirty="0">
                <a:solidFill>
                  <a:srgbClr val="21425D"/>
                </a:solidFill>
                <a:latin typeface="Calibri" pitchFamily="34" charset="0"/>
                <a:ea typeface="Calibri" pitchFamily="34" charset="-122"/>
                <a:cs typeface="Calibri" pitchFamily="34" charset="-120"/>
              </a:rPr>
              <a:t>Bagaimana aktor berkarakter baik bertindak pada posisi ini?</a:t>
            </a:r>
            <a:endParaRPr lang="en-US" sz="1100" dirty="0"/>
          </a:p>
        </p:txBody>
      </p:sp>
      <p:sp>
        <p:nvSpPr>
          <p:cNvPr id="15" name="Text 13"/>
          <p:cNvSpPr txBox="1"/>
          <p:nvPr/>
        </p:nvSpPr>
        <p:spPr>
          <a:xfrm>
            <a:off x="859536" y="3359658"/>
            <a:ext cx="2124380" cy="1888998"/>
          </a:xfrm>
          <a:prstGeom prst="rect">
            <a:avLst/>
          </a:prstGeom>
          <a:noFill/>
          <a:ln/>
        </p:spPr>
        <p:txBody>
          <a:bodyPr wrap="square" lIns="0" tIns="0" rIns="0" bIns="0" rtlCol="0" anchor="t"/>
          <a:lstStyle/>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Pembandingnya adalah keadaan sebelum hilirisasi, bukan standar industri terbaik yang tersedia. Aktor berkarakter baik mengukur diri pada standar tertinggi yang dapat dicapai.</a:t>
            </a:r>
            <a:endParaRPr lang="en-US" sz="1150" dirty="0"/>
          </a:p>
        </p:txBody>
      </p:sp>
      <p:sp>
        <p:nvSpPr>
          <p:cNvPr id="16" name="Shape 14"/>
          <p:cNvSpPr/>
          <p:nvPr/>
        </p:nvSpPr>
        <p:spPr>
          <a:xfrm>
            <a:off x="859536" y="5376672"/>
            <a:ext cx="2124380" cy="347472"/>
          </a:xfrm>
          <a:prstGeom prst="roundRect">
            <a:avLst>
              <a:gd name="adj" fmla="val 23684"/>
            </a:avLst>
          </a:prstGeom>
          <a:solidFill>
            <a:srgbClr val="4491C1"/>
          </a:solidFill>
          <a:ln/>
        </p:spPr>
      </p:sp>
      <p:sp>
        <p:nvSpPr>
          <p:cNvPr id="17" name="Text 15"/>
          <p:cNvSpPr txBox="1"/>
          <p:nvPr/>
        </p:nvSpPr>
        <p:spPr>
          <a:xfrm>
            <a:off x="932688" y="5376672"/>
            <a:ext cx="1978076" cy="347472"/>
          </a:xfrm>
          <a:prstGeom prst="rect">
            <a:avLst/>
          </a:prstGeom>
          <a:noFill/>
          <a:ln/>
        </p:spPr>
        <p:txBody>
          <a:bodyPr wrap="square" lIns="0" tIns="0" rIns="0" bIns="0" rtlCol="0" anchor="ctr"/>
          <a:lstStyle/>
          <a:p>
            <a:pPr algn="ctr" indent="0" marL="0">
              <a:buNone/>
            </a:pPr>
            <a:r>
              <a:rPr lang="en-US" sz="950" b="1" spc="80" kern="0" dirty="0">
                <a:solidFill>
                  <a:srgbClr val="0E1626"/>
                </a:solidFill>
                <a:latin typeface="Calibri" pitchFamily="34" charset="0"/>
                <a:ea typeface="Calibri" pitchFamily="34" charset="-122"/>
                <a:cs typeface="Calibri" pitchFamily="34" charset="-120"/>
              </a:rPr>
              <a:t>MENOLAK FRAMING</a:t>
            </a:r>
            <a:endParaRPr lang="en-US" sz="950" dirty="0"/>
          </a:p>
        </p:txBody>
      </p:sp>
      <p:sp>
        <p:nvSpPr>
          <p:cNvPr id="18" name="Shape 16"/>
          <p:cNvSpPr/>
          <p:nvPr/>
        </p:nvSpPr>
        <p:spPr>
          <a:xfrm>
            <a:off x="3404540" y="1975104"/>
            <a:ext cx="2599868" cy="3931920"/>
          </a:xfrm>
          <a:prstGeom prst="roundRect">
            <a:avLst>
              <a:gd name="adj" fmla="val 5627"/>
            </a:avLst>
          </a:prstGeom>
          <a:solidFill>
            <a:srgbClr val="6C7BE0"/>
          </a:solidFill>
          <a:ln/>
        </p:spPr>
      </p:sp>
      <p:sp>
        <p:nvSpPr>
          <p:cNvPr id="19" name="Shape 17"/>
          <p:cNvSpPr/>
          <p:nvPr/>
        </p:nvSpPr>
        <p:spPr>
          <a:xfrm>
            <a:off x="3642284" y="2194560"/>
            <a:ext cx="301752" cy="301752"/>
          </a:xfrm>
          <a:prstGeom prst="roundRect">
            <a:avLst>
              <a:gd name="adj" fmla="val 30303"/>
            </a:avLst>
          </a:prstGeom>
          <a:solidFill>
            <a:srgbClr val="8693E6"/>
          </a:solidFill>
          <a:ln/>
        </p:spPr>
      </p:sp>
      <p:sp>
        <p:nvSpPr>
          <p:cNvPr id="20" name="Text 18"/>
          <p:cNvSpPr txBox="1"/>
          <p:nvPr/>
        </p:nvSpPr>
        <p:spPr>
          <a:xfrm>
            <a:off x="3642284" y="2194560"/>
            <a:ext cx="301752"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21" name="Text 19"/>
          <p:cNvSpPr txBox="1"/>
          <p:nvPr/>
        </p:nvSpPr>
        <p:spPr>
          <a:xfrm>
            <a:off x="4044620" y="2203704"/>
            <a:ext cx="1722044" cy="274320"/>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Ethic of Care</a:t>
            </a:r>
            <a:endParaRPr lang="en-US" sz="1500" dirty="0"/>
          </a:p>
        </p:txBody>
      </p:sp>
      <p:sp>
        <p:nvSpPr>
          <p:cNvPr id="22" name="Text 20"/>
          <p:cNvSpPr txBox="1"/>
          <p:nvPr/>
        </p:nvSpPr>
        <p:spPr>
          <a:xfrm>
            <a:off x="3642284" y="2642616"/>
            <a:ext cx="2124380" cy="552450"/>
          </a:xfrm>
          <a:prstGeom prst="rect">
            <a:avLst/>
          </a:prstGeom>
          <a:noFill/>
          <a:ln/>
        </p:spPr>
        <p:txBody>
          <a:bodyPr wrap="square" lIns="0" tIns="0" rIns="0" bIns="0" rtlCol="0" anchor="t"/>
          <a:lstStyle/>
          <a:p>
            <a:pPr indent="0" marL="0">
              <a:lnSpc>
                <a:spcPts val="1450"/>
              </a:lnSpc>
              <a:buNone/>
            </a:pPr>
            <a:r>
              <a:rPr lang="en-US" sz="1100" i="1" dirty="0">
                <a:solidFill>
                  <a:srgbClr val="D9DDF7"/>
                </a:solidFill>
                <a:latin typeface="Calibri" pitchFamily="34" charset="0"/>
                <a:ea typeface="Calibri" pitchFamily="34" charset="-122"/>
                <a:cs typeface="Calibri" pitchFamily="34" charset="-120"/>
              </a:rPr>
              <a:t>Solusi mana yang memelihara relasi dengan pihak terdampak?</a:t>
            </a:r>
            <a:endParaRPr lang="en-US" sz="1100" dirty="0"/>
          </a:p>
        </p:txBody>
      </p:sp>
      <p:sp>
        <p:nvSpPr>
          <p:cNvPr id="23" name="Text 21"/>
          <p:cNvSpPr txBox="1"/>
          <p:nvPr/>
        </p:nvSpPr>
        <p:spPr>
          <a:xfrm>
            <a:off x="3642284" y="3359658"/>
            <a:ext cx="2124380" cy="1888998"/>
          </a:xfrm>
          <a:prstGeom prst="rect">
            <a:avLst/>
          </a:prstGeom>
          <a:noFill/>
          <a:ln/>
        </p:spPr>
        <p:txBody>
          <a:bodyPr wrap="square" lIns="0" tIns="0" rIns="0" bIns="0" rtlCol="0" anchor="t"/>
          <a:lstStyle/>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Warga hilir sungai dan masyarakat adat berjumlah 300 sampai 500 jiwa merupakan pihak berelasi, bukan variabel biaya. Yang dituntut pemulihan dan wilayah lindung, bukan penghentian mendadak.</a:t>
            </a:r>
            <a:endParaRPr lang="en-US" sz="1150" dirty="0"/>
          </a:p>
        </p:txBody>
      </p:sp>
      <p:sp>
        <p:nvSpPr>
          <p:cNvPr id="24" name="Shape 22"/>
          <p:cNvSpPr/>
          <p:nvPr/>
        </p:nvSpPr>
        <p:spPr>
          <a:xfrm>
            <a:off x="3642284" y="5376672"/>
            <a:ext cx="2124380" cy="347472"/>
          </a:xfrm>
          <a:prstGeom prst="roundRect">
            <a:avLst>
              <a:gd name="adj" fmla="val 23684"/>
            </a:avLst>
          </a:prstGeom>
          <a:solidFill>
            <a:srgbClr val="465396"/>
          </a:solidFill>
          <a:ln/>
        </p:spPr>
      </p:sp>
      <p:sp>
        <p:nvSpPr>
          <p:cNvPr id="25" name="Text 23"/>
          <p:cNvSpPr txBox="1"/>
          <p:nvPr/>
        </p:nvSpPr>
        <p:spPr>
          <a:xfrm>
            <a:off x="3715436" y="5376672"/>
            <a:ext cx="1978076" cy="347472"/>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Calibri" pitchFamily="34" charset="0"/>
                <a:ea typeface="Calibri" pitchFamily="34" charset="-122"/>
                <a:cs typeface="Calibri" pitchFamily="34" charset="-120"/>
              </a:rPr>
              <a:t>MENUNTUT PEMULIHAN</a:t>
            </a:r>
            <a:endParaRPr lang="en-US" sz="950" dirty="0"/>
          </a:p>
        </p:txBody>
      </p:sp>
      <p:sp>
        <p:nvSpPr>
          <p:cNvPr id="26" name="Shape 24"/>
          <p:cNvSpPr/>
          <p:nvPr/>
        </p:nvSpPr>
        <p:spPr>
          <a:xfrm>
            <a:off x="6187288" y="1975104"/>
            <a:ext cx="2599868" cy="3931920"/>
          </a:xfrm>
          <a:prstGeom prst="roundRect">
            <a:avLst>
              <a:gd name="adj" fmla="val 5627"/>
            </a:avLst>
          </a:prstGeom>
          <a:solidFill>
            <a:srgbClr val="B8A6F5"/>
          </a:solidFill>
          <a:ln/>
        </p:spPr>
      </p:sp>
      <p:sp>
        <p:nvSpPr>
          <p:cNvPr id="27" name="Shape 25"/>
          <p:cNvSpPr/>
          <p:nvPr/>
        </p:nvSpPr>
        <p:spPr>
          <a:xfrm>
            <a:off x="6425032" y="2194560"/>
            <a:ext cx="301752" cy="301752"/>
          </a:xfrm>
          <a:prstGeom prst="roundRect">
            <a:avLst>
              <a:gd name="adj" fmla="val 30303"/>
            </a:avLst>
          </a:prstGeom>
          <a:solidFill>
            <a:srgbClr val="998CD0"/>
          </a:solidFill>
          <a:ln/>
        </p:spPr>
      </p:sp>
      <p:sp>
        <p:nvSpPr>
          <p:cNvPr id="28" name="Text 26"/>
          <p:cNvSpPr txBox="1"/>
          <p:nvPr/>
        </p:nvSpPr>
        <p:spPr>
          <a:xfrm>
            <a:off x="6425032" y="2194560"/>
            <a:ext cx="301752" cy="301752"/>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8</a:t>
            </a:r>
            <a:endParaRPr lang="en-US" sz="1050" dirty="0"/>
          </a:p>
        </p:txBody>
      </p:sp>
      <p:sp>
        <p:nvSpPr>
          <p:cNvPr id="29" name="Text 27"/>
          <p:cNvSpPr txBox="1"/>
          <p:nvPr/>
        </p:nvSpPr>
        <p:spPr>
          <a:xfrm>
            <a:off x="6827368" y="2203704"/>
            <a:ext cx="1722044" cy="464820"/>
          </a:xfrm>
          <a:prstGeom prst="rect">
            <a:avLst/>
          </a:prstGeom>
          <a:noFill/>
          <a:ln/>
        </p:spPr>
        <p:txBody>
          <a:bodyPr wrap="square" lIns="0" tIns="0" rIns="0" bIns="0" rtlCol="0" anchor="t"/>
          <a:lstStyle/>
          <a:p>
            <a:pPr indent="0" marL="0">
              <a:lnSpc>
                <a:spcPts val="1830"/>
              </a:lnSpc>
              <a:buNone/>
            </a:pPr>
            <a:r>
              <a:rPr lang="en-US" sz="1500" b="1" dirty="0">
                <a:solidFill>
                  <a:srgbClr val="0E1626"/>
                </a:solidFill>
                <a:latin typeface="Calibri" pitchFamily="34" charset="0"/>
                <a:ea typeface="Calibri" pitchFamily="34" charset="-122"/>
                <a:cs typeface="Calibri" pitchFamily="34" charset="-120"/>
              </a:rPr>
              <a:t>Discourse Ethics</a:t>
            </a:r>
            <a:endParaRPr lang="en-US" sz="1500" dirty="0"/>
          </a:p>
        </p:txBody>
      </p:sp>
      <p:sp>
        <p:nvSpPr>
          <p:cNvPr id="30" name="Text 28"/>
          <p:cNvSpPr txBox="1"/>
          <p:nvPr/>
        </p:nvSpPr>
        <p:spPr>
          <a:xfrm>
            <a:off x="6425032" y="2833116"/>
            <a:ext cx="2124380" cy="552450"/>
          </a:xfrm>
          <a:prstGeom prst="rect">
            <a:avLst/>
          </a:prstGeom>
          <a:noFill/>
          <a:ln/>
        </p:spPr>
        <p:txBody>
          <a:bodyPr wrap="square" lIns="0" tIns="0" rIns="0" bIns="0" rtlCol="0" anchor="t"/>
          <a:lstStyle/>
          <a:p>
            <a:pPr indent="0" marL="0">
              <a:lnSpc>
                <a:spcPts val="1450"/>
              </a:lnSpc>
              <a:buNone/>
            </a:pPr>
            <a:r>
              <a:rPr lang="en-US" sz="1100" i="1" dirty="0">
                <a:solidFill>
                  <a:srgbClr val="414164"/>
                </a:solidFill>
                <a:latin typeface="Calibri" pitchFamily="34" charset="0"/>
                <a:ea typeface="Calibri" pitchFamily="34" charset="-122"/>
                <a:cs typeface="Calibri" pitchFamily="34" charset="-120"/>
              </a:rPr>
              <a:t>Norma apa yang dapat dirumuskan melalui deliberasi terbuka?</a:t>
            </a:r>
            <a:endParaRPr lang="en-US" sz="1100" dirty="0"/>
          </a:p>
        </p:txBody>
      </p:sp>
      <p:sp>
        <p:nvSpPr>
          <p:cNvPr id="31" name="Text 29"/>
          <p:cNvSpPr txBox="1"/>
          <p:nvPr/>
        </p:nvSpPr>
        <p:spPr>
          <a:xfrm>
            <a:off x="6425032" y="3550158"/>
            <a:ext cx="2124380" cy="1698498"/>
          </a:xfrm>
          <a:prstGeom prst="rect">
            <a:avLst/>
          </a:prstGeom>
          <a:noFill/>
          <a:ln/>
        </p:spPr>
        <p:txBody>
          <a:bodyPr wrap="square" lIns="0" tIns="0" rIns="0" bIns="0" rtlCol="0" anchor="t"/>
          <a:lstStyle/>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Warga terdampak bukan pihak dalam perumusan kebijakan maupun perizinan kawasan. Syarat keterlibatan setara dan bebas paksaan tidak terpenuhi sejak awal.</a:t>
            </a:r>
            <a:endParaRPr lang="en-US" sz="1150" dirty="0"/>
          </a:p>
        </p:txBody>
      </p:sp>
      <p:sp>
        <p:nvSpPr>
          <p:cNvPr id="32" name="Shape 30"/>
          <p:cNvSpPr/>
          <p:nvPr/>
        </p:nvSpPr>
        <p:spPr>
          <a:xfrm>
            <a:off x="6425032" y="5376672"/>
            <a:ext cx="2124380" cy="347472"/>
          </a:xfrm>
          <a:prstGeom prst="roundRect">
            <a:avLst>
              <a:gd name="adj" fmla="val 23684"/>
            </a:avLst>
          </a:prstGeom>
          <a:solidFill>
            <a:srgbClr val="9D8FD4"/>
          </a:solidFill>
          <a:ln/>
        </p:spPr>
      </p:sp>
      <p:sp>
        <p:nvSpPr>
          <p:cNvPr id="33" name="Text 31"/>
          <p:cNvSpPr txBox="1"/>
          <p:nvPr/>
        </p:nvSpPr>
        <p:spPr>
          <a:xfrm>
            <a:off x="6498184" y="5376672"/>
            <a:ext cx="1978076" cy="347472"/>
          </a:xfrm>
          <a:prstGeom prst="rect">
            <a:avLst/>
          </a:prstGeom>
          <a:noFill/>
          <a:ln/>
        </p:spPr>
        <p:txBody>
          <a:bodyPr wrap="square" lIns="0" tIns="0" rIns="0" bIns="0" rtlCol="0" anchor="ctr"/>
          <a:lstStyle/>
          <a:p>
            <a:pPr algn="ctr" indent="0" marL="0">
              <a:buNone/>
            </a:pPr>
            <a:r>
              <a:rPr lang="en-US" sz="950" b="1" spc="80" kern="0" dirty="0">
                <a:solidFill>
                  <a:srgbClr val="0E1626"/>
                </a:solidFill>
                <a:latin typeface="Calibri" pitchFamily="34" charset="0"/>
                <a:ea typeface="Calibri" pitchFamily="34" charset="-122"/>
                <a:cs typeface="Calibri" pitchFamily="34" charset="-120"/>
              </a:rPr>
              <a:t>MENOLAK PROSES</a:t>
            </a:r>
            <a:endParaRPr lang="en-US" sz="950" dirty="0"/>
          </a:p>
        </p:txBody>
      </p:sp>
      <p:sp>
        <p:nvSpPr>
          <p:cNvPr id="34" name="Shape 32"/>
          <p:cNvSpPr/>
          <p:nvPr/>
        </p:nvSpPr>
        <p:spPr>
          <a:xfrm>
            <a:off x="8970035" y="1975104"/>
            <a:ext cx="2599868" cy="3931920"/>
          </a:xfrm>
          <a:prstGeom prst="roundRect">
            <a:avLst>
              <a:gd name="adj" fmla="val 5627"/>
            </a:avLst>
          </a:prstGeom>
          <a:solidFill>
            <a:srgbClr val="E86A9B"/>
          </a:solidFill>
          <a:ln/>
        </p:spPr>
      </p:sp>
      <p:sp>
        <p:nvSpPr>
          <p:cNvPr id="35" name="Shape 33"/>
          <p:cNvSpPr/>
          <p:nvPr/>
        </p:nvSpPr>
        <p:spPr>
          <a:xfrm>
            <a:off x="9207779" y="2194560"/>
            <a:ext cx="301752" cy="301752"/>
          </a:xfrm>
          <a:prstGeom prst="roundRect">
            <a:avLst>
              <a:gd name="adj" fmla="val 30303"/>
            </a:avLst>
          </a:prstGeom>
          <a:solidFill>
            <a:srgbClr val="EC85AD"/>
          </a:solidFill>
          <a:ln/>
        </p:spPr>
      </p:sp>
      <p:sp>
        <p:nvSpPr>
          <p:cNvPr id="36" name="Text 34"/>
          <p:cNvSpPr txBox="1"/>
          <p:nvPr/>
        </p:nvSpPr>
        <p:spPr>
          <a:xfrm>
            <a:off x="9207779" y="2194560"/>
            <a:ext cx="301752"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9</a:t>
            </a:r>
            <a:endParaRPr lang="en-US" sz="1050" dirty="0"/>
          </a:p>
        </p:txBody>
      </p:sp>
      <p:sp>
        <p:nvSpPr>
          <p:cNvPr id="37" name="Text 35"/>
          <p:cNvSpPr txBox="1"/>
          <p:nvPr/>
        </p:nvSpPr>
        <p:spPr>
          <a:xfrm>
            <a:off x="9610115" y="2203704"/>
            <a:ext cx="1722044" cy="464820"/>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Postmodern Ethics</a:t>
            </a:r>
            <a:endParaRPr lang="en-US" sz="1500" dirty="0"/>
          </a:p>
        </p:txBody>
      </p:sp>
      <p:sp>
        <p:nvSpPr>
          <p:cNvPr id="38" name="Text 36"/>
          <p:cNvSpPr txBox="1"/>
          <p:nvPr/>
        </p:nvSpPr>
        <p:spPr>
          <a:xfrm>
            <a:off x="9207779" y="2833116"/>
            <a:ext cx="2124380" cy="552450"/>
          </a:xfrm>
          <a:prstGeom prst="rect">
            <a:avLst/>
          </a:prstGeom>
          <a:noFill/>
          <a:ln/>
        </p:spPr>
        <p:txBody>
          <a:bodyPr wrap="square" lIns="0" tIns="0" rIns="0" bIns="0" rtlCol="0" anchor="t"/>
          <a:lstStyle/>
          <a:p>
            <a:pPr indent="0" marL="0">
              <a:lnSpc>
                <a:spcPts val="1450"/>
              </a:lnSpc>
              <a:buNone/>
            </a:pPr>
            <a:r>
              <a:rPr lang="en-US" sz="1100" i="1" dirty="0">
                <a:solidFill>
                  <a:srgbClr val="F9D8E5"/>
                </a:solidFill>
                <a:latin typeface="Calibri" pitchFamily="34" charset="0"/>
                <a:ea typeface="Calibri" pitchFamily="34" charset="-122"/>
                <a:cs typeface="Calibri" pitchFamily="34" charset="-120"/>
              </a:rPr>
              <a:t>Kepentingan siapa yang dilayani oleh pemilihan istilah?</a:t>
            </a:r>
            <a:endParaRPr lang="en-US" sz="1100" dirty="0"/>
          </a:p>
        </p:txBody>
      </p:sp>
      <p:sp>
        <p:nvSpPr>
          <p:cNvPr id="39" name="Text 37"/>
          <p:cNvSpPr txBox="1"/>
          <p:nvPr/>
        </p:nvSpPr>
        <p:spPr>
          <a:xfrm>
            <a:off x="9207779" y="3550158"/>
            <a:ext cx="2124380" cy="1698498"/>
          </a:xfrm>
          <a:prstGeom prst="rect">
            <a:avLst/>
          </a:prstGeom>
          <a:noFill/>
          <a:ln/>
        </p:spPr>
        <p:txBody>
          <a:bodyPr wrap="square" lIns="0" tIns="0" rIns="0" bIns="0" rtlCol="0" anchor="t"/>
          <a:lstStyle/>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Hilirisasi berkonotasi kemajuan, ekstraksi berkonotasi pengurasan. Nikel hijau dipakai bagi pengolahan yang listriknya bertumpu pada batu bara.</a:t>
            </a:r>
            <a:endParaRPr lang="en-US" sz="1150" dirty="0"/>
          </a:p>
        </p:txBody>
      </p:sp>
      <p:sp>
        <p:nvSpPr>
          <p:cNvPr id="40" name="Shape 38"/>
          <p:cNvSpPr/>
          <p:nvPr/>
        </p:nvSpPr>
        <p:spPr>
          <a:xfrm>
            <a:off x="9207779" y="5376672"/>
            <a:ext cx="2124380" cy="347472"/>
          </a:xfrm>
          <a:prstGeom prst="roundRect">
            <a:avLst>
              <a:gd name="adj" fmla="val 23684"/>
            </a:avLst>
          </a:prstGeom>
          <a:solidFill>
            <a:srgbClr val="91486C"/>
          </a:solidFill>
          <a:ln/>
        </p:spPr>
      </p:sp>
      <p:sp>
        <p:nvSpPr>
          <p:cNvPr id="41" name="Text 39"/>
          <p:cNvSpPr txBox="1"/>
          <p:nvPr/>
        </p:nvSpPr>
        <p:spPr>
          <a:xfrm>
            <a:off x="9280931" y="5376672"/>
            <a:ext cx="1978076" cy="347472"/>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Calibri" pitchFamily="34" charset="0"/>
                <a:ea typeface="Calibri" pitchFamily="34" charset="-122"/>
                <a:cs typeface="Calibri" pitchFamily="34" charset="-120"/>
              </a:rPr>
              <a:t>ANTI ABSOLUT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053389"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053389"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SINTESIS</a:t>
            </a:r>
            <a:endParaRPr lang="en-US" sz="950" dirty="0"/>
          </a:p>
        </p:txBody>
      </p:sp>
      <p:sp>
        <p:nvSpPr>
          <p:cNvPr id="5" name="Shape 3"/>
          <p:cNvSpPr/>
          <p:nvPr/>
        </p:nvSpPr>
        <p:spPr>
          <a:xfrm>
            <a:off x="1794053" y="457200"/>
            <a:ext cx="1777594"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94053" y="457200"/>
            <a:ext cx="177759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SEMBILAN PUTUSAN</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15</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Matriks Sembilan Lensa</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Shape 7"/>
          <p:cNvSpPr/>
          <p:nvPr/>
        </p:nvSpPr>
        <p:spPr>
          <a:xfrm>
            <a:off x="621792" y="1719072"/>
            <a:ext cx="10948111" cy="420624"/>
          </a:xfrm>
          <a:prstGeom prst="roundRect">
            <a:avLst>
              <a:gd name="adj" fmla="val 17391"/>
            </a:avLst>
          </a:prstGeom>
          <a:solidFill>
            <a:srgbClr val="FFFFFF"/>
          </a:solidFill>
          <a:ln/>
        </p:spPr>
      </p:sp>
      <p:sp>
        <p:nvSpPr>
          <p:cNvPr id="10" name="Shape 8"/>
          <p:cNvSpPr/>
          <p:nvPr/>
        </p:nvSpPr>
        <p:spPr>
          <a:xfrm>
            <a:off x="621792" y="1719072"/>
            <a:ext cx="128016" cy="420624"/>
          </a:xfrm>
          <a:prstGeom prst="rect">
            <a:avLst/>
          </a:prstGeom>
          <a:solidFill>
            <a:srgbClr val="AB463C"/>
          </a:solidFill>
          <a:ln/>
        </p:spPr>
      </p:sp>
      <p:sp>
        <p:nvSpPr>
          <p:cNvPr id="11" name="Text 9"/>
          <p:cNvSpPr txBox="1"/>
          <p:nvPr/>
        </p:nvSpPr>
        <p:spPr>
          <a:xfrm>
            <a:off x="932688" y="1719072"/>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1.  Egoism</a:t>
            </a:r>
            <a:endParaRPr lang="en-US" sz="1150" dirty="0"/>
          </a:p>
        </p:txBody>
      </p:sp>
      <p:sp>
        <p:nvSpPr>
          <p:cNvPr id="12" name="Text 10"/>
          <p:cNvSpPr txBox="1"/>
          <p:nvPr/>
        </p:nvSpPr>
        <p:spPr>
          <a:xfrm>
            <a:off x="3035808" y="1719072"/>
            <a:ext cx="621792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Biaya kesehatan, pemulihan sungai, dan pensiun pembangkit belum masuk perhitungan</a:t>
            </a:r>
            <a:endParaRPr lang="en-US" sz="1100" dirty="0"/>
          </a:p>
        </p:txBody>
      </p:sp>
      <p:sp>
        <p:nvSpPr>
          <p:cNvPr id="13" name="Text 11"/>
          <p:cNvSpPr txBox="1"/>
          <p:nvPr/>
        </p:nvSpPr>
        <p:spPr>
          <a:xfrm>
            <a:off x="9345168" y="1719072"/>
            <a:ext cx="2041855" cy="420624"/>
          </a:xfrm>
          <a:prstGeom prst="rect">
            <a:avLst/>
          </a:prstGeom>
          <a:noFill/>
          <a:ln/>
        </p:spPr>
        <p:txBody>
          <a:bodyPr wrap="square" lIns="0" tIns="0" rIns="0" bIns="0" rtlCol="0" anchor="ctr"/>
          <a:lstStyle/>
          <a:p>
            <a:pPr algn="r" indent="0" marL="0">
              <a:buNone/>
            </a:pPr>
            <a:r>
              <a:rPr lang="en-US" sz="1150" b="1" dirty="0">
                <a:solidFill>
                  <a:srgbClr val="AB463C"/>
                </a:solidFill>
                <a:latin typeface="Calibri" pitchFamily="34" charset="0"/>
                <a:ea typeface="Calibri" pitchFamily="34" charset="-122"/>
                <a:cs typeface="Calibri" pitchFamily="34" charset="-120"/>
              </a:rPr>
              <a:t>Netral</a:t>
            </a:r>
            <a:endParaRPr lang="en-US" sz="1150" dirty="0"/>
          </a:p>
        </p:txBody>
      </p:sp>
      <p:sp>
        <p:nvSpPr>
          <p:cNvPr id="14" name="Shape 12"/>
          <p:cNvSpPr/>
          <p:nvPr/>
        </p:nvSpPr>
        <p:spPr>
          <a:xfrm>
            <a:off x="621792" y="2212848"/>
            <a:ext cx="10948111" cy="420624"/>
          </a:xfrm>
          <a:prstGeom prst="roundRect">
            <a:avLst>
              <a:gd name="adj" fmla="val 17391"/>
            </a:avLst>
          </a:prstGeom>
          <a:solidFill>
            <a:srgbClr val="FFFFFF"/>
          </a:solidFill>
          <a:ln/>
        </p:spPr>
      </p:sp>
      <p:sp>
        <p:nvSpPr>
          <p:cNvPr id="15" name="Shape 13"/>
          <p:cNvSpPr/>
          <p:nvPr/>
        </p:nvSpPr>
        <p:spPr>
          <a:xfrm>
            <a:off x="621792" y="2212848"/>
            <a:ext cx="128016" cy="420624"/>
          </a:xfrm>
          <a:prstGeom prst="rect">
            <a:avLst/>
          </a:prstGeom>
          <a:solidFill>
            <a:srgbClr val="FF5A2D"/>
          </a:solidFill>
          <a:ln/>
        </p:spPr>
      </p:sp>
      <p:sp>
        <p:nvSpPr>
          <p:cNvPr id="16" name="Text 14"/>
          <p:cNvSpPr txBox="1"/>
          <p:nvPr/>
        </p:nvSpPr>
        <p:spPr>
          <a:xfrm>
            <a:off x="932688" y="2212848"/>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2.  Utilitarianism</a:t>
            </a:r>
            <a:endParaRPr lang="en-US" sz="1150" dirty="0"/>
          </a:p>
        </p:txBody>
      </p:sp>
      <p:sp>
        <p:nvSpPr>
          <p:cNvPr id="17" name="Text 15"/>
          <p:cNvSpPr txBox="1"/>
          <p:nvPr/>
        </p:nvSpPr>
        <p:spPr>
          <a:xfrm>
            <a:off x="3035808" y="2212848"/>
            <a:ext cx="621792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Act mendukung manfaat kini, rule menolak karena emisinya membatalkan pembenarnya</a:t>
            </a:r>
            <a:endParaRPr lang="en-US" sz="1100" dirty="0"/>
          </a:p>
        </p:txBody>
      </p:sp>
      <p:sp>
        <p:nvSpPr>
          <p:cNvPr id="18" name="Text 16"/>
          <p:cNvSpPr txBox="1"/>
          <p:nvPr/>
        </p:nvSpPr>
        <p:spPr>
          <a:xfrm>
            <a:off x="9345168" y="2212848"/>
            <a:ext cx="2041855" cy="420624"/>
          </a:xfrm>
          <a:prstGeom prst="rect">
            <a:avLst/>
          </a:prstGeom>
          <a:noFill/>
          <a:ln/>
        </p:spPr>
        <p:txBody>
          <a:bodyPr wrap="square" lIns="0" tIns="0" rIns="0" bIns="0" rtlCol="0" anchor="ctr"/>
          <a:lstStyle/>
          <a:p>
            <a:pPr algn="r" indent="0" marL="0">
              <a:buNone/>
            </a:pPr>
            <a:r>
              <a:rPr lang="en-US" sz="1150" b="1" dirty="0">
                <a:solidFill>
                  <a:srgbClr val="FF5A2D"/>
                </a:solidFill>
                <a:latin typeface="Calibri" pitchFamily="34" charset="0"/>
                <a:ea typeface="Calibri" pitchFamily="34" charset="-122"/>
                <a:cs typeface="Calibri" pitchFamily="34" charset="-120"/>
              </a:rPr>
              <a:t>Terbelah</a:t>
            </a:r>
            <a:endParaRPr lang="en-US" sz="1150" dirty="0"/>
          </a:p>
        </p:txBody>
      </p:sp>
      <p:sp>
        <p:nvSpPr>
          <p:cNvPr id="19" name="Shape 17"/>
          <p:cNvSpPr/>
          <p:nvPr/>
        </p:nvSpPr>
        <p:spPr>
          <a:xfrm>
            <a:off x="621792" y="2706624"/>
            <a:ext cx="10948111" cy="420624"/>
          </a:xfrm>
          <a:prstGeom prst="roundRect">
            <a:avLst>
              <a:gd name="adj" fmla="val 17391"/>
            </a:avLst>
          </a:prstGeom>
          <a:solidFill>
            <a:srgbClr val="FFFFFF"/>
          </a:solidFill>
          <a:ln/>
        </p:spPr>
      </p:sp>
      <p:sp>
        <p:nvSpPr>
          <p:cNvPr id="20" name="Shape 18"/>
          <p:cNvSpPr/>
          <p:nvPr/>
        </p:nvSpPr>
        <p:spPr>
          <a:xfrm>
            <a:off x="621792" y="2706624"/>
            <a:ext cx="128016" cy="420624"/>
          </a:xfrm>
          <a:prstGeom prst="rect">
            <a:avLst/>
          </a:prstGeom>
          <a:solidFill>
            <a:srgbClr val="F5B722"/>
          </a:solidFill>
          <a:ln/>
        </p:spPr>
      </p:sp>
      <p:sp>
        <p:nvSpPr>
          <p:cNvPr id="21" name="Text 19"/>
          <p:cNvSpPr txBox="1"/>
          <p:nvPr/>
        </p:nvSpPr>
        <p:spPr>
          <a:xfrm>
            <a:off x="932688" y="2706624"/>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3.  Ethics of Duty</a:t>
            </a:r>
            <a:endParaRPr lang="en-US" sz="1150" dirty="0"/>
          </a:p>
        </p:txBody>
      </p:sp>
      <p:sp>
        <p:nvSpPr>
          <p:cNvPr id="22" name="Text 20"/>
          <p:cNvSpPr txBox="1"/>
          <p:nvPr/>
        </p:nvSpPr>
        <p:spPr>
          <a:xfrm>
            <a:off x="3035808" y="2706624"/>
            <a:ext cx="621792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Menunda standar upah dan keselamatan gagal diuniversalkan ke seluruh negara</a:t>
            </a:r>
            <a:endParaRPr lang="en-US" sz="1100" dirty="0"/>
          </a:p>
        </p:txBody>
      </p:sp>
      <p:sp>
        <p:nvSpPr>
          <p:cNvPr id="23" name="Text 21"/>
          <p:cNvSpPr txBox="1"/>
          <p:nvPr/>
        </p:nvSpPr>
        <p:spPr>
          <a:xfrm>
            <a:off x="9345168" y="2706624"/>
            <a:ext cx="2041855" cy="420624"/>
          </a:xfrm>
          <a:prstGeom prst="rect">
            <a:avLst/>
          </a:prstGeom>
          <a:noFill/>
          <a:ln/>
        </p:spPr>
        <p:txBody>
          <a:bodyPr wrap="square" lIns="0" tIns="0" rIns="0" bIns="0" rtlCol="0" anchor="ctr"/>
          <a:lstStyle/>
          <a:p>
            <a:pPr algn="r" indent="0" marL="0">
              <a:buNone/>
            </a:pPr>
            <a:r>
              <a:rPr lang="en-US" sz="1150" b="1" dirty="0">
                <a:solidFill>
                  <a:srgbClr val="947324"/>
                </a:solidFill>
                <a:latin typeface="Calibri" pitchFamily="34" charset="0"/>
                <a:ea typeface="Calibri" pitchFamily="34" charset="-122"/>
                <a:cs typeface="Calibri" pitchFamily="34" charset="-120"/>
              </a:rPr>
              <a:t>Menolak</a:t>
            </a:r>
            <a:endParaRPr lang="en-US" sz="1150" dirty="0"/>
          </a:p>
        </p:txBody>
      </p:sp>
      <p:sp>
        <p:nvSpPr>
          <p:cNvPr id="24" name="Shape 22"/>
          <p:cNvSpPr/>
          <p:nvPr/>
        </p:nvSpPr>
        <p:spPr>
          <a:xfrm>
            <a:off x="621792" y="3200400"/>
            <a:ext cx="10948111" cy="420624"/>
          </a:xfrm>
          <a:prstGeom prst="roundRect">
            <a:avLst>
              <a:gd name="adj" fmla="val 17391"/>
            </a:avLst>
          </a:prstGeom>
          <a:solidFill>
            <a:srgbClr val="FFFFFF"/>
          </a:solidFill>
          <a:ln/>
        </p:spPr>
      </p:sp>
      <p:sp>
        <p:nvSpPr>
          <p:cNvPr id="25" name="Shape 23"/>
          <p:cNvSpPr/>
          <p:nvPr/>
        </p:nvSpPr>
        <p:spPr>
          <a:xfrm>
            <a:off x="621792" y="3200400"/>
            <a:ext cx="128016" cy="420624"/>
          </a:xfrm>
          <a:prstGeom prst="rect">
            <a:avLst/>
          </a:prstGeom>
          <a:solidFill>
            <a:srgbClr val="C6F04A"/>
          </a:solidFill>
          <a:ln/>
        </p:spPr>
      </p:sp>
      <p:sp>
        <p:nvSpPr>
          <p:cNvPr id="26" name="Text 24"/>
          <p:cNvSpPr txBox="1"/>
          <p:nvPr/>
        </p:nvSpPr>
        <p:spPr>
          <a:xfrm>
            <a:off x="932688" y="3200400"/>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4.  Ethics of Rights</a:t>
            </a:r>
            <a:endParaRPr lang="en-US" sz="1150" dirty="0"/>
          </a:p>
        </p:txBody>
      </p:sp>
      <p:sp>
        <p:nvSpPr>
          <p:cNvPr id="27" name="Text 25"/>
          <p:cNvSpPr txBox="1"/>
          <p:nvPr/>
        </p:nvSpPr>
        <p:spPr>
          <a:xfrm>
            <a:off x="3035808" y="3200400"/>
            <a:ext cx="621792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Hak atas pekerjaan terpenuhi, hak atas kesehatan, air, dan tanah adat terlanggar</a:t>
            </a:r>
            <a:endParaRPr lang="en-US" sz="1100" dirty="0"/>
          </a:p>
        </p:txBody>
      </p:sp>
      <p:sp>
        <p:nvSpPr>
          <p:cNvPr id="28" name="Text 26"/>
          <p:cNvSpPr txBox="1"/>
          <p:nvPr/>
        </p:nvSpPr>
        <p:spPr>
          <a:xfrm>
            <a:off x="9345168" y="3200400"/>
            <a:ext cx="2041855" cy="420624"/>
          </a:xfrm>
          <a:prstGeom prst="rect">
            <a:avLst/>
          </a:prstGeom>
          <a:noFill/>
          <a:ln/>
        </p:spPr>
        <p:txBody>
          <a:bodyPr wrap="square" lIns="0" tIns="0" rIns="0" bIns="0" rtlCol="0" anchor="ctr"/>
          <a:lstStyle/>
          <a:p>
            <a:pPr algn="r" indent="0" marL="0">
              <a:buNone/>
            </a:pPr>
            <a:r>
              <a:rPr lang="en-US" sz="1150" b="1" dirty="0">
                <a:solidFill>
                  <a:srgbClr val="79943B"/>
                </a:solidFill>
                <a:latin typeface="Calibri" pitchFamily="34" charset="0"/>
                <a:ea typeface="Calibri" pitchFamily="34" charset="-122"/>
                <a:cs typeface="Calibri" pitchFamily="34" charset="-120"/>
              </a:rPr>
              <a:t>Bersyarat</a:t>
            </a:r>
            <a:endParaRPr lang="en-US" sz="1150" dirty="0"/>
          </a:p>
        </p:txBody>
      </p:sp>
      <p:sp>
        <p:nvSpPr>
          <p:cNvPr id="29" name="Shape 27"/>
          <p:cNvSpPr/>
          <p:nvPr/>
        </p:nvSpPr>
        <p:spPr>
          <a:xfrm>
            <a:off x="621792" y="3694176"/>
            <a:ext cx="10948111" cy="420624"/>
          </a:xfrm>
          <a:prstGeom prst="roundRect">
            <a:avLst>
              <a:gd name="adj" fmla="val 17391"/>
            </a:avLst>
          </a:prstGeom>
          <a:solidFill>
            <a:srgbClr val="FFFFFF"/>
          </a:solidFill>
          <a:ln/>
        </p:spPr>
      </p:sp>
      <p:sp>
        <p:nvSpPr>
          <p:cNvPr id="30" name="Shape 28"/>
          <p:cNvSpPr/>
          <p:nvPr/>
        </p:nvSpPr>
        <p:spPr>
          <a:xfrm>
            <a:off x="621792" y="3694176"/>
            <a:ext cx="128016" cy="420624"/>
          </a:xfrm>
          <a:prstGeom prst="rect">
            <a:avLst/>
          </a:prstGeom>
          <a:solidFill>
            <a:srgbClr val="0FA98E"/>
          </a:solidFill>
          <a:ln/>
        </p:spPr>
      </p:sp>
      <p:sp>
        <p:nvSpPr>
          <p:cNvPr id="31" name="Text 29"/>
          <p:cNvSpPr txBox="1"/>
          <p:nvPr/>
        </p:nvSpPr>
        <p:spPr>
          <a:xfrm>
            <a:off x="932688" y="3694176"/>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5.  Justice</a:t>
            </a:r>
            <a:endParaRPr lang="en-US" sz="1150" dirty="0"/>
          </a:p>
        </p:txBody>
      </p:sp>
      <p:sp>
        <p:nvSpPr>
          <p:cNvPr id="32" name="Text 30"/>
          <p:cNvSpPr txBox="1"/>
          <p:nvPr/>
        </p:nvSpPr>
        <p:spPr>
          <a:xfrm>
            <a:off x="3035808" y="3694176"/>
            <a:ext cx="621792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Kabupaten penghasil lebih miskin daripada provinsinya, 4,35 persen nilai tambah tinggal</a:t>
            </a:r>
            <a:endParaRPr lang="en-US" sz="1100" dirty="0"/>
          </a:p>
        </p:txBody>
      </p:sp>
      <p:sp>
        <p:nvSpPr>
          <p:cNvPr id="33" name="Text 31"/>
          <p:cNvSpPr txBox="1"/>
          <p:nvPr/>
        </p:nvSpPr>
        <p:spPr>
          <a:xfrm>
            <a:off x="9345168" y="3694176"/>
            <a:ext cx="2041855" cy="420624"/>
          </a:xfrm>
          <a:prstGeom prst="rect">
            <a:avLst/>
          </a:prstGeom>
          <a:noFill/>
          <a:ln/>
        </p:spPr>
        <p:txBody>
          <a:bodyPr wrap="square" lIns="0" tIns="0" rIns="0" bIns="0" rtlCol="0" anchor="ctr"/>
          <a:lstStyle/>
          <a:p>
            <a:pPr algn="r" indent="0" marL="0">
              <a:buNone/>
            </a:pPr>
            <a:r>
              <a:rPr lang="en-US" sz="1150" b="1" dirty="0">
                <a:solidFill>
                  <a:srgbClr val="0FA98E"/>
                </a:solidFill>
                <a:latin typeface="Calibri" pitchFamily="34" charset="0"/>
                <a:ea typeface="Calibri" pitchFamily="34" charset="-122"/>
                <a:cs typeface="Calibri" pitchFamily="34" charset="-120"/>
              </a:rPr>
              <a:t>Menolak</a:t>
            </a:r>
            <a:endParaRPr lang="en-US" sz="1150" dirty="0"/>
          </a:p>
        </p:txBody>
      </p:sp>
      <p:sp>
        <p:nvSpPr>
          <p:cNvPr id="34" name="Shape 32"/>
          <p:cNvSpPr/>
          <p:nvPr/>
        </p:nvSpPr>
        <p:spPr>
          <a:xfrm>
            <a:off x="621792" y="4187952"/>
            <a:ext cx="10948111" cy="420624"/>
          </a:xfrm>
          <a:prstGeom prst="roundRect">
            <a:avLst>
              <a:gd name="adj" fmla="val 17391"/>
            </a:avLst>
          </a:prstGeom>
          <a:solidFill>
            <a:srgbClr val="FFFFFF"/>
          </a:solidFill>
          <a:ln/>
        </p:spPr>
      </p:sp>
      <p:sp>
        <p:nvSpPr>
          <p:cNvPr id="35" name="Shape 33"/>
          <p:cNvSpPr/>
          <p:nvPr/>
        </p:nvSpPr>
        <p:spPr>
          <a:xfrm>
            <a:off x="621792" y="4187952"/>
            <a:ext cx="128016" cy="420624"/>
          </a:xfrm>
          <a:prstGeom prst="rect">
            <a:avLst/>
          </a:prstGeom>
          <a:solidFill>
            <a:srgbClr val="4EA8DE"/>
          </a:solidFill>
          <a:ln/>
        </p:spPr>
      </p:sp>
      <p:sp>
        <p:nvSpPr>
          <p:cNvPr id="36" name="Text 34"/>
          <p:cNvSpPr txBox="1"/>
          <p:nvPr/>
        </p:nvSpPr>
        <p:spPr>
          <a:xfrm>
            <a:off x="932688" y="4187952"/>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6.  Virtue Ethics</a:t>
            </a:r>
            <a:endParaRPr lang="en-US" sz="1150" dirty="0"/>
          </a:p>
        </p:txBody>
      </p:sp>
      <p:sp>
        <p:nvSpPr>
          <p:cNvPr id="37" name="Text 35"/>
          <p:cNvSpPr txBox="1"/>
          <p:nvPr/>
        </p:nvSpPr>
        <p:spPr>
          <a:xfrm>
            <a:off x="3035808" y="4187952"/>
            <a:ext cx="621792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Pembandingnya keadaan sebelum hilirisasi, bukan standar industri terbaik</a:t>
            </a:r>
            <a:endParaRPr lang="en-US" sz="1100" dirty="0"/>
          </a:p>
        </p:txBody>
      </p:sp>
      <p:sp>
        <p:nvSpPr>
          <p:cNvPr id="38" name="Text 36"/>
          <p:cNvSpPr txBox="1"/>
          <p:nvPr/>
        </p:nvSpPr>
        <p:spPr>
          <a:xfrm>
            <a:off x="9345168" y="4187952"/>
            <a:ext cx="2041855" cy="420624"/>
          </a:xfrm>
          <a:prstGeom prst="rect">
            <a:avLst/>
          </a:prstGeom>
          <a:noFill/>
          <a:ln/>
        </p:spPr>
        <p:txBody>
          <a:bodyPr wrap="square" lIns="0" tIns="0" rIns="0" bIns="0" rtlCol="0" anchor="ctr"/>
          <a:lstStyle/>
          <a:p>
            <a:pPr algn="r" indent="0" marL="0">
              <a:buNone/>
            </a:pPr>
            <a:r>
              <a:rPr lang="en-US" sz="1150" b="1" dirty="0">
                <a:solidFill>
                  <a:srgbClr val="336B91"/>
                </a:solidFill>
                <a:latin typeface="Calibri" pitchFamily="34" charset="0"/>
                <a:ea typeface="Calibri" pitchFamily="34" charset="-122"/>
                <a:cs typeface="Calibri" pitchFamily="34" charset="-120"/>
              </a:rPr>
              <a:t>Menolak framing</a:t>
            </a:r>
            <a:endParaRPr lang="en-US" sz="1150" dirty="0"/>
          </a:p>
        </p:txBody>
      </p:sp>
      <p:sp>
        <p:nvSpPr>
          <p:cNvPr id="39" name="Shape 37"/>
          <p:cNvSpPr/>
          <p:nvPr/>
        </p:nvSpPr>
        <p:spPr>
          <a:xfrm>
            <a:off x="621792" y="4681728"/>
            <a:ext cx="10948111" cy="420624"/>
          </a:xfrm>
          <a:prstGeom prst="roundRect">
            <a:avLst>
              <a:gd name="adj" fmla="val 17391"/>
            </a:avLst>
          </a:prstGeom>
          <a:solidFill>
            <a:srgbClr val="FFFFFF"/>
          </a:solidFill>
          <a:ln/>
        </p:spPr>
      </p:sp>
      <p:sp>
        <p:nvSpPr>
          <p:cNvPr id="40" name="Shape 38"/>
          <p:cNvSpPr/>
          <p:nvPr/>
        </p:nvSpPr>
        <p:spPr>
          <a:xfrm>
            <a:off x="621792" y="4681728"/>
            <a:ext cx="128016" cy="420624"/>
          </a:xfrm>
          <a:prstGeom prst="rect">
            <a:avLst/>
          </a:prstGeom>
          <a:solidFill>
            <a:srgbClr val="6C7BE0"/>
          </a:solidFill>
          <a:ln/>
        </p:spPr>
      </p:sp>
      <p:sp>
        <p:nvSpPr>
          <p:cNvPr id="41" name="Text 39"/>
          <p:cNvSpPr txBox="1"/>
          <p:nvPr/>
        </p:nvSpPr>
        <p:spPr>
          <a:xfrm>
            <a:off x="932688" y="4681728"/>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7.  Ethic of Care</a:t>
            </a:r>
            <a:endParaRPr lang="en-US" sz="1150" dirty="0"/>
          </a:p>
        </p:txBody>
      </p:sp>
      <p:sp>
        <p:nvSpPr>
          <p:cNvPr id="42" name="Text 40"/>
          <p:cNvSpPr txBox="1"/>
          <p:nvPr/>
        </p:nvSpPr>
        <p:spPr>
          <a:xfrm>
            <a:off x="3035808" y="4681728"/>
            <a:ext cx="621792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Warga hilir dan masyarakat adat merupakan pihak berelasi, bukan variabel biaya</a:t>
            </a:r>
            <a:endParaRPr lang="en-US" sz="1100" dirty="0"/>
          </a:p>
        </p:txBody>
      </p:sp>
      <p:sp>
        <p:nvSpPr>
          <p:cNvPr id="43" name="Text 41"/>
          <p:cNvSpPr txBox="1"/>
          <p:nvPr/>
        </p:nvSpPr>
        <p:spPr>
          <a:xfrm>
            <a:off x="9345168" y="4681728"/>
            <a:ext cx="2041855" cy="420624"/>
          </a:xfrm>
          <a:prstGeom prst="rect">
            <a:avLst/>
          </a:prstGeom>
          <a:noFill/>
          <a:ln/>
        </p:spPr>
        <p:txBody>
          <a:bodyPr wrap="square" lIns="0" tIns="0" rIns="0" bIns="0" rtlCol="0" anchor="ctr"/>
          <a:lstStyle/>
          <a:p>
            <a:pPr algn="r" indent="0" marL="0">
              <a:buNone/>
            </a:pPr>
            <a:r>
              <a:rPr lang="en-US" sz="1150" b="1" dirty="0">
                <a:solidFill>
                  <a:srgbClr val="6C7BE0"/>
                </a:solidFill>
                <a:latin typeface="Calibri" pitchFamily="34" charset="0"/>
                <a:ea typeface="Calibri" pitchFamily="34" charset="-122"/>
                <a:cs typeface="Calibri" pitchFamily="34" charset="-120"/>
              </a:rPr>
              <a:t>Menuntut pemulihan</a:t>
            </a:r>
            <a:endParaRPr lang="en-US" sz="1150" dirty="0"/>
          </a:p>
        </p:txBody>
      </p:sp>
      <p:sp>
        <p:nvSpPr>
          <p:cNvPr id="44" name="Shape 42"/>
          <p:cNvSpPr/>
          <p:nvPr/>
        </p:nvSpPr>
        <p:spPr>
          <a:xfrm>
            <a:off x="621792" y="5175504"/>
            <a:ext cx="10948111" cy="420624"/>
          </a:xfrm>
          <a:prstGeom prst="roundRect">
            <a:avLst>
              <a:gd name="adj" fmla="val 17391"/>
            </a:avLst>
          </a:prstGeom>
          <a:solidFill>
            <a:srgbClr val="FFFFFF"/>
          </a:solidFill>
          <a:ln/>
        </p:spPr>
      </p:sp>
      <p:sp>
        <p:nvSpPr>
          <p:cNvPr id="45" name="Shape 43"/>
          <p:cNvSpPr/>
          <p:nvPr/>
        </p:nvSpPr>
        <p:spPr>
          <a:xfrm>
            <a:off x="621792" y="5175504"/>
            <a:ext cx="128016" cy="420624"/>
          </a:xfrm>
          <a:prstGeom prst="rect">
            <a:avLst/>
          </a:prstGeom>
          <a:solidFill>
            <a:srgbClr val="B8A6F5"/>
          </a:solidFill>
          <a:ln/>
        </p:spPr>
      </p:sp>
      <p:sp>
        <p:nvSpPr>
          <p:cNvPr id="46" name="Text 44"/>
          <p:cNvSpPr txBox="1"/>
          <p:nvPr/>
        </p:nvSpPr>
        <p:spPr>
          <a:xfrm>
            <a:off x="932688" y="5175504"/>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8.  Discourse Ethics</a:t>
            </a:r>
            <a:endParaRPr lang="en-US" sz="1150" dirty="0"/>
          </a:p>
        </p:txBody>
      </p:sp>
      <p:sp>
        <p:nvSpPr>
          <p:cNvPr id="47" name="Text 45"/>
          <p:cNvSpPr txBox="1"/>
          <p:nvPr/>
        </p:nvSpPr>
        <p:spPr>
          <a:xfrm>
            <a:off x="3035808" y="5175504"/>
            <a:ext cx="621792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Warga terdampak bukan pihak dalam perumusan kebijakan dan perizinan kawasan</a:t>
            </a:r>
            <a:endParaRPr lang="en-US" sz="1100" dirty="0"/>
          </a:p>
        </p:txBody>
      </p:sp>
      <p:sp>
        <p:nvSpPr>
          <p:cNvPr id="48" name="Text 46"/>
          <p:cNvSpPr txBox="1"/>
          <p:nvPr/>
        </p:nvSpPr>
        <p:spPr>
          <a:xfrm>
            <a:off x="9345168" y="5175504"/>
            <a:ext cx="2041855" cy="420624"/>
          </a:xfrm>
          <a:prstGeom prst="rect">
            <a:avLst/>
          </a:prstGeom>
          <a:noFill/>
          <a:ln/>
        </p:spPr>
        <p:txBody>
          <a:bodyPr wrap="square" lIns="0" tIns="0" rIns="0" bIns="0" rtlCol="0" anchor="ctr"/>
          <a:lstStyle/>
          <a:p>
            <a:pPr algn="r" indent="0" marL="0">
              <a:buNone/>
            </a:pPr>
            <a:r>
              <a:rPr lang="en-US" sz="1150" b="1" dirty="0">
                <a:solidFill>
                  <a:srgbClr val="716A9E"/>
                </a:solidFill>
                <a:latin typeface="Calibri" pitchFamily="34" charset="0"/>
                <a:ea typeface="Calibri" pitchFamily="34" charset="-122"/>
                <a:cs typeface="Calibri" pitchFamily="34" charset="-120"/>
              </a:rPr>
              <a:t>Menolak proses</a:t>
            </a:r>
            <a:endParaRPr lang="en-US" sz="1150" dirty="0"/>
          </a:p>
        </p:txBody>
      </p:sp>
      <p:sp>
        <p:nvSpPr>
          <p:cNvPr id="49" name="Shape 47"/>
          <p:cNvSpPr/>
          <p:nvPr/>
        </p:nvSpPr>
        <p:spPr>
          <a:xfrm>
            <a:off x="621792" y="5669280"/>
            <a:ext cx="10948111" cy="420624"/>
          </a:xfrm>
          <a:prstGeom prst="roundRect">
            <a:avLst>
              <a:gd name="adj" fmla="val 17391"/>
            </a:avLst>
          </a:prstGeom>
          <a:solidFill>
            <a:srgbClr val="FFFFFF"/>
          </a:solidFill>
          <a:ln/>
        </p:spPr>
      </p:sp>
      <p:sp>
        <p:nvSpPr>
          <p:cNvPr id="50" name="Shape 48"/>
          <p:cNvSpPr/>
          <p:nvPr/>
        </p:nvSpPr>
        <p:spPr>
          <a:xfrm>
            <a:off x="621792" y="5669280"/>
            <a:ext cx="128016" cy="420624"/>
          </a:xfrm>
          <a:prstGeom prst="rect">
            <a:avLst/>
          </a:prstGeom>
          <a:solidFill>
            <a:srgbClr val="E86A9B"/>
          </a:solidFill>
          <a:ln/>
        </p:spPr>
      </p:sp>
      <p:sp>
        <p:nvSpPr>
          <p:cNvPr id="51" name="Text 49"/>
          <p:cNvSpPr txBox="1"/>
          <p:nvPr/>
        </p:nvSpPr>
        <p:spPr>
          <a:xfrm>
            <a:off x="932688" y="5669280"/>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9.  Postmodern Ethics</a:t>
            </a:r>
            <a:endParaRPr lang="en-US" sz="1150" dirty="0"/>
          </a:p>
        </p:txBody>
      </p:sp>
      <p:sp>
        <p:nvSpPr>
          <p:cNvPr id="52" name="Text 50"/>
          <p:cNvSpPr txBox="1"/>
          <p:nvPr/>
        </p:nvSpPr>
        <p:spPr>
          <a:xfrm>
            <a:off x="3035808" y="5669280"/>
            <a:ext cx="621792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Istilah hilirisasi dan nikel hijau mendahului penilaian atas fakta di lapangan</a:t>
            </a:r>
            <a:endParaRPr lang="en-US" sz="1100" dirty="0"/>
          </a:p>
        </p:txBody>
      </p:sp>
      <p:sp>
        <p:nvSpPr>
          <p:cNvPr id="53" name="Text 51"/>
          <p:cNvSpPr txBox="1"/>
          <p:nvPr/>
        </p:nvSpPr>
        <p:spPr>
          <a:xfrm>
            <a:off x="9345168" y="5669280"/>
            <a:ext cx="2041855" cy="420624"/>
          </a:xfrm>
          <a:prstGeom prst="rect">
            <a:avLst/>
          </a:prstGeom>
          <a:noFill/>
          <a:ln/>
        </p:spPr>
        <p:txBody>
          <a:bodyPr wrap="square" lIns="0" tIns="0" rIns="0" bIns="0" rtlCol="0" anchor="ctr"/>
          <a:lstStyle/>
          <a:p>
            <a:pPr algn="r" indent="0" marL="0">
              <a:buNone/>
            </a:pPr>
            <a:r>
              <a:rPr lang="en-US" sz="1150" b="1" dirty="0">
                <a:solidFill>
                  <a:srgbClr val="8C476A"/>
                </a:solidFill>
                <a:latin typeface="Calibri" pitchFamily="34" charset="0"/>
                <a:ea typeface="Calibri" pitchFamily="34" charset="-122"/>
                <a:cs typeface="Calibri" pitchFamily="34" charset="-120"/>
              </a:rPr>
              <a:t>Anti absolut</a:t>
            </a:r>
            <a:endParaRPr lang="en-US" sz="1150" dirty="0"/>
          </a:p>
        </p:txBody>
      </p:sp>
      <p:sp>
        <p:nvSpPr>
          <p:cNvPr id="54" name="Text 52"/>
          <p:cNvSpPr txBox="1"/>
          <p:nvPr/>
        </p:nvSpPr>
        <p:spPr>
          <a:xfrm>
            <a:off x="621792" y="6199632"/>
            <a:ext cx="10948111" cy="292608"/>
          </a:xfrm>
          <a:prstGeom prst="rect">
            <a:avLst/>
          </a:prstGeom>
          <a:noFill/>
          <a:ln/>
        </p:spPr>
        <p:txBody>
          <a:bodyPr wrap="square" lIns="0" tIns="0" rIns="0" bIns="0" rtlCol="0" anchor="t"/>
          <a:lstStyle/>
          <a:p>
            <a:pPr indent="0" marL="0">
              <a:buNone/>
            </a:pPr>
            <a:r>
              <a:rPr lang="en-US" sz="1150" i="1" dirty="0">
                <a:solidFill>
                  <a:srgbClr val="6B7A90"/>
                </a:solidFill>
                <a:latin typeface="Calibri" pitchFamily="34" charset="0"/>
                <a:ea typeface="Calibri" pitchFamily="34" charset="-122"/>
                <a:cs typeface="Calibri" pitchFamily="34" charset="-120"/>
              </a:rPr>
              <a:t>Tidak satu pun berbunyi mendukung tanpa syarat. Enam menolak, satu bersyarat, satu terbelah, satu netral karena mengakui batas teorinya sendiri.</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962863"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962863"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ARGUMEN</a:t>
            </a:r>
            <a:endParaRPr lang="en-US" sz="950" dirty="0"/>
          </a:p>
        </p:txBody>
      </p:sp>
      <p:sp>
        <p:nvSpPr>
          <p:cNvPr id="5" name="Shape 3"/>
          <p:cNvSpPr/>
          <p:nvPr/>
        </p:nvSpPr>
        <p:spPr>
          <a:xfrm>
            <a:off x="1703527" y="457200"/>
            <a:ext cx="1687068"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03527" y="457200"/>
            <a:ext cx="1687068"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EMPAT PROPOSISI</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16</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Evaluasi Klaim Nikel Hijau</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Empat proposisi yang diturunkan dari kesembilan lensa.</a:t>
            </a:r>
            <a:endParaRPr lang="en-US" sz="1350" dirty="0"/>
          </a:p>
        </p:txBody>
      </p:sp>
      <p:sp>
        <p:nvSpPr>
          <p:cNvPr id="10" name="Shape 8"/>
          <p:cNvSpPr/>
          <p:nvPr/>
        </p:nvSpPr>
        <p:spPr>
          <a:xfrm>
            <a:off x="621792" y="1975104"/>
            <a:ext cx="10948111" cy="877824"/>
          </a:xfrm>
          <a:prstGeom prst="roundRect">
            <a:avLst>
              <a:gd name="adj" fmla="val 16667"/>
            </a:avLst>
          </a:prstGeom>
          <a:solidFill>
            <a:srgbClr val="FFFFFF"/>
          </a:solidFill>
          <a:ln/>
        </p:spPr>
      </p:sp>
      <p:sp>
        <p:nvSpPr>
          <p:cNvPr id="11" name="Shape 9"/>
          <p:cNvSpPr/>
          <p:nvPr/>
        </p:nvSpPr>
        <p:spPr>
          <a:xfrm>
            <a:off x="621792" y="1975104"/>
            <a:ext cx="566928" cy="877824"/>
          </a:xfrm>
          <a:prstGeom prst="rect">
            <a:avLst/>
          </a:prstGeom>
          <a:solidFill>
            <a:srgbClr val="FF5A2D"/>
          </a:solidFill>
          <a:ln/>
        </p:spPr>
      </p:sp>
      <p:sp>
        <p:nvSpPr>
          <p:cNvPr id="12" name="Text 10"/>
          <p:cNvSpPr txBox="1"/>
          <p:nvPr/>
        </p:nvSpPr>
        <p:spPr>
          <a:xfrm>
            <a:off x="621792" y="1975104"/>
            <a:ext cx="566928" cy="8778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3" name="Text 11"/>
          <p:cNvSpPr txBox="1"/>
          <p:nvPr/>
        </p:nvSpPr>
        <p:spPr>
          <a:xfrm>
            <a:off x="1389888" y="2057400"/>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Perbandingan dengan Masa Lalu Tidak Bernilai Normatif</a:t>
            </a:r>
            <a:endParaRPr lang="en-US" sz="1250" dirty="0"/>
          </a:p>
        </p:txBody>
      </p:sp>
      <p:sp>
        <p:nvSpPr>
          <p:cNvPr id="14" name="Text 12"/>
          <p:cNvSpPr txBox="1"/>
          <p:nvPr/>
        </p:nvSpPr>
        <p:spPr>
          <a:xfrm>
            <a:off x="1389888" y="2295144"/>
            <a:ext cx="9942271" cy="47548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Keadaan yang lebih baik daripada ekspor bijih mentah tidak dengan sendirinya memadai. Virtue ethics menuntut pembanding pada standar tertinggi, bukan pada titik berangkat.</a:t>
            </a:r>
            <a:endParaRPr lang="en-US" sz="1100" dirty="0"/>
          </a:p>
        </p:txBody>
      </p:sp>
      <p:sp>
        <p:nvSpPr>
          <p:cNvPr id="15" name="Shape 13"/>
          <p:cNvSpPr/>
          <p:nvPr/>
        </p:nvSpPr>
        <p:spPr>
          <a:xfrm>
            <a:off x="621792" y="2944368"/>
            <a:ext cx="10948111" cy="877824"/>
          </a:xfrm>
          <a:prstGeom prst="roundRect">
            <a:avLst>
              <a:gd name="adj" fmla="val 16667"/>
            </a:avLst>
          </a:prstGeom>
          <a:solidFill>
            <a:srgbClr val="FFFFFF"/>
          </a:solidFill>
          <a:ln/>
        </p:spPr>
      </p:sp>
      <p:sp>
        <p:nvSpPr>
          <p:cNvPr id="16" name="Shape 14"/>
          <p:cNvSpPr/>
          <p:nvPr/>
        </p:nvSpPr>
        <p:spPr>
          <a:xfrm>
            <a:off x="621792" y="2944368"/>
            <a:ext cx="566928" cy="877824"/>
          </a:xfrm>
          <a:prstGeom prst="rect">
            <a:avLst/>
          </a:prstGeom>
          <a:solidFill>
            <a:srgbClr val="B8A6F5"/>
          </a:solidFill>
          <a:ln/>
        </p:spPr>
      </p:sp>
      <p:sp>
        <p:nvSpPr>
          <p:cNvPr id="17" name="Text 15"/>
          <p:cNvSpPr txBox="1"/>
          <p:nvPr/>
        </p:nvSpPr>
        <p:spPr>
          <a:xfrm>
            <a:off x="621792" y="2944368"/>
            <a:ext cx="566928" cy="877824"/>
          </a:xfrm>
          <a:prstGeom prst="rect">
            <a:avLst/>
          </a:prstGeom>
          <a:noFill/>
          <a:ln/>
        </p:spPr>
        <p:txBody>
          <a:bodyPr wrap="square" lIns="0" tIns="0" rIns="0" bIns="0" rtlCol="0" anchor="ctr"/>
          <a:lstStyle/>
          <a:p>
            <a:pPr algn="ctr" indent="0" marL="0">
              <a:buNone/>
            </a:pPr>
            <a:r>
              <a:rPr lang="en-US" sz="1700" b="1" dirty="0">
                <a:solidFill>
                  <a:srgbClr val="0E1626"/>
                </a:solidFill>
                <a:latin typeface="Calibri" pitchFamily="34" charset="0"/>
                <a:ea typeface="Calibri" pitchFamily="34" charset="-122"/>
                <a:cs typeface="Calibri" pitchFamily="34" charset="-120"/>
              </a:rPr>
              <a:t>2</a:t>
            </a:r>
            <a:endParaRPr lang="en-US" sz="1700" dirty="0"/>
          </a:p>
        </p:txBody>
      </p:sp>
      <p:sp>
        <p:nvSpPr>
          <p:cNvPr id="18" name="Text 16"/>
          <p:cNvSpPr txBox="1"/>
          <p:nvPr/>
        </p:nvSpPr>
        <p:spPr>
          <a:xfrm>
            <a:off x="1389888" y="3026664"/>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Klaim Hijau Gugur pada Sumber Energinya</a:t>
            </a:r>
            <a:endParaRPr lang="en-US" sz="1250" dirty="0"/>
          </a:p>
        </p:txBody>
      </p:sp>
      <p:sp>
        <p:nvSpPr>
          <p:cNvPr id="19" name="Text 17"/>
          <p:cNvSpPr txBox="1"/>
          <p:nvPr/>
        </p:nvSpPr>
        <p:spPr>
          <a:xfrm>
            <a:off x="1389888" y="3264408"/>
            <a:ext cx="9942271" cy="47548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Pengolahan yang bertumpu pada pembangkit batu bara di dalam kawasan tidak dapat disebut hijau. Postmodern ethics membaca istilah ini sebagai alat pembenar, bukan deskripsi.</a:t>
            </a:r>
            <a:endParaRPr lang="en-US" sz="1100" dirty="0"/>
          </a:p>
        </p:txBody>
      </p:sp>
      <p:sp>
        <p:nvSpPr>
          <p:cNvPr id="20" name="Shape 18"/>
          <p:cNvSpPr/>
          <p:nvPr/>
        </p:nvSpPr>
        <p:spPr>
          <a:xfrm>
            <a:off x="621792" y="3913632"/>
            <a:ext cx="10948111" cy="877824"/>
          </a:xfrm>
          <a:prstGeom prst="roundRect">
            <a:avLst>
              <a:gd name="adj" fmla="val 16667"/>
            </a:avLst>
          </a:prstGeom>
          <a:solidFill>
            <a:srgbClr val="FFFFFF"/>
          </a:solidFill>
          <a:ln/>
        </p:spPr>
      </p:sp>
      <p:sp>
        <p:nvSpPr>
          <p:cNvPr id="21" name="Shape 19"/>
          <p:cNvSpPr/>
          <p:nvPr/>
        </p:nvSpPr>
        <p:spPr>
          <a:xfrm>
            <a:off x="621792" y="3913632"/>
            <a:ext cx="566928" cy="877824"/>
          </a:xfrm>
          <a:prstGeom prst="rect">
            <a:avLst/>
          </a:prstGeom>
          <a:solidFill>
            <a:srgbClr val="0FA98E"/>
          </a:solidFill>
          <a:ln/>
        </p:spPr>
      </p:sp>
      <p:sp>
        <p:nvSpPr>
          <p:cNvPr id="22" name="Text 20"/>
          <p:cNvSpPr txBox="1"/>
          <p:nvPr/>
        </p:nvSpPr>
        <p:spPr>
          <a:xfrm>
            <a:off x="621792" y="3913632"/>
            <a:ext cx="566928" cy="8778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3" name="Text 21"/>
          <p:cNvSpPr txBox="1"/>
          <p:nvPr/>
        </p:nvSpPr>
        <p:spPr>
          <a:xfrm>
            <a:off x="1389888" y="3995928"/>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Distribusi Manfaat dan Beban Tidak Simetris</a:t>
            </a:r>
            <a:endParaRPr lang="en-US" sz="1250" dirty="0"/>
          </a:p>
        </p:txBody>
      </p:sp>
      <p:sp>
        <p:nvSpPr>
          <p:cNvPr id="24" name="Text 22"/>
          <p:cNvSpPr txBox="1"/>
          <p:nvPr/>
        </p:nvSpPr>
        <p:spPr>
          <a:xfrm>
            <a:off x="1389888" y="4233672"/>
            <a:ext cx="9942271" cy="47548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Hanya 4,35 persen nilai tambah tinggal di daerah, sementara kabupaten penghasil lebih miskin daripada rata-rata provinsinya. Rawls menolak susunan semacam ini.</a:t>
            </a:r>
            <a:endParaRPr lang="en-US" sz="1100" dirty="0"/>
          </a:p>
        </p:txBody>
      </p:sp>
      <p:sp>
        <p:nvSpPr>
          <p:cNvPr id="25" name="Shape 23"/>
          <p:cNvSpPr/>
          <p:nvPr/>
        </p:nvSpPr>
        <p:spPr>
          <a:xfrm>
            <a:off x="621792" y="4882896"/>
            <a:ext cx="10948111" cy="877824"/>
          </a:xfrm>
          <a:prstGeom prst="roundRect">
            <a:avLst>
              <a:gd name="adj" fmla="val 16667"/>
            </a:avLst>
          </a:prstGeom>
          <a:solidFill>
            <a:srgbClr val="FFFFFF"/>
          </a:solidFill>
          <a:ln/>
        </p:spPr>
      </p:sp>
      <p:sp>
        <p:nvSpPr>
          <p:cNvPr id="26" name="Shape 24"/>
          <p:cNvSpPr/>
          <p:nvPr/>
        </p:nvSpPr>
        <p:spPr>
          <a:xfrm>
            <a:off x="621792" y="4882896"/>
            <a:ext cx="566928" cy="877824"/>
          </a:xfrm>
          <a:prstGeom prst="rect">
            <a:avLst/>
          </a:prstGeom>
          <a:solidFill>
            <a:srgbClr val="0E1626"/>
          </a:solidFill>
          <a:ln/>
        </p:spPr>
      </p:sp>
      <p:sp>
        <p:nvSpPr>
          <p:cNvPr id="27" name="Text 25"/>
          <p:cNvSpPr txBox="1"/>
          <p:nvPr/>
        </p:nvSpPr>
        <p:spPr>
          <a:xfrm>
            <a:off x="621792" y="4882896"/>
            <a:ext cx="566928" cy="8778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8" name="Text 26"/>
          <p:cNvSpPr txBox="1"/>
          <p:nvPr/>
        </p:nvSpPr>
        <p:spPr>
          <a:xfrm>
            <a:off x="1389888" y="4965192"/>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Prosesnya Cacat Sejak Perumusan</a:t>
            </a:r>
            <a:endParaRPr lang="en-US" sz="1250" dirty="0"/>
          </a:p>
        </p:txBody>
      </p:sp>
      <p:sp>
        <p:nvSpPr>
          <p:cNvPr id="29" name="Text 27"/>
          <p:cNvSpPr txBox="1"/>
          <p:nvPr/>
        </p:nvSpPr>
        <p:spPr>
          <a:xfrm>
            <a:off x="1389888" y="5202936"/>
            <a:ext cx="9942271" cy="47548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Warga terdampak tidak menjadi pihak dalam perizinan dan perencanaan kawasan. Discourse ethics membatalkan hasil yang lahir dari proses semacam itu.</a:t>
            </a:r>
            <a:endParaRPr lang="en-US" sz="1100" dirty="0"/>
          </a:p>
        </p:txBody>
      </p:sp>
      <p:sp>
        <p:nvSpPr>
          <p:cNvPr id="30" name="Shape 28"/>
          <p:cNvSpPr/>
          <p:nvPr/>
        </p:nvSpPr>
        <p:spPr>
          <a:xfrm>
            <a:off x="621792" y="5888736"/>
            <a:ext cx="10948111" cy="457200"/>
          </a:xfrm>
          <a:prstGeom prst="roundRect">
            <a:avLst>
              <a:gd name="adj" fmla="val 32000"/>
            </a:avLst>
          </a:prstGeom>
          <a:solidFill>
            <a:srgbClr val="C6F04A"/>
          </a:solidFill>
          <a:ln/>
        </p:spPr>
      </p:sp>
      <p:sp>
        <p:nvSpPr>
          <p:cNvPr id="31" name="Text 29"/>
          <p:cNvSpPr txBox="1"/>
          <p:nvPr/>
        </p:nvSpPr>
        <p:spPr>
          <a:xfrm>
            <a:off x="941832" y="6018752"/>
            <a:ext cx="10308031" cy="310896"/>
          </a:xfrm>
          <a:prstGeom prst="rect">
            <a:avLst/>
          </a:prstGeom>
          <a:noFill/>
          <a:ln/>
        </p:spPr>
        <p:txBody>
          <a:bodyPr wrap="square" lIns="0" tIns="0" rIns="0" bIns="0" rtlCol="0" anchor="t"/>
          <a:lstStyle/>
          <a:p>
            <a:pPr indent="0" marL="0">
              <a:lnSpc>
                <a:spcPts val="1553"/>
              </a:lnSpc>
              <a:buNone/>
            </a:pPr>
            <a:r>
              <a:rPr lang="en-US" sz="1150" b="1" dirty="0">
                <a:solidFill>
                  <a:srgbClr val="0E1626"/>
                </a:solidFill>
                <a:latin typeface="Calibri" pitchFamily="34" charset="0"/>
                <a:ea typeface="Calibri" pitchFamily="34" charset="-122"/>
                <a:cs typeface="Calibri" pitchFamily="34" charset="-120"/>
              </a:rPr>
              <a:t>Penolakan atas klaim nikel hijau tidak setara dengan penolakan atas hilirisasi. Keduanya persoalan terpisah.</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143914" cy="283464"/>
          </a:xfrm>
          <a:prstGeom prst="roundRect">
            <a:avLst>
              <a:gd name="adj" fmla="val 50000"/>
            </a:avLst>
          </a:prstGeom>
          <a:solidFill>
            <a:srgbClr val="C6F04A"/>
          </a:solidFill>
          <a:ln w="12700">
            <a:solidFill>
              <a:srgbClr val="C6F04A"/>
            </a:solidFill>
            <a:prstDash val="solid"/>
          </a:ln>
        </p:spPr>
      </p:sp>
      <p:sp>
        <p:nvSpPr>
          <p:cNvPr id="4" name="Text 2"/>
          <p:cNvSpPr txBox="1"/>
          <p:nvPr/>
        </p:nvSpPr>
        <p:spPr>
          <a:xfrm>
            <a:off x="621792" y="457200"/>
            <a:ext cx="114391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PENERAPAN</a:t>
            </a:r>
            <a:endParaRPr lang="en-US" sz="950" dirty="0"/>
          </a:p>
        </p:txBody>
      </p:sp>
      <p:sp>
        <p:nvSpPr>
          <p:cNvPr id="5" name="Shape 3"/>
          <p:cNvSpPr/>
          <p:nvPr/>
        </p:nvSpPr>
        <p:spPr>
          <a:xfrm>
            <a:off x="1884578" y="457200"/>
            <a:ext cx="1958645"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884578" y="457200"/>
            <a:ext cx="1958645"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TIGA TINDAK LANJUT</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17</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Implikasi Manajerial</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Shape 7"/>
          <p:cNvSpPr/>
          <p:nvPr/>
        </p:nvSpPr>
        <p:spPr>
          <a:xfrm>
            <a:off x="621792" y="1847088"/>
            <a:ext cx="3503066" cy="2194560"/>
          </a:xfrm>
          <a:prstGeom prst="roundRect">
            <a:avLst>
              <a:gd name="adj" fmla="val 6667"/>
            </a:avLst>
          </a:prstGeom>
          <a:solidFill>
            <a:srgbClr val="FF5A2D"/>
          </a:solidFill>
          <a:ln/>
        </p:spPr>
      </p:sp>
      <p:sp>
        <p:nvSpPr>
          <p:cNvPr id="10" name="Shape 8"/>
          <p:cNvSpPr/>
          <p:nvPr/>
        </p:nvSpPr>
        <p:spPr>
          <a:xfrm>
            <a:off x="859536" y="2048256"/>
            <a:ext cx="283464" cy="283464"/>
          </a:xfrm>
          <a:prstGeom prst="roundRect">
            <a:avLst>
              <a:gd name="adj" fmla="val 32258"/>
            </a:avLst>
          </a:prstGeom>
          <a:solidFill>
            <a:srgbClr val="FF744F"/>
          </a:solidFill>
          <a:ln/>
        </p:spPr>
      </p:sp>
      <p:sp>
        <p:nvSpPr>
          <p:cNvPr id="11" name="Text 9"/>
          <p:cNvSpPr txBox="1"/>
          <p:nvPr/>
        </p:nvSpPr>
        <p:spPr>
          <a:xfrm>
            <a:off x="859536" y="2048256"/>
            <a:ext cx="283464"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01</a:t>
            </a:r>
            <a:endParaRPr lang="en-US" sz="1050" dirty="0"/>
          </a:p>
        </p:txBody>
      </p:sp>
      <p:sp>
        <p:nvSpPr>
          <p:cNvPr id="12" name="Text 10"/>
          <p:cNvSpPr txBox="1"/>
          <p:nvPr/>
        </p:nvSpPr>
        <p:spPr>
          <a:xfrm>
            <a:off x="859536" y="2432304"/>
            <a:ext cx="3027578" cy="292608"/>
          </a:xfrm>
          <a:prstGeom prst="rect">
            <a:avLst/>
          </a:prstGeom>
          <a:noFill/>
          <a:ln/>
        </p:spPr>
        <p:txBody>
          <a:bodyPr wrap="square" lIns="0" tIns="0" rIns="0" bIns="0" rtlCol="0" anchor="t"/>
          <a:lstStyle/>
          <a:p>
            <a:pPr indent="0" marL="0">
              <a:lnSpc>
                <a:spcPts val="1647"/>
              </a:lnSpc>
              <a:buNone/>
            </a:pPr>
            <a:r>
              <a:rPr lang="en-US" sz="1350" b="1" dirty="0">
                <a:solidFill>
                  <a:srgbClr val="FFFFFF"/>
                </a:solidFill>
                <a:latin typeface="Calibri" pitchFamily="34" charset="0"/>
                <a:ea typeface="Calibri" pitchFamily="34" charset="-122"/>
                <a:cs typeface="Calibri" pitchFamily="34" charset="-120"/>
              </a:rPr>
              <a:t>Internalisasi Biaya Tertunda</a:t>
            </a:r>
            <a:endParaRPr lang="en-US" sz="1350" dirty="0"/>
          </a:p>
        </p:txBody>
      </p:sp>
      <p:sp>
        <p:nvSpPr>
          <p:cNvPr id="13" name="Text 11"/>
          <p:cNvSpPr txBox="1"/>
          <p:nvPr/>
        </p:nvSpPr>
        <p:spPr>
          <a:xfrm>
            <a:off x="859536" y="2798064"/>
            <a:ext cx="3027578" cy="1115568"/>
          </a:xfrm>
          <a:prstGeom prst="rect">
            <a:avLst/>
          </a:prstGeom>
          <a:noFill/>
          <a:ln/>
        </p:spPr>
        <p:txBody>
          <a:bodyPr wrap="square" lIns="0" tIns="0" rIns="0" bIns="0" rtlCol="0" anchor="t"/>
          <a:lstStyle/>
          <a:p>
            <a:pPr indent="0" marL="0">
              <a:lnSpc>
                <a:spcPts val="1562"/>
              </a:lnSpc>
              <a:buNone/>
            </a:pPr>
            <a:r>
              <a:rPr lang="en-US" sz="1100" dirty="0">
                <a:solidFill>
                  <a:srgbClr val="E8E4DC"/>
                </a:solidFill>
                <a:latin typeface="Calibri" pitchFamily="34" charset="0"/>
                <a:ea typeface="Calibri" pitchFamily="34" charset="-122"/>
                <a:cs typeface="Calibri" pitchFamily="34" charset="-120"/>
              </a:rPr>
              <a:t>Biaya kesehatan warga, pemulihan sungai, dan pensiun dini pembangkit dimasukkan ke dalam neraca sejak perencanaan, bukan diwariskan ke anggaran publik.</a:t>
            </a:r>
            <a:endParaRPr lang="en-US" sz="1100" dirty="0"/>
          </a:p>
        </p:txBody>
      </p:sp>
      <p:sp>
        <p:nvSpPr>
          <p:cNvPr id="14" name="Shape 12"/>
          <p:cNvSpPr/>
          <p:nvPr/>
        </p:nvSpPr>
        <p:spPr>
          <a:xfrm>
            <a:off x="4344314" y="1847088"/>
            <a:ext cx="3503066" cy="2194560"/>
          </a:xfrm>
          <a:prstGeom prst="roundRect">
            <a:avLst>
              <a:gd name="adj" fmla="val 6667"/>
            </a:avLst>
          </a:prstGeom>
          <a:solidFill>
            <a:srgbClr val="B8A6F5"/>
          </a:solidFill>
          <a:ln/>
        </p:spPr>
      </p:sp>
      <p:sp>
        <p:nvSpPr>
          <p:cNvPr id="15" name="Shape 13"/>
          <p:cNvSpPr/>
          <p:nvPr/>
        </p:nvSpPr>
        <p:spPr>
          <a:xfrm>
            <a:off x="4582058" y="2048256"/>
            <a:ext cx="283464" cy="283464"/>
          </a:xfrm>
          <a:prstGeom prst="roundRect">
            <a:avLst>
              <a:gd name="adj" fmla="val 32258"/>
            </a:avLst>
          </a:prstGeom>
          <a:solidFill>
            <a:srgbClr val="9D8FD4"/>
          </a:solidFill>
          <a:ln/>
        </p:spPr>
      </p:sp>
      <p:sp>
        <p:nvSpPr>
          <p:cNvPr id="16" name="Text 14"/>
          <p:cNvSpPr txBox="1"/>
          <p:nvPr/>
        </p:nvSpPr>
        <p:spPr>
          <a:xfrm>
            <a:off x="4582058" y="2048256"/>
            <a:ext cx="283464" cy="283464"/>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02</a:t>
            </a:r>
            <a:endParaRPr lang="en-US" sz="1050" dirty="0"/>
          </a:p>
        </p:txBody>
      </p:sp>
      <p:sp>
        <p:nvSpPr>
          <p:cNvPr id="17" name="Text 15"/>
          <p:cNvSpPr txBox="1"/>
          <p:nvPr/>
        </p:nvSpPr>
        <p:spPr>
          <a:xfrm>
            <a:off x="4582058" y="2432304"/>
            <a:ext cx="3027578" cy="292608"/>
          </a:xfrm>
          <a:prstGeom prst="rect">
            <a:avLst/>
          </a:prstGeom>
          <a:noFill/>
          <a:ln/>
        </p:spPr>
        <p:txBody>
          <a:bodyPr wrap="square" lIns="0" tIns="0" rIns="0" bIns="0" rtlCol="0" anchor="t"/>
          <a:lstStyle/>
          <a:p>
            <a:pPr indent="0" marL="0">
              <a:lnSpc>
                <a:spcPts val="1647"/>
              </a:lnSpc>
              <a:buNone/>
            </a:pPr>
            <a:r>
              <a:rPr lang="en-US" sz="1350" b="1" dirty="0">
                <a:solidFill>
                  <a:srgbClr val="0E1626"/>
                </a:solidFill>
                <a:latin typeface="Calibri" pitchFamily="34" charset="0"/>
                <a:ea typeface="Calibri" pitchFamily="34" charset="-122"/>
                <a:cs typeface="Calibri" pitchFamily="34" charset="-120"/>
              </a:rPr>
              <a:t>Hadirkan Pihak yang Absen</a:t>
            </a:r>
            <a:endParaRPr lang="en-US" sz="1350" dirty="0"/>
          </a:p>
        </p:txBody>
      </p:sp>
      <p:sp>
        <p:nvSpPr>
          <p:cNvPr id="18" name="Text 16"/>
          <p:cNvSpPr txBox="1"/>
          <p:nvPr/>
        </p:nvSpPr>
        <p:spPr>
          <a:xfrm>
            <a:off x="4582058" y="2798064"/>
            <a:ext cx="3027578" cy="1115568"/>
          </a:xfrm>
          <a:prstGeom prst="rect">
            <a:avLst/>
          </a:prstGeom>
          <a:noFill/>
          <a:ln/>
        </p:spPr>
        <p:txBody>
          <a:bodyPr wrap="square" lIns="0" tIns="0" rIns="0" bIns="0" rtlCol="0" anchor="t"/>
          <a:lstStyle/>
          <a:p>
            <a:pPr indent="0" marL="0">
              <a:lnSpc>
                <a:spcPts val="1562"/>
              </a:lnSpc>
              <a:buNone/>
            </a:pPr>
            <a:r>
              <a:rPr lang="en-US" sz="1100" dirty="0">
                <a:solidFill>
                  <a:srgbClr val="2A3243"/>
                </a:solidFill>
                <a:latin typeface="Calibri" pitchFamily="34" charset="0"/>
                <a:ea typeface="Calibri" pitchFamily="34" charset="-122"/>
                <a:cs typeface="Calibri" pitchFamily="34" charset="-120"/>
              </a:rPr>
              <a:t>Pekerja, warga hilir, dan masyarakat adat diberi keterwakilan formal dalam panitia keselamatan, pemantauan lingkungan, dan perizinan kawasan.</a:t>
            </a:r>
            <a:endParaRPr lang="en-US" sz="1100" dirty="0"/>
          </a:p>
        </p:txBody>
      </p:sp>
      <p:sp>
        <p:nvSpPr>
          <p:cNvPr id="19" name="Shape 17"/>
          <p:cNvSpPr/>
          <p:nvPr/>
        </p:nvSpPr>
        <p:spPr>
          <a:xfrm>
            <a:off x="8066837" y="1847088"/>
            <a:ext cx="3503066" cy="2194560"/>
          </a:xfrm>
          <a:prstGeom prst="roundRect">
            <a:avLst>
              <a:gd name="adj" fmla="val 6667"/>
            </a:avLst>
          </a:prstGeom>
          <a:solidFill>
            <a:srgbClr val="0FA98E"/>
          </a:solidFill>
          <a:ln/>
        </p:spPr>
      </p:sp>
      <p:sp>
        <p:nvSpPr>
          <p:cNvPr id="20" name="Shape 18"/>
          <p:cNvSpPr/>
          <p:nvPr/>
        </p:nvSpPr>
        <p:spPr>
          <a:xfrm>
            <a:off x="8304581" y="2048256"/>
            <a:ext cx="283464" cy="283464"/>
          </a:xfrm>
          <a:prstGeom prst="roundRect">
            <a:avLst>
              <a:gd name="adj" fmla="val 32258"/>
            </a:avLst>
          </a:prstGeom>
          <a:solidFill>
            <a:srgbClr val="35B7A0"/>
          </a:solidFill>
          <a:ln/>
        </p:spPr>
      </p:sp>
      <p:sp>
        <p:nvSpPr>
          <p:cNvPr id="21" name="Text 19"/>
          <p:cNvSpPr txBox="1"/>
          <p:nvPr/>
        </p:nvSpPr>
        <p:spPr>
          <a:xfrm>
            <a:off x="8304581" y="2048256"/>
            <a:ext cx="283464"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03</a:t>
            </a:r>
            <a:endParaRPr lang="en-US" sz="1050" dirty="0"/>
          </a:p>
        </p:txBody>
      </p:sp>
      <p:sp>
        <p:nvSpPr>
          <p:cNvPr id="22" name="Text 20"/>
          <p:cNvSpPr txBox="1"/>
          <p:nvPr/>
        </p:nvSpPr>
        <p:spPr>
          <a:xfrm>
            <a:off x="8304581" y="2432304"/>
            <a:ext cx="3027578" cy="418338"/>
          </a:xfrm>
          <a:prstGeom prst="rect">
            <a:avLst/>
          </a:prstGeom>
          <a:noFill/>
          <a:ln/>
        </p:spPr>
        <p:txBody>
          <a:bodyPr wrap="square" lIns="0" tIns="0" rIns="0" bIns="0" rtlCol="0" anchor="t"/>
          <a:lstStyle/>
          <a:p>
            <a:pPr indent="0" marL="0">
              <a:lnSpc>
                <a:spcPts val="1647"/>
              </a:lnSpc>
              <a:buNone/>
            </a:pPr>
            <a:r>
              <a:rPr lang="en-US" sz="1350" b="1" dirty="0">
                <a:solidFill>
                  <a:srgbClr val="FFFFFF"/>
                </a:solidFill>
                <a:latin typeface="Calibri" pitchFamily="34" charset="0"/>
                <a:ea typeface="Calibri" pitchFamily="34" charset="-122"/>
                <a:cs typeface="Calibri" pitchFamily="34" charset="-120"/>
              </a:rPr>
              <a:t>Uji Klaim dengan Beberapa Teori</a:t>
            </a:r>
            <a:endParaRPr lang="en-US" sz="1350" dirty="0"/>
          </a:p>
        </p:txBody>
      </p:sp>
      <p:sp>
        <p:nvSpPr>
          <p:cNvPr id="23" name="Text 21"/>
          <p:cNvSpPr txBox="1"/>
          <p:nvPr/>
        </p:nvSpPr>
        <p:spPr>
          <a:xfrm>
            <a:off x="8304581" y="2923794"/>
            <a:ext cx="3027578" cy="989838"/>
          </a:xfrm>
          <a:prstGeom prst="rect">
            <a:avLst/>
          </a:prstGeom>
          <a:noFill/>
          <a:ln/>
        </p:spPr>
        <p:txBody>
          <a:bodyPr wrap="square" lIns="0" tIns="0" rIns="0" bIns="0" rtlCol="0" anchor="t"/>
          <a:lstStyle/>
          <a:p>
            <a:pPr indent="0" marL="0">
              <a:lnSpc>
                <a:spcPts val="1562"/>
              </a:lnSpc>
              <a:buNone/>
            </a:pPr>
            <a:r>
              <a:rPr lang="en-US" sz="1100" dirty="0">
                <a:solidFill>
                  <a:srgbClr val="E8E4DC"/>
                </a:solidFill>
                <a:latin typeface="Calibri" pitchFamily="34" charset="0"/>
                <a:ea typeface="Calibri" pitchFamily="34" charset="-122"/>
                <a:cs typeface="Calibri" pitchFamily="34" charset="-120"/>
              </a:rPr>
              <a:t>Klaim yang lolos utilitarianism kerap gugur pada keadilan distributif dan discourse ethics. Sembilan pertimbangan berfungsi sebagai daftar periksa.</a:t>
            </a:r>
            <a:endParaRPr lang="en-US" sz="1100" dirty="0"/>
          </a:p>
        </p:txBody>
      </p:sp>
      <p:sp>
        <p:nvSpPr>
          <p:cNvPr id="24" name="Shape 22"/>
          <p:cNvSpPr/>
          <p:nvPr/>
        </p:nvSpPr>
        <p:spPr>
          <a:xfrm>
            <a:off x="621792" y="4242816"/>
            <a:ext cx="10948111" cy="1847088"/>
          </a:xfrm>
          <a:prstGeom prst="roundRect">
            <a:avLst>
              <a:gd name="adj" fmla="val 7921"/>
            </a:avLst>
          </a:prstGeom>
          <a:solidFill>
            <a:srgbClr val="0E1626"/>
          </a:solidFill>
          <a:ln/>
        </p:spPr>
      </p:sp>
      <p:sp>
        <p:nvSpPr>
          <p:cNvPr id="25" name="Shape 23"/>
          <p:cNvSpPr/>
          <p:nvPr/>
        </p:nvSpPr>
        <p:spPr>
          <a:xfrm>
            <a:off x="914400" y="4425696"/>
            <a:ext cx="2139696" cy="283464"/>
          </a:xfrm>
          <a:prstGeom prst="roundRect">
            <a:avLst>
              <a:gd name="adj" fmla="val 50000"/>
            </a:avLst>
          </a:prstGeom>
          <a:solidFill>
            <a:srgbClr val="C6F04A"/>
          </a:solidFill>
          <a:ln w="12700">
            <a:solidFill>
              <a:srgbClr val="C6F04A"/>
            </a:solidFill>
            <a:prstDash val="solid"/>
          </a:ln>
        </p:spPr>
      </p:sp>
      <p:sp>
        <p:nvSpPr>
          <p:cNvPr id="26" name="Text 24"/>
          <p:cNvSpPr txBox="1"/>
          <p:nvPr/>
        </p:nvSpPr>
        <p:spPr>
          <a:xfrm>
            <a:off x="914400" y="4425696"/>
            <a:ext cx="2139696"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KEBIJAKAN BERIKUTNYA</a:t>
            </a:r>
            <a:endParaRPr lang="en-US" sz="950" dirty="0"/>
          </a:p>
        </p:txBody>
      </p:sp>
      <p:sp>
        <p:nvSpPr>
          <p:cNvPr id="27" name="Text 25"/>
          <p:cNvSpPr txBox="1"/>
          <p:nvPr/>
        </p:nvSpPr>
        <p:spPr>
          <a:xfrm>
            <a:off x="914400" y="4828032"/>
            <a:ext cx="10362895" cy="310896"/>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Ujian yang Sama untuk Bauksit, Tembaga, dan Timah</a:t>
            </a:r>
            <a:endParaRPr lang="en-US" sz="1700" dirty="0"/>
          </a:p>
        </p:txBody>
      </p:sp>
      <p:sp>
        <p:nvSpPr>
          <p:cNvPr id="28" name="Text 26"/>
          <p:cNvSpPr txBox="1"/>
          <p:nvPr/>
        </p:nvSpPr>
        <p:spPr>
          <a:xfrm>
            <a:off x="914400" y="5193792"/>
            <a:ext cx="10326319" cy="475488"/>
          </a:xfrm>
          <a:prstGeom prst="rect">
            <a:avLst/>
          </a:prstGeom>
          <a:noFill/>
          <a:ln/>
        </p:spPr>
        <p:txBody>
          <a:bodyPr wrap="square" lIns="0" tIns="0" rIns="0" bIns="0" rtlCol="0" anchor="t"/>
          <a:lstStyle/>
          <a:p>
            <a:pPr indent="0" marL="0">
              <a:lnSpc>
                <a:spcPts val="1700"/>
              </a:lnSpc>
              <a:buNone/>
            </a:pPr>
            <a:r>
              <a:rPr lang="en-US" sz="1200" dirty="0">
                <a:solidFill>
                  <a:srgbClr val="B9C0CE"/>
                </a:solidFill>
                <a:latin typeface="Calibri" pitchFamily="34" charset="0"/>
                <a:ea typeface="Calibri" pitchFamily="34" charset="-122"/>
                <a:cs typeface="Calibri" pitchFamily="34" charset="-120"/>
              </a:rPr>
              <a:t>Struktur dilemanya berulang pada setiap komoditas yang dihilirisasi. Manfaat ekonominya besar dan terukur, biaya sosial dan lingkungannya tersebar serta sulit dikuantifikasi, dan narasi pembenarnya selalu tersedia.</a:t>
            </a:r>
            <a:endParaRPr lang="en-US" sz="1200" dirty="0"/>
          </a:p>
        </p:txBody>
      </p:sp>
      <p:sp>
        <p:nvSpPr>
          <p:cNvPr id="29" name="Text 27"/>
          <p:cNvSpPr txBox="1"/>
          <p:nvPr/>
        </p:nvSpPr>
        <p:spPr>
          <a:xfrm>
            <a:off x="914400" y="5724144"/>
            <a:ext cx="10326319" cy="274320"/>
          </a:xfrm>
          <a:prstGeom prst="rect">
            <a:avLst/>
          </a:prstGeom>
          <a:noFill/>
          <a:ln/>
        </p:spPr>
        <p:txBody>
          <a:bodyPr wrap="square" lIns="0" tIns="0" rIns="0" bIns="0" rtlCol="0" anchor="t"/>
          <a:lstStyle/>
          <a:p>
            <a:pPr indent="0" marL="0">
              <a:buNone/>
            </a:pPr>
            <a:r>
              <a:rPr lang="en-US" sz="1250" b="1" i="1" dirty="0">
                <a:solidFill>
                  <a:srgbClr val="C6F04A"/>
                </a:solidFill>
                <a:latin typeface="Calibri" pitchFamily="34" charset="0"/>
                <a:ea typeface="Calibri" pitchFamily="34" charset="-122"/>
                <a:cs typeface="Calibri" pitchFamily="34" charset="-120"/>
              </a:rPr>
              <a:t>Siapa menikmati manfaatnya, siapa menanggung bebannya, dan apakah keduanya pihak yang sama?</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962863"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962863"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PENUTUP</a:t>
            </a:r>
            <a:endParaRPr lang="en-US" sz="950" dirty="0"/>
          </a:p>
        </p:txBody>
      </p:sp>
      <p:sp>
        <p:nvSpPr>
          <p:cNvPr id="5" name="Shape 3"/>
          <p:cNvSpPr/>
          <p:nvPr/>
        </p:nvSpPr>
        <p:spPr>
          <a:xfrm>
            <a:off x="1703527" y="457200"/>
            <a:ext cx="1324966"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03527" y="457200"/>
            <a:ext cx="1324966"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TIGA TEMUAN</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18</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Simpulan Analisis</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Shape 7"/>
          <p:cNvSpPr/>
          <p:nvPr/>
        </p:nvSpPr>
        <p:spPr>
          <a:xfrm>
            <a:off x="621792" y="1847088"/>
            <a:ext cx="10948111" cy="1060704"/>
          </a:xfrm>
          <a:prstGeom prst="roundRect">
            <a:avLst>
              <a:gd name="adj" fmla="val 13793"/>
            </a:avLst>
          </a:prstGeom>
          <a:solidFill>
            <a:srgbClr val="FFFFFF"/>
          </a:solidFill>
          <a:ln/>
        </p:spPr>
      </p:sp>
      <p:sp>
        <p:nvSpPr>
          <p:cNvPr id="10" name="Shape 8"/>
          <p:cNvSpPr/>
          <p:nvPr/>
        </p:nvSpPr>
        <p:spPr>
          <a:xfrm>
            <a:off x="621792" y="1847088"/>
            <a:ext cx="566928" cy="1060704"/>
          </a:xfrm>
          <a:prstGeom prst="rect">
            <a:avLst/>
          </a:prstGeom>
          <a:solidFill>
            <a:srgbClr val="FF5A2D"/>
          </a:solidFill>
          <a:ln/>
        </p:spPr>
      </p:sp>
      <p:sp>
        <p:nvSpPr>
          <p:cNvPr id="11" name="Text 9"/>
          <p:cNvSpPr txBox="1"/>
          <p:nvPr/>
        </p:nvSpPr>
        <p:spPr>
          <a:xfrm>
            <a:off x="621792" y="1847088"/>
            <a:ext cx="566928" cy="106070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2" name="Text 10"/>
          <p:cNvSpPr txBox="1"/>
          <p:nvPr/>
        </p:nvSpPr>
        <p:spPr>
          <a:xfrm>
            <a:off x="1389888" y="1929384"/>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Konvergensi, Bukan Kesepakatan</a:t>
            </a:r>
            <a:endParaRPr lang="en-US" sz="1250" dirty="0"/>
          </a:p>
        </p:txBody>
      </p:sp>
      <p:sp>
        <p:nvSpPr>
          <p:cNvPr id="13" name="Text 11"/>
          <p:cNvSpPr txBox="1"/>
          <p:nvPr/>
        </p:nvSpPr>
        <p:spPr>
          <a:xfrm>
            <a:off x="1389888" y="2167128"/>
            <a:ext cx="9942271" cy="65836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Sembilan teori berangkat dari premis yang berbeda, namun mayoritasnya bertemu pada arah yang sama. Konvergensi dari titik masuk yang berbeda inilah bukti terkuat yang dapat dihasilkan pluralism.</a:t>
            </a:r>
            <a:endParaRPr lang="en-US" sz="1100" dirty="0"/>
          </a:p>
        </p:txBody>
      </p:sp>
      <p:sp>
        <p:nvSpPr>
          <p:cNvPr id="14" name="Shape 12"/>
          <p:cNvSpPr/>
          <p:nvPr/>
        </p:nvSpPr>
        <p:spPr>
          <a:xfrm>
            <a:off x="621792" y="3017520"/>
            <a:ext cx="10948111" cy="1060704"/>
          </a:xfrm>
          <a:prstGeom prst="roundRect">
            <a:avLst>
              <a:gd name="adj" fmla="val 13793"/>
            </a:avLst>
          </a:prstGeom>
          <a:solidFill>
            <a:srgbClr val="FFFFFF"/>
          </a:solidFill>
          <a:ln/>
        </p:spPr>
      </p:sp>
      <p:sp>
        <p:nvSpPr>
          <p:cNvPr id="15" name="Shape 13"/>
          <p:cNvSpPr/>
          <p:nvPr/>
        </p:nvSpPr>
        <p:spPr>
          <a:xfrm>
            <a:off x="621792" y="3017520"/>
            <a:ext cx="566928" cy="1060704"/>
          </a:xfrm>
          <a:prstGeom prst="rect">
            <a:avLst/>
          </a:prstGeom>
          <a:solidFill>
            <a:srgbClr val="B8A6F5"/>
          </a:solidFill>
          <a:ln/>
        </p:spPr>
      </p:sp>
      <p:sp>
        <p:nvSpPr>
          <p:cNvPr id="16" name="Text 14"/>
          <p:cNvSpPr txBox="1"/>
          <p:nvPr/>
        </p:nvSpPr>
        <p:spPr>
          <a:xfrm>
            <a:off x="621792" y="3017520"/>
            <a:ext cx="566928" cy="1060704"/>
          </a:xfrm>
          <a:prstGeom prst="rect">
            <a:avLst/>
          </a:prstGeom>
          <a:noFill/>
          <a:ln/>
        </p:spPr>
        <p:txBody>
          <a:bodyPr wrap="square" lIns="0" tIns="0" rIns="0" bIns="0" rtlCol="0" anchor="ctr"/>
          <a:lstStyle/>
          <a:p>
            <a:pPr algn="ctr" indent="0" marL="0">
              <a:buNone/>
            </a:pPr>
            <a:r>
              <a:rPr lang="en-US" sz="1700" b="1" dirty="0">
                <a:solidFill>
                  <a:srgbClr val="0E1626"/>
                </a:solidFill>
                <a:latin typeface="Calibri" pitchFamily="34" charset="0"/>
                <a:ea typeface="Calibri" pitchFamily="34" charset="-122"/>
                <a:cs typeface="Calibri" pitchFamily="34" charset="-120"/>
              </a:rPr>
              <a:t>2</a:t>
            </a:r>
            <a:endParaRPr lang="en-US" sz="1700" dirty="0"/>
          </a:p>
        </p:txBody>
      </p:sp>
      <p:sp>
        <p:nvSpPr>
          <p:cNvPr id="17" name="Text 15"/>
          <p:cNvSpPr txBox="1"/>
          <p:nvPr/>
        </p:nvSpPr>
        <p:spPr>
          <a:xfrm>
            <a:off x="1389888" y="3099816"/>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Yang Gugur Adalah Klaimnya</a:t>
            </a:r>
            <a:endParaRPr lang="en-US" sz="1250" dirty="0"/>
          </a:p>
        </p:txBody>
      </p:sp>
      <p:sp>
        <p:nvSpPr>
          <p:cNvPr id="18" name="Text 16"/>
          <p:cNvSpPr txBox="1"/>
          <p:nvPr/>
        </p:nvSpPr>
        <p:spPr>
          <a:xfrm>
            <a:off x="1389888" y="3337560"/>
            <a:ext cx="9942271" cy="65836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Yang gugur bukan kebijakan hilirisasinya, melainkan klaim bahwa kebijakan ini sudah etis. Persoalan upah, keselamatan, pemulihan lingkungan, dan sumber energi tetap terbuka untuk diperbaiki.</a:t>
            </a:r>
            <a:endParaRPr lang="en-US" sz="1100" dirty="0"/>
          </a:p>
        </p:txBody>
      </p:sp>
      <p:sp>
        <p:nvSpPr>
          <p:cNvPr id="19" name="Shape 17"/>
          <p:cNvSpPr/>
          <p:nvPr/>
        </p:nvSpPr>
        <p:spPr>
          <a:xfrm>
            <a:off x="621792" y="4187952"/>
            <a:ext cx="10948111" cy="1060704"/>
          </a:xfrm>
          <a:prstGeom prst="roundRect">
            <a:avLst>
              <a:gd name="adj" fmla="val 13793"/>
            </a:avLst>
          </a:prstGeom>
          <a:solidFill>
            <a:srgbClr val="FFFFFF"/>
          </a:solidFill>
          <a:ln/>
        </p:spPr>
      </p:sp>
      <p:sp>
        <p:nvSpPr>
          <p:cNvPr id="20" name="Shape 18"/>
          <p:cNvSpPr/>
          <p:nvPr/>
        </p:nvSpPr>
        <p:spPr>
          <a:xfrm>
            <a:off x="621792" y="4187952"/>
            <a:ext cx="566928" cy="1060704"/>
          </a:xfrm>
          <a:prstGeom prst="rect">
            <a:avLst/>
          </a:prstGeom>
          <a:solidFill>
            <a:srgbClr val="0E1626"/>
          </a:solidFill>
          <a:ln/>
        </p:spPr>
      </p:sp>
      <p:sp>
        <p:nvSpPr>
          <p:cNvPr id="21" name="Text 19"/>
          <p:cNvSpPr txBox="1"/>
          <p:nvPr/>
        </p:nvSpPr>
        <p:spPr>
          <a:xfrm>
            <a:off x="621792" y="4187952"/>
            <a:ext cx="566928" cy="106070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2" name="Text 20"/>
          <p:cNvSpPr txBox="1"/>
          <p:nvPr/>
        </p:nvSpPr>
        <p:spPr>
          <a:xfrm>
            <a:off x="1389888" y="4270248"/>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Kasusnya Belum Selesai</a:t>
            </a:r>
            <a:endParaRPr lang="en-US" sz="1250" dirty="0"/>
          </a:p>
        </p:txBody>
      </p:sp>
      <p:sp>
        <p:nvSpPr>
          <p:cNvPr id="23" name="Text 21"/>
          <p:cNvSpPr txBox="1"/>
          <p:nvPr/>
        </p:nvSpPr>
        <p:spPr>
          <a:xfrm>
            <a:off x="1389888" y="4507992"/>
            <a:ext cx="9942271" cy="65836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Kebijakannya masih berjalan, sengketa dagangnya belum tuntas, dan angkanya berubah setiap tahun. Kasus yang belum selesai justru kasus yang paling layak didiskusikan di kelas.</a:t>
            </a:r>
            <a:endParaRPr lang="en-US" sz="1100" dirty="0"/>
          </a:p>
        </p:txBody>
      </p:sp>
      <p:sp>
        <p:nvSpPr>
          <p:cNvPr id="24" name="Shape 22"/>
          <p:cNvSpPr/>
          <p:nvPr/>
        </p:nvSpPr>
        <p:spPr>
          <a:xfrm>
            <a:off x="621792" y="5431536"/>
            <a:ext cx="10948111" cy="713232"/>
          </a:xfrm>
          <a:prstGeom prst="roundRect">
            <a:avLst>
              <a:gd name="adj" fmla="val 20513"/>
            </a:avLst>
          </a:prstGeom>
          <a:solidFill>
            <a:srgbClr val="FFFFFF"/>
          </a:solidFill>
          <a:ln/>
        </p:spPr>
      </p:sp>
      <p:sp>
        <p:nvSpPr>
          <p:cNvPr id="25" name="Shape 23"/>
          <p:cNvSpPr/>
          <p:nvPr/>
        </p:nvSpPr>
        <p:spPr>
          <a:xfrm>
            <a:off x="621792" y="5486400"/>
            <a:ext cx="50292" cy="603504"/>
          </a:xfrm>
          <a:prstGeom prst="rect">
            <a:avLst/>
          </a:prstGeom>
          <a:solidFill>
            <a:srgbClr val="FF5A2D"/>
          </a:solidFill>
          <a:ln/>
        </p:spPr>
      </p:sp>
      <p:sp>
        <p:nvSpPr>
          <p:cNvPr id="26" name="Text 24"/>
          <p:cNvSpPr txBox="1"/>
          <p:nvPr/>
        </p:nvSpPr>
        <p:spPr>
          <a:xfrm>
            <a:off x="896112" y="5522976"/>
            <a:ext cx="10399471" cy="530352"/>
          </a:xfrm>
          <a:prstGeom prst="rect">
            <a:avLst/>
          </a:prstGeom>
          <a:noFill/>
          <a:ln/>
        </p:spPr>
        <p:txBody>
          <a:bodyPr wrap="square" lIns="0" tIns="0" rIns="0" bIns="0" rtlCol="0" anchor="ctr"/>
          <a:lstStyle/>
          <a:p>
            <a:pPr indent="0" marL="0">
              <a:lnSpc>
                <a:spcPts val="1800"/>
              </a:lnSpc>
              <a:buNone/>
            </a:pPr>
            <a:r>
              <a:rPr lang="en-US" sz="1250" dirty="0">
                <a:solidFill>
                  <a:srgbClr val="0E1626"/>
                </a:solidFill>
                <a:latin typeface="Calibri" pitchFamily="34" charset="0"/>
                <a:ea typeface="Calibri" pitchFamily="34" charset="-122"/>
                <a:cs typeface="Calibri" pitchFamily="34" charset="-120"/>
              </a:rPr>
              <a:t>Manfaat yang terukur selalu lebih mudah dipertahankan daripada beban yang tersebar. Justru karena itu beban tersebar perlu dihitung lebih dahulu.</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621792" y="457200"/>
            <a:ext cx="1053389" cy="283464"/>
          </a:xfrm>
          <a:prstGeom prst="roundRect">
            <a:avLst>
              <a:gd name="adj" fmla="val 50000"/>
            </a:avLst>
          </a:prstGeom>
          <a:solidFill>
            <a:srgbClr val="C6F04A"/>
          </a:solidFill>
          <a:ln w="12700">
            <a:solidFill>
              <a:srgbClr val="C6F04A"/>
            </a:solidFill>
            <a:prstDash val="solid"/>
          </a:ln>
        </p:spPr>
      </p:sp>
      <p:sp>
        <p:nvSpPr>
          <p:cNvPr id="4" name="Text 2"/>
          <p:cNvSpPr txBox="1"/>
          <p:nvPr/>
        </p:nvSpPr>
        <p:spPr>
          <a:xfrm>
            <a:off x="621792" y="457200"/>
            <a:ext cx="1053389"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LAMPIRAN</a:t>
            </a:r>
            <a:endParaRPr lang="en-US" sz="950" dirty="0"/>
          </a:p>
        </p:txBody>
      </p:sp>
      <p:sp>
        <p:nvSpPr>
          <p:cNvPr id="5" name="Shape 3"/>
          <p:cNvSpPr/>
          <p:nvPr/>
        </p:nvSpPr>
        <p:spPr>
          <a:xfrm>
            <a:off x="1794053" y="457200"/>
            <a:ext cx="1415491"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94053" y="457200"/>
            <a:ext cx="1415491"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RUJUKAN DATA</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19</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Sumber Data</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Data ditelusuri pada Agustus 2026. Periksa ulang bila presentasi mundur beberapa bulan.</a:t>
            </a:r>
            <a:endParaRPr lang="en-US" sz="1350" dirty="0"/>
          </a:p>
        </p:txBody>
      </p:sp>
      <p:sp>
        <p:nvSpPr>
          <p:cNvPr id="10" name="Shape 8"/>
          <p:cNvSpPr/>
          <p:nvPr/>
        </p:nvSpPr>
        <p:spPr>
          <a:xfrm>
            <a:off x="621792" y="1975104"/>
            <a:ext cx="5346040" cy="1810512"/>
          </a:xfrm>
          <a:prstGeom prst="roundRect">
            <a:avLst>
              <a:gd name="adj" fmla="val 8081"/>
            </a:avLst>
          </a:prstGeom>
          <a:solidFill>
            <a:srgbClr val="FF5A2D"/>
          </a:solidFill>
          <a:ln/>
        </p:spPr>
      </p:sp>
      <p:sp>
        <p:nvSpPr>
          <p:cNvPr id="11" name="Text 9"/>
          <p:cNvSpPr txBox="1"/>
          <p:nvPr/>
        </p:nvSpPr>
        <p:spPr>
          <a:xfrm>
            <a:off x="859536" y="2194560"/>
            <a:ext cx="4870552" cy="292608"/>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Ekonomi dan Investasi</a:t>
            </a:r>
            <a:endParaRPr lang="en-US" sz="1500" dirty="0"/>
          </a:p>
        </p:txBody>
      </p:sp>
      <p:sp>
        <p:nvSpPr>
          <p:cNvPr id="12" name="Text 10"/>
          <p:cNvSpPr txBox="1"/>
          <p:nvPr/>
        </p:nvSpPr>
        <p:spPr>
          <a:xfrm>
            <a:off x="859536" y="2560320"/>
            <a:ext cx="4870552" cy="1097280"/>
          </a:xfrm>
          <a:prstGeom prst="rect">
            <a:avLst/>
          </a:prstGeom>
          <a:noFill/>
          <a:ln/>
        </p:spPr>
        <p:txBody>
          <a:bodyPr wrap="square" lIns="0" tIns="0" rIns="0" bIns="0" rtlCol="0" anchor="t"/>
          <a:lstStyle/>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Pengelola Kawasan IMIP dan IWIP untuk investasi dan tenaga kerja</a:t>
            </a:r>
            <a:endParaRPr lang="en-US" sz="1050" dirty="0"/>
          </a:p>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Badan Pusat Statistik Sulawesi Tengah untuk nilai ekspor dan pertumbuhan</a:t>
            </a:r>
            <a:endParaRPr lang="en-US" sz="1050" dirty="0"/>
          </a:p>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Badan Pusat Statistik untuk angka kemiskinan kabupaten dan provinsi</a:t>
            </a:r>
            <a:endParaRPr lang="en-US" sz="1050" dirty="0"/>
          </a:p>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Kementerian Perindustrian untuk nilai ekspor produk nikel olahan</a:t>
            </a:r>
            <a:endParaRPr lang="en-US" sz="1050" dirty="0"/>
          </a:p>
        </p:txBody>
      </p:sp>
      <p:sp>
        <p:nvSpPr>
          <p:cNvPr id="13" name="Shape 11"/>
          <p:cNvSpPr/>
          <p:nvPr/>
        </p:nvSpPr>
        <p:spPr>
          <a:xfrm>
            <a:off x="6223864" y="1975104"/>
            <a:ext cx="5346040" cy="1810512"/>
          </a:xfrm>
          <a:prstGeom prst="roundRect">
            <a:avLst>
              <a:gd name="adj" fmla="val 8081"/>
            </a:avLst>
          </a:prstGeom>
          <a:solidFill>
            <a:srgbClr val="0FA98E"/>
          </a:solidFill>
          <a:ln/>
        </p:spPr>
      </p:sp>
      <p:sp>
        <p:nvSpPr>
          <p:cNvPr id="14" name="Text 12"/>
          <p:cNvSpPr txBox="1"/>
          <p:nvPr/>
        </p:nvSpPr>
        <p:spPr>
          <a:xfrm>
            <a:off x="6461608" y="2194560"/>
            <a:ext cx="4870552" cy="292608"/>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Lingkungan dan Energi</a:t>
            </a:r>
            <a:endParaRPr lang="en-US" sz="1500" dirty="0"/>
          </a:p>
        </p:txBody>
      </p:sp>
      <p:sp>
        <p:nvSpPr>
          <p:cNvPr id="15" name="Text 13"/>
          <p:cNvSpPr txBox="1"/>
          <p:nvPr/>
        </p:nvSpPr>
        <p:spPr>
          <a:xfrm>
            <a:off x="6461608" y="2560320"/>
            <a:ext cx="4870552" cy="1097280"/>
          </a:xfrm>
          <a:prstGeom prst="rect">
            <a:avLst/>
          </a:prstGeom>
          <a:noFill/>
          <a:ln/>
        </p:spPr>
        <p:txBody>
          <a:bodyPr wrap="square" lIns="0" tIns="0" rIns="0" bIns="0" rtlCol="0" anchor="t"/>
          <a:lstStyle/>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Global Forest Watch untuk kehilangan tutupan pohon Halmahera</a:t>
            </a:r>
            <a:endParaRPr lang="en-US" sz="1050" dirty="0"/>
          </a:p>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Lembaga pemantau energi dan iklim untuk kapasitas PLTU captive</a:t>
            </a:r>
            <a:endParaRPr lang="en-US" sz="1050" dirty="0"/>
          </a:p>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Pengujian kualitas air oleh organisasi lingkungan setempat</a:t>
            </a:r>
            <a:endParaRPr lang="en-US" sz="1050" dirty="0"/>
          </a:p>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Kajian emisi sektor pengolahan logam nasional</a:t>
            </a:r>
            <a:endParaRPr lang="en-US" sz="1050" dirty="0"/>
          </a:p>
        </p:txBody>
      </p:sp>
      <p:sp>
        <p:nvSpPr>
          <p:cNvPr id="16" name="Shape 14"/>
          <p:cNvSpPr/>
          <p:nvPr/>
        </p:nvSpPr>
        <p:spPr>
          <a:xfrm>
            <a:off x="621792" y="3931920"/>
            <a:ext cx="5346040" cy="1810512"/>
          </a:xfrm>
          <a:prstGeom prst="roundRect">
            <a:avLst>
              <a:gd name="adj" fmla="val 8081"/>
            </a:avLst>
          </a:prstGeom>
          <a:solidFill>
            <a:srgbClr val="F5B722"/>
          </a:solidFill>
          <a:ln/>
        </p:spPr>
      </p:sp>
      <p:sp>
        <p:nvSpPr>
          <p:cNvPr id="17" name="Text 15"/>
          <p:cNvSpPr txBox="1"/>
          <p:nvPr/>
        </p:nvSpPr>
        <p:spPr>
          <a:xfrm>
            <a:off x="859536" y="4151376"/>
            <a:ext cx="4870552" cy="292608"/>
          </a:xfrm>
          <a:prstGeom prst="rect">
            <a:avLst/>
          </a:prstGeom>
          <a:noFill/>
          <a:ln/>
        </p:spPr>
        <p:txBody>
          <a:bodyPr wrap="square" lIns="0" tIns="0" rIns="0" bIns="0" rtlCol="0" anchor="t"/>
          <a:lstStyle/>
          <a:p>
            <a:pPr indent="0" marL="0">
              <a:lnSpc>
                <a:spcPts val="1830"/>
              </a:lnSpc>
              <a:buNone/>
            </a:pPr>
            <a:r>
              <a:rPr lang="en-US" sz="1500" b="1" dirty="0">
                <a:solidFill>
                  <a:srgbClr val="0E1626"/>
                </a:solidFill>
                <a:latin typeface="Calibri" pitchFamily="34" charset="0"/>
                <a:ea typeface="Calibri" pitchFamily="34" charset="-122"/>
                <a:cs typeface="Calibri" pitchFamily="34" charset="-120"/>
              </a:rPr>
              <a:t>Ketenagakerjaan</a:t>
            </a:r>
            <a:endParaRPr lang="en-US" sz="1500" dirty="0"/>
          </a:p>
        </p:txBody>
      </p:sp>
      <p:sp>
        <p:nvSpPr>
          <p:cNvPr id="18" name="Text 16"/>
          <p:cNvSpPr txBox="1"/>
          <p:nvPr/>
        </p:nvSpPr>
        <p:spPr>
          <a:xfrm>
            <a:off x="859536" y="4517136"/>
            <a:ext cx="4870552" cy="1097280"/>
          </a:xfrm>
          <a:prstGeom prst="rect">
            <a:avLst/>
          </a:prstGeom>
          <a:noFill/>
          <a:ln/>
        </p:spPr>
        <p:txBody>
          <a:bodyPr wrap="square" lIns="0" tIns="0" rIns="0" bIns="0" rtlCol="0" anchor="t"/>
          <a:lstStyle/>
          <a:p>
            <a:pPr indent="0" marL="0">
              <a:lnSpc>
                <a:spcPts val="1491"/>
              </a:lnSpc>
              <a:buNone/>
            </a:pPr>
            <a:r>
              <a:rPr lang="en-US" sz="1050" dirty="0">
                <a:solidFill>
                  <a:srgbClr val="2A3243"/>
                </a:solidFill>
                <a:latin typeface="Calibri" pitchFamily="34" charset="0"/>
                <a:ea typeface="Calibri" pitchFamily="34" charset="-122"/>
                <a:cs typeface="Calibri" pitchFamily="34" charset="-120"/>
              </a:rPr>
              <a:t>Serikat pekerja nasional untuk upah, jam kerja, dan tuntutan pekerja</a:t>
            </a:r>
            <a:endParaRPr lang="en-US" sz="1050" dirty="0"/>
          </a:p>
          <a:p>
            <a:pPr indent="0" marL="0">
              <a:lnSpc>
                <a:spcPts val="1491"/>
              </a:lnSpc>
              <a:buNone/>
            </a:pPr>
            <a:r>
              <a:rPr lang="en-US" sz="1050" dirty="0">
                <a:solidFill>
                  <a:srgbClr val="2A3243"/>
                </a:solidFill>
                <a:latin typeface="Calibri" pitchFamily="34" charset="0"/>
                <a:ea typeface="Calibri" pitchFamily="34" charset="-122"/>
                <a:cs typeface="Calibri" pitchFamily="34" charset="-120"/>
              </a:rPr>
              <a:t>Organisasi pemantau keselamatan smelter untuk data kecelakaan kerja</a:t>
            </a:r>
            <a:endParaRPr lang="en-US" sz="1050" dirty="0"/>
          </a:p>
          <a:p>
            <a:pPr indent="0" marL="0">
              <a:lnSpc>
                <a:spcPts val="1491"/>
              </a:lnSpc>
              <a:buNone/>
            </a:pPr>
            <a:r>
              <a:rPr lang="en-US" sz="1050" dirty="0">
                <a:solidFill>
                  <a:srgbClr val="2A3243"/>
                </a:solidFill>
                <a:latin typeface="Calibri" pitchFamily="34" charset="0"/>
                <a:ea typeface="Calibri" pitchFamily="34" charset="-122"/>
                <a:cs typeface="Calibri" pitchFamily="34" charset="-120"/>
              </a:rPr>
              <a:t>Lembaga kajian ketenagakerjaan hijau untuk penilaian mutu pekerjaan</a:t>
            </a:r>
            <a:endParaRPr lang="en-US" sz="1050" dirty="0"/>
          </a:p>
          <a:p>
            <a:pPr indent="0" marL="0">
              <a:lnSpc>
                <a:spcPts val="1491"/>
              </a:lnSpc>
              <a:buNone/>
            </a:pPr>
            <a:r>
              <a:rPr lang="en-US" sz="1050" dirty="0">
                <a:solidFill>
                  <a:srgbClr val="2A3243"/>
                </a:solidFill>
                <a:latin typeface="Calibri" pitchFamily="34" charset="0"/>
                <a:ea typeface="Calibri" pitchFamily="34" charset="-122"/>
                <a:cs typeface="Calibri" pitchFamily="34" charset="-120"/>
              </a:rPr>
              <a:t>Pemberitaan resmi kecelakaan kerja untuk kronologi peristiwa</a:t>
            </a:r>
            <a:endParaRPr lang="en-US" sz="1050" dirty="0"/>
          </a:p>
        </p:txBody>
      </p:sp>
      <p:sp>
        <p:nvSpPr>
          <p:cNvPr id="19" name="Shape 17"/>
          <p:cNvSpPr/>
          <p:nvPr/>
        </p:nvSpPr>
        <p:spPr>
          <a:xfrm>
            <a:off x="6223864" y="3931920"/>
            <a:ext cx="5346040" cy="1810512"/>
          </a:xfrm>
          <a:prstGeom prst="roundRect">
            <a:avLst>
              <a:gd name="adj" fmla="val 8081"/>
            </a:avLst>
          </a:prstGeom>
          <a:solidFill>
            <a:srgbClr val="0E1626"/>
          </a:solidFill>
          <a:ln/>
        </p:spPr>
      </p:sp>
      <p:sp>
        <p:nvSpPr>
          <p:cNvPr id="20" name="Text 18"/>
          <p:cNvSpPr txBox="1"/>
          <p:nvPr/>
        </p:nvSpPr>
        <p:spPr>
          <a:xfrm>
            <a:off x="6461608" y="4151376"/>
            <a:ext cx="4870552" cy="292608"/>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Kebijakan dan Rantai Pasok</a:t>
            </a:r>
            <a:endParaRPr lang="en-US" sz="1500" dirty="0"/>
          </a:p>
        </p:txBody>
      </p:sp>
      <p:sp>
        <p:nvSpPr>
          <p:cNvPr id="21" name="Text 19"/>
          <p:cNvSpPr txBox="1"/>
          <p:nvPr/>
        </p:nvSpPr>
        <p:spPr>
          <a:xfrm>
            <a:off x="6461608" y="4517136"/>
            <a:ext cx="4870552" cy="1097280"/>
          </a:xfrm>
          <a:prstGeom prst="rect">
            <a:avLst/>
          </a:prstGeom>
          <a:noFill/>
          <a:ln/>
        </p:spPr>
        <p:txBody>
          <a:bodyPr wrap="square" lIns="0" tIns="0" rIns="0" bIns="0" rtlCol="0" anchor="t"/>
          <a:lstStyle/>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Peraturan Menteri ESDM Nomor 11 Tahun 2019 untuk dasar hukum</a:t>
            </a:r>
            <a:endParaRPr lang="en-US" sz="1050" dirty="0"/>
          </a:p>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Dokumen putusan panel penyelesaian sengketa perdagangan</a:t>
            </a:r>
            <a:endParaRPr lang="en-US" sz="1050" dirty="0"/>
          </a:p>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Laporan penelusuran rantai pasok baterai kendaraan listrik</a:t>
            </a:r>
            <a:endParaRPr lang="en-US" sz="1050" dirty="0"/>
          </a:p>
          <a:p>
            <a:pPr indent="0" marL="0">
              <a:lnSpc>
                <a:spcPts val="1491"/>
              </a:lnSpc>
              <a:buNone/>
            </a:pPr>
            <a:r>
              <a:rPr lang="en-US" sz="1050" dirty="0">
                <a:solidFill>
                  <a:srgbClr val="E8E4DC"/>
                </a:solidFill>
                <a:latin typeface="Calibri" pitchFamily="34" charset="0"/>
                <a:ea typeface="Calibri" pitchFamily="34" charset="-122"/>
                <a:cs typeface="Calibri" pitchFamily="34" charset="-120"/>
              </a:rPr>
              <a:t>Organisasi advokasi masyarakat adat untuk data O Hongana Manyawa</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C6F04A"/>
          </a:solidFill>
          <a:ln/>
        </p:spPr>
      </p:sp>
      <p:sp>
        <p:nvSpPr>
          <p:cNvPr id="3" name="Shape 1"/>
          <p:cNvSpPr/>
          <p:nvPr/>
        </p:nvSpPr>
        <p:spPr>
          <a:xfrm>
            <a:off x="0" y="6327648"/>
            <a:ext cx="530352" cy="530352"/>
          </a:xfrm>
          <a:prstGeom prst="rect">
            <a:avLst/>
          </a:prstGeom>
          <a:solidFill>
            <a:srgbClr val="FF5A2D"/>
          </a:solidFill>
          <a:ln/>
        </p:spPr>
      </p:sp>
      <p:sp>
        <p:nvSpPr>
          <p:cNvPr id="4" name="Shape 2"/>
          <p:cNvSpPr/>
          <p:nvPr/>
        </p:nvSpPr>
        <p:spPr>
          <a:xfrm>
            <a:off x="7014362" y="2168042"/>
            <a:ext cx="53035" cy="53035"/>
          </a:xfrm>
          <a:prstGeom prst="ellipse">
            <a:avLst/>
          </a:prstGeom>
          <a:solidFill>
            <a:srgbClr val="283044"/>
          </a:solidFill>
          <a:ln/>
        </p:spPr>
      </p:sp>
      <p:sp>
        <p:nvSpPr>
          <p:cNvPr id="5" name="Shape 3"/>
          <p:cNvSpPr/>
          <p:nvPr/>
        </p:nvSpPr>
        <p:spPr>
          <a:xfrm>
            <a:off x="7117729" y="2110767"/>
            <a:ext cx="53035" cy="53035"/>
          </a:xfrm>
          <a:prstGeom prst="ellipse">
            <a:avLst/>
          </a:prstGeom>
          <a:solidFill>
            <a:srgbClr val="283044"/>
          </a:solidFill>
          <a:ln/>
        </p:spPr>
      </p:sp>
      <p:sp>
        <p:nvSpPr>
          <p:cNvPr id="6" name="Shape 4"/>
          <p:cNvSpPr/>
          <p:nvPr/>
        </p:nvSpPr>
        <p:spPr>
          <a:xfrm>
            <a:off x="7221096" y="2054559"/>
            <a:ext cx="53035" cy="53035"/>
          </a:xfrm>
          <a:prstGeom prst="ellipse">
            <a:avLst/>
          </a:prstGeom>
          <a:solidFill>
            <a:srgbClr val="283044"/>
          </a:solidFill>
          <a:ln/>
        </p:spPr>
      </p:sp>
      <p:sp>
        <p:nvSpPr>
          <p:cNvPr id="7" name="Shape 5"/>
          <p:cNvSpPr/>
          <p:nvPr/>
        </p:nvSpPr>
        <p:spPr>
          <a:xfrm>
            <a:off x="7324463" y="2000465"/>
            <a:ext cx="53035" cy="53035"/>
          </a:xfrm>
          <a:prstGeom prst="ellipse">
            <a:avLst/>
          </a:prstGeom>
          <a:solidFill>
            <a:srgbClr val="283044"/>
          </a:solidFill>
          <a:ln/>
        </p:spPr>
      </p:sp>
      <p:sp>
        <p:nvSpPr>
          <p:cNvPr id="8" name="Shape 6"/>
          <p:cNvSpPr/>
          <p:nvPr/>
        </p:nvSpPr>
        <p:spPr>
          <a:xfrm>
            <a:off x="7427830" y="1949493"/>
            <a:ext cx="53035" cy="53035"/>
          </a:xfrm>
          <a:prstGeom prst="ellipse">
            <a:avLst/>
          </a:prstGeom>
          <a:solidFill>
            <a:srgbClr val="283044"/>
          </a:solidFill>
          <a:ln/>
        </p:spPr>
      </p:sp>
      <p:sp>
        <p:nvSpPr>
          <p:cNvPr id="9" name="Shape 7"/>
          <p:cNvSpPr/>
          <p:nvPr/>
        </p:nvSpPr>
        <p:spPr>
          <a:xfrm>
            <a:off x="7531197" y="1902592"/>
            <a:ext cx="53035" cy="53035"/>
          </a:xfrm>
          <a:prstGeom prst="ellipse">
            <a:avLst/>
          </a:prstGeom>
          <a:solidFill>
            <a:srgbClr val="283044"/>
          </a:solidFill>
          <a:ln/>
        </p:spPr>
      </p:sp>
      <p:sp>
        <p:nvSpPr>
          <p:cNvPr id="10" name="Shape 8"/>
          <p:cNvSpPr/>
          <p:nvPr/>
        </p:nvSpPr>
        <p:spPr>
          <a:xfrm>
            <a:off x="7634564" y="1860635"/>
            <a:ext cx="53035" cy="53035"/>
          </a:xfrm>
          <a:prstGeom prst="ellipse">
            <a:avLst/>
          </a:prstGeom>
          <a:solidFill>
            <a:srgbClr val="283044"/>
          </a:solidFill>
          <a:ln/>
        </p:spPr>
      </p:sp>
      <p:sp>
        <p:nvSpPr>
          <p:cNvPr id="11" name="Shape 9"/>
          <p:cNvSpPr/>
          <p:nvPr/>
        </p:nvSpPr>
        <p:spPr>
          <a:xfrm>
            <a:off x="7737931" y="1824405"/>
            <a:ext cx="53035" cy="53035"/>
          </a:xfrm>
          <a:prstGeom prst="ellipse">
            <a:avLst/>
          </a:prstGeom>
          <a:solidFill>
            <a:srgbClr val="283044"/>
          </a:solidFill>
          <a:ln/>
        </p:spPr>
      </p:sp>
      <p:sp>
        <p:nvSpPr>
          <p:cNvPr id="12" name="Shape 10"/>
          <p:cNvSpPr/>
          <p:nvPr/>
        </p:nvSpPr>
        <p:spPr>
          <a:xfrm>
            <a:off x="7841298" y="1794577"/>
            <a:ext cx="53035" cy="53035"/>
          </a:xfrm>
          <a:prstGeom prst="ellipse">
            <a:avLst/>
          </a:prstGeom>
          <a:solidFill>
            <a:srgbClr val="283044"/>
          </a:solidFill>
          <a:ln/>
        </p:spPr>
      </p:sp>
      <p:sp>
        <p:nvSpPr>
          <p:cNvPr id="13" name="Shape 11"/>
          <p:cNvSpPr/>
          <p:nvPr/>
        </p:nvSpPr>
        <p:spPr>
          <a:xfrm>
            <a:off x="7944665" y="1771705"/>
            <a:ext cx="53035" cy="53035"/>
          </a:xfrm>
          <a:prstGeom prst="ellipse">
            <a:avLst/>
          </a:prstGeom>
          <a:solidFill>
            <a:srgbClr val="283044"/>
          </a:solidFill>
          <a:ln/>
        </p:spPr>
      </p:sp>
      <p:sp>
        <p:nvSpPr>
          <p:cNvPr id="14" name="Shape 12"/>
          <p:cNvSpPr/>
          <p:nvPr/>
        </p:nvSpPr>
        <p:spPr>
          <a:xfrm>
            <a:off x="8048032" y="1756216"/>
            <a:ext cx="53035" cy="53035"/>
          </a:xfrm>
          <a:prstGeom prst="ellipse">
            <a:avLst/>
          </a:prstGeom>
          <a:solidFill>
            <a:srgbClr val="283044"/>
          </a:solidFill>
          <a:ln/>
        </p:spPr>
      </p:sp>
      <p:sp>
        <p:nvSpPr>
          <p:cNvPr id="15" name="Shape 13"/>
          <p:cNvSpPr/>
          <p:nvPr/>
        </p:nvSpPr>
        <p:spPr>
          <a:xfrm>
            <a:off x="8151399" y="1748399"/>
            <a:ext cx="53035" cy="53035"/>
          </a:xfrm>
          <a:prstGeom prst="ellipse">
            <a:avLst/>
          </a:prstGeom>
          <a:solidFill>
            <a:srgbClr val="283044"/>
          </a:solidFill>
          <a:ln/>
        </p:spPr>
      </p:sp>
      <p:sp>
        <p:nvSpPr>
          <p:cNvPr id="16" name="Shape 14"/>
          <p:cNvSpPr/>
          <p:nvPr/>
        </p:nvSpPr>
        <p:spPr>
          <a:xfrm>
            <a:off x="8254766" y="1748399"/>
            <a:ext cx="53035" cy="53035"/>
          </a:xfrm>
          <a:prstGeom prst="ellipse">
            <a:avLst/>
          </a:prstGeom>
          <a:solidFill>
            <a:srgbClr val="283044"/>
          </a:solidFill>
          <a:ln/>
        </p:spPr>
      </p:sp>
      <p:sp>
        <p:nvSpPr>
          <p:cNvPr id="17" name="Shape 15"/>
          <p:cNvSpPr/>
          <p:nvPr/>
        </p:nvSpPr>
        <p:spPr>
          <a:xfrm>
            <a:off x="8358133" y="1756216"/>
            <a:ext cx="53035" cy="53035"/>
          </a:xfrm>
          <a:prstGeom prst="ellipse">
            <a:avLst/>
          </a:prstGeom>
          <a:solidFill>
            <a:srgbClr val="283044"/>
          </a:solidFill>
          <a:ln/>
        </p:spPr>
      </p:sp>
      <p:sp>
        <p:nvSpPr>
          <p:cNvPr id="18" name="Shape 16"/>
          <p:cNvSpPr/>
          <p:nvPr/>
        </p:nvSpPr>
        <p:spPr>
          <a:xfrm>
            <a:off x="8461500" y="1771705"/>
            <a:ext cx="53035" cy="53035"/>
          </a:xfrm>
          <a:prstGeom prst="ellipse">
            <a:avLst/>
          </a:prstGeom>
          <a:solidFill>
            <a:srgbClr val="283044"/>
          </a:solidFill>
          <a:ln/>
        </p:spPr>
      </p:sp>
      <p:sp>
        <p:nvSpPr>
          <p:cNvPr id="19" name="Shape 17"/>
          <p:cNvSpPr/>
          <p:nvPr/>
        </p:nvSpPr>
        <p:spPr>
          <a:xfrm>
            <a:off x="8564867" y="1794577"/>
            <a:ext cx="53035" cy="53035"/>
          </a:xfrm>
          <a:prstGeom prst="ellipse">
            <a:avLst/>
          </a:prstGeom>
          <a:solidFill>
            <a:srgbClr val="283044"/>
          </a:solidFill>
          <a:ln/>
        </p:spPr>
      </p:sp>
      <p:sp>
        <p:nvSpPr>
          <p:cNvPr id="20" name="Shape 18"/>
          <p:cNvSpPr/>
          <p:nvPr/>
        </p:nvSpPr>
        <p:spPr>
          <a:xfrm>
            <a:off x="8668234" y="1824405"/>
            <a:ext cx="53035" cy="53035"/>
          </a:xfrm>
          <a:prstGeom prst="ellipse">
            <a:avLst/>
          </a:prstGeom>
          <a:solidFill>
            <a:srgbClr val="283044"/>
          </a:solidFill>
          <a:ln/>
        </p:spPr>
      </p:sp>
      <p:sp>
        <p:nvSpPr>
          <p:cNvPr id="21" name="Shape 19"/>
          <p:cNvSpPr/>
          <p:nvPr/>
        </p:nvSpPr>
        <p:spPr>
          <a:xfrm>
            <a:off x="8771601" y="1860635"/>
            <a:ext cx="53035" cy="53035"/>
          </a:xfrm>
          <a:prstGeom prst="ellipse">
            <a:avLst/>
          </a:prstGeom>
          <a:solidFill>
            <a:srgbClr val="283044"/>
          </a:solidFill>
          <a:ln/>
        </p:spPr>
      </p:sp>
      <p:sp>
        <p:nvSpPr>
          <p:cNvPr id="22" name="Shape 20"/>
          <p:cNvSpPr/>
          <p:nvPr/>
        </p:nvSpPr>
        <p:spPr>
          <a:xfrm>
            <a:off x="8874968" y="1902592"/>
            <a:ext cx="53035" cy="53035"/>
          </a:xfrm>
          <a:prstGeom prst="ellipse">
            <a:avLst/>
          </a:prstGeom>
          <a:solidFill>
            <a:srgbClr val="283044"/>
          </a:solidFill>
          <a:ln/>
        </p:spPr>
      </p:sp>
      <p:sp>
        <p:nvSpPr>
          <p:cNvPr id="23" name="Shape 21"/>
          <p:cNvSpPr/>
          <p:nvPr/>
        </p:nvSpPr>
        <p:spPr>
          <a:xfrm>
            <a:off x="8978335" y="1949493"/>
            <a:ext cx="53035" cy="53035"/>
          </a:xfrm>
          <a:prstGeom prst="ellipse">
            <a:avLst/>
          </a:prstGeom>
          <a:solidFill>
            <a:srgbClr val="283044"/>
          </a:solidFill>
          <a:ln/>
        </p:spPr>
      </p:sp>
      <p:sp>
        <p:nvSpPr>
          <p:cNvPr id="24" name="Shape 22"/>
          <p:cNvSpPr/>
          <p:nvPr/>
        </p:nvSpPr>
        <p:spPr>
          <a:xfrm>
            <a:off x="9081702" y="2000465"/>
            <a:ext cx="53035" cy="53035"/>
          </a:xfrm>
          <a:prstGeom prst="ellipse">
            <a:avLst/>
          </a:prstGeom>
          <a:solidFill>
            <a:srgbClr val="283044"/>
          </a:solidFill>
          <a:ln/>
        </p:spPr>
      </p:sp>
      <p:sp>
        <p:nvSpPr>
          <p:cNvPr id="25" name="Shape 23"/>
          <p:cNvSpPr/>
          <p:nvPr/>
        </p:nvSpPr>
        <p:spPr>
          <a:xfrm>
            <a:off x="9185068" y="2054559"/>
            <a:ext cx="53035" cy="53035"/>
          </a:xfrm>
          <a:prstGeom prst="ellipse">
            <a:avLst/>
          </a:prstGeom>
          <a:solidFill>
            <a:srgbClr val="283044"/>
          </a:solidFill>
          <a:ln/>
        </p:spPr>
      </p:sp>
      <p:sp>
        <p:nvSpPr>
          <p:cNvPr id="26" name="Shape 24"/>
          <p:cNvSpPr/>
          <p:nvPr/>
        </p:nvSpPr>
        <p:spPr>
          <a:xfrm>
            <a:off x="9288435" y="2110767"/>
            <a:ext cx="53035" cy="53035"/>
          </a:xfrm>
          <a:prstGeom prst="ellipse">
            <a:avLst/>
          </a:prstGeom>
          <a:solidFill>
            <a:srgbClr val="283044"/>
          </a:solidFill>
          <a:ln/>
        </p:spPr>
      </p:sp>
      <p:sp>
        <p:nvSpPr>
          <p:cNvPr id="27" name="Shape 25"/>
          <p:cNvSpPr/>
          <p:nvPr/>
        </p:nvSpPr>
        <p:spPr>
          <a:xfrm>
            <a:off x="9391802" y="2168042"/>
            <a:ext cx="53035" cy="53035"/>
          </a:xfrm>
          <a:prstGeom prst="ellipse">
            <a:avLst/>
          </a:prstGeom>
          <a:solidFill>
            <a:srgbClr val="283044"/>
          </a:solidFill>
          <a:ln/>
        </p:spPr>
      </p:sp>
      <p:sp>
        <p:nvSpPr>
          <p:cNvPr id="28" name="Shape 26"/>
          <p:cNvSpPr/>
          <p:nvPr/>
        </p:nvSpPr>
        <p:spPr>
          <a:xfrm>
            <a:off x="9495169" y="2225317"/>
            <a:ext cx="53035" cy="53035"/>
          </a:xfrm>
          <a:prstGeom prst="ellipse">
            <a:avLst/>
          </a:prstGeom>
          <a:solidFill>
            <a:srgbClr val="283044"/>
          </a:solidFill>
          <a:ln/>
        </p:spPr>
      </p:sp>
      <p:sp>
        <p:nvSpPr>
          <p:cNvPr id="29" name="Shape 27"/>
          <p:cNvSpPr/>
          <p:nvPr/>
        </p:nvSpPr>
        <p:spPr>
          <a:xfrm>
            <a:off x="9598536" y="2281525"/>
            <a:ext cx="53035" cy="53035"/>
          </a:xfrm>
          <a:prstGeom prst="ellipse">
            <a:avLst/>
          </a:prstGeom>
          <a:solidFill>
            <a:srgbClr val="283044"/>
          </a:solidFill>
          <a:ln/>
        </p:spPr>
      </p:sp>
      <p:sp>
        <p:nvSpPr>
          <p:cNvPr id="30" name="Shape 28"/>
          <p:cNvSpPr/>
          <p:nvPr/>
        </p:nvSpPr>
        <p:spPr>
          <a:xfrm>
            <a:off x="9701903" y="2335619"/>
            <a:ext cx="53035" cy="53035"/>
          </a:xfrm>
          <a:prstGeom prst="ellipse">
            <a:avLst/>
          </a:prstGeom>
          <a:solidFill>
            <a:srgbClr val="283044"/>
          </a:solidFill>
          <a:ln/>
        </p:spPr>
      </p:sp>
      <p:sp>
        <p:nvSpPr>
          <p:cNvPr id="31" name="Shape 29"/>
          <p:cNvSpPr/>
          <p:nvPr/>
        </p:nvSpPr>
        <p:spPr>
          <a:xfrm>
            <a:off x="9805270" y="2386592"/>
            <a:ext cx="53035" cy="53035"/>
          </a:xfrm>
          <a:prstGeom prst="ellipse">
            <a:avLst/>
          </a:prstGeom>
          <a:solidFill>
            <a:srgbClr val="283044"/>
          </a:solidFill>
          <a:ln/>
        </p:spPr>
      </p:sp>
      <p:sp>
        <p:nvSpPr>
          <p:cNvPr id="32" name="Shape 30"/>
          <p:cNvSpPr/>
          <p:nvPr/>
        </p:nvSpPr>
        <p:spPr>
          <a:xfrm>
            <a:off x="9908637" y="2433493"/>
            <a:ext cx="53035" cy="53035"/>
          </a:xfrm>
          <a:prstGeom prst="ellipse">
            <a:avLst/>
          </a:prstGeom>
          <a:solidFill>
            <a:srgbClr val="283044"/>
          </a:solidFill>
          <a:ln/>
        </p:spPr>
      </p:sp>
      <p:sp>
        <p:nvSpPr>
          <p:cNvPr id="33" name="Shape 31"/>
          <p:cNvSpPr/>
          <p:nvPr/>
        </p:nvSpPr>
        <p:spPr>
          <a:xfrm>
            <a:off x="10012004" y="2475450"/>
            <a:ext cx="53035" cy="53035"/>
          </a:xfrm>
          <a:prstGeom prst="ellipse">
            <a:avLst/>
          </a:prstGeom>
          <a:solidFill>
            <a:srgbClr val="283044"/>
          </a:solidFill>
          <a:ln/>
        </p:spPr>
      </p:sp>
      <p:sp>
        <p:nvSpPr>
          <p:cNvPr id="34" name="Shape 32"/>
          <p:cNvSpPr/>
          <p:nvPr/>
        </p:nvSpPr>
        <p:spPr>
          <a:xfrm>
            <a:off x="10115371" y="2511680"/>
            <a:ext cx="53035" cy="53035"/>
          </a:xfrm>
          <a:prstGeom prst="ellipse">
            <a:avLst/>
          </a:prstGeom>
          <a:solidFill>
            <a:srgbClr val="283044"/>
          </a:solidFill>
          <a:ln/>
        </p:spPr>
      </p:sp>
      <p:sp>
        <p:nvSpPr>
          <p:cNvPr id="35" name="Shape 33"/>
          <p:cNvSpPr/>
          <p:nvPr/>
        </p:nvSpPr>
        <p:spPr>
          <a:xfrm>
            <a:off x="10218738" y="2541508"/>
            <a:ext cx="53035" cy="53035"/>
          </a:xfrm>
          <a:prstGeom prst="ellipse">
            <a:avLst/>
          </a:prstGeom>
          <a:solidFill>
            <a:srgbClr val="283044"/>
          </a:solidFill>
          <a:ln/>
        </p:spPr>
      </p:sp>
      <p:sp>
        <p:nvSpPr>
          <p:cNvPr id="36" name="Shape 34"/>
          <p:cNvSpPr/>
          <p:nvPr/>
        </p:nvSpPr>
        <p:spPr>
          <a:xfrm>
            <a:off x="10322105" y="2564380"/>
            <a:ext cx="53035" cy="53035"/>
          </a:xfrm>
          <a:prstGeom prst="ellipse">
            <a:avLst/>
          </a:prstGeom>
          <a:solidFill>
            <a:srgbClr val="283044"/>
          </a:solidFill>
          <a:ln/>
        </p:spPr>
      </p:sp>
      <p:sp>
        <p:nvSpPr>
          <p:cNvPr id="37" name="Shape 35"/>
          <p:cNvSpPr/>
          <p:nvPr/>
        </p:nvSpPr>
        <p:spPr>
          <a:xfrm>
            <a:off x="10425472" y="2579869"/>
            <a:ext cx="53035" cy="53035"/>
          </a:xfrm>
          <a:prstGeom prst="ellipse">
            <a:avLst/>
          </a:prstGeom>
          <a:solidFill>
            <a:srgbClr val="283044"/>
          </a:solidFill>
          <a:ln/>
        </p:spPr>
      </p:sp>
      <p:sp>
        <p:nvSpPr>
          <p:cNvPr id="38" name="Shape 36"/>
          <p:cNvSpPr/>
          <p:nvPr/>
        </p:nvSpPr>
        <p:spPr>
          <a:xfrm>
            <a:off x="10528839" y="2587686"/>
            <a:ext cx="53035" cy="53035"/>
          </a:xfrm>
          <a:prstGeom prst="ellipse">
            <a:avLst/>
          </a:prstGeom>
          <a:solidFill>
            <a:srgbClr val="283044"/>
          </a:solidFill>
          <a:ln/>
        </p:spPr>
      </p:sp>
      <p:sp>
        <p:nvSpPr>
          <p:cNvPr id="39" name="Shape 37"/>
          <p:cNvSpPr/>
          <p:nvPr/>
        </p:nvSpPr>
        <p:spPr>
          <a:xfrm>
            <a:off x="10632206" y="2587686"/>
            <a:ext cx="53035" cy="53035"/>
          </a:xfrm>
          <a:prstGeom prst="ellipse">
            <a:avLst/>
          </a:prstGeom>
          <a:solidFill>
            <a:srgbClr val="283044"/>
          </a:solidFill>
          <a:ln/>
        </p:spPr>
      </p:sp>
      <p:sp>
        <p:nvSpPr>
          <p:cNvPr id="40" name="Shape 38"/>
          <p:cNvSpPr/>
          <p:nvPr/>
        </p:nvSpPr>
        <p:spPr>
          <a:xfrm>
            <a:off x="10735573" y="2579869"/>
            <a:ext cx="53035" cy="53035"/>
          </a:xfrm>
          <a:prstGeom prst="ellipse">
            <a:avLst/>
          </a:prstGeom>
          <a:solidFill>
            <a:srgbClr val="283044"/>
          </a:solidFill>
          <a:ln/>
        </p:spPr>
      </p:sp>
      <p:sp>
        <p:nvSpPr>
          <p:cNvPr id="41" name="Shape 39"/>
          <p:cNvSpPr/>
          <p:nvPr/>
        </p:nvSpPr>
        <p:spPr>
          <a:xfrm>
            <a:off x="10838940" y="2564380"/>
            <a:ext cx="53035" cy="53035"/>
          </a:xfrm>
          <a:prstGeom prst="ellipse">
            <a:avLst/>
          </a:prstGeom>
          <a:solidFill>
            <a:srgbClr val="283044"/>
          </a:solidFill>
          <a:ln/>
        </p:spPr>
      </p:sp>
      <p:sp>
        <p:nvSpPr>
          <p:cNvPr id="42" name="Shape 40"/>
          <p:cNvSpPr/>
          <p:nvPr/>
        </p:nvSpPr>
        <p:spPr>
          <a:xfrm>
            <a:off x="10942307" y="2541508"/>
            <a:ext cx="53035" cy="53035"/>
          </a:xfrm>
          <a:prstGeom prst="ellipse">
            <a:avLst/>
          </a:prstGeom>
          <a:solidFill>
            <a:srgbClr val="283044"/>
          </a:solidFill>
          <a:ln/>
        </p:spPr>
      </p:sp>
      <p:sp>
        <p:nvSpPr>
          <p:cNvPr id="43" name="Shape 41"/>
          <p:cNvSpPr/>
          <p:nvPr/>
        </p:nvSpPr>
        <p:spPr>
          <a:xfrm>
            <a:off x="11045674" y="2511680"/>
            <a:ext cx="53035" cy="53035"/>
          </a:xfrm>
          <a:prstGeom prst="ellipse">
            <a:avLst/>
          </a:prstGeom>
          <a:solidFill>
            <a:srgbClr val="283044"/>
          </a:solidFill>
          <a:ln/>
        </p:spPr>
      </p:sp>
      <p:sp>
        <p:nvSpPr>
          <p:cNvPr id="44" name="Shape 42"/>
          <p:cNvSpPr/>
          <p:nvPr/>
        </p:nvSpPr>
        <p:spPr>
          <a:xfrm>
            <a:off x="11149041" y="2475450"/>
            <a:ext cx="53035" cy="53035"/>
          </a:xfrm>
          <a:prstGeom prst="ellipse">
            <a:avLst/>
          </a:prstGeom>
          <a:solidFill>
            <a:srgbClr val="283044"/>
          </a:solidFill>
          <a:ln/>
        </p:spPr>
      </p:sp>
      <p:sp>
        <p:nvSpPr>
          <p:cNvPr id="45" name="Shape 43"/>
          <p:cNvSpPr/>
          <p:nvPr/>
        </p:nvSpPr>
        <p:spPr>
          <a:xfrm>
            <a:off x="11252408" y="2433493"/>
            <a:ext cx="53035" cy="53035"/>
          </a:xfrm>
          <a:prstGeom prst="ellipse">
            <a:avLst/>
          </a:prstGeom>
          <a:solidFill>
            <a:srgbClr val="283044"/>
          </a:solidFill>
          <a:ln/>
        </p:spPr>
      </p:sp>
      <p:sp>
        <p:nvSpPr>
          <p:cNvPr id="46" name="Shape 44"/>
          <p:cNvSpPr/>
          <p:nvPr/>
        </p:nvSpPr>
        <p:spPr>
          <a:xfrm>
            <a:off x="11355775" y="2386592"/>
            <a:ext cx="53035" cy="53035"/>
          </a:xfrm>
          <a:prstGeom prst="ellipse">
            <a:avLst/>
          </a:prstGeom>
          <a:solidFill>
            <a:srgbClr val="283044"/>
          </a:solidFill>
          <a:ln/>
        </p:spPr>
      </p:sp>
      <p:sp>
        <p:nvSpPr>
          <p:cNvPr id="47" name="Shape 45"/>
          <p:cNvSpPr/>
          <p:nvPr/>
        </p:nvSpPr>
        <p:spPr>
          <a:xfrm>
            <a:off x="11459142" y="2335619"/>
            <a:ext cx="53035" cy="53035"/>
          </a:xfrm>
          <a:prstGeom prst="ellipse">
            <a:avLst/>
          </a:prstGeom>
          <a:solidFill>
            <a:srgbClr val="283044"/>
          </a:solidFill>
          <a:ln/>
        </p:spPr>
      </p:sp>
      <p:sp>
        <p:nvSpPr>
          <p:cNvPr id="48" name="Shape 46"/>
          <p:cNvSpPr/>
          <p:nvPr/>
        </p:nvSpPr>
        <p:spPr>
          <a:xfrm>
            <a:off x="11562508" y="2281525"/>
            <a:ext cx="53035" cy="53035"/>
          </a:xfrm>
          <a:prstGeom prst="ellipse">
            <a:avLst/>
          </a:prstGeom>
          <a:solidFill>
            <a:srgbClr val="283044"/>
          </a:solidFill>
          <a:ln/>
        </p:spPr>
      </p:sp>
      <p:sp>
        <p:nvSpPr>
          <p:cNvPr id="49" name="Shape 47"/>
          <p:cNvSpPr/>
          <p:nvPr/>
        </p:nvSpPr>
        <p:spPr>
          <a:xfrm>
            <a:off x="11665875" y="2225317"/>
            <a:ext cx="53035" cy="53035"/>
          </a:xfrm>
          <a:prstGeom prst="ellipse">
            <a:avLst/>
          </a:prstGeom>
          <a:solidFill>
            <a:srgbClr val="283044"/>
          </a:solidFill>
          <a:ln/>
        </p:spPr>
      </p:sp>
      <p:sp>
        <p:nvSpPr>
          <p:cNvPr id="50" name="Shape 48"/>
          <p:cNvSpPr/>
          <p:nvPr/>
        </p:nvSpPr>
        <p:spPr>
          <a:xfrm>
            <a:off x="11769242" y="2168042"/>
            <a:ext cx="53035" cy="53035"/>
          </a:xfrm>
          <a:prstGeom prst="ellipse">
            <a:avLst/>
          </a:prstGeom>
          <a:solidFill>
            <a:srgbClr val="283044"/>
          </a:solidFill>
          <a:ln/>
        </p:spPr>
      </p:sp>
      <p:sp>
        <p:nvSpPr>
          <p:cNvPr id="51" name="Text 49"/>
          <p:cNvSpPr txBox="1"/>
          <p:nvPr/>
        </p:nvSpPr>
        <p:spPr>
          <a:xfrm>
            <a:off x="621792" y="1737360"/>
            <a:ext cx="9144000" cy="1371600"/>
          </a:xfrm>
          <a:prstGeom prst="rect">
            <a:avLst/>
          </a:prstGeom>
          <a:noFill/>
          <a:ln/>
        </p:spPr>
        <p:txBody>
          <a:bodyPr wrap="square" lIns="0" tIns="0" rIns="0" bIns="0" rtlCol="0" anchor="t"/>
          <a:lstStyle/>
          <a:p>
            <a:pPr indent="0" marL="0">
              <a:lnSpc>
                <a:spcPts val="6800"/>
              </a:lnSpc>
              <a:buNone/>
            </a:pPr>
            <a:r>
              <a:rPr lang="en-US" sz="6200" b="1" dirty="0">
                <a:solidFill>
                  <a:srgbClr val="FFFFFF"/>
                </a:solidFill>
                <a:latin typeface="Calibri" pitchFamily="34" charset="0"/>
                <a:ea typeface="Calibri" pitchFamily="34" charset="-122"/>
                <a:cs typeface="Calibri" pitchFamily="34" charset="-120"/>
              </a:rPr>
              <a:t>Terima Kasih</a:t>
            </a:r>
            <a:pPr indent="0" marL="0">
              <a:lnSpc>
                <a:spcPts val="6800"/>
              </a:lnSpc>
              <a:buNone/>
            </a:pPr>
            <a:r>
              <a:rPr lang="en-US" sz="6200" b="1" dirty="0">
                <a:solidFill>
                  <a:srgbClr val="FF5A2D"/>
                </a:solidFill>
                <a:latin typeface="Calibri" pitchFamily="34" charset="0"/>
                <a:ea typeface="Calibri" pitchFamily="34" charset="-122"/>
                <a:cs typeface="Calibri" pitchFamily="34" charset="-120"/>
              </a:rPr>
              <a:t>.</a:t>
            </a:r>
            <a:endParaRPr lang="en-US" sz="6200" dirty="0"/>
          </a:p>
        </p:txBody>
      </p:sp>
      <p:sp>
        <p:nvSpPr>
          <p:cNvPr id="52" name="Text 50"/>
          <p:cNvSpPr txBox="1"/>
          <p:nvPr/>
        </p:nvSpPr>
        <p:spPr>
          <a:xfrm>
            <a:off x="621792" y="3383280"/>
            <a:ext cx="6949440" cy="822960"/>
          </a:xfrm>
          <a:prstGeom prst="rect">
            <a:avLst/>
          </a:prstGeom>
          <a:noFill/>
          <a:ln/>
        </p:spPr>
        <p:txBody>
          <a:bodyPr wrap="square" lIns="0" tIns="0" rIns="0" bIns="0" rtlCol="0" anchor="t"/>
          <a:lstStyle/>
          <a:p>
            <a:pPr indent="0" marL="0">
              <a:lnSpc>
                <a:spcPts val="2400"/>
              </a:lnSpc>
              <a:buNone/>
            </a:pPr>
            <a:r>
              <a:rPr lang="en-US" sz="1500" dirty="0">
                <a:solidFill>
                  <a:srgbClr val="B9C0CE"/>
                </a:solidFill>
                <a:latin typeface="Calibri" pitchFamily="34" charset="0"/>
                <a:ea typeface="Calibri" pitchFamily="34" charset="-122"/>
                <a:cs typeface="Calibri" pitchFamily="34" charset="-120"/>
              </a:rPr>
              <a:t>Sembilan lensa atas satu kebijakan yang masih berjalan. Kondisi inilah yang menjadikan kasus ini layak didiskusikan.</a:t>
            </a:r>
            <a:endParaRPr lang="en-US" sz="1500" dirty="0"/>
          </a:p>
        </p:txBody>
      </p:sp>
      <p:sp>
        <p:nvSpPr>
          <p:cNvPr id="53" name="Shape 51"/>
          <p:cNvSpPr/>
          <p:nvPr/>
        </p:nvSpPr>
        <p:spPr>
          <a:xfrm>
            <a:off x="621792" y="4352544"/>
            <a:ext cx="274320" cy="274320"/>
          </a:xfrm>
          <a:prstGeom prst="rect">
            <a:avLst/>
          </a:prstGeom>
          <a:solidFill>
            <a:srgbClr val="AB463C"/>
          </a:solidFill>
          <a:ln/>
        </p:spPr>
      </p:sp>
      <p:sp>
        <p:nvSpPr>
          <p:cNvPr id="54" name="Shape 52"/>
          <p:cNvSpPr/>
          <p:nvPr/>
        </p:nvSpPr>
        <p:spPr>
          <a:xfrm>
            <a:off x="1005840" y="4352544"/>
            <a:ext cx="274320" cy="274320"/>
          </a:xfrm>
          <a:prstGeom prst="rect">
            <a:avLst/>
          </a:prstGeom>
          <a:solidFill>
            <a:srgbClr val="FF5A2D"/>
          </a:solidFill>
          <a:ln/>
        </p:spPr>
      </p:sp>
      <p:sp>
        <p:nvSpPr>
          <p:cNvPr id="55" name="Shape 53"/>
          <p:cNvSpPr/>
          <p:nvPr/>
        </p:nvSpPr>
        <p:spPr>
          <a:xfrm>
            <a:off x="1389888" y="4352544"/>
            <a:ext cx="274320" cy="274320"/>
          </a:xfrm>
          <a:prstGeom prst="rect">
            <a:avLst/>
          </a:prstGeom>
          <a:solidFill>
            <a:srgbClr val="F5B722"/>
          </a:solidFill>
          <a:ln/>
        </p:spPr>
      </p:sp>
      <p:sp>
        <p:nvSpPr>
          <p:cNvPr id="56" name="Shape 54"/>
          <p:cNvSpPr/>
          <p:nvPr/>
        </p:nvSpPr>
        <p:spPr>
          <a:xfrm>
            <a:off x="1773936" y="4352544"/>
            <a:ext cx="274320" cy="274320"/>
          </a:xfrm>
          <a:prstGeom prst="rect">
            <a:avLst/>
          </a:prstGeom>
          <a:solidFill>
            <a:srgbClr val="C6F04A"/>
          </a:solidFill>
          <a:ln/>
        </p:spPr>
      </p:sp>
      <p:sp>
        <p:nvSpPr>
          <p:cNvPr id="57" name="Shape 55"/>
          <p:cNvSpPr/>
          <p:nvPr/>
        </p:nvSpPr>
        <p:spPr>
          <a:xfrm>
            <a:off x="2157984" y="4352544"/>
            <a:ext cx="274320" cy="274320"/>
          </a:xfrm>
          <a:prstGeom prst="rect">
            <a:avLst/>
          </a:prstGeom>
          <a:solidFill>
            <a:srgbClr val="0FA98E"/>
          </a:solidFill>
          <a:ln/>
        </p:spPr>
      </p:sp>
      <p:sp>
        <p:nvSpPr>
          <p:cNvPr id="58" name="Shape 56"/>
          <p:cNvSpPr/>
          <p:nvPr/>
        </p:nvSpPr>
        <p:spPr>
          <a:xfrm>
            <a:off x="2542032" y="4352544"/>
            <a:ext cx="274320" cy="274320"/>
          </a:xfrm>
          <a:prstGeom prst="rect">
            <a:avLst/>
          </a:prstGeom>
          <a:solidFill>
            <a:srgbClr val="4EA8DE"/>
          </a:solidFill>
          <a:ln/>
        </p:spPr>
      </p:sp>
      <p:sp>
        <p:nvSpPr>
          <p:cNvPr id="59" name="Shape 57"/>
          <p:cNvSpPr/>
          <p:nvPr/>
        </p:nvSpPr>
        <p:spPr>
          <a:xfrm>
            <a:off x="2926080" y="4352544"/>
            <a:ext cx="274320" cy="274320"/>
          </a:xfrm>
          <a:prstGeom prst="rect">
            <a:avLst/>
          </a:prstGeom>
          <a:solidFill>
            <a:srgbClr val="6C7BE0"/>
          </a:solidFill>
          <a:ln/>
        </p:spPr>
      </p:sp>
      <p:sp>
        <p:nvSpPr>
          <p:cNvPr id="60" name="Shape 58"/>
          <p:cNvSpPr/>
          <p:nvPr/>
        </p:nvSpPr>
        <p:spPr>
          <a:xfrm>
            <a:off x="3310128" y="4352544"/>
            <a:ext cx="274320" cy="274320"/>
          </a:xfrm>
          <a:prstGeom prst="rect">
            <a:avLst/>
          </a:prstGeom>
          <a:solidFill>
            <a:srgbClr val="B8A6F5"/>
          </a:solidFill>
          <a:ln/>
        </p:spPr>
      </p:sp>
      <p:sp>
        <p:nvSpPr>
          <p:cNvPr id="61" name="Shape 59"/>
          <p:cNvSpPr/>
          <p:nvPr/>
        </p:nvSpPr>
        <p:spPr>
          <a:xfrm>
            <a:off x="3694176" y="4352544"/>
            <a:ext cx="274320" cy="274320"/>
          </a:xfrm>
          <a:prstGeom prst="rect">
            <a:avLst/>
          </a:prstGeom>
          <a:solidFill>
            <a:srgbClr val="E86A9B"/>
          </a:solidFill>
          <a:ln/>
        </p:spPr>
      </p:sp>
      <p:sp>
        <p:nvSpPr>
          <p:cNvPr id="62" name="Shape 60"/>
          <p:cNvSpPr/>
          <p:nvPr/>
        </p:nvSpPr>
        <p:spPr>
          <a:xfrm>
            <a:off x="621792" y="5029200"/>
            <a:ext cx="4114800" cy="713232"/>
          </a:xfrm>
          <a:prstGeom prst="roundRect">
            <a:avLst>
              <a:gd name="adj" fmla="val 20513"/>
            </a:avLst>
          </a:prstGeom>
          <a:solidFill>
            <a:srgbClr val="1B2233"/>
          </a:solidFill>
          <a:ln/>
        </p:spPr>
      </p:sp>
      <p:sp>
        <p:nvSpPr>
          <p:cNvPr id="63" name="Shape 61"/>
          <p:cNvSpPr/>
          <p:nvPr/>
        </p:nvSpPr>
        <p:spPr>
          <a:xfrm>
            <a:off x="621792" y="5084064"/>
            <a:ext cx="54864" cy="603504"/>
          </a:xfrm>
          <a:prstGeom prst="rect">
            <a:avLst/>
          </a:prstGeom>
          <a:solidFill>
            <a:srgbClr val="C6F04A"/>
          </a:solidFill>
          <a:ln/>
        </p:spPr>
      </p:sp>
      <p:sp>
        <p:nvSpPr>
          <p:cNvPr id="64" name="Text 62"/>
          <p:cNvSpPr txBox="1"/>
          <p:nvPr/>
        </p:nvSpPr>
        <p:spPr>
          <a:xfrm>
            <a:off x="877824" y="5166360"/>
            <a:ext cx="3657600"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Aslih Abnuri</a:t>
            </a:r>
            <a:endParaRPr lang="en-US" sz="1300" dirty="0"/>
          </a:p>
        </p:txBody>
      </p:sp>
      <p:sp>
        <p:nvSpPr>
          <p:cNvPr id="65" name="Text 63"/>
          <p:cNvSpPr txBox="1"/>
          <p:nvPr/>
        </p:nvSpPr>
        <p:spPr>
          <a:xfrm>
            <a:off x="877824" y="5413248"/>
            <a:ext cx="3657600" cy="237744"/>
          </a:xfrm>
          <a:prstGeom prst="rect">
            <a:avLst/>
          </a:prstGeom>
          <a:noFill/>
          <a:ln/>
        </p:spPr>
        <p:txBody>
          <a:bodyPr wrap="square" lIns="0" tIns="0" rIns="0" bIns="0" rtlCol="0" anchor="t"/>
          <a:lstStyle/>
          <a:p>
            <a:pPr indent="0" marL="0">
              <a:buNone/>
            </a:pPr>
            <a:r>
              <a:rPr lang="en-US" sz="1050" dirty="0">
                <a:solidFill>
                  <a:srgbClr val="8C93A3"/>
                </a:solidFill>
                <a:latin typeface="Courier New" pitchFamily="34" charset="0"/>
                <a:ea typeface="Courier New" pitchFamily="34" charset="-122"/>
                <a:cs typeface="Courier New" pitchFamily="34" charset="-120"/>
              </a:rPr>
              <a:t>25/574338/PEK/31801</a:t>
            </a:r>
            <a:endParaRPr lang="en-US" sz="1050" dirty="0"/>
          </a:p>
        </p:txBody>
      </p:sp>
      <p:sp>
        <p:nvSpPr>
          <p:cNvPr id="66" name="Shape 64"/>
          <p:cNvSpPr/>
          <p:nvPr/>
        </p:nvSpPr>
        <p:spPr>
          <a:xfrm>
            <a:off x="621792" y="6053328"/>
            <a:ext cx="10948111" cy="10058"/>
          </a:xfrm>
          <a:prstGeom prst="rect">
            <a:avLst/>
          </a:prstGeom>
          <a:solidFill>
            <a:srgbClr val="283044"/>
          </a:solidFill>
          <a:ln/>
        </p:spPr>
      </p:sp>
      <p:sp>
        <p:nvSpPr>
          <p:cNvPr id="67" name="Text 65"/>
          <p:cNvSpPr txBox="1"/>
          <p:nvPr/>
        </p:nvSpPr>
        <p:spPr>
          <a:xfrm>
            <a:off x="621792" y="6199632"/>
            <a:ext cx="5852160" cy="256032"/>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Business Ethics · Analisis Kasus Hilirisasi Nikel</a:t>
            </a:r>
            <a:endParaRPr lang="en-US" sz="1050" dirty="0"/>
          </a:p>
        </p:txBody>
      </p:sp>
      <p:sp>
        <p:nvSpPr>
          <p:cNvPr id="68" name="Text 66"/>
          <p:cNvSpPr txBox="1"/>
          <p:nvPr/>
        </p:nvSpPr>
        <p:spPr>
          <a:xfrm>
            <a:off x="6083503" y="6199632"/>
            <a:ext cx="5486400" cy="256032"/>
          </a:xfrm>
          <a:prstGeom prst="rect">
            <a:avLst/>
          </a:prstGeom>
          <a:noFill/>
          <a:ln/>
        </p:spPr>
        <p:txBody>
          <a:bodyPr wrap="square" lIns="0" tIns="0" rIns="0" bIns="0" rtlCol="0" anchor="t"/>
          <a:lstStyle/>
          <a:p>
            <a:pPr algn="r" indent="0" marL="0">
              <a:buNone/>
            </a:pPr>
            <a:r>
              <a:rPr lang="en-US" sz="1050" dirty="0">
                <a:solidFill>
                  <a:srgbClr val="8C93A3"/>
                </a:solidFill>
                <a:latin typeface="Calibri" pitchFamily="34" charset="0"/>
                <a:ea typeface="Calibri" pitchFamily="34" charset="-122"/>
                <a:cs typeface="Calibri" pitchFamily="34" charset="-120"/>
              </a:rPr>
              <a:t>MBA · Universitas Gadjah Mada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Hilirisasi Nikel</dc:title>
  <dc:subject>Business Ethics Chapter 3 · Analisis Kasus Indonesia</dc:subject>
  <dc:creator>Aslih Abnuri</dc:creator>
  <cp:lastModifiedBy>Aslih Abnuri</cp:lastModifiedBy>
  <cp:revision>1</cp:revision>
  <dcterms:created xsi:type="dcterms:W3CDTF">2026-08-26T14:13:33Z</dcterms:created>
  <dcterms:modified xsi:type="dcterms:W3CDTF">2026-08-26T14:13:33Z</dcterms:modified>
</cp:coreProperties>
</file>