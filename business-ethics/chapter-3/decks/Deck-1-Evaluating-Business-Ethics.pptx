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Buka dengan pertanyaan cepat ke kelas: menurut Anda, apakah minyak bisa disebut etis? Simpan jawabannya, kita ulang di akhir sesi.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Sepuluh bagian, tiga puluh menit. Bagian 1 sampai 9 membahas materi, bagian 10 menerapkannya pada kasus.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Tiga manfaat teori etika menurut buku: merasionalisasi firasat, memungkinkan wacana antara orang dengan nilai berbeda, dan memperjelas praanggapan moral para pihak.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Absolutism dituduh kaku, relativism dituduh membiarkan apa saja. Pluralism mencoba mengambil jalan tengah dan itulah posisi buku ini.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Tabel 3.1 halaman 92 membandingkan keduanya pada kontributor, fokus, dan konsep manusia. Tekankan kolom konsep manusia karena itulah akar perbedaannya.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Minta dua sampai tiga mahasiswa menyebutkan reaksi spontan mereka. Catat di papan, jangan dikomentari dulu.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Kritik utama: egoism sering dianggap bukan teori etika sama sekali, karena membenarkan tindakan yang merugikan orang lain selama menguntungkan pelakunya.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Bentham dan Mill. Bedanya dengan egoism: bukan hasrat setiap individu yang dihitung, melainkan besarnya kesejahteraan kolektif.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Inilah alasan utilitarianism tidak bisa dipakai sendirian. Kesimpulannya berubah hanya karena unit analisisnya digeser.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Evan dan Freeman (1993): dasar etis konsep pemangku kepentingan diturunkan dari pemikiran Kantian.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Perspektif hak memberi jawaban paling lugas pada Ethical Dilemma 3: mempekerjakan anak melanggar hak atas pendidikan dan hak memberi persetujuan.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Rawls adalah teori yang paling sering dipakai untuk menilai distribusi manfaat dan beban dalam proyek besar. Ingat urutan kriterianya.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Keenam kritik ini yang membuka jalan bagi empat teori alternatif pada bagian berikutnya.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Discourse ethics paling sering dipakai untuk menyelesaikan sengketa dampak lingkungan korporasi. Simpan itu untuk bagian kasus.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Analoginya harfiah: lensa mengumpulkan cahaya menjadi satu titik, prisma memecah cahaya putih menjadi spektrum warna.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Kasus ini dipilih sebagai penutup karena tidak memiliki jawaban tunggal, persis seperti pesan Figure 3.2.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Tekankan kalimat penutup: sengketa ini bukan sengketa data, melainkan sengketa kerangka nilai.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Perhatikan bentuk argumennya: whataboutism. Bahwa pihak lain lebih buruk tidak membuat tindakan sendiri menjadi benar.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Inilah prisma Figure 3.2 yang bekerja pada kasus nyata. Sembilan sorotan berbeda atas satu rangkaian fakta yang sama.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Enam kelompok: Pemerintah Alberta, konsorsium perusahaan minyak, Sierra Club, masyarakat adat hilir Athabasca, serikat pekerja Fort McMurray, dan perwakilan generasi 2060.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Tutup dengan mengulang pertanyaan pembuka mengenai ethical oil, lalu bandingkan dengan jawaban di awal sesi.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327648"/>
            <a:ext cx="530352" cy="530352"/>
          </a:xfrm>
          <a:prstGeom prst="rect">
            <a:avLst/>
          </a:prstGeom>
          <a:solidFill>
            <a:srgbClr val="C6F04A"/>
          </a:solidFill>
          <a:ln/>
        </p:spPr>
      </p:sp>
      <p:sp>
        <p:nvSpPr>
          <p:cNvPr id="4" name="Shape 2"/>
          <p:cNvSpPr/>
          <p:nvPr/>
        </p:nvSpPr>
        <p:spPr>
          <a:xfrm>
            <a:off x="6374282" y="1025042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5" name="Shape 3"/>
          <p:cNvSpPr/>
          <p:nvPr/>
        </p:nvSpPr>
        <p:spPr>
          <a:xfrm>
            <a:off x="6491564" y="972748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6" name="Shape 4"/>
          <p:cNvSpPr/>
          <p:nvPr/>
        </p:nvSpPr>
        <p:spPr>
          <a:xfrm>
            <a:off x="6608846" y="921427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7" name="Shape 5"/>
          <p:cNvSpPr/>
          <p:nvPr/>
        </p:nvSpPr>
        <p:spPr>
          <a:xfrm>
            <a:off x="6726128" y="872037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8" name="Shape 6"/>
          <p:cNvSpPr/>
          <p:nvPr/>
        </p:nvSpPr>
        <p:spPr>
          <a:xfrm>
            <a:off x="6843409" y="825497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9" name="Shape 7"/>
          <p:cNvSpPr/>
          <p:nvPr/>
        </p:nvSpPr>
        <p:spPr>
          <a:xfrm>
            <a:off x="6960691" y="782674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10" name="Shape 8"/>
          <p:cNvSpPr/>
          <p:nvPr/>
        </p:nvSpPr>
        <p:spPr>
          <a:xfrm>
            <a:off x="7077973" y="744366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11" name="Shape 9"/>
          <p:cNvSpPr/>
          <p:nvPr/>
        </p:nvSpPr>
        <p:spPr>
          <a:xfrm>
            <a:off x="7195255" y="711287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2536" y="684052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13" name="Shape 11"/>
          <p:cNvSpPr/>
          <p:nvPr/>
        </p:nvSpPr>
        <p:spPr>
          <a:xfrm>
            <a:off x="7429818" y="663169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14" name="Shape 12"/>
          <p:cNvSpPr/>
          <p:nvPr/>
        </p:nvSpPr>
        <p:spPr>
          <a:xfrm>
            <a:off x="7547100" y="649027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15" name="Shape 13"/>
          <p:cNvSpPr/>
          <p:nvPr/>
        </p:nvSpPr>
        <p:spPr>
          <a:xfrm>
            <a:off x="7664382" y="641890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16" name="Shape 14"/>
          <p:cNvSpPr/>
          <p:nvPr/>
        </p:nvSpPr>
        <p:spPr>
          <a:xfrm>
            <a:off x="7781663" y="641890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17" name="Shape 15"/>
          <p:cNvSpPr/>
          <p:nvPr/>
        </p:nvSpPr>
        <p:spPr>
          <a:xfrm>
            <a:off x="7898945" y="649027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18" name="Shape 16"/>
          <p:cNvSpPr/>
          <p:nvPr/>
        </p:nvSpPr>
        <p:spPr>
          <a:xfrm>
            <a:off x="8016227" y="663169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19" name="Shape 17"/>
          <p:cNvSpPr/>
          <p:nvPr/>
        </p:nvSpPr>
        <p:spPr>
          <a:xfrm>
            <a:off x="8133508" y="684052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20" name="Shape 18"/>
          <p:cNvSpPr/>
          <p:nvPr/>
        </p:nvSpPr>
        <p:spPr>
          <a:xfrm>
            <a:off x="8250790" y="711287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21" name="Shape 19"/>
          <p:cNvSpPr/>
          <p:nvPr/>
        </p:nvSpPr>
        <p:spPr>
          <a:xfrm>
            <a:off x="8368072" y="744366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22" name="Shape 20"/>
          <p:cNvSpPr/>
          <p:nvPr/>
        </p:nvSpPr>
        <p:spPr>
          <a:xfrm>
            <a:off x="8485354" y="782674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23" name="Shape 21"/>
          <p:cNvSpPr/>
          <p:nvPr/>
        </p:nvSpPr>
        <p:spPr>
          <a:xfrm>
            <a:off x="8602635" y="825497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24" name="Shape 22"/>
          <p:cNvSpPr/>
          <p:nvPr/>
        </p:nvSpPr>
        <p:spPr>
          <a:xfrm>
            <a:off x="8719917" y="872037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25" name="Shape 23"/>
          <p:cNvSpPr/>
          <p:nvPr/>
        </p:nvSpPr>
        <p:spPr>
          <a:xfrm>
            <a:off x="8837199" y="921427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26" name="Shape 24"/>
          <p:cNvSpPr/>
          <p:nvPr/>
        </p:nvSpPr>
        <p:spPr>
          <a:xfrm>
            <a:off x="8954481" y="972748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27" name="Shape 25"/>
          <p:cNvSpPr/>
          <p:nvPr/>
        </p:nvSpPr>
        <p:spPr>
          <a:xfrm>
            <a:off x="9071762" y="1025042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28" name="Shape 26"/>
          <p:cNvSpPr/>
          <p:nvPr/>
        </p:nvSpPr>
        <p:spPr>
          <a:xfrm>
            <a:off x="9189044" y="1077337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29" name="Shape 27"/>
          <p:cNvSpPr/>
          <p:nvPr/>
        </p:nvSpPr>
        <p:spPr>
          <a:xfrm>
            <a:off x="9306326" y="1128657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30" name="Shape 28"/>
          <p:cNvSpPr/>
          <p:nvPr/>
        </p:nvSpPr>
        <p:spPr>
          <a:xfrm>
            <a:off x="9423608" y="1178048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31" name="Shape 29"/>
          <p:cNvSpPr/>
          <p:nvPr/>
        </p:nvSpPr>
        <p:spPr>
          <a:xfrm>
            <a:off x="9540889" y="1224588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32" name="Shape 30"/>
          <p:cNvSpPr/>
          <p:nvPr/>
        </p:nvSpPr>
        <p:spPr>
          <a:xfrm>
            <a:off x="9658171" y="1267410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33" name="Shape 31"/>
          <p:cNvSpPr/>
          <p:nvPr/>
        </p:nvSpPr>
        <p:spPr>
          <a:xfrm>
            <a:off x="9775453" y="1305718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34" name="Shape 32"/>
          <p:cNvSpPr/>
          <p:nvPr/>
        </p:nvSpPr>
        <p:spPr>
          <a:xfrm>
            <a:off x="9892735" y="1338798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35" name="Shape 33"/>
          <p:cNvSpPr/>
          <p:nvPr/>
        </p:nvSpPr>
        <p:spPr>
          <a:xfrm>
            <a:off x="10010016" y="1366033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36" name="Shape 34"/>
          <p:cNvSpPr/>
          <p:nvPr/>
        </p:nvSpPr>
        <p:spPr>
          <a:xfrm>
            <a:off x="10127298" y="1386916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37" name="Shape 35"/>
          <p:cNvSpPr/>
          <p:nvPr/>
        </p:nvSpPr>
        <p:spPr>
          <a:xfrm>
            <a:off x="10244580" y="1401058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38" name="Shape 36"/>
          <p:cNvSpPr/>
          <p:nvPr/>
        </p:nvSpPr>
        <p:spPr>
          <a:xfrm>
            <a:off x="10361862" y="1408195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39" name="Shape 37"/>
          <p:cNvSpPr/>
          <p:nvPr/>
        </p:nvSpPr>
        <p:spPr>
          <a:xfrm>
            <a:off x="10479143" y="1408195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40" name="Shape 38"/>
          <p:cNvSpPr/>
          <p:nvPr/>
        </p:nvSpPr>
        <p:spPr>
          <a:xfrm>
            <a:off x="10596425" y="1401058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41" name="Shape 39"/>
          <p:cNvSpPr/>
          <p:nvPr/>
        </p:nvSpPr>
        <p:spPr>
          <a:xfrm>
            <a:off x="10713707" y="1386916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42" name="Shape 40"/>
          <p:cNvSpPr/>
          <p:nvPr/>
        </p:nvSpPr>
        <p:spPr>
          <a:xfrm>
            <a:off x="10830988" y="1366033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43" name="Shape 41"/>
          <p:cNvSpPr/>
          <p:nvPr/>
        </p:nvSpPr>
        <p:spPr>
          <a:xfrm>
            <a:off x="10948270" y="1338798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44" name="Shape 42"/>
          <p:cNvSpPr/>
          <p:nvPr/>
        </p:nvSpPr>
        <p:spPr>
          <a:xfrm>
            <a:off x="11065552" y="1305718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45" name="Shape 43"/>
          <p:cNvSpPr/>
          <p:nvPr/>
        </p:nvSpPr>
        <p:spPr>
          <a:xfrm>
            <a:off x="11182834" y="1267410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46" name="Shape 44"/>
          <p:cNvSpPr/>
          <p:nvPr/>
        </p:nvSpPr>
        <p:spPr>
          <a:xfrm>
            <a:off x="11300115" y="1224588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47" name="Shape 45"/>
          <p:cNvSpPr/>
          <p:nvPr/>
        </p:nvSpPr>
        <p:spPr>
          <a:xfrm>
            <a:off x="11417397" y="1178048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48" name="Shape 46"/>
          <p:cNvSpPr/>
          <p:nvPr/>
        </p:nvSpPr>
        <p:spPr>
          <a:xfrm>
            <a:off x="11534679" y="1128657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49" name="Shape 47"/>
          <p:cNvSpPr/>
          <p:nvPr/>
        </p:nvSpPr>
        <p:spPr>
          <a:xfrm>
            <a:off x="11651961" y="1077337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50" name="Shape 48"/>
          <p:cNvSpPr/>
          <p:nvPr/>
        </p:nvSpPr>
        <p:spPr>
          <a:xfrm>
            <a:off x="11769242" y="1025042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21792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Ethics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9163202" y="420624"/>
            <a:ext cx="1143914" cy="283464"/>
          </a:xfrm>
          <a:prstGeom prst="roundRect">
            <a:avLst>
              <a:gd name="adj" fmla="val 50000"/>
            </a:avLst>
          </a:prstGeom>
          <a:solidFill>
            <a:srgbClr val="FF5A2D"/>
          </a:solidFill>
          <a:ln w="12700">
            <a:solidFill>
              <a:srgbClr val="FF5A2D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163202" y="420624"/>
            <a:ext cx="114391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MBA · UGM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10425989" y="420624"/>
            <a:ext cx="1143914" cy="283464"/>
          </a:xfrm>
          <a:prstGeom prst="roundRect">
            <a:avLst>
              <a:gd name="adj" fmla="val 50000"/>
            </a:avLst>
          </a:prstGeom>
          <a:solidFill>
            <a:srgbClr val="F2F0EB"/>
          </a:solidFill>
          <a:ln w="12700">
            <a:solidFill>
              <a:srgbClr val="DDD8CE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0425989" y="420624"/>
            <a:ext cx="114391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621792" y="1481328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Crane, Matten, Glozer &amp; Spence (2019) · Business Ethics, edisi kelima</a:t>
            </a:r>
            <a:endParaRPr lang="en-US" sz="1350" dirty="0"/>
          </a:p>
        </p:txBody>
      </p:sp>
      <p:sp>
        <p:nvSpPr>
          <p:cNvPr id="57" name="Text 55"/>
          <p:cNvSpPr txBox="1"/>
          <p:nvPr/>
        </p:nvSpPr>
        <p:spPr>
          <a:xfrm>
            <a:off x="621792" y="1783080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Pembahasan Materi dan Kasus —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621792" y="2267712"/>
            <a:ext cx="749808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800"/>
              </a:lnSpc>
              <a:buNone/>
            </a:pPr>
            <a:r>
              <a:rPr lang="en-US" sz="52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Business</a:t>
            </a:r>
            <a:endParaRPr lang="en-US" sz="52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2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</a:t>
            </a:r>
            <a:pPr indent="0" marL="0">
              <a:lnSpc>
                <a:spcPts val="5800"/>
              </a:lnSpc>
              <a:buNone/>
            </a:pPr>
            <a:r>
              <a:rPr lang="en-US" sz="52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5200" dirty="0"/>
          </a:p>
        </p:txBody>
      </p:sp>
      <p:sp>
        <p:nvSpPr>
          <p:cNvPr id="59" name="Text 57"/>
          <p:cNvSpPr txBox="1"/>
          <p:nvPr/>
        </p:nvSpPr>
        <p:spPr>
          <a:xfrm>
            <a:off x="621792" y="4114800"/>
            <a:ext cx="6675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Sembilan teori etika normatif dan penerapannya pada satu kasus: Canada’s Oil Sands.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621792" y="5230368"/>
            <a:ext cx="4114800" cy="713232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/>
        </p:spPr>
      </p:sp>
      <p:sp>
        <p:nvSpPr>
          <p:cNvPr id="61" name="Shape 59"/>
          <p:cNvSpPr/>
          <p:nvPr/>
        </p:nvSpPr>
        <p:spPr>
          <a:xfrm>
            <a:off x="621792" y="5285232"/>
            <a:ext cx="54864" cy="603504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877824" y="53675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Aslih Abnuri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877824" y="561441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25/574338/PEK/31801</a:t>
            </a:r>
            <a:endParaRPr lang="en-US" sz="1050" dirty="0"/>
          </a:p>
        </p:txBody>
      </p:sp>
      <p:sp>
        <p:nvSpPr>
          <p:cNvPr id="64" name="Text 62"/>
          <p:cNvSpPr txBox="1"/>
          <p:nvPr/>
        </p:nvSpPr>
        <p:spPr>
          <a:xfrm>
            <a:off x="621792" y="6272784"/>
            <a:ext cx="1094811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 · Canada’s Oil Sands · halaman 129–134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566928"/>
            <a:ext cx="10948111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40"/>
              </a:lnSpc>
              <a:buNone/>
            </a:pPr>
            <a:r>
              <a:rPr lang="en-US" sz="40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</a:t>
            </a:r>
            <a:pPr indent="0" marL="0">
              <a:lnSpc>
                <a:spcPts val="4640"/>
              </a:lnSpc>
              <a:buNone/>
            </a:pPr>
            <a:r>
              <a:rPr lang="en-US" sz="40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21792" y="1298448"/>
            <a:ext cx="781812" cy="283464"/>
          </a:xfrm>
          <a:prstGeom prst="roundRect">
            <a:avLst>
              <a:gd name="adj" fmla="val 50000"/>
            </a:avLst>
          </a:prstGeom>
          <a:solidFill>
            <a:srgbClr val="FF5A2D"/>
          </a:solidFill>
          <a:ln w="12700">
            <a:solidFill>
              <a:srgbClr val="FF5A2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298448"/>
            <a:ext cx="7818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2476" y="1298448"/>
            <a:ext cx="1324966" cy="283464"/>
          </a:xfrm>
          <a:prstGeom prst="roundRect">
            <a:avLst>
              <a:gd name="adj" fmla="val 50000"/>
            </a:avLst>
          </a:prstGeom>
          <a:solidFill>
            <a:srgbClr val="B8A6F5"/>
          </a:solidFill>
          <a:ln w="12700">
            <a:solidFill>
              <a:srgbClr val="B8A6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522476" y="1298448"/>
            <a:ext cx="13249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 BARAT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966314" y="1298448"/>
            <a:ext cx="1234440" cy="283464"/>
          </a:xfrm>
          <a:prstGeom prst="roundRect">
            <a:avLst>
              <a:gd name="adj" fmla="val 50000"/>
            </a:avLst>
          </a:prstGeom>
          <a:solidFill>
            <a:srgbClr val="C6F04A"/>
          </a:solidFill>
          <a:ln w="12700">
            <a:solidFill>
              <a:srgbClr val="C6F0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66314" y="1298448"/>
            <a:ext cx="1234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ALTERNATIF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319626" y="1298448"/>
            <a:ext cx="781812" cy="283464"/>
          </a:xfrm>
          <a:prstGeom prst="roundRect">
            <a:avLst>
              <a:gd name="adj" fmla="val 50000"/>
            </a:avLst>
          </a:prstGeom>
          <a:solidFill>
            <a:srgbClr val="0E1626"/>
          </a:solidFill>
          <a:ln w="12700">
            <a:solidFill>
              <a:srgbClr val="0E16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319626" y="1298448"/>
            <a:ext cx="7818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KASUS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197510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35024" y="1956816"/>
            <a:ext cx="457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Urgensi Teori Etika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35024" y="2221992"/>
            <a:ext cx="457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Dasar penalaran bagi keputusan bisnis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1792" y="2578608"/>
            <a:ext cx="5291176" cy="10058"/>
          </a:xfrm>
          <a:prstGeom prst="rect">
            <a:avLst/>
          </a:prstGeom>
          <a:solidFill>
            <a:srgbClr val="DDD8C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" y="277977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335024" y="2761488"/>
            <a:ext cx="457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Tiga Posisi Moral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35024" y="3026664"/>
            <a:ext cx="457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Absolutism, relativism, pluralism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1792" y="3383280"/>
            <a:ext cx="5291176" cy="10058"/>
          </a:xfrm>
          <a:prstGeom prst="rect">
            <a:avLst/>
          </a:prstGeom>
          <a:solidFill>
            <a:srgbClr val="DDD8C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1792" y="358444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335024" y="3566160"/>
            <a:ext cx="457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Taksonomi Teori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335024" y="3831336"/>
            <a:ext cx="457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Consequentialist dan principle-based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21792" y="4187952"/>
            <a:ext cx="5291176" cy="10058"/>
          </a:xfrm>
          <a:prstGeom prst="rect">
            <a:avLst/>
          </a:prstGeom>
          <a:solidFill>
            <a:srgbClr val="DDD8C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21792" y="438912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04.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335024" y="4370832"/>
            <a:ext cx="457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Dilemma 3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335024" y="4636008"/>
            <a:ext cx="457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Kasus penguji sepanjang bab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1792" y="4992624"/>
            <a:ext cx="5291176" cy="10058"/>
          </a:xfrm>
          <a:prstGeom prst="rect">
            <a:avLst/>
          </a:prstGeom>
          <a:solidFill>
            <a:srgbClr val="DDD8C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21792" y="519379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05.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335024" y="5175504"/>
            <a:ext cx="457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 Consequentialist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335024" y="5440680"/>
            <a:ext cx="457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egoism dan utilitarianism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21792" y="5797296"/>
            <a:ext cx="5291176" cy="10058"/>
          </a:xfrm>
          <a:prstGeom prst="rect">
            <a:avLst/>
          </a:prstGeom>
          <a:solidFill>
            <a:srgbClr val="DDD8C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278728" y="197510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991960" y="1956816"/>
            <a:ext cx="457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 Principle-based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6991960" y="2221992"/>
            <a:ext cx="457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Duty, rights, dan justice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278728" y="2578608"/>
            <a:ext cx="5291176" cy="10058"/>
          </a:xfrm>
          <a:prstGeom prst="rect">
            <a:avLst/>
          </a:prstGeom>
          <a:solidFill>
            <a:srgbClr val="DDD8CE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278728" y="277977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07.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6991960" y="2761488"/>
            <a:ext cx="457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Kritik dan Keterbatasan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6991960" y="3026664"/>
            <a:ext cx="457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Batas teori Barat modern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278728" y="3383280"/>
            <a:ext cx="5291176" cy="10058"/>
          </a:xfrm>
          <a:prstGeom prst="rect">
            <a:avLst/>
          </a:prstGeom>
          <a:solidFill>
            <a:srgbClr val="DDD8C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278728" y="358444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991960" y="3566160"/>
            <a:ext cx="457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Perspektif Alternatif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6991960" y="3831336"/>
            <a:ext cx="457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Virtue, care, discourse, postmodern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78728" y="4187952"/>
            <a:ext cx="5291176" cy="10058"/>
          </a:xfrm>
          <a:prstGeom prst="rect">
            <a:avLst/>
          </a:prstGeom>
          <a:solidFill>
            <a:srgbClr val="DDD8CE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278728" y="438912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09.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6991960" y="4370832"/>
            <a:ext cx="457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Lensa ke Prisma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6991960" y="4636008"/>
            <a:ext cx="457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 utama Chapter 3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6278728" y="4992624"/>
            <a:ext cx="5291176" cy="10058"/>
          </a:xfrm>
          <a:prstGeom prst="rect">
            <a:avLst/>
          </a:prstGeom>
          <a:solidFill>
            <a:srgbClr val="DDD8C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278728" y="519379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6991960" y="5175504"/>
            <a:ext cx="457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Canada’s Oil Sands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6991960" y="5440680"/>
            <a:ext cx="457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Penerapan sembilan teori pada satu kasus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6278728" y="5797296"/>
            <a:ext cx="5291176" cy="10058"/>
          </a:xfrm>
          <a:prstGeom prst="rect">
            <a:avLst/>
          </a:prstGeom>
          <a:solidFill>
            <a:srgbClr val="DDD8CE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457200"/>
            <a:ext cx="1324966" cy="283464"/>
          </a:xfrm>
          <a:prstGeom prst="roundRect">
            <a:avLst>
              <a:gd name="adj" fmla="val 50000"/>
            </a:avLst>
          </a:prstGeom>
          <a:solidFill>
            <a:srgbClr val="FF5A2D"/>
          </a:solidFill>
          <a:ln w="12700">
            <a:solidFill>
              <a:srgbClr val="FF5A2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457200"/>
            <a:ext cx="13249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 TEORI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2065630" y="457200"/>
            <a:ext cx="1506017" cy="283464"/>
          </a:xfrm>
          <a:prstGeom prst="roundRect">
            <a:avLst>
              <a:gd name="adj" fmla="val 50000"/>
            </a:avLst>
          </a:prstGeom>
          <a:solidFill>
            <a:srgbClr val="F2F0EB"/>
          </a:solidFill>
          <a:ln w="12700">
            <a:solidFill>
              <a:srgbClr val="DDD8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65630" y="457200"/>
            <a:ext cx="150601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HALAMAN 86–88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877824"/>
            <a:ext cx="10948111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Urgensi Teori Etika Normatif</a:t>
            </a:r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481328"/>
            <a:ext cx="109481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 bisnis menuntut justifikasi yang dapat diuji secara rasional.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" y="1975104"/>
            <a:ext cx="3503066" cy="2139696"/>
          </a:xfrm>
          <a:prstGeom prst="roundRect">
            <a:avLst>
              <a:gd name="adj" fmla="val 6838"/>
            </a:avLst>
          </a:prstGeom>
          <a:solidFill>
            <a:srgbClr val="FF5A2D"/>
          </a:solidFill>
          <a:ln/>
        </p:spPr>
      </p:sp>
      <p:sp>
        <p:nvSpPr>
          <p:cNvPr id="11" name="Shape 9"/>
          <p:cNvSpPr/>
          <p:nvPr/>
        </p:nvSpPr>
        <p:spPr>
          <a:xfrm>
            <a:off x="859536" y="2176272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FF744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59536" y="2176272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59536" y="2560320"/>
            <a:ext cx="30275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8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Kompleksitas Konteks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59536" y="2926080"/>
            <a:ext cx="302757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Operasi lintas negara menghadirkan suap, standar ketenagakerjaan rendah, dan praktik diskriminatif.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44314" y="1975104"/>
            <a:ext cx="3503066" cy="2139696"/>
          </a:xfrm>
          <a:prstGeom prst="roundRect">
            <a:avLst>
              <a:gd name="adj" fmla="val 6838"/>
            </a:avLst>
          </a:prstGeom>
          <a:solidFill>
            <a:srgbClr val="B8A6F5"/>
          </a:solidFill>
          <a:ln/>
        </p:spPr>
      </p:sp>
      <p:sp>
        <p:nvSpPr>
          <p:cNvPr id="16" name="Shape 14"/>
          <p:cNvSpPr/>
          <p:nvPr/>
        </p:nvSpPr>
        <p:spPr>
          <a:xfrm>
            <a:off x="4582058" y="2176272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9D8FD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82058" y="2176272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582058" y="2560320"/>
            <a:ext cx="30275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8"/>
              </a:lnSpc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Kewajiban Justifikasi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82058" y="2926080"/>
            <a:ext cx="302757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Pilihan manajerial wajib dipertanggungjawabkan kepada pemegang saham, karyawan, dan masyarakat.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066837" y="1975104"/>
            <a:ext cx="3503066" cy="2139696"/>
          </a:xfrm>
          <a:prstGeom prst="roundRect">
            <a:avLst>
              <a:gd name="adj" fmla="val 6838"/>
            </a:avLst>
          </a:prstGeom>
          <a:solidFill>
            <a:srgbClr val="0E1626"/>
          </a:solidFill>
          <a:ln/>
        </p:spPr>
      </p:sp>
      <p:sp>
        <p:nvSpPr>
          <p:cNvPr id="21" name="Shape 19"/>
          <p:cNvSpPr/>
          <p:nvPr/>
        </p:nvSpPr>
        <p:spPr>
          <a:xfrm>
            <a:off x="8304581" y="2176272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353B4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304581" y="2176272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8304581" y="2560320"/>
            <a:ext cx="30275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8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Kritik Menuntut Landasan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8304581" y="2926080"/>
            <a:ext cx="302757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Penilaian bahwa suatu korporasi tidak etis menuntut landasan argumentatif yang setara.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1792" y="4297680"/>
            <a:ext cx="10948111" cy="1517904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21792" y="4352544"/>
            <a:ext cx="50292" cy="1408176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96112" y="4462272"/>
            <a:ext cx="10399471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Normative ethical theories adalah aturan, prinsip, dan pendekatan yang menetapkan benar dan salahnya suatu tindakan.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896112" y="5431536"/>
            <a:ext cx="103994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CRANE ET AL. (2019) · HALAMAN 87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457200"/>
            <a:ext cx="1415491" cy="283464"/>
          </a:xfrm>
          <a:prstGeom prst="roundRect">
            <a:avLst>
              <a:gd name="adj" fmla="val 50000"/>
            </a:avLst>
          </a:prstGeom>
          <a:solidFill>
            <a:srgbClr val="FF5A2D"/>
          </a:solidFill>
          <a:ln w="12700">
            <a:solidFill>
              <a:srgbClr val="FF5A2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457200"/>
            <a:ext cx="141549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POSISI MORAL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2156155" y="457200"/>
            <a:ext cx="1506017" cy="283464"/>
          </a:xfrm>
          <a:prstGeom prst="roundRect">
            <a:avLst>
              <a:gd name="adj" fmla="val 50000"/>
            </a:avLst>
          </a:prstGeom>
          <a:solidFill>
            <a:srgbClr val="F2F0EB"/>
          </a:solidFill>
          <a:ln w="12700">
            <a:solidFill>
              <a:srgbClr val="DDD8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56155" y="457200"/>
            <a:ext cx="150601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HALAMAN 89–91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877824"/>
            <a:ext cx="10948111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Absolutism, Relativism, Pluralism</a:t>
            </a:r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481328"/>
            <a:ext cx="109481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Crane et al. (2019) mengambil posisi ketiga.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" y="1975104"/>
            <a:ext cx="3503066" cy="2212848"/>
          </a:xfrm>
          <a:prstGeom prst="roundRect">
            <a:avLst>
              <a:gd name="adj" fmla="val 6612"/>
            </a:avLst>
          </a:prstGeom>
          <a:solidFill>
            <a:srgbClr val="F5B722"/>
          </a:solidFill>
          <a:ln/>
        </p:spPr>
      </p:sp>
      <p:sp>
        <p:nvSpPr>
          <p:cNvPr id="11" name="Shape 9"/>
          <p:cNvSpPr/>
          <p:nvPr/>
        </p:nvSpPr>
        <p:spPr>
          <a:xfrm>
            <a:off x="859536" y="2176272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D09D2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59536" y="2176272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59536" y="2560320"/>
            <a:ext cx="30275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8"/>
              </a:lnSpc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59536" y="2926080"/>
            <a:ext cx="302757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Prinsip moral bersifat abadi dan universal. Benar dan salah merupakan kualitas objektif yang ditentukan secara rasional.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44314" y="1975104"/>
            <a:ext cx="3503066" cy="2212848"/>
          </a:xfrm>
          <a:prstGeom prst="roundRect">
            <a:avLst>
              <a:gd name="adj" fmla="val 6612"/>
            </a:avLst>
          </a:prstGeom>
          <a:solidFill>
            <a:srgbClr val="0FA98E"/>
          </a:solidFill>
          <a:ln/>
        </p:spPr>
      </p:sp>
      <p:sp>
        <p:nvSpPr>
          <p:cNvPr id="16" name="Shape 14"/>
          <p:cNvSpPr/>
          <p:nvPr/>
        </p:nvSpPr>
        <p:spPr>
          <a:xfrm>
            <a:off x="4582058" y="2176272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35B7A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82058" y="2176272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582058" y="2560320"/>
            <a:ext cx="30275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8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Relativism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82058" y="2926080"/>
            <a:ext cx="302757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Moralitas bersifat kontekstual dan subjektif. Tidak terdapat kategori benar dan salah yang berlaku universal.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066837" y="1975104"/>
            <a:ext cx="3503066" cy="2212848"/>
          </a:xfrm>
          <a:prstGeom prst="roundRect">
            <a:avLst>
              <a:gd name="adj" fmla="val 6612"/>
            </a:avLst>
          </a:prstGeom>
          <a:solidFill>
            <a:srgbClr val="B8A6F5"/>
          </a:solidFill>
          <a:ln/>
        </p:spPr>
      </p:sp>
      <p:sp>
        <p:nvSpPr>
          <p:cNvPr id="21" name="Shape 19"/>
          <p:cNvSpPr/>
          <p:nvPr/>
        </p:nvSpPr>
        <p:spPr>
          <a:xfrm>
            <a:off x="8304581" y="2176272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9D8FD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304581" y="2176272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8304581" y="2560320"/>
            <a:ext cx="30275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8"/>
              </a:lnSpc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Pluralism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8304581" y="2926080"/>
            <a:ext cx="302757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Nilai yang tidak sepadan dapat sama-sama sah dan menuntut toleransi, tanpa menyetarakan seluruh perspektif.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1792" y="4370832"/>
            <a:ext cx="10948111" cy="713232"/>
          </a:xfrm>
          <a:prstGeom prst="roundRect">
            <a:avLst>
              <a:gd name="adj" fmla="val 20513"/>
            </a:avLst>
          </a:prstGeom>
          <a:solidFill>
            <a:srgbClr val="C6F04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41832" y="4504563"/>
            <a:ext cx="1030803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Pluralism tidak menyetarakan validitas seluruh pendapat. Konflik antarperspektif tetap menuntut penyelesaian.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1792" y="5248656"/>
            <a:ext cx="10948111" cy="859536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/>
        </p:spPr>
      </p:sp>
      <p:sp>
        <p:nvSpPr>
          <p:cNvPr id="28" name="Shape 26"/>
          <p:cNvSpPr/>
          <p:nvPr/>
        </p:nvSpPr>
        <p:spPr>
          <a:xfrm>
            <a:off x="621792" y="5303520"/>
            <a:ext cx="50292" cy="749808"/>
          </a:xfrm>
          <a:prstGeom prst="rect">
            <a:avLst/>
          </a:prstGeom>
          <a:solidFill>
            <a:srgbClr val="B8A6F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96112" y="5413248"/>
            <a:ext cx="103994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Kritik utamanya: pluralism berisiko terlalu permisif. Sebagian praktik keliru mendasar dan tidak layak ditoleransi.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896112" y="5724144"/>
            <a:ext cx="103994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LIU (2018)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457200"/>
            <a:ext cx="1958645" cy="283464"/>
          </a:xfrm>
          <a:prstGeom prst="roundRect">
            <a:avLst>
              <a:gd name="adj" fmla="val 50000"/>
            </a:avLst>
          </a:prstGeom>
          <a:solidFill>
            <a:srgbClr val="FF5A2D"/>
          </a:solidFill>
          <a:ln w="12700">
            <a:solidFill>
              <a:srgbClr val="FF5A2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457200"/>
            <a:ext cx="1958645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 BARAT MODERN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2699309" y="457200"/>
            <a:ext cx="1143914" cy="283464"/>
          </a:xfrm>
          <a:prstGeom prst="roundRect">
            <a:avLst>
              <a:gd name="adj" fmla="val 50000"/>
            </a:avLst>
          </a:prstGeom>
          <a:solidFill>
            <a:srgbClr val="F2F0EB"/>
          </a:solidFill>
          <a:ln w="12700">
            <a:solidFill>
              <a:srgbClr val="DDD8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699309" y="457200"/>
            <a:ext cx="114391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 3.1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877824"/>
            <a:ext cx="10948111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Taksonomi Teori Barat Modern</a:t>
            </a:r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481328"/>
            <a:ext cx="109481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Berakar pada Pencerahan abad ke-18 dan bersifat absolutis.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" y="1975104"/>
            <a:ext cx="5346040" cy="1737360"/>
          </a:xfrm>
          <a:prstGeom prst="roundRect">
            <a:avLst>
              <a:gd name="adj" fmla="val 8421"/>
            </a:avLst>
          </a:prstGeom>
          <a:solidFill>
            <a:srgbClr val="FF5A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59536" y="2194560"/>
            <a:ext cx="4870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96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Consequentialist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59536" y="2560320"/>
            <a:ext cx="48705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Moralitas ditentukan oleh hasil tindakan. Hasil yang diinginkan menjadi dasar pembenaran.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23864" y="1975104"/>
            <a:ext cx="5346040" cy="1737360"/>
          </a:xfrm>
          <a:prstGeom prst="roundRect">
            <a:avLst>
              <a:gd name="adj" fmla="val 8421"/>
            </a:avLst>
          </a:prstGeom>
          <a:solidFill>
            <a:srgbClr val="0E162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61608" y="2194560"/>
            <a:ext cx="4870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96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Principle-based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461608" y="2560320"/>
            <a:ext cx="48705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Moralitas ditentukan oleh prinsip dan prosedur. Yang benar didahulukan atas yang diinginkan.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1792" y="3877056"/>
            <a:ext cx="2599868" cy="1042416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621792" y="3877056"/>
            <a:ext cx="2599868" cy="64008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" y="4133088"/>
            <a:ext cx="2160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Egoism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841248" y="4443984"/>
            <a:ext cx="2160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Hobbes · Rand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404540" y="3877056"/>
            <a:ext cx="2599868" cy="1042416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3404540" y="3877056"/>
            <a:ext cx="2599868" cy="64008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623996" y="4133088"/>
            <a:ext cx="2160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Utilitarianism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3623996" y="4443984"/>
            <a:ext cx="2160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Bentham · Mill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87288" y="3877056"/>
            <a:ext cx="2599868" cy="1042416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6187288" y="3877056"/>
            <a:ext cx="2599868" cy="64008"/>
          </a:xfrm>
          <a:prstGeom prst="rect">
            <a:avLst/>
          </a:prstGeom>
          <a:solidFill>
            <a:srgbClr val="0E162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06744" y="4133088"/>
            <a:ext cx="2160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of Duties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406744" y="4443984"/>
            <a:ext cx="2160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Immanuel Kant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970035" y="3877056"/>
            <a:ext cx="2599868" cy="1042416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8970035" y="3877056"/>
            <a:ext cx="2599868" cy="64008"/>
          </a:xfrm>
          <a:prstGeom prst="rect">
            <a:avLst/>
          </a:prstGeom>
          <a:solidFill>
            <a:srgbClr val="0E162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189491" y="4133088"/>
            <a:ext cx="2160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Rights &amp; Justice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9189491" y="4443984"/>
            <a:ext cx="2160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 · Rousseau · Rawls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1792" y="5102352"/>
            <a:ext cx="10948111" cy="987552"/>
          </a:xfrm>
          <a:prstGeom prst="roundRect">
            <a:avLst>
              <a:gd name="adj" fmla="val 14815"/>
            </a:avLst>
          </a:prstGeom>
          <a:solidFill>
            <a:srgbClr val="0E162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941832" y="5364671"/>
            <a:ext cx="10308031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23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Perbedaan mendasarnya terletak pada konsep manusia. Consequentialist: penggerak hasrat dan kesejahteraan. Principle-based: aktor moral rasional yang bermartabat.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457200"/>
            <a:ext cx="1596542" cy="283464"/>
          </a:xfrm>
          <a:prstGeom prst="roundRect">
            <a:avLst>
              <a:gd name="adj" fmla="val 50000"/>
            </a:avLst>
          </a:prstGeom>
          <a:solidFill>
            <a:srgbClr val="FF5A2D"/>
          </a:solidFill>
          <a:ln w="12700">
            <a:solidFill>
              <a:srgbClr val="FF5A2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457200"/>
            <a:ext cx="159654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PRODUCING TOYS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2337206" y="457200"/>
            <a:ext cx="1234440" cy="283464"/>
          </a:xfrm>
          <a:prstGeom prst="roundRect">
            <a:avLst>
              <a:gd name="adj" fmla="val 50000"/>
            </a:avLst>
          </a:prstGeom>
          <a:solidFill>
            <a:srgbClr val="F2F0EB"/>
          </a:solidFill>
          <a:ln w="12700">
            <a:solidFill>
              <a:srgbClr val="DDD8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337206" y="457200"/>
            <a:ext cx="1234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HALAMAN 94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877824"/>
            <a:ext cx="10948111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Dilemma 3</a:t>
            </a:r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481328"/>
            <a:ext cx="109481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Kasus penguji tunggal yang digunakan sepanjang bab.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" y="1975104"/>
            <a:ext cx="6400800" cy="3072384"/>
          </a:xfrm>
          <a:prstGeom prst="roundRect">
            <a:avLst>
              <a:gd name="adj" fmla="val 4762"/>
            </a:avLst>
          </a:prstGeom>
          <a:solidFill>
            <a:srgbClr val="0E162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2194560"/>
            <a:ext cx="5815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6F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Ringkasan Kasus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523744"/>
            <a:ext cx="577900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Seorang product manager perusahaan kembang gula memperoleh pemasok mainan plastik di Thailand pada harga sepertiga dari pemasok Portugal, dengan kualitas setara.</a:t>
            </a:r>
            <a:endParaRPr lang="en-US" sz="1250" dirty="0"/>
          </a:p>
          <a:p>
            <a:pPr indent="0" marL="0">
              <a:lnSpc>
                <a:spcPts val="19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Peninjauan produksi tidak menemukan fasilitas kerja. Komponen dikerjakan di rumah oleh sekitar 30 pekerja. Satu keluarga merakit mainan: ayah, ibu, dan enam anak berusia 5 sampai 14 tahun.</a:t>
            </a:r>
            <a:endParaRPr lang="en-US" sz="1250" dirty="0"/>
          </a:p>
          <a:p>
            <a:pPr indent="0" marL="0">
              <a:lnSpc>
                <a:spcPts val="19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 tersebut memunculkan keraguan atas kelayakan etis kesepakatan yang telah dicapai.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278624" y="1975104"/>
            <a:ext cx="4291279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552944" y="2176272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Pertanyaan Kasus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7589520" y="2505456"/>
            <a:ext cx="365119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respons awal seorang product manager atas temuan ini?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Nilai atau prinsip apa yang mendasari respons tersebut?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278624" y="3584448"/>
            <a:ext cx="4291279" cy="1463040"/>
          </a:xfrm>
          <a:prstGeom prst="roundRect">
            <a:avLst>
              <a:gd name="adj" fmla="val 10000"/>
            </a:avLst>
          </a:prstGeom>
          <a:solidFill>
            <a:srgbClr val="C6F0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52944" y="3767328"/>
            <a:ext cx="37426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pPr indent="0" marL="0">
              <a:buNone/>
            </a:pPr>
            <a:r>
              <a:rPr lang="en-US" sz="16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teori</a:t>
            </a:r>
            <a:endParaRPr lang="en-US" sz="4200" dirty="0"/>
          </a:p>
        </p:txBody>
      </p:sp>
      <p:sp>
        <p:nvSpPr>
          <p:cNvPr id="18" name="Text 16"/>
          <p:cNvSpPr txBox="1"/>
          <p:nvPr/>
        </p:nvSpPr>
        <p:spPr>
          <a:xfrm>
            <a:off x="7552944" y="4443984"/>
            <a:ext cx="37426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menghasilkan sembilan penilaian berbeda atas rangkaian fakta yang identik.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1792" y="5212080"/>
            <a:ext cx="10948111" cy="749808"/>
          </a:xfrm>
          <a:prstGeom prst="roundRect">
            <a:avLst>
              <a:gd name="adj" fmla="val 19512"/>
            </a:avLst>
          </a:prstGeom>
          <a:solidFill>
            <a:srgbClr val="FF5A2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41832" y="5475542"/>
            <a:ext cx="1030803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 intuitif akan dibandingkan dengan hasil penerapan kesembilan teori pada akhir pembahasan.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457200"/>
            <a:ext cx="1053389" cy="283464"/>
          </a:xfrm>
          <a:prstGeom prst="roundRect">
            <a:avLst>
              <a:gd name="adj" fmla="val 50000"/>
            </a:avLst>
          </a:prstGeom>
          <a:solidFill>
            <a:srgbClr val="FF5A2D"/>
          </a:solidFill>
          <a:ln w="12700">
            <a:solidFill>
              <a:srgbClr val="FF5A2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457200"/>
            <a:ext cx="105338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 01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794053" y="457200"/>
            <a:ext cx="1777594" cy="283464"/>
          </a:xfrm>
          <a:prstGeom prst="roundRect">
            <a:avLst>
              <a:gd name="adj" fmla="val 50000"/>
            </a:avLst>
          </a:prstGeom>
          <a:solidFill>
            <a:srgbClr val="F2F0EB"/>
          </a:solidFill>
          <a:ln w="12700">
            <a:solidFill>
              <a:srgbClr val="DDD8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94053" y="457200"/>
            <a:ext cx="177759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CONSEQUENTIALIST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877824"/>
            <a:ext cx="10948111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Egoism</a:t>
            </a:r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621792" y="1517904"/>
            <a:ext cx="10948111" cy="749808"/>
          </a:xfrm>
          <a:prstGeom prst="roundRect">
            <a:avLst>
              <a:gd name="adj" fmla="val 19512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621792" y="1572768"/>
            <a:ext cx="50292" cy="640080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1682496"/>
            <a:ext cx="1039947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Sebuah tindakan benar secara moral apabila mendorong kepentingan diri jangka panjang pelakunya.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1792" y="2432304"/>
            <a:ext cx="3503066" cy="2286000"/>
          </a:xfrm>
          <a:prstGeom prst="roundRect">
            <a:avLst>
              <a:gd name="adj" fmla="val 6400"/>
            </a:avLst>
          </a:prstGeom>
          <a:solidFill>
            <a:srgbClr val="FF5A2D"/>
          </a:solidFill>
          <a:ln/>
        </p:spPr>
      </p:sp>
      <p:sp>
        <p:nvSpPr>
          <p:cNvPr id="13" name="Shape 11"/>
          <p:cNvSpPr/>
          <p:nvPr/>
        </p:nvSpPr>
        <p:spPr>
          <a:xfrm>
            <a:off x="859536" y="2633472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FF744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59536" y="2633472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59536" y="3017520"/>
            <a:ext cx="30275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8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Invisible Hand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59536" y="3383280"/>
            <a:ext cx="302757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Smith (1776): agregasi kepentingan diri menghasilkan kesejahteraan kolektif melalui mekanisme pasar.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44314" y="2432304"/>
            <a:ext cx="3503066" cy="2286000"/>
          </a:xfrm>
          <a:prstGeom prst="roundRect">
            <a:avLst>
              <a:gd name="adj" fmla="val 6400"/>
            </a:avLst>
          </a:prstGeom>
          <a:solidFill>
            <a:srgbClr val="B8A6F5"/>
          </a:solidFill>
          <a:ln/>
        </p:spPr>
      </p:sp>
      <p:sp>
        <p:nvSpPr>
          <p:cNvPr id="18" name="Shape 16"/>
          <p:cNvSpPr/>
          <p:nvPr/>
        </p:nvSpPr>
        <p:spPr>
          <a:xfrm>
            <a:off x="4582058" y="2633472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9D8FD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82058" y="2633472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582058" y="3017520"/>
            <a:ext cx="30275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8"/>
              </a:lnSpc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Jangka Panjang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82058" y="3383280"/>
            <a:ext cx="302757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Orientasi jangka panjang menuntut kejujuran dan reputasi, bukan maksimasi keuntungan sesaat.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66837" y="2432304"/>
            <a:ext cx="3503066" cy="2286000"/>
          </a:xfrm>
          <a:prstGeom prst="roundRect">
            <a:avLst>
              <a:gd name="adj" fmla="val 6400"/>
            </a:avLst>
          </a:prstGeom>
          <a:solidFill>
            <a:srgbClr val="0E1626"/>
          </a:solidFill>
          <a:ln/>
        </p:spPr>
      </p:sp>
      <p:sp>
        <p:nvSpPr>
          <p:cNvPr id="23" name="Shape 21"/>
          <p:cNvSpPr/>
          <p:nvPr/>
        </p:nvSpPr>
        <p:spPr>
          <a:xfrm>
            <a:off x="8304581" y="2633472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353B4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04581" y="2633472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8304581" y="3017520"/>
            <a:ext cx="30275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8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Batas: Market Failure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304581" y="3383280"/>
            <a:ext cx="302757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Mekanisme pasar gagal pada kondisi monopoli, asimetri informasi, dan eksternalitas yang tidak terinternalisasi.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21792" y="4919472"/>
            <a:ext cx="10948111" cy="896112"/>
          </a:xfrm>
          <a:prstGeom prst="roundRect">
            <a:avLst>
              <a:gd name="adj" fmla="val 16327"/>
            </a:avLst>
          </a:prstGeom>
          <a:solidFill>
            <a:srgbClr val="F5B72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41832" y="5144643"/>
            <a:ext cx="1030803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Penerapan pada Ethical Dilemma 3: kesepakatan menguntungkan pelaku, namun risiko reputasi menahan kesimpulannya.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457200"/>
            <a:ext cx="1053389" cy="283464"/>
          </a:xfrm>
          <a:prstGeom prst="roundRect">
            <a:avLst>
              <a:gd name="adj" fmla="val 50000"/>
            </a:avLst>
          </a:prstGeom>
          <a:solidFill>
            <a:srgbClr val="FF5A2D"/>
          </a:solidFill>
          <a:ln w="12700">
            <a:solidFill>
              <a:srgbClr val="FF5A2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457200"/>
            <a:ext cx="105338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 02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794053" y="457200"/>
            <a:ext cx="1777594" cy="283464"/>
          </a:xfrm>
          <a:prstGeom prst="roundRect">
            <a:avLst>
              <a:gd name="adj" fmla="val 50000"/>
            </a:avLst>
          </a:prstGeom>
          <a:solidFill>
            <a:srgbClr val="F2F0EB"/>
          </a:solidFill>
          <a:ln w="12700">
            <a:solidFill>
              <a:srgbClr val="DDD8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94053" y="457200"/>
            <a:ext cx="177759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CONSEQUENTIALIST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877824"/>
            <a:ext cx="10948111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Utilitarianism</a:t>
            </a:r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621792" y="1517904"/>
            <a:ext cx="10948111" cy="749808"/>
          </a:xfrm>
          <a:prstGeom prst="roundRect">
            <a:avLst>
              <a:gd name="adj" fmla="val 19512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621792" y="1572768"/>
            <a:ext cx="50292" cy="640080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1682496"/>
            <a:ext cx="1039947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Sebuah tindakan benar apabila menghasilkan kebaikan terbesar untuk jumlah orang terbesar yang terdampak.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1792" y="2432304"/>
            <a:ext cx="2599868" cy="2286000"/>
          </a:xfrm>
          <a:prstGeom prst="roundRect">
            <a:avLst>
              <a:gd name="adj" fmla="val 6400"/>
            </a:avLst>
          </a:prstGeom>
          <a:solidFill>
            <a:srgbClr val="FF5A2D"/>
          </a:solidFill>
          <a:ln/>
        </p:spPr>
      </p:sp>
      <p:sp>
        <p:nvSpPr>
          <p:cNvPr id="13" name="Shape 11"/>
          <p:cNvSpPr/>
          <p:nvPr/>
        </p:nvSpPr>
        <p:spPr>
          <a:xfrm>
            <a:off x="859536" y="2633472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FF744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59536" y="2633472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59536" y="3017520"/>
            <a:ext cx="21243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47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Consequentialism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859536" y="3383280"/>
            <a:ext cx="21243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Akibat tindakan menjadi penentu benar dan salahnya.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404540" y="2432304"/>
            <a:ext cx="2599868" cy="2286000"/>
          </a:xfrm>
          <a:prstGeom prst="roundRect">
            <a:avLst>
              <a:gd name="adj" fmla="val 6400"/>
            </a:avLst>
          </a:prstGeom>
          <a:solidFill>
            <a:srgbClr val="B8A6F5"/>
          </a:solidFill>
          <a:ln/>
        </p:spPr>
      </p:sp>
      <p:sp>
        <p:nvSpPr>
          <p:cNvPr id="18" name="Shape 16"/>
          <p:cNvSpPr/>
          <p:nvPr/>
        </p:nvSpPr>
        <p:spPr>
          <a:xfrm>
            <a:off x="3642284" y="2633472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9D8FD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642284" y="2633472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642284" y="3017520"/>
            <a:ext cx="21243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47"/>
              </a:lnSpc>
              <a:buNone/>
            </a:pPr>
            <a:r>
              <a:rPr lang="en-US" sz="13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Hedonism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3642284" y="3383280"/>
            <a:ext cx="21243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Utilitas diukur sebagai pleasure dikurangi pain, menghasilkan net pleasure.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187288" y="2432304"/>
            <a:ext cx="2599868" cy="2286000"/>
          </a:xfrm>
          <a:prstGeom prst="roundRect">
            <a:avLst>
              <a:gd name="adj" fmla="val 6400"/>
            </a:avLst>
          </a:prstGeom>
          <a:solidFill>
            <a:srgbClr val="0FA98E"/>
          </a:solidFill>
          <a:ln/>
        </p:spPr>
      </p:sp>
      <p:sp>
        <p:nvSpPr>
          <p:cNvPr id="23" name="Shape 21"/>
          <p:cNvSpPr/>
          <p:nvPr/>
        </p:nvSpPr>
        <p:spPr>
          <a:xfrm>
            <a:off x="6425032" y="2633472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35B7A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25032" y="2633472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425032" y="3017520"/>
            <a:ext cx="21243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47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Maximalism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6425032" y="3383280"/>
            <a:ext cx="21243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Bukan sebagian akibat baik, melainkan agregat terbesar yang mungkin.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970035" y="2432304"/>
            <a:ext cx="2599868" cy="2286000"/>
          </a:xfrm>
          <a:prstGeom prst="roundRect">
            <a:avLst>
              <a:gd name="adj" fmla="val 6400"/>
            </a:avLst>
          </a:prstGeom>
          <a:solidFill>
            <a:srgbClr val="0E1626"/>
          </a:solidFill>
          <a:ln/>
        </p:spPr>
      </p:sp>
      <p:sp>
        <p:nvSpPr>
          <p:cNvPr id="28" name="Shape 26"/>
          <p:cNvSpPr/>
          <p:nvPr/>
        </p:nvSpPr>
        <p:spPr>
          <a:xfrm>
            <a:off x="9207779" y="2633472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353B49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207779" y="2633472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9207779" y="3017520"/>
            <a:ext cx="21243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47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Universalism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9207779" y="3383280"/>
            <a:ext cx="21243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Akibat bagi seluruh pihak wajib dipertimbangkan.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21792" y="4919472"/>
            <a:ext cx="10948111" cy="896112"/>
          </a:xfrm>
          <a:prstGeom prst="roundRect">
            <a:avLst>
              <a:gd name="adj" fmla="val 16327"/>
            </a:avLst>
          </a:prstGeom>
          <a:solidFill>
            <a:srgbClr val="C6F04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941832" y="5144643"/>
            <a:ext cx="1030803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Neraca utilitas pada Ethical Dilemma 3 condong pada kelanjutan kesepakatan. Kesimpulan inilah yang memunculkan empat keberatan berikut.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457200"/>
            <a:ext cx="1053389" cy="283464"/>
          </a:xfrm>
          <a:prstGeom prst="roundRect">
            <a:avLst>
              <a:gd name="adj" fmla="val 50000"/>
            </a:avLst>
          </a:prstGeom>
          <a:solidFill>
            <a:srgbClr val="FF5A2D"/>
          </a:solidFill>
          <a:ln w="12700">
            <a:solidFill>
              <a:srgbClr val="FF5A2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457200"/>
            <a:ext cx="105338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 02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794053" y="457200"/>
            <a:ext cx="1687068" cy="283464"/>
          </a:xfrm>
          <a:prstGeom prst="roundRect">
            <a:avLst>
              <a:gd name="adj" fmla="val 50000"/>
            </a:avLst>
          </a:prstGeom>
          <a:solidFill>
            <a:srgbClr val="F2F0EB"/>
          </a:solidFill>
          <a:ln w="12700">
            <a:solidFill>
              <a:srgbClr val="DDD8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94053" y="457200"/>
            <a:ext cx="16870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KRITIK INTERNAL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877824"/>
            <a:ext cx="10948111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Keterbatasan Utilitarianism</a:t>
            </a:r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481328"/>
            <a:ext cx="109481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 keberatan pokok dan penyempurnaan Mill menjadi dua varian.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" y="1938528"/>
            <a:ext cx="2599868" cy="1828800"/>
          </a:xfrm>
          <a:prstGeom prst="roundRect">
            <a:avLst>
              <a:gd name="adj" fmla="val 8000"/>
            </a:avLst>
          </a:prstGeom>
          <a:solidFill>
            <a:srgbClr val="F5B722"/>
          </a:solidFill>
          <a:ln/>
        </p:spPr>
      </p:sp>
      <p:sp>
        <p:nvSpPr>
          <p:cNvPr id="11" name="Shape 9"/>
          <p:cNvSpPr/>
          <p:nvPr/>
        </p:nvSpPr>
        <p:spPr>
          <a:xfrm>
            <a:off x="859536" y="2139696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D09D2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59536" y="2139696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59536" y="2523744"/>
            <a:ext cx="21243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47"/>
              </a:lnSpc>
              <a:buNone/>
            </a:pPr>
            <a:r>
              <a:rPr lang="en-US" sz="13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Subjectivity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859536" y="2889504"/>
            <a:ext cx="21243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Ukuran pleasure dan pain bergantung pada perspektif penganalisis.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404540" y="1938528"/>
            <a:ext cx="2599868" cy="1828800"/>
          </a:xfrm>
          <a:prstGeom prst="roundRect">
            <a:avLst>
              <a:gd name="adj" fmla="val 8000"/>
            </a:avLst>
          </a:prstGeom>
          <a:solidFill>
            <a:srgbClr val="B8A6F5"/>
          </a:solidFill>
          <a:ln/>
        </p:spPr>
      </p:sp>
      <p:sp>
        <p:nvSpPr>
          <p:cNvPr id="16" name="Shape 14"/>
          <p:cNvSpPr/>
          <p:nvPr/>
        </p:nvSpPr>
        <p:spPr>
          <a:xfrm>
            <a:off x="3642284" y="2139696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9D8FD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642284" y="2139696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3642284" y="2523744"/>
            <a:ext cx="21243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47"/>
              </a:lnSpc>
              <a:buNone/>
            </a:pPr>
            <a:r>
              <a:rPr lang="en-US" sz="13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Weighting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3642284" y="2889504"/>
            <a:ext cx="21243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Seluruh pihak berbobot setara. Pengistimewaan diri tidak dibenarkan.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87288" y="1938528"/>
            <a:ext cx="2599868" cy="1828800"/>
          </a:xfrm>
          <a:prstGeom prst="roundRect">
            <a:avLst>
              <a:gd name="adj" fmla="val 8000"/>
            </a:avLst>
          </a:prstGeom>
          <a:solidFill>
            <a:srgbClr val="0FA98E"/>
          </a:solidFill>
          <a:ln/>
        </p:spPr>
      </p:sp>
      <p:sp>
        <p:nvSpPr>
          <p:cNvPr id="21" name="Shape 19"/>
          <p:cNvSpPr/>
          <p:nvPr/>
        </p:nvSpPr>
        <p:spPr>
          <a:xfrm>
            <a:off x="6425032" y="2139696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35B7A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25032" y="2139696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425032" y="2523744"/>
            <a:ext cx="21243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47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Kuantifikasi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6425032" y="2889504"/>
            <a:ext cx="21243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Penderitaan dan kesempatan yang hilang sulit dinyatakan dalam satuan moneter.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970035" y="1938528"/>
            <a:ext cx="2599868" cy="1828800"/>
          </a:xfrm>
          <a:prstGeom prst="roundRect">
            <a:avLst>
              <a:gd name="adj" fmla="val 8000"/>
            </a:avLst>
          </a:prstGeom>
          <a:solidFill>
            <a:srgbClr val="0E1626"/>
          </a:solidFill>
          <a:ln/>
        </p:spPr>
      </p:sp>
      <p:sp>
        <p:nvSpPr>
          <p:cNvPr id="26" name="Shape 24"/>
          <p:cNvSpPr/>
          <p:nvPr/>
        </p:nvSpPr>
        <p:spPr>
          <a:xfrm>
            <a:off x="9207779" y="2139696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353B49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207779" y="2139696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9207779" y="2523744"/>
            <a:ext cx="21243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47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Distribusi Utility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9207779" y="2889504"/>
            <a:ext cx="21243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Agregasi mayoritas berpotensi meniadakan kepentingan minoritas.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21792" y="3913632"/>
            <a:ext cx="5346040" cy="1463040"/>
          </a:xfrm>
          <a:prstGeom prst="roundRect">
            <a:avLst>
              <a:gd name="adj" fmla="val 10000"/>
            </a:avLst>
          </a:prstGeom>
          <a:solidFill>
            <a:srgbClr val="FF5A2D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59536" y="4133088"/>
            <a:ext cx="4870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2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Utilitarianism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859536" y="4498848"/>
            <a:ext cx="48705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analisisnya tindakan tunggal. Pada dilema ini dapat membenarkan kesepakatan, karena pain dinilai kecil.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223864" y="3913632"/>
            <a:ext cx="5346040" cy="1463040"/>
          </a:xfrm>
          <a:prstGeom prst="roundRect">
            <a:avLst>
              <a:gd name="adj" fmla="val 10000"/>
            </a:avLst>
          </a:prstGeom>
          <a:solidFill>
            <a:srgbClr val="0E162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461608" y="4133088"/>
            <a:ext cx="4870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2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Utilitarianism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6461608" y="4498848"/>
            <a:ext cx="48705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analisisnya kelas tindakan. Pada dilema ini menolak, karena penderitaan pekerja anak melampaui manfaat ekonominya.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21792" y="5522976"/>
            <a:ext cx="10948111" cy="640080"/>
          </a:xfrm>
          <a:prstGeom prst="roundRect">
            <a:avLst>
              <a:gd name="adj" fmla="val 22857"/>
            </a:avLst>
          </a:prstGeom>
          <a:solidFill>
            <a:srgbClr val="C6F04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941832" y="5620131"/>
            <a:ext cx="10308031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 varian menghasilkan kesimpulan berlawanan atas kasus identik. Divergensi ini berulang pada kasus oil sands.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457200"/>
            <a:ext cx="1053389" cy="283464"/>
          </a:xfrm>
          <a:prstGeom prst="roundRect">
            <a:avLst>
              <a:gd name="adj" fmla="val 50000"/>
            </a:avLst>
          </a:prstGeom>
          <a:solidFill>
            <a:srgbClr val="B8A6F5"/>
          </a:solidFill>
          <a:ln w="12700">
            <a:solidFill>
              <a:srgbClr val="B8A6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457200"/>
            <a:ext cx="105338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 03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794053" y="457200"/>
            <a:ext cx="1506017" cy="283464"/>
          </a:xfrm>
          <a:prstGeom prst="roundRect">
            <a:avLst>
              <a:gd name="adj" fmla="val 50000"/>
            </a:avLst>
          </a:prstGeom>
          <a:solidFill>
            <a:srgbClr val="F2F0EB"/>
          </a:solidFill>
          <a:ln w="12700">
            <a:solidFill>
              <a:srgbClr val="DDD8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94053" y="457200"/>
            <a:ext cx="150601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IMMANUEL KANT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877824"/>
            <a:ext cx="10948111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of Duties</a:t>
            </a:r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621792" y="1517904"/>
            <a:ext cx="10948111" cy="749808"/>
          </a:xfrm>
          <a:prstGeom prst="roundRect">
            <a:avLst>
              <a:gd name="adj" fmla="val 19512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621792" y="1572768"/>
            <a:ext cx="50292" cy="640080"/>
          </a:xfrm>
          <a:prstGeom prst="rect">
            <a:avLst/>
          </a:prstGeom>
          <a:solidFill>
            <a:srgbClr val="B8A6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1682496"/>
            <a:ext cx="1039947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Bertindak hanya menurut maksim yang pada saat bersamaan dapat dikehendaki menjadi hukum universal.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1792" y="2432304"/>
            <a:ext cx="5346040" cy="1792224"/>
          </a:xfrm>
          <a:prstGeom prst="roundRect">
            <a:avLst>
              <a:gd name="adj" fmla="val 8163"/>
            </a:avLst>
          </a:prstGeom>
          <a:solidFill>
            <a:srgbClr val="B8A6F5"/>
          </a:solidFill>
          <a:ln/>
        </p:spPr>
      </p:sp>
      <p:sp>
        <p:nvSpPr>
          <p:cNvPr id="13" name="Shape 11"/>
          <p:cNvSpPr/>
          <p:nvPr/>
        </p:nvSpPr>
        <p:spPr>
          <a:xfrm>
            <a:off x="859536" y="2633472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9D8FD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59536" y="2633472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59536" y="3017520"/>
            <a:ext cx="4870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2"/>
              </a:lnSpc>
              <a:buNone/>
            </a:pPr>
            <a:r>
              <a:rPr lang="en-US" sz="16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Acceptability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59536" y="3383280"/>
            <a:ext cx="4870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Hukum moral sah hanya bila seluruh makhluk rasional dapat menerimanya. Prinsip mempekerjakan anak tidak dikehendaki berlaku universal.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23864" y="2432304"/>
            <a:ext cx="5346040" cy="1792224"/>
          </a:xfrm>
          <a:prstGeom prst="roundRect">
            <a:avLst>
              <a:gd name="adj" fmla="val 8163"/>
            </a:avLst>
          </a:prstGeom>
          <a:solidFill>
            <a:srgbClr val="0E1626"/>
          </a:solidFill>
          <a:ln/>
        </p:spPr>
      </p:sp>
      <p:sp>
        <p:nvSpPr>
          <p:cNvPr id="18" name="Shape 16"/>
          <p:cNvSpPr/>
          <p:nvPr/>
        </p:nvSpPr>
        <p:spPr>
          <a:xfrm>
            <a:off x="6461608" y="2633472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353B4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61608" y="2633472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461608" y="3017520"/>
            <a:ext cx="4870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2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 for Persons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461608" y="3383280"/>
            <a:ext cx="4870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Kemanusiaan diperlakukan sebagai tujuan, tidak semata sebagai sarana. Pekerja anak direduksi menjadi faktor biaya.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1792" y="4389120"/>
            <a:ext cx="3503066" cy="118872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21792" y="4389120"/>
            <a:ext cx="3503066" cy="64008"/>
          </a:xfrm>
          <a:prstGeom prst="rect">
            <a:avLst/>
          </a:prstGeom>
          <a:solidFill>
            <a:srgbClr val="F5B72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1248" y="4590288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Kurang Menghargai Motivasi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841248" y="4864608"/>
            <a:ext cx="306415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Motif belas kasih tidak bernilai moral, motif penalaran kewajiban bernilai moral.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344314" y="4389120"/>
            <a:ext cx="3503066" cy="118872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4344314" y="4389120"/>
            <a:ext cx="3503066" cy="64008"/>
          </a:xfrm>
          <a:prstGeom prst="rect">
            <a:avLst/>
          </a:prstGeom>
          <a:solidFill>
            <a:srgbClr val="F5B72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63770" y="4590288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Kurang Menghargai Akibat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4563770" y="4864608"/>
            <a:ext cx="306415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tersedia ruang bagi pengecualian yang menghasilkan akibat lebih baik.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066837" y="4389120"/>
            <a:ext cx="3503066" cy="118872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8066837" y="4389120"/>
            <a:ext cx="3503066" cy="64008"/>
          </a:xfrm>
          <a:prstGeom prst="rect">
            <a:avLst/>
          </a:prstGeom>
          <a:solidFill>
            <a:srgbClr val="F5B72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86293" y="4590288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Asumsi Rasionalitas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8286293" y="4864608"/>
            <a:ext cx="306415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Rasionalitas moral yang konsisten merupakan ideal, bukan deskripsi realitas.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21792" y="5705856"/>
            <a:ext cx="10948111" cy="566928"/>
          </a:xfrm>
          <a:prstGeom prst="roundRect">
            <a:avLst>
              <a:gd name="adj" fmla="val 25806"/>
            </a:avLst>
          </a:prstGeom>
          <a:solidFill>
            <a:srgbClr val="C6F04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41832" y="5877878"/>
            <a:ext cx="1030803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Kant menjadi dasar stakeholder theory: martabat sebagai alasan etis, bukan manfaat ekonomi.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457200"/>
            <a:ext cx="1053389" cy="283464"/>
          </a:xfrm>
          <a:prstGeom prst="roundRect">
            <a:avLst>
              <a:gd name="adj" fmla="val 50000"/>
            </a:avLst>
          </a:prstGeom>
          <a:solidFill>
            <a:srgbClr val="B8A6F5"/>
          </a:solidFill>
          <a:ln w="12700">
            <a:solidFill>
              <a:srgbClr val="B8A6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457200"/>
            <a:ext cx="105338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 04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794053" y="457200"/>
            <a:ext cx="1868119" cy="283464"/>
          </a:xfrm>
          <a:prstGeom prst="roundRect">
            <a:avLst>
              <a:gd name="adj" fmla="val 50000"/>
            </a:avLst>
          </a:prstGeom>
          <a:solidFill>
            <a:srgbClr val="F2F0EB"/>
          </a:solidFill>
          <a:ln w="12700">
            <a:solidFill>
              <a:srgbClr val="DDD8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94053" y="457200"/>
            <a:ext cx="186811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HAK ASASI MANUSIA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877824"/>
            <a:ext cx="10948111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of Rights</a:t>
            </a:r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621792" y="1517904"/>
            <a:ext cx="10948111" cy="749808"/>
          </a:xfrm>
          <a:prstGeom prst="roundRect">
            <a:avLst>
              <a:gd name="adj" fmla="val 19512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621792" y="1572768"/>
            <a:ext cx="50292" cy="640080"/>
          </a:xfrm>
          <a:prstGeom prst="rect">
            <a:avLst/>
          </a:prstGeom>
          <a:solidFill>
            <a:srgbClr val="B8A6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1682496"/>
            <a:ext cx="1039947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Hak dasar yang tidak dapat dicabut dan melekat pada seluruh manusia tanpa kecuali. Hak selalu melahirkan kewajiban bagi pihak lain.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1792" y="2432304"/>
            <a:ext cx="3503066" cy="1755648"/>
          </a:xfrm>
          <a:prstGeom prst="roundRect">
            <a:avLst>
              <a:gd name="adj" fmla="val 8333"/>
            </a:avLst>
          </a:prstGeom>
          <a:solidFill>
            <a:srgbClr val="0FA98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59536" y="2651760"/>
            <a:ext cx="30275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74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59536" y="3017520"/>
            <a:ext cx="302757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Kewajiban negara melindungi hak asasi dari pelanggaran pihak ketiga.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2753258" y="2615184"/>
            <a:ext cx="1152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spc="100" kern="0" dirty="0">
                <a:solidFill>
                  <a:srgbClr val="93D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NEGARA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344314" y="2432304"/>
            <a:ext cx="3503066" cy="1755648"/>
          </a:xfrm>
          <a:prstGeom prst="roundRect">
            <a:avLst>
              <a:gd name="adj" fmla="val 8333"/>
            </a:avLst>
          </a:prstGeom>
          <a:solidFill>
            <a:srgbClr val="FF5A2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82058" y="2651760"/>
            <a:ext cx="30275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74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582058" y="3017520"/>
            <a:ext cx="302757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Tanggung jawab korporasi menghormati hak asasi pada seluruh relasi bisnisnya.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475781" y="2615184"/>
            <a:ext cx="1152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spc="100" kern="0" dirty="0">
                <a:solidFill>
                  <a:srgbClr val="FFB5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BISNIS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066837" y="2432304"/>
            <a:ext cx="3503066" cy="1755648"/>
          </a:xfrm>
          <a:prstGeom prst="roundRect">
            <a:avLst>
              <a:gd name="adj" fmla="val 8333"/>
            </a:avLst>
          </a:prstGeom>
          <a:solidFill>
            <a:srgbClr val="0E162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304581" y="2651760"/>
            <a:ext cx="30275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74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Remedy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8304581" y="3017520"/>
            <a:ext cx="302757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Akses pemulihan bagi korban pelanggaran yang terkait aktivitas bisnis.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10198303" y="2615184"/>
            <a:ext cx="1152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spc="100" kern="0" dirty="0">
                <a:solidFill>
                  <a:srgbClr val="9396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PERADILAN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21792" y="4334256"/>
            <a:ext cx="109481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Guiding Principles atau Prinsip Ruggie (2011)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" y="4663440"/>
            <a:ext cx="3503066" cy="1298448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841248" y="486460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FF5A2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41248" y="4864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261872" y="4892040"/>
            <a:ext cx="26435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12 UDHR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841248" y="5321808"/>
            <a:ext cx="306415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Privasi pekerja dan pelanggan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344314" y="4663440"/>
            <a:ext cx="3503066" cy="1298448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4563770" y="486460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B8A6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563770" y="4864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984394" y="4892040"/>
            <a:ext cx="26435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20 UDHR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4563770" y="5321808"/>
            <a:ext cx="306415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Kebebasan berkumpul dan berserikat, landasan hukum serikat pekerja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066837" y="4663440"/>
            <a:ext cx="3503066" cy="1298448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8286293" y="486460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C6F04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8286293" y="4864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8706917" y="4892040"/>
            <a:ext cx="26435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23 UDHR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8286293" y="5321808"/>
            <a:ext cx="306415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Hak atas pekerjaan, kondisi kerja yang adil, dan upah yang setara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457200"/>
            <a:ext cx="1053389" cy="283464"/>
          </a:xfrm>
          <a:prstGeom prst="roundRect">
            <a:avLst>
              <a:gd name="adj" fmla="val 50000"/>
            </a:avLst>
          </a:prstGeom>
          <a:solidFill>
            <a:srgbClr val="B8A6F5"/>
          </a:solidFill>
          <a:ln w="12700">
            <a:solidFill>
              <a:srgbClr val="B8A6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457200"/>
            <a:ext cx="105338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 05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794053" y="457200"/>
            <a:ext cx="1234440" cy="283464"/>
          </a:xfrm>
          <a:prstGeom prst="roundRect">
            <a:avLst>
              <a:gd name="adj" fmla="val 50000"/>
            </a:avLst>
          </a:prstGeom>
          <a:solidFill>
            <a:srgbClr val="F2F0EB"/>
          </a:solidFill>
          <a:ln w="12700">
            <a:solidFill>
              <a:srgbClr val="DDD8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94053" y="457200"/>
            <a:ext cx="1234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RAWLS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877824"/>
            <a:ext cx="10948111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 of Justice</a:t>
            </a:r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621792" y="1517904"/>
            <a:ext cx="10948111" cy="749808"/>
          </a:xfrm>
          <a:prstGeom prst="roundRect">
            <a:avLst>
              <a:gd name="adj" fmla="val 19512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621792" y="1572768"/>
            <a:ext cx="50292" cy="640080"/>
          </a:xfrm>
          <a:prstGeom prst="rect">
            <a:avLst/>
          </a:prstGeom>
          <a:solidFill>
            <a:srgbClr val="B8A6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1682496"/>
            <a:ext cx="1039947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Prinsip keadilan adalah prinsip yang dipilih pihak rasional tanpa mengetahui posisi sosial yang akan ditempatinya.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1792" y="2432304"/>
            <a:ext cx="5346040" cy="2340864"/>
          </a:xfrm>
          <a:prstGeom prst="roundRect">
            <a:avLst>
              <a:gd name="adj" fmla="val 6250"/>
            </a:avLst>
          </a:prstGeom>
          <a:solidFill>
            <a:srgbClr val="FF5A2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59536" y="2651760"/>
            <a:ext cx="4870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74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Veil of Ignorance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59536" y="3017520"/>
            <a:ext cx="487055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Pihak yang setara, bebas, dan rasional memilih prinsip tanpa mengetahui posisi yang akan ditempatinya: petugas kebersihan, kepala negara, pengidap penyakit terminal, atau warga miskin.</a:t>
            </a:r>
            <a:endParaRPr lang="en-US" sz="1150" dirty="0"/>
          </a:p>
          <a:p>
            <a:pPr indent="0" marL="0">
              <a:lnSpc>
                <a:spcPts val="1633"/>
              </a:lnSpc>
              <a:buNone/>
            </a:pPr>
            <a:endParaRPr lang="en-US" sz="1150" dirty="0"/>
          </a:p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Ketidaktahuan inilah yang menghasilkan imparsialitas.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23864" y="2432304"/>
            <a:ext cx="5346040" cy="2340864"/>
          </a:xfrm>
          <a:prstGeom prst="roundRect">
            <a:avLst>
              <a:gd name="adj" fmla="val 6250"/>
            </a:avLst>
          </a:prstGeom>
          <a:solidFill>
            <a:srgbClr val="0E162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670048"/>
            <a:ext cx="4870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 Kriteria Masyarakat Adil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461608" y="3127248"/>
            <a:ext cx="4870552" cy="713232"/>
          </a:xfrm>
          <a:prstGeom prst="roundRect">
            <a:avLst>
              <a:gd name="adj" fmla="val 20513"/>
            </a:avLst>
          </a:prstGeom>
          <a:solidFill>
            <a:srgbClr val="1B2233"/>
          </a:solidFill>
          <a:ln/>
        </p:spPr>
      </p:sp>
      <p:sp>
        <p:nvSpPr>
          <p:cNvPr id="18" name="Shape 16"/>
          <p:cNvSpPr/>
          <p:nvPr/>
        </p:nvSpPr>
        <p:spPr>
          <a:xfrm>
            <a:off x="6461608" y="3200400"/>
            <a:ext cx="45720" cy="566928"/>
          </a:xfrm>
          <a:prstGeom prst="rect">
            <a:avLst/>
          </a:prstGeom>
          <a:solidFill>
            <a:srgbClr val="C6F0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81064" y="3200400"/>
            <a:ext cx="443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Kebebasan Dasar yang Setara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681064" y="3438144"/>
            <a:ext cx="443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9C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orang berhak setara atas sistem kebebasan dasar terluas yang kompatibel bagi semua.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61608" y="3950208"/>
            <a:ext cx="4870552" cy="713232"/>
          </a:xfrm>
          <a:prstGeom prst="roundRect">
            <a:avLst>
              <a:gd name="adj" fmla="val 20513"/>
            </a:avLst>
          </a:prstGeom>
          <a:solidFill>
            <a:srgbClr val="1B2233"/>
          </a:solidFill>
          <a:ln/>
        </p:spPr>
      </p:sp>
      <p:sp>
        <p:nvSpPr>
          <p:cNvPr id="22" name="Shape 20"/>
          <p:cNvSpPr/>
          <p:nvPr/>
        </p:nvSpPr>
        <p:spPr>
          <a:xfrm>
            <a:off x="6461608" y="4023360"/>
            <a:ext cx="45720" cy="566928"/>
          </a:xfrm>
          <a:prstGeom prst="rect">
            <a:avLst/>
          </a:prstGeom>
          <a:solidFill>
            <a:srgbClr val="F5B72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81064" y="4023360"/>
            <a:ext cx="443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 Principle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681064" y="4261104"/>
            <a:ext cx="443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9C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Ketimpangan sah hanya bila memberi manfaat terbesar bagi pihak paling tidak beruntung.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21792" y="4956048"/>
            <a:ext cx="10948111" cy="969264"/>
          </a:xfrm>
          <a:prstGeom prst="roundRect">
            <a:avLst>
              <a:gd name="adj" fmla="val 15094"/>
            </a:avLst>
          </a:prstGeom>
          <a:solidFill>
            <a:srgbClr val="C6F04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41832" y="5217795"/>
            <a:ext cx="1030803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Kriteria pertama bersifat leksikal: kebebasan dasar harus terwujud merata sebelum ketimpangan dibenarkan. Kriteria inilah yang paling menentukan pada kasus oil sands.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457200"/>
            <a:ext cx="1324966" cy="283464"/>
          </a:xfrm>
          <a:prstGeom prst="roundRect">
            <a:avLst>
              <a:gd name="adj" fmla="val 50000"/>
            </a:avLst>
          </a:prstGeom>
          <a:solidFill>
            <a:srgbClr val="0E1626"/>
          </a:solidFill>
          <a:ln w="12700">
            <a:solidFill>
              <a:srgbClr val="0E162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457200"/>
            <a:ext cx="13249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ENAM KRITIK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2065630" y="457200"/>
            <a:ext cx="1324966" cy="283464"/>
          </a:xfrm>
          <a:prstGeom prst="roundRect">
            <a:avLst>
              <a:gd name="adj" fmla="val 50000"/>
            </a:avLst>
          </a:prstGeom>
          <a:solidFill>
            <a:srgbClr val="F2F0EB"/>
          </a:solidFill>
          <a:ln w="12700">
            <a:solidFill>
              <a:srgbClr val="DDD8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65630" y="457200"/>
            <a:ext cx="13249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HALAMAN 108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877824"/>
            <a:ext cx="10948111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Kritik atas Teori Barat Modern</a:t>
            </a:r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621792" y="1792224"/>
            <a:ext cx="3515258" cy="1956816"/>
          </a:xfrm>
          <a:prstGeom prst="roundRect">
            <a:avLst>
              <a:gd name="adj" fmla="val 7477"/>
            </a:avLst>
          </a:prstGeom>
          <a:solidFill>
            <a:srgbClr val="FF5A2D"/>
          </a:solidFill>
          <a:ln/>
        </p:spPr>
      </p:sp>
      <p:sp>
        <p:nvSpPr>
          <p:cNvPr id="10" name="Shape 8"/>
          <p:cNvSpPr/>
          <p:nvPr/>
        </p:nvSpPr>
        <p:spPr>
          <a:xfrm>
            <a:off x="859536" y="1993392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FF74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59536" y="1993392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59536" y="2432304"/>
            <a:ext cx="30397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Abstract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59536" y="2706624"/>
            <a:ext cx="30397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FFAD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Stark (1994), Brenkert (2010)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59536" y="2980944"/>
            <a:ext cx="30397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Terlalu teoretis untuk keprihatinan sehari-hari seorang manajer.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38218" y="1792224"/>
            <a:ext cx="3515258" cy="1956816"/>
          </a:xfrm>
          <a:prstGeom prst="roundRect">
            <a:avLst>
              <a:gd name="adj" fmla="val 7477"/>
            </a:avLst>
          </a:prstGeom>
          <a:solidFill>
            <a:srgbClr val="B8A6F5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5962" y="1993392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9D8FD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5962" y="1993392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575962" y="2432304"/>
            <a:ext cx="30397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Narrow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575962" y="2706624"/>
            <a:ext cx="30397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35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Crane et al. (2019)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575962" y="2980944"/>
            <a:ext cx="30397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teori memaksa pemilihan satu aspek moralitas, padahal seluruhnya relevan.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054645" y="1792224"/>
            <a:ext cx="3515258" cy="1956816"/>
          </a:xfrm>
          <a:prstGeom prst="roundRect">
            <a:avLst>
              <a:gd name="adj" fmla="val 7477"/>
            </a:avLst>
          </a:prstGeom>
          <a:solidFill>
            <a:srgbClr val="0FA98E"/>
          </a:solidFill>
          <a:ln/>
        </p:spPr>
      </p:sp>
      <p:sp>
        <p:nvSpPr>
          <p:cNvPr id="22" name="Shape 20"/>
          <p:cNvSpPr/>
          <p:nvPr/>
        </p:nvSpPr>
        <p:spPr>
          <a:xfrm>
            <a:off x="8292389" y="1993392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35B7A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92389" y="1993392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8292389" y="2432304"/>
            <a:ext cx="30397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Objective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292389" y="2706624"/>
            <a:ext cx="30397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87D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Parker (1998)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8292389" y="2980944"/>
            <a:ext cx="30397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Etikawan memvonis tindakan orang lain tanpa mengalami situasinya.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1792" y="3931920"/>
            <a:ext cx="3515258" cy="1956816"/>
          </a:xfrm>
          <a:prstGeom prst="roundRect">
            <a:avLst>
              <a:gd name="adj" fmla="val 7477"/>
            </a:avLst>
          </a:prstGeom>
          <a:solidFill>
            <a:srgbClr val="F5B722"/>
          </a:solidFill>
          <a:ln/>
        </p:spPr>
      </p:sp>
      <p:sp>
        <p:nvSpPr>
          <p:cNvPr id="28" name="Shape 26"/>
          <p:cNvSpPr/>
          <p:nvPr/>
        </p:nvSpPr>
        <p:spPr>
          <a:xfrm>
            <a:off x="859536" y="4133088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D09D23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59536" y="4133088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59536" y="4572000"/>
            <a:ext cx="30397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Impersonal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59536" y="4846320"/>
            <a:ext cx="30397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8267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(2006)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859536" y="5120640"/>
            <a:ext cx="30397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Prinsip abstrak mengabaikan ikatan personal yang membentuk perasaan moral.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38218" y="3931920"/>
            <a:ext cx="3515258" cy="1956816"/>
          </a:xfrm>
          <a:prstGeom prst="roundRect">
            <a:avLst>
              <a:gd name="adj" fmla="val 7477"/>
            </a:avLst>
          </a:prstGeom>
          <a:solidFill>
            <a:srgbClr val="C6F04A"/>
          </a:solidFill>
          <a:ln/>
        </p:spPr>
      </p:sp>
      <p:sp>
        <p:nvSpPr>
          <p:cNvPr id="34" name="Shape 32"/>
          <p:cNvSpPr/>
          <p:nvPr/>
        </p:nvSpPr>
        <p:spPr>
          <a:xfrm>
            <a:off x="4575962" y="4133088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A9CD4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575962" y="4133088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4575962" y="4572000"/>
            <a:ext cx="30397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Codified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4575962" y="4846320"/>
            <a:ext cx="30397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A8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Bauman (1993), Rorty (2006)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4575962" y="5120640"/>
            <a:ext cx="30397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Aturan terkodifikasi menekan otonomi dan merendahkan emosi moral.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8054645" y="3931920"/>
            <a:ext cx="3515258" cy="1956816"/>
          </a:xfrm>
          <a:prstGeom prst="roundRect">
            <a:avLst>
              <a:gd name="adj" fmla="val 7477"/>
            </a:avLst>
          </a:prstGeom>
          <a:solidFill>
            <a:srgbClr val="0E1626"/>
          </a:solidFill>
          <a:ln/>
        </p:spPr>
      </p:sp>
      <p:sp>
        <p:nvSpPr>
          <p:cNvPr id="40" name="Shape 38"/>
          <p:cNvSpPr/>
          <p:nvPr/>
        </p:nvSpPr>
        <p:spPr>
          <a:xfrm>
            <a:off x="8292389" y="4133088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353B49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292389" y="4133088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8292389" y="4572000"/>
            <a:ext cx="30397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Imperialist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8292389" y="4846320"/>
            <a:ext cx="30397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87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Naude (2017)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8292389" y="5120640"/>
            <a:ext cx="30397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terdapat dasar untuk mengasumsikan universalitas teori Barat.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457200"/>
            <a:ext cx="1777594" cy="283464"/>
          </a:xfrm>
          <a:prstGeom prst="roundRect">
            <a:avLst>
              <a:gd name="adj" fmla="val 50000"/>
            </a:avLst>
          </a:prstGeom>
          <a:solidFill>
            <a:srgbClr val="C6F04A"/>
          </a:solidFill>
          <a:ln w="12700">
            <a:solidFill>
              <a:srgbClr val="C6F0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457200"/>
            <a:ext cx="177759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 ALTERNATIF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2518258" y="457200"/>
            <a:ext cx="1687068" cy="283464"/>
          </a:xfrm>
          <a:prstGeom prst="roundRect">
            <a:avLst>
              <a:gd name="adj" fmla="val 50000"/>
            </a:avLst>
          </a:prstGeom>
          <a:solidFill>
            <a:srgbClr val="F2F0EB"/>
          </a:solidFill>
          <a:ln w="12700">
            <a:solidFill>
              <a:srgbClr val="DDD8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18258" y="457200"/>
            <a:ext cx="16870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HALAMAN 110–118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877824"/>
            <a:ext cx="10948111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Perspektif Alternatif</a:t>
            </a:r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481328"/>
            <a:ext cx="109481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Menekankan fleksibilitas serta konteks dan relasi pengambil keputusan.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" y="1975104"/>
            <a:ext cx="2599868" cy="2377440"/>
          </a:xfrm>
          <a:prstGeom prst="roundRect">
            <a:avLst>
              <a:gd name="adj" fmla="val 6154"/>
            </a:avLst>
          </a:prstGeom>
          <a:solidFill>
            <a:srgbClr val="0FA98E"/>
          </a:solidFill>
          <a:ln/>
        </p:spPr>
      </p:sp>
      <p:sp>
        <p:nvSpPr>
          <p:cNvPr id="11" name="Shape 9"/>
          <p:cNvSpPr/>
          <p:nvPr/>
        </p:nvSpPr>
        <p:spPr>
          <a:xfrm>
            <a:off x="859536" y="2176272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35B7A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59536" y="2176272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59536" y="2560320"/>
            <a:ext cx="21243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8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Virtue Ethics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59536" y="2926080"/>
            <a:ext cx="21243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Fokus penilaian bergeser dari tindakan ke pelakunya. Tindakan baik bersumber dari karakter yang baik.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923212" y="2139696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93D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KARAKTER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404540" y="1975104"/>
            <a:ext cx="2599868" cy="2377440"/>
          </a:xfrm>
          <a:prstGeom prst="roundRect">
            <a:avLst>
              <a:gd name="adj" fmla="val 6154"/>
            </a:avLst>
          </a:prstGeom>
          <a:solidFill>
            <a:srgbClr val="B8A6F5"/>
          </a:solidFill>
          <a:ln/>
        </p:spPr>
      </p:sp>
      <p:sp>
        <p:nvSpPr>
          <p:cNvPr id="17" name="Shape 15"/>
          <p:cNvSpPr/>
          <p:nvPr/>
        </p:nvSpPr>
        <p:spPr>
          <a:xfrm>
            <a:off x="3642284" y="2176272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9D8FD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42284" y="2176272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3642284" y="2560320"/>
            <a:ext cx="21243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8"/>
              </a:lnSpc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 of Care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642284" y="2926080"/>
            <a:ext cx="21243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Masalah moral dipahami sebagai konflik tanggung jawab dalam relasi, bukan konflik hak.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4705960" y="2139696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5A5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RELASI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187288" y="1975104"/>
            <a:ext cx="2599868" cy="2377440"/>
          </a:xfrm>
          <a:prstGeom prst="roundRect">
            <a:avLst>
              <a:gd name="adj" fmla="val 6154"/>
            </a:avLst>
          </a:prstGeom>
          <a:solidFill>
            <a:srgbClr val="F5B722"/>
          </a:solidFill>
          <a:ln/>
        </p:spPr>
      </p:sp>
      <p:sp>
        <p:nvSpPr>
          <p:cNvPr id="23" name="Shape 21"/>
          <p:cNvSpPr/>
          <p:nvPr/>
        </p:nvSpPr>
        <p:spPr>
          <a:xfrm>
            <a:off x="6425032" y="2176272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D09D2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25032" y="2176272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425032" y="2560320"/>
            <a:ext cx="21243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8"/>
              </a:lnSpc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Discourse Ethics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425032" y="2926080"/>
            <a:ext cx="21243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 dihasilkan melalui deliberasi terbuka. Keputusan sah bila prosedurnya sah.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7488707" y="2139696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765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PROSES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8970035" y="1975104"/>
            <a:ext cx="2599868" cy="2377440"/>
          </a:xfrm>
          <a:prstGeom prst="roundRect">
            <a:avLst>
              <a:gd name="adj" fmla="val 6154"/>
            </a:avLst>
          </a:prstGeom>
          <a:solidFill>
            <a:srgbClr val="0E1626"/>
          </a:solidFill>
          <a:ln/>
        </p:spPr>
      </p:sp>
      <p:sp>
        <p:nvSpPr>
          <p:cNvPr id="29" name="Shape 27"/>
          <p:cNvSpPr/>
          <p:nvPr/>
        </p:nvSpPr>
        <p:spPr>
          <a:xfrm>
            <a:off x="9207779" y="2176272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353B49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207779" y="2176272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9207779" y="2560320"/>
            <a:ext cx="21243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8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Postmodern Ethics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9207779" y="2926080"/>
            <a:ext cx="21243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Moralitas berlandas dorongan spontan terhadap sesama, di luar wilayah rasionalitas.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10271455" y="2139696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9396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DORONGAN MORAL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21792" y="4535424"/>
            <a:ext cx="10948111" cy="914400"/>
          </a:xfrm>
          <a:prstGeom prst="roundRect">
            <a:avLst>
              <a:gd name="adj" fmla="val 16000"/>
            </a:avLst>
          </a:prstGeom>
          <a:solidFill>
            <a:srgbClr val="C6F04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41832" y="4769739"/>
            <a:ext cx="1030803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Keempatnya menambahkan variabel yang diabaikan teori Barat modern: identitas pengambil keputusan, relasi, dan prosedur.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457200"/>
            <a:ext cx="1324966" cy="283464"/>
          </a:xfrm>
          <a:prstGeom prst="roundRect">
            <a:avLst>
              <a:gd name="adj" fmla="val 50000"/>
            </a:avLst>
          </a:prstGeom>
          <a:solidFill>
            <a:srgbClr val="FF5A2D"/>
          </a:solidFill>
          <a:ln w="12700">
            <a:solidFill>
              <a:srgbClr val="FF5A2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457200"/>
            <a:ext cx="13249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 UTAMA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2065630" y="457200"/>
            <a:ext cx="1777594" cy="283464"/>
          </a:xfrm>
          <a:prstGeom prst="roundRect">
            <a:avLst>
              <a:gd name="adj" fmla="val 50000"/>
            </a:avLst>
          </a:prstGeom>
          <a:solidFill>
            <a:srgbClr val="F2F0EB"/>
          </a:solidFill>
          <a:ln w="12700">
            <a:solidFill>
              <a:srgbClr val="DDD8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65630" y="457200"/>
            <a:ext cx="177759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3.1 &amp; 3.2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877824"/>
            <a:ext cx="10948111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Lensa ke Prisma</a:t>
            </a:r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481328"/>
            <a:ext cx="109481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Crane et al. (2019) tidak menetapkan satu teori sebagai yang paling sahih.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" y="1975104"/>
            <a:ext cx="5346040" cy="2798064"/>
          </a:xfrm>
          <a:prstGeom prst="roundRect">
            <a:avLst>
              <a:gd name="adj" fmla="val 5229"/>
            </a:avLst>
          </a:prstGeom>
          <a:solidFill>
            <a:srgbClr val="FFFFFF"/>
          </a:solidFill>
          <a:ln w="12700">
            <a:solidFill>
              <a:srgbClr val="DDD8CE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914400" y="2212848"/>
            <a:ext cx="476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3.1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487168"/>
            <a:ext cx="4760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Lensa Satu Teori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926080"/>
            <a:ext cx="47242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Dilema direduksi menjadi satu pertimbangan normatif. Kesimpulannya tegas, namun pertimbangan lain tidak terlihat.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14400" y="3931920"/>
            <a:ext cx="1371600" cy="146304"/>
          </a:xfrm>
          <a:prstGeom prst="rect">
            <a:avLst/>
          </a:prstGeom>
          <a:solidFill>
            <a:srgbClr val="0FA98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4206240"/>
            <a:ext cx="472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reduksi menjadi satu kesimpulan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23864" y="1975104"/>
            <a:ext cx="5346040" cy="2798064"/>
          </a:xfrm>
          <a:prstGeom prst="roundRect">
            <a:avLst>
              <a:gd name="adj" fmla="val 5229"/>
            </a:avLst>
          </a:prstGeom>
          <a:solidFill>
            <a:srgbClr val="0E162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16472" y="2212848"/>
            <a:ext cx="476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6F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3.2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516472" y="2487168"/>
            <a:ext cx="4760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Banyak Teori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516472" y="2926080"/>
            <a:ext cx="47242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Dilema yang sama diuraikan menjadi spektrum pertimbangan. Setiap teori menyoroti dimensi yang luput dari teori lain.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16472" y="3931920"/>
            <a:ext cx="420624" cy="146304"/>
          </a:xfrm>
          <a:prstGeom prst="rect">
            <a:avLst/>
          </a:prstGeom>
          <a:solidFill>
            <a:srgbClr val="AB463C"/>
          </a:solidFill>
          <a:ln/>
        </p:spPr>
      </p:sp>
      <p:sp>
        <p:nvSpPr>
          <p:cNvPr id="21" name="Shape 19"/>
          <p:cNvSpPr/>
          <p:nvPr/>
        </p:nvSpPr>
        <p:spPr>
          <a:xfrm>
            <a:off x="7065112" y="3931920"/>
            <a:ext cx="420624" cy="146304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22" name="Shape 20"/>
          <p:cNvSpPr/>
          <p:nvPr/>
        </p:nvSpPr>
        <p:spPr>
          <a:xfrm>
            <a:off x="7613752" y="3931920"/>
            <a:ext cx="420624" cy="146304"/>
          </a:xfrm>
          <a:prstGeom prst="rect">
            <a:avLst/>
          </a:prstGeom>
          <a:solidFill>
            <a:srgbClr val="F5B722"/>
          </a:solidFill>
          <a:ln/>
        </p:spPr>
      </p:sp>
      <p:sp>
        <p:nvSpPr>
          <p:cNvPr id="23" name="Shape 21"/>
          <p:cNvSpPr/>
          <p:nvPr/>
        </p:nvSpPr>
        <p:spPr>
          <a:xfrm>
            <a:off x="8162392" y="3931920"/>
            <a:ext cx="420624" cy="146304"/>
          </a:xfrm>
          <a:prstGeom prst="rect">
            <a:avLst/>
          </a:prstGeom>
          <a:solidFill>
            <a:srgbClr val="C6F04A"/>
          </a:solidFill>
          <a:ln/>
        </p:spPr>
      </p:sp>
      <p:sp>
        <p:nvSpPr>
          <p:cNvPr id="24" name="Shape 22"/>
          <p:cNvSpPr/>
          <p:nvPr/>
        </p:nvSpPr>
        <p:spPr>
          <a:xfrm>
            <a:off x="8711032" y="3931920"/>
            <a:ext cx="420624" cy="146304"/>
          </a:xfrm>
          <a:prstGeom prst="rect">
            <a:avLst/>
          </a:prstGeom>
          <a:solidFill>
            <a:srgbClr val="0FA98E"/>
          </a:solidFill>
          <a:ln/>
        </p:spPr>
      </p:sp>
      <p:sp>
        <p:nvSpPr>
          <p:cNvPr id="25" name="Shape 23"/>
          <p:cNvSpPr/>
          <p:nvPr/>
        </p:nvSpPr>
        <p:spPr>
          <a:xfrm>
            <a:off x="9259672" y="3931920"/>
            <a:ext cx="420624" cy="146304"/>
          </a:xfrm>
          <a:prstGeom prst="rect">
            <a:avLst/>
          </a:prstGeom>
          <a:solidFill>
            <a:srgbClr val="4EA8DE"/>
          </a:solidFill>
          <a:ln/>
        </p:spPr>
      </p:sp>
      <p:sp>
        <p:nvSpPr>
          <p:cNvPr id="26" name="Shape 24"/>
          <p:cNvSpPr/>
          <p:nvPr/>
        </p:nvSpPr>
        <p:spPr>
          <a:xfrm>
            <a:off x="9808312" y="3931920"/>
            <a:ext cx="420624" cy="146304"/>
          </a:xfrm>
          <a:prstGeom prst="rect">
            <a:avLst/>
          </a:prstGeom>
          <a:solidFill>
            <a:srgbClr val="6C7BE0"/>
          </a:solidFill>
          <a:ln/>
        </p:spPr>
      </p:sp>
      <p:sp>
        <p:nvSpPr>
          <p:cNvPr id="27" name="Shape 25"/>
          <p:cNvSpPr/>
          <p:nvPr/>
        </p:nvSpPr>
        <p:spPr>
          <a:xfrm>
            <a:off x="10356952" y="3931920"/>
            <a:ext cx="420624" cy="146304"/>
          </a:xfrm>
          <a:prstGeom prst="rect">
            <a:avLst/>
          </a:prstGeom>
          <a:solidFill>
            <a:srgbClr val="B8A6F5"/>
          </a:solidFill>
          <a:ln/>
        </p:spPr>
      </p:sp>
      <p:sp>
        <p:nvSpPr>
          <p:cNvPr id="28" name="Shape 26"/>
          <p:cNvSpPr/>
          <p:nvPr/>
        </p:nvSpPr>
        <p:spPr>
          <a:xfrm>
            <a:off x="10905592" y="3931920"/>
            <a:ext cx="420624" cy="146304"/>
          </a:xfrm>
          <a:prstGeom prst="rect">
            <a:avLst/>
          </a:prstGeom>
          <a:solidFill>
            <a:srgbClr val="E86A9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16472" y="4206240"/>
            <a:ext cx="472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B9C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spektrum sembilan pertimbangan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21792" y="4956048"/>
            <a:ext cx="10948111" cy="1005840"/>
          </a:xfrm>
          <a:prstGeom prst="roundRect">
            <a:avLst>
              <a:gd name="adj" fmla="val 14545"/>
            </a:avLst>
          </a:prstGeom>
          <a:solidFill>
            <a:srgbClr val="C6F04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41832" y="5236083"/>
            <a:ext cx="10308031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 yang baik bukan yang menemukan teori paling sahih, melainkan yang menyadari seluruh spektrum pertimbangan dan dapat dipertanggungjawabkan kepada pihak terdampak.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327648"/>
            <a:ext cx="530352" cy="530352"/>
          </a:xfrm>
          <a:prstGeom prst="rect">
            <a:avLst/>
          </a:prstGeom>
          <a:solidFill>
            <a:srgbClr val="C6F04A"/>
          </a:solidFill>
          <a:ln/>
        </p:spPr>
      </p:sp>
      <p:sp>
        <p:nvSpPr>
          <p:cNvPr id="4" name="Shape 2"/>
          <p:cNvSpPr/>
          <p:nvPr/>
        </p:nvSpPr>
        <p:spPr>
          <a:xfrm>
            <a:off x="6008522" y="1345082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5" name="Shape 3"/>
          <p:cNvSpPr/>
          <p:nvPr/>
        </p:nvSpPr>
        <p:spPr>
          <a:xfrm>
            <a:off x="6131768" y="1289053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6" name="Shape 4"/>
          <p:cNvSpPr/>
          <p:nvPr/>
        </p:nvSpPr>
        <p:spPr>
          <a:xfrm>
            <a:off x="6255013" y="1234066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7" name="Shape 5"/>
          <p:cNvSpPr/>
          <p:nvPr/>
        </p:nvSpPr>
        <p:spPr>
          <a:xfrm>
            <a:off x="6378258" y="1181148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8" name="Shape 6"/>
          <p:cNvSpPr/>
          <p:nvPr/>
        </p:nvSpPr>
        <p:spPr>
          <a:xfrm>
            <a:off x="6501503" y="1131284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9" name="Shape 7"/>
          <p:cNvSpPr/>
          <p:nvPr/>
        </p:nvSpPr>
        <p:spPr>
          <a:xfrm>
            <a:off x="6624748" y="1085402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10" name="Shape 8"/>
          <p:cNvSpPr/>
          <p:nvPr/>
        </p:nvSpPr>
        <p:spPr>
          <a:xfrm>
            <a:off x="6747994" y="1044358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11" name="Shape 9"/>
          <p:cNvSpPr/>
          <p:nvPr/>
        </p:nvSpPr>
        <p:spPr>
          <a:xfrm>
            <a:off x="6871239" y="1008916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12" name="Shape 10"/>
          <p:cNvSpPr/>
          <p:nvPr/>
        </p:nvSpPr>
        <p:spPr>
          <a:xfrm>
            <a:off x="6994484" y="979735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13" name="Shape 11"/>
          <p:cNvSpPr/>
          <p:nvPr/>
        </p:nvSpPr>
        <p:spPr>
          <a:xfrm>
            <a:off x="7117729" y="957361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14" name="Shape 12"/>
          <p:cNvSpPr/>
          <p:nvPr/>
        </p:nvSpPr>
        <p:spPr>
          <a:xfrm>
            <a:off x="7240975" y="942209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15" name="Shape 13"/>
          <p:cNvSpPr/>
          <p:nvPr/>
        </p:nvSpPr>
        <p:spPr>
          <a:xfrm>
            <a:off x="7364220" y="934562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16" name="Shape 14"/>
          <p:cNvSpPr/>
          <p:nvPr/>
        </p:nvSpPr>
        <p:spPr>
          <a:xfrm>
            <a:off x="7487465" y="934562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17" name="Shape 15"/>
          <p:cNvSpPr/>
          <p:nvPr/>
        </p:nvSpPr>
        <p:spPr>
          <a:xfrm>
            <a:off x="7610710" y="942209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18" name="Shape 16"/>
          <p:cNvSpPr/>
          <p:nvPr/>
        </p:nvSpPr>
        <p:spPr>
          <a:xfrm>
            <a:off x="7733955" y="957361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19" name="Shape 17"/>
          <p:cNvSpPr/>
          <p:nvPr/>
        </p:nvSpPr>
        <p:spPr>
          <a:xfrm>
            <a:off x="7857201" y="979735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20" name="Shape 18"/>
          <p:cNvSpPr/>
          <p:nvPr/>
        </p:nvSpPr>
        <p:spPr>
          <a:xfrm>
            <a:off x="7980446" y="1008916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21" name="Shape 19"/>
          <p:cNvSpPr/>
          <p:nvPr/>
        </p:nvSpPr>
        <p:spPr>
          <a:xfrm>
            <a:off x="8103691" y="1044358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22" name="Shape 20"/>
          <p:cNvSpPr/>
          <p:nvPr/>
        </p:nvSpPr>
        <p:spPr>
          <a:xfrm>
            <a:off x="8226936" y="1085402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23" name="Shape 21"/>
          <p:cNvSpPr/>
          <p:nvPr/>
        </p:nvSpPr>
        <p:spPr>
          <a:xfrm>
            <a:off x="8350182" y="1131284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24" name="Shape 22"/>
          <p:cNvSpPr/>
          <p:nvPr/>
        </p:nvSpPr>
        <p:spPr>
          <a:xfrm>
            <a:off x="8473427" y="1181148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25" name="Shape 23"/>
          <p:cNvSpPr/>
          <p:nvPr/>
        </p:nvSpPr>
        <p:spPr>
          <a:xfrm>
            <a:off x="8596672" y="1234066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26" name="Shape 24"/>
          <p:cNvSpPr/>
          <p:nvPr/>
        </p:nvSpPr>
        <p:spPr>
          <a:xfrm>
            <a:off x="8719917" y="1289053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27" name="Shape 25"/>
          <p:cNvSpPr/>
          <p:nvPr/>
        </p:nvSpPr>
        <p:spPr>
          <a:xfrm>
            <a:off x="8843162" y="1345082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28" name="Shape 26"/>
          <p:cNvSpPr/>
          <p:nvPr/>
        </p:nvSpPr>
        <p:spPr>
          <a:xfrm>
            <a:off x="8966408" y="1401112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29" name="Shape 27"/>
          <p:cNvSpPr/>
          <p:nvPr/>
        </p:nvSpPr>
        <p:spPr>
          <a:xfrm>
            <a:off x="9089653" y="1456098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30" name="Shape 28"/>
          <p:cNvSpPr/>
          <p:nvPr/>
        </p:nvSpPr>
        <p:spPr>
          <a:xfrm>
            <a:off x="9212898" y="1509016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31" name="Shape 29"/>
          <p:cNvSpPr/>
          <p:nvPr/>
        </p:nvSpPr>
        <p:spPr>
          <a:xfrm>
            <a:off x="9336143" y="1558881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32" name="Shape 30"/>
          <p:cNvSpPr/>
          <p:nvPr/>
        </p:nvSpPr>
        <p:spPr>
          <a:xfrm>
            <a:off x="9459388" y="1604762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33" name="Shape 31"/>
          <p:cNvSpPr/>
          <p:nvPr/>
        </p:nvSpPr>
        <p:spPr>
          <a:xfrm>
            <a:off x="9582634" y="1645807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34" name="Shape 32"/>
          <p:cNvSpPr/>
          <p:nvPr/>
        </p:nvSpPr>
        <p:spPr>
          <a:xfrm>
            <a:off x="9705879" y="1681249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35" name="Shape 33"/>
          <p:cNvSpPr/>
          <p:nvPr/>
        </p:nvSpPr>
        <p:spPr>
          <a:xfrm>
            <a:off x="9829124" y="1710429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36" name="Shape 34"/>
          <p:cNvSpPr/>
          <p:nvPr/>
        </p:nvSpPr>
        <p:spPr>
          <a:xfrm>
            <a:off x="9952369" y="1732804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37" name="Shape 35"/>
          <p:cNvSpPr/>
          <p:nvPr/>
        </p:nvSpPr>
        <p:spPr>
          <a:xfrm>
            <a:off x="10075615" y="1747956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38" name="Shape 36"/>
          <p:cNvSpPr/>
          <p:nvPr/>
        </p:nvSpPr>
        <p:spPr>
          <a:xfrm>
            <a:off x="10198860" y="1755603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39" name="Shape 37"/>
          <p:cNvSpPr/>
          <p:nvPr/>
        </p:nvSpPr>
        <p:spPr>
          <a:xfrm>
            <a:off x="10322105" y="1755603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40" name="Shape 38"/>
          <p:cNvSpPr/>
          <p:nvPr/>
        </p:nvSpPr>
        <p:spPr>
          <a:xfrm>
            <a:off x="10445350" y="1747956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41" name="Shape 39"/>
          <p:cNvSpPr/>
          <p:nvPr/>
        </p:nvSpPr>
        <p:spPr>
          <a:xfrm>
            <a:off x="10568595" y="1732804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42" name="Shape 40"/>
          <p:cNvSpPr/>
          <p:nvPr/>
        </p:nvSpPr>
        <p:spPr>
          <a:xfrm>
            <a:off x="10691841" y="1710429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43" name="Shape 41"/>
          <p:cNvSpPr/>
          <p:nvPr/>
        </p:nvSpPr>
        <p:spPr>
          <a:xfrm>
            <a:off x="10815086" y="1681249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44" name="Shape 42"/>
          <p:cNvSpPr/>
          <p:nvPr/>
        </p:nvSpPr>
        <p:spPr>
          <a:xfrm>
            <a:off x="10938331" y="1645807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45" name="Shape 43"/>
          <p:cNvSpPr/>
          <p:nvPr/>
        </p:nvSpPr>
        <p:spPr>
          <a:xfrm>
            <a:off x="11061576" y="1604762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46" name="Shape 44"/>
          <p:cNvSpPr/>
          <p:nvPr/>
        </p:nvSpPr>
        <p:spPr>
          <a:xfrm>
            <a:off x="11184822" y="1558881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47" name="Shape 45"/>
          <p:cNvSpPr/>
          <p:nvPr/>
        </p:nvSpPr>
        <p:spPr>
          <a:xfrm>
            <a:off x="11308067" y="1509016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48" name="Shape 46"/>
          <p:cNvSpPr/>
          <p:nvPr/>
        </p:nvSpPr>
        <p:spPr>
          <a:xfrm>
            <a:off x="11431312" y="1456098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49" name="Shape 47"/>
          <p:cNvSpPr/>
          <p:nvPr/>
        </p:nvSpPr>
        <p:spPr>
          <a:xfrm>
            <a:off x="11554557" y="1401112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50" name="Shape 48"/>
          <p:cNvSpPr/>
          <p:nvPr/>
        </p:nvSpPr>
        <p:spPr>
          <a:xfrm>
            <a:off x="11677802" y="1345082"/>
            <a:ext cx="53035" cy="53035"/>
          </a:xfrm>
          <a:prstGeom prst="ellipse">
            <a:avLst/>
          </a:prstGeom>
          <a:solidFill>
            <a:srgbClr val="2A3243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21792" y="2011680"/>
            <a:ext cx="1143914" cy="283464"/>
          </a:xfrm>
          <a:prstGeom prst="roundRect">
            <a:avLst>
              <a:gd name="adj" fmla="val 50000"/>
            </a:avLst>
          </a:prstGeom>
          <a:solidFill>
            <a:srgbClr val="FF5A2D"/>
          </a:solidFill>
          <a:ln w="12700">
            <a:solidFill>
              <a:srgbClr val="FF5A2D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21792" y="2011680"/>
            <a:ext cx="114391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10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1884578" y="2011680"/>
            <a:ext cx="2501798" cy="283464"/>
          </a:xfrm>
          <a:prstGeom prst="roundRect">
            <a:avLst>
              <a:gd name="adj" fmla="val 50000"/>
            </a:avLst>
          </a:prstGeom>
          <a:solidFill>
            <a:srgbClr val="1B2233"/>
          </a:solidFill>
          <a:ln w="12700">
            <a:solidFill>
              <a:srgbClr val="1B2233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884578" y="2011680"/>
            <a:ext cx="250179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B9C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 · HALAMAN 129–134</a:t>
            </a:r>
            <a:endParaRPr lang="en-US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621792" y="2487168"/>
            <a:ext cx="8595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Canada’s Oil Sands</a:t>
            </a:r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4600" dirty="0"/>
          </a:p>
        </p:txBody>
      </p:sp>
      <p:sp>
        <p:nvSpPr>
          <p:cNvPr id="57" name="Text 55"/>
          <p:cNvSpPr txBox="1"/>
          <p:nvPr/>
        </p:nvSpPr>
        <p:spPr>
          <a:xfrm>
            <a:off x="621792" y="374904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B9C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Destructive Project on Earth atau Ethical Oil? Perdebatan berlangsung dua dekade tanpa kesimpulan konklusif.</a:t>
            </a:r>
            <a:endParaRPr lang="en-US" sz="1500" dirty="0"/>
          </a:p>
        </p:txBody>
      </p:sp>
      <p:sp>
        <p:nvSpPr>
          <p:cNvPr id="58" name="Shape 56"/>
          <p:cNvSpPr/>
          <p:nvPr/>
        </p:nvSpPr>
        <p:spPr>
          <a:xfrm>
            <a:off x="621792" y="5120640"/>
            <a:ext cx="274320" cy="274320"/>
          </a:xfrm>
          <a:prstGeom prst="rect">
            <a:avLst/>
          </a:prstGeom>
          <a:solidFill>
            <a:srgbClr val="AB463C"/>
          </a:solidFill>
          <a:ln/>
        </p:spPr>
      </p:sp>
      <p:sp>
        <p:nvSpPr>
          <p:cNvPr id="59" name="Shape 57"/>
          <p:cNvSpPr/>
          <p:nvPr/>
        </p:nvSpPr>
        <p:spPr>
          <a:xfrm>
            <a:off x="1005840" y="5120640"/>
            <a:ext cx="274320" cy="274320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60" name="Shape 58"/>
          <p:cNvSpPr/>
          <p:nvPr/>
        </p:nvSpPr>
        <p:spPr>
          <a:xfrm>
            <a:off x="1389888" y="5120640"/>
            <a:ext cx="274320" cy="274320"/>
          </a:xfrm>
          <a:prstGeom prst="rect">
            <a:avLst/>
          </a:prstGeom>
          <a:solidFill>
            <a:srgbClr val="F5B722"/>
          </a:solidFill>
          <a:ln/>
        </p:spPr>
      </p:sp>
      <p:sp>
        <p:nvSpPr>
          <p:cNvPr id="61" name="Shape 59"/>
          <p:cNvSpPr/>
          <p:nvPr/>
        </p:nvSpPr>
        <p:spPr>
          <a:xfrm>
            <a:off x="1773936" y="5120640"/>
            <a:ext cx="274320" cy="274320"/>
          </a:xfrm>
          <a:prstGeom prst="rect">
            <a:avLst/>
          </a:prstGeom>
          <a:solidFill>
            <a:srgbClr val="C6F04A"/>
          </a:solidFill>
          <a:ln/>
        </p:spPr>
      </p:sp>
      <p:sp>
        <p:nvSpPr>
          <p:cNvPr id="62" name="Shape 60"/>
          <p:cNvSpPr/>
          <p:nvPr/>
        </p:nvSpPr>
        <p:spPr>
          <a:xfrm>
            <a:off x="2157984" y="5120640"/>
            <a:ext cx="274320" cy="274320"/>
          </a:xfrm>
          <a:prstGeom prst="rect">
            <a:avLst/>
          </a:prstGeom>
          <a:solidFill>
            <a:srgbClr val="0FA98E"/>
          </a:solidFill>
          <a:ln/>
        </p:spPr>
      </p:sp>
      <p:sp>
        <p:nvSpPr>
          <p:cNvPr id="63" name="Shape 61"/>
          <p:cNvSpPr/>
          <p:nvPr/>
        </p:nvSpPr>
        <p:spPr>
          <a:xfrm>
            <a:off x="2542032" y="5120640"/>
            <a:ext cx="274320" cy="274320"/>
          </a:xfrm>
          <a:prstGeom prst="rect">
            <a:avLst/>
          </a:prstGeom>
          <a:solidFill>
            <a:srgbClr val="4EA8DE"/>
          </a:solidFill>
          <a:ln/>
        </p:spPr>
      </p:sp>
      <p:sp>
        <p:nvSpPr>
          <p:cNvPr id="64" name="Shape 62"/>
          <p:cNvSpPr/>
          <p:nvPr/>
        </p:nvSpPr>
        <p:spPr>
          <a:xfrm>
            <a:off x="2926080" y="5120640"/>
            <a:ext cx="274320" cy="274320"/>
          </a:xfrm>
          <a:prstGeom prst="rect">
            <a:avLst/>
          </a:prstGeom>
          <a:solidFill>
            <a:srgbClr val="6C7BE0"/>
          </a:solidFill>
          <a:ln/>
        </p:spPr>
      </p:sp>
      <p:sp>
        <p:nvSpPr>
          <p:cNvPr id="65" name="Shape 63"/>
          <p:cNvSpPr/>
          <p:nvPr/>
        </p:nvSpPr>
        <p:spPr>
          <a:xfrm>
            <a:off x="3310128" y="5120640"/>
            <a:ext cx="274320" cy="274320"/>
          </a:xfrm>
          <a:prstGeom prst="rect">
            <a:avLst/>
          </a:prstGeom>
          <a:solidFill>
            <a:srgbClr val="B8A6F5"/>
          </a:solidFill>
          <a:ln/>
        </p:spPr>
      </p:sp>
      <p:sp>
        <p:nvSpPr>
          <p:cNvPr id="66" name="Shape 64"/>
          <p:cNvSpPr/>
          <p:nvPr/>
        </p:nvSpPr>
        <p:spPr>
          <a:xfrm>
            <a:off x="3694176" y="5120640"/>
            <a:ext cx="274320" cy="274320"/>
          </a:xfrm>
          <a:prstGeom prst="rect">
            <a:avLst/>
          </a:prstGeom>
          <a:solidFill>
            <a:srgbClr val="E86A9B"/>
          </a:solidFill>
          <a:ln/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457200"/>
            <a:ext cx="781812" cy="283464"/>
          </a:xfrm>
          <a:prstGeom prst="roundRect">
            <a:avLst>
              <a:gd name="adj" fmla="val 50000"/>
            </a:avLst>
          </a:prstGeom>
          <a:solidFill>
            <a:srgbClr val="FF5A2D"/>
          </a:solidFill>
          <a:ln w="12700">
            <a:solidFill>
              <a:srgbClr val="FF5A2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457200"/>
            <a:ext cx="7818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KASUS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522476" y="457200"/>
            <a:ext cx="1687068" cy="283464"/>
          </a:xfrm>
          <a:prstGeom prst="roundRect">
            <a:avLst>
              <a:gd name="adj" fmla="val 50000"/>
            </a:avLst>
          </a:prstGeom>
          <a:solidFill>
            <a:srgbClr val="F2F0EB"/>
          </a:solidFill>
          <a:ln w="12700">
            <a:solidFill>
              <a:srgbClr val="DDD8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22476" y="457200"/>
            <a:ext cx="16870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HALAMAN 130–131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877824"/>
            <a:ext cx="10948111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Manfaat Ekonomi dan Biaya Ekologis</a:t>
            </a:r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621792" y="1737360"/>
            <a:ext cx="2599868" cy="1828800"/>
          </a:xfrm>
          <a:prstGeom prst="roundRect">
            <a:avLst>
              <a:gd name="adj" fmla="val 8000"/>
            </a:avLst>
          </a:prstGeom>
          <a:solidFill>
            <a:srgbClr val="FF5A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41248" y="1956816"/>
            <a:ext cx="2160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2,77</a:t>
            </a:r>
            <a:pPr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juta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2596896"/>
            <a:ext cx="21609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Barel per hari pada 2017, naik dari 0,5 juta barel pada 1997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04540" y="1737360"/>
            <a:ext cx="2599868" cy="1828800"/>
          </a:xfrm>
          <a:prstGeom prst="roundRect">
            <a:avLst>
              <a:gd name="adj" fmla="val 8000"/>
            </a:avLst>
          </a:prstGeom>
          <a:solidFill>
            <a:srgbClr val="B8A6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23996" y="1956816"/>
            <a:ext cx="2160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1,6</a:t>
            </a:r>
            <a:pPr indent="0" marL="0">
              <a:buNone/>
            </a:pPr>
            <a:r>
              <a:rPr lang="en-US" sz="126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3623996" y="2596896"/>
            <a:ext cx="21609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Kontribusi terhadap perekonomian Kanada, 2017 sampai 2027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87288" y="1737360"/>
            <a:ext cx="2599868" cy="1828800"/>
          </a:xfrm>
          <a:prstGeom prst="roundRect">
            <a:avLst>
              <a:gd name="adj" fmla="val 8000"/>
            </a:avLst>
          </a:prstGeom>
          <a:solidFill>
            <a:srgbClr val="0E162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6744" y="1956816"/>
            <a:ext cx="2160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6F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pPr indent="0" marL="0">
              <a:buNone/>
            </a:pPr>
            <a:r>
              <a:rPr lang="en-US" sz="1260" b="1" dirty="0">
                <a:solidFill>
                  <a:srgbClr val="C6F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%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406744" y="2596896"/>
            <a:ext cx="21609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Emisi gas rumah kaca lebih tinggi daripada minyak konvensional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970035" y="1737360"/>
            <a:ext cx="2599868" cy="1828800"/>
          </a:xfrm>
          <a:prstGeom prst="roundRect">
            <a:avLst>
              <a:gd name="adj" fmla="val 8000"/>
            </a:avLst>
          </a:prstGeom>
          <a:solidFill>
            <a:srgbClr val="C6F0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189491" y="1956816"/>
            <a:ext cx="2160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pPr indent="0" marL="0">
              <a:buNone/>
            </a:pPr>
            <a:r>
              <a:rPr lang="en-US" sz="126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%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9189491" y="2596896"/>
            <a:ext cx="21609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Jejak tambang aktif yang telah direklamasi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" y="3712464"/>
            <a:ext cx="5346040" cy="1975104"/>
          </a:xfrm>
          <a:prstGeom prst="roundRect">
            <a:avLst>
              <a:gd name="adj" fmla="val 7407"/>
            </a:avLst>
          </a:prstGeom>
          <a:solidFill>
            <a:srgbClr val="0FA98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59536" y="3931920"/>
            <a:ext cx="4870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2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Perhitungan Pendukung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59536" y="4297680"/>
            <a:ext cx="487055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206.000 lapangan kerja pada 2017, menuju 461.000 pada 2027</a:t>
            </a:r>
            <a:endParaRPr lang="en-US" sz="1150" dirty="0"/>
          </a:p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3.400 perusahaan pemasok di luar Alberta</a:t>
            </a:r>
            <a:endParaRPr lang="en-US" sz="1150" dirty="0"/>
          </a:p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3,3 miliar untuk 399 perusahaan masyarakat adat</a:t>
            </a:r>
            <a:endParaRPr lang="en-US" sz="1150" dirty="0"/>
          </a:p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139 miliar pajak federal dan provinsi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223864" y="3712464"/>
            <a:ext cx="5346040" cy="1975104"/>
          </a:xfrm>
          <a:prstGeom prst="roundRect">
            <a:avLst>
              <a:gd name="adj" fmla="val 7407"/>
            </a:avLst>
          </a:prstGeom>
          <a:solidFill>
            <a:srgbClr val="0E162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61608" y="3931920"/>
            <a:ext cx="4870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2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Perhitungan Penentang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461608" y="4297680"/>
            <a:ext cx="487055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Kolam limbah beracun 220 kilometer persegi berisi 1 triliun liter</a:t>
            </a:r>
            <a:endParaRPr lang="en-US" sz="1150" dirty="0"/>
          </a:p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Hutan boreal seluas Kota New York telah hancur</a:t>
            </a:r>
            <a:endParaRPr lang="en-US" sz="1150" dirty="0"/>
          </a:p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Tambahan 50 sampai 150 juta ton emisi per tahun pada 2030</a:t>
            </a:r>
            <a:endParaRPr lang="en-US" sz="1150" dirty="0"/>
          </a:p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persen emisi Kanada dari satu industri saja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21792" y="5797296"/>
            <a:ext cx="10948111" cy="530352"/>
          </a:xfrm>
          <a:prstGeom prst="roundRect">
            <a:avLst>
              <a:gd name="adj" fmla="val 27586"/>
            </a:avLst>
          </a:prstGeom>
          <a:solidFill>
            <a:srgbClr val="C6F04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41832" y="5959602"/>
            <a:ext cx="103080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Kedua sisi merujuk data resmi. Perbedaannya pada kriteria apa yang layak diperhitungkan.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457200"/>
            <a:ext cx="781812" cy="283464"/>
          </a:xfrm>
          <a:prstGeom prst="roundRect">
            <a:avLst>
              <a:gd name="adj" fmla="val 50000"/>
            </a:avLst>
          </a:prstGeom>
          <a:solidFill>
            <a:srgbClr val="FF5A2D"/>
          </a:solidFill>
          <a:ln w="12700">
            <a:solidFill>
              <a:srgbClr val="FF5A2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457200"/>
            <a:ext cx="7818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KASUS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522476" y="457200"/>
            <a:ext cx="1958645" cy="283464"/>
          </a:xfrm>
          <a:prstGeom prst="roundRect">
            <a:avLst>
              <a:gd name="adj" fmla="val 50000"/>
            </a:avLst>
          </a:prstGeom>
          <a:solidFill>
            <a:srgbClr val="F2F0EB"/>
          </a:solidFill>
          <a:ln w="12700">
            <a:solidFill>
              <a:srgbClr val="DDD8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22476" y="457200"/>
            <a:ext cx="1958645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KLAIM DAN BANTAHAN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877824"/>
            <a:ext cx="10948111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Klaim Ethical Oil</a:t>
            </a:r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621792" y="1737360"/>
            <a:ext cx="5346040" cy="3529584"/>
          </a:xfrm>
          <a:prstGeom prst="roundRect">
            <a:avLst>
              <a:gd name="adj" fmla="val 4145"/>
            </a:avLst>
          </a:prstGeom>
          <a:solidFill>
            <a:srgbClr val="FF5A2D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1956816"/>
            <a:ext cx="781812" cy="283464"/>
          </a:xfrm>
          <a:prstGeom prst="roundRect">
            <a:avLst>
              <a:gd name="adj" fmla="val 50000"/>
            </a:avLst>
          </a:prstGeom>
          <a:solidFill>
            <a:srgbClr val="0E1626"/>
          </a:solidFill>
          <a:ln w="12700">
            <a:solidFill>
              <a:srgbClr val="0E16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96112" y="1956816"/>
            <a:ext cx="7818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KLAIM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2377440"/>
            <a:ext cx="479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Oil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798064"/>
            <a:ext cx="474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E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Levant: konsumsi minyak Kanada lebih bertanggung jawab karena tata kelolanya demokratis dan bebas korupsi.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3529584"/>
            <a:ext cx="388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D9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Venezuela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04792" y="35295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FFD9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301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3895344"/>
            <a:ext cx="388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D9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 Saudi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04792" y="38953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FFD9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267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4261104"/>
            <a:ext cx="388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Kanada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04792" y="426110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170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96112" y="4626864"/>
            <a:ext cx="388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D9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Iran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504792" y="462686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FFD9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158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4974336"/>
            <a:ext cx="4797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C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Cadangan terbukti terbesar 2017, miliar barel · Tabel 3.9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23864" y="1737360"/>
            <a:ext cx="5346040" cy="3529584"/>
          </a:xfrm>
          <a:prstGeom prst="roundRect">
            <a:avLst>
              <a:gd name="adj" fmla="val 4145"/>
            </a:avLst>
          </a:prstGeom>
          <a:solidFill>
            <a:srgbClr val="0E1626"/>
          </a:solidFill>
          <a:ln/>
        </p:spPr>
      </p:sp>
      <p:sp>
        <p:nvSpPr>
          <p:cNvPr id="24" name="Shape 22"/>
          <p:cNvSpPr/>
          <p:nvPr/>
        </p:nvSpPr>
        <p:spPr>
          <a:xfrm>
            <a:off x="6498184" y="1956816"/>
            <a:ext cx="1053389" cy="283464"/>
          </a:xfrm>
          <a:prstGeom prst="roundRect">
            <a:avLst>
              <a:gd name="adj" fmla="val 50000"/>
            </a:avLst>
          </a:prstGeom>
          <a:solidFill>
            <a:srgbClr val="C6F04A"/>
          </a:solidFill>
          <a:ln w="12700">
            <a:solidFill>
              <a:srgbClr val="C6F04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98184" y="1956816"/>
            <a:ext cx="105338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BANTAHAN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498184" y="2432304"/>
            <a:ext cx="4797400" cy="822960"/>
          </a:xfrm>
          <a:prstGeom prst="roundRect">
            <a:avLst>
              <a:gd name="adj" fmla="val 17778"/>
            </a:avLst>
          </a:prstGeom>
          <a:solidFill>
            <a:srgbClr val="1B2233"/>
          </a:solidFill>
          <a:ln/>
        </p:spPr>
      </p:sp>
      <p:sp>
        <p:nvSpPr>
          <p:cNvPr id="27" name="Shape 25"/>
          <p:cNvSpPr/>
          <p:nvPr/>
        </p:nvSpPr>
        <p:spPr>
          <a:xfrm>
            <a:off x="6498184" y="2505456"/>
            <a:ext cx="45720" cy="676656"/>
          </a:xfrm>
          <a:prstGeom prst="rect">
            <a:avLst/>
          </a:prstGeom>
          <a:solidFill>
            <a:srgbClr val="C6F04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717640" y="2514600"/>
            <a:ext cx="4376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Bennett, Sierra Club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717640" y="2752344"/>
            <a:ext cx="4376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9C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Keburukan negara lain tidak relevan. Kanada memiliki kapasitas mengatur oil sands miliknya dan tidak melakukannya.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498184" y="3364992"/>
            <a:ext cx="4797400" cy="822960"/>
          </a:xfrm>
          <a:prstGeom prst="roundRect">
            <a:avLst>
              <a:gd name="adj" fmla="val 17778"/>
            </a:avLst>
          </a:prstGeom>
          <a:solidFill>
            <a:srgbClr val="1B2233"/>
          </a:solidFill>
          <a:ln/>
        </p:spPr>
      </p:sp>
      <p:sp>
        <p:nvSpPr>
          <p:cNvPr id="31" name="Shape 29"/>
          <p:cNvSpPr/>
          <p:nvPr/>
        </p:nvSpPr>
        <p:spPr>
          <a:xfrm>
            <a:off x="6498184" y="3438144"/>
            <a:ext cx="45720" cy="676656"/>
          </a:xfrm>
          <a:prstGeom prst="rect">
            <a:avLst/>
          </a:prstGeom>
          <a:solidFill>
            <a:srgbClr val="F5B72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717640" y="3447288"/>
            <a:ext cx="4376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Suzuki, environmentalis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717640" y="3685032"/>
            <a:ext cx="4376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9C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Seluruh bahan bakar fosil tidak etis pada kondisi saat ini. Kategori minyak yang etis tidak eksis.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498184" y="4297680"/>
            <a:ext cx="4797400" cy="822960"/>
          </a:xfrm>
          <a:prstGeom prst="roundRect">
            <a:avLst>
              <a:gd name="adj" fmla="val 17778"/>
            </a:avLst>
          </a:prstGeom>
          <a:solidFill>
            <a:srgbClr val="1B2233"/>
          </a:solidFill>
          <a:ln/>
        </p:spPr>
      </p:sp>
      <p:sp>
        <p:nvSpPr>
          <p:cNvPr id="35" name="Shape 33"/>
          <p:cNvSpPr/>
          <p:nvPr/>
        </p:nvSpPr>
        <p:spPr>
          <a:xfrm>
            <a:off x="6498184" y="4370832"/>
            <a:ext cx="45720" cy="676656"/>
          </a:xfrm>
          <a:prstGeom prst="rect">
            <a:avLst/>
          </a:prstGeom>
          <a:solidFill>
            <a:srgbClr val="B8A6F5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717640" y="4379976"/>
            <a:ext cx="4376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Greenpeace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6717640" y="4617720"/>
            <a:ext cx="4376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9C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Ethicaloil.org diindikasikan memperoleh pendanaan industri dan berfungsi sebagai organisasi kedok.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21792" y="5413248"/>
            <a:ext cx="10948111" cy="713232"/>
          </a:xfrm>
          <a:prstGeom prst="roundRect">
            <a:avLst>
              <a:gd name="adj" fmla="val 20513"/>
            </a:avLst>
          </a:prstGeom>
          <a:solidFill>
            <a:srgbClr val="F5B72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41832" y="5546979"/>
            <a:ext cx="1030803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Klaim ethical oil berpijak pada perbandingan dengan produsen terburuk. Konstruksi ini bersifat relatif, bukan normatif.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457200"/>
            <a:ext cx="1053389" cy="283464"/>
          </a:xfrm>
          <a:prstGeom prst="roundRect">
            <a:avLst>
              <a:gd name="adj" fmla="val 50000"/>
            </a:avLst>
          </a:prstGeom>
          <a:solidFill>
            <a:srgbClr val="FF5A2D"/>
          </a:solidFill>
          <a:ln w="12700">
            <a:solidFill>
              <a:srgbClr val="FF5A2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457200"/>
            <a:ext cx="105338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SINTESIS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794053" y="457200"/>
            <a:ext cx="1596542" cy="283464"/>
          </a:xfrm>
          <a:prstGeom prst="roundRect">
            <a:avLst>
              <a:gd name="adj" fmla="val 50000"/>
            </a:avLst>
          </a:prstGeom>
          <a:solidFill>
            <a:srgbClr val="F2F0EB"/>
          </a:solidFill>
          <a:ln w="12700">
            <a:solidFill>
              <a:srgbClr val="DDD8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94053" y="457200"/>
            <a:ext cx="159654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SEMBILAN LENSA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877824"/>
            <a:ext cx="10948111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Matriks Sembilan Teori</a:t>
            </a:r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621792" y="1719072"/>
            <a:ext cx="10948111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621792" y="1719072"/>
            <a:ext cx="128016" cy="420624"/>
          </a:xfrm>
          <a:prstGeom prst="rect">
            <a:avLst/>
          </a:prstGeom>
          <a:solidFill>
            <a:srgbClr val="AB463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32688" y="171907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Egoism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852928" y="1719072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Generasi mendatang absen dari pasar sehingga biayanya tidak terinternalisasi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528048" y="1719072"/>
            <a:ext cx="18589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AB4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Netral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1792" y="2212848"/>
            <a:ext cx="10948111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21792" y="2212848"/>
            <a:ext cx="128016" cy="420624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32688" y="22128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Utilitarianism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2852928" y="221284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cenderung mendukung, rule menolak karena target Paris menjadi mustahil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528048" y="2212848"/>
            <a:ext cx="18589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Terbelah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1792" y="2706624"/>
            <a:ext cx="10948111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621792" y="2706624"/>
            <a:ext cx="128016" cy="420624"/>
          </a:xfrm>
          <a:prstGeom prst="rect">
            <a:avLst/>
          </a:prstGeom>
          <a:solidFill>
            <a:srgbClr val="F5B72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2688" y="2706624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of Duty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2852928" y="2706624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 seluruh negara pemilik cadangan berbuat sama, prinsipnya tidak dapat diuniversalkan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528048" y="2706624"/>
            <a:ext cx="18589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947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Menolak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21792" y="3200400"/>
            <a:ext cx="10948111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621792" y="3200400"/>
            <a:ext cx="128016" cy="420624"/>
          </a:xfrm>
          <a:prstGeom prst="rect">
            <a:avLst/>
          </a:prstGeom>
          <a:solidFill>
            <a:srgbClr val="C6F04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32688" y="320040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of Rights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2852928" y="3200400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23 mendukung lapangan kerja, hak atas kesehatan dan tanah adat menentang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528048" y="3200400"/>
            <a:ext cx="18589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799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Bersyarat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21792" y="3694176"/>
            <a:ext cx="10948111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/>
        </p:spPr>
      </p:sp>
      <p:sp>
        <p:nvSpPr>
          <p:cNvPr id="30" name="Shape 28"/>
          <p:cNvSpPr/>
          <p:nvPr/>
        </p:nvSpPr>
        <p:spPr>
          <a:xfrm>
            <a:off x="621792" y="3694176"/>
            <a:ext cx="128016" cy="420624"/>
          </a:xfrm>
          <a:prstGeom prst="rect">
            <a:avLst/>
          </a:prstGeom>
          <a:solidFill>
            <a:srgbClr val="0FA98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32688" y="3694176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Justice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2852928" y="369417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Manfaat tersebar nasional, beban terkonsentrasi. Kriteria pertama Rawls tidak terpenuhi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528048" y="3694176"/>
            <a:ext cx="18589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FA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Menolak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21792" y="4187952"/>
            <a:ext cx="10948111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/>
        </p:spPr>
      </p:sp>
      <p:sp>
        <p:nvSpPr>
          <p:cNvPr id="35" name="Shape 33"/>
          <p:cNvSpPr/>
          <p:nvPr/>
        </p:nvSpPr>
        <p:spPr>
          <a:xfrm>
            <a:off x="621792" y="4187952"/>
            <a:ext cx="128016" cy="420624"/>
          </a:xfrm>
          <a:prstGeom prst="rect">
            <a:avLst/>
          </a:prstGeom>
          <a:solidFill>
            <a:srgbClr val="4EA8DE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32688" y="418795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Virtue Ethics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2852928" y="4187952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Pengukuran diri terhadap produsen terburuk merupakan standar terendah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528048" y="4187952"/>
            <a:ext cx="18589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36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Menolak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21792" y="4681728"/>
            <a:ext cx="10948111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621792" y="4681728"/>
            <a:ext cx="128016" cy="420624"/>
          </a:xfrm>
          <a:prstGeom prst="rect">
            <a:avLst/>
          </a:prstGeom>
          <a:solidFill>
            <a:srgbClr val="6C7BE0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32688" y="468172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 of Care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2852928" y="468172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Komunitas hilir dan generasi mendatang adalah relasi, bukan variabel biaya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9528048" y="4681728"/>
            <a:ext cx="18589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6C7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Transisi adil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1792" y="5175504"/>
            <a:ext cx="10948111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/>
        </p:spPr>
      </p:sp>
      <p:sp>
        <p:nvSpPr>
          <p:cNvPr id="45" name="Shape 43"/>
          <p:cNvSpPr/>
          <p:nvPr/>
        </p:nvSpPr>
        <p:spPr>
          <a:xfrm>
            <a:off x="621792" y="5175504"/>
            <a:ext cx="128016" cy="420624"/>
          </a:xfrm>
          <a:prstGeom prst="rect">
            <a:avLst/>
          </a:prstGeom>
          <a:solidFill>
            <a:srgbClr val="B8A6F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932688" y="5175504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Discourse Ethics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2852928" y="5175504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ethical oil lahir dari kampanye berdana industri, melanggar imparsialitas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9528048" y="5175504"/>
            <a:ext cx="18589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716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Menolak proses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621792" y="5669280"/>
            <a:ext cx="10948111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/>
        </p:spPr>
      </p:sp>
      <p:sp>
        <p:nvSpPr>
          <p:cNvPr id="50" name="Shape 48"/>
          <p:cNvSpPr/>
          <p:nvPr/>
        </p:nvSpPr>
        <p:spPr>
          <a:xfrm>
            <a:off x="621792" y="5669280"/>
            <a:ext cx="128016" cy="420624"/>
          </a:xfrm>
          <a:prstGeom prst="rect">
            <a:avLst/>
          </a:prstGeom>
          <a:solidFill>
            <a:srgbClr val="E86A9B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32688" y="566928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Postmodern Ethics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2852928" y="5669280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Perebutan istilah oil sands dan tar sands menunjukkan bahasa membentuk penilaian moral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9528048" y="5669280"/>
            <a:ext cx="18589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8C4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 absolut</a:t>
            </a:r>
            <a:endParaRPr lang="en-US" sz="1150" dirty="0"/>
          </a:p>
        </p:txBody>
      </p:sp>
      <p:sp>
        <p:nvSpPr>
          <p:cNvPr id="54" name="Text 52"/>
          <p:cNvSpPr txBox="1"/>
          <p:nvPr/>
        </p:nvSpPr>
        <p:spPr>
          <a:xfrm>
            <a:off x="621792" y="6199632"/>
            <a:ext cx="10948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satu pun putusan berbunyi mendukung tanpa syarat, namun kesembilannya juga tidak seragam.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457200"/>
            <a:ext cx="1143914" cy="283464"/>
          </a:xfrm>
          <a:prstGeom prst="roundRect">
            <a:avLst>
              <a:gd name="adj" fmla="val 50000"/>
            </a:avLst>
          </a:prstGeom>
          <a:solidFill>
            <a:srgbClr val="FF5A2D"/>
          </a:solidFill>
          <a:ln w="12700">
            <a:solidFill>
              <a:srgbClr val="FF5A2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457200"/>
            <a:ext cx="114391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PENERAPAN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884578" y="457200"/>
            <a:ext cx="1143914" cy="283464"/>
          </a:xfrm>
          <a:prstGeom prst="roundRect">
            <a:avLst>
              <a:gd name="adj" fmla="val 50000"/>
            </a:avLst>
          </a:prstGeom>
          <a:solidFill>
            <a:srgbClr val="F2F0EB"/>
          </a:solidFill>
          <a:ln w="12700">
            <a:solidFill>
              <a:srgbClr val="DDD8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884578" y="457200"/>
            <a:ext cx="114391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PILIH DUA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877824"/>
            <a:ext cx="10948111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Diskusi</a:t>
            </a:r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481328"/>
            <a:ext cx="109481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 pertanyaan pemandu, masing-masing menguji satu teori.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" y="1938528"/>
            <a:ext cx="10948111" cy="841248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1938528"/>
            <a:ext cx="566928" cy="841248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" y="1938528"/>
            <a:ext cx="566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389888" y="2020824"/>
            <a:ext cx="994227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Kant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1389888" y="2258568"/>
            <a:ext cx="994227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 yang tersisa dari target Paris bila prinsip Kanada diterapkan seluruh pemilik cadangan terbesar?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" y="2871216"/>
            <a:ext cx="10948111" cy="841248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792" y="2871216"/>
            <a:ext cx="566928" cy="841248"/>
          </a:xfrm>
          <a:prstGeom prst="rect">
            <a:avLst/>
          </a:prstGeom>
          <a:solidFill>
            <a:srgbClr val="B8A6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" y="2871216"/>
            <a:ext cx="566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89888" y="2953512"/>
            <a:ext cx="994227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Rawls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389888" y="3191256"/>
            <a:ext cx="994227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Prinsip apa yang dipilih tanpa mengetahui posisi sebagai pekerja tambang, warga adat hilir, atau generasi 2060?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1792" y="3803904"/>
            <a:ext cx="10948111" cy="841248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621792" y="3803904"/>
            <a:ext cx="566928" cy="841248"/>
          </a:xfrm>
          <a:prstGeom prst="rect">
            <a:avLst/>
          </a:prstGeom>
          <a:solidFill>
            <a:srgbClr val="0FA98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1792" y="3803904"/>
            <a:ext cx="566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1389888" y="3886200"/>
            <a:ext cx="994227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Bennett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389888" y="4123944"/>
            <a:ext cx="994227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Apakah argumen keburukan komparatif memiliki daya normatif?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1792" y="4736592"/>
            <a:ext cx="10948111" cy="841248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21792" y="4736592"/>
            <a:ext cx="566928" cy="841248"/>
          </a:xfrm>
          <a:prstGeom prst="rect">
            <a:avLst/>
          </a:prstGeom>
          <a:solidFill>
            <a:srgbClr val="C6F0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21792" y="4736592"/>
            <a:ext cx="566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1389888" y="4818888"/>
            <a:ext cx="994227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Bahasa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1389888" y="5056632"/>
            <a:ext cx="994227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Kepentingan siapa yang dilayani oleh pemilihan istilah oil sands atau tar sands?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21792" y="5614416"/>
            <a:ext cx="10948111" cy="603504"/>
          </a:xfrm>
          <a:prstGeom prst="roundRect">
            <a:avLst>
              <a:gd name="adj" fmla="val 24242"/>
            </a:avLst>
          </a:prstGeom>
          <a:solidFill>
            <a:srgbClr val="0E162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41832" y="5809012"/>
            <a:ext cx="103080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88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Simulasi discourse ethics: enam kelompok, dua menit per posisi, diakhiri perumusan norma bersama.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327648"/>
            <a:ext cx="530352" cy="530352"/>
          </a:xfrm>
          <a:prstGeom prst="rect">
            <a:avLst/>
          </a:prstGeom>
          <a:solidFill>
            <a:srgbClr val="B8A6F5"/>
          </a:solidFill>
          <a:ln/>
        </p:spPr>
      </p:sp>
      <p:sp>
        <p:nvSpPr>
          <p:cNvPr id="4" name="Shape 2"/>
          <p:cNvSpPr/>
          <p:nvPr/>
        </p:nvSpPr>
        <p:spPr>
          <a:xfrm>
            <a:off x="7014362" y="2168042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5" name="Shape 3"/>
          <p:cNvSpPr/>
          <p:nvPr/>
        </p:nvSpPr>
        <p:spPr>
          <a:xfrm>
            <a:off x="7117729" y="2110767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6" name="Shape 4"/>
          <p:cNvSpPr/>
          <p:nvPr/>
        </p:nvSpPr>
        <p:spPr>
          <a:xfrm>
            <a:off x="7221096" y="2054559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7" name="Shape 5"/>
          <p:cNvSpPr/>
          <p:nvPr/>
        </p:nvSpPr>
        <p:spPr>
          <a:xfrm>
            <a:off x="7324463" y="2000465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8" name="Shape 6"/>
          <p:cNvSpPr/>
          <p:nvPr/>
        </p:nvSpPr>
        <p:spPr>
          <a:xfrm>
            <a:off x="7427830" y="1949493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9" name="Shape 7"/>
          <p:cNvSpPr/>
          <p:nvPr/>
        </p:nvSpPr>
        <p:spPr>
          <a:xfrm>
            <a:off x="7531197" y="1902592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10" name="Shape 8"/>
          <p:cNvSpPr/>
          <p:nvPr/>
        </p:nvSpPr>
        <p:spPr>
          <a:xfrm>
            <a:off x="7634564" y="1860635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11" name="Shape 9"/>
          <p:cNvSpPr/>
          <p:nvPr/>
        </p:nvSpPr>
        <p:spPr>
          <a:xfrm>
            <a:off x="7737931" y="1824405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12" name="Shape 10"/>
          <p:cNvSpPr/>
          <p:nvPr/>
        </p:nvSpPr>
        <p:spPr>
          <a:xfrm>
            <a:off x="7841298" y="1794577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13" name="Shape 11"/>
          <p:cNvSpPr/>
          <p:nvPr/>
        </p:nvSpPr>
        <p:spPr>
          <a:xfrm>
            <a:off x="7944665" y="1771705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14" name="Shape 12"/>
          <p:cNvSpPr/>
          <p:nvPr/>
        </p:nvSpPr>
        <p:spPr>
          <a:xfrm>
            <a:off x="8048032" y="1756216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15" name="Shape 13"/>
          <p:cNvSpPr/>
          <p:nvPr/>
        </p:nvSpPr>
        <p:spPr>
          <a:xfrm>
            <a:off x="8151399" y="1748399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16" name="Shape 14"/>
          <p:cNvSpPr/>
          <p:nvPr/>
        </p:nvSpPr>
        <p:spPr>
          <a:xfrm>
            <a:off x="8254766" y="1748399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17" name="Shape 15"/>
          <p:cNvSpPr/>
          <p:nvPr/>
        </p:nvSpPr>
        <p:spPr>
          <a:xfrm>
            <a:off x="8358133" y="1756216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18" name="Shape 16"/>
          <p:cNvSpPr/>
          <p:nvPr/>
        </p:nvSpPr>
        <p:spPr>
          <a:xfrm>
            <a:off x="8461500" y="1771705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19" name="Shape 17"/>
          <p:cNvSpPr/>
          <p:nvPr/>
        </p:nvSpPr>
        <p:spPr>
          <a:xfrm>
            <a:off x="8564867" y="1794577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20" name="Shape 18"/>
          <p:cNvSpPr/>
          <p:nvPr/>
        </p:nvSpPr>
        <p:spPr>
          <a:xfrm>
            <a:off x="8668234" y="1824405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21" name="Shape 19"/>
          <p:cNvSpPr/>
          <p:nvPr/>
        </p:nvSpPr>
        <p:spPr>
          <a:xfrm>
            <a:off x="8771601" y="1860635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22" name="Shape 20"/>
          <p:cNvSpPr/>
          <p:nvPr/>
        </p:nvSpPr>
        <p:spPr>
          <a:xfrm>
            <a:off x="8874968" y="1902592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23" name="Shape 21"/>
          <p:cNvSpPr/>
          <p:nvPr/>
        </p:nvSpPr>
        <p:spPr>
          <a:xfrm>
            <a:off x="8978335" y="1949493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24" name="Shape 22"/>
          <p:cNvSpPr/>
          <p:nvPr/>
        </p:nvSpPr>
        <p:spPr>
          <a:xfrm>
            <a:off x="9081702" y="2000465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25" name="Shape 23"/>
          <p:cNvSpPr/>
          <p:nvPr/>
        </p:nvSpPr>
        <p:spPr>
          <a:xfrm>
            <a:off x="9185068" y="2054559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26" name="Shape 24"/>
          <p:cNvSpPr/>
          <p:nvPr/>
        </p:nvSpPr>
        <p:spPr>
          <a:xfrm>
            <a:off x="9288435" y="2110767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27" name="Shape 25"/>
          <p:cNvSpPr/>
          <p:nvPr/>
        </p:nvSpPr>
        <p:spPr>
          <a:xfrm>
            <a:off x="9391802" y="2168042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28" name="Shape 26"/>
          <p:cNvSpPr/>
          <p:nvPr/>
        </p:nvSpPr>
        <p:spPr>
          <a:xfrm>
            <a:off x="9495169" y="2225317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29" name="Shape 27"/>
          <p:cNvSpPr/>
          <p:nvPr/>
        </p:nvSpPr>
        <p:spPr>
          <a:xfrm>
            <a:off x="9598536" y="2281525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30" name="Shape 28"/>
          <p:cNvSpPr/>
          <p:nvPr/>
        </p:nvSpPr>
        <p:spPr>
          <a:xfrm>
            <a:off x="9701903" y="2335619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31" name="Shape 29"/>
          <p:cNvSpPr/>
          <p:nvPr/>
        </p:nvSpPr>
        <p:spPr>
          <a:xfrm>
            <a:off x="9805270" y="2386592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32" name="Shape 30"/>
          <p:cNvSpPr/>
          <p:nvPr/>
        </p:nvSpPr>
        <p:spPr>
          <a:xfrm>
            <a:off x="9908637" y="2433493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33" name="Shape 31"/>
          <p:cNvSpPr/>
          <p:nvPr/>
        </p:nvSpPr>
        <p:spPr>
          <a:xfrm>
            <a:off x="10012004" y="2475450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34" name="Shape 32"/>
          <p:cNvSpPr/>
          <p:nvPr/>
        </p:nvSpPr>
        <p:spPr>
          <a:xfrm>
            <a:off x="10115371" y="2511680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35" name="Shape 33"/>
          <p:cNvSpPr/>
          <p:nvPr/>
        </p:nvSpPr>
        <p:spPr>
          <a:xfrm>
            <a:off x="10218738" y="2541508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36" name="Shape 34"/>
          <p:cNvSpPr/>
          <p:nvPr/>
        </p:nvSpPr>
        <p:spPr>
          <a:xfrm>
            <a:off x="10322105" y="2564380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37" name="Shape 35"/>
          <p:cNvSpPr/>
          <p:nvPr/>
        </p:nvSpPr>
        <p:spPr>
          <a:xfrm>
            <a:off x="10425472" y="2579869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38" name="Shape 36"/>
          <p:cNvSpPr/>
          <p:nvPr/>
        </p:nvSpPr>
        <p:spPr>
          <a:xfrm>
            <a:off x="10528839" y="2587686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39" name="Shape 37"/>
          <p:cNvSpPr/>
          <p:nvPr/>
        </p:nvSpPr>
        <p:spPr>
          <a:xfrm>
            <a:off x="10632206" y="2587686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40" name="Shape 38"/>
          <p:cNvSpPr/>
          <p:nvPr/>
        </p:nvSpPr>
        <p:spPr>
          <a:xfrm>
            <a:off x="10735573" y="2579869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41" name="Shape 39"/>
          <p:cNvSpPr/>
          <p:nvPr/>
        </p:nvSpPr>
        <p:spPr>
          <a:xfrm>
            <a:off x="10838940" y="2564380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42" name="Shape 40"/>
          <p:cNvSpPr/>
          <p:nvPr/>
        </p:nvSpPr>
        <p:spPr>
          <a:xfrm>
            <a:off x="10942307" y="2541508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43" name="Shape 41"/>
          <p:cNvSpPr/>
          <p:nvPr/>
        </p:nvSpPr>
        <p:spPr>
          <a:xfrm>
            <a:off x="11045674" y="2511680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44" name="Shape 42"/>
          <p:cNvSpPr/>
          <p:nvPr/>
        </p:nvSpPr>
        <p:spPr>
          <a:xfrm>
            <a:off x="11149041" y="2475450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45" name="Shape 43"/>
          <p:cNvSpPr/>
          <p:nvPr/>
        </p:nvSpPr>
        <p:spPr>
          <a:xfrm>
            <a:off x="11252408" y="2433493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46" name="Shape 44"/>
          <p:cNvSpPr/>
          <p:nvPr/>
        </p:nvSpPr>
        <p:spPr>
          <a:xfrm>
            <a:off x="11355775" y="2386592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47" name="Shape 45"/>
          <p:cNvSpPr/>
          <p:nvPr/>
        </p:nvSpPr>
        <p:spPr>
          <a:xfrm>
            <a:off x="11459142" y="2335619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48" name="Shape 46"/>
          <p:cNvSpPr/>
          <p:nvPr/>
        </p:nvSpPr>
        <p:spPr>
          <a:xfrm>
            <a:off x="11562508" y="2281525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49" name="Shape 47"/>
          <p:cNvSpPr/>
          <p:nvPr/>
        </p:nvSpPr>
        <p:spPr>
          <a:xfrm>
            <a:off x="11665875" y="2225317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50" name="Shape 48"/>
          <p:cNvSpPr/>
          <p:nvPr/>
        </p:nvSpPr>
        <p:spPr>
          <a:xfrm>
            <a:off x="11769242" y="2168042"/>
            <a:ext cx="53035" cy="53035"/>
          </a:xfrm>
          <a:prstGeom prst="ellipse">
            <a:avLst/>
          </a:prstGeom>
          <a:solidFill>
            <a:srgbClr val="D2CCBD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21792" y="173736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800"/>
              </a:lnSpc>
              <a:buNone/>
            </a:pPr>
            <a:r>
              <a:rPr lang="en-US" sz="62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Terima Kasih</a:t>
            </a:r>
            <a:pPr indent="0" marL="0">
              <a:lnSpc>
                <a:spcPts val="6800"/>
              </a:lnSpc>
              <a:buNone/>
            </a:pPr>
            <a:r>
              <a:rPr lang="en-US" sz="62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6200" dirty="0"/>
          </a:p>
        </p:txBody>
      </p:sp>
      <p:sp>
        <p:nvSpPr>
          <p:cNvPr id="52" name="Text 50"/>
          <p:cNvSpPr txBox="1"/>
          <p:nvPr/>
        </p:nvSpPr>
        <p:spPr>
          <a:xfrm>
            <a:off x="621792" y="338328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Kesembilan teori tidak menghasilkan satu jawaban tunggal. Ketiadaan jawaban tunggal itulah pesan Figure 3.2.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621792" y="5029200"/>
            <a:ext cx="4114800" cy="713232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/>
        </p:spPr>
      </p:sp>
      <p:sp>
        <p:nvSpPr>
          <p:cNvPr id="54" name="Shape 52"/>
          <p:cNvSpPr/>
          <p:nvPr/>
        </p:nvSpPr>
        <p:spPr>
          <a:xfrm>
            <a:off x="621792" y="5084064"/>
            <a:ext cx="54864" cy="603504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77824" y="51663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Aslih Abnuri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877824" y="541324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25/574338/PEK/31801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621792" y="6053328"/>
            <a:ext cx="10948111" cy="10058"/>
          </a:xfrm>
          <a:prstGeom prst="rect">
            <a:avLst/>
          </a:prstGeom>
          <a:solidFill>
            <a:srgbClr val="DDD8C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21792" y="61996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Ethics · Chapter 3 Evaluating Business Ethics</a:t>
            </a:r>
            <a:endParaRPr lang="en-US" sz="1050" dirty="0"/>
          </a:p>
        </p:txBody>
      </p:sp>
      <p:sp>
        <p:nvSpPr>
          <p:cNvPr id="59" name="Text 57"/>
          <p:cNvSpPr txBox="1"/>
          <p:nvPr/>
        </p:nvSpPr>
        <p:spPr>
          <a:xfrm>
            <a:off x="6083503" y="61996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Crane, Matten, Glozer &amp; Spence (2019) · Oxford University Press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Evaluating Business Ethics</dc:title>
  <dc:subject>Business Ethics Chapter 3</dc:subject>
  <dc:creator>Aslih Abnuri</dc:creator>
  <cp:lastModifiedBy>Aslih Abnuri</cp:lastModifiedBy>
  <cp:revision>1</cp:revision>
  <dcterms:created xsi:type="dcterms:W3CDTF">2026-08-26T12:29:00Z</dcterms:created>
  <dcterms:modified xsi:type="dcterms:W3CDTF">2026-08-26T12:29:00Z</dcterms:modified>
</cp:coreProperties>
</file>