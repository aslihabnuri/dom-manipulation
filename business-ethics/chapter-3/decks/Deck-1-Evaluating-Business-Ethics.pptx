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pertanyaan cepat ke kelas: menurut Anda, apakah minyak bisa disebut etis? Simpan jawabannya, kita ulang di akhir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Sepuluh bagian, tiga puluh menit. Bagian 1 sampai 9 membahas materi, bagian 10 menerapkannya pada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manfaat teori etika menurut buku: merasionalisasi firasat, memungkinkan wacana antara orang dengan nilai berbeda, dan memperjelas praanggapan moral para pihak.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Absolutism dituduh kaku, relativism dituduh membiarkan apa saja. Pluralism mencoba mengambil jalan tengah dan itulah posisi buku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3.1 halaman 92 membandingkan keduanya pada kontributor, fokus, dan konsep manusia. Tekankan kolom konsep manusia karena itulah akar perbedaannya.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Minta dua sampai tiga mahasiswa menyebutkan reaksi spontan mereka. Catat di papan, jangan dikomentari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Kritik utama: egoism sering dianggap bukan teori etika sama sekali, karena membenarkan tindakan yang merugikan orang lain selama menguntungkan pelakunya.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Bentham dan Mill. Bedanya dengan egoism: bukan hasrat setiap individu yang dihitung, melainkan besarnya kesejahteraan kolektif.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alasan utilitarianism tidak bisa dipakai sendirian. Kesimpulannya berubah hanya karena unit analisisnya digeser.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Evan dan Freeman (1993): dasar etis konsep pemangku kepentingan diturunkan dari pemikiran Kantian.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Perspektif hak memberi jawaban paling lugas pada Ethical Dilemma 3: mempekerjakan anak melanggar hak atas pendidikan dan hak memberi persetujuan.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Rawls adalah teori yang paling sering dipakai untuk menilai distribusi manfaat dan beban dalam proyek besar. Ingat urutan kriterianya.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Keenam kritik ini yang membuka jalan bagi empat teori alternatif pada bagian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Discourse ethics paling sering dipakai untuk menyelesaikan sengketa dampak lingkungan korporasi. Simpan itu untuk bagian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Analoginya harfiah: lensa mengumpulkan cahaya menjadi satu titik, prisma memecah cahaya putih menjadi spektrum warna.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Kasus ini dipilih sebagai penutup karena tidak memiliki jawaban tunggal, persis seperti pesan Figure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kalimat penutup: sengketa ini bukan sengketa data, melainkan sengketa kerangka nilai.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bentuk argumennya: whataboutism. Bahwa pihak lain lebih buruk tidak membuat tindakan sendiri menjadi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prisma Figure 3.2 yang bekerja pada kasus nyata. Sembilan sorotan berbeda atas satu rangkaian fakta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Enam kelompok: Pemerintah Alberta, konsorsium perusahaan minyak, Sierra Club, masyarakat adat hilir Athabasca, serikat pekerja Fort McMurray, dan perwakilan generasi 2060.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mengulang pertanyaan pembuka mengenai ethical oil, lalu bandingkan dengan jawaban di awal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6374282" y="1025042"/>
            <a:ext cx="53035" cy="53035"/>
          </a:xfrm>
          <a:prstGeom prst="ellipse">
            <a:avLst/>
          </a:prstGeom>
          <a:solidFill>
            <a:srgbClr val="D2CCBD"/>
          </a:solidFill>
          <a:ln/>
        </p:spPr>
      </p:sp>
      <p:sp>
        <p:nvSpPr>
          <p:cNvPr id="5" name="Shape 3"/>
          <p:cNvSpPr/>
          <p:nvPr/>
        </p:nvSpPr>
        <p:spPr>
          <a:xfrm>
            <a:off x="6491564" y="972748"/>
            <a:ext cx="53035" cy="53035"/>
          </a:xfrm>
          <a:prstGeom prst="ellipse">
            <a:avLst/>
          </a:prstGeom>
          <a:solidFill>
            <a:srgbClr val="D2CCBD"/>
          </a:solidFill>
          <a:ln/>
        </p:spPr>
      </p:sp>
      <p:sp>
        <p:nvSpPr>
          <p:cNvPr id="6" name="Shape 4"/>
          <p:cNvSpPr/>
          <p:nvPr/>
        </p:nvSpPr>
        <p:spPr>
          <a:xfrm>
            <a:off x="6608846" y="921427"/>
            <a:ext cx="53035" cy="53035"/>
          </a:xfrm>
          <a:prstGeom prst="ellipse">
            <a:avLst/>
          </a:prstGeom>
          <a:solidFill>
            <a:srgbClr val="D2CCBD"/>
          </a:solidFill>
          <a:ln/>
        </p:spPr>
      </p:sp>
      <p:sp>
        <p:nvSpPr>
          <p:cNvPr id="7" name="Shape 5"/>
          <p:cNvSpPr/>
          <p:nvPr/>
        </p:nvSpPr>
        <p:spPr>
          <a:xfrm>
            <a:off x="6726128" y="872037"/>
            <a:ext cx="53035" cy="53035"/>
          </a:xfrm>
          <a:prstGeom prst="ellipse">
            <a:avLst/>
          </a:prstGeom>
          <a:solidFill>
            <a:srgbClr val="D2CCBD"/>
          </a:solidFill>
          <a:ln/>
        </p:spPr>
      </p:sp>
      <p:sp>
        <p:nvSpPr>
          <p:cNvPr id="8" name="Shape 6"/>
          <p:cNvSpPr/>
          <p:nvPr/>
        </p:nvSpPr>
        <p:spPr>
          <a:xfrm>
            <a:off x="6843409" y="825497"/>
            <a:ext cx="53035" cy="53035"/>
          </a:xfrm>
          <a:prstGeom prst="ellipse">
            <a:avLst/>
          </a:prstGeom>
          <a:solidFill>
            <a:srgbClr val="D2CCBD"/>
          </a:solidFill>
          <a:ln/>
        </p:spPr>
      </p:sp>
      <p:sp>
        <p:nvSpPr>
          <p:cNvPr id="9" name="Shape 7"/>
          <p:cNvSpPr/>
          <p:nvPr/>
        </p:nvSpPr>
        <p:spPr>
          <a:xfrm>
            <a:off x="6960691" y="782674"/>
            <a:ext cx="53035" cy="53035"/>
          </a:xfrm>
          <a:prstGeom prst="ellipse">
            <a:avLst/>
          </a:prstGeom>
          <a:solidFill>
            <a:srgbClr val="D2CCBD"/>
          </a:solidFill>
          <a:ln/>
        </p:spPr>
      </p:sp>
      <p:sp>
        <p:nvSpPr>
          <p:cNvPr id="10" name="Shape 8"/>
          <p:cNvSpPr/>
          <p:nvPr/>
        </p:nvSpPr>
        <p:spPr>
          <a:xfrm>
            <a:off x="7077973" y="744366"/>
            <a:ext cx="53035" cy="53035"/>
          </a:xfrm>
          <a:prstGeom prst="ellipse">
            <a:avLst/>
          </a:prstGeom>
          <a:solidFill>
            <a:srgbClr val="D2CCBD"/>
          </a:solidFill>
          <a:ln/>
        </p:spPr>
      </p:sp>
      <p:sp>
        <p:nvSpPr>
          <p:cNvPr id="11" name="Shape 9"/>
          <p:cNvSpPr/>
          <p:nvPr/>
        </p:nvSpPr>
        <p:spPr>
          <a:xfrm>
            <a:off x="7195255" y="711287"/>
            <a:ext cx="53035" cy="53035"/>
          </a:xfrm>
          <a:prstGeom prst="ellipse">
            <a:avLst/>
          </a:prstGeom>
          <a:solidFill>
            <a:srgbClr val="D2CCBD"/>
          </a:solidFill>
          <a:ln/>
        </p:spPr>
      </p:sp>
      <p:sp>
        <p:nvSpPr>
          <p:cNvPr id="12" name="Shape 10"/>
          <p:cNvSpPr/>
          <p:nvPr/>
        </p:nvSpPr>
        <p:spPr>
          <a:xfrm>
            <a:off x="7312536" y="684052"/>
            <a:ext cx="53035" cy="53035"/>
          </a:xfrm>
          <a:prstGeom prst="ellipse">
            <a:avLst/>
          </a:prstGeom>
          <a:solidFill>
            <a:srgbClr val="D2CCBD"/>
          </a:solidFill>
          <a:ln/>
        </p:spPr>
      </p:sp>
      <p:sp>
        <p:nvSpPr>
          <p:cNvPr id="13" name="Shape 11"/>
          <p:cNvSpPr/>
          <p:nvPr/>
        </p:nvSpPr>
        <p:spPr>
          <a:xfrm>
            <a:off x="7429818" y="663169"/>
            <a:ext cx="53035" cy="53035"/>
          </a:xfrm>
          <a:prstGeom prst="ellipse">
            <a:avLst/>
          </a:prstGeom>
          <a:solidFill>
            <a:srgbClr val="D2CCBD"/>
          </a:solidFill>
          <a:ln/>
        </p:spPr>
      </p:sp>
      <p:sp>
        <p:nvSpPr>
          <p:cNvPr id="14" name="Shape 12"/>
          <p:cNvSpPr/>
          <p:nvPr/>
        </p:nvSpPr>
        <p:spPr>
          <a:xfrm>
            <a:off x="7547100" y="649027"/>
            <a:ext cx="53035" cy="53035"/>
          </a:xfrm>
          <a:prstGeom prst="ellipse">
            <a:avLst/>
          </a:prstGeom>
          <a:solidFill>
            <a:srgbClr val="D2CCBD"/>
          </a:solidFill>
          <a:ln/>
        </p:spPr>
      </p:sp>
      <p:sp>
        <p:nvSpPr>
          <p:cNvPr id="15" name="Shape 13"/>
          <p:cNvSpPr/>
          <p:nvPr/>
        </p:nvSpPr>
        <p:spPr>
          <a:xfrm>
            <a:off x="7664382" y="641890"/>
            <a:ext cx="53035" cy="53035"/>
          </a:xfrm>
          <a:prstGeom prst="ellipse">
            <a:avLst/>
          </a:prstGeom>
          <a:solidFill>
            <a:srgbClr val="D2CCBD"/>
          </a:solidFill>
          <a:ln/>
        </p:spPr>
      </p:sp>
      <p:sp>
        <p:nvSpPr>
          <p:cNvPr id="16" name="Shape 14"/>
          <p:cNvSpPr/>
          <p:nvPr/>
        </p:nvSpPr>
        <p:spPr>
          <a:xfrm>
            <a:off x="7781663" y="641890"/>
            <a:ext cx="53035" cy="53035"/>
          </a:xfrm>
          <a:prstGeom prst="ellipse">
            <a:avLst/>
          </a:prstGeom>
          <a:solidFill>
            <a:srgbClr val="D2CCBD"/>
          </a:solidFill>
          <a:ln/>
        </p:spPr>
      </p:sp>
      <p:sp>
        <p:nvSpPr>
          <p:cNvPr id="17" name="Shape 15"/>
          <p:cNvSpPr/>
          <p:nvPr/>
        </p:nvSpPr>
        <p:spPr>
          <a:xfrm>
            <a:off x="7898945" y="649027"/>
            <a:ext cx="53035" cy="53035"/>
          </a:xfrm>
          <a:prstGeom prst="ellipse">
            <a:avLst/>
          </a:prstGeom>
          <a:solidFill>
            <a:srgbClr val="D2CCBD"/>
          </a:solidFill>
          <a:ln/>
        </p:spPr>
      </p:sp>
      <p:sp>
        <p:nvSpPr>
          <p:cNvPr id="18" name="Shape 16"/>
          <p:cNvSpPr/>
          <p:nvPr/>
        </p:nvSpPr>
        <p:spPr>
          <a:xfrm>
            <a:off x="8016227" y="663169"/>
            <a:ext cx="53035" cy="53035"/>
          </a:xfrm>
          <a:prstGeom prst="ellipse">
            <a:avLst/>
          </a:prstGeom>
          <a:solidFill>
            <a:srgbClr val="D2CCBD"/>
          </a:solidFill>
          <a:ln/>
        </p:spPr>
      </p:sp>
      <p:sp>
        <p:nvSpPr>
          <p:cNvPr id="19" name="Shape 17"/>
          <p:cNvSpPr/>
          <p:nvPr/>
        </p:nvSpPr>
        <p:spPr>
          <a:xfrm>
            <a:off x="8133508" y="684052"/>
            <a:ext cx="53035" cy="53035"/>
          </a:xfrm>
          <a:prstGeom prst="ellipse">
            <a:avLst/>
          </a:prstGeom>
          <a:solidFill>
            <a:srgbClr val="D2CCBD"/>
          </a:solidFill>
          <a:ln/>
        </p:spPr>
      </p:sp>
      <p:sp>
        <p:nvSpPr>
          <p:cNvPr id="20" name="Shape 18"/>
          <p:cNvSpPr/>
          <p:nvPr/>
        </p:nvSpPr>
        <p:spPr>
          <a:xfrm>
            <a:off x="8250790" y="711287"/>
            <a:ext cx="53035" cy="53035"/>
          </a:xfrm>
          <a:prstGeom prst="ellipse">
            <a:avLst/>
          </a:prstGeom>
          <a:solidFill>
            <a:srgbClr val="D2CCBD"/>
          </a:solidFill>
          <a:ln/>
        </p:spPr>
      </p:sp>
      <p:sp>
        <p:nvSpPr>
          <p:cNvPr id="21" name="Shape 19"/>
          <p:cNvSpPr/>
          <p:nvPr/>
        </p:nvSpPr>
        <p:spPr>
          <a:xfrm>
            <a:off x="8368072" y="744366"/>
            <a:ext cx="53035" cy="53035"/>
          </a:xfrm>
          <a:prstGeom prst="ellipse">
            <a:avLst/>
          </a:prstGeom>
          <a:solidFill>
            <a:srgbClr val="D2CCBD"/>
          </a:solidFill>
          <a:ln/>
        </p:spPr>
      </p:sp>
      <p:sp>
        <p:nvSpPr>
          <p:cNvPr id="22" name="Shape 20"/>
          <p:cNvSpPr/>
          <p:nvPr/>
        </p:nvSpPr>
        <p:spPr>
          <a:xfrm>
            <a:off x="8485354" y="782674"/>
            <a:ext cx="53035" cy="53035"/>
          </a:xfrm>
          <a:prstGeom prst="ellipse">
            <a:avLst/>
          </a:prstGeom>
          <a:solidFill>
            <a:srgbClr val="D2CCBD"/>
          </a:solidFill>
          <a:ln/>
        </p:spPr>
      </p:sp>
      <p:sp>
        <p:nvSpPr>
          <p:cNvPr id="23" name="Shape 21"/>
          <p:cNvSpPr/>
          <p:nvPr/>
        </p:nvSpPr>
        <p:spPr>
          <a:xfrm>
            <a:off x="8602635" y="825497"/>
            <a:ext cx="53035" cy="53035"/>
          </a:xfrm>
          <a:prstGeom prst="ellipse">
            <a:avLst/>
          </a:prstGeom>
          <a:solidFill>
            <a:srgbClr val="D2CCBD"/>
          </a:solidFill>
          <a:ln/>
        </p:spPr>
      </p:sp>
      <p:sp>
        <p:nvSpPr>
          <p:cNvPr id="24" name="Shape 22"/>
          <p:cNvSpPr/>
          <p:nvPr/>
        </p:nvSpPr>
        <p:spPr>
          <a:xfrm>
            <a:off x="8719917" y="872037"/>
            <a:ext cx="53035" cy="53035"/>
          </a:xfrm>
          <a:prstGeom prst="ellipse">
            <a:avLst/>
          </a:prstGeom>
          <a:solidFill>
            <a:srgbClr val="D2CCBD"/>
          </a:solidFill>
          <a:ln/>
        </p:spPr>
      </p:sp>
      <p:sp>
        <p:nvSpPr>
          <p:cNvPr id="25" name="Shape 23"/>
          <p:cNvSpPr/>
          <p:nvPr/>
        </p:nvSpPr>
        <p:spPr>
          <a:xfrm>
            <a:off x="8837199" y="921427"/>
            <a:ext cx="53035" cy="53035"/>
          </a:xfrm>
          <a:prstGeom prst="ellipse">
            <a:avLst/>
          </a:prstGeom>
          <a:solidFill>
            <a:srgbClr val="D2CCBD"/>
          </a:solidFill>
          <a:ln/>
        </p:spPr>
      </p:sp>
      <p:sp>
        <p:nvSpPr>
          <p:cNvPr id="26" name="Shape 24"/>
          <p:cNvSpPr/>
          <p:nvPr/>
        </p:nvSpPr>
        <p:spPr>
          <a:xfrm>
            <a:off x="8954481" y="972748"/>
            <a:ext cx="53035" cy="53035"/>
          </a:xfrm>
          <a:prstGeom prst="ellipse">
            <a:avLst/>
          </a:prstGeom>
          <a:solidFill>
            <a:srgbClr val="D2CCBD"/>
          </a:solidFill>
          <a:ln/>
        </p:spPr>
      </p:sp>
      <p:sp>
        <p:nvSpPr>
          <p:cNvPr id="27" name="Shape 25"/>
          <p:cNvSpPr/>
          <p:nvPr/>
        </p:nvSpPr>
        <p:spPr>
          <a:xfrm>
            <a:off x="9071762" y="1025042"/>
            <a:ext cx="53035" cy="53035"/>
          </a:xfrm>
          <a:prstGeom prst="ellipse">
            <a:avLst/>
          </a:prstGeom>
          <a:solidFill>
            <a:srgbClr val="D2CCBD"/>
          </a:solidFill>
          <a:ln/>
        </p:spPr>
      </p:sp>
      <p:sp>
        <p:nvSpPr>
          <p:cNvPr id="28" name="Shape 26"/>
          <p:cNvSpPr/>
          <p:nvPr/>
        </p:nvSpPr>
        <p:spPr>
          <a:xfrm>
            <a:off x="9189044" y="1077337"/>
            <a:ext cx="53035" cy="53035"/>
          </a:xfrm>
          <a:prstGeom prst="ellipse">
            <a:avLst/>
          </a:prstGeom>
          <a:solidFill>
            <a:srgbClr val="D2CCBD"/>
          </a:solidFill>
          <a:ln/>
        </p:spPr>
      </p:sp>
      <p:sp>
        <p:nvSpPr>
          <p:cNvPr id="29" name="Shape 27"/>
          <p:cNvSpPr/>
          <p:nvPr/>
        </p:nvSpPr>
        <p:spPr>
          <a:xfrm>
            <a:off x="9306326" y="1128657"/>
            <a:ext cx="53035" cy="53035"/>
          </a:xfrm>
          <a:prstGeom prst="ellipse">
            <a:avLst/>
          </a:prstGeom>
          <a:solidFill>
            <a:srgbClr val="D2CCBD"/>
          </a:solidFill>
          <a:ln/>
        </p:spPr>
      </p:sp>
      <p:sp>
        <p:nvSpPr>
          <p:cNvPr id="30" name="Shape 28"/>
          <p:cNvSpPr/>
          <p:nvPr/>
        </p:nvSpPr>
        <p:spPr>
          <a:xfrm>
            <a:off x="9423608" y="1178048"/>
            <a:ext cx="53035" cy="53035"/>
          </a:xfrm>
          <a:prstGeom prst="ellipse">
            <a:avLst/>
          </a:prstGeom>
          <a:solidFill>
            <a:srgbClr val="D2CCBD"/>
          </a:solidFill>
          <a:ln/>
        </p:spPr>
      </p:sp>
      <p:sp>
        <p:nvSpPr>
          <p:cNvPr id="31" name="Shape 29"/>
          <p:cNvSpPr/>
          <p:nvPr/>
        </p:nvSpPr>
        <p:spPr>
          <a:xfrm>
            <a:off x="9540889" y="1224588"/>
            <a:ext cx="53035" cy="53035"/>
          </a:xfrm>
          <a:prstGeom prst="ellipse">
            <a:avLst/>
          </a:prstGeom>
          <a:solidFill>
            <a:srgbClr val="D2CCBD"/>
          </a:solidFill>
          <a:ln/>
        </p:spPr>
      </p:sp>
      <p:sp>
        <p:nvSpPr>
          <p:cNvPr id="32" name="Shape 30"/>
          <p:cNvSpPr/>
          <p:nvPr/>
        </p:nvSpPr>
        <p:spPr>
          <a:xfrm>
            <a:off x="9658171" y="1267410"/>
            <a:ext cx="53035" cy="53035"/>
          </a:xfrm>
          <a:prstGeom prst="ellipse">
            <a:avLst/>
          </a:prstGeom>
          <a:solidFill>
            <a:srgbClr val="D2CCBD"/>
          </a:solidFill>
          <a:ln/>
        </p:spPr>
      </p:sp>
      <p:sp>
        <p:nvSpPr>
          <p:cNvPr id="33" name="Shape 31"/>
          <p:cNvSpPr/>
          <p:nvPr/>
        </p:nvSpPr>
        <p:spPr>
          <a:xfrm>
            <a:off x="9775453" y="1305718"/>
            <a:ext cx="53035" cy="53035"/>
          </a:xfrm>
          <a:prstGeom prst="ellipse">
            <a:avLst/>
          </a:prstGeom>
          <a:solidFill>
            <a:srgbClr val="D2CCBD"/>
          </a:solidFill>
          <a:ln/>
        </p:spPr>
      </p:sp>
      <p:sp>
        <p:nvSpPr>
          <p:cNvPr id="34" name="Shape 32"/>
          <p:cNvSpPr/>
          <p:nvPr/>
        </p:nvSpPr>
        <p:spPr>
          <a:xfrm>
            <a:off x="9892735" y="1338798"/>
            <a:ext cx="53035" cy="53035"/>
          </a:xfrm>
          <a:prstGeom prst="ellipse">
            <a:avLst/>
          </a:prstGeom>
          <a:solidFill>
            <a:srgbClr val="D2CCBD"/>
          </a:solidFill>
          <a:ln/>
        </p:spPr>
      </p:sp>
      <p:sp>
        <p:nvSpPr>
          <p:cNvPr id="35" name="Shape 33"/>
          <p:cNvSpPr/>
          <p:nvPr/>
        </p:nvSpPr>
        <p:spPr>
          <a:xfrm>
            <a:off x="10010016" y="1366033"/>
            <a:ext cx="53035" cy="53035"/>
          </a:xfrm>
          <a:prstGeom prst="ellipse">
            <a:avLst/>
          </a:prstGeom>
          <a:solidFill>
            <a:srgbClr val="D2CCBD"/>
          </a:solidFill>
          <a:ln/>
        </p:spPr>
      </p:sp>
      <p:sp>
        <p:nvSpPr>
          <p:cNvPr id="36" name="Shape 34"/>
          <p:cNvSpPr/>
          <p:nvPr/>
        </p:nvSpPr>
        <p:spPr>
          <a:xfrm>
            <a:off x="10127298" y="1386916"/>
            <a:ext cx="53035" cy="53035"/>
          </a:xfrm>
          <a:prstGeom prst="ellipse">
            <a:avLst/>
          </a:prstGeom>
          <a:solidFill>
            <a:srgbClr val="D2CCBD"/>
          </a:solidFill>
          <a:ln/>
        </p:spPr>
      </p:sp>
      <p:sp>
        <p:nvSpPr>
          <p:cNvPr id="37" name="Shape 35"/>
          <p:cNvSpPr/>
          <p:nvPr/>
        </p:nvSpPr>
        <p:spPr>
          <a:xfrm>
            <a:off x="10244580" y="1401058"/>
            <a:ext cx="53035" cy="53035"/>
          </a:xfrm>
          <a:prstGeom prst="ellipse">
            <a:avLst/>
          </a:prstGeom>
          <a:solidFill>
            <a:srgbClr val="D2CCBD"/>
          </a:solidFill>
          <a:ln/>
        </p:spPr>
      </p:sp>
      <p:sp>
        <p:nvSpPr>
          <p:cNvPr id="38" name="Shape 36"/>
          <p:cNvSpPr/>
          <p:nvPr/>
        </p:nvSpPr>
        <p:spPr>
          <a:xfrm>
            <a:off x="10361862" y="1408195"/>
            <a:ext cx="53035" cy="53035"/>
          </a:xfrm>
          <a:prstGeom prst="ellipse">
            <a:avLst/>
          </a:prstGeom>
          <a:solidFill>
            <a:srgbClr val="D2CCBD"/>
          </a:solidFill>
          <a:ln/>
        </p:spPr>
      </p:sp>
      <p:sp>
        <p:nvSpPr>
          <p:cNvPr id="39" name="Shape 37"/>
          <p:cNvSpPr/>
          <p:nvPr/>
        </p:nvSpPr>
        <p:spPr>
          <a:xfrm>
            <a:off x="10479143" y="1408195"/>
            <a:ext cx="53035" cy="53035"/>
          </a:xfrm>
          <a:prstGeom prst="ellipse">
            <a:avLst/>
          </a:prstGeom>
          <a:solidFill>
            <a:srgbClr val="D2CCBD"/>
          </a:solidFill>
          <a:ln/>
        </p:spPr>
      </p:sp>
      <p:sp>
        <p:nvSpPr>
          <p:cNvPr id="40" name="Shape 38"/>
          <p:cNvSpPr/>
          <p:nvPr/>
        </p:nvSpPr>
        <p:spPr>
          <a:xfrm>
            <a:off x="10596425" y="1401058"/>
            <a:ext cx="53035" cy="53035"/>
          </a:xfrm>
          <a:prstGeom prst="ellipse">
            <a:avLst/>
          </a:prstGeom>
          <a:solidFill>
            <a:srgbClr val="D2CCBD"/>
          </a:solidFill>
          <a:ln/>
        </p:spPr>
      </p:sp>
      <p:sp>
        <p:nvSpPr>
          <p:cNvPr id="41" name="Shape 39"/>
          <p:cNvSpPr/>
          <p:nvPr/>
        </p:nvSpPr>
        <p:spPr>
          <a:xfrm>
            <a:off x="10713707" y="1386916"/>
            <a:ext cx="53035" cy="53035"/>
          </a:xfrm>
          <a:prstGeom prst="ellipse">
            <a:avLst/>
          </a:prstGeom>
          <a:solidFill>
            <a:srgbClr val="D2CCBD"/>
          </a:solidFill>
          <a:ln/>
        </p:spPr>
      </p:sp>
      <p:sp>
        <p:nvSpPr>
          <p:cNvPr id="42" name="Shape 40"/>
          <p:cNvSpPr/>
          <p:nvPr/>
        </p:nvSpPr>
        <p:spPr>
          <a:xfrm>
            <a:off x="10830988" y="1366033"/>
            <a:ext cx="53035" cy="53035"/>
          </a:xfrm>
          <a:prstGeom prst="ellipse">
            <a:avLst/>
          </a:prstGeom>
          <a:solidFill>
            <a:srgbClr val="D2CCBD"/>
          </a:solidFill>
          <a:ln/>
        </p:spPr>
      </p:sp>
      <p:sp>
        <p:nvSpPr>
          <p:cNvPr id="43" name="Shape 41"/>
          <p:cNvSpPr/>
          <p:nvPr/>
        </p:nvSpPr>
        <p:spPr>
          <a:xfrm>
            <a:off x="10948270" y="1338798"/>
            <a:ext cx="53035" cy="53035"/>
          </a:xfrm>
          <a:prstGeom prst="ellipse">
            <a:avLst/>
          </a:prstGeom>
          <a:solidFill>
            <a:srgbClr val="D2CCBD"/>
          </a:solidFill>
          <a:ln/>
        </p:spPr>
      </p:sp>
      <p:sp>
        <p:nvSpPr>
          <p:cNvPr id="44" name="Shape 42"/>
          <p:cNvSpPr/>
          <p:nvPr/>
        </p:nvSpPr>
        <p:spPr>
          <a:xfrm>
            <a:off x="11065552" y="1305718"/>
            <a:ext cx="53035" cy="53035"/>
          </a:xfrm>
          <a:prstGeom prst="ellipse">
            <a:avLst/>
          </a:prstGeom>
          <a:solidFill>
            <a:srgbClr val="D2CCBD"/>
          </a:solidFill>
          <a:ln/>
        </p:spPr>
      </p:sp>
      <p:sp>
        <p:nvSpPr>
          <p:cNvPr id="45" name="Shape 43"/>
          <p:cNvSpPr/>
          <p:nvPr/>
        </p:nvSpPr>
        <p:spPr>
          <a:xfrm>
            <a:off x="11182834" y="1267410"/>
            <a:ext cx="53035" cy="53035"/>
          </a:xfrm>
          <a:prstGeom prst="ellipse">
            <a:avLst/>
          </a:prstGeom>
          <a:solidFill>
            <a:srgbClr val="D2CCBD"/>
          </a:solidFill>
          <a:ln/>
        </p:spPr>
      </p:sp>
      <p:sp>
        <p:nvSpPr>
          <p:cNvPr id="46" name="Shape 44"/>
          <p:cNvSpPr/>
          <p:nvPr/>
        </p:nvSpPr>
        <p:spPr>
          <a:xfrm>
            <a:off x="11300115" y="1224588"/>
            <a:ext cx="53035" cy="53035"/>
          </a:xfrm>
          <a:prstGeom prst="ellipse">
            <a:avLst/>
          </a:prstGeom>
          <a:solidFill>
            <a:srgbClr val="D2CCBD"/>
          </a:solidFill>
          <a:ln/>
        </p:spPr>
      </p:sp>
      <p:sp>
        <p:nvSpPr>
          <p:cNvPr id="47" name="Shape 45"/>
          <p:cNvSpPr/>
          <p:nvPr/>
        </p:nvSpPr>
        <p:spPr>
          <a:xfrm>
            <a:off x="11417397" y="1178048"/>
            <a:ext cx="53035" cy="53035"/>
          </a:xfrm>
          <a:prstGeom prst="ellipse">
            <a:avLst/>
          </a:prstGeom>
          <a:solidFill>
            <a:srgbClr val="D2CCBD"/>
          </a:solidFill>
          <a:ln/>
        </p:spPr>
      </p:sp>
      <p:sp>
        <p:nvSpPr>
          <p:cNvPr id="48" name="Shape 46"/>
          <p:cNvSpPr/>
          <p:nvPr/>
        </p:nvSpPr>
        <p:spPr>
          <a:xfrm>
            <a:off x="11534679" y="1128657"/>
            <a:ext cx="53035" cy="53035"/>
          </a:xfrm>
          <a:prstGeom prst="ellipse">
            <a:avLst/>
          </a:prstGeom>
          <a:solidFill>
            <a:srgbClr val="D2CCBD"/>
          </a:solidFill>
          <a:ln/>
        </p:spPr>
      </p:sp>
      <p:sp>
        <p:nvSpPr>
          <p:cNvPr id="49" name="Shape 47"/>
          <p:cNvSpPr/>
          <p:nvPr/>
        </p:nvSpPr>
        <p:spPr>
          <a:xfrm>
            <a:off x="11651961" y="1077337"/>
            <a:ext cx="53035" cy="53035"/>
          </a:xfrm>
          <a:prstGeom prst="ellipse">
            <a:avLst/>
          </a:prstGeom>
          <a:solidFill>
            <a:srgbClr val="D2CCBD"/>
          </a:solidFill>
          <a:ln/>
        </p:spPr>
      </p:sp>
      <p:sp>
        <p:nvSpPr>
          <p:cNvPr id="50" name="Shape 48"/>
          <p:cNvSpPr/>
          <p:nvPr/>
        </p:nvSpPr>
        <p:spPr>
          <a:xfrm>
            <a:off x="11769242" y="1025042"/>
            <a:ext cx="53035" cy="53035"/>
          </a:xfrm>
          <a:prstGeom prst="ellipse">
            <a:avLst/>
          </a:prstGeom>
          <a:solidFill>
            <a:srgbClr val="D2CCBD"/>
          </a:solidFill>
          <a:ln/>
        </p:spPr>
      </p:sp>
      <p:sp>
        <p:nvSpPr>
          <p:cNvPr id="51" name="Text 49"/>
          <p:cNvSpPr txBox="1"/>
          <p:nvPr/>
        </p:nvSpPr>
        <p:spPr>
          <a:xfrm>
            <a:off x="621792" y="457200"/>
            <a:ext cx="3657600"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Business Ethics</a:t>
            </a:r>
            <a:endParaRPr lang="en-US" sz="1150" dirty="0"/>
          </a:p>
        </p:txBody>
      </p:sp>
      <p:sp>
        <p:nvSpPr>
          <p:cNvPr id="52" name="Shape 50"/>
          <p:cNvSpPr/>
          <p:nvPr/>
        </p:nvSpPr>
        <p:spPr>
          <a:xfrm>
            <a:off x="9163202" y="420624"/>
            <a:ext cx="1143914" cy="283464"/>
          </a:xfrm>
          <a:prstGeom prst="roundRect">
            <a:avLst>
              <a:gd name="adj" fmla="val 50000"/>
            </a:avLst>
          </a:prstGeom>
          <a:solidFill>
            <a:srgbClr val="FF5A2D"/>
          </a:solidFill>
          <a:ln w="12700">
            <a:solidFill>
              <a:srgbClr val="FF5A2D"/>
            </a:solidFill>
            <a:prstDash val="solid"/>
          </a:ln>
        </p:spPr>
      </p:sp>
      <p:sp>
        <p:nvSpPr>
          <p:cNvPr id="53" name="Text 51"/>
          <p:cNvSpPr txBox="1"/>
          <p:nvPr/>
        </p:nvSpPr>
        <p:spPr>
          <a:xfrm>
            <a:off x="9163202" y="420624"/>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MBA · UGM</a:t>
            </a:r>
            <a:endParaRPr lang="en-US" sz="950" dirty="0"/>
          </a:p>
        </p:txBody>
      </p:sp>
      <p:sp>
        <p:nvSpPr>
          <p:cNvPr id="54" name="Shape 52"/>
          <p:cNvSpPr/>
          <p:nvPr/>
        </p:nvSpPr>
        <p:spPr>
          <a:xfrm>
            <a:off x="10425989" y="420624"/>
            <a:ext cx="1143914" cy="283464"/>
          </a:xfrm>
          <a:prstGeom prst="roundRect">
            <a:avLst>
              <a:gd name="adj" fmla="val 50000"/>
            </a:avLst>
          </a:prstGeom>
          <a:solidFill>
            <a:srgbClr val="F2F0EB"/>
          </a:solidFill>
          <a:ln w="12700">
            <a:solidFill>
              <a:srgbClr val="DDD8CE"/>
            </a:solidFill>
            <a:prstDash val="solid"/>
          </a:ln>
        </p:spPr>
      </p:sp>
      <p:sp>
        <p:nvSpPr>
          <p:cNvPr id="55" name="Text 53"/>
          <p:cNvSpPr txBox="1"/>
          <p:nvPr/>
        </p:nvSpPr>
        <p:spPr>
          <a:xfrm>
            <a:off x="10425989" y="420624"/>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CHAPTER 3</a:t>
            </a:r>
            <a:endParaRPr lang="en-US" sz="950" dirty="0"/>
          </a:p>
        </p:txBody>
      </p:sp>
      <p:sp>
        <p:nvSpPr>
          <p:cNvPr id="56" name="Text 54"/>
          <p:cNvSpPr txBox="1"/>
          <p:nvPr/>
        </p:nvSpPr>
        <p:spPr>
          <a:xfrm>
            <a:off x="621792" y="1481328"/>
            <a:ext cx="6766560"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Crane, Matten, Glozer &amp; Spence (2019) · Business Ethics, edisi kelima</a:t>
            </a:r>
            <a:endParaRPr lang="en-US" sz="1350" dirty="0"/>
          </a:p>
        </p:txBody>
      </p:sp>
      <p:sp>
        <p:nvSpPr>
          <p:cNvPr id="57" name="Text 55"/>
          <p:cNvSpPr txBox="1"/>
          <p:nvPr/>
        </p:nvSpPr>
        <p:spPr>
          <a:xfrm>
            <a:off x="621792" y="1783080"/>
            <a:ext cx="6766560" cy="310896"/>
          </a:xfrm>
          <a:prstGeom prst="rect">
            <a:avLst/>
          </a:prstGeom>
          <a:noFill/>
          <a:ln/>
        </p:spPr>
        <p:txBody>
          <a:bodyPr wrap="square" lIns="0" tIns="0" rIns="0" bIns="0" rtlCol="0" anchor="t"/>
          <a:lstStyle/>
          <a:p>
            <a:pPr indent="0" marL="0">
              <a:buNone/>
            </a:pPr>
            <a:r>
              <a:rPr lang="en-US" sz="1600" b="1" dirty="0">
                <a:solidFill>
                  <a:srgbClr val="FF5A2D"/>
                </a:solidFill>
                <a:latin typeface="Calibri" pitchFamily="34" charset="0"/>
                <a:ea typeface="Calibri" pitchFamily="34" charset="-122"/>
                <a:cs typeface="Calibri" pitchFamily="34" charset="-120"/>
              </a:rPr>
              <a:t>Pembahasan Materi &amp; Kasus —</a:t>
            </a:r>
            <a:endParaRPr lang="en-US" sz="1600" dirty="0"/>
          </a:p>
        </p:txBody>
      </p:sp>
      <p:sp>
        <p:nvSpPr>
          <p:cNvPr id="58" name="Text 56"/>
          <p:cNvSpPr txBox="1"/>
          <p:nvPr/>
        </p:nvSpPr>
        <p:spPr>
          <a:xfrm>
            <a:off x="621792" y="2267712"/>
            <a:ext cx="7498080" cy="1572768"/>
          </a:xfrm>
          <a:prstGeom prst="rect">
            <a:avLst/>
          </a:prstGeom>
          <a:noFill/>
          <a:ln/>
        </p:spPr>
        <p:txBody>
          <a:bodyPr wrap="square" lIns="0" tIns="0" rIns="0" bIns="0" rtlCol="0" anchor="t"/>
          <a:lstStyle/>
          <a:p>
            <a:pPr indent="0" marL="0">
              <a:lnSpc>
                <a:spcPts val="5800"/>
              </a:lnSpc>
              <a:buNone/>
            </a:pPr>
            <a:r>
              <a:rPr lang="en-US" sz="5200" b="1" dirty="0">
                <a:solidFill>
                  <a:srgbClr val="0E1626"/>
                </a:solidFill>
                <a:latin typeface="Calibri" pitchFamily="34" charset="0"/>
                <a:ea typeface="Calibri" pitchFamily="34" charset="-122"/>
                <a:cs typeface="Calibri" pitchFamily="34" charset="-120"/>
              </a:rPr>
              <a:t>Evaluating Business</a:t>
            </a:r>
            <a:endParaRPr lang="en-US" sz="5200" dirty="0"/>
          </a:p>
          <a:p>
            <a:pPr indent="0" marL="0">
              <a:lnSpc>
                <a:spcPts val="5800"/>
              </a:lnSpc>
              <a:buNone/>
            </a:pPr>
            <a:r>
              <a:rPr lang="en-US" sz="5200" b="1" dirty="0">
                <a:solidFill>
                  <a:srgbClr val="0E1626"/>
                </a:solidFill>
                <a:latin typeface="Calibri" pitchFamily="34" charset="0"/>
                <a:ea typeface="Calibri" pitchFamily="34" charset="-122"/>
                <a:cs typeface="Calibri" pitchFamily="34" charset="-120"/>
              </a:rPr>
              <a:t>Ethics</a:t>
            </a:r>
            <a:pPr indent="0" marL="0">
              <a:lnSpc>
                <a:spcPts val="5800"/>
              </a:lnSpc>
              <a:buNone/>
            </a:pPr>
            <a:r>
              <a:rPr lang="en-US" sz="5200" b="1" dirty="0">
                <a:solidFill>
                  <a:srgbClr val="FF5A2D"/>
                </a:solidFill>
                <a:latin typeface="Calibri" pitchFamily="34" charset="0"/>
                <a:ea typeface="Calibri" pitchFamily="34" charset="-122"/>
                <a:cs typeface="Calibri" pitchFamily="34" charset="-120"/>
              </a:rPr>
              <a:t>.</a:t>
            </a:r>
            <a:endParaRPr lang="en-US" sz="5200" dirty="0"/>
          </a:p>
        </p:txBody>
      </p:sp>
      <p:sp>
        <p:nvSpPr>
          <p:cNvPr id="59" name="Text 57"/>
          <p:cNvSpPr txBox="1"/>
          <p:nvPr/>
        </p:nvSpPr>
        <p:spPr>
          <a:xfrm>
            <a:off x="621792" y="4114800"/>
            <a:ext cx="6675120" cy="786384"/>
          </a:xfrm>
          <a:prstGeom prst="rect">
            <a:avLst/>
          </a:prstGeom>
          <a:noFill/>
          <a:ln/>
        </p:spPr>
        <p:txBody>
          <a:bodyPr wrap="square" lIns="0" tIns="0" rIns="0" bIns="0" rtlCol="0" anchor="t"/>
          <a:lstStyle/>
          <a:p>
            <a:pPr indent="0" marL="0">
              <a:lnSpc>
                <a:spcPts val="1890"/>
              </a:lnSpc>
              <a:buNone/>
            </a:pPr>
            <a:r>
              <a:rPr lang="en-US" sz="1400" dirty="0">
                <a:solidFill>
                  <a:srgbClr val="6B7A90"/>
                </a:solidFill>
                <a:latin typeface="Calibri" pitchFamily="34" charset="0"/>
                <a:ea typeface="Calibri" pitchFamily="34" charset="-122"/>
                <a:cs typeface="Calibri" pitchFamily="34" charset="-120"/>
              </a:rPr>
              <a:t>Sembilan teori etika normatif dan bagaimana kesembilannya membaca satu kasus yang sama: Canada’s Oil Sands.</a:t>
            </a:r>
            <a:endParaRPr lang="en-US" sz="1400" dirty="0"/>
          </a:p>
        </p:txBody>
      </p:sp>
      <p:sp>
        <p:nvSpPr>
          <p:cNvPr id="60" name="Shape 58"/>
          <p:cNvSpPr/>
          <p:nvPr/>
        </p:nvSpPr>
        <p:spPr>
          <a:xfrm>
            <a:off x="621792" y="5230368"/>
            <a:ext cx="4114800" cy="713232"/>
          </a:xfrm>
          <a:prstGeom prst="roundRect">
            <a:avLst>
              <a:gd name="adj" fmla="val 20513"/>
            </a:avLst>
          </a:prstGeom>
          <a:solidFill>
            <a:srgbClr val="FFFFFF"/>
          </a:solidFill>
          <a:ln/>
        </p:spPr>
      </p:sp>
      <p:sp>
        <p:nvSpPr>
          <p:cNvPr id="61" name="Shape 59"/>
          <p:cNvSpPr/>
          <p:nvPr/>
        </p:nvSpPr>
        <p:spPr>
          <a:xfrm>
            <a:off x="621792" y="5285232"/>
            <a:ext cx="54864" cy="603504"/>
          </a:xfrm>
          <a:prstGeom prst="rect">
            <a:avLst/>
          </a:prstGeom>
          <a:solidFill>
            <a:srgbClr val="FF5A2D"/>
          </a:solidFill>
          <a:ln/>
        </p:spPr>
      </p:sp>
      <p:sp>
        <p:nvSpPr>
          <p:cNvPr id="62" name="Text 60"/>
          <p:cNvSpPr txBox="1"/>
          <p:nvPr/>
        </p:nvSpPr>
        <p:spPr>
          <a:xfrm>
            <a:off x="877824" y="5367528"/>
            <a:ext cx="3657600" cy="256032"/>
          </a:xfrm>
          <a:prstGeom prst="rect">
            <a:avLst/>
          </a:prstGeom>
          <a:noFill/>
          <a:ln/>
        </p:spPr>
        <p:txBody>
          <a:bodyPr wrap="square" lIns="0" tIns="0" rIns="0" bIns="0" rtlCol="0" anchor="t"/>
          <a:lstStyle/>
          <a:p>
            <a:pPr indent="0" marL="0">
              <a:buNone/>
            </a:pPr>
            <a:r>
              <a:rPr lang="en-US" sz="1300" b="1" dirty="0">
                <a:solidFill>
                  <a:srgbClr val="0E1626"/>
                </a:solidFill>
                <a:latin typeface="Calibri" pitchFamily="34" charset="0"/>
                <a:ea typeface="Calibri" pitchFamily="34" charset="-122"/>
                <a:cs typeface="Calibri" pitchFamily="34" charset="-120"/>
              </a:rPr>
              <a:t>Aslih Abnuri</a:t>
            </a:r>
            <a:endParaRPr lang="en-US" sz="1300" dirty="0"/>
          </a:p>
        </p:txBody>
      </p:sp>
      <p:sp>
        <p:nvSpPr>
          <p:cNvPr id="63" name="Text 61"/>
          <p:cNvSpPr txBox="1"/>
          <p:nvPr/>
        </p:nvSpPr>
        <p:spPr>
          <a:xfrm>
            <a:off x="877824" y="5614416"/>
            <a:ext cx="3657600" cy="237744"/>
          </a:xfrm>
          <a:prstGeom prst="rect">
            <a:avLst/>
          </a:prstGeom>
          <a:noFill/>
          <a:ln/>
        </p:spPr>
        <p:txBody>
          <a:bodyPr wrap="square" lIns="0" tIns="0" rIns="0" bIns="0" rtlCol="0" anchor="t"/>
          <a:lstStyle/>
          <a:p>
            <a:pPr indent="0" marL="0">
              <a:buNone/>
            </a:pPr>
            <a:r>
              <a:rPr lang="en-US" sz="1050" dirty="0">
                <a:solidFill>
                  <a:srgbClr val="6B7A90"/>
                </a:solidFill>
                <a:latin typeface="Courier New" pitchFamily="34" charset="0"/>
                <a:ea typeface="Courier New" pitchFamily="34" charset="-122"/>
                <a:cs typeface="Courier New" pitchFamily="34" charset="-120"/>
              </a:rPr>
              <a:t>25/574338/PEK/31801</a:t>
            </a:r>
            <a:endParaRPr lang="en-US" sz="1050" dirty="0"/>
          </a:p>
        </p:txBody>
      </p:sp>
      <p:sp>
        <p:nvSpPr>
          <p:cNvPr id="64" name="Text 62"/>
          <p:cNvSpPr txBox="1"/>
          <p:nvPr/>
        </p:nvSpPr>
        <p:spPr>
          <a:xfrm>
            <a:off x="621792" y="6272784"/>
            <a:ext cx="10948111" cy="256032"/>
          </a:xfrm>
          <a:prstGeom prst="rect">
            <a:avLst/>
          </a:prstGeom>
          <a:noFill/>
          <a:ln/>
        </p:spPr>
        <p:txBody>
          <a:bodyPr wrap="square" lIns="0" tIns="0" rIns="0" bIns="0" rtlCol="0" anchor="t"/>
          <a:lstStyle/>
          <a:p>
            <a:pPr indent="0" marL="0">
              <a:buNone/>
            </a:pPr>
            <a:r>
              <a:rPr lang="en-US" sz="1050" dirty="0">
                <a:solidFill>
                  <a:srgbClr val="6B7A90"/>
                </a:solidFill>
                <a:latin typeface="Calibri" pitchFamily="34" charset="0"/>
                <a:ea typeface="Calibri" pitchFamily="34" charset="-122"/>
                <a:cs typeface="Calibri" pitchFamily="34" charset="-120"/>
              </a:rPr>
              <a:t>Case 3 · Canada’s Oil Sands · halaman 129–134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Text 1"/>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02</a:t>
            </a:r>
            <a:endParaRPr lang="en-US" sz="950" dirty="0"/>
          </a:p>
        </p:txBody>
      </p:sp>
      <p:sp>
        <p:nvSpPr>
          <p:cNvPr id="4" name="Text 2"/>
          <p:cNvSpPr txBox="1"/>
          <p:nvPr/>
        </p:nvSpPr>
        <p:spPr>
          <a:xfrm>
            <a:off x="621792" y="566928"/>
            <a:ext cx="10948111" cy="1024128"/>
          </a:xfrm>
          <a:prstGeom prst="rect">
            <a:avLst/>
          </a:prstGeom>
          <a:noFill/>
          <a:ln/>
        </p:spPr>
        <p:txBody>
          <a:bodyPr wrap="square" lIns="0" tIns="0" rIns="0" bIns="0" rtlCol="0" anchor="t"/>
          <a:lstStyle/>
          <a:p>
            <a:pPr indent="0" marL="0">
              <a:lnSpc>
                <a:spcPts val="4640"/>
              </a:lnSpc>
              <a:buNone/>
            </a:pPr>
            <a:r>
              <a:rPr lang="en-US" sz="4000" b="1" dirty="0">
                <a:solidFill>
                  <a:srgbClr val="0E1626"/>
                </a:solidFill>
                <a:latin typeface="Calibri" pitchFamily="34" charset="0"/>
                <a:ea typeface="Calibri" pitchFamily="34" charset="-122"/>
                <a:cs typeface="Calibri" pitchFamily="34" charset="-120"/>
              </a:rPr>
              <a:t>Index</a:t>
            </a:r>
            <a:pPr indent="0" marL="0">
              <a:lnSpc>
                <a:spcPts val="4640"/>
              </a:lnSpc>
              <a:buNone/>
            </a:pPr>
            <a:r>
              <a:rPr lang="en-US" sz="4000" b="1" dirty="0">
                <a:solidFill>
                  <a:srgbClr val="FF5A2D"/>
                </a:solidFill>
                <a:latin typeface="Calibri" pitchFamily="34" charset="0"/>
                <a:ea typeface="Calibri" pitchFamily="34" charset="-122"/>
                <a:cs typeface="Calibri" pitchFamily="34" charset="-120"/>
              </a:rPr>
              <a:t>.</a:t>
            </a:r>
            <a:endParaRPr lang="en-US" sz="4000" dirty="0"/>
          </a:p>
        </p:txBody>
      </p:sp>
      <p:sp>
        <p:nvSpPr>
          <p:cNvPr id="5" name="Shape 3"/>
          <p:cNvSpPr/>
          <p:nvPr/>
        </p:nvSpPr>
        <p:spPr>
          <a:xfrm>
            <a:off x="621792" y="1298448"/>
            <a:ext cx="781812" cy="283464"/>
          </a:xfrm>
          <a:prstGeom prst="roundRect">
            <a:avLst>
              <a:gd name="adj" fmla="val 50000"/>
            </a:avLst>
          </a:prstGeom>
          <a:solidFill>
            <a:srgbClr val="FF5A2D"/>
          </a:solidFill>
          <a:ln w="12700">
            <a:solidFill>
              <a:srgbClr val="FF5A2D"/>
            </a:solidFill>
            <a:prstDash val="solid"/>
          </a:ln>
        </p:spPr>
      </p:sp>
      <p:sp>
        <p:nvSpPr>
          <p:cNvPr id="6" name="Text 4"/>
          <p:cNvSpPr txBox="1"/>
          <p:nvPr/>
        </p:nvSpPr>
        <p:spPr>
          <a:xfrm>
            <a:off x="621792" y="1298448"/>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a:t>
            </a:r>
            <a:endParaRPr lang="en-US" sz="950" dirty="0"/>
          </a:p>
        </p:txBody>
      </p:sp>
      <p:sp>
        <p:nvSpPr>
          <p:cNvPr id="7" name="Shape 5"/>
          <p:cNvSpPr/>
          <p:nvPr/>
        </p:nvSpPr>
        <p:spPr>
          <a:xfrm>
            <a:off x="1522476" y="1298448"/>
            <a:ext cx="1324966" cy="283464"/>
          </a:xfrm>
          <a:prstGeom prst="roundRect">
            <a:avLst>
              <a:gd name="adj" fmla="val 50000"/>
            </a:avLst>
          </a:prstGeom>
          <a:solidFill>
            <a:srgbClr val="B8A6F5"/>
          </a:solidFill>
          <a:ln w="12700">
            <a:solidFill>
              <a:srgbClr val="B8A6F5"/>
            </a:solidFill>
            <a:prstDash val="solid"/>
          </a:ln>
        </p:spPr>
      </p:sp>
      <p:sp>
        <p:nvSpPr>
          <p:cNvPr id="8" name="Text 6"/>
          <p:cNvSpPr txBox="1"/>
          <p:nvPr/>
        </p:nvSpPr>
        <p:spPr>
          <a:xfrm>
            <a:off x="1522476" y="1298448"/>
            <a:ext cx="1324966"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BARAT</a:t>
            </a:r>
            <a:endParaRPr lang="en-US" sz="950" dirty="0"/>
          </a:p>
        </p:txBody>
      </p:sp>
      <p:sp>
        <p:nvSpPr>
          <p:cNvPr id="9" name="Shape 7"/>
          <p:cNvSpPr/>
          <p:nvPr/>
        </p:nvSpPr>
        <p:spPr>
          <a:xfrm>
            <a:off x="2966314" y="1298448"/>
            <a:ext cx="1234440" cy="283464"/>
          </a:xfrm>
          <a:prstGeom prst="roundRect">
            <a:avLst>
              <a:gd name="adj" fmla="val 50000"/>
            </a:avLst>
          </a:prstGeom>
          <a:solidFill>
            <a:srgbClr val="C6F04A"/>
          </a:solidFill>
          <a:ln w="12700">
            <a:solidFill>
              <a:srgbClr val="C6F04A"/>
            </a:solidFill>
            <a:prstDash val="solid"/>
          </a:ln>
        </p:spPr>
      </p:sp>
      <p:sp>
        <p:nvSpPr>
          <p:cNvPr id="10" name="Text 8"/>
          <p:cNvSpPr txBox="1"/>
          <p:nvPr/>
        </p:nvSpPr>
        <p:spPr>
          <a:xfrm>
            <a:off x="2966314" y="1298448"/>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ALTERNATIF</a:t>
            </a:r>
            <a:endParaRPr lang="en-US" sz="950" dirty="0"/>
          </a:p>
        </p:txBody>
      </p:sp>
      <p:sp>
        <p:nvSpPr>
          <p:cNvPr id="11" name="Shape 9"/>
          <p:cNvSpPr/>
          <p:nvPr/>
        </p:nvSpPr>
        <p:spPr>
          <a:xfrm>
            <a:off x="4319626" y="1298448"/>
            <a:ext cx="781812" cy="283464"/>
          </a:xfrm>
          <a:prstGeom prst="roundRect">
            <a:avLst>
              <a:gd name="adj" fmla="val 50000"/>
            </a:avLst>
          </a:prstGeom>
          <a:solidFill>
            <a:srgbClr val="0E1626"/>
          </a:solidFill>
          <a:ln w="12700">
            <a:solidFill>
              <a:srgbClr val="0E1626"/>
            </a:solidFill>
            <a:prstDash val="solid"/>
          </a:ln>
        </p:spPr>
      </p:sp>
      <p:sp>
        <p:nvSpPr>
          <p:cNvPr id="12" name="Text 10"/>
          <p:cNvSpPr txBox="1"/>
          <p:nvPr/>
        </p:nvSpPr>
        <p:spPr>
          <a:xfrm>
            <a:off x="4319626" y="1298448"/>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13" name="Text 11"/>
          <p:cNvSpPr txBox="1"/>
          <p:nvPr/>
        </p:nvSpPr>
        <p:spPr>
          <a:xfrm>
            <a:off x="621792"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01.</a:t>
            </a:r>
            <a:endParaRPr lang="en-US" sz="1400" dirty="0"/>
          </a:p>
        </p:txBody>
      </p:sp>
      <p:sp>
        <p:nvSpPr>
          <p:cNvPr id="14" name="Text 12"/>
          <p:cNvSpPr txBox="1"/>
          <p:nvPr/>
        </p:nvSpPr>
        <p:spPr>
          <a:xfrm>
            <a:off x="1335024"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Urgensi Teori Etika</a:t>
            </a:r>
            <a:endParaRPr lang="en-US" sz="1400" dirty="0"/>
          </a:p>
        </p:txBody>
      </p:sp>
      <p:sp>
        <p:nvSpPr>
          <p:cNvPr id="15" name="Text 13"/>
          <p:cNvSpPr txBox="1"/>
          <p:nvPr/>
        </p:nvSpPr>
        <p:spPr>
          <a:xfrm>
            <a:off x="1335024"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Dasar penalaran bagi keputusan bisnis</a:t>
            </a:r>
            <a:endParaRPr lang="en-US" sz="1150" dirty="0"/>
          </a:p>
        </p:txBody>
      </p:sp>
      <p:sp>
        <p:nvSpPr>
          <p:cNvPr id="16" name="Shape 14"/>
          <p:cNvSpPr/>
          <p:nvPr/>
        </p:nvSpPr>
        <p:spPr>
          <a:xfrm>
            <a:off x="621792" y="2578608"/>
            <a:ext cx="5291176" cy="10058"/>
          </a:xfrm>
          <a:prstGeom prst="rect">
            <a:avLst/>
          </a:prstGeom>
          <a:solidFill>
            <a:srgbClr val="DDD8CE"/>
          </a:solidFill>
          <a:ln/>
        </p:spPr>
      </p:sp>
      <p:sp>
        <p:nvSpPr>
          <p:cNvPr id="17" name="Text 15"/>
          <p:cNvSpPr txBox="1"/>
          <p:nvPr/>
        </p:nvSpPr>
        <p:spPr>
          <a:xfrm>
            <a:off x="621792"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02.</a:t>
            </a:r>
            <a:endParaRPr lang="en-US" sz="1400" dirty="0"/>
          </a:p>
        </p:txBody>
      </p:sp>
      <p:sp>
        <p:nvSpPr>
          <p:cNvPr id="18" name="Text 16"/>
          <p:cNvSpPr txBox="1"/>
          <p:nvPr/>
        </p:nvSpPr>
        <p:spPr>
          <a:xfrm>
            <a:off x="1335024"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Tiga Posisi Moral</a:t>
            </a:r>
            <a:endParaRPr lang="en-US" sz="1400" dirty="0"/>
          </a:p>
        </p:txBody>
      </p:sp>
      <p:sp>
        <p:nvSpPr>
          <p:cNvPr id="19" name="Text 17"/>
          <p:cNvSpPr txBox="1"/>
          <p:nvPr/>
        </p:nvSpPr>
        <p:spPr>
          <a:xfrm>
            <a:off x="1335024"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Absolutism, relativism, pluralism</a:t>
            </a:r>
            <a:endParaRPr lang="en-US" sz="1150" dirty="0"/>
          </a:p>
        </p:txBody>
      </p:sp>
      <p:sp>
        <p:nvSpPr>
          <p:cNvPr id="20" name="Shape 18"/>
          <p:cNvSpPr/>
          <p:nvPr/>
        </p:nvSpPr>
        <p:spPr>
          <a:xfrm>
            <a:off x="621792" y="3383280"/>
            <a:ext cx="5291176" cy="10058"/>
          </a:xfrm>
          <a:prstGeom prst="rect">
            <a:avLst/>
          </a:prstGeom>
          <a:solidFill>
            <a:srgbClr val="DDD8CE"/>
          </a:solidFill>
          <a:ln/>
        </p:spPr>
      </p:sp>
      <p:sp>
        <p:nvSpPr>
          <p:cNvPr id="21" name="Text 19"/>
          <p:cNvSpPr txBox="1"/>
          <p:nvPr/>
        </p:nvSpPr>
        <p:spPr>
          <a:xfrm>
            <a:off x="621792"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03.</a:t>
            </a:r>
            <a:endParaRPr lang="en-US" sz="1400" dirty="0"/>
          </a:p>
        </p:txBody>
      </p:sp>
      <p:sp>
        <p:nvSpPr>
          <p:cNvPr id="22" name="Text 20"/>
          <p:cNvSpPr txBox="1"/>
          <p:nvPr/>
        </p:nvSpPr>
        <p:spPr>
          <a:xfrm>
            <a:off x="1335024"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Taksonomi Teori</a:t>
            </a:r>
            <a:endParaRPr lang="en-US" sz="1400" dirty="0"/>
          </a:p>
        </p:txBody>
      </p:sp>
      <p:sp>
        <p:nvSpPr>
          <p:cNvPr id="23" name="Text 21"/>
          <p:cNvSpPr txBox="1"/>
          <p:nvPr/>
        </p:nvSpPr>
        <p:spPr>
          <a:xfrm>
            <a:off x="1335024"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Consequentialist dan principle-based</a:t>
            </a:r>
            <a:endParaRPr lang="en-US" sz="1150" dirty="0"/>
          </a:p>
        </p:txBody>
      </p:sp>
      <p:sp>
        <p:nvSpPr>
          <p:cNvPr id="24" name="Shape 22"/>
          <p:cNvSpPr/>
          <p:nvPr/>
        </p:nvSpPr>
        <p:spPr>
          <a:xfrm>
            <a:off x="621792" y="4187952"/>
            <a:ext cx="5291176" cy="10058"/>
          </a:xfrm>
          <a:prstGeom prst="rect">
            <a:avLst/>
          </a:prstGeom>
          <a:solidFill>
            <a:srgbClr val="DDD8CE"/>
          </a:solidFill>
          <a:ln/>
        </p:spPr>
      </p:sp>
      <p:sp>
        <p:nvSpPr>
          <p:cNvPr id="25" name="Text 23"/>
          <p:cNvSpPr txBox="1"/>
          <p:nvPr/>
        </p:nvSpPr>
        <p:spPr>
          <a:xfrm>
            <a:off x="621792"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04.</a:t>
            </a:r>
            <a:endParaRPr lang="en-US" sz="1400" dirty="0"/>
          </a:p>
        </p:txBody>
      </p:sp>
      <p:sp>
        <p:nvSpPr>
          <p:cNvPr id="26" name="Text 24"/>
          <p:cNvSpPr txBox="1"/>
          <p:nvPr/>
        </p:nvSpPr>
        <p:spPr>
          <a:xfrm>
            <a:off x="1335024"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Ethical Dilemma 3</a:t>
            </a:r>
            <a:endParaRPr lang="en-US" sz="1400" dirty="0"/>
          </a:p>
        </p:txBody>
      </p:sp>
      <p:sp>
        <p:nvSpPr>
          <p:cNvPr id="27" name="Text 25"/>
          <p:cNvSpPr txBox="1"/>
          <p:nvPr/>
        </p:nvSpPr>
        <p:spPr>
          <a:xfrm>
            <a:off x="1335024"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Kasus penguji yang dipakai sepanjang bab</a:t>
            </a:r>
            <a:endParaRPr lang="en-US" sz="1150" dirty="0"/>
          </a:p>
        </p:txBody>
      </p:sp>
      <p:sp>
        <p:nvSpPr>
          <p:cNvPr id="28" name="Shape 26"/>
          <p:cNvSpPr/>
          <p:nvPr/>
        </p:nvSpPr>
        <p:spPr>
          <a:xfrm>
            <a:off x="621792" y="4992624"/>
            <a:ext cx="5291176" cy="10058"/>
          </a:xfrm>
          <a:prstGeom prst="rect">
            <a:avLst/>
          </a:prstGeom>
          <a:solidFill>
            <a:srgbClr val="DDD8CE"/>
          </a:solidFill>
          <a:ln/>
        </p:spPr>
      </p:sp>
      <p:sp>
        <p:nvSpPr>
          <p:cNvPr id="29" name="Text 27"/>
          <p:cNvSpPr txBox="1"/>
          <p:nvPr/>
        </p:nvSpPr>
        <p:spPr>
          <a:xfrm>
            <a:off x="621792"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05.</a:t>
            </a:r>
            <a:endParaRPr lang="en-US" sz="1400" dirty="0"/>
          </a:p>
        </p:txBody>
      </p:sp>
      <p:sp>
        <p:nvSpPr>
          <p:cNvPr id="30" name="Text 28"/>
          <p:cNvSpPr txBox="1"/>
          <p:nvPr/>
        </p:nvSpPr>
        <p:spPr>
          <a:xfrm>
            <a:off x="1335024"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Teori Consequentialist</a:t>
            </a:r>
            <a:endParaRPr lang="en-US" sz="1400" dirty="0"/>
          </a:p>
        </p:txBody>
      </p:sp>
      <p:sp>
        <p:nvSpPr>
          <p:cNvPr id="31" name="Text 29"/>
          <p:cNvSpPr txBox="1"/>
          <p:nvPr/>
        </p:nvSpPr>
        <p:spPr>
          <a:xfrm>
            <a:off x="1335024"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Ethical egoism dan utilitarianism</a:t>
            </a:r>
            <a:endParaRPr lang="en-US" sz="1150" dirty="0"/>
          </a:p>
        </p:txBody>
      </p:sp>
      <p:sp>
        <p:nvSpPr>
          <p:cNvPr id="32" name="Shape 30"/>
          <p:cNvSpPr/>
          <p:nvPr/>
        </p:nvSpPr>
        <p:spPr>
          <a:xfrm>
            <a:off x="621792" y="5797296"/>
            <a:ext cx="5291176" cy="10058"/>
          </a:xfrm>
          <a:prstGeom prst="rect">
            <a:avLst/>
          </a:prstGeom>
          <a:solidFill>
            <a:srgbClr val="DDD8CE"/>
          </a:solidFill>
          <a:ln/>
        </p:spPr>
      </p:sp>
      <p:sp>
        <p:nvSpPr>
          <p:cNvPr id="33" name="Text 31"/>
          <p:cNvSpPr txBox="1"/>
          <p:nvPr/>
        </p:nvSpPr>
        <p:spPr>
          <a:xfrm>
            <a:off x="6278728"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06.</a:t>
            </a:r>
            <a:endParaRPr lang="en-US" sz="1400" dirty="0"/>
          </a:p>
        </p:txBody>
      </p:sp>
      <p:sp>
        <p:nvSpPr>
          <p:cNvPr id="34" name="Text 32"/>
          <p:cNvSpPr txBox="1"/>
          <p:nvPr/>
        </p:nvSpPr>
        <p:spPr>
          <a:xfrm>
            <a:off x="6991960"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Teori Principle-based</a:t>
            </a:r>
            <a:endParaRPr lang="en-US" sz="1400" dirty="0"/>
          </a:p>
        </p:txBody>
      </p:sp>
      <p:sp>
        <p:nvSpPr>
          <p:cNvPr id="35" name="Text 33"/>
          <p:cNvSpPr txBox="1"/>
          <p:nvPr/>
        </p:nvSpPr>
        <p:spPr>
          <a:xfrm>
            <a:off x="6991960"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Duty, rights, dan justice</a:t>
            </a:r>
            <a:endParaRPr lang="en-US" sz="1150" dirty="0"/>
          </a:p>
        </p:txBody>
      </p:sp>
      <p:sp>
        <p:nvSpPr>
          <p:cNvPr id="36" name="Shape 34"/>
          <p:cNvSpPr/>
          <p:nvPr/>
        </p:nvSpPr>
        <p:spPr>
          <a:xfrm>
            <a:off x="6278728" y="2578608"/>
            <a:ext cx="5291176" cy="10058"/>
          </a:xfrm>
          <a:prstGeom prst="rect">
            <a:avLst/>
          </a:prstGeom>
          <a:solidFill>
            <a:srgbClr val="DDD8CE"/>
          </a:solidFill>
          <a:ln/>
        </p:spPr>
      </p:sp>
      <p:sp>
        <p:nvSpPr>
          <p:cNvPr id="37" name="Text 35"/>
          <p:cNvSpPr txBox="1"/>
          <p:nvPr/>
        </p:nvSpPr>
        <p:spPr>
          <a:xfrm>
            <a:off x="6278728"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07.</a:t>
            </a:r>
            <a:endParaRPr lang="en-US" sz="1400" dirty="0"/>
          </a:p>
        </p:txBody>
      </p:sp>
      <p:sp>
        <p:nvSpPr>
          <p:cNvPr id="38" name="Text 36"/>
          <p:cNvSpPr txBox="1"/>
          <p:nvPr/>
        </p:nvSpPr>
        <p:spPr>
          <a:xfrm>
            <a:off x="6991960"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Kritik dan Keterbatasan</a:t>
            </a:r>
            <a:endParaRPr lang="en-US" sz="1400" dirty="0"/>
          </a:p>
        </p:txBody>
      </p:sp>
      <p:sp>
        <p:nvSpPr>
          <p:cNvPr id="39" name="Text 37"/>
          <p:cNvSpPr txBox="1"/>
          <p:nvPr/>
        </p:nvSpPr>
        <p:spPr>
          <a:xfrm>
            <a:off x="6991960"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Batas teori Barat modern</a:t>
            </a:r>
            <a:endParaRPr lang="en-US" sz="1150" dirty="0"/>
          </a:p>
        </p:txBody>
      </p:sp>
      <p:sp>
        <p:nvSpPr>
          <p:cNvPr id="40" name="Shape 38"/>
          <p:cNvSpPr/>
          <p:nvPr/>
        </p:nvSpPr>
        <p:spPr>
          <a:xfrm>
            <a:off x="6278728" y="3383280"/>
            <a:ext cx="5291176" cy="10058"/>
          </a:xfrm>
          <a:prstGeom prst="rect">
            <a:avLst/>
          </a:prstGeom>
          <a:solidFill>
            <a:srgbClr val="DDD8CE"/>
          </a:solidFill>
          <a:ln/>
        </p:spPr>
      </p:sp>
      <p:sp>
        <p:nvSpPr>
          <p:cNvPr id="41" name="Text 39"/>
          <p:cNvSpPr txBox="1"/>
          <p:nvPr/>
        </p:nvSpPr>
        <p:spPr>
          <a:xfrm>
            <a:off x="6278728"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08.</a:t>
            </a:r>
            <a:endParaRPr lang="en-US" sz="1400" dirty="0"/>
          </a:p>
        </p:txBody>
      </p:sp>
      <p:sp>
        <p:nvSpPr>
          <p:cNvPr id="42" name="Text 40"/>
          <p:cNvSpPr txBox="1"/>
          <p:nvPr/>
        </p:nvSpPr>
        <p:spPr>
          <a:xfrm>
            <a:off x="6991960"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Perspektif Alternatif</a:t>
            </a:r>
            <a:endParaRPr lang="en-US" sz="1400" dirty="0"/>
          </a:p>
        </p:txBody>
      </p:sp>
      <p:sp>
        <p:nvSpPr>
          <p:cNvPr id="43" name="Text 41"/>
          <p:cNvSpPr txBox="1"/>
          <p:nvPr/>
        </p:nvSpPr>
        <p:spPr>
          <a:xfrm>
            <a:off x="6991960"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Virtue, care, discourse, postmodern</a:t>
            </a:r>
            <a:endParaRPr lang="en-US" sz="1150" dirty="0"/>
          </a:p>
        </p:txBody>
      </p:sp>
      <p:sp>
        <p:nvSpPr>
          <p:cNvPr id="44" name="Shape 42"/>
          <p:cNvSpPr/>
          <p:nvPr/>
        </p:nvSpPr>
        <p:spPr>
          <a:xfrm>
            <a:off x="6278728" y="4187952"/>
            <a:ext cx="5291176" cy="10058"/>
          </a:xfrm>
          <a:prstGeom prst="rect">
            <a:avLst/>
          </a:prstGeom>
          <a:solidFill>
            <a:srgbClr val="DDD8CE"/>
          </a:solidFill>
          <a:ln/>
        </p:spPr>
      </p:sp>
      <p:sp>
        <p:nvSpPr>
          <p:cNvPr id="45" name="Text 43"/>
          <p:cNvSpPr txBox="1"/>
          <p:nvPr/>
        </p:nvSpPr>
        <p:spPr>
          <a:xfrm>
            <a:off x="6278728"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09.</a:t>
            </a:r>
            <a:endParaRPr lang="en-US" sz="1400" dirty="0"/>
          </a:p>
        </p:txBody>
      </p:sp>
      <p:sp>
        <p:nvSpPr>
          <p:cNvPr id="46" name="Text 44"/>
          <p:cNvSpPr txBox="1"/>
          <p:nvPr/>
        </p:nvSpPr>
        <p:spPr>
          <a:xfrm>
            <a:off x="6991960"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Dari Lensa ke Prisma</a:t>
            </a:r>
            <a:endParaRPr lang="en-US" sz="1400" dirty="0"/>
          </a:p>
        </p:txBody>
      </p:sp>
      <p:sp>
        <p:nvSpPr>
          <p:cNvPr id="47" name="Text 45"/>
          <p:cNvSpPr txBox="1"/>
          <p:nvPr/>
        </p:nvSpPr>
        <p:spPr>
          <a:xfrm>
            <a:off x="6991960"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Pesan utama Chapter 3</a:t>
            </a:r>
            <a:endParaRPr lang="en-US" sz="1150" dirty="0"/>
          </a:p>
        </p:txBody>
      </p:sp>
      <p:sp>
        <p:nvSpPr>
          <p:cNvPr id="48" name="Shape 46"/>
          <p:cNvSpPr/>
          <p:nvPr/>
        </p:nvSpPr>
        <p:spPr>
          <a:xfrm>
            <a:off x="6278728" y="4992624"/>
            <a:ext cx="5291176" cy="10058"/>
          </a:xfrm>
          <a:prstGeom prst="rect">
            <a:avLst/>
          </a:prstGeom>
          <a:solidFill>
            <a:srgbClr val="DDD8CE"/>
          </a:solidFill>
          <a:ln/>
        </p:spPr>
      </p:sp>
      <p:sp>
        <p:nvSpPr>
          <p:cNvPr id="49" name="Text 47"/>
          <p:cNvSpPr txBox="1"/>
          <p:nvPr/>
        </p:nvSpPr>
        <p:spPr>
          <a:xfrm>
            <a:off x="6278728"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10.</a:t>
            </a:r>
            <a:endParaRPr lang="en-US" sz="1400" dirty="0"/>
          </a:p>
        </p:txBody>
      </p:sp>
      <p:sp>
        <p:nvSpPr>
          <p:cNvPr id="50" name="Text 48"/>
          <p:cNvSpPr txBox="1"/>
          <p:nvPr/>
        </p:nvSpPr>
        <p:spPr>
          <a:xfrm>
            <a:off x="6991960"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Canada’s Oil Sands</a:t>
            </a:r>
            <a:endParaRPr lang="en-US" sz="1400" dirty="0"/>
          </a:p>
        </p:txBody>
      </p:sp>
      <p:sp>
        <p:nvSpPr>
          <p:cNvPr id="51" name="Text 49"/>
          <p:cNvSpPr txBox="1"/>
          <p:nvPr/>
        </p:nvSpPr>
        <p:spPr>
          <a:xfrm>
            <a:off x="6991960"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Sembilan teori diuji pada satu kasus</a:t>
            </a:r>
            <a:endParaRPr lang="en-US" sz="1150" dirty="0"/>
          </a:p>
        </p:txBody>
      </p:sp>
      <p:sp>
        <p:nvSpPr>
          <p:cNvPr id="52" name="Shape 50"/>
          <p:cNvSpPr/>
          <p:nvPr/>
        </p:nvSpPr>
        <p:spPr>
          <a:xfrm>
            <a:off x="6278728" y="5797296"/>
            <a:ext cx="5291176" cy="10058"/>
          </a:xfrm>
          <a:prstGeom prst="rect">
            <a:avLst/>
          </a:prstGeom>
          <a:solidFill>
            <a:srgbClr val="DDD8CE"/>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324966"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PERAN TEORI</a:t>
            </a:r>
            <a:endParaRPr lang="en-US" sz="950" dirty="0"/>
          </a:p>
        </p:txBody>
      </p:sp>
      <p:sp>
        <p:nvSpPr>
          <p:cNvPr id="5" name="Shape 3"/>
          <p:cNvSpPr/>
          <p:nvPr/>
        </p:nvSpPr>
        <p:spPr>
          <a:xfrm>
            <a:off x="2065630" y="457200"/>
            <a:ext cx="150601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065630"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86–88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Urgensi Teori Etika Normatif</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Keputusan bisnis harus bisa dipertahankan di hadapan pihak yang menanggung akibatnya.</a:t>
            </a:r>
            <a:endParaRPr lang="en-US" sz="1350" dirty="0"/>
          </a:p>
        </p:txBody>
      </p:sp>
      <p:sp>
        <p:nvSpPr>
          <p:cNvPr id="10" name="Shape 8"/>
          <p:cNvSpPr/>
          <p:nvPr/>
        </p:nvSpPr>
        <p:spPr>
          <a:xfrm>
            <a:off x="621792" y="1975104"/>
            <a:ext cx="3503066" cy="2139696"/>
          </a:xfrm>
          <a:prstGeom prst="roundRect">
            <a:avLst>
              <a:gd name="adj" fmla="val 6838"/>
            </a:avLst>
          </a:prstGeom>
          <a:solidFill>
            <a:srgbClr val="FF5A2D"/>
          </a:solidFill>
          <a:ln/>
        </p:spPr>
      </p:sp>
      <p:sp>
        <p:nvSpPr>
          <p:cNvPr id="11" name="Shape 9"/>
          <p:cNvSpPr/>
          <p:nvPr/>
        </p:nvSpPr>
        <p:spPr>
          <a:xfrm>
            <a:off x="859536" y="2176272"/>
            <a:ext cx="283464" cy="283464"/>
          </a:xfrm>
          <a:prstGeom prst="roundRect">
            <a:avLst>
              <a:gd name="adj" fmla="val 32258"/>
            </a:avLst>
          </a:prstGeom>
          <a:solidFill>
            <a:srgbClr val="FF744F"/>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3" name="Text 11"/>
          <p:cNvSpPr txBox="1"/>
          <p:nvPr/>
        </p:nvSpPr>
        <p:spPr>
          <a:xfrm>
            <a:off x="859536"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Kompleksitas Konteks</a:t>
            </a:r>
            <a:endParaRPr lang="en-US" sz="1400" dirty="0"/>
          </a:p>
        </p:txBody>
      </p:sp>
      <p:sp>
        <p:nvSpPr>
          <p:cNvPr id="14" name="Text 12"/>
          <p:cNvSpPr txBox="1"/>
          <p:nvPr/>
        </p:nvSpPr>
        <p:spPr>
          <a:xfrm>
            <a:off x="859536"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Perusahaan yang masuk ke negara berkembang menghadapi suap, standar kerja rendah, dan diskriminasi.</a:t>
            </a:r>
            <a:endParaRPr lang="en-US" sz="1150" dirty="0"/>
          </a:p>
        </p:txBody>
      </p:sp>
      <p:sp>
        <p:nvSpPr>
          <p:cNvPr id="15" name="Shape 13"/>
          <p:cNvSpPr/>
          <p:nvPr/>
        </p:nvSpPr>
        <p:spPr>
          <a:xfrm>
            <a:off x="4344314" y="1975104"/>
            <a:ext cx="3503066" cy="2139696"/>
          </a:xfrm>
          <a:prstGeom prst="roundRect">
            <a:avLst>
              <a:gd name="adj" fmla="val 6838"/>
            </a:avLst>
          </a:prstGeom>
          <a:solidFill>
            <a:srgbClr val="B8A6F5"/>
          </a:solidFill>
          <a:ln/>
        </p:spPr>
      </p:sp>
      <p:sp>
        <p:nvSpPr>
          <p:cNvPr id="16" name="Shape 14"/>
          <p:cNvSpPr/>
          <p:nvPr/>
        </p:nvSpPr>
        <p:spPr>
          <a:xfrm>
            <a:off x="4582058" y="2176272"/>
            <a:ext cx="283464" cy="283464"/>
          </a:xfrm>
          <a:prstGeom prst="roundRect">
            <a:avLst>
              <a:gd name="adj" fmla="val 32258"/>
            </a:avLst>
          </a:prstGeom>
          <a:solidFill>
            <a:srgbClr val="9D8FD4"/>
          </a:solidFill>
          <a:ln/>
        </p:spPr>
      </p:sp>
      <p:sp>
        <p:nvSpPr>
          <p:cNvPr id="17" name="Text 15"/>
          <p:cNvSpPr txBox="1"/>
          <p:nvPr/>
        </p:nvSpPr>
        <p:spPr>
          <a:xfrm>
            <a:off x="4582058"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82058"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Kewajiban Justifikasi</a:t>
            </a:r>
            <a:endParaRPr lang="en-US" sz="1400" dirty="0"/>
          </a:p>
        </p:txBody>
      </p:sp>
      <p:sp>
        <p:nvSpPr>
          <p:cNvPr id="19" name="Text 17"/>
          <p:cNvSpPr txBox="1"/>
          <p:nvPr/>
        </p:nvSpPr>
        <p:spPr>
          <a:xfrm>
            <a:off x="4582058"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Manajer perlu membenarkan pilihannya kepada pemegang saham, karyawan, dan masyarakat luas.</a:t>
            </a:r>
            <a:endParaRPr lang="en-US" sz="1150" dirty="0"/>
          </a:p>
        </p:txBody>
      </p:sp>
      <p:sp>
        <p:nvSpPr>
          <p:cNvPr id="20" name="Shape 18"/>
          <p:cNvSpPr/>
          <p:nvPr/>
        </p:nvSpPr>
        <p:spPr>
          <a:xfrm>
            <a:off x="8066837" y="1975104"/>
            <a:ext cx="3503066" cy="2139696"/>
          </a:xfrm>
          <a:prstGeom prst="roundRect">
            <a:avLst>
              <a:gd name="adj" fmla="val 6838"/>
            </a:avLst>
          </a:prstGeom>
          <a:solidFill>
            <a:srgbClr val="0E1626"/>
          </a:solidFill>
          <a:ln/>
        </p:spPr>
      </p:sp>
      <p:sp>
        <p:nvSpPr>
          <p:cNvPr id="21" name="Shape 19"/>
          <p:cNvSpPr/>
          <p:nvPr/>
        </p:nvSpPr>
        <p:spPr>
          <a:xfrm>
            <a:off x="8304581" y="2176272"/>
            <a:ext cx="283464" cy="283464"/>
          </a:xfrm>
          <a:prstGeom prst="roundRect">
            <a:avLst>
              <a:gd name="adj" fmla="val 32258"/>
            </a:avLst>
          </a:prstGeom>
          <a:solidFill>
            <a:srgbClr val="353B49"/>
          </a:solidFill>
          <a:ln/>
        </p:spPr>
      </p:sp>
      <p:sp>
        <p:nvSpPr>
          <p:cNvPr id="22" name="Text 20"/>
          <p:cNvSpPr txBox="1"/>
          <p:nvPr/>
        </p:nvSpPr>
        <p:spPr>
          <a:xfrm>
            <a:off x="8304581"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3" name="Text 21"/>
          <p:cNvSpPr txBox="1"/>
          <p:nvPr/>
        </p:nvSpPr>
        <p:spPr>
          <a:xfrm>
            <a:off x="8304581"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Kritik Menuntut Landasan</a:t>
            </a:r>
            <a:endParaRPr lang="en-US" sz="1400" dirty="0"/>
          </a:p>
        </p:txBody>
      </p:sp>
      <p:sp>
        <p:nvSpPr>
          <p:cNvPr id="24" name="Text 22"/>
          <p:cNvSpPr txBox="1"/>
          <p:nvPr/>
        </p:nvSpPr>
        <p:spPr>
          <a:xfrm>
            <a:off x="8304581"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Pihak yang menyebut sebuah perusahaan tidak etis memerlukan landasan yang sama kuatnya.</a:t>
            </a:r>
            <a:endParaRPr lang="en-US" sz="1150" dirty="0"/>
          </a:p>
        </p:txBody>
      </p:sp>
      <p:sp>
        <p:nvSpPr>
          <p:cNvPr id="25" name="Shape 23"/>
          <p:cNvSpPr/>
          <p:nvPr/>
        </p:nvSpPr>
        <p:spPr>
          <a:xfrm>
            <a:off x="621792" y="4297680"/>
            <a:ext cx="10948111" cy="1517904"/>
          </a:xfrm>
          <a:prstGeom prst="roundRect">
            <a:avLst>
              <a:gd name="adj" fmla="val 9639"/>
            </a:avLst>
          </a:prstGeom>
          <a:solidFill>
            <a:srgbClr val="FFFFFF"/>
          </a:solidFill>
          <a:ln/>
        </p:spPr>
      </p:sp>
      <p:sp>
        <p:nvSpPr>
          <p:cNvPr id="26" name="Shape 24"/>
          <p:cNvSpPr/>
          <p:nvPr/>
        </p:nvSpPr>
        <p:spPr>
          <a:xfrm>
            <a:off x="621792" y="4352544"/>
            <a:ext cx="50292" cy="1408176"/>
          </a:xfrm>
          <a:prstGeom prst="rect">
            <a:avLst/>
          </a:prstGeom>
          <a:solidFill>
            <a:srgbClr val="FF5A2D"/>
          </a:solidFill>
          <a:ln/>
        </p:spPr>
      </p:sp>
      <p:sp>
        <p:nvSpPr>
          <p:cNvPr id="27" name="Text 25"/>
          <p:cNvSpPr txBox="1"/>
          <p:nvPr/>
        </p:nvSpPr>
        <p:spPr>
          <a:xfrm>
            <a:off x="896112" y="4462272"/>
            <a:ext cx="10399471" cy="950976"/>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Normative ethical theories adalah aturan, prinsip, dan pendekatan yang menentukan mana yang benar dan mana yang salah.</a:t>
            </a:r>
            <a:endParaRPr lang="en-US" sz="1250" dirty="0"/>
          </a:p>
        </p:txBody>
      </p:sp>
      <p:sp>
        <p:nvSpPr>
          <p:cNvPr id="28" name="Text 26"/>
          <p:cNvSpPr txBox="1"/>
          <p:nvPr/>
        </p:nvSpPr>
        <p:spPr>
          <a:xfrm>
            <a:off x="896112" y="5431536"/>
            <a:ext cx="10399471"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CRANE ET AL. (2019) · HALAMAN 87</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415491"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415491"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POSISI MORAL</a:t>
            </a:r>
            <a:endParaRPr lang="en-US" sz="950" dirty="0"/>
          </a:p>
        </p:txBody>
      </p:sp>
      <p:sp>
        <p:nvSpPr>
          <p:cNvPr id="5" name="Shape 3"/>
          <p:cNvSpPr/>
          <p:nvPr/>
        </p:nvSpPr>
        <p:spPr>
          <a:xfrm>
            <a:off x="2156155" y="457200"/>
            <a:ext cx="150601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156155"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89–91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04</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Absolutism, Relativism, Pluralism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Buku ini berdiri di posisi yang ketiga.</a:t>
            </a:r>
            <a:endParaRPr lang="en-US" sz="1350" dirty="0"/>
          </a:p>
        </p:txBody>
      </p:sp>
      <p:sp>
        <p:nvSpPr>
          <p:cNvPr id="10" name="Shape 8"/>
          <p:cNvSpPr/>
          <p:nvPr/>
        </p:nvSpPr>
        <p:spPr>
          <a:xfrm>
            <a:off x="621792" y="1975104"/>
            <a:ext cx="3503066" cy="2212848"/>
          </a:xfrm>
          <a:prstGeom prst="roundRect">
            <a:avLst>
              <a:gd name="adj" fmla="val 6612"/>
            </a:avLst>
          </a:prstGeom>
          <a:solidFill>
            <a:srgbClr val="F5B722"/>
          </a:solidFill>
          <a:ln/>
        </p:spPr>
      </p:sp>
      <p:sp>
        <p:nvSpPr>
          <p:cNvPr id="11" name="Shape 9"/>
          <p:cNvSpPr/>
          <p:nvPr/>
        </p:nvSpPr>
        <p:spPr>
          <a:xfrm>
            <a:off x="859536" y="2176272"/>
            <a:ext cx="283464" cy="283464"/>
          </a:xfrm>
          <a:prstGeom prst="roundRect">
            <a:avLst>
              <a:gd name="adj" fmla="val 32258"/>
            </a:avLst>
          </a:prstGeom>
          <a:solidFill>
            <a:srgbClr val="D09D23"/>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01</a:t>
            </a:r>
            <a:endParaRPr lang="en-US" sz="1050" dirty="0"/>
          </a:p>
        </p:txBody>
      </p:sp>
      <p:sp>
        <p:nvSpPr>
          <p:cNvPr id="13" name="Text 11"/>
          <p:cNvSpPr txBox="1"/>
          <p:nvPr/>
        </p:nvSpPr>
        <p:spPr>
          <a:xfrm>
            <a:off x="859536"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Absolutism</a:t>
            </a:r>
            <a:endParaRPr lang="en-US" sz="1400" dirty="0"/>
          </a:p>
        </p:txBody>
      </p:sp>
      <p:sp>
        <p:nvSpPr>
          <p:cNvPr id="14" name="Text 12"/>
          <p:cNvSpPr txBox="1"/>
          <p:nvPr/>
        </p:nvSpPr>
        <p:spPr>
          <a:xfrm>
            <a:off x="859536"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Ada prinsip moral abadi yang berlaku universal. Benar dan salah adalah kualitas objektif yang dapat ditentukan secara rasional.</a:t>
            </a:r>
            <a:endParaRPr lang="en-US" sz="1150" dirty="0"/>
          </a:p>
        </p:txBody>
      </p:sp>
      <p:sp>
        <p:nvSpPr>
          <p:cNvPr id="15" name="Shape 13"/>
          <p:cNvSpPr/>
          <p:nvPr/>
        </p:nvSpPr>
        <p:spPr>
          <a:xfrm>
            <a:off x="4344314" y="1975104"/>
            <a:ext cx="3503066" cy="2212848"/>
          </a:xfrm>
          <a:prstGeom prst="roundRect">
            <a:avLst>
              <a:gd name="adj" fmla="val 6612"/>
            </a:avLst>
          </a:prstGeom>
          <a:solidFill>
            <a:srgbClr val="0FA98E"/>
          </a:solidFill>
          <a:ln/>
        </p:spPr>
      </p:sp>
      <p:sp>
        <p:nvSpPr>
          <p:cNvPr id="16" name="Shape 14"/>
          <p:cNvSpPr/>
          <p:nvPr/>
        </p:nvSpPr>
        <p:spPr>
          <a:xfrm>
            <a:off x="4582058" y="2176272"/>
            <a:ext cx="283464" cy="283464"/>
          </a:xfrm>
          <a:prstGeom prst="roundRect">
            <a:avLst>
              <a:gd name="adj" fmla="val 32258"/>
            </a:avLst>
          </a:prstGeom>
          <a:solidFill>
            <a:srgbClr val="35B7A0"/>
          </a:solidFill>
          <a:ln/>
        </p:spPr>
      </p:sp>
      <p:sp>
        <p:nvSpPr>
          <p:cNvPr id="17" name="Text 15"/>
          <p:cNvSpPr txBox="1"/>
          <p:nvPr/>
        </p:nvSpPr>
        <p:spPr>
          <a:xfrm>
            <a:off x="4582058"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82058"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Relativism</a:t>
            </a:r>
            <a:endParaRPr lang="en-US" sz="1400" dirty="0"/>
          </a:p>
        </p:txBody>
      </p:sp>
      <p:sp>
        <p:nvSpPr>
          <p:cNvPr id="19" name="Text 17"/>
          <p:cNvSpPr txBox="1"/>
          <p:nvPr/>
        </p:nvSpPr>
        <p:spPr>
          <a:xfrm>
            <a:off x="4582058"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Moralitas bergantung pada konteks dan bersifat subjektif. Tidak ada benar dan salah yang berlaku di mana saja.</a:t>
            </a:r>
            <a:endParaRPr lang="en-US" sz="1150" dirty="0"/>
          </a:p>
        </p:txBody>
      </p:sp>
      <p:sp>
        <p:nvSpPr>
          <p:cNvPr id="20" name="Shape 18"/>
          <p:cNvSpPr/>
          <p:nvPr/>
        </p:nvSpPr>
        <p:spPr>
          <a:xfrm>
            <a:off x="8066837" y="1975104"/>
            <a:ext cx="3503066" cy="2212848"/>
          </a:xfrm>
          <a:prstGeom prst="roundRect">
            <a:avLst>
              <a:gd name="adj" fmla="val 6612"/>
            </a:avLst>
          </a:prstGeom>
          <a:solidFill>
            <a:srgbClr val="B8A6F5"/>
          </a:solidFill>
          <a:ln/>
        </p:spPr>
      </p:sp>
      <p:sp>
        <p:nvSpPr>
          <p:cNvPr id="21" name="Shape 19"/>
          <p:cNvSpPr/>
          <p:nvPr/>
        </p:nvSpPr>
        <p:spPr>
          <a:xfrm>
            <a:off x="8304581" y="2176272"/>
            <a:ext cx="283464" cy="283464"/>
          </a:xfrm>
          <a:prstGeom prst="roundRect">
            <a:avLst>
              <a:gd name="adj" fmla="val 32258"/>
            </a:avLst>
          </a:prstGeom>
          <a:solidFill>
            <a:srgbClr val="9D8FD4"/>
          </a:solidFill>
          <a:ln/>
        </p:spPr>
      </p:sp>
      <p:sp>
        <p:nvSpPr>
          <p:cNvPr id="22" name="Text 20"/>
          <p:cNvSpPr txBox="1"/>
          <p:nvPr/>
        </p:nvSpPr>
        <p:spPr>
          <a:xfrm>
            <a:off x="8304581"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03</a:t>
            </a:r>
            <a:endParaRPr lang="en-US" sz="1050" dirty="0"/>
          </a:p>
        </p:txBody>
      </p:sp>
      <p:sp>
        <p:nvSpPr>
          <p:cNvPr id="23" name="Text 21"/>
          <p:cNvSpPr txBox="1"/>
          <p:nvPr/>
        </p:nvSpPr>
        <p:spPr>
          <a:xfrm>
            <a:off x="8304581"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Pluralism</a:t>
            </a:r>
            <a:endParaRPr lang="en-US" sz="1400" dirty="0"/>
          </a:p>
        </p:txBody>
      </p:sp>
      <p:sp>
        <p:nvSpPr>
          <p:cNvPr id="24" name="Text 22"/>
          <p:cNvSpPr txBox="1"/>
          <p:nvPr/>
        </p:nvSpPr>
        <p:spPr>
          <a:xfrm>
            <a:off x="8304581"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Nilai yang tidak sepadan dapat sama-sama sah dan perlu ditoleransi, tanpa menyamakan seluruh perspektif.</a:t>
            </a:r>
            <a:endParaRPr lang="en-US" sz="1150" dirty="0"/>
          </a:p>
        </p:txBody>
      </p:sp>
      <p:sp>
        <p:nvSpPr>
          <p:cNvPr id="25" name="Shape 23"/>
          <p:cNvSpPr/>
          <p:nvPr/>
        </p:nvSpPr>
        <p:spPr>
          <a:xfrm>
            <a:off x="621792" y="4370832"/>
            <a:ext cx="10948111" cy="713232"/>
          </a:xfrm>
          <a:prstGeom prst="roundRect">
            <a:avLst>
              <a:gd name="adj" fmla="val 20513"/>
            </a:avLst>
          </a:prstGeom>
          <a:solidFill>
            <a:srgbClr val="C6F04A"/>
          </a:solidFill>
          <a:ln/>
        </p:spPr>
      </p:sp>
      <p:sp>
        <p:nvSpPr>
          <p:cNvPr id="26" name="Text 24"/>
          <p:cNvSpPr txBox="1"/>
          <p:nvPr/>
        </p:nvSpPr>
        <p:spPr>
          <a:xfrm>
            <a:off x="941832" y="4504563"/>
            <a:ext cx="10308031" cy="56692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Pluralism bukan berarti semua pendapat sama benar. Konflik antarperspektif tetap harus dihadapi, bukan didiamkan.</a:t>
            </a:r>
            <a:endParaRPr lang="en-US" sz="1300" dirty="0"/>
          </a:p>
        </p:txBody>
      </p:sp>
      <p:sp>
        <p:nvSpPr>
          <p:cNvPr id="27" name="Shape 25"/>
          <p:cNvSpPr/>
          <p:nvPr/>
        </p:nvSpPr>
        <p:spPr>
          <a:xfrm>
            <a:off x="621792" y="5248656"/>
            <a:ext cx="10948111" cy="859536"/>
          </a:xfrm>
          <a:prstGeom prst="roundRect">
            <a:avLst>
              <a:gd name="adj" fmla="val 17021"/>
            </a:avLst>
          </a:prstGeom>
          <a:solidFill>
            <a:srgbClr val="FFFFFF"/>
          </a:solidFill>
          <a:ln/>
        </p:spPr>
      </p:sp>
      <p:sp>
        <p:nvSpPr>
          <p:cNvPr id="28" name="Shape 26"/>
          <p:cNvSpPr/>
          <p:nvPr/>
        </p:nvSpPr>
        <p:spPr>
          <a:xfrm>
            <a:off x="621792" y="5303520"/>
            <a:ext cx="50292" cy="749808"/>
          </a:xfrm>
          <a:prstGeom prst="rect">
            <a:avLst/>
          </a:prstGeom>
          <a:solidFill>
            <a:srgbClr val="B8A6F5"/>
          </a:solidFill>
          <a:ln/>
        </p:spPr>
      </p:sp>
      <p:sp>
        <p:nvSpPr>
          <p:cNvPr id="29" name="Text 27"/>
          <p:cNvSpPr txBox="1"/>
          <p:nvPr/>
        </p:nvSpPr>
        <p:spPr>
          <a:xfrm>
            <a:off x="896112" y="5413248"/>
            <a:ext cx="10399471" cy="292608"/>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Kelemahannya: pluralism dikhawatirkan terlalu toleran. Sebagian praktik memang keliru dan tidak layak ditoleransi.</a:t>
            </a:r>
            <a:endParaRPr lang="en-US" sz="1250" dirty="0"/>
          </a:p>
        </p:txBody>
      </p:sp>
      <p:sp>
        <p:nvSpPr>
          <p:cNvPr id="30" name="Text 28"/>
          <p:cNvSpPr txBox="1"/>
          <p:nvPr/>
        </p:nvSpPr>
        <p:spPr>
          <a:xfrm>
            <a:off x="896112" y="5724144"/>
            <a:ext cx="10399471"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LIU (2018)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958645"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958645"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BARAT MODERN</a:t>
            </a:r>
            <a:endParaRPr lang="en-US" sz="950" dirty="0"/>
          </a:p>
        </p:txBody>
      </p:sp>
      <p:sp>
        <p:nvSpPr>
          <p:cNvPr id="5" name="Shape 3"/>
          <p:cNvSpPr/>
          <p:nvPr/>
        </p:nvSpPr>
        <p:spPr>
          <a:xfrm>
            <a:off x="2699309" y="457200"/>
            <a:ext cx="114391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699309"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TABEL 3.1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05</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Taksonomi Teori Barat Modern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Lahir dari Pencerahan abad ke-18, menawarkan satu aturan untuk segala situasi.</a:t>
            </a:r>
            <a:endParaRPr lang="en-US" sz="1350" dirty="0"/>
          </a:p>
        </p:txBody>
      </p:sp>
      <p:sp>
        <p:nvSpPr>
          <p:cNvPr id="10" name="Shape 8"/>
          <p:cNvSpPr/>
          <p:nvPr/>
        </p:nvSpPr>
        <p:spPr>
          <a:xfrm>
            <a:off x="621792" y="1975104"/>
            <a:ext cx="5346040" cy="1737360"/>
          </a:xfrm>
          <a:prstGeom prst="roundRect">
            <a:avLst>
              <a:gd name="adj" fmla="val 8421"/>
            </a:avLst>
          </a:prstGeom>
          <a:solidFill>
            <a:srgbClr val="FF5A2D"/>
          </a:solidFill>
          <a:ln/>
        </p:spPr>
      </p:sp>
      <p:sp>
        <p:nvSpPr>
          <p:cNvPr id="11" name="Text 9"/>
          <p:cNvSpPr txBox="1"/>
          <p:nvPr/>
        </p:nvSpPr>
        <p:spPr>
          <a:xfrm>
            <a:off x="859536" y="2194560"/>
            <a:ext cx="4870552" cy="292608"/>
          </a:xfrm>
          <a:prstGeom prst="rect">
            <a:avLst/>
          </a:prstGeom>
          <a:noFill/>
          <a:ln/>
        </p:spPr>
        <p:txBody>
          <a:bodyPr wrap="square" lIns="0" tIns="0" rIns="0" bIns="0" rtlCol="0" anchor="t"/>
          <a:lstStyle/>
          <a:p>
            <a:pPr indent="0" marL="0">
              <a:lnSpc>
                <a:spcPts val="2196"/>
              </a:lnSpc>
              <a:buNone/>
            </a:pPr>
            <a:r>
              <a:rPr lang="en-US" sz="1800" b="1" dirty="0">
                <a:solidFill>
                  <a:srgbClr val="FFFFFF"/>
                </a:solidFill>
                <a:latin typeface="Calibri" pitchFamily="34" charset="0"/>
                <a:ea typeface="Calibri" pitchFamily="34" charset="-122"/>
                <a:cs typeface="Calibri" pitchFamily="34" charset="-120"/>
              </a:rPr>
              <a:t>Consequentialist</a:t>
            </a:r>
            <a:endParaRPr lang="en-US" sz="1800" dirty="0"/>
          </a:p>
        </p:txBody>
      </p:sp>
      <p:sp>
        <p:nvSpPr>
          <p:cNvPr id="12" name="Text 10"/>
          <p:cNvSpPr txBox="1"/>
          <p:nvPr/>
        </p:nvSpPr>
        <p:spPr>
          <a:xfrm>
            <a:off x="859536" y="2560320"/>
            <a:ext cx="4870552" cy="102412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moralitas dari hasil sebuah tindakan. Hasil yang diinginkan berarti tindakannya benar.</a:t>
            </a:r>
            <a:endParaRPr lang="en-US" sz="1150" dirty="0"/>
          </a:p>
        </p:txBody>
      </p:sp>
      <p:sp>
        <p:nvSpPr>
          <p:cNvPr id="13" name="Shape 11"/>
          <p:cNvSpPr/>
          <p:nvPr/>
        </p:nvSpPr>
        <p:spPr>
          <a:xfrm>
            <a:off x="6223864" y="1975104"/>
            <a:ext cx="5346040" cy="1737360"/>
          </a:xfrm>
          <a:prstGeom prst="roundRect">
            <a:avLst>
              <a:gd name="adj" fmla="val 8421"/>
            </a:avLst>
          </a:prstGeom>
          <a:solidFill>
            <a:srgbClr val="0E1626"/>
          </a:solidFill>
          <a:ln/>
        </p:spPr>
      </p:sp>
      <p:sp>
        <p:nvSpPr>
          <p:cNvPr id="14" name="Text 12"/>
          <p:cNvSpPr txBox="1"/>
          <p:nvPr/>
        </p:nvSpPr>
        <p:spPr>
          <a:xfrm>
            <a:off x="6461608" y="2194560"/>
            <a:ext cx="4870552" cy="292608"/>
          </a:xfrm>
          <a:prstGeom prst="rect">
            <a:avLst/>
          </a:prstGeom>
          <a:noFill/>
          <a:ln/>
        </p:spPr>
        <p:txBody>
          <a:bodyPr wrap="square" lIns="0" tIns="0" rIns="0" bIns="0" rtlCol="0" anchor="t"/>
          <a:lstStyle/>
          <a:p>
            <a:pPr indent="0" marL="0">
              <a:lnSpc>
                <a:spcPts val="2196"/>
              </a:lnSpc>
              <a:buNone/>
            </a:pPr>
            <a:r>
              <a:rPr lang="en-US" sz="1800" b="1" dirty="0">
                <a:solidFill>
                  <a:srgbClr val="FFFFFF"/>
                </a:solidFill>
                <a:latin typeface="Calibri" pitchFamily="34" charset="0"/>
                <a:ea typeface="Calibri" pitchFamily="34" charset="-122"/>
                <a:cs typeface="Calibri" pitchFamily="34" charset="-120"/>
              </a:rPr>
              <a:t>Principle-based</a:t>
            </a:r>
            <a:endParaRPr lang="en-US" sz="1800" dirty="0"/>
          </a:p>
        </p:txBody>
      </p:sp>
      <p:sp>
        <p:nvSpPr>
          <p:cNvPr id="15" name="Text 13"/>
          <p:cNvSpPr txBox="1"/>
          <p:nvPr/>
        </p:nvSpPr>
        <p:spPr>
          <a:xfrm>
            <a:off x="6461608" y="2560320"/>
            <a:ext cx="4870552" cy="102412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moralitas dari prinsip dan prosedur memperolehnya. Mengutamakan apa yang benar, bukan yang diinginkan.</a:t>
            </a:r>
            <a:endParaRPr lang="en-US" sz="1150" dirty="0"/>
          </a:p>
        </p:txBody>
      </p:sp>
      <p:sp>
        <p:nvSpPr>
          <p:cNvPr id="16" name="Shape 14"/>
          <p:cNvSpPr/>
          <p:nvPr/>
        </p:nvSpPr>
        <p:spPr>
          <a:xfrm>
            <a:off x="621792" y="3877056"/>
            <a:ext cx="2599868" cy="1042416"/>
          </a:xfrm>
          <a:prstGeom prst="roundRect">
            <a:avLst>
              <a:gd name="adj" fmla="val 14035"/>
            </a:avLst>
          </a:prstGeom>
          <a:solidFill>
            <a:srgbClr val="FFFFFF"/>
          </a:solidFill>
          <a:ln/>
        </p:spPr>
      </p:sp>
      <p:sp>
        <p:nvSpPr>
          <p:cNvPr id="17" name="Shape 15"/>
          <p:cNvSpPr/>
          <p:nvPr/>
        </p:nvSpPr>
        <p:spPr>
          <a:xfrm>
            <a:off x="621792" y="3877056"/>
            <a:ext cx="2599868" cy="64008"/>
          </a:xfrm>
          <a:prstGeom prst="rect">
            <a:avLst/>
          </a:prstGeom>
          <a:solidFill>
            <a:srgbClr val="FF5A2D"/>
          </a:solidFill>
          <a:ln/>
        </p:spPr>
      </p:sp>
      <p:sp>
        <p:nvSpPr>
          <p:cNvPr id="18" name="Text 16"/>
          <p:cNvSpPr txBox="1"/>
          <p:nvPr/>
        </p:nvSpPr>
        <p:spPr>
          <a:xfrm>
            <a:off x="841248"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Ethical Egoism</a:t>
            </a:r>
            <a:endParaRPr lang="en-US" sz="1350" dirty="0"/>
          </a:p>
        </p:txBody>
      </p:sp>
      <p:sp>
        <p:nvSpPr>
          <p:cNvPr id="19" name="Text 17"/>
          <p:cNvSpPr txBox="1"/>
          <p:nvPr/>
        </p:nvSpPr>
        <p:spPr>
          <a:xfrm>
            <a:off x="841248"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Hobbes · Rand</a:t>
            </a:r>
            <a:endParaRPr lang="en-US" sz="1100" dirty="0"/>
          </a:p>
        </p:txBody>
      </p:sp>
      <p:sp>
        <p:nvSpPr>
          <p:cNvPr id="20" name="Shape 18"/>
          <p:cNvSpPr/>
          <p:nvPr/>
        </p:nvSpPr>
        <p:spPr>
          <a:xfrm>
            <a:off x="3404540" y="3877056"/>
            <a:ext cx="2599868" cy="1042416"/>
          </a:xfrm>
          <a:prstGeom prst="roundRect">
            <a:avLst>
              <a:gd name="adj" fmla="val 14035"/>
            </a:avLst>
          </a:prstGeom>
          <a:solidFill>
            <a:srgbClr val="FFFFFF"/>
          </a:solidFill>
          <a:ln/>
        </p:spPr>
      </p:sp>
      <p:sp>
        <p:nvSpPr>
          <p:cNvPr id="21" name="Shape 19"/>
          <p:cNvSpPr/>
          <p:nvPr/>
        </p:nvSpPr>
        <p:spPr>
          <a:xfrm>
            <a:off x="3404540" y="3877056"/>
            <a:ext cx="2599868" cy="64008"/>
          </a:xfrm>
          <a:prstGeom prst="rect">
            <a:avLst/>
          </a:prstGeom>
          <a:solidFill>
            <a:srgbClr val="FF5A2D"/>
          </a:solidFill>
          <a:ln/>
        </p:spPr>
      </p:sp>
      <p:sp>
        <p:nvSpPr>
          <p:cNvPr id="22" name="Text 20"/>
          <p:cNvSpPr txBox="1"/>
          <p:nvPr/>
        </p:nvSpPr>
        <p:spPr>
          <a:xfrm>
            <a:off x="3623996"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Utilitarianism</a:t>
            </a:r>
            <a:endParaRPr lang="en-US" sz="1350" dirty="0"/>
          </a:p>
        </p:txBody>
      </p:sp>
      <p:sp>
        <p:nvSpPr>
          <p:cNvPr id="23" name="Text 21"/>
          <p:cNvSpPr txBox="1"/>
          <p:nvPr/>
        </p:nvSpPr>
        <p:spPr>
          <a:xfrm>
            <a:off x="3623996"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Bentham · Mill</a:t>
            </a:r>
            <a:endParaRPr lang="en-US" sz="1100" dirty="0"/>
          </a:p>
        </p:txBody>
      </p:sp>
      <p:sp>
        <p:nvSpPr>
          <p:cNvPr id="24" name="Shape 22"/>
          <p:cNvSpPr/>
          <p:nvPr/>
        </p:nvSpPr>
        <p:spPr>
          <a:xfrm>
            <a:off x="6187288" y="3877056"/>
            <a:ext cx="2599868" cy="1042416"/>
          </a:xfrm>
          <a:prstGeom prst="roundRect">
            <a:avLst>
              <a:gd name="adj" fmla="val 14035"/>
            </a:avLst>
          </a:prstGeom>
          <a:solidFill>
            <a:srgbClr val="FFFFFF"/>
          </a:solidFill>
          <a:ln/>
        </p:spPr>
      </p:sp>
      <p:sp>
        <p:nvSpPr>
          <p:cNvPr id="25" name="Shape 23"/>
          <p:cNvSpPr/>
          <p:nvPr/>
        </p:nvSpPr>
        <p:spPr>
          <a:xfrm>
            <a:off x="6187288" y="3877056"/>
            <a:ext cx="2599868" cy="64008"/>
          </a:xfrm>
          <a:prstGeom prst="rect">
            <a:avLst/>
          </a:prstGeom>
          <a:solidFill>
            <a:srgbClr val="0E1626"/>
          </a:solidFill>
          <a:ln/>
        </p:spPr>
      </p:sp>
      <p:sp>
        <p:nvSpPr>
          <p:cNvPr id="26" name="Text 24"/>
          <p:cNvSpPr txBox="1"/>
          <p:nvPr/>
        </p:nvSpPr>
        <p:spPr>
          <a:xfrm>
            <a:off x="6406744"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Ethics of Duties</a:t>
            </a:r>
            <a:endParaRPr lang="en-US" sz="1350" dirty="0"/>
          </a:p>
        </p:txBody>
      </p:sp>
      <p:sp>
        <p:nvSpPr>
          <p:cNvPr id="27" name="Text 25"/>
          <p:cNvSpPr txBox="1"/>
          <p:nvPr/>
        </p:nvSpPr>
        <p:spPr>
          <a:xfrm>
            <a:off x="6406744"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Immanuel Kant</a:t>
            </a:r>
            <a:endParaRPr lang="en-US" sz="1100" dirty="0"/>
          </a:p>
        </p:txBody>
      </p:sp>
      <p:sp>
        <p:nvSpPr>
          <p:cNvPr id="28" name="Shape 26"/>
          <p:cNvSpPr/>
          <p:nvPr/>
        </p:nvSpPr>
        <p:spPr>
          <a:xfrm>
            <a:off x="8970035" y="3877056"/>
            <a:ext cx="2599868" cy="1042416"/>
          </a:xfrm>
          <a:prstGeom prst="roundRect">
            <a:avLst>
              <a:gd name="adj" fmla="val 14035"/>
            </a:avLst>
          </a:prstGeom>
          <a:solidFill>
            <a:srgbClr val="FFFFFF"/>
          </a:solidFill>
          <a:ln/>
        </p:spPr>
      </p:sp>
      <p:sp>
        <p:nvSpPr>
          <p:cNvPr id="29" name="Shape 27"/>
          <p:cNvSpPr/>
          <p:nvPr/>
        </p:nvSpPr>
        <p:spPr>
          <a:xfrm>
            <a:off x="8970035" y="3877056"/>
            <a:ext cx="2599868" cy="64008"/>
          </a:xfrm>
          <a:prstGeom prst="rect">
            <a:avLst/>
          </a:prstGeom>
          <a:solidFill>
            <a:srgbClr val="0E1626"/>
          </a:solidFill>
          <a:ln/>
        </p:spPr>
      </p:sp>
      <p:sp>
        <p:nvSpPr>
          <p:cNvPr id="30" name="Text 28"/>
          <p:cNvSpPr txBox="1"/>
          <p:nvPr/>
        </p:nvSpPr>
        <p:spPr>
          <a:xfrm>
            <a:off x="9189491"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Rights &amp; Justice</a:t>
            </a:r>
            <a:endParaRPr lang="en-US" sz="1350" dirty="0"/>
          </a:p>
        </p:txBody>
      </p:sp>
      <p:sp>
        <p:nvSpPr>
          <p:cNvPr id="31" name="Text 29"/>
          <p:cNvSpPr txBox="1"/>
          <p:nvPr/>
        </p:nvSpPr>
        <p:spPr>
          <a:xfrm>
            <a:off x="9189491"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Locke · Rousseau · Rawls</a:t>
            </a:r>
            <a:endParaRPr lang="en-US" sz="1100" dirty="0"/>
          </a:p>
        </p:txBody>
      </p:sp>
      <p:sp>
        <p:nvSpPr>
          <p:cNvPr id="32" name="Shape 30"/>
          <p:cNvSpPr/>
          <p:nvPr/>
        </p:nvSpPr>
        <p:spPr>
          <a:xfrm>
            <a:off x="621792" y="5102352"/>
            <a:ext cx="10948111" cy="987552"/>
          </a:xfrm>
          <a:prstGeom prst="roundRect">
            <a:avLst>
              <a:gd name="adj" fmla="val 14815"/>
            </a:avLst>
          </a:prstGeom>
          <a:solidFill>
            <a:srgbClr val="0E1626"/>
          </a:solidFill>
          <a:ln/>
        </p:spPr>
      </p:sp>
      <p:sp>
        <p:nvSpPr>
          <p:cNvPr id="33" name="Text 31"/>
          <p:cNvSpPr txBox="1"/>
          <p:nvPr/>
        </p:nvSpPr>
        <p:spPr>
          <a:xfrm>
            <a:off x="941832" y="5364671"/>
            <a:ext cx="10308031" cy="841248"/>
          </a:xfrm>
          <a:prstGeom prst="rect">
            <a:avLst/>
          </a:prstGeom>
          <a:noFill/>
          <a:ln/>
        </p:spPr>
        <p:txBody>
          <a:bodyPr wrap="square" lIns="0" tIns="0" rIns="0" bIns="0" rtlCol="0" anchor="t"/>
          <a:lstStyle/>
          <a:p>
            <a:pPr indent="0" marL="0">
              <a:lnSpc>
                <a:spcPts val="1823"/>
              </a:lnSpc>
              <a:buNone/>
            </a:pPr>
            <a:r>
              <a:rPr lang="en-US" sz="1350" b="1" dirty="0">
                <a:solidFill>
                  <a:srgbClr val="FFFFFF"/>
                </a:solidFill>
                <a:latin typeface="Calibri" pitchFamily="34" charset="0"/>
                <a:ea typeface="Calibri" pitchFamily="34" charset="-122"/>
                <a:cs typeface="Calibri" pitchFamily="34" charset="-120"/>
              </a:rPr>
              <a:t>Konsep manusianya berbeda. Consequentialist memandang manusia digerakkan hasrat dan kesejahteraan; principle-based memandang manusia sebagai aktor moral rasional yang punya martabat.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59654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59654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PRODUCING TOYS</a:t>
            </a:r>
            <a:endParaRPr lang="en-US" sz="950" dirty="0"/>
          </a:p>
        </p:txBody>
      </p:sp>
      <p:sp>
        <p:nvSpPr>
          <p:cNvPr id="5" name="Shape 3"/>
          <p:cNvSpPr/>
          <p:nvPr/>
        </p:nvSpPr>
        <p:spPr>
          <a:xfrm>
            <a:off x="2337206"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337206"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94</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06</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Ethical Dilemma 3</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Satu kasus dipakai untuk menguji seluruh teori sepanjang bab ini.</a:t>
            </a:r>
            <a:endParaRPr lang="en-US" sz="1350" dirty="0"/>
          </a:p>
        </p:txBody>
      </p:sp>
      <p:sp>
        <p:nvSpPr>
          <p:cNvPr id="10" name="Shape 8"/>
          <p:cNvSpPr/>
          <p:nvPr/>
        </p:nvSpPr>
        <p:spPr>
          <a:xfrm>
            <a:off x="621792" y="1975104"/>
            <a:ext cx="6400800" cy="3072384"/>
          </a:xfrm>
          <a:prstGeom prst="roundRect">
            <a:avLst>
              <a:gd name="adj" fmla="val 4762"/>
            </a:avLst>
          </a:prstGeom>
          <a:solidFill>
            <a:srgbClr val="0E1626"/>
          </a:solidFill>
          <a:ln/>
        </p:spPr>
      </p:sp>
      <p:sp>
        <p:nvSpPr>
          <p:cNvPr id="11" name="Text 9"/>
          <p:cNvSpPr txBox="1"/>
          <p:nvPr/>
        </p:nvSpPr>
        <p:spPr>
          <a:xfrm>
            <a:off x="914400" y="2194560"/>
            <a:ext cx="5815584" cy="274320"/>
          </a:xfrm>
          <a:prstGeom prst="rect">
            <a:avLst/>
          </a:prstGeom>
          <a:noFill/>
          <a:ln/>
        </p:spPr>
        <p:txBody>
          <a:bodyPr wrap="square" lIns="0" tIns="0" rIns="0" bIns="0" rtlCol="0" anchor="t"/>
          <a:lstStyle/>
          <a:p>
            <a:pPr indent="0" marL="0">
              <a:buNone/>
            </a:pPr>
            <a:r>
              <a:rPr lang="en-US" sz="1100" b="1" spc="100" kern="0" dirty="0">
                <a:solidFill>
                  <a:srgbClr val="C6F04A"/>
                </a:solidFill>
                <a:latin typeface="Calibri" pitchFamily="34" charset="0"/>
                <a:ea typeface="Calibri" pitchFamily="34" charset="-122"/>
                <a:cs typeface="Calibri" pitchFamily="34" charset="-120"/>
              </a:rPr>
              <a:t>Situasinya</a:t>
            </a:r>
            <a:endParaRPr lang="en-US" sz="1100" dirty="0"/>
          </a:p>
        </p:txBody>
      </p:sp>
      <p:sp>
        <p:nvSpPr>
          <p:cNvPr id="12" name="Text 10"/>
          <p:cNvSpPr txBox="1"/>
          <p:nvPr/>
        </p:nvSpPr>
        <p:spPr>
          <a:xfrm>
            <a:off x="914400" y="2523744"/>
            <a:ext cx="5779008" cy="2286000"/>
          </a:xfrm>
          <a:prstGeom prst="rect">
            <a:avLst/>
          </a:prstGeom>
          <a:noFill/>
          <a:ln/>
        </p:spPr>
        <p:txBody>
          <a:bodyPr wrap="square" lIns="0" tIns="0" rIns="0" bIns="0" rtlCol="0" anchor="t"/>
          <a:lstStyle/>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Anda product manager perusahaan kembang gula yang menyertakan mainan plastik. Di Thailand Anda memperoleh harga sepertiga dari pemasok Portugal dengan kualitas setara.</a:t>
            </a:r>
            <a:endParaRPr lang="en-US" sz="1250" dirty="0"/>
          </a:p>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Saat meninjau produksi, tidak ada bengkel kerja. Komponen dibawa pulang oleh sekitar 30 pria. Di sebuah bangunan seperti garasi, satu keluarga merakit mainan: ayah, ibu, dan enam anak berusia 5 sampai 14 tahun.</a:t>
            </a:r>
            <a:endParaRPr lang="en-US" sz="1250" dirty="0"/>
          </a:p>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Ketika membeli suvenir untuk keponakan Anda yang berusia 5 dan 7 tahun, Anda mulai mempertanyakan semuanya.</a:t>
            </a:r>
            <a:endParaRPr lang="en-US" sz="1250" dirty="0"/>
          </a:p>
        </p:txBody>
      </p:sp>
      <p:sp>
        <p:nvSpPr>
          <p:cNvPr id="13" name="Shape 11"/>
          <p:cNvSpPr/>
          <p:nvPr/>
        </p:nvSpPr>
        <p:spPr>
          <a:xfrm>
            <a:off x="7278624" y="1975104"/>
            <a:ext cx="4291279" cy="1481328"/>
          </a:xfrm>
          <a:prstGeom prst="roundRect">
            <a:avLst>
              <a:gd name="adj" fmla="val 9877"/>
            </a:avLst>
          </a:prstGeom>
          <a:solidFill>
            <a:srgbClr val="FFFFFF"/>
          </a:solidFill>
          <a:ln/>
        </p:spPr>
      </p:sp>
      <p:sp>
        <p:nvSpPr>
          <p:cNvPr id="14" name="Text 12"/>
          <p:cNvSpPr txBox="1"/>
          <p:nvPr/>
        </p:nvSpPr>
        <p:spPr>
          <a:xfrm>
            <a:off x="7552944" y="2176272"/>
            <a:ext cx="3742639"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Dua Pertanyaan Buku</a:t>
            </a:r>
            <a:endParaRPr lang="en-US" sz="1350" dirty="0"/>
          </a:p>
        </p:txBody>
      </p:sp>
      <p:sp>
        <p:nvSpPr>
          <p:cNvPr id="15" name="Text 13"/>
          <p:cNvSpPr txBox="1"/>
          <p:nvPr/>
        </p:nvSpPr>
        <p:spPr>
          <a:xfrm>
            <a:off x="7589520" y="2505456"/>
            <a:ext cx="3651199" cy="82296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2A3243"/>
                </a:solidFill>
                <a:latin typeface="Calibri" pitchFamily="34" charset="0"/>
                <a:ea typeface="Calibri" pitchFamily="34" charset="-122"/>
                <a:cs typeface="Calibri" pitchFamily="34" charset="-120"/>
              </a:rPr>
              <a:t>Apa reaksi spontan Anda sebagai product manager?</a:t>
            </a:r>
            <a:endParaRPr lang="en-US" sz="1200" dirty="0"/>
          </a:p>
          <a:p>
            <a:pPr marL="342900" indent="-342900">
              <a:lnSpc>
                <a:spcPts val="1700"/>
              </a:lnSpc>
              <a:spcAft>
                <a:spcPts val="600"/>
              </a:spcAft>
              <a:buSzPct val="100000"/>
              <a:buChar char="•"/>
            </a:pPr>
            <a:r>
              <a:rPr lang="en-US" sz="1200" dirty="0">
                <a:solidFill>
                  <a:srgbClr val="2A3243"/>
                </a:solidFill>
                <a:latin typeface="Calibri" pitchFamily="34" charset="0"/>
                <a:ea typeface="Calibri" pitchFamily="34" charset="-122"/>
                <a:cs typeface="Calibri" pitchFamily="34" charset="-120"/>
              </a:rPr>
              <a:t>Nilai atau prinsip apa yang membuat Anda bereaksi begitu?</a:t>
            </a:r>
            <a:endParaRPr lang="en-US" sz="1200" dirty="0"/>
          </a:p>
        </p:txBody>
      </p:sp>
      <p:sp>
        <p:nvSpPr>
          <p:cNvPr id="16" name="Shape 14"/>
          <p:cNvSpPr/>
          <p:nvPr/>
        </p:nvSpPr>
        <p:spPr>
          <a:xfrm>
            <a:off x="7278624" y="3584448"/>
            <a:ext cx="4291279" cy="1463040"/>
          </a:xfrm>
          <a:prstGeom prst="roundRect">
            <a:avLst>
              <a:gd name="adj" fmla="val 10000"/>
            </a:avLst>
          </a:prstGeom>
          <a:solidFill>
            <a:srgbClr val="C6F04A"/>
          </a:solidFill>
          <a:ln/>
        </p:spPr>
      </p:sp>
      <p:sp>
        <p:nvSpPr>
          <p:cNvPr id="17" name="Text 15"/>
          <p:cNvSpPr txBox="1"/>
          <p:nvPr/>
        </p:nvSpPr>
        <p:spPr>
          <a:xfrm>
            <a:off x="7552944" y="3767328"/>
            <a:ext cx="3742639" cy="640080"/>
          </a:xfrm>
          <a:prstGeom prst="rect">
            <a:avLst/>
          </a:prstGeom>
          <a:noFill/>
          <a:ln/>
        </p:spPr>
        <p:txBody>
          <a:bodyPr wrap="square" lIns="0" tIns="0" rIns="0" bIns="0" rtlCol="0" anchor="t"/>
          <a:lstStyle/>
          <a:p>
            <a:pPr indent="0" marL="0">
              <a:buNone/>
            </a:pPr>
            <a:r>
              <a:rPr lang="en-US" sz="4200" b="1" dirty="0">
                <a:solidFill>
                  <a:srgbClr val="0E1626"/>
                </a:solidFill>
                <a:latin typeface="Calibri" pitchFamily="34" charset="0"/>
                <a:ea typeface="Calibri" pitchFamily="34" charset="-122"/>
                <a:cs typeface="Calibri" pitchFamily="34" charset="-120"/>
              </a:rPr>
              <a:t>9</a:t>
            </a:r>
            <a:pPr indent="0" marL="0">
              <a:buNone/>
            </a:pPr>
            <a:r>
              <a:rPr lang="en-US" sz="1600" b="1" dirty="0">
                <a:solidFill>
                  <a:srgbClr val="0E1626"/>
                </a:solidFill>
                <a:latin typeface="Calibri" pitchFamily="34" charset="0"/>
                <a:ea typeface="Calibri" pitchFamily="34" charset="-122"/>
                <a:cs typeface="Calibri" pitchFamily="34" charset="-120"/>
              </a:rPr>
              <a:t>  teori</a:t>
            </a:r>
            <a:endParaRPr lang="en-US" sz="4200" dirty="0"/>
          </a:p>
        </p:txBody>
      </p:sp>
      <p:sp>
        <p:nvSpPr>
          <p:cNvPr id="18" name="Text 16"/>
          <p:cNvSpPr txBox="1"/>
          <p:nvPr/>
        </p:nvSpPr>
        <p:spPr>
          <a:xfrm>
            <a:off x="7552944" y="4443984"/>
            <a:ext cx="3742639" cy="512064"/>
          </a:xfrm>
          <a:prstGeom prst="rect">
            <a:avLst/>
          </a:prstGeom>
          <a:noFill/>
          <a:ln/>
        </p:spPr>
        <p:txBody>
          <a:bodyPr wrap="square" lIns="0" tIns="0" rIns="0" bIns="0" rtlCol="0" anchor="t"/>
          <a:lstStyle/>
          <a:p>
            <a:pPr indent="0" marL="0">
              <a:lnSpc>
                <a:spcPts val="1500"/>
              </a:lnSpc>
              <a:buNone/>
            </a:pPr>
            <a:r>
              <a:rPr lang="en-US" sz="1150" dirty="0">
                <a:solidFill>
                  <a:srgbClr val="2A3243"/>
                </a:solidFill>
                <a:latin typeface="Calibri" pitchFamily="34" charset="0"/>
                <a:ea typeface="Calibri" pitchFamily="34" charset="-122"/>
                <a:cs typeface="Calibri" pitchFamily="34" charset="-120"/>
              </a:rPr>
              <a:t>menghasilkan sembilan jawaban berbeda atas rangkaian fakta yang persis sama.</a:t>
            </a:r>
            <a:endParaRPr lang="en-US" sz="1150" dirty="0"/>
          </a:p>
        </p:txBody>
      </p:sp>
      <p:sp>
        <p:nvSpPr>
          <p:cNvPr id="19" name="Shape 17"/>
          <p:cNvSpPr/>
          <p:nvPr/>
        </p:nvSpPr>
        <p:spPr>
          <a:xfrm>
            <a:off x="621792" y="5212080"/>
            <a:ext cx="10948111" cy="749808"/>
          </a:xfrm>
          <a:prstGeom prst="roundRect">
            <a:avLst>
              <a:gd name="adj" fmla="val 19512"/>
            </a:avLst>
          </a:prstGeom>
          <a:solidFill>
            <a:srgbClr val="FF5A2D"/>
          </a:solidFill>
          <a:ln/>
        </p:spPr>
      </p:sp>
      <p:sp>
        <p:nvSpPr>
          <p:cNvPr id="20" name="Text 18"/>
          <p:cNvSpPr txBox="1"/>
          <p:nvPr/>
        </p:nvSpPr>
        <p:spPr>
          <a:xfrm>
            <a:off x="941832" y="5475542"/>
            <a:ext cx="10308031" cy="603504"/>
          </a:xfrm>
          <a:prstGeom prst="rect">
            <a:avLst/>
          </a:prstGeom>
          <a:noFill/>
          <a:ln/>
        </p:spPr>
        <p:txBody>
          <a:bodyPr wrap="square" lIns="0" tIns="0" rIns="0" bIns="0" rtlCol="0" anchor="t"/>
          <a:lstStyle/>
          <a:p>
            <a:pPr indent="0" marL="0">
              <a:lnSpc>
                <a:spcPts val="1755"/>
              </a:lnSpc>
              <a:buNone/>
            </a:pPr>
            <a:r>
              <a:rPr lang="en-US" sz="1300" b="1" dirty="0">
                <a:solidFill>
                  <a:srgbClr val="FFFFFF"/>
                </a:solidFill>
                <a:latin typeface="Calibri" pitchFamily="34" charset="0"/>
                <a:ea typeface="Calibri" pitchFamily="34" charset="-122"/>
                <a:cs typeface="Calibri" pitchFamily="34" charset="-120"/>
              </a:rPr>
              <a:t>Simpan reaksi pertama Anda. Di akhir sesi kita bandingkan dengan hasil setelah kesembilan teori dijalankan.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01</a:t>
            </a:r>
            <a:endParaRPr lang="en-US" sz="950" dirty="0"/>
          </a:p>
        </p:txBody>
      </p:sp>
      <p:sp>
        <p:nvSpPr>
          <p:cNvPr id="5" name="Shape 3"/>
          <p:cNvSpPr/>
          <p:nvPr/>
        </p:nvSpPr>
        <p:spPr>
          <a:xfrm>
            <a:off x="1794053"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CONSEQUENTIALIST</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07</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Ethical Egoism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FF5A2D"/>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Sebuah tindakan benar secara moral apabila mendorong kepentingan diri jangka panjang pelakunya.</a:t>
            </a:r>
            <a:endParaRPr lang="en-US" sz="1250" dirty="0"/>
          </a:p>
        </p:txBody>
      </p:sp>
      <p:sp>
        <p:nvSpPr>
          <p:cNvPr id="12" name="Shape 10"/>
          <p:cNvSpPr/>
          <p:nvPr/>
        </p:nvSpPr>
        <p:spPr>
          <a:xfrm>
            <a:off x="621792" y="2432304"/>
            <a:ext cx="3503066" cy="2286000"/>
          </a:xfrm>
          <a:prstGeom prst="roundRect">
            <a:avLst>
              <a:gd name="adj" fmla="val 6400"/>
            </a:avLst>
          </a:prstGeom>
          <a:solidFill>
            <a:srgbClr val="FF5A2D"/>
          </a:solidFill>
          <a:ln/>
        </p:spPr>
      </p:sp>
      <p:sp>
        <p:nvSpPr>
          <p:cNvPr id="13" name="Shape 11"/>
          <p:cNvSpPr/>
          <p:nvPr/>
        </p:nvSpPr>
        <p:spPr>
          <a:xfrm>
            <a:off x="859536" y="2633472"/>
            <a:ext cx="283464" cy="283464"/>
          </a:xfrm>
          <a:prstGeom prst="roundRect">
            <a:avLst>
              <a:gd name="adj" fmla="val 32258"/>
            </a:avLst>
          </a:prstGeom>
          <a:solidFill>
            <a:srgbClr val="FF744F"/>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Invisible Hand</a:t>
            </a:r>
            <a:endParaRPr lang="en-US" sz="1400" dirty="0"/>
          </a:p>
        </p:txBody>
      </p:sp>
      <p:sp>
        <p:nvSpPr>
          <p:cNvPr id="16" name="Text 14"/>
          <p:cNvSpPr txBox="1"/>
          <p:nvPr/>
        </p:nvSpPr>
        <p:spPr>
          <a:xfrm>
            <a:off x="859536"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Adam Smith: kepentingan diri yang dikejar bersama dianggap menghasilkan kesejahteraan kolektif lewat mekanisme pasar.</a:t>
            </a:r>
            <a:endParaRPr lang="en-US" sz="1150" dirty="0"/>
          </a:p>
        </p:txBody>
      </p:sp>
      <p:sp>
        <p:nvSpPr>
          <p:cNvPr id="17" name="Shape 15"/>
          <p:cNvSpPr/>
          <p:nvPr/>
        </p:nvSpPr>
        <p:spPr>
          <a:xfrm>
            <a:off x="4344314" y="2432304"/>
            <a:ext cx="3503066" cy="2286000"/>
          </a:xfrm>
          <a:prstGeom prst="roundRect">
            <a:avLst>
              <a:gd name="adj" fmla="val 6400"/>
            </a:avLst>
          </a:prstGeom>
          <a:solidFill>
            <a:srgbClr val="B8A6F5"/>
          </a:solidFill>
          <a:ln/>
        </p:spPr>
      </p:sp>
      <p:sp>
        <p:nvSpPr>
          <p:cNvPr id="18" name="Shape 16"/>
          <p:cNvSpPr/>
          <p:nvPr/>
        </p:nvSpPr>
        <p:spPr>
          <a:xfrm>
            <a:off x="4582058" y="2633472"/>
            <a:ext cx="283464" cy="283464"/>
          </a:xfrm>
          <a:prstGeom prst="roundRect">
            <a:avLst>
              <a:gd name="adj" fmla="val 32258"/>
            </a:avLst>
          </a:prstGeom>
          <a:solidFill>
            <a:srgbClr val="9D8FD4"/>
          </a:solidFill>
          <a:ln/>
        </p:spPr>
      </p:sp>
      <p:sp>
        <p:nvSpPr>
          <p:cNvPr id="19" name="Text 17"/>
          <p:cNvSpPr txBox="1"/>
          <p:nvPr/>
        </p:nvSpPr>
        <p:spPr>
          <a:xfrm>
            <a:off x="4582058"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4582058"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Horizon Jangka Panjang</a:t>
            </a:r>
            <a:endParaRPr lang="en-US" sz="1400" dirty="0"/>
          </a:p>
        </p:txBody>
      </p:sp>
      <p:sp>
        <p:nvSpPr>
          <p:cNvPr id="21" name="Text 19"/>
          <p:cNvSpPr txBox="1"/>
          <p:nvPr/>
        </p:nvSpPr>
        <p:spPr>
          <a:xfrm>
            <a:off x="4582058"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Kepentingan jangka panjang justru menuntut kejujuran dan reputasi, bukan keuntungan yang habis dalam semalam.</a:t>
            </a:r>
            <a:endParaRPr lang="en-US" sz="1150" dirty="0"/>
          </a:p>
        </p:txBody>
      </p:sp>
      <p:sp>
        <p:nvSpPr>
          <p:cNvPr id="22" name="Shape 20"/>
          <p:cNvSpPr/>
          <p:nvPr/>
        </p:nvSpPr>
        <p:spPr>
          <a:xfrm>
            <a:off x="8066837" y="2432304"/>
            <a:ext cx="3503066" cy="2286000"/>
          </a:xfrm>
          <a:prstGeom prst="roundRect">
            <a:avLst>
              <a:gd name="adj" fmla="val 6400"/>
            </a:avLst>
          </a:prstGeom>
          <a:solidFill>
            <a:srgbClr val="0E1626"/>
          </a:solidFill>
          <a:ln/>
        </p:spPr>
      </p:sp>
      <p:sp>
        <p:nvSpPr>
          <p:cNvPr id="23" name="Shape 21"/>
          <p:cNvSpPr/>
          <p:nvPr/>
        </p:nvSpPr>
        <p:spPr>
          <a:xfrm>
            <a:off x="8304581" y="2633472"/>
            <a:ext cx="283464" cy="283464"/>
          </a:xfrm>
          <a:prstGeom prst="roundRect">
            <a:avLst>
              <a:gd name="adj" fmla="val 32258"/>
            </a:avLst>
          </a:prstGeom>
          <a:solidFill>
            <a:srgbClr val="353B49"/>
          </a:solidFill>
          <a:ln/>
        </p:spPr>
      </p:sp>
      <p:sp>
        <p:nvSpPr>
          <p:cNvPr id="24" name="Text 22"/>
          <p:cNvSpPr txBox="1"/>
          <p:nvPr/>
        </p:nvSpPr>
        <p:spPr>
          <a:xfrm>
            <a:off x="8304581"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5" name="Text 23"/>
          <p:cNvSpPr txBox="1"/>
          <p:nvPr/>
        </p:nvSpPr>
        <p:spPr>
          <a:xfrm>
            <a:off x="8304581"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Batas: Market Failure</a:t>
            </a:r>
            <a:endParaRPr lang="en-US" sz="1400" dirty="0"/>
          </a:p>
        </p:txBody>
      </p:sp>
      <p:sp>
        <p:nvSpPr>
          <p:cNvPr id="26" name="Text 24"/>
          <p:cNvSpPr txBox="1"/>
          <p:nvPr/>
        </p:nvSpPr>
        <p:spPr>
          <a:xfrm>
            <a:off x="8304581"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Pasar gagal ketika ada monopoli, informasi timpang, dan dampak yang tidak pernah masuk ke dalam harga.</a:t>
            </a:r>
            <a:endParaRPr lang="en-US" sz="1150" dirty="0"/>
          </a:p>
        </p:txBody>
      </p:sp>
      <p:sp>
        <p:nvSpPr>
          <p:cNvPr id="27" name="Shape 25"/>
          <p:cNvSpPr/>
          <p:nvPr/>
        </p:nvSpPr>
        <p:spPr>
          <a:xfrm>
            <a:off x="621792" y="4919472"/>
            <a:ext cx="10948111" cy="896112"/>
          </a:xfrm>
          <a:prstGeom prst="roundRect">
            <a:avLst>
              <a:gd name="adj" fmla="val 16327"/>
            </a:avLst>
          </a:prstGeom>
          <a:solidFill>
            <a:srgbClr val="F5B722"/>
          </a:solidFill>
          <a:ln/>
        </p:spPr>
      </p:sp>
      <p:sp>
        <p:nvSpPr>
          <p:cNvPr id="28" name="Text 26"/>
          <p:cNvSpPr txBox="1"/>
          <p:nvPr/>
        </p:nvSpPr>
        <p:spPr>
          <a:xfrm>
            <a:off x="941832" y="5144643"/>
            <a:ext cx="10308031" cy="74980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Pada Ethical Dilemma 3, melanjutkan kesepakatan menguntungkan Anda. Risiko reputasi membuat jawabannya tidak selugas itu.</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02</a:t>
            </a:r>
            <a:endParaRPr lang="en-US" sz="950" dirty="0"/>
          </a:p>
        </p:txBody>
      </p:sp>
      <p:sp>
        <p:nvSpPr>
          <p:cNvPr id="5" name="Shape 3"/>
          <p:cNvSpPr/>
          <p:nvPr/>
        </p:nvSpPr>
        <p:spPr>
          <a:xfrm>
            <a:off x="1794053"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CONSEQUENTIALIST</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08</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Utilitarianism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FF5A2D"/>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Sebuah tindakan benar apabila menghasilkan kebaikan terbesar untuk jumlah orang terbesar yang terdampak.</a:t>
            </a:r>
            <a:endParaRPr lang="en-US" sz="1250" dirty="0"/>
          </a:p>
        </p:txBody>
      </p:sp>
      <p:sp>
        <p:nvSpPr>
          <p:cNvPr id="12" name="Shape 10"/>
          <p:cNvSpPr/>
          <p:nvPr/>
        </p:nvSpPr>
        <p:spPr>
          <a:xfrm>
            <a:off x="621792" y="2432304"/>
            <a:ext cx="2599868" cy="2286000"/>
          </a:xfrm>
          <a:prstGeom prst="roundRect">
            <a:avLst>
              <a:gd name="adj" fmla="val 6400"/>
            </a:avLst>
          </a:prstGeom>
          <a:solidFill>
            <a:srgbClr val="FF5A2D"/>
          </a:solidFill>
          <a:ln/>
        </p:spPr>
      </p:sp>
      <p:sp>
        <p:nvSpPr>
          <p:cNvPr id="13" name="Shape 11"/>
          <p:cNvSpPr/>
          <p:nvPr/>
        </p:nvSpPr>
        <p:spPr>
          <a:xfrm>
            <a:off x="859536" y="2633472"/>
            <a:ext cx="283464" cy="283464"/>
          </a:xfrm>
          <a:prstGeom prst="roundRect">
            <a:avLst>
              <a:gd name="adj" fmla="val 32258"/>
            </a:avLst>
          </a:prstGeom>
          <a:solidFill>
            <a:srgbClr val="FF744F"/>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Consequentialism</a:t>
            </a:r>
            <a:endParaRPr lang="en-US" sz="1350" dirty="0"/>
          </a:p>
        </p:txBody>
      </p:sp>
      <p:sp>
        <p:nvSpPr>
          <p:cNvPr id="16" name="Text 14"/>
          <p:cNvSpPr txBox="1"/>
          <p:nvPr/>
        </p:nvSpPr>
        <p:spPr>
          <a:xfrm>
            <a:off x="859536"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Akibat sebuah tindakan yang menentukan benar salahnya.</a:t>
            </a:r>
            <a:endParaRPr lang="en-US" sz="1150" dirty="0"/>
          </a:p>
        </p:txBody>
      </p:sp>
      <p:sp>
        <p:nvSpPr>
          <p:cNvPr id="17" name="Shape 15"/>
          <p:cNvSpPr/>
          <p:nvPr/>
        </p:nvSpPr>
        <p:spPr>
          <a:xfrm>
            <a:off x="3404540" y="2432304"/>
            <a:ext cx="2599868" cy="2286000"/>
          </a:xfrm>
          <a:prstGeom prst="roundRect">
            <a:avLst>
              <a:gd name="adj" fmla="val 6400"/>
            </a:avLst>
          </a:prstGeom>
          <a:solidFill>
            <a:srgbClr val="B8A6F5"/>
          </a:solidFill>
          <a:ln/>
        </p:spPr>
      </p:sp>
      <p:sp>
        <p:nvSpPr>
          <p:cNvPr id="18" name="Shape 16"/>
          <p:cNvSpPr/>
          <p:nvPr/>
        </p:nvSpPr>
        <p:spPr>
          <a:xfrm>
            <a:off x="3642284" y="2633472"/>
            <a:ext cx="283464" cy="283464"/>
          </a:xfrm>
          <a:prstGeom prst="roundRect">
            <a:avLst>
              <a:gd name="adj" fmla="val 32258"/>
            </a:avLst>
          </a:prstGeom>
          <a:solidFill>
            <a:srgbClr val="9D8FD4"/>
          </a:solidFill>
          <a:ln/>
        </p:spPr>
      </p:sp>
      <p:sp>
        <p:nvSpPr>
          <p:cNvPr id="19" name="Text 17"/>
          <p:cNvSpPr txBox="1"/>
          <p:nvPr/>
        </p:nvSpPr>
        <p:spPr>
          <a:xfrm>
            <a:off x="3642284"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3642284"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Hedonism</a:t>
            </a:r>
            <a:endParaRPr lang="en-US" sz="1350" dirty="0"/>
          </a:p>
        </p:txBody>
      </p:sp>
      <p:sp>
        <p:nvSpPr>
          <p:cNvPr id="21" name="Text 19"/>
          <p:cNvSpPr txBox="1"/>
          <p:nvPr/>
        </p:nvSpPr>
        <p:spPr>
          <a:xfrm>
            <a:off x="3642284"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Utility diukur lewat pleasure, dikurangi pain, menjadi net pleasure.</a:t>
            </a:r>
            <a:endParaRPr lang="en-US" sz="1150" dirty="0"/>
          </a:p>
        </p:txBody>
      </p:sp>
      <p:sp>
        <p:nvSpPr>
          <p:cNvPr id="22" name="Shape 20"/>
          <p:cNvSpPr/>
          <p:nvPr/>
        </p:nvSpPr>
        <p:spPr>
          <a:xfrm>
            <a:off x="6187288" y="2432304"/>
            <a:ext cx="2599868" cy="2286000"/>
          </a:xfrm>
          <a:prstGeom prst="roundRect">
            <a:avLst>
              <a:gd name="adj" fmla="val 6400"/>
            </a:avLst>
          </a:prstGeom>
          <a:solidFill>
            <a:srgbClr val="0FA98E"/>
          </a:solidFill>
          <a:ln/>
        </p:spPr>
      </p:sp>
      <p:sp>
        <p:nvSpPr>
          <p:cNvPr id="23" name="Shape 21"/>
          <p:cNvSpPr/>
          <p:nvPr/>
        </p:nvSpPr>
        <p:spPr>
          <a:xfrm>
            <a:off x="6425032" y="2633472"/>
            <a:ext cx="283464" cy="283464"/>
          </a:xfrm>
          <a:prstGeom prst="roundRect">
            <a:avLst>
              <a:gd name="adj" fmla="val 32258"/>
            </a:avLst>
          </a:prstGeom>
          <a:solidFill>
            <a:srgbClr val="35B7A0"/>
          </a:solidFill>
          <a:ln/>
        </p:spPr>
      </p:sp>
      <p:sp>
        <p:nvSpPr>
          <p:cNvPr id="24" name="Text 22"/>
          <p:cNvSpPr txBox="1"/>
          <p:nvPr/>
        </p:nvSpPr>
        <p:spPr>
          <a:xfrm>
            <a:off x="6425032"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5" name="Text 23"/>
          <p:cNvSpPr txBox="1"/>
          <p:nvPr/>
        </p:nvSpPr>
        <p:spPr>
          <a:xfrm>
            <a:off x="6425032"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Maximalism</a:t>
            </a:r>
            <a:endParaRPr lang="en-US" sz="1350" dirty="0"/>
          </a:p>
        </p:txBody>
      </p:sp>
      <p:sp>
        <p:nvSpPr>
          <p:cNvPr id="26" name="Text 24"/>
          <p:cNvSpPr txBox="1"/>
          <p:nvPr/>
        </p:nvSpPr>
        <p:spPr>
          <a:xfrm>
            <a:off x="6425032"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Bukan sebagian akibat baik, melainkan jumlah terbesar yang mungkin.</a:t>
            </a:r>
            <a:endParaRPr lang="en-US" sz="1150" dirty="0"/>
          </a:p>
        </p:txBody>
      </p:sp>
      <p:sp>
        <p:nvSpPr>
          <p:cNvPr id="27" name="Shape 25"/>
          <p:cNvSpPr/>
          <p:nvPr/>
        </p:nvSpPr>
        <p:spPr>
          <a:xfrm>
            <a:off x="8970035" y="2432304"/>
            <a:ext cx="2599868" cy="2286000"/>
          </a:xfrm>
          <a:prstGeom prst="roundRect">
            <a:avLst>
              <a:gd name="adj" fmla="val 6400"/>
            </a:avLst>
          </a:prstGeom>
          <a:solidFill>
            <a:srgbClr val="0E1626"/>
          </a:solidFill>
          <a:ln/>
        </p:spPr>
      </p:sp>
      <p:sp>
        <p:nvSpPr>
          <p:cNvPr id="28" name="Shape 26"/>
          <p:cNvSpPr/>
          <p:nvPr/>
        </p:nvSpPr>
        <p:spPr>
          <a:xfrm>
            <a:off x="9207779" y="2633472"/>
            <a:ext cx="283464" cy="283464"/>
          </a:xfrm>
          <a:prstGeom prst="roundRect">
            <a:avLst>
              <a:gd name="adj" fmla="val 32258"/>
            </a:avLst>
          </a:prstGeom>
          <a:solidFill>
            <a:srgbClr val="353B49"/>
          </a:solidFill>
          <a:ln/>
        </p:spPr>
      </p:sp>
      <p:sp>
        <p:nvSpPr>
          <p:cNvPr id="29" name="Text 27"/>
          <p:cNvSpPr txBox="1"/>
          <p:nvPr/>
        </p:nvSpPr>
        <p:spPr>
          <a:xfrm>
            <a:off x="9207779"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30" name="Text 28"/>
          <p:cNvSpPr txBox="1"/>
          <p:nvPr/>
        </p:nvSpPr>
        <p:spPr>
          <a:xfrm>
            <a:off x="9207779"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Universalism</a:t>
            </a:r>
            <a:endParaRPr lang="en-US" sz="1350" dirty="0"/>
          </a:p>
        </p:txBody>
      </p:sp>
      <p:sp>
        <p:nvSpPr>
          <p:cNvPr id="31" name="Text 29"/>
          <p:cNvSpPr txBox="1"/>
          <p:nvPr/>
        </p:nvSpPr>
        <p:spPr>
          <a:xfrm>
            <a:off x="9207779"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Akibat untuk setiap orang wajib ikut dipertimbangkan.</a:t>
            </a:r>
            <a:endParaRPr lang="en-US" sz="1150" dirty="0"/>
          </a:p>
        </p:txBody>
      </p:sp>
      <p:sp>
        <p:nvSpPr>
          <p:cNvPr id="32" name="Shape 30"/>
          <p:cNvSpPr/>
          <p:nvPr/>
        </p:nvSpPr>
        <p:spPr>
          <a:xfrm>
            <a:off x="621792" y="4919472"/>
            <a:ext cx="10948111" cy="896112"/>
          </a:xfrm>
          <a:prstGeom prst="roundRect">
            <a:avLst>
              <a:gd name="adj" fmla="val 16327"/>
            </a:avLst>
          </a:prstGeom>
          <a:solidFill>
            <a:srgbClr val="C6F04A"/>
          </a:solidFill>
          <a:ln/>
        </p:spPr>
      </p:sp>
      <p:sp>
        <p:nvSpPr>
          <p:cNvPr id="33" name="Text 31"/>
          <p:cNvSpPr txBox="1"/>
          <p:nvPr/>
        </p:nvSpPr>
        <p:spPr>
          <a:xfrm>
            <a:off x="941832" y="5144643"/>
            <a:ext cx="10308031" cy="74980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Neraca pleasure dan pain pada Ethical Dilemma 3 condong ke melanjutkan kesepakatan. Hasil yang tidak nyaman itulah yang memunculkan empat masalah berikut.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02</a:t>
            </a:r>
            <a:endParaRPr lang="en-US" sz="950" dirty="0"/>
          </a:p>
        </p:txBody>
      </p:sp>
      <p:sp>
        <p:nvSpPr>
          <p:cNvPr id="5" name="Shape 3"/>
          <p:cNvSpPr/>
          <p:nvPr/>
        </p:nvSpPr>
        <p:spPr>
          <a:xfrm>
            <a:off x="1794053"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KRITIK INTERNAL</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09</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Keterbatasan Utilitarianism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Empat masalah pokok, lalu penyempurnaan Mill menjadi dua jenis penilaian.</a:t>
            </a:r>
            <a:endParaRPr lang="en-US" sz="1350" dirty="0"/>
          </a:p>
        </p:txBody>
      </p:sp>
      <p:sp>
        <p:nvSpPr>
          <p:cNvPr id="10" name="Shape 8"/>
          <p:cNvSpPr/>
          <p:nvPr/>
        </p:nvSpPr>
        <p:spPr>
          <a:xfrm>
            <a:off x="621792" y="1938528"/>
            <a:ext cx="2599868" cy="1828800"/>
          </a:xfrm>
          <a:prstGeom prst="roundRect">
            <a:avLst>
              <a:gd name="adj" fmla="val 8000"/>
            </a:avLst>
          </a:prstGeom>
          <a:solidFill>
            <a:srgbClr val="F5B722"/>
          </a:solidFill>
          <a:ln/>
        </p:spPr>
      </p:sp>
      <p:sp>
        <p:nvSpPr>
          <p:cNvPr id="11" name="Shape 9"/>
          <p:cNvSpPr/>
          <p:nvPr/>
        </p:nvSpPr>
        <p:spPr>
          <a:xfrm>
            <a:off x="859536" y="2139696"/>
            <a:ext cx="283464" cy="283464"/>
          </a:xfrm>
          <a:prstGeom prst="roundRect">
            <a:avLst>
              <a:gd name="adj" fmla="val 32258"/>
            </a:avLst>
          </a:prstGeom>
          <a:solidFill>
            <a:srgbClr val="D09D23"/>
          </a:solidFill>
          <a:ln/>
        </p:spPr>
      </p:sp>
      <p:sp>
        <p:nvSpPr>
          <p:cNvPr id="12" name="Text 10"/>
          <p:cNvSpPr txBox="1"/>
          <p:nvPr/>
        </p:nvSpPr>
        <p:spPr>
          <a:xfrm>
            <a:off x="859536" y="2139696"/>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859536"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Subjectivity</a:t>
            </a:r>
            <a:endParaRPr lang="en-US" sz="1350" dirty="0"/>
          </a:p>
        </p:txBody>
      </p:sp>
      <p:sp>
        <p:nvSpPr>
          <p:cNvPr id="14" name="Text 12"/>
          <p:cNvSpPr txBox="1"/>
          <p:nvPr/>
        </p:nvSpPr>
        <p:spPr>
          <a:xfrm>
            <a:off x="859536"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2A3243"/>
                </a:solidFill>
                <a:latin typeface="Calibri" pitchFamily="34" charset="0"/>
                <a:ea typeface="Calibri" pitchFamily="34" charset="-122"/>
                <a:cs typeface="Calibri" pitchFamily="34" charset="-120"/>
              </a:rPr>
              <a:t>Ukuran pleasure dan pain bergantung pada siapa yang menganalisis.</a:t>
            </a:r>
            <a:endParaRPr lang="en-US" sz="1100" dirty="0"/>
          </a:p>
        </p:txBody>
      </p:sp>
      <p:sp>
        <p:nvSpPr>
          <p:cNvPr id="15" name="Shape 13"/>
          <p:cNvSpPr/>
          <p:nvPr/>
        </p:nvSpPr>
        <p:spPr>
          <a:xfrm>
            <a:off x="3404540" y="1938528"/>
            <a:ext cx="2599868" cy="1828800"/>
          </a:xfrm>
          <a:prstGeom prst="roundRect">
            <a:avLst>
              <a:gd name="adj" fmla="val 8000"/>
            </a:avLst>
          </a:prstGeom>
          <a:solidFill>
            <a:srgbClr val="B8A6F5"/>
          </a:solidFill>
          <a:ln/>
        </p:spPr>
      </p:sp>
      <p:sp>
        <p:nvSpPr>
          <p:cNvPr id="16" name="Shape 14"/>
          <p:cNvSpPr/>
          <p:nvPr/>
        </p:nvSpPr>
        <p:spPr>
          <a:xfrm>
            <a:off x="3642284" y="2139696"/>
            <a:ext cx="283464" cy="283464"/>
          </a:xfrm>
          <a:prstGeom prst="roundRect">
            <a:avLst>
              <a:gd name="adj" fmla="val 32258"/>
            </a:avLst>
          </a:prstGeom>
          <a:solidFill>
            <a:srgbClr val="9D8FD4"/>
          </a:solidFill>
          <a:ln/>
        </p:spPr>
      </p:sp>
      <p:sp>
        <p:nvSpPr>
          <p:cNvPr id="17" name="Text 15"/>
          <p:cNvSpPr txBox="1"/>
          <p:nvPr/>
        </p:nvSpPr>
        <p:spPr>
          <a:xfrm>
            <a:off x="3642284" y="2139696"/>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a:t>
            </a:r>
            <a:endParaRPr lang="en-US" sz="1050" dirty="0"/>
          </a:p>
        </p:txBody>
      </p:sp>
      <p:sp>
        <p:nvSpPr>
          <p:cNvPr id="18" name="Text 16"/>
          <p:cNvSpPr txBox="1"/>
          <p:nvPr/>
        </p:nvSpPr>
        <p:spPr>
          <a:xfrm>
            <a:off x="3642284"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Equal Weighting</a:t>
            </a:r>
            <a:endParaRPr lang="en-US" sz="1350" dirty="0"/>
          </a:p>
        </p:txBody>
      </p:sp>
      <p:sp>
        <p:nvSpPr>
          <p:cNvPr id="19" name="Text 17"/>
          <p:cNvSpPr txBox="1"/>
          <p:nvPr/>
        </p:nvSpPr>
        <p:spPr>
          <a:xfrm>
            <a:off x="3642284"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2A3243"/>
                </a:solidFill>
                <a:latin typeface="Calibri" pitchFamily="34" charset="0"/>
                <a:ea typeface="Calibri" pitchFamily="34" charset="-122"/>
                <a:cs typeface="Calibri" pitchFamily="34" charset="-120"/>
              </a:rPr>
              <a:t>Setiap pihak berbobot sama. Diri sendiri tidak boleh diistimewakan.</a:t>
            </a:r>
            <a:endParaRPr lang="en-US" sz="1100" dirty="0"/>
          </a:p>
        </p:txBody>
      </p:sp>
      <p:sp>
        <p:nvSpPr>
          <p:cNvPr id="20" name="Shape 18"/>
          <p:cNvSpPr/>
          <p:nvPr/>
        </p:nvSpPr>
        <p:spPr>
          <a:xfrm>
            <a:off x="6187288" y="1938528"/>
            <a:ext cx="2599868" cy="1828800"/>
          </a:xfrm>
          <a:prstGeom prst="roundRect">
            <a:avLst>
              <a:gd name="adj" fmla="val 8000"/>
            </a:avLst>
          </a:prstGeom>
          <a:solidFill>
            <a:srgbClr val="0FA98E"/>
          </a:solidFill>
          <a:ln/>
        </p:spPr>
      </p:sp>
      <p:sp>
        <p:nvSpPr>
          <p:cNvPr id="21" name="Shape 19"/>
          <p:cNvSpPr/>
          <p:nvPr/>
        </p:nvSpPr>
        <p:spPr>
          <a:xfrm>
            <a:off x="6425032" y="2139696"/>
            <a:ext cx="283464" cy="283464"/>
          </a:xfrm>
          <a:prstGeom prst="roundRect">
            <a:avLst>
              <a:gd name="adj" fmla="val 32258"/>
            </a:avLst>
          </a:prstGeom>
          <a:solidFill>
            <a:srgbClr val="35B7A0"/>
          </a:solidFill>
          <a:ln/>
        </p:spPr>
      </p:sp>
      <p:sp>
        <p:nvSpPr>
          <p:cNvPr id="22" name="Text 20"/>
          <p:cNvSpPr txBox="1"/>
          <p:nvPr/>
        </p:nvSpPr>
        <p:spPr>
          <a:xfrm>
            <a:off x="6425032" y="213969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3" name="Text 21"/>
          <p:cNvSpPr txBox="1"/>
          <p:nvPr/>
        </p:nvSpPr>
        <p:spPr>
          <a:xfrm>
            <a:off x="6425032"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Kuantifikasi</a:t>
            </a:r>
            <a:endParaRPr lang="en-US" sz="1350" dirty="0"/>
          </a:p>
        </p:txBody>
      </p:sp>
      <p:sp>
        <p:nvSpPr>
          <p:cNvPr id="24" name="Text 22"/>
          <p:cNvSpPr txBox="1"/>
          <p:nvPr/>
        </p:nvSpPr>
        <p:spPr>
          <a:xfrm>
            <a:off x="6425032"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Sulit memberi nilai uang pada penderitaan dan kesempatan yang hilang.</a:t>
            </a:r>
            <a:endParaRPr lang="en-US" sz="1100" dirty="0"/>
          </a:p>
        </p:txBody>
      </p:sp>
      <p:sp>
        <p:nvSpPr>
          <p:cNvPr id="25" name="Shape 23"/>
          <p:cNvSpPr/>
          <p:nvPr/>
        </p:nvSpPr>
        <p:spPr>
          <a:xfrm>
            <a:off x="8970035" y="1938528"/>
            <a:ext cx="2599868" cy="1828800"/>
          </a:xfrm>
          <a:prstGeom prst="roundRect">
            <a:avLst>
              <a:gd name="adj" fmla="val 8000"/>
            </a:avLst>
          </a:prstGeom>
          <a:solidFill>
            <a:srgbClr val="0E1626"/>
          </a:solidFill>
          <a:ln/>
        </p:spPr>
      </p:sp>
      <p:sp>
        <p:nvSpPr>
          <p:cNvPr id="26" name="Shape 24"/>
          <p:cNvSpPr/>
          <p:nvPr/>
        </p:nvSpPr>
        <p:spPr>
          <a:xfrm>
            <a:off x="9207779" y="2139696"/>
            <a:ext cx="283464" cy="283464"/>
          </a:xfrm>
          <a:prstGeom prst="roundRect">
            <a:avLst>
              <a:gd name="adj" fmla="val 32258"/>
            </a:avLst>
          </a:prstGeom>
          <a:solidFill>
            <a:srgbClr val="353B49"/>
          </a:solidFill>
          <a:ln/>
        </p:spPr>
      </p:sp>
      <p:sp>
        <p:nvSpPr>
          <p:cNvPr id="27" name="Text 25"/>
          <p:cNvSpPr txBox="1"/>
          <p:nvPr/>
        </p:nvSpPr>
        <p:spPr>
          <a:xfrm>
            <a:off x="9207779" y="213969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8" name="Text 26"/>
          <p:cNvSpPr txBox="1"/>
          <p:nvPr/>
        </p:nvSpPr>
        <p:spPr>
          <a:xfrm>
            <a:off x="9207779"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Distribusi Utility</a:t>
            </a:r>
            <a:endParaRPr lang="en-US" sz="1350" dirty="0"/>
          </a:p>
        </p:txBody>
      </p:sp>
      <p:sp>
        <p:nvSpPr>
          <p:cNvPr id="29" name="Text 27"/>
          <p:cNvSpPr txBox="1"/>
          <p:nvPr/>
        </p:nvSpPr>
        <p:spPr>
          <a:xfrm>
            <a:off x="9207779"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Kepentingan minoritas mudah terabaikan oleh jumlah mayoritas.</a:t>
            </a:r>
            <a:endParaRPr lang="en-US" sz="1100" dirty="0"/>
          </a:p>
        </p:txBody>
      </p:sp>
      <p:sp>
        <p:nvSpPr>
          <p:cNvPr id="30" name="Shape 28"/>
          <p:cNvSpPr/>
          <p:nvPr/>
        </p:nvSpPr>
        <p:spPr>
          <a:xfrm>
            <a:off x="621792" y="3913632"/>
            <a:ext cx="5346040" cy="1463040"/>
          </a:xfrm>
          <a:prstGeom prst="roundRect">
            <a:avLst>
              <a:gd name="adj" fmla="val 10000"/>
            </a:avLst>
          </a:prstGeom>
          <a:solidFill>
            <a:srgbClr val="FF5A2D"/>
          </a:solidFill>
          <a:ln/>
        </p:spPr>
      </p:sp>
      <p:sp>
        <p:nvSpPr>
          <p:cNvPr id="31" name="Text 29"/>
          <p:cNvSpPr txBox="1"/>
          <p:nvPr/>
        </p:nvSpPr>
        <p:spPr>
          <a:xfrm>
            <a:off x="859536" y="4133088"/>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Act Utilitarianism</a:t>
            </a:r>
            <a:endParaRPr lang="en-US" sz="1600" dirty="0"/>
          </a:p>
        </p:txBody>
      </p:sp>
      <p:sp>
        <p:nvSpPr>
          <p:cNvPr id="32" name="Text 30"/>
          <p:cNvSpPr txBox="1"/>
          <p:nvPr/>
        </p:nvSpPr>
        <p:spPr>
          <a:xfrm>
            <a:off x="859536" y="4498848"/>
            <a:ext cx="4870552" cy="7498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tindakan tunggal. Pada dilema ini dapat menyimpulkan tindakan tersebut benar, karena pain anak dianggap kecil.</a:t>
            </a:r>
            <a:endParaRPr lang="en-US" sz="1150" dirty="0"/>
          </a:p>
        </p:txBody>
      </p:sp>
      <p:sp>
        <p:nvSpPr>
          <p:cNvPr id="33" name="Shape 31"/>
          <p:cNvSpPr/>
          <p:nvPr/>
        </p:nvSpPr>
        <p:spPr>
          <a:xfrm>
            <a:off x="6223864" y="3913632"/>
            <a:ext cx="5346040" cy="1463040"/>
          </a:xfrm>
          <a:prstGeom prst="roundRect">
            <a:avLst>
              <a:gd name="adj" fmla="val 10000"/>
            </a:avLst>
          </a:prstGeom>
          <a:solidFill>
            <a:srgbClr val="0E1626"/>
          </a:solidFill>
          <a:ln/>
        </p:spPr>
      </p:sp>
      <p:sp>
        <p:nvSpPr>
          <p:cNvPr id="34" name="Text 32"/>
          <p:cNvSpPr txBox="1"/>
          <p:nvPr/>
        </p:nvSpPr>
        <p:spPr>
          <a:xfrm>
            <a:off x="6461608" y="4133088"/>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Rule Utilitarianism</a:t>
            </a:r>
            <a:endParaRPr lang="en-US" sz="1600" dirty="0"/>
          </a:p>
        </p:txBody>
      </p:sp>
      <p:sp>
        <p:nvSpPr>
          <p:cNvPr id="35" name="Text 33"/>
          <p:cNvSpPr txBox="1"/>
          <p:nvPr/>
        </p:nvSpPr>
        <p:spPr>
          <a:xfrm>
            <a:off x="6461608" y="4498848"/>
            <a:ext cx="4870552" cy="7498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kelas tindakan. Pada dilema ini menolak, karena penderitaan pekerja anak melampaui manfaat ekonominya.</a:t>
            </a:r>
            <a:endParaRPr lang="en-US" sz="1150" dirty="0"/>
          </a:p>
        </p:txBody>
      </p:sp>
      <p:sp>
        <p:nvSpPr>
          <p:cNvPr id="36" name="Shape 34"/>
          <p:cNvSpPr/>
          <p:nvPr/>
        </p:nvSpPr>
        <p:spPr>
          <a:xfrm>
            <a:off x="621792" y="5522976"/>
            <a:ext cx="10948111" cy="640080"/>
          </a:xfrm>
          <a:prstGeom prst="roundRect">
            <a:avLst>
              <a:gd name="adj" fmla="val 22857"/>
            </a:avLst>
          </a:prstGeom>
          <a:solidFill>
            <a:srgbClr val="C6F04A"/>
          </a:solidFill>
          <a:ln/>
        </p:spPr>
      </p:sp>
      <p:sp>
        <p:nvSpPr>
          <p:cNvPr id="37" name="Text 35"/>
          <p:cNvSpPr txBox="1"/>
          <p:nvPr/>
        </p:nvSpPr>
        <p:spPr>
          <a:xfrm>
            <a:off x="941832" y="5620131"/>
            <a:ext cx="10308031" cy="49377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Dua jenis, dua kesimpulan berlawanan, atas kasus yang sama. Perbedaan ini akan muncul lagi pada kasus oil sands.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03</a:t>
            </a:r>
            <a:endParaRPr lang="en-US" sz="950" dirty="0"/>
          </a:p>
        </p:txBody>
      </p:sp>
      <p:sp>
        <p:nvSpPr>
          <p:cNvPr id="5" name="Shape 3"/>
          <p:cNvSpPr/>
          <p:nvPr/>
        </p:nvSpPr>
        <p:spPr>
          <a:xfrm>
            <a:off x="1794053" y="457200"/>
            <a:ext cx="150601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IMMANUEL KANT</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10</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Ethics of Duties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Bertindak hanya menurut maksim yang pada saat bersamaan dapat dikehendaki menjadi hukum universal.</a:t>
            </a:r>
            <a:endParaRPr lang="en-US" sz="1250" dirty="0"/>
          </a:p>
        </p:txBody>
      </p:sp>
      <p:sp>
        <p:nvSpPr>
          <p:cNvPr id="12" name="Shape 10"/>
          <p:cNvSpPr/>
          <p:nvPr/>
        </p:nvSpPr>
        <p:spPr>
          <a:xfrm>
            <a:off x="621792" y="2432304"/>
            <a:ext cx="5346040" cy="1792224"/>
          </a:xfrm>
          <a:prstGeom prst="roundRect">
            <a:avLst>
              <a:gd name="adj" fmla="val 8163"/>
            </a:avLst>
          </a:prstGeom>
          <a:solidFill>
            <a:srgbClr val="B8A6F5"/>
          </a:solidFill>
          <a:ln/>
        </p:spPr>
      </p:sp>
      <p:sp>
        <p:nvSpPr>
          <p:cNvPr id="13" name="Shape 11"/>
          <p:cNvSpPr/>
          <p:nvPr/>
        </p:nvSpPr>
        <p:spPr>
          <a:xfrm>
            <a:off x="859536" y="2633472"/>
            <a:ext cx="283464" cy="283464"/>
          </a:xfrm>
          <a:prstGeom prst="roundRect">
            <a:avLst>
              <a:gd name="adj" fmla="val 32258"/>
            </a:avLst>
          </a:prstGeom>
          <a:solidFill>
            <a:srgbClr val="9D8FD4"/>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0E1626"/>
                </a:solidFill>
                <a:latin typeface="Calibri" pitchFamily="34" charset="0"/>
                <a:ea typeface="Calibri" pitchFamily="34" charset="-122"/>
                <a:cs typeface="Calibri" pitchFamily="34" charset="-120"/>
              </a:rPr>
              <a:t>Universal Acceptability</a:t>
            </a:r>
            <a:endParaRPr lang="en-US" sz="1600" dirty="0"/>
          </a:p>
        </p:txBody>
      </p:sp>
      <p:sp>
        <p:nvSpPr>
          <p:cNvPr id="16" name="Text 14"/>
          <p:cNvSpPr txBox="1"/>
          <p:nvPr/>
        </p:nvSpPr>
        <p:spPr>
          <a:xfrm>
            <a:off x="859536" y="3383280"/>
            <a:ext cx="4870552" cy="713232"/>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Terima sebuah hukum moral hanya bila semua makhluk rasional dapat menerimanya. Anda tidak menghendaki prinsip mempekerjakan anak berlaku pada keluarga Anda sendiri.</a:t>
            </a:r>
            <a:endParaRPr lang="en-US" sz="1150" dirty="0"/>
          </a:p>
        </p:txBody>
      </p:sp>
      <p:sp>
        <p:nvSpPr>
          <p:cNvPr id="17" name="Shape 15"/>
          <p:cNvSpPr/>
          <p:nvPr/>
        </p:nvSpPr>
        <p:spPr>
          <a:xfrm>
            <a:off x="6223864" y="2432304"/>
            <a:ext cx="5346040" cy="1792224"/>
          </a:xfrm>
          <a:prstGeom prst="roundRect">
            <a:avLst>
              <a:gd name="adj" fmla="val 8163"/>
            </a:avLst>
          </a:prstGeom>
          <a:solidFill>
            <a:srgbClr val="0E1626"/>
          </a:solidFill>
          <a:ln/>
        </p:spPr>
      </p:sp>
      <p:sp>
        <p:nvSpPr>
          <p:cNvPr id="18" name="Shape 16"/>
          <p:cNvSpPr/>
          <p:nvPr/>
        </p:nvSpPr>
        <p:spPr>
          <a:xfrm>
            <a:off x="6461608" y="2633472"/>
            <a:ext cx="283464" cy="283464"/>
          </a:xfrm>
          <a:prstGeom prst="roundRect">
            <a:avLst>
              <a:gd name="adj" fmla="val 32258"/>
            </a:avLst>
          </a:prstGeom>
          <a:solidFill>
            <a:srgbClr val="353B49"/>
          </a:solidFill>
          <a:ln/>
        </p:spPr>
      </p:sp>
      <p:sp>
        <p:nvSpPr>
          <p:cNvPr id="19" name="Text 17"/>
          <p:cNvSpPr txBox="1"/>
          <p:nvPr/>
        </p:nvSpPr>
        <p:spPr>
          <a:xfrm>
            <a:off x="6461608"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6461608" y="30175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Respect for Persons</a:t>
            </a:r>
            <a:endParaRPr lang="en-US" sz="1600" dirty="0"/>
          </a:p>
        </p:txBody>
      </p:sp>
      <p:sp>
        <p:nvSpPr>
          <p:cNvPr id="21" name="Text 19"/>
          <p:cNvSpPr txBox="1"/>
          <p:nvPr/>
        </p:nvSpPr>
        <p:spPr>
          <a:xfrm>
            <a:off x="6461608" y="3383280"/>
            <a:ext cx="4870552" cy="71323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Perlakukan kemanusiaan sebagai tujuan, tidak pernah hanya sebagai sarana. Anak-anak itu diperlakukan semata sebagai tenaga kerja murah.</a:t>
            </a:r>
            <a:endParaRPr lang="en-US" sz="1150" dirty="0"/>
          </a:p>
        </p:txBody>
      </p:sp>
      <p:sp>
        <p:nvSpPr>
          <p:cNvPr id="22" name="Shape 20"/>
          <p:cNvSpPr/>
          <p:nvPr/>
        </p:nvSpPr>
        <p:spPr>
          <a:xfrm>
            <a:off x="621792" y="4389120"/>
            <a:ext cx="3503066" cy="1188720"/>
          </a:xfrm>
          <a:prstGeom prst="roundRect">
            <a:avLst>
              <a:gd name="adj" fmla="val 12308"/>
            </a:avLst>
          </a:prstGeom>
          <a:solidFill>
            <a:srgbClr val="FFFFFF"/>
          </a:solidFill>
          <a:ln/>
        </p:spPr>
      </p:sp>
      <p:sp>
        <p:nvSpPr>
          <p:cNvPr id="23" name="Shape 21"/>
          <p:cNvSpPr/>
          <p:nvPr/>
        </p:nvSpPr>
        <p:spPr>
          <a:xfrm>
            <a:off x="621792" y="4389120"/>
            <a:ext cx="3503066" cy="64008"/>
          </a:xfrm>
          <a:prstGeom prst="rect">
            <a:avLst/>
          </a:prstGeom>
          <a:solidFill>
            <a:srgbClr val="F5B722"/>
          </a:solidFill>
          <a:ln/>
        </p:spPr>
      </p:sp>
      <p:sp>
        <p:nvSpPr>
          <p:cNvPr id="24" name="Text 22"/>
          <p:cNvSpPr txBox="1"/>
          <p:nvPr/>
        </p:nvSpPr>
        <p:spPr>
          <a:xfrm>
            <a:off x="841248"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Kurang Menghargai Motivasi</a:t>
            </a:r>
            <a:endParaRPr lang="en-US" sz="1250" dirty="0"/>
          </a:p>
        </p:txBody>
      </p:sp>
      <p:sp>
        <p:nvSpPr>
          <p:cNvPr id="25" name="Text 23"/>
          <p:cNvSpPr txBox="1"/>
          <p:nvPr/>
        </p:nvSpPr>
        <p:spPr>
          <a:xfrm>
            <a:off x="841248"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Menaikkan upah karena kasihan dinilai tidak bermoral, karena menalar kewajiban dinilai bermoral.</a:t>
            </a:r>
            <a:endParaRPr lang="en-US" sz="1050" dirty="0"/>
          </a:p>
        </p:txBody>
      </p:sp>
      <p:sp>
        <p:nvSpPr>
          <p:cNvPr id="26" name="Shape 24"/>
          <p:cNvSpPr/>
          <p:nvPr/>
        </p:nvSpPr>
        <p:spPr>
          <a:xfrm>
            <a:off x="4344314" y="4389120"/>
            <a:ext cx="3503066" cy="1188720"/>
          </a:xfrm>
          <a:prstGeom prst="roundRect">
            <a:avLst>
              <a:gd name="adj" fmla="val 12308"/>
            </a:avLst>
          </a:prstGeom>
          <a:solidFill>
            <a:srgbClr val="FFFFFF"/>
          </a:solidFill>
          <a:ln/>
        </p:spPr>
      </p:sp>
      <p:sp>
        <p:nvSpPr>
          <p:cNvPr id="27" name="Shape 25"/>
          <p:cNvSpPr/>
          <p:nvPr/>
        </p:nvSpPr>
        <p:spPr>
          <a:xfrm>
            <a:off x="4344314" y="4389120"/>
            <a:ext cx="3503066" cy="64008"/>
          </a:xfrm>
          <a:prstGeom prst="rect">
            <a:avLst/>
          </a:prstGeom>
          <a:solidFill>
            <a:srgbClr val="F5B722"/>
          </a:solidFill>
          <a:ln/>
        </p:spPr>
      </p:sp>
      <p:sp>
        <p:nvSpPr>
          <p:cNvPr id="28" name="Text 26"/>
          <p:cNvSpPr txBox="1"/>
          <p:nvPr/>
        </p:nvSpPr>
        <p:spPr>
          <a:xfrm>
            <a:off x="4563770"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Kurang Menghargai Akibat</a:t>
            </a:r>
            <a:endParaRPr lang="en-US" sz="1250" dirty="0"/>
          </a:p>
        </p:txBody>
      </p:sp>
      <p:sp>
        <p:nvSpPr>
          <p:cNvPr id="29" name="Text 27"/>
          <p:cNvSpPr txBox="1"/>
          <p:nvPr/>
        </p:nvSpPr>
        <p:spPr>
          <a:xfrm>
            <a:off x="4563770"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Tidak ada ruang ketika sedikit pelenturan aturan menghasilkan hasil yang jauh lebih baik.</a:t>
            </a:r>
            <a:endParaRPr lang="en-US" sz="1050" dirty="0"/>
          </a:p>
        </p:txBody>
      </p:sp>
      <p:sp>
        <p:nvSpPr>
          <p:cNvPr id="30" name="Shape 28"/>
          <p:cNvSpPr/>
          <p:nvPr/>
        </p:nvSpPr>
        <p:spPr>
          <a:xfrm>
            <a:off x="8066837" y="4389120"/>
            <a:ext cx="3503066" cy="1188720"/>
          </a:xfrm>
          <a:prstGeom prst="roundRect">
            <a:avLst>
              <a:gd name="adj" fmla="val 12308"/>
            </a:avLst>
          </a:prstGeom>
          <a:solidFill>
            <a:srgbClr val="FFFFFF"/>
          </a:solidFill>
          <a:ln/>
        </p:spPr>
      </p:sp>
      <p:sp>
        <p:nvSpPr>
          <p:cNvPr id="31" name="Shape 29"/>
          <p:cNvSpPr/>
          <p:nvPr/>
        </p:nvSpPr>
        <p:spPr>
          <a:xfrm>
            <a:off x="8066837" y="4389120"/>
            <a:ext cx="3503066" cy="64008"/>
          </a:xfrm>
          <a:prstGeom prst="rect">
            <a:avLst/>
          </a:prstGeom>
          <a:solidFill>
            <a:srgbClr val="F5B722"/>
          </a:solidFill>
          <a:ln/>
        </p:spPr>
      </p:sp>
      <p:sp>
        <p:nvSpPr>
          <p:cNvPr id="32" name="Text 30"/>
          <p:cNvSpPr txBox="1"/>
          <p:nvPr/>
        </p:nvSpPr>
        <p:spPr>
          <a:xfrm>
            <a:off x="8286293"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Asumsi Rasionalitas</a:t>
            </a:r>
            <a:endParaRPr lang="en-US" sz="1250" dirty="0"/>
          </a:p>
        </p:txBody>
      </p:sp>
      <p:sp>
        <p:nvSpPr>
          <p:cNvPr id="33" name="Text 31"/>
          <p:cNvSpPr txBox="1"/>
          <p:nvPr/>
        </p:nvSpPr>
        <p:spPr>
          <a:xfrm>
            <a:off x="8286293"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Manusia yang selalu menalar kewajibannya lebih merupakan ideal daripada realitas.</a:t>
            </a:r>
            <a:endParaRPr lang="en-US" sz="1050" dirty="0"/>
          </a:p>
        </p:txBody>
      </p:sp>
      <p:sp>
        <p:nvSpPr>
          <p:cNvPr id="34" name="Shape 32"/>
          <p:cNvSpPr/>
          <p:nvPr/>
        </p:nvSpPr>
        <p:spPr>
          <a:xfrm>
            <a:off x="621792" y="5705856"/>
            <a:ext cx="10948111" cy="566928"/>
          </a:xfrm>
          <a:prstGeom prst="roundRect">
            <a:avLst>
              <a:gd name="adj" fmla="val 25806"/>
            </a:avLst>
          </a:prstGeom>
          <a:solidFill>
            <a:srgbClr val="C6F04A"/>
          </a:solidFill>
          <a:ln/>
        </p:spPr>
      </p:sp>
      <p:sp>
        <p:nvSpPr>
          <p:cNvPr id="35" name="Text 33"/>
          <p:cNvSpPr txBox="1"/>
          <p:nvPr/>
        </p:nvSpPr>
        <p:spPr>
          <a:xfrm>
            <a:off x="941832" y="5877878"/>
            <a:ext cx="10308031" cy="420624"/>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Kant mendasari stakeholder theory: martabatnya yang jadi alasan etis, bukan manfaat ekonominya.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04</a:t>
            </a:r>
            <a:endParaRPr lang="en-US" sz="950" dirty="0"/>
          </a:p>
        </p:txBody>
      </p:sp>
      <p:sp>
        <p:nvSpPr>
          <p:cNvPr id="5" name="Shape 3"/>
          <p:cNvSpPr/>
          <p:nvPr/>
        </p:nvSpPr>
        <p:spPr>
          <a:xfrm>
            <a:off x="1794053" y="457200"/>
            <a:ext cx="1868119"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86811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HAK ASASI MANUSIA</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11</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Ethics of Rights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Hak dasar yang tidak dapat dicabut dan melekat pada seluruh manusia tanpa kecuali. Hak selalu melahirkan kewajiban bagi pihak lain.</a:t>
            </a:r>
            <a:endParaRPr lang="en-US" sz="1250" dirty="0"/>
          </a:p>
        </p:txBody>
      </p:sp>
      <p:sp>
        <p:nvSpPr>
          <p:cNvPr id="12" name="Shape 10"/>
          <p:cNvSpPr/>
          <p:nvPr/>
        </p:nvSpPr>
        <p:spPr>
          <a:xfrm>
            <a:off x="621792" y="2432304"/>
            <a:ext cx="3503066" cy="1755648"/>
          </a:xfrm>
          <a:prstGeom prst="roundRect">
            <a:avLst>
              <a:gd name="adj" fmla="val 8333"/>
            </a:avLst>
          </a:prstGeom>
          <a:solidFill>
            <a:srgbClr val="0FA98E"/>
          </a:solidFill>
          <a:ln/>
        </p:spPr>
      </p:sp>
      <p:sp>
        <p:nvSpPr>
          <p:cNvPr id="13" name="Text 11"/>
          <p:cNvSpPr txBox="1"/>
          <p:nvPr/>
        </p:nvSpPr>
        <p:spPr>
          <a:xfrm>
            <a:off x="859536"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Protect</a:t>
            </a:r>
            <a:endParaRPr lang="en-US" sz="1700" dirty="0"/>
          </a:p>
        </p:txBody>
      </p:sp>
      <p:sp>
        <p:nvSpPr>
          <p:cNvPr id="14" name="Text 12"/>
          <p:cNvSpPr txBox="1"/>
          <p:nvPr/>
        </p:nvSpPr>
        <p:spPr>
          <a:xfrm>
            <a:off x="859536"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Kewajiban negara melindungi hak asasi dari pelanggaran pihak ketiga.</a:t>
            </a:r>
            <a:endParaRPr lang="en-US" sz="1150" dirty="0"/>
          </a:p>
        </p:txBody>
      </p:sp>
      <p:sp>
        <p:nvSpPr>
          <p:cNvPr id="15" name="Text 13"/>
          <p:cNvSpPr txBox="1"/>
          <p:nvPr/>
        </p:nvSpPr>
        <p:spPr>
          <a:xfrm>
            <a:off x="2753258"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93D8CC"/>
                </a:solidFill>
                <a:latin typeface="Calibri" pitchFamily="34" charset="0"/>
                <a:ea typeface="Calibri" pitchFamily="34" charset="-122"/>
                <a:cs typeface="Calibri" pitchFamily="34" charset="-120"/>
              </a:rPr>
              <a:t>NEGARA</a:t>
            </a:r>
            <a:endParaRPr lang="en-US" sz="950" dirty="0"/>
          </a:p>
        </p:txBody>
      </p:sp>
      <p:sp>
        <p:nvSpPr>
          <p:cNvPr id="16" name="Shape 14"/>
          <p:cNvSpPr/>
          <p:nvPr/>
        </p:nvSpPr>
        <p:spPr>
          <a:xfrm>
            <a:off x="4344314" y="2432304"/>
            <a:ext cx="3503066" cy="1755648"/>
          </a:xfrm>
          <a:prstGeom prst="roundRect">
            <a:avLst>
              <a:gd name="adj" fmla="val 8333"/>
            </a:avLst>
          </a:prstGeom>
          <a:solidFill>
            <a:srgbClr val="FF5A2D"/>
          </a:solidFill>
          <a:ln/>
        </p:spPr>
      </p:sp>
      <p:sp>
        <p:nvSpPr>
          <p:cNvPr id="17" name="Text 15"/>
          <p:cNvSpPr txBox="1"/>
          <p:nvPr/>
        </p:nvSpPr>
        <p:spPr>
          <a:xfrm>
            <a:off x="4582058"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Respect</a:t>
            </a:r>
            <a:endParaRPr lang="en-US" sz="1700" dirty="0"/>
          </a:p>
        </p:txBody>
      </p:sp>
      <p:sp>
        <p:nvSpPr>
          <p:cNvPr id="18" name="Text 16"/>
          <p:cNvSpPr txBox="1"/>
          <p:nvPr/>
        </p:nvSpPr>
        <p:spPr>
          <a:xfrm>
            <a:off x="4582058"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Tanggung jawab perusahaan menghormati hak asasi lewat seluruh relasi bisnisnya.</a:t>
            </a:r>
            <a:endParaRPr lang="en-US" sz="1150" dirty="0"/>
          </a:p>
        </p:txBody>
      </p:sp>
      <p:sp>
        <p:nvSpPr>
          <p:cNvPr id="19" name="Text 17"/>
          <p:cNvSpPr txBox="1"/>
          <p:nvPr/>
        </p:nvSpPr>
        <p:spPr>
          <a:xfrm>
            <a:off x="6475781"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FFB5A1"/>
                </a:solidFill>
                <a:latin typeface="Calibri" pitchFamily="34" charset="0"/>
                <a:ea typeface="Calibri" pitchFamily="34" charset="-122"/>
                <a:cs typeface="Calibri" pitchFamily="34" charset="-120"/>
              </a:rPr>
              <a:t>BISNIS</a:t>
            </a:r>
            <a:endParaRPr lang="en-US" sz="950" dirty="0"/>
          </a:p>
        </p:txBody>
      </p:sp>
      <p:sp>
        <p:nvSpPr>
          <p:cNvPr id="20" name="Shape 18"/>
          <p:cNvSpPr/>
          <p:nvPr/>
        </p:nvSpPr>
        <p:spPr>
          <a:xfrm>
            <a:off x="8066837" y="2432304"/>
            <a:ext cx="3503066" cy="1755648"/>
          </a:xfrm>
          <a:prstGeom prst="roundRect">
            <a:avLst>
              <a:gd name="adj" fmla="val 8333"/>
            </a:avLst>
          </a:prstGeom>
          <a:solidFill>
            <a:srgbClr val="0E1626"/>
          </a:solidFill>
          <a:ln/>
        </p:spPr>
      </p:sp>
      <p:sp>
        <p:nvSpPr>
          <p:cNvPr id="21" name="Text 19"/>
          <p:cNvSpPr txBox="1"/>
          <p:nvPr/>
        </p:nvSpPr>
        <p:spPr>
          <a:xfrm>
            <a:off x="8304581"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Remedy</a:t>
            </a:r>
            <a:endParaRPr lang="en-US" sz="1700" dirty="0"/>
          </a:p>
        </p:txBody>
      </p:sp>
      <p:sp>
        <p:nvSpPr>
          <p:cNvPr id="22" name="Text 20"/>
          <p:cNvSpPr txBox="1"/>
          <p:nvPr/>
        </p:nvSpPr>
        <p:spPr>
          <a:xfrm>
            <a:off x="8304581"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Akses pemulihan bagi korban pelanggaran yang terkait aktivitas bisnis.</a:t>
            </a:r>
            <a:endParaRPr lang="en-US" sz="1150" dirty="0"/>
          </a:p>
        </p:txBody>
      </p:sp>
      <p:sp>
        <p:nvSpPr>
          <p:cNvPr id="23" name="Text 21"/>
          <p:cNvSpPr txBox="1"/>
          <p:nvPr/>
        </p:nvSpPr>
        <p:spPr>
          <a:xfrm>
            <a:off x="10198303"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93969D"/>
                </a:solidFill>
                <a:latin typeface="Calibri" pitchFamily="34" charset="0"/>
                <a:ea typeface="Calibri" pitchFamily="34" charset="-122"/>
                <a:cs typeface="Calibri" pitchFamily="34" charset="-120"/>
              </a:rPr>
              <a:t>PERADILAN</a:t>
            </a:r>
            <a:endParaRPr lang="en-US" sz="950" dirty="0"/>
          </a:p>
        </p:txBody>
      </p:sp>
      <p:sp>
        <p:nvSpPr>
          <p:cNvPr id="24" name="Text 22"/>
          <p:cNvSpPr txBox="1"/>
          <p:nvPr/>
        </p:nvSpPr>
        <p:spPr>
          <a:xfrm>
            <a:off x="621792" y="4334256"/>
            <a:ext cx="10948111" cy="274320"/>
          </a:xfrm>
          <a:prstGeom prst="rect">
            <a:avLst/>
          </a:prstGeom>
          <a:noFill/>
          <a:ln/>
        </p:spPr>
        <p:txBody>
          <a:bodyPr wrap="square" lIns="0" tIns="0" rIns="0" bIns="0" rtlCol="0" anchor="t"/>
          <a:lstStyle/>
          <a:p>
            <a:pPr indent="0" marL="0">
              <a:buNone/>
            </a:pPr>
            <a:r>
              <a:rPr lang="en-US" sz="1200" b="1" dirty="0">
                <a:solidFill>
                  <a:srgbClr val="6B7A90"/>
                </a:solidFill>
                <a:latin typeface="Calibri" pitchFamily="34" charset="0"/>
                <a:ea typeface="Calibri" pitchFamily="34" charset="-122"/>
                <a:cs typeface="Calibri" pitchFamily="34" charset="-120"/>
              </a:rPr>
              <a:t>UN Guiding Principles atau Prinsip Ruggie (2011)</a:t>
            </a:r>
            <a:endParaRPr lang="en-US" sz="1200" dirty="0"/>
          </a:p>
        </p:txBody>
      </p:sp>
      <p:sp>
        <p:nvSpPr>
          <p:cNvPr id="25" name="Shape 23"/>
          <p:cNvSpPr/>
          <p:nvPr/>
        </p:nvSpPr>
        <p:spPr>
          <a:xfrm>
            <a:off x="621792" y="4663440"/>
            <a:ext cx="3503066" cy="1298448"/>
          </a:xfrm>
          <a:prstGeom prst="roundRect">
            <a:avLst>
              <a:gd name="adj" fmla="val 11268"/>
            </a:avLst>
          </a:prstGeom>
          <a:solidFill>
            <a:srgbClr val="FFFFFF"/>
          </a:solidFill>
          <a:ln/>
        </p:spPr>
      </p:sp>
      <p:sp>
        <p:nvSpPr>
          <p:cNvPr id="26" name="Shape 24"/>
          <p:cNvSpPr/>
          <p:nvPr/>
        </p:nvSpPr>
        <p:spPr>
          <a:xfrm>
            <a:off x="841248" y="4864608"/>
            <a:ext cx="329184" cy="329184"/>
          </a:xfrm>
          <a:prstGeom prst="roundRect">
            <a:avLst>
              <a:gd name="adj" fmla="val 27778"/>
            </a:avLst>
          </a:prstGeom>
          <a:solidFill>
            <a:srgbClr val="FF5A2D"/>
          </a:solidFill>
          <a:ln/>
        </p:spPr>
      </p:sp>
      <p:sp>
        <p:nvSpPr>
          <p:cNvPr id="27" name="Text 25"/>
          <p:cNvSpPr txBox="1"/>
          <p:nvPr/>
        </p:nvSpPr>
        <p:spPr>
          <a:xfrm>
            <a:off x="841248" y="486460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12</a:t>
            </a:r>
            <a:endParaRPr lang="en-US" sz="1050" dirty="0"/>
          </a:p>
        </p:txBody>
      </p:sp>
      <p:sp>
        <p:nvSpPr>
          <p:cNvPr id="28" name="Text 26"/>
          <p:cNvSpPr txBox="1"/>
          <p:nvPr/>
        </p:nvSpPr>
        <p:spPr>
          <a:xfrm>
            <a:off x="1261872"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12 UDHR</a:t>
            </a:r>
            <a:endParaRPr lang="en-US" sz="1250" dirty="0"/>
          </a:p>
        </p:txBody>
      </p:sp>
      <p:sp>
        <p:nvSpPr>
          <p:cNvPr id="29" name="Text 27"/>
          <p:cNvSpPr txBox="1"/>
          <p:nvPr/>
        </p:nvSpPr>
        <p:spPr>
          <a:xfrm>
            <a:off x="841248"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Privasi pekerja dan pelanggan</a:t>
            </a:r>
            <a:endParaRPr lang="en-US" sz="1100" dirty="0"/>
          </a:p>
        </p:txBody>
      </p:sp>
      <p:sp>
        <p:nvSpPr>
          <p:cNvPr id="30" name="Shape 28"/>
          <p:cNvSpPr/>
          <p:nvPr/>
        </p:nvSpPr>
        <p:spPr>
          <a:xfrm>
            <a:off x="4344314" y="4663440"/>
            <a:ext cx="3503066" cy="1298448"/>
          </a:xfrm>
          <a:prstGeom prst="roundRect">
            <a:avLst>
              <a:gd name="adj" fmla="val 11268"/>
            </a:avLst>
          </a:prstGeom>
          <a:solidFill>
            <a:srgbClr val="FFFFFF"/>
          </a:solidFill>
          <a:ln/>
        </p:spPr>
      </p:sp>
      <p:sp>
        <p:nvSpPr>
          <p:cNvPr id="31" name="Shape 29"/>
          <p:cNvSpPr/>
          <p:nvPr/>
        </p:nvSpPr>
        <p:spPr>
          <a:xfrm>
            <a:off x="4563770" y="4864608"/>
            <a:ext cx="329184" cy="329184"/>
          </a:xfrm>
          <a:prstGeom prst="roundRect">
            <a:avLst>
              <a:gd name="adj" fmla="val 27778"/>
            </a:avLst>
          </a:prstGeom>
          <a:solidFill>
            <a:srgbClr val="B8A6F5"/>
          </a:solidFill>
          <a:ln/>
        </p:spPr>
      </p:sp>
      <p:sp>
        <p:nvSpPr>
          <p:cNvPr id="32" name="Text 30"/>
          <p:cNvSpPr txBox="1"/>
          <p:nvPr/>
        </p:nvSpPr>
        <p:spPr>
          <a:xfrm>
            <a:off x="4563770" y="4864608"/>
            <a:ext cx="329184" cy="32918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20</a:t>
            </a:r>
            <a:endParaRPr lang="en-US" sz="1050" dirty="0"/>
          </a:p>
        </p:txBody>
      </p:sp>
      <p:sp>
        <p:nvSpPr>
          <p:cNvPr id="33" name="Text 31"/>
          <p:cNvSpPr txBox="1"/>
          <p:nvPr/>
        </p:nvSpPr>
        <p:spPr>
          <a:xfrm>
            <a:off x="4984394"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20 UDHR</a:t>
            </a:r>
            <a:endParaRPr lang="en-US" sz="1250" dirty="0"/>
          </a:p>
        </p:txBody>
      </p:sp>
      <p:sp>
        <p:nvSpPr>
          <p:cNvPr id="34" name="Text 32"/>
          <p:cNvSpPr txBox="1"/>
          <p:nvPr/>
        </p:nvSpPr>
        <p:spPr>
          <a:xfrm>
            <a:off x="4563770"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Kebebasan berkumpul dan berserikat, dasar hukum serikat pekerja</a:t>
            </a:r>
            <a:endParaRPr lang="en-US" sz="1100" dirty="0"/>
          </a:p>
        </p:txBody>
      </p:sp>
      <p:sp>
        <p:nvSpPr>
          <p:cNvPr id="35" name="Shape 33"/>
          <p:cNvSpPr/>
          <p:nvPr/>
        </p:nvSpPr>
        <p:spPr>
          <a:xfrm>
            <a:off x="8066837" y="4663440"/>
            <a:ext cx="3503066" cy="1298448"/>
          </a:xfrm>
          <a:prstGeom prst="roundRect">
            <a:avLst>
              <a:gd name="adj" fmla="val 11268"/>
            </a:avLst>
          </a:prstGeom>
          <a:solidFill>
            <a:srgbClr val="FFFFFF"/>
          </a:solidFill>
          <a:ln/>
        </p:spPr>
      </p:sp>
      <p:sp>
        <p:nvSpPr>
          <p:cNvPr id="36" name="Shape 34"/>
          <p:cNvSpPr/>
          <p:nvPr/>
        </p:nvSpPr>
        <p:spPr>
          <a:xfrm>
            <a:off x="8286293" y="4864608"/>
            <a:ext cx="329184" cy="329184"/>
          </a:xfrm>
          <a:prstGeom prst="roundRect">
            <a:avLst>
              <a:gd name="adj" fmla="val 27778"/>
            </a:avLst>
          </a:prstGeom>
          <a:solidFill>
            <a:srgbClr val="C6F04A"/>
          </a:solidFill>
          <a:ln/>
        </p:spPr>
      </p:sp>
      <p:sp>
        <p:nvSpPr>
          <p:cNvPr id="37" name="Text 35"/>
          <p:cNvSpPr txBox="1"/>
          <p:nvPr/>
        </p:nvSpPr>
        <p:spPr>
          <a:xfrm>
            <a:off x="8286293" y="4864608"/>
            <a:ext cx="329184" cy="32918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23</a:t>
            </a:r>
            <a:endParaRPr lang="en-US" sz="1050" dirty="0"/>
          </a:p>
        </p:txBody>
      </p:sp>
      <p:sp>
        <p:nvSpPr>
          <p:cNvPr id="38" name="Text 36"/>
          <p:cNvSpPr txBox="1"/>
          <p:nvPr/>
        </p:nvSpPr>
        <p:spPr>
          <a:xfrm>
            <a:off x="8706917"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23 UDHR</a:t>
            </a:r>
            <a:endParaRPr lang="en-US" sz="1250" dirty="0"/>
          </a:p>
        </p:txBody>
      </p:sp>
      <p:sp>
        <p:nvSpPr>
          <p:cNvPr id="39" name="Text 37"/>
          <p:cNvSpPr txBox="1"/>
          <p:nvPr/>
        </p:nvSpPr>
        <p:spPr>
          <a:xfrm>
            <a:off x="8286293"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Hak atas pekerjaan, kondisi kerja yang adil, dan upah yang setara</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05</a:t>
            </a:r>
            <a:endParaRPr lang="en-US" sz="950" dirty="0"/>
          </a:p>
        </p:txBody>
      </p:sp>
      <p:sp>
        <p:nvSpPr>
          <p:cNvPr id="5" name="Shape 3"/>
          <p:cNvSpPr/>
          <p:nvPr/>
        </p:nvSpPr>
        <p:spPr>
          <a:xfrm>
            <a:off x="1794053"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JOHN RAWLS</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12</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Theory of Justice</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Aturan apa yang akan Anda pilih bila Anda tidak tahu akan terlahir sebagai siapa di dalam masyarakat itu?</a:t>
            </a:r>
            <a:endParaRPr lang="en-US" sz="1250" dirty="0"/>
          </a:p>
        </p:txBody>
      </p:sp>
      <p:sp>
        <p:nvSpPr>
          <p:cNvPr id="12" name="Shape 10"/>
          <p:cNvSpPr/>
          <p:nvPr/>
        </p:nvSpPr>
        <p:spPr>
          <a:xfrm>
            <a:off x="621792" y="2432304"/>
            <a:ext cx="5346040" cy="2340864"/>
          </a:xfrm>
          <a:prstGeom prst="roundRect">
            <a:avLst>
              <a:gd name="adj" fmla="val 6250"/>
            </a:avLst>
          </a:prstGeom>
          <a:solidFill>
            <a:srgbClr val="FF5A2D"/>
          </a:solidFill>
          <a:ln/>
        </p:spPr>
      </p:sp>
      <p:sp>
        <p:nvSpPr>
          <p:cNvPr id="13" name="Text 11"/>
          <p:cNvSpPr txBox="1"/>
          <p:nvPr/>
        </p:nvSpPr>
        <p:spPr>
          <a:xfrm>
            <a:off x="859536" y="2651760"/>
            <a:ext cx="4870552"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Veil of Ignorance</a:t>
            </a:r>
            <a:endParaRPr lang="en-US" sz="1700" dirty="0"/>
          </a:p>
        </p:txBody>
      </p:sp>
      <p:sp>
        <p:nvSpPr>
          <p:cNvPr id="14" name="Text 12"/>
          <p:cNvSpPr txBox="1"/>
          <p:nvPr/>
        </p:nvSpPr>
        <p:spPr>
          <a:xfrm>
            <a:off x="859536" y="3017520"/>
            <a:ext cx="4870552" cy="162763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Bayangkan orang yang setara, bebas, dan rasional, namun tidak tahu peran apa yang akan mereka tempati. Mereka bisa menjadi petugas kebersihan, seorang ratu, pengidap penyakit terminal, orang kaya, atau orang miskin.</a:t>
            </a:r>
            <a:endParaRPr lang="en-US" sz="1150" dirty="0"/>
          </a:p>
          <a:p>
            <a:pPr indent="0" marL="0">
              <a:lnSpc>
                <a:spcPts val="1633"/>
              </a:lnSpc>
              <a:buNone/>
            </a:pP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Ketidaktahuan itulah yang memaksa mereka bersikap adil.</a:t>
            </a:r>
            <a:endParaRPr lang="en-US" sz="1150" dirty="0"/>
          </a:p>
        </p:txBody>
      </p:sp>
      <p:sp>
        <p:nvSpPr>
          <p:cNvPr id="15" name="Shape 13"/>
          <p:cNvSpPr/>
          <p:nvPr/>
        </p:nvSpPr>
        <p:spPr>
          <a:xfrm>
            <a:off x="6223864" y="2432304"/>
            <a:ext cx="5346040" cy="2340864"/>
          </a:xfrm>
          <a:prstGeom prst="roundRect">
            <a:avLst>
              <a:gd name="adj" fmla="val 6250"/>
            </a:avLst>
          </a:prstGeom>
          <a:solidFill>
            <a:srgbClr val="0E1626"/>
          </a:solidFill>
          <a:ln/>
        </p:spPr>
      </p:sp>
      <p:sp>
        <p:nvSpPr>
          <p:cNvPr id="16" name="Text 14"/>
          <p:cNvSpPr txBox="1"/>
          <p:nvPr/>
        </p:nvSpPr>
        <p:spPr>
          <a:xfrm>
            <a:off x="6461608" y="2670048"/>
            <a:ext cx="4870552" cy="292608"/>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Dua Kriteria Masyarakat Adil</a:t>
            </a:r>
            <a:endParaRPr lang="en-US" sz="1700" dirty="0"/>
          </a:p>
        </p:txBody>
      </p:sp>
      <p:sp>
        <p:nvSpPr>
          <p:cNvPr id="17" name="Shape 15"/>
          <p:cNvSpPr/>
          <p:nvPr/>
        </p:nvSpPr>
        <p:spPr>
          <a:xfrm>
            <a:off x="6461608" y="3127248"/>
            <a:ext cx="4870552" cy="713232"/>
          </a:xfrm>
          <a:prstGeom prst="roundRect">
            <a:avLst>
              <a:gd name="adj" fmla="val 20513"/>
            </a:avLst>
          </a:prstGeom>
          <a:solidFill>
            <a:srgbClr val="1B2233"/>
          </a:solidFill>
          <a:ln/>
        </p:spPr>
      </p:sp>
      <p:sp>
        <p:nvSpPr>
          <p:cNvPr id="18" name="Shape 16"/>
          <p:cNvSpPr/>
          <p:nvPr/>
        </p:nvSpPr>
        <p:spPr>
          <a:xfrm>
            <a:off x="6461608" y="3200400"/>
            <a:ext cx="45720" cy="566928"/>
          </a:xfrm>
          <a:prstGeom prst="rect">
            <a:avLst/>
          </a:prstGeom>
          <a:solidFill>
            <a:srgbClr val="C6F04A"/>
          </a:solidFill>
          <a:ln/>
        </p:spPr>
      </p:sp>
      <p:sp>
        <p:nvSpPr>
          <p:cNvPr id="19" name="Text 17"/>
          <p:cNvSpPr txBox="1"/>
          <p:nvPr/>
        </p:nvSpPr>
        <p:spPr>
          <a:xfrm>
            <a:off x="6681064" y="3200400"/>
            <a:ext cx="443164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Kebebasan Dasar yang Setara</a:t>
            </a:r>
            <a:endParaRPr lang="en-US" sz="1200" dirty="0"/>
          </a:p>
        </p:txBody>
      </p:sp>
      <p:sp>
        <p:nvSpPr>
          <p:cNvPr id="20" name="Text 18"/>
          <p:cNvSpPr txBox="1"/>
          <p:nvPr/>
        </p:nvSpPr>
        <p:spPr>
          <a:xfrm>
            <a:off x="6681064" y="3438144"/>
            <a:ext cx="4431640" cy="365760"/>
          </a:xfrm>
          <a:prstGeom prst="rect">
            <a:avLst/>
          </a:prstGeom>
          <a:noFill/>
          <a:ln/>
        </p:spPr>
        <p:txBody>
          <a:bodyPr wrap="square" lIns="0" tIns="0" rIns="0" bIns="0" rtlCol="0" anchor="t"/>
          <a:lstStyle/>
          <a:p>
            <a:pPr indent="0" marL="0">
              <a:lnSpc>
                <a:spcPts val="1350"/>
              </a:lnSpc>
              <a:buNone/>
            </a:pPr>
            <a:r>
              <a:rPr lang="en-US" sz="1050" dirty="0">
                <a:solidFill>
                  <a:srgbClr val="B9C0CE"/>
                </a:solidFill>
                <a:latin typeface="Calibri" pitchFamily="34" charset="0"/>
                <a:ea typeface="Calibri" pitchFamily="34" charset="-122"/>
                <a:cs typeface="Calibri" pitchFamily="34" charset="-120"/>
              </a:rPr>
              <a:t>Setiap orang memiliki hak setara atas sistem kebebasan dasar terluas yang kompatibel untuk semua.</a:t>
            </a:r>
            <a:endParaRPr lang="en-US" sz="1050" dirty="0"/>
          </a:p>
        </p:txBody>
      </p:sp>
      <p:sp>
        <p:nvSpPr>
          <p:cNvPr id="21" name="Shape 19"/>
          <p:cNvSpPr/>
          <p:nvPr/>
        </p:nvSpPr>
        <p:spPr>
          <a:xfrm>
            <a:off x="6461608" y="3950208"/>
            <a:ext cx="4870552" cy="713232"/>
          </a:xfrm>
          <a:prstGeom prst="roundRect">
            <a:avLst>
              <a:gd name="adj" fmla="val 20513"/>
            </a:avLst>
          </a:prstGeom>
          <a:solidFill>
            <a:srgbClr val="1B2233"/>
          </a:solidFill>
          <a:ln/>
        </p:spPr>
      </p:sp>
      <p:sp>
        <p:nvSpPr>
          <p:cNvPr id="22" name="Shape 20"/>
          <p:cNvSpPr/>
          <p:nvPr/>
        </p:nvSpPr>
        <p:spPr>
          <a:xfrm>
            <a:off x="6461608" y="4023360"/>
            <a:ext cx="45720" cy="566928"/>
          </a:xfrm>
          <a:prstGeom prst="rect">
            <a:avLst/>
          </a:prstGeom>
          <a:solidFill>
            <a:srgbClr val="F5B722"/>
          </a:solidFill>
          <a:ln/>
        </p:spPr>
      </p:sp>
      <p:sp>
        <p:nvSpPr>
          <p:cNvPr id="23" name="Text 21"/>
          <p:cNvSpPr txBox="1"/>
          <p:nvPr/>
        </p:nvSpPr>
        <p:spPr>
          <a:xfrm>
            <a:off x="6681064" y="4023360"/>
            <a:ext cx="443164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Difference Principle</a:t>
            </a:r>
            <a:endParaRPr lang="en-US" sz="1200" dirty="0"/>
          </a:p>
        </p:txBody>
      </p:sp>
      <p:sp>
        <p:nvSpPr>
          <p:cNvPr id="24" name="Text 22"/>
          <p:cNvSpPr txBox="1"/>
          <p:nvPr/>
        </p:nvSpPr>
        <p:spPr>
          <a:xfrm>
            <a:off x="6681064" y="4261104"/>
            <a:ext cx="4431640" cy="365760"/>
          </a:xfrm>
          <a:prstGeom prst="rect">
            <a:avLst/>
          </a:prstGeom>
          <a:noFill/>
          <a:ln/>
        </p:spPr>
        <p:txBody>
          <a:bodyPr wrap="square" lIns="0" tIns="0" rIns="0" bIns="0" rtlCol="0" anchor="t"/>
          <a:lstStyle/>
          <a:p>
            <a:pPr indent="0" marL="0">
              <a:lnSpc>
                <a:spcPts val="1350"/>
              </a:lnSpc>
              <a:buNone/>
            </a:pPr>
            <a:r>
              <a:rPr lang="en-US" sz="1050" dirty="0">
                <a:solidFill>
                  <a:srgbClr val="B9C0CE"/>
                </a:solidFill>
                <a:latin typeface="Calibri" pitchFamily="34" charset="0"/>
                <a:ea typeface="Calibri" pitchFamily="34" charset="-122"/>
                <a:cs typeface="Calibri" pitchFamily="34" charset="-120"/>
              </a:rPr>
              <a:t>Ketimpangan hanya sah bila memberi manfaat terbesar bagi pihak yang paling tidak beruntung.</a:t>
            </a:r>
            <a:endParaRPr lang="en-US" sz="1050" dirty="0"/>
          </a:p>
        </p:txBody>
      </p:sp>
      <p:sp>
        <p:nvSpPr>
          <p:cNvPr id="25" name="Shape 23"/>
          <p:cNvSpPr/>
          <p:nvPr/>
        </p:nvSpPr>
        <p:spPr>
          <a:xfrm>
            <a:off x="621792" y="4956048"/>
            <a:ext cx="10948111" cy="969264"/>
          </a:xfrm>
          <a:prstGeom prst="roundRect">
            <a:avLst>
              <a:gd name="adj" fmla="val 15094"/>
            </a:avLst>
          </a:prstGeom>
          <a:solidFill>
            <a:srgbClr val="C6F04A"/>
          </a:solidFill>
          <a:ln/>
        </p:spPr>
      </p:sp>
      <p:sp>
        <p:nvSpPr>
          <p:cNvPr id="26" name="Text 24"/>
          <p:cNvSpPr txBox="1"/>
          <p:nvPr/>
        </p:nvSpPr>
        <p:spPr>
          <a:xfrm>
            <a:off x="941832" y="5217795"/>
            <a:ext cx="10308031" cy="822960"/>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Kriteria pertama didahulukan. Kebebasan dasar harus terwujud sama rata sebelum ketimpangan apa pun boleh dibenarkan. Inilah alat paling tajam untuk membedah kasus oil sands nanti.</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324966" cy="283464"/>
          </a:xfrm>
          <a:prstGeom prst="roundRect">
            <a:avLst>
              <a:gd name="adj" fmla="val 50000"/>
            </a:avLst>
          </a:prstGeom>
          <a:solidFill>
            <a:srgbClr val="0E1626"/>
          </a:solidFill>
          <a:ln w="12700">
            <a:solidFill>
              <a:srgbClr val="0E1626"/>
            </a:solidFill>
            <a:prstDash val="solid"/>
          </a:ln>
        </p:spPr>
      </p:sp>
      <p:sp>
        <p:nvSpPr>
          <p:cNvPr id="4" name="Text 2"/>
          <p:cNvSpPr txBox="1"/>
          <p:nvPr/>
        </p:nvSpPr>
        <p:spPr>
          <a:xfrm>
            <a:off x="621792"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ENAM KRITIK</a:t>
            </a:r>
            <a:endParaRPr lang="en-US" sz="950" dirty="0"/>
          </a:p>
        </p:txBody>
      </p:sp>
      <p:sp>
        <p:nvSpPr>
          <p:cNvPr id="5" name="Shape 3"/>
          <p:cNvSpPr/>
          <p:nvPr/>
        </p:nvSpPr>
        <p:spPr>
          <a:xfrm>
            <a:off x="2065630" y="457200"/>
            <a:ext cx="1324966"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065630"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108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Kritik atas Teori Barat Modern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92224"/>
            <a:ext cx="3515258" cy="1956816"/>
          </a:xfrm>
          <a:prstGeom prst="roundRect">
            <a:avLst>
              <a:gd name="adj" fmla="val 7477"/>
            </a:avLst>
          </a:prstGeom>
          <a:solidFill>
            <a:srgbClr val="FF5A2D"/>
          </a:solidFill>
          <a:ln/>
        </p:spPr>
      </p:sp>
      <p:sp>
        <p:nvSpPr>
          <p:cNvPr id="10" name="Shape 8"/>
          <p:cNvSpPr/>
          <p:nvPr/>
        </p:nvSpPr>
        <p:spPr>
          <a:xfrm>
            <a:off x="859536" y="1993392"/>
            <a:ext cx="283464" cy="283464"/>
          </a:xfrm>
          <a:prstGeom prst="roundRect">
            <a:avLst>
              <a:gd name="adj" fmla="val 32258"/>
            </a:avLst>
          </a:prstGeom>
          <a:solidFill>
            <a:srgbClr val="FF744F"/>
          </a:solidFill>
          <a:ln/>
        </p:spPr>
      </p:sp>
      <p:sp>
        <p:nvSpPr>
          <p:cNvPr id="11" name="Text 9"/>
          <p:cNvSpPr txBox="1"/>
          <p:nvPr/>
        </p:nvSpPr>
        <p:spPr>
          <a:xfrm>
            <a:off x="859536" y="199339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2" name="Text 10"/>
          <p:cNvSpPr txBox="1"/>
          <p:nvPr/>
        </p:nvSpPr>
        <p:spPr>
          <a:xfrm>
            <a:off x="859536" y="2432304"/>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Abstract</a:t>
            </a:r>
            <a:endParaRPr lang="en-US" sz="1500" dirty="0"/>
          </a:p>
        </p:txBody>
      </p:sp>
      <p:sp>
        <p:nvSpPr>
          <p:cNvPr id="13" name="Text 11"/>
          <p:cNvSpPr txBox="1"/>
          <p:nvPr/>
        </p:nvSpPr>
        <p:spPr>
          <a:xfrm>
            <a:off x="859536" y="2706624"/>
            <a:ext cx="3039770" cy="237744"/>
          </a:xfrm>
          <a:prstGeom prst="rect">
            <a:avLst/>
          </a:prstGeom>
          <a:noFill/>
          <a:ln/>
        </p:spPr>
        <p:txBody>
          <a:bodyPr wrap="square" lIns="0" tIns="0" rIns="0" bIns="0" rtlCol="0" anchor="t"/>
          <a:lstStyle/>
          <a:p>
            <a:pPr indent="0" marL="0">
              <a:buNone/>
            </a:pPr>
            <a:r>
              <a:rPr lang="en-US" sz="1000" i="1" dirty="0">
                <a:solidFill>
                  <a:srgbClr val="FFAD96"/>
                </a:solidFill>
                <a:latin typeface="Calibri" pitchFamily="34" charset="0"/>
                <a:ea typeface="Calibri" pitchFamily="34" charset="-122"/>
                <a:cs typeface="Calibri" pitchFamily="34" charset="-120"/>
              </a:rPr>
              <a:t>Stark (1994), Brenkert (2010)</a:t>
            </a:r>
            <a:endParaRPr lang="en-US" sz="1000" dirty="0"/>
          </a:p>
        </p:txBody>
      </p:sp>
      <p:sp>
        <p:nvSpPr>
          <p:cNvPr id="14" name="Text 12"/>
          <p:cNvSpPr txBox="1"/>
          <p:nvPr/>
        </p:nvSpPr>
        <p:spPr>
          <a:xfrm>
            <a:off x="859536"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Terlalu teoretis untuk keprihatinan sehari-hari seorang manajer.</a:t>
            </a:r>
            <a:endParaRPr lang="en-US" sz="1100" dirty="0"/>
          </a:p>
        </p:txBody>
      </p:sp>
      <p:sp>
        <p:nvSpPr>
          <p:cNvPr id="15" name="Shape 13"/>
          <p:cNvSpPr/>
          <p:nvPr/>
        </p:nvSpPr>
        <p:spPr>
          <a:xfrm>
            <a:off x="4338218" y="1792224"/>
            <a:ext cx="3515258" cy="1956816"/>
          </a:xfrm>
          <a:prstGeom prst="roundRect">
            <a:avLst>
              <a:gd name="adj" fmla="val 7477"/>
            </a:avLst>
          </a:prstGeom>
          <a:solidFill>
            <a:srgbClr val="B8A6F5"/>
          </a:solidFill>
          <a:ln/>
        </p:spPr>
      </p:sp>
      <p:sp>
        <p:nvSpPr>
          <p:cNvPr id="16" name="Shape 14"/>
          <p:cNvSpPr/>
          <p:nvPr/>
        </p:nvSpPr>
        <p:spPr>
          <a:xfrm>
            <a:off x="4575962" y="1993392"/>
            <a:ext cx="283464" cy="283464"/>
          </a:xfrm>
          <a:prstGeom prst="roundRect">
            <a:avLst>
              <a:gd name="adj" fmla="val 32258"/>
            </a:avLst>
          </a:prstGeom>
          <a:solidFill>
            <a:srgbClr val="9D8FD4"/>
          </a:solidFill>
          <a:ln/>
        </p:spPr>
      </p:sp>
      <p:sp>
        <p:nvSpPr>
          <p:cNvPr id="17" name="Text 15"/>
          <p:cNvSpPr txBox="1"/>
          <p:nvPr/>
        </p:nvSpPr>
        <p:spPr>
          <a:xfrm>
            <a:off x="4575962" y="199339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75962" y="2432304"/>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Narrow</a:t>
            </a:r>
            <a:endParaRPr lang="en-US" sz="1500" dirty="0"/>
          </a:p>
        </p:txBody>
      </p:sp>
      <p:sp>
        <p:nvSpPr>
          <p:cNvPr id="19" name="Text 17"/>
          <p:cNvSpPr txBox="1"/>
          <p:nvPr/>
        </p:nvSpPr>
        <p:spPr>
          <a:xfrm>
            <a:off x="4575962" y="2706624"/>
            <a:ext cx="3039770" cy="237744"/>
          </a:xfrm>
          <a:prstGeom prst="rect">
            <a:avLst/>
          </a:prstGeom>
          <a:noFill/>
          <a:ln/>
        </p:spPr>
        <p:txBody>
          <a:bodyPr wrap="square" lIns="0" tIns="0" rIns="0" bIns="0" rtlCol="0" anchor="t"/>
          <a:lstStyle/>
          <a:p>
            <a:pPr indent="0" marL="0">
              <a:buNone/>
            </a:pPr>
            <a:r>
              <a:rPr lang="en-US" sz="1000" i="1" dirty="0">
                <a:solidFill>
                  <a:srgbClr val="635E8E"/>
                </a:solidFill>
                <a:latin typeface="Calibri" pitchFamily="34" charset="0"/>
                <a:ea typeface="Calibri" pitchFamily="34" charset="-122"/>
                <a:cs typeface="Calibri" pitchFamily="34" charset="-120"/>
              </a:rPr>
              <a:t>Crane et al. (2019)</a:t>
            </a:r>
            <a:endParaRPr lang="en-US" sz="1000" dirty="0"/>
          </a:p>
        </p:txBody>
      </p:sp>
      <p:sp>
        <p:nvSpPr>
          <p:cNvPr id="20" name="Text 18"/>
          <p:cNvSpPr txBox="1"/>
          <p:nvPr/>
        </p:nvSpPr>
        <p:spPr>
          <a:xfrm>
            <a:off x="4575962"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Setiap teori memaksa memilih satu aspek moralitas, padahal seluruhnya penting.</a:t>
            </a:r>
            <a:endParaRPr lang="en-US" sz="1100" dirty="0"/>
          </a:p>
        </p:txBody>
      </p:sp>
      <p:sp>
        <p:nvSpPr>
          <p:cNvPr id="21" name="Shape 19"/>
          <p:cNvSpPr/>
          <p:nvPr/>
        </p:nvSpPr>
        <p:spPr>
          <a:xfrm>
            <a:off x="8054645" y="1792224"/>
            <a:ext cx="3515258" cy="1956816"/>
          </a:xfrm>
          <a:prstGeom prst="roundRect">
            <a:avLst>
              <a:gd name="adj" fmla="val 7477"/>
            </a:avLst>
          </a:prstGeom>
          <a:solidFill>
            <a:srgbClr val="0FA98E"/>
          </a:solidFill>
          <a:ln/>
        </p:spPr>
      </p:sp>
      <p:sp>
        <p:nvSpPr>
          <p:cNvPr id="22" name="Shape 20"/>
          <p:cNvSpPr/>
          <p:nvPr/>
        </p:nvSpPr>
        <p:spPr>
          <a:xfrm>
            <a:off x="8292389" y="1993392"/>
            <a:ext cx="283464" cy="283464"/>
          </a:xfrm>
          <a:prstGeom prst="roundRect">
            <a:avLst>
              <a:gd name="adj" fmla="val 32258"/>
            </a:avLst>
          </a:prstGeom>
          <a:solidFill>
            <a:srgbClr val="35B7A0"/>
          </a:solidFill>
          <a:ln/>
        </p:spPr>
      </p:sp>
      <p:sp>
        <p:nvSpPr>
          <p:cNvPr id="23" name="Text 21"/>
          <p:cNvSpPr txBox="1"/>
          <p:nvPr/>
        </p:nvSpPr>
        <p:spPr>
          <a:xfrm>
            <a:off x="8292389" y="199339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4" name="Text 22"/>
          <p:cNvSpPr txBox="1"/>
          <p:nvPr/>
        </p:nvSpPr>
        <p:spPr>
          <a:xfrm>
            <a:off x="8292389" y="2432304"/>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Objective</a:t>
            </a:r>
            <a:endParaRPr lang="en-US" sz="1500" dirty="0"/>
          </a:p>
        </p:txBody>
      </p:sp>
      <p:sp>
        <p:nvSpPr>
          <p:cNvPr id="25" name="Text 23"/>
          <p:cNvSpPr txBox="1"/>
          <p:nvPr/>
        </p:nvSpPr>
        <p:spPr>
          <a:xfrm>
            <a:off x="8292389" y="2706624"/>
            <a:ext cx="3039770" cy="237744"/>
          </a:xfrm>
          <a:prstGeom prst="rect">
            <a:avLst/>
          </a:prstGeom>
          <a:noFill/>
          <a:ln/>
        </p:spPr>
        <p:txBody>
          <a:bodyPr wrap="square" lIns="0" tIns="0" rIns="0" bIns="0" rtlCol="0" anchor="t"/>
          <a:lstStyle/>
          <a:p>
            <a:pPr indent="0" marL="0">
              <a:buNone/>
            </a:pPr>
            <a:r>
              <a:rPr lang="en-US" sz="1000" i="1" dirty="0">
                <a:solidFill>
                  <a:srgbClr val="87D4C7"/>
                </a:solidFill>
                <a:latin typeface="Calibri" pitchFamily="34" charset="0"/>
                <a:ea typeface="Calibri" pitchFamily="34" charset="-122"/>
                <a:cs typeface="Calibri" pitchFamily="34" charset="-120"/>
              </a:rPr>
              <a:t>Parker (1998)</a:t>
            </a:r>
            <a:endParaRPr lang="en-US" sz="1000" dirty="0"/>
          </a:p>
        </p:txBody>
      </p:sp>
      <p:sp>
        <p:nvSpPr>
          <p:cNvPr id="26" name="Text 24"/>
          <p:cNvSpPr txBox="1"/>
          <p:nvPr/>
        </p:nvSpPr>
        <p:spPr>
          <a:xfrm>
            <a:off x="8292389"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Etikawan memvonis tindakan orang lain tanpa mengalami situasinya.</a:t>
            </a:r>
            <a:endParaRPr lang="en-US" sz="1100" dirty="0"/>
          </a:p>
        </p:txBody>
      </p:sp>
      <p:sp>
        <p:nvSpPr>
          <p:cNvPr id="27" name="Shape 25"/>
          <p:cNvSpPr/>
          <p:nvPr/>
        </p:nvSpPr>
        <p:spPr>
          <a:xfrm>
            <a:off x="621792" y="3931920"/>
            <a:ext cx="3515258" cy="1956816"/>
          </a:xfrm>
          <a:prstGeom prst="roundRect">
            <a:avLst>
              <a:gd name="adj" fmla="val 7477"/>
            </a:avLst>
          </a:prstGeom>
          <a:solidFill>
            <a:srgbClr val="F5B722"/>
          </a:solidFill>
          <a:ln/>
        </p:spPr>
      </p:sp>
      <p:sp>
        <p:nvSpPr>
          <p:cNvPr id="28" name="Shape 26"/>
          <p:cNvSpPr/>
          <p:nvPr/>
        </p:nvSpPr>
        <p:spPr>
          <a:xfrm>
            <a:off x="859536" y="4133088"/>
            <a:ext cx="283464" cy="283464"/>
          </a:xfrm>
          <a:prstGeom prst="roundRect">
            <a:avLst>
              <a:gd name="adj" fmla="val 32258"/>
            </a:avLst>
          </a:prstGeom>
          <a:solidFill>
            <a:srgbClr val="D09D23"/>
          </a:solidFill>
          <a:ln/>
        </p:spPr>
      </p:sp>
      <p:sp>
        <p:nvSpPr>
          <p:cNvPr id="29" name="Text 27"/>
          <p:cNvSpPr txBox="1"/>
          <p:nvPr/>
        </p:nvSpPr>
        <p:spPr>
          <a:xfrm>
            <a:off x="859536" y="4133088"/>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04</a:t>
            </a:r>
            <a:endParaRPr lang="en-US" sz="1050" dirty="0"/>
          </a:p>
        </p:txBody>
      </p:sp>
      <p:sp>
        <p:nvSpPr>
          <p:cNvPr id="30" name="Text 28"/>
          <p:cNvSpPr txBox="1"/>
          <p:nvPr/>
        </p:nvSpPr>
        <p:spPr>
          <a:xfrm>
            <a:off x="859536" y="4572000"/>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Impersonal</a:t>
            </a:r>
            <a:endParaRPr lang="en-US" sz="1500" dirty="0"/>
          </a:p>
        </p:txBody>
      </p:sp>
      <p:sp>
        <p:nvSpPr>
          <p:cNvPr id="31" name="Text 29"/>
          <p:cNvSpPr txBox="1"/>
          <p:nvPr/>
        </p:nvSpPr>
        <p:spPr>
          <a:xfrm>
            <a:off x="859536" y="4846320"/>
            <a:ext cx="3039770" cy="237744"/>
          </a:xfrm>
          <a:prstGeom prst="rect">
            <a:avLst/>
          </a:prstGeom>
          <a:noFill/>
          <a:ln/>
        </p:spPr>
        <p:txBody>
          <a:bodyPr wrap="square" lIns="0" tIns="0" rIns="0" bIns="0" rtlCol="0" anchor="t"/>
          <a:lstStyle/>
          <a:p>
            <a:pPr indent="0" marL="0">
              <a:buNone/>
            </a:pPr>
            <a:r>
              <a:rPr lang="en-US" sz="1000" i="1" dirty="0">
                <a:solidFill>
                  <a:srgbClr val="826724"/>
                </a:solidFill>
                <a:latin typeface="Calibri" pitchFamily="34" charset="0"/>
                <a:ea typeface="Calibri" pitchFamily="34" charset="-122"/>
                <a:cs typeface="Calibri" pitchFamily="34" charset="-120"/>
              </a:rPr>
              <a:t>Held (2006)</a:t>
            </a:r>
            <a:endParaRPr lang="en-US" sz="1000" dirty="0"/>
          </a:p>
        </p:txBody>
      </p:sp>
      <p:sp>
        <p:nvSpPr>
          <p:cNvPr id="32" name="Text 30"/>
          <p:cNvSpPr txBox="1"/>
          <p:nvPr/>
        </p:nvSpPr>
        <p:spPr>
          <a:xfrm>
            <a:off x="859536"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Prinsip abstrak mengabaikan ikatan personal yang membentuk perasaan moral.</a:t>
            </a:r>
            <a:endParaRPr lang="en-US" sz="1100" dirty="0"/>
          </a:p>
        </p:txBody>
      </p:sp>
      <p:sp>
        <p:nvSpPr>
          <p:cNvPr id="33" name="Shape 31"/>
          <p:cNvSpPr/>
          <p:nvPr/>
        </p:nvSpPr>
        <p:spPr>
          <a:xfrm>
            <a:off x="4338218" y="3931920"/>
            <a:ext cx="3515258" cy="1956816"/>
          </a:xfrm>
          <a:prstGeom prst="roundRect">
            <a:avLst>
              <a:gd name="adj" fmla="val 7477"/>
            </a:avLst>
          </a:prstGeom>
          <a:solidFill>
            <a:srgbClr val="C6F04A"/>
          </a:solidFill>
          <a:ln/>
        </p:spPr>
      </p:sp>
      <p:sp>
        <p:nvSpPr>
          <p:cNvPr id="34" name="Shape 32"/>
          <p:cNvSpPr/>
          <p:nvPr/>
        </p:nvSpPr>
        <p:spPr>
          <a:xfrm>
            <a:off x="4575962" y="4133088"/>
            <a:ext cx="283464" cy="283464"/>
          </a:xfrm>
          <a:prstGeom prst="roundRect">
            <a:avLst>
              <a:gd name="adj" fmla="val 32258"/>
            </a:avLst>
          </a:prstGeom>
          <a:solidFill>
            <a:srgbClr val="A9CD44"/>
          </a:solidFill>
          <a:ln/>
        </p:spPr>
      </p:sp>
      <p:sp>
        <p:nvSpPr>
          <p:cNvPr id="35" name="Text 33"/>
          <p:cNvSpPr txBox="1"/>
          <p:nvPr/>
        </p:nvSpPr>
        <p:spPr>
          <a:xfrm>
            <a:off x="4575962" y="4133088"/>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05</a:t>
            </a:r>
            <a:endParaRPr lang="en-US" sz="1050" dirty="0"/>
          </a:p>
        </p:txBody>
      </p:sp>
      <p:sp>
        <p:nvSpPr>
          <p:cNvPr id="36" name="Text 34"/>
          <p:cNvSpPr txBox="1"/>
          <p:nvPr/>
        </p:nvSpPr>
        <p:spPr>
          <a:xfrm>
            <a:off x="4575962" y="4572000"/>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Codified</a:t>
            </a:r>
            <a:endParaRPr lang="en-US" sz="1500" dirty="0"/>
          </a:p>
        </p:txBody>
      </p:sp>
      <p:sp>
        <p:nvSpPr>
          <p:cNvPr id="37" name="Text 35"/>
          <p:cNvSpPr txBox="1"/>
          <p:nvPr/>
        </p:nvSpPr>
        <p:spPr>
          <a:xfrm>
            <a:off x="4575962" y="4846320"/>
            <a:ext cx="3039770" cy="237744"/>
          </a:xfrm>
          <a:prstGeom prst="rect">
            <a:avLst/>
          </a:prstGeom>
          <a:noFill/>
          <a:ln/>
        </p:spPr>
        <p:txBody>
          <a:bodyPr wrap="square" lIns="0" tIns="0" rIns="0" bIns="0" rtlCol="0" anchor="t"/>
          <a:lstStyle/>
          <a:p>
            <a:pPr indent="0" marL="0">
              <a:buNone/>
            </a:pPr>
            <a:r>
              <a:rPr lang="en-US" sz="1000" i="1" dirty="0">
                <a:solidFill>
                  <a:srgbClr val="6A8338"/>
                </a:solidFill>
                <a:latin typeface="Calibri" pitchFamily="34" charset="0"/>
                <a:ea typeface="Calibri" pitchFamily="34" charset="-122"/>
                <a:cs typeface="Calibri" pitchFamily="34" charset="-120"/>
              </a:rPr>
              <a:t>Bauman (1993), Rorty (2006)</a:t>
            </a:r>
            <a:endParaRPr lang="en-US" sz="1000" dirty="0"/>
          </a:p>
        </p:txBody>
      </p:sp>
      <p:sp>
        <p:nvSpPr>
          <p:cNvPr id="38" name="Text 36"/>
          <p:cNvSpPr txBox="1"/>
          <p:nvPr/>
        </p:nvSpPr>
        <p:spPr>
          <a:xfrm>
            <a:off x="4575962"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Aturan terkodifikasi menekan otonomi dan merendahkan emosi moral.</a:t>
            </a:r>
            <a:endParaRPr lang="en-US" sz="1100" dirty="0"/>
          </a:p>
        </p:txBody>
      </p:sp>
      <p:sp>
        <p:nvSpPr>
          <p:cNvPr id="39" name="Shape 37"/>
          <p:cNvSpPr/>
          <p:nvPr/>
        </p:nvSpPr>
        <p:spPr>
          <a:xfrm>
            <a:off x="8054645" y="3931920"/>
            <a:ext cx="3515258" cy="1956816"/>
          </a:xfrm>
          <a:prstGeom prst="roundRect">
            <a:avLst>
              <a:gd name="adj" fmla="val 7477"/>
            </a:avLst>
          </a:prstGeom>
          <a:solidFill>
            <a:srgbClr val="0E1626"/>
          </a:solidFill>
          <a:ln/>
        </p:spPr>
      </p:sp>
      <p:sp>
        <p:nvSpPr>
          <p:cNvPr id="40" name="Shape 38"/>
          <p:cNvSpPr/>
          <p:nvPr/>
        </p:nvSpPr>
        <p:spPr>
          <a:xfrm>
            <a:off x="8292389" y="4133088"/>
            <a:ext cx="283464" cy="283464"/>
          </a:xfrm>
          <a:prstGeom prst="roundRect">
            <a:avLst>
              <a:gd name="adj" fmla="val 32258"/>
            </a:avLst>
          </a:prstGeom>
          <a:solidFill>
            <a:srgbClr val="353B49"/>
          </a:solidFill>
          <a:ln/>
        </p:spPr>
      </p:sp>
      <p:sp>
        <p:nvSpPr>
          <p:cNvPr id="41" name="Text 39"/>
          <p:cNvSpPr txBox="1"/>
          <p:nvPr/>
        </p:nvSpPr>
        <p:spPr>
          <a:xfrm>
            <a:off x="8292389" y="4133088"/>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06</a:t>
            </a:r>
            <a:endParaRPr lang="en-US" sz="1050" dirty="0"/>
          </a:p>
        </p:txBody>
      </p:sp>
      <p:sp>
        <p:nvSpPr>
          <p:cNvPr id="42" name="Text 40"/>
          <p:cNvSpPr txBox="1"/>
          <p:nvPr/>
        </p:nvSpPr>
        <p:spPr>
          <a:xfrm>
            <a:off x="8292389" y="4572000"/>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Imperialist</a:t>
            </a:r>
            <a:endParaRPr lang="en-US" sz="1500" dirty="0"/>
          </a:p>
        </p:txBody>
      </p:sp>
      <p:sp>
        <p:nvSpPr>
          <p:cNvPr id="43" name="Text 41"/>
          <p:cNvSpPr txBox="1"/>
          <p:nvPr/>
        </p:nvSpPr>
        <p:spPr>
          <a:xfrm>
            <a:off x="8292389" y="4846320"/>
            <a:ext cx="3039770" cy="237744"/>
          </a:xfrm>
          <a:prstGeom prst="rect">
            <a:avLst/>
          </a:prstGeom>
          <a:noFill/>
          <a:ln/>
        </p:spPr>
        <p:txBody>
          <a:bodyPr wrap="square" lIns="0" tIns="0" rIns="0" bIns="0" rtlCol="0" anchor="t"/>
          <a:lstStyle/>
          <a:p>
            <a:pPr indent="0" marL="0">
              <a:buNone/>
            </a:pPr>
            <a:r>
              <a:rPr lang="en-US" sz="1000" i="1" dirty="0">
                <a:solidFill>
                  <a:srgbClr val="878B93"/>
                </a:solidFill>
                <a:latin typeface="Calibri" pitchFamily="34" charset="0"/>
                <a:ea typeface="Calibri" pitchFamily="34" charset="-122"/>
                <a:cs typeface="Calibri" pitchFamily="34" charset="-120"/>
              </a:rPr>
              <a:t>Naude (2017)</a:t>
            </a:r>
            <a:endParaRPr lang="en-US" sz="1000" dirty="0"/>
          </a:p>
        </p:txBody>
      </p:sp>
      <p:sp>
        <p:nvSpPr>
          <p:cNvPr id="44" name="Text 42"/>
          <p:cNvSpPr txBox="1"/>
          <p:nvPr/>
        </p:nvSpPr>
        <p:spPr>
          <a:xfrm>
            <a:off x="8292389"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Tidak ada alasan mengasumsikan teori Barat cocok untuk seluruh dunia.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777594" cy="283464"/>
          </a:xfrm>
          <a:prstGeom prst="roundRect">
            <a:avLst>
              <a:gd name="adj" fmla="val 50000"/>
            </a:avLst>
          </a:prstGeom>
          <a:solidFill>
            <a:srgbClr val="C6F04A"/>
          </a:solidFill>
          <a:ln w="12700">
            <a:solidFill>
              <a:srgbClr val="C6F04A"/>
            </a:solidFill>
            <a:prstDash val="solid"/>
          </a:ln>
        </p:spPr>
      </p:sp>
      <p:sp>
        <p:nvSpPr>
          <p:cNvPr id="4" name="Text 2"/>
          <p:cNvSpPr txBox="1"/>
          <p:nvPr/>
        </p:nvSpPr>
        <p:spPr>
          <a:xfrm>
            <a:off x="621792"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EMPAT ALTERNATIF</a:t>
            </a:r>
            <a:endParaRPr lang="en-US" sz="950" dirty="0"/>
          </a:p>
        </p:txBody>
      </p:sp>
      <p:sp>
        <p:nvSpPr>
          <p:cNvPr id="5" name="Shape 3"/>
          <p:cNvSpPr/>
          <p:nvPr/>
        </p:nvSpPr>
        <p:spPr>
          <a:xfrm>
            <a:off x="2518258"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518258"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110–118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14</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Perspektif Alternatif</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Menekankan fleksibilitas serta konteks dan relasi pengambil keputusan.</a:t>
            </a:r>
            <a:endParaRPr lang="en-US" sz="1350" dirty="0"/>
          </a:p>
        </p:txBody>
      </p:sp>
      <p:sp>
        <p:nvSpPr>
          <p:cNvPr id="10" name="Shape 8"/>
          <p:cNvSpPr/>
          <p:nvPr/>
        </p:nvSpPr>
        <p:spPr>
          <a:xfrm>
            <a:off x="621792" y="1975104"/>
            <a:ext cx="2599868" cy="2377440"/>
          </a:xfrm>
          <a:prstGeom prst="roundRect">
            <a:avLst>
              <a:gd name="adj" fmla="val 6154"/>
            </a:avLst>
          </a:prstGeom>
          <a:solidFill>
            <a:srgbClr val="0FA98E"/>
          </a:solidFill>
          <a:ln/>
        </p:spPr>
      </p:sp>
      <p:sp>
        <p:nvSpPr>
          <p:cNvPr id="11" name="Shape 9"/>
          <p:cNvSpPr/>
          <p:nvPr/>
        </p:nvSpPr>
        <p:spPr>
          <a:xfrm>
            <a:off x="859536" y="2176272"/>
            <a:ext cx="283464" cy="283464"/>
          </a:xfrm>
          <a:prstGeom prst="roundRect">
            <a:avLst>
              <a:gd name="adj" fmla="val 32258"/>
            </a:avLst>
          </a:prstGeom>
          <a:solidFill>
            <a:srgbClr val="35B7A0"/>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6</a:t>
            </a:r>
            <a:endParaRPr lang="en-US" sz="1050" dirty="0"/>
          </a:p>
        </p:txBody>
      </p:sp>
      <p:sp>
        <p:nvSpPr>
          <p:cNvPr id="13" name="Text 11"/>
          <p:cNvSpPr txBox="1"/>
          <p:nvPr/>
        </p:nvSpPr>
        <p:spPr>
          <a:xfrm>
            <a:off x="859536"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Virtue Ethics</a:t>
            </a:r>
            <a:endParaRPr lang="en-US" sz="1400" dirty="0"/>
          </a:p>
        </p:txBody>
      </p:sp>
      <p:sp>
        <p:nvSpPr>
          <p:cNvPr id="14" name="Text 12"/>
          <p:cNvSpPr txBox="1"/>
          <p:nvPr/>
        </p:nvSpPr>
        <p:spPr>
          <a:xfrm>
            <a:off x="859536"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Fokus penilaian berpindah dari tindakan kepada pelakunya. Tindakan yang baik berasal dari orang yang baik.</a:t>
            </a:r>
            <a:endParaRPr lang="en-US" sz="1150" dirty="0"/>
          </a:p>
        </p:txBody>
      </p:sp>
      <p:sp>
        <p:nvSpPr>
          <p:cNvPr id="15" name="Text 13"/>
          <p:cNvSpPr txBox="1"/>
          <p:nvPr/>
        </p:nvSpPr>
        <p:spPr>
          <a:xfrm>
            <a:off x="1923212"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93D8CC"/>
                </a:solidFill>
                <a:latin typeface="Calibri" pitchFamily="34" charset="0"/>
                <a:ea typeface="Calibri" pitchFamily="34" charset="-122"/>
                <a:cs typeface="Calibri" pitchFamily="34" charset="-120"/>
              </a:rPr>
              <a:t>KARAKTER</a:t>
            </a:r>
            <a:endParaRPr lang="en-US" sz="850" dirty="0"/>
          </a:p>
        </p:txBody>
      </p:sp>
      <p:sp>
        <p:nvSpPr>
          <p:cNvPr id="16" name="Shape 14"/>
          <p:cNvSpPr/>
          <p:nvPr/>
        </p:nvSpPr>
        <p:spPr>
          <a:xfrm>
            <a:off x="3404540" y="1975104"/>
            <a:ext cx="2599868" cy="2377440"/>
          </a:xfrm>
          <a:prstGeom prst="roundRect">
            <a:avLst>
              <a:gd name="adj" fmla="val 6154"/>
            </a:avLst>
          </a:prstGeom>
          <a:solidFill>
            <a:srgbClr val="B8A6F5"/>
          </a:solidFill>
          <a:ln/>
        </p:spPr>
      </p:sp>
      <p:sp>
        <p:nvSpPr>
          <p:cNvPr id="17" name="Shape 15"/>
          <p:cNvSpPr/>
          <p:nvPr/>
        </p:nvSpPr>
        <p:spPr>
          <a:xfrm>
            <a:off x="3642284" y="2176272"/>
            <a:ext cx="283464" cy="283464"/>
          </a:xfrm>
          <a:prstGeom prst="roundRect">
            <a:avLst>
              <a:gd name="adj" fmla="val 32258"/>
            </a:avLst>
          </a:prstGeom>
          <a:solidFill>
            <a:srgbClr val="9D8FD4"/>
          </a:solidFill>
          <a:ln/>
        </p:spPr>
      </p:sp>
      <p:sp>
        <p:nvSpPr>
          <p:cNvPr id="18" name="Text 16"/>
          <p:cNvSpPr txBox="1"/>
          <p:nvPr/>
        </p:nvSpPr>
        <p:spPr>
          <a:xfrm>
            <a:off x="3642284"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7</a:t>
            </a:r>
            <a:endParaRPr lang="en-US" sz="1050" dirty="0"/>
          </a:p>
        </p:txBody>
      </p:sp>
      <p:sp>
        <p:nvSpPr>
          <p:cNvPr id="19" name="Text 17"/>
          <p:cNvSpPr txBox="1"/>
          <p:nvPr/>
        </p:nvSpPr>
        <p:spPr>
          <a:xfrm>
            <a:off x="3642284"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Ethic of Care</a:t>
            </a:r>
            <a:endParaRPr lang="en-US" sz="1400" dirty="0"/>
          </a:p>
        </p:txBody>
      </p:sp>
      <p:sp>
        <p:nvSpPr>
          <p:cNvPr id="20" name="Text 18"/>
          <p:cNvSpPr txBox="1"/>
          <p:nvPr/>
        </p:nvSpPr>
        <p:spPr>
          <a:xfrm>
            <a:off x="3642284"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Masalah moral dipahami sebagai konflik tanggung jawab dalam relasi, bukan konflik hak.</a:t>
            </a:r>
            <a:endParaRPr lang="en-US" sz="1150" dirty="0"/>
          </a:p>
        </p:txBody>
      </p:sp>
      <p:sp>
        <p:nvSpPr>
          <p:cNvPr id="21" name="Text 19"/>
          <p:cNvSpPr txBox="1"/>
          <p:nvPr/>
        </p:nvSpPr>
        <p:spPr>
          <a:xfrm>
            <a:off x="4705960"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5A5783"/>
                </a:solidFill>
                <a:latin typeface="Calibri" pitchFamily="34" charset="0"/>
                <a:ea typeface="Calibri" pitchFamily="34" charset="-122"/>
                <a:cs typeface="Calibri" pitchFamily="34" charset="-120"/>
              </a:rPr>
              <a:t>RELASI</a:t>
            </a:r>
            <a:endParaRPr lang="en-US" sz="850" dirty="0"/>
          </a:p>
        </p:txBody>
      </p:sp>
      <p:sp>
        <p:nvSpPr>
          <p:cNvPr id="22" name="Shape 20"/>
          <p:cNvSpPr/>
          <p:nvPr/>
        </p:nvSpPr>
        <p:spPr>
          <a:xfrm>
            <a:off x="6187288" y="1975104"/>
            <a:ext cx="2599868" cy="2377440"/>
          </a:xfrm>
          <a:prstGeom prst="roundRect">
            <a:avLst>
              <a:gd name="adj" fmla="val 6154"/>
            </a:avLst>
          </a:prstGeom>
          <a:solidFill>
            <a:srgbClr val="F5B722"/>
          </a:solidFill>
          <a:ln/>
        </p:spPr>
      </p:sp>
      <p:sp>
        <p:nvSpPr>
          <p:cNvPr id="23" name="Shape 21"/>
          <p:cNvSpPr/>
          <p:nvPr/>
        </p:nvSpPr>
        <p:spPr>
          <a:xfrm>
            <a:off x="6425032" y="2176272"/>
            <a:ext cx="283464" cy="283464"/>
          </a:xfrm>
          <a:prstGeom prst="roundRect">
            <a:avLst>
              <a:gd name="adj" fmla="val 32258"/>
            </a:avLst>
          </a:prstGeom>
          <a:solidFill>
            <a:srgbClr val="D09D23"/>
          </a:solidFill>
          <a:ln/>
        </p:spPr>
      </p:sp>
      <p:sp>
        <p:nvSpPr>
          <p:cNvPr id="24" name="Text 22"/>
          <p:cNvSpPr txBox="1"/>
          <p:nvPr/>
        </p:nvSpPr>
        <p:spPr>
          <a:xfrm>
            <a:off x="6425032"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8</a:t>
            </a:r>
            <a:endParaRPr lang="en-US" sz="1050" dirty="0"/>
          </a:p>
        </p:txBody>
      </p:sp>
      <p:sp>
        <p:nvSpPr>
          <p:cNvPr id="25" name="Text 23"/>
          <p:cNvSpPr txBox="1"/>
          <p:nvPr/>
        </p:nvSpPr>
        <p:spPr>
          <a:xfrm>
            <a:off x="6425032"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Discourse Ethics</a:t>
            </a:r>
            <a:endParaRPr lang="en-US" sz="1400" dirty="0"/>
          </a:p>
        </p:txBody>
      </p:sp>
      <p:sp>
        <p:nvSpPr>
          <p:cNvPr id="26" name="Text 24"/>
          <p:cNvSpPr txBox="1"/>
          <p:nvPr/>
        </p:nvSpPr>
        <p:spPr>
          <a:xfrm>
            <a:off x="6425032"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Norma dihasilkan lewat dialog terbuka. Keputusan benar bila dicapai lewat cara yang benar.</a:t>
            </a:r>
            <a:endParaRPr lang="en-US" sz="1150" dirty="0"/>
          </a:p>
        </p:txBody>
      </p:sp>
      <p:sp>
        <p:nvSpPr>
          <p:cNvPr id="27" name="Text 25"/>
          <p:cNvSpPr txBox="1"/>
          <p:nvPr/>
        </p:nvSpPr>
        <p:spPr>
          <a:xfrm>
            <a:off x="7488707"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765E24"/>
                </a:solidFill>
                <a:latin typeface="Calibri" pitchFamily="34" charset="0"/>
                <a:ea typeface="Calibri" pitchFamily="34" charset="-122"/>
                <a:cs typeface="Calibri" pitchFamily="34" charset="-120"/>
              </a:rPr>
              <a:t>PROSES</a:t>
            </a:r>
            <a:endParaRPr lang="en-US" sz="850" dirty="0"/>
          </a:p>
        </p:txBody>
      </p:sp>
      <p:sp>
        <p:nvSpPr>
          <p:cNvPr id="28" name="Shape 26"/>
          <p:cNvSpPr/>
          <p:nvPr/>
        </p:nvSpPr>
        <p:spPr>
          <a:xfrm>
            <a:off x="8970035" y="1975104"/>
            <a:ext cx="2599868" cy="2377440"/>
          </a:xfrm>
          <a:prstGeom prst="roundRect">
            <a:avLst>
              <a:gd name="adj" fmla="val 6154"/>
            </a:avLst>
          </a:prstGeom>
          <a:solidFill>
            <a:srgbClr val="0E1626"/>
          </a:solidFill>
          <a:ln/>
        </p:spPr>
      </p:sp>
      <p:sp>
        <p:nvSpPr>
          <p:cNvPr id="29" name="Shape 27"/>
          <p:cNvSpPr/>
          <p:nvPr/>
        </p:nvSpPr>
        <p:spPr>
          <a:xfrm>
            <a:off x="9207779" y="2176272"/>
            <a:ext cx="283464" cy="283464"/>
          </a:xfrm>
          <a:prstGeom prst="roundRect">
            <a:avLst>
              <a:gd name="adj" fmla="val 32258"/>
            </a:avLst>
          </a:prstGeom>
          <a:solidFill>
            <a:srgbClr val="353B49"/>
          </a:solidFill>
          <a:ln/>
        </p:spPr>
      </p:sp>
      <p:sp>
        <p:nvSpPr>
          <p:cNvPr id="30" name="Text 28"/>
          <p:cNvSpPr txBox="1"/>
          <p:nvPr/>
        </p:nvSpPr>
        <p:spPr>
          <a:xfrm>
            <a:off x="9207779"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9</a:t>
            </a:r>
            <a:endParaRPr lang="en-US" sz="1050" dirty="0"/>
          </a:p>
        </p:txBody>
      </p:sp>
      <p:sp>
        <p:nvSpPr>
          <p:cNvPr id="31" name="Text 29"/>
          <p:cNvSpPr txBox="1"/>
          <p:nvPr/>
        </p:nvSpPr>
        <p:spPr>
          <a:xfrm>
            <a:off x="9207779"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Postmodern Ethics</a:t>
            </a:r>
            <a:endParaRPr lang="en-US" sz="1400" dirty="0"/>
          </a:p>
        </p:txBody>
      </p:sp>
      <p:sp>
        <p:nvSpPr>
          <p:cNvPr id="32" name="Text 30"/>
          <p:cNvSpPr txBox="1"/>
          <p:nvPr/>
        </p:nvSpPr>
        <p:spPr>
          <a:xfrm>
            <a:off x="9207779"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Moralitas terletak pada perasaan spontan terhadap orang lain, di luar wilayah rasionalitas.</a:t>
            </a:r>
            <a:endParaRPr lang="en-US" sz="1150" dirty="0"/>
          </a:p>
        </p:txBody>
      </p:sp>
      <p:sp>
        <p:nvSpPr>
          <p:cNvPr id="33" name="Text 31"/>
          <p:cNvSpPr txBox="1"/>
          <p:nvPr/>
        </p:nvSpPr>
        <p:spPr>
          <a:xfrm>
            <a:off x="10271455"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93969D"/>
                </a:solidFill>
                <a:latin typeface="Calibri" pitchFamily="34" charset="0"/>
                <a:ea typeface="Calibri" pitchFamily="34" charset="-122"/>
                <a:cs typeface="Calibri" pitchFamily="34" charset="-120"/>
              </a:rPr>
              <a:t>DORONGAN MORAL</a:t>
            </a:r>
            <a:endParaRPr lang="en-US" sz="850" dirty="0"/>
          </a:p>
        </p:txBody>
      </p:sp>
      <p:sp>
        <p:nvSpPr>
          <p:cNvPr id="34" name="Shape 32"/>
          <p:cNvSpPr/>
          <p:nvPr/>
        </p:nvSpPr>
        <p:spPr>
          <a:xfrm>
            <a:off x="621792" y="4535424"/>
            <a:ext cx="10948111" cy="914400"/>
          </a:xfrm>
          <a:prstGeom prst="roundRect">
            <a:avLst>
              <a:gd name="adj" fmla="val 16000"/>
            </a:avLst>
          </a:prstGeom>
          <a:solidFill>
            <a:srgbClr val="C6F04A"/>
          </a:solidFill>
          <a:ln/>
        </p:spPr>
      </p:sp>
      <p:sp>
        <p:nvSpPr>
          <p:cNvPr id="35" name="Text 33"/>
          <p:cNvSpPr txBox="1"/>
          <p:nvPr/>
        </p:nvSpPr>
        <p:spPr>
          <a:xfrm>
            <a:off x="941832" y="4769739"/>
            <a:ext cx="10308031" cy="76809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Keempatnya menuntut hal yang tidak diminta teori Barat modern: melihat siapa yang memutuskan, dalam relasi apa, dan lewat proses seperti apa keputusan itu lahir.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324966"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PESAN UTAMA</a:t>
            </a:r>
            <a:endParaRPr lang="en-US" sz="950" dirty="0"/>
          </a:p>
        </p:txBody>
      </p:sp>
      <p:sp>
        <p:nvSpPr>
          <p:cNvPr id="5" name="Shape 3"/>
          <p:cNvSpPr/>
          <p:nvPr/>
        </p:nvSpPr>
        <p:spPr>
          <a:xfrm>
            <a:off x="2065630"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065630"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FIGURE 3.1 &amp; 3.2</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15</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Dari Lensa ke Prisma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Buku ini tidak menyarankan satu teori sebagai pandangan yang paling benar.</a:t>
            </a:r>
            <a:endParaRPr lang="en-US" sz="1350" dirty="0"/>
          </a:p>
        </p:txBody>
      </p:sp>
      <p:sp>
        <p:nvSpPr>
          <p:cNvPr id="10" name="Shape 8"/>
          <p:cNvSpPr/>
          <p:nvPr/>
        </p:nvSpPr>
        <p:spPr>
          <a:xfrm>
            <a:off x="621792" y="1975104"/>
            <a:ext cx="5346040" cy="2798064"/>
          </a:xfrm>
          <a:prstGeom prst="roundRect">
            <a:avLst>
              <a:gd name="adj" fmla="val 5229"/>
            </a:avLst>
          </a:prstGeom>
          <a:solidFill>
            <a:srgbClr val="FFFFFF"/>
          </a:solidFill>
          <a:ln w="12700">
            <a:solidFill>
              <a:srgbClr val="DDD8CE"/>
            </a:solidFill>
            <a:prstDash val="dash"/>
          </a:ln>
        </p:spPr>
      </p:sp>
      <p:sp>
        <p:nvSpPr>
          <p:cNvPr id="11" name="Text 9"/>
          <p:cNvSpPr txBox="1"/>
          <p:nvPr/>
        </p:nvSpPr>
        <p:spPr>
          <a:xfrm>
            <a:off x="914400" y="2212848"/>
            <a:ext cx="4760824"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FIGURE 3.1</a:t>
            </a:r>
            <a:endParaRPr lang="en-US" sz="950" dirty="0"/>
          </a:p>
        </p:txBody>
      </p:sp>
      <p:sp>
        <p:nvSpPr>
          <p:cNvPr id="12" name="Text 10"/>
          <p:cNvSpPr txBox="1"/>
          <p:nvPr/>
        </p:nvSpPr>
        <p:spPr>
          <a:xfrm>
            <a:off x="914400" y="2487168"/>
            <a:ext cx="4760824" cy="329184"/>
          </a:xfrm>
          <a:prstGeom prst="rect">
            <a:avLst/>
          </a:prstGeom>
          <a:noFill/>
          <a:ln/>
        </p:spPr>
        <p:txBody>
          <a:bodyPr wrap="square" lIns="0" tIns="0" rIns="0" bIns="0" rtlCol="0" anchor="t"/>
          <a:lstStyle/>
          <a:p>
            <a:pPr indent="0" marL="0">
              <a:buNone/>
            </a:pPr>
            <a:r>
              <a:rPr lang="en-US" sz="2000" b="1" dirty="0">
                <a:solidFill>
                  <a:srgbClr val="0E1626"/>
                </a:solidFill>
                <a:latin typeface="Calibri" pitchFamily="34" charset="0"/>
                <a:ea typeface="Calibri" pitchFamily="34" charset="-122"/>
                <a:cs typeface="Calibri" pitchFamily="34" charset="-120"/>
              </a:rPr>
              <a:t>Lensa Satu Teori</a:t>
            </a:r>
            <a:endParaRPr lang="en-US" sz="2000" dirty="0"/>
          </a:p>
        </p:txBody>
      </p:sp>
      <p:sp>
        <p:nvSpPr>
          <p:cNvPr id="13" name="Text 11"/>
          <p:cNvSpPr txBox="1"/>
          <p:nvPr/>
        </p:nvSpPr>
        <p:spPr>
          <a:xfrm>
            <a:off x="914400" y="2926080"/>
            <a:ext cx="4724248" cy="822960"/>
          </a:xfrm>
          <a:prstGeom prst="rect">
            <a:avLst/>
          </a:prstGeom>
          <a:noFill/>
          <a:ln/>
        </p:spPr>
        <p:txBody>
          <a:bodyPr wrap="square" lIns="0" tIns="0" rIns="0" bIns="0" rtlCol="0" anchor="t"/>
          <a:lstStyle/>
          <a:p>
            <a:pPr indent="0" marL="0">
              <a:lnSpc>
                <a:spcPts val="1800"/>
              </a:lnSpc>
              <a:buNone/>
            </a:pPr>
            <a:r>
              <a:rPr lang="en-US" sz="1250" dirty="0">
                <a:solidFill>
                  <a:srgbClr val="2A3243"/>
                </a:solidFill>
                <a:latin typeface="Calibri" pitchFamily="34" charset="0"/>
                <a:ea typeface="Calibri" pitchFamily="34" charset="-122"/>
                <a:cs typeface="Calibri" pitchFamily="34" charset="-120"/>
              </a:rPr>
              <a:t>Dilema etis dipusatkan menjadi satu pertimbangan normatif tunggal. Keputusan terlihat rapi, tetapi seluruh pertimbangan lain hilang dari pandangan.</a:t>
            </a:r>
            <a:endParaRPr lang="en-US" sz="1250" dirty="0"/>
          </a:p>
        </p:txBody>
      </p:sp>
      <p:sp>
        <p:nvSpPr>
          <p:cNvPr id="14" name="Shape 12"/>
          <p:cNvSpPr/>
          <p:nvPr/>
        </p:nvSpPr>
        <p:spPr>
          <a:xfrm>
            <a:off x="914400" y="3931920"/>
            <a:ext cx="1371600" cy="146304"/>
          </a:xfrm>
          <a:prstGeom prst="rect">
            <a:avLst/>
          </a:prstGeom>
          <a:solidFill>
            <a:srgbClr val="0FA98E"/>
          </a:solidFill>
          <a:ln/>
        </p:spPr>
      </p:sp>
      <p:sp>
        <p:nvSpPr>
          <p:cNvPr id="15" name="Text 13"/>
          <p:cNvSpPr txBox="1"/>
          <p:nvPr/>
        </p:nvSpPr>
        <p:spPr>
          <a:xfrm>
            <a:off x="914400" y="4206240"/>
            <a:ext cx="4724248" cy="274320"/>
          </a:xfrm>
          <a:prstGeom prst="rect">
            <a:avLst/>
          </a:prstGeom>
          <a:noFill/>
          <a:ln/>
        </p:spPr>
        <p:txBody>
          <a:bodyPr wrap="square" lIns="0" tIns="0" rIns="0" bIns="0" rtlCol="0" anchor="t"/>
          <a:lstStyle/>
          <a:p>
            <a:pPr indent="0" marL="0">
              <a:buNone/>
            </a:pPr>
            <a:r>
              <a:rPr lang="en-US" sz="1100" i="1" dirty="0">
                <a:solidFill>
                  <a:srgbClr val="6B7A90"/>
                </a:solidFill>
                <a:latin typeface="Calibri" pitchFamily="34" charset="0"/>
                <a:ea typeface="Calibri" pitchFamily="34" charset="-122"/>
                <a:cs typeface="Calibri" pitchFamily="34" charset="-120"/>
              </a:rPr>
              <a:t>satu berkas cahaya, satu jawaban</a:t>
            </a:r>
            <a:endParaRPr lang="en-US" sz="1100" dirty="0"/>
          </a:p>
        </p:txBody>
      </p:sp>
      <p:sp>
        <p:nvSpPr>
          <p:cNvPr id="16" name="Shape 14"/>
          <p:cNvSpPr/>
          <p:nvPr/>
        </p:nvSpPr>
        <p:spPr>
          <a:xfrm>
            <a:off x="6223864" y="1975104"/>
            <a:ext cx="5346040" cy="2798064"/>
          </a:xfrm>
          <a:prstGeom prst="roundRect">
            <a:avLst>
              <a:gd name="adj" fmla="val 5229"/>
            </a:avLst>
          </a:prstGeom>
          <a:solidFill>
            <a:srgbClr val="0E1626"/>
          </a:solidFill>
          <a:ln/>
        </p:spPr>
      </p:sp>
      <p:sp>
        <p:nvSpPr>
          <p:cNvPr id="17" name="Text 15"/>
          <p:cNvSpPr txBox="1"/>
          <p:nvPr/>
        </p:nvSpPr>
        <p:spPr>
          <a:xfrm>
            <a:off x="6516472" y="2212848"/>
            <a:ext cx="4760824" cy="237744"/>
          </a:xfrm>
          <a:prstGeom prst="rect">
            <a:avLst/>
          </a:prstGeom>
          <a:noFill/>
          <a:ln/>
        </p:spPr>
        <p:txBody>
          <a:bodyPr wrap="square" lIns="0" tIns="0" rIns="0" bIns="0" rtlCol="0" anchor="t"/>
          <a:lstStyle/>
          <a:p>
            <a:pPr indent="0" marL="0">
              <a:buNone/>
            </a:pPr>
            <a:r>
              <a:rPr lang="en-US" sz="950" b="1" spc="100" kern="0" dirty="0">
                <a:solidFill>
                  <a:srgbClr val="C6F04A"/>
                </a:solidFill>
                <a:latin typeface="Calibri" pitchFamily="34" charset="0"/>
                <a:ea typeface="Calibri" pitchFamily="34" charset="-122"/>
                <a:cs typeface="Calibri" pitchFamily="34" charset="-120"/>
              </a:rPr>
              <a:t>FIGURE 3.2</a:t>
            </a:r>
            <a:endParaRPr lang="en-US" sz="950" dirty="0"/>
          </a:p>
        </p:txBody>
      </p:sp>
      <p:sp>
        <p:nvSpPr>
          <p:cNvPr id="18" name="Text 16"/>
          <p:cNvSpPr txBox="1"/>
          <p:nvPr/>
        </p:nvSpPr>
        <p:spPr>
          <a:xfrm>
            <a:off x="6516472" y="2487168"/>
            <a:ext cx="4760824" cy="329184"/>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Prisma Banyak Teori</a:t>
            </a:r>
            <a:endParaRPr lang="en-US" sz="2000" dirty="0"/>
          </a:p>
        </p:txBody>
      </p:sp>
      <p:sp>
        <p:nvSpPr>
          <p:cNvPr id="19" name="Text 17"/>
          <p:cNvSpPr txBox="1"/>
          <p:nvPr/>
        </p:nvSpPr>
        <p:spPr>
          <a:xfrm>
            <a:off x="6516472" y="2926080"/>
            <a:ext cx="4724248" cy="822960"/>
          </a:xfrm>
          <a:prstGeom prst="rect">
            <a:avLst/>
          </a:prstGeom>
          <a:noFill/>
          <a:ln/>
        </p:spPr>
        <p:txBody>
          <a:bodyPr wrap="square" lIns="0" tIns="0" rIns="0" bIns="0" rtlCol="0" anchor="t"/>
          <a:lstStyle/>
          <a:p>
            <a:pPr indent="0" marL="0">
              <a:lnSpc>
                <a:spcPts val="1800"/>
              </a:lnSpc>
              <a:buNone/>
            </a:pPr>
            <a:r>
              <a:rPr lang="en-US" sz="1250" dirty="0">
                <a:solidFill>
                  <a:srgbClr val="E8E4DC"/>
                </a:solidFill>
                <a:latin typeface="Calibri" pitchFamily="34" charset="0"/>
                <a:ea typeface="Calibri" pitchFamily="34" charset="-122"/>
                <a:cs typeface="Calibri" pitchFamily="34" charset="-120"/>
              </a:rPr>
              <a:t>Dilema yang sama dipecah menjadi spektrum pertimbangan. Setiap teori menyinari sisi yang tidak terlihat oleh teori lainnya.</a:t>
            </a:r>
            <a:endParaRPr lang="en-US" sz="1250" dirty="0"/>
          </a:p>
        </p:txBody>
      </p:sp>
      <p:sp>
        <p:nvSpPr>
          <p:cNvPr id="20" name="Shape 18"/>
          <p:cNvSpPr/>
          <p:nvPr/>
        </p:nvSpPr>
        <p:spPr>
          <a:xfrm>
            <a:off x="6516472" y="3931920"/>
            <a:ext cx="420624" cy="146304"/>
          </a:xfrm>
          <a:prstGeom prst="rect">
            <a:avLst/>
          </a:prstGeom>
          <a:solidFill>
            <a:srgbClr val="AB463C"/>
          </a:solidFill>
          <a:ln/>
        </p:spPr>
      </p:sp>
      <p:sp>
        <p:nvSpPr>
          <p:cNvPr id="21" name="Shape 19"/>
          <p:cNvSpPr/>
          <p:nvPr/>
        </p:nvSpPr>
        <p:spPr>
          <a:xfrm>
            <a:off x="7065112" y="3931920"/>
            <a:ext cx="420624" cy="146304"/>
          </a:xfrm>
          <a:prstGeom prst="rect">
            <a:avLst/>
          </a:prstGeom>
          <a:solidFill>
            <a:srgbClr val="FF5A2D"/>
          </a:solidFill>
          <a:ln/>
        </p:spPr>
      </p:sp>
      <p:sp>
        <p:nvSpPr>
          <p:cNvPr id="22" name="Shape 20"/>
          <p:cNvSpPr/>
          <p:nvPr/>
        </p:nvSpPr>
        <p:spPr>
          <a:xfrm>
            <a:off x="7613752" y="3931920"/>
            <a:ext cx="420624" cy="146304"/>
          </a:xfrm>
          <a:prstGeom prst="rect">
            <a:avLst/>
          </a:prstGeom>
          <a:solidFill>
            <a:srgbClr val="F5B722"/>
          </a:solidFill>
          <a:ln/>
        </p:spPr>
      </p:sp>
      <p:sp>
        <p:nvSpPr>
          <p:cNvPr id="23" name="Shape 21"/>
          <p:cNvSpPr/>
          <p:nvPr/>
        </p:nvSpPr>
        <p:spPr>
          <a:xfrm>
            <a:off x="8162392" y="3931920"/>
            <a:ext cx="420624" cy="146304"/>
          </a:xfrm>
          <a:prstGeom prst="rect">
            <a:avLst/>
          </a:prstGeom>
          <a:solidFill>
            <a:srgbClr val="C6F04A"/>
          </a:solidFill>
          <a:ln/>
        </p:spPr>
      </p:sp>
      <p:sp>
        <p:nvSpPr>
          <p:cNvPr id="24" name="Shape 22"/>
          <p:cNvSpPr/>
          <p:nvPr/>
        </p:nvSpPr>
        <p:spPr>
          <a:xfrm>
            <a:off x="8711032" y="3931920"/>
            <a:ext cx="420624" cy="146304"/>
          </a:xfrm>
          <a:prstGeom prst="rect">
            <a:avLst/>
          </a:prstGeom>
          <a:solidFill>
            <a:srgbClr val="0FA98E"/>
          </a:solidFill>
          <a:ln/>
        </p:spPr>
      </p:sp>
      <p:sp>
        <p:nvSpPr>
          <p:cNvPr id="25" name="Shape 23"/>
          <p:cNvSpPr/>
          <p:nvPr/>
        </p:nvSpPr>
        <p:spPr>
          <a:xfrm>
            <a:off x="9259672" y="3931920"/>
            <a:ext cx="420624" cy="146304"/>
          </a:xfrm>
          <a:prstGeom prst="rect">
            <a:avLst/>
          </a:prstGeom>
          <a:solidFill>
            <a:srgbClr val="4EA8DE"/>
          </a:solidFill>
          <a:ln/>
        </p:spPr>
      </p:sp>
      <p:sp>
        <p:nvSpPr>
          <p:cNvPr id="26" name="Shape 24"/>
          <p:cNvSpPr/>
          <p:nvPr/>
        </p:nvSpPr>
        <p:spPr>
          <a:xfrm>
            <a:off x="9808312" y="3931920"/>
            <a:ext cx="420624" cy="146304"/>
          </a:xfrm>
          <a:prstGeom prst="rect">
            <a:avLst/>
          </a:prstGeom>
          <a:solidFill>
            <a:srgbClr val="6C7BE0"/>
          </a:solidFill>
          <a:ln/>
        </p:spPr>
      </p:sp>
      <p:sp>
        <p:nvSpPr>
          <p:cNvPr id="27" name="Shape 25"/>
          <p:cNvSpPr/>
          <p:nvPr/>
        </p:nvSpPr>
        <p:spPr>
          <a:xfrm>
            <a:off x="10356952" y="3931920"/>
            <a:ext cx="420624" cy="146304"/>
          </a:xfrm>
          <a:prstGeom prst="rect">
            <a:avLst/>
          </a:prstGeom>
          <a:solidFill>
            <a:srgbClr val="B8A6F5"/>
          </a:solidFill>
          <a:ln/>
        </p:spPr>
      </p:sp>
      <p:sp>
        <p:nvSpPr>
          <p:cNvPr id="28" name="Shape 26"/>
          <p:cNvSpPr/>
          <p:nvPr/>
        </p:nvSpPr>
        <p:spPr>
          <a:xfrm>
            <a:off x="10905592" y="3931920"/>
            <a:ext cx="420624" cy="146304"/>
          </a:xfrm>
          <a:prstGeom prst="rect">
            <a:avLst/>
          </a:prstGeom>
          <a:solidFill>
            <a:srgbClr val="E86A9B"/>
          </a:solidFill>
          <a:ln/>
        </p:spPr>
      </p:sp>
      <p:sp>
        <p:nvSpPr>
          <p:cNvPr id="29" name="Text 27"/>
          <p:cNvSpPr txBox="1"/>
          <p:nvPr/>
        </p:nvSpPr>
        <p:spPr>
          <a:xfrm>
            <a:off x="6516472" y="4206240"/>
            <a:ext cx="4724248" cy="274320"/>
          </a:xfrm>
          <a:prstGeom prst="rect">
            <a:avLst/>
          </a:prstGeom>
          <a:noFill/>
          <a:ln/>
        </p:spPr>
        <p:txBody>
          <a:bodyPr wrap="square" lIns="0" tIns="0" rIns="0" bIns="0" rtlCol="0" anchor="t"/>
          <a:lstStyle/>
          <a:p>
            <a:pPr indent="0" marL="0">
              <a:buNone/>
            </a:pPr>
            <a:r>
              <a:rPr lang="en-US" sz="1100" i="1" dirty="0">
                <a:solidFill>
                  <a:srgbClr val="B9C0CE"/>
                </a:solidFill>
                <a:latin typeface="Calibri" pitchFamily="34" charset="0"/>
                <a:ea typeface="Calibri" pitchFamily="34" charset="-122"/>
                <a:cs typeface="Calibri" pitchFamily="34" charset="-120"/>
              </a:rPr>
              <a:t>satu kasus, sembilan sorotan</a:t>
            </a:r>
            <a:endParaRPr lang="en-US" sz="1100" dirty="0"/>
          </a:p>
        </p:txBody>
      </p:sp>
      <p:sp>
        <p:nvSpPr>
          <p:cNvPr id="30" name="Shape 28"/>
          <p:cNvSpPr/>
          <p:nvPr/>
        </p:nvSpPr>
        <p:spPr>
          <a:xfrm>
            <a:off x="621792" y="4956048"/>
            <a:ext cx="10948111" cy="1005840"/>
          </a:xfrm>
          <a:prstGeom prst="roundRect">
            <a:avLst>
              <a:gd name="adj" fmla="val 14545"/>
            </a:avLst>
          </a:prstGeom>
          <a:solidFill>
            <a:srgbClr val="C6F04A"/>
          </a:solidFill>
          <a:ln/>
        </p:spPr>
      </p:sp>
      <p:sp>
        <p:nvSpPr>
          <p:cNvPr id="31" name="Text 29"/>
          <p:cNvSpPr txBox="1"/>
          <p:nvPr/>
        </p:nvSpPr>
        <p:spPr>
          <a:xfrm>
            <a:off x="941832" y="5236083"/>
            <a:ext cx="10308031" cy="85953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Keputusan yang baik bukan keputusan yang menemukan teori paling benar, melainkan keputusan yang menyadari seluruh spektrum itu dan dapat dipertanggungjawabkan kepada semua pihak yang terdampak.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626"/>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6008522" y="1345082"/>
            <a:ext cx="53035" cy="53035"/>
          </a:xfrm>
          <a:prstGeom prst="ellipse">
            <a:avLst/>
          </a:prstGeom>
          <a:solidFill>
            <a:srgbClr val="2A3243"/>
          </a:solidFill>
          <a:ln/>
        </p:spPr>
      </p:sp>
      <p:sp>
        <p:nvSpPr>
          <p:cNvPr id="5" name="Shape 3"/>
          <p:cNvSpPr/>
          <p:nvPr/>
        </p:nvSpPr>
        <p:spPr>
          <a:xfrm>
            <a:off x="6131768" y="1289053"/>
            <a:ext cx="53035" cy="53035"/>
          </a:xfrm>
          <a:prstGeom prst="ellipse">
            <a:avLst/>
          </a:prstGeom>
          <a:solidFill>
            <a:srgbClr val="2A3243"/>
          </a:solidFill>
          <a:ln/>
        </p:spPr>
      </p:sp>
      <p:sp>
        <p:nvSpPr>
          <p:cNvPr id="6" name="Shape 4"/>
          <p:cNvSpPr/>
          <p:nvPr/>
        </p:nvSpPr>
        <p:spPr>
          <a:xfrm>
            <a:off x="6255013" y="1234066"/>
            <a:ext cx="53035" cy="53035"/>
          </a:xfrm>
          <a:prstGeom prst="ellipse">
            <a:avLst/>
          </a:prstGeom>
          <a:solidFill>
            <a:srgbClr val="2A3243"/>
          </a:solidFill>
          <a:ln/>
        </p:spPr>
      </p:sp>
      <p:sp>
        <p:nvSpPr>
          <p:cNvPr id="7" name="Shape 5"/>
          <p:cNvSpPr/>
          <p:nvPr/>
        </p:nvSpPr>
        <p:spPr>
          <a:xfrm>
            <a:off x="6378258" y="1181148"/>
            <a:ext cx="53035" cy="53035"/>
          </a:xfrm>
          <a:prstGeom prst="ellipse">
            <a:avLst/>
          </a:prstGeom>
          <a:solidFill>
            <a:srgbClr val="2A3243"/>
          </a:solidFill>
          <a:ln/>
        </p:spPr>
      </p:sp>
      <p:sp>
        <p:nvSpPr>
          <p:cNvPr id="8" name="Shape 6"/>
          <p:cNvSpPr/>
          <p:nvPr/>
        </p:nvSpPr>
        <p:spPr>
          <a:xfrm>
            <a:off x="6501503" y="1131284"/>
            <a:ext cx="53035" cy="53035"/>
          </a:xfrm>
          <a:prstGeom prst="ellipse">
            <a:avLst/>
          </a:prstGeom>
          <a:solidFill>
            <a:srgbClr val="2A3243"/>
          </a:solidFill>
          <a:ln/>
        </p:spPr>
      </p:sp>
      <p:sp>
        <p:nvSpPr>
          <p:cNvPr id="9" name="Shape 7"/>
          <p:cNvSpPr/>
          <p:nvPr/>
        </p:nvSpPr>
        <p:spPr>
          <a:xfrm>
            <a:off x="6624748" y="1085402"/>
            <a:ext cx="53035" cy="53035"/>
          </a:xfrm>
          <a:prstGeom prst="ellipse">
            <a:avLst/>
          </a:prstGeom>
          <a:solidFill>
            <a:srgbClr val="2A3243"/>
          </a:solidFill>
          <a:ln/>
        </p:spPr>
      </p:sp>
      <p:sp>
        <p:nvSpPr>
          <p:cNvPr id="10" name="Shape 8"/>
          <p:cNvSpPr/>
          <p:nvPr/>
        </p:nvSpPr>
        <p:spPr>
          <a:xfrm>
            <a:off x="6747994" y="1044358"/>
            <a:ext cx="53035" cy="53035"/>
          </a:xfrm>
          <a:prstGeom prst="ellipse">
            <a:avLst/>
          </a:prstGeom>
          <a:solidFill>
            <a:srgbClr val="2A3243"/>
          </a:solidFill>
          <a:ln/>
        </p:spPr>
      </p:sp>
      <p:sp>
        <p:nvSpPr>
          <p:cNvPr id="11" name="Shape 9"/>
          <p:cNvSpPr/>
          <p:nvPr/>
        </p:nvSpPr>
        <p:spPr>
          <a:xfrm>
            <a:off x="6871239" y="1008916"/>
            <a:ext cx="53035" cy="53035"/>
          </a:xfrm>
          <a:prstGeom prst="ellipse">
            <a:avLst/>
          </a:prstGeom>
          <a:solidFill>
            <a:srgbClr val="2A3243"/>
          </a:solidFill>
          <a:ln/>
        </p:spPr>
      </p:sp>
      <p:sp>
        <p:nvSpPr>
          <p:cNvPr id="12" name="Shape 10"/>
          <p:cNvSpPr/>
          <p:nvPr/>
        </p:nvSpPr>
        <p:spPr>
          <a:xfrm>
            <a:off x="6994484" y="979735"/>
            <a:ext cx="53035" cy="53035"/>
          </a:xfrm>
          <a:prstGeom prst="ellipse">
            <a:avLst/>
          </a:prstGeom>
          <a:solidFill>
            <a:srgbClr val="2A3243"/>
          </a:solidFill>
          <a:ln/>
        </p:spPr>
      </p:sp>
      <p:sp>
        <p:nvSpPr>
          <p:cNvPr id="13" name="Shape 11"/>
          <p:cNvSpPr/>
          <p:nvPr/>
        </p:nvSpPr>
        <p:spPr>
          <a:xfrm>
            <a:off x="7117729" y="957361"/>
            <a:ext cx="53035" cy="53035"/>
          </a:xfrm>
          <a:prstGeom prst="ellipse">
            <a:avLst/>
          </a:prstGeom>
          <a:solidFill>
            <a:srgbClr val="2A3243"/>
          </a:solidFill>
          <a:ln/>
        </p:spPr>
      </p:sp>
      <p:sp>
        <p:nvSpPr>
          <p:cNvPr id="14" name="Shape 12"/>
          <p:cNvSpPr/>
          <p:nvPr/>
        </p:nvSpPr>
        <p:spPr>
          <a:xfrm>
            <a:off x="7240975" y="942209"/>
            <a:ext cx="53035" cy="53035"/>
          </a:xfrm>
          <a:prstGeom prst="ellipse">
            <a:avLst/>
          </a:prstGeom>
          <a:solidFill>
            <a:srgbClr val="2A3243"/>
          </a:solidFill>
          <a:ln/>
        </p:spPr>
      </p:sp>
      <p:sp>
        <p:nvSpPr>
          <p:cNvPr id="15" name="Shape 13"/>
          <p:cNvSpPr/>
          <p:nvPr/>
        </p:nvSpPr>
        <p:spPr>
          <a:xfrm>
            <a:off x="7364220" y="934562"/>
            <a:ext cx="53035" cy="53035"/>
          </a:xfrm>
          <a:prstGeom prst="ellipse">
            <a:avLst/>
          </a:prstGeom>
          <a:solidFill>
            <a:srgbClr val="2A3243"/>
          </a:solidFill>
          <a:ln/>
        </p:spPr>
      </p:sp>
      <p:sp>
        <p:nvSpPr>
          <p:cNvPr id="16" name="Shape 14"/>
          <p:cNvSpPr/>
          <p:nvPr/>
        </p:nvSpPr>
        <p:spPr>
          <a:xfrm>
            <a:off x="7487465" y="934562"/>
            <a:ext cx="53035" cy="53035"/>
          </a:xfrm>
          <a:prstGeom prst="ellipse">
            <a:avLst/>
          </a:prstGeom>
          <a:solidFill>
            <a:srgbClr val="2A3243"/>
          </a:solidFill>
          <a:ln/>
        </p:spPr>
      </p:sp>
      <p:sp>
        <p:nvSpPr>
          <p:cNvPr id="17" name="Shape 15"/>
          <p:cNvSpPr/>
          <p:nvPr/>
        </p:nvSpPr>
        <p:spPr>
          <a:xfrm>
            <a:off x="7610710" y="942209"/>
            <a:ext cx="53035" cy="53035"/>
          </a:xfrm>
          <a:prstGeom prst="ellipse">
            <a:avLst/>
          </a:prstGeom>
          <a:solidFill>
            <a:srgbClr val="2A3243"/>
          </a:solidFill>
          <a:ln/>
        </p:spPr>
      </p:sp>
      <p:sp>
        <p:nvSpPr>
          <p:cNvPr id="18" name="Shape 16"/>
          <p:cNvSpPr/>
          <p:nvPr/>
        </p:nvSpPr>
        <p:spPr>
          <a:xfrm>
            <a:off x="7733955" y="957361"/>
            <a:ext cx="53035" cy="53035"/>
          </a:xfrm>
          <a:prstGeom prst="ellipse">
            <a:avLst/>
          </a:prstGeom>
          <a:solidFill>
            <a:srgbClr val="2A3243"/>
          </a:solidFill>
          <a:ln/>
        </p:spPr>
      </p:sp>
      <p:sp>
        <p:nvSpPr>
          <p:cNvPr id="19" name="Shape 17"/>
          <p:cNvSpPr/>
          <p:nvPr/>
        </p:nvSpPr>
        <p:spPr>
          <a:xfrm>
            <a:off x="7857201" y="979735"/>
            <a:ext cx="53035" cy="53035"/>
          </a:xfrm>
          <a:prstGeom prst="ellipse">
            <a:avLst/>
          </a:prstGeom>
          <a:solidFill>
            <a:srgbClr val="2A3243"/>
          </a:solidFill>
          <a:ln/>
        </p:spPr>
      </p:sp>
      <p:sp>
        <p:nvSpPr>
          <p:cNvPr id="20" name="Shape 18"/>
          <p:cNvSpPr/>
          <p:nvPr/>
        </p:nvSpPr>
        <p:spPr>
          <a:xfrm>
            <a:off x="7980446" y="1008916"/>
            <a:ext cx="53035" cy="53035"/>
          </a:xfrm>
          <a:prstGeom prst="ellipse">
            <a:avLst/>
          </a:prstGeom>
          <a:solidFill>
            <a:srgbClr val="2A3243"/>
          </a:solidFill>
          <a:ln/>
        </p:spPr>
      </p:sp>
      <p:sp>
        <p:nvSpPr>
          <p:cNvPr id="21" name="Shape 19"/>
          <p:cNvSpPr/>
          <p:nvPr/>
        </p:nvSpPr>
        <p:spPr>
          <a:xfrm>
            <a:off x="8103691" y="1044358"/>
            <a:ext cx="53035" cy="53035"/>
          </a:xfrm>
          <a:prstGeom prst="ellipse">
            <a:avLst/>
          </a:prstGeom>
          <a:solidFill>
            <a:srgbClr val="2A3243"/>
          </a:solidFill>
          <a:ln/>
        </p:spPr>
      </p:sp>
      <p:sp>
        <p:nvSpPr>
          <p:cNvPr id="22" name="Shape 20"/>
          <p:cNvSpPr/>
          <p:nvPr/>
        </p:nvSpPr>
        <p:spPr>
          <a:xfrm>
            <a:off x="8226936" y="1085402"/>
            <a:ext cx="53035" cy="53035"/>
          </a:xfrm>
          <a:prstGeom prst="ellipse">
            <a:avLst/>
          </a:prstGeom>
          <a:solidFill>
            <a:srgbClr val="2A3243"/>
          </a:solidFill>
          <a:ln/>
        </p:spPr>
      </p:sp>
      <p:sp>
        <p:nvSpPr>
          <p:cNvPr id="23" name="Shape 21"/>
          <p:cNvSpPr/>
          <p:nvPr/>
        </p:nvSpPr>
        <p:spPr>
          <a:xfrm>
            <a:off x="8350182" y="1131284"/>
            <a:ext cx="53035" cy="53035"/>
          </a:xfrm>
          <a:prstGeom prst="ellipse">
            <a:avLst/>
          </a:prstGeom>
          <a:solidFill>
            <a:srgbClr val="2A3243"/>
          </a:solidFill>
          <a:ln/>
        </p:spPr>
      </p:sp>
      <p:sp>
        <p:nvSpPr>
          <p:cNvPr id="24" name="Shape 22"/>
          <p:cNvSpPr/>
          <p:nvPr/>
        </p:nvSpPr>
        <p:spPr>
          <a:xfrm>
            <a:off x="8473427" y="1181148"/>
            <a:ext cx="53035" cy="53035"/>
          </a:xfrm>
          <a:prstGeom prst="ellipse">
            <a:avLst/>
          </a:prstGeom>
          <a:solidFill>
            <a:srgbClr val="2A3243"/>
          </a:solidFill>
          <a:ln/>
        </p:spPr>
      </p:sp>
      <p:sp>
        <p:nvSpPr>
          <p:cNvPr id="25" name="Shape 23"/>
          <p:cNvSpPr/>
          <p:nvPr/>
        </p:nvSpPr>
        <p:spPr>
          <a:xfrm>
            <a:off x="8596672" y="1234066"/>
            <a:ext cx="53035" cy="53035"/>
          </a:xfrm>
          <a:prstGeom prst="ellipse">
            <a:avLst/>
          </a:prstGeom>
          <a:solidFill>
            <a:srgbClr val="2A3243"/>
          </a:solidFill>
          <a:ln/>
        </p:spPr>
      </p:sp>
      <p:sp>
        <p:nvSpPr>
          <p:cNvPr id="26" name="Shape 24"/>
          <p:cNvSpPr/>
          <p:nvPr/>
        </p:nvSpPr>
        <p:spPr>
          <a:xfrm>
            <a:off x="8719917" y="1289053"/>
            <a:ext cx="53035" cy="53035"/>
          </a:xfrm>
          <a:prstGeom prst="ellipse">
            <a:avLst/>
          </a:prstGeom>
          <a:solidFill>
            <a:srgbClr val="2A3243"/>
          </a:solidFill>
          <a:ln/>
        </p:spPr>
      </p:sp>
      <p:sp>
        <p:nvSpPr>
          <p:cNvPr id="27" name="Shape 25"/>
          <p:cNvSpPr/>
          <p:nvPr/>
        </p:nvSpPr>
        <p:spPr>
          <a:xfrm>
            <a:off x="8843162" y="1345082"/>
            <a:ext cx="53035" cy="53035"/>
          </a:xfrm>
          <a:prstGeom prst="ellipse">
            <a:avLst/>
          </a:prstGeom>
          <a:solidFill>
            <a:srgbClr val="2A3243"/>
          </a:solidFill>
          <a:ln/>
        </p:spPr>
      </p:sp>
      <p:sp>
        <p:nvSpPr>
          <p:cNvPr id="28" name="Shape 26"/>
          <p:cNvSpPr/>
          <p:nvPr/>
        </p:nvSpPr>
        <p:spPr>
          <a:xfrm>
            <a:off x="8966408" y="1401112"/>
            <a:ext cx="53035" cy="53035"/>
          </a:xfrm>
          <a:prstGeom prst="ellipse">
            <a:avLst/>
          </a:prstGeom>
          <a:solidFill>
            <a:srgbClr val="2A3243"/>
          </a:solidFill>
          <a:ln/>
        </p:spPr>
      </p:sp>
      <p:sp>
        <p:nvSpPr>
          <p:cNvPr id="29" name="Shape 27"/>
          <p:cNvSpPr/>
          <p:nvPr/>
        </p:nvSpPr>
        <p:spPr>
          <a:xfrm>
            <a:off x="9089653" y="1456098"/>
            <a:ext cx="53035" cy="53035"/>
          </a:xfrm>
          <a:prstGeom prst="ellipse">
            <a:avLst/>
          </a:prstGeom>
          <a:solidFill>
            <a:srgbClr val="2A3243"/>
          </a:solidFill>
          <a:ln/>
        </p:spPr>
      </p:sp>
      <p:sp>
        <p:nvSpPr>
          <p:cNvPr id="30" name="Shape 28"/>
          <p:cNvSpPr/>
          <p:nvPr/>
        </p:nvSpPr>
        <p:spPr>
          <a:xfrm>
            <a:off x="9212898" y="1509016"/>
            <a:ext cx="53035" cy="53035"/>
          </a:xfrm>
          <a:prstGeom prst="ellipse">
            <a:avLst/>
          </a:prstGeom>
          <a:solidFill>
            <a:srgbClr val="2A3243"/>
          </a:solidFill>
          <a:ln/>
        </p:spPr>
      </p:sp>
      <p:sp>
        <p:nvSpPr>
          <p:cNvPr id="31" name="Shape 29"/>
          <p:cNvSpPr/>
          <p:nvPr/>
        </p:nvSpPr>
        <p:spPr>
          <a:xfrm>
            <a:off x="9336143" y="1558881"/>
            <a:ext cx="53035" cy="53035"/>
          </a:xfrm>
          <a:prstGeom prst="ellipse">
            <a:avLst/>
          </a:prstGeom>
          <a:solidFill>
            <a:srgbClr val="2A3243"/>
          </a:solidFill>
          <a:ln/>
        </p:spPr>
      </p:sp>
      <p:sp>
        <p:nvSpPr>
          <p:cNvPr id="32" name="Shape 30"/>
          <p:cNvSpPr/>
          <p:nvPr/>
        </p:nvSpPr>
        <p:spPr>
          <a:xfrm>
            <a:off x="9459388" y="1604762"/>
            <a:ext cx="53035" cy="53035"/>
          </a:xfrm>
          <a:prstGeom prst="ellipse">
            <a:avLst/>
          </a:prstGeom>
          <a:solidFill>
            <a:srgbClr val="2A3243"/>
          </a:solidFill>
          <a:ln/>
        </p:spPr>
      </p:sp>
      <p:sp>
        <p:nvSpPr>
          <p:cNvPr id="33" name="Shape 31"/>
          <p:cNvSpPr/>
          <p:nvPr/>
        </p:nvSpPr>
        <p:spPr>
          <a:xfrm>
            <a:off x="9582634" y="1645807"/>
            <a:ext cx="53035" cy="53035"/>
          </a:xfrm>
          <a:prstGeom prst="ellipse">
            <a:avLst/>
          </a:prstGeom>
          <a:solidFill>
            <a:srgbClr val="2A3243"/>
          </a:solidFill>
          <a:ln/>
        </p:spPr>
      </p:sp>
      <p:sp>
        <p:nvSpPr>
          <p:cNvPr id="34" name="Shape 32"/>
          <p:cNvSpPr/>
          <p:nvPr/>
        </p:nvSpPr>
        <p:spPr>
          <a:xfrm>
            <a:off x="9705879" y="1681249"/>
            <a:ext cx="53035" cy="53035"/>
          </a:xfrm>
          <a:prstGeom prst="ellipse">
            <a:avLst/>
          </a:prstGeom>
          <a:solidFill>
            <a:srgbClr val="2A3243"/>
          </a:solidFill>
          <a:ln/>
        </p:spPr>
      </p:sp>
      <p:sp>
        <p:nvSpPr>
          <p:cNvPr id="35" name="Shape 33"/>
          <p:cNvSpPr/>
          <p:nvPr/>
        </p:nvSpPr>
        <p:spPr>
          <a:xfrm>
            <a:off x="9829124" y="1710429"/>
            <a:ext cx="53035" cy="53035"/>
          </a:xfrm>
          <a:prstGeom prst="ellipse">
            <a:avLst/>
          </a:prstGeom>
          <a:solidFill>
            <a:srgbClr val="2A3243"/>
          </a:solidFill>
          <a:ln/>
        </p:spPr>
      </p:sp>
      <p:sp>
        <p:nvSpPr>
          <p:cNvPr id="36" name="Shape 34"/>
          <p:cNvSpPr/>
          <p:nvPr/>
        </p:nvSpPr>
        <p:spPr>
          <a:xfrm>
            <a:off x="9952369" y="1732804"/>
            <a:ext cx="53035" cy="53035"/>
          </a:xfrm>
          <a:prstGeom prst="ellipse">
            <a:avLst/>
          </a:prstGeom>
          <a:solidFill>
            <a:srgbClr val="2A3243"/>
          </a:solidFill>
          <a:ln/>
        </p:spPr>
      </p:sp>
      <p:sp>
        <p:nvSpPr>
          <p:cNvPr id="37" name="Shape 35"/>
          <p:cNvSpPr/>
          <p:nvPr/>
        </p:nvSpPr>
        <p:spPr>
          <a:xfrm>
            <a:off x="10075615" y="1747956"/>
            <a:ext cx="53035" cy="53035"/>
          </a:xfrm>
          <a:prstGeom prst="ellipse">
            <a:avLst/>
          </a:prstGeom>
          <a:solidFill>
            <a:srgbClr val="2A3243"/>
          </a:solidFill>
          <a:ln/>
        </p:spPr>
      </p:sp>
      <p:sp>
        <p:nvSpPr>
          <p:cNvPr id="38" name="Shape 36"/>
          <p:cNvSpPr/>
          <p:nvPr/>
        </p:nvSpPr>
        <p:spPr>
          <a:xfrm>
            <a:off x="10198860" y="1755603"/>
            <a:ext cx="53035" cy="53035"/>
          </a:xfrm>
          <a:prstGeom prst="ellipse">
            <a:avLst/>
          </a:prstGeom>
          <a:solidFill>
            <a:srgbClr val="2A3243"/>
          </a:solidFill>
          <a:ln/>
        </p:spPr>
      </p:sp>
      <p:sp>
        <p:nvSpPr>
          <p:cNvPr id="39" name="Shape 37"/>
          <p:cNvSpPr/>
          <p:nvPr/>
        </p:nvSpPr>
        <p:spPr>
          <a:xfrm>
            <a:off x="10322105" y="1755603"/>
            <a:ext cx="53035" cy="53035"/>
          </a:xfrm>
          <a:prstGeom prst="ellipse">
            <a:avLst/>
          </a:prstGeom>
          <a:solidFill>
            <a:srgbClr val="2A3243"/>
          </a:solidFill>
          <a:ln/>
        </p:spPr>
      </p:sp>
      <p:sp>
        <p:nvSpPr>
          <p:cNvPr id="40" name="Shape 38"/>
          <p:cNvSpPr/>
          <p:nvPr/>
        </p:nvSpPr>
        <p:spPr>
          <a:xfrm>
            <a:off x="10445350" y="1747956"/>
            <a:ext cx="53035" cy="53035"/>
          </a:xfrm>
          <a:prstGeom prst="ellipse">
            <a:avLst/>
          </a:prstGeom>
          <a:solidFill>
            <a:srgbClr val="2A3243"/>
          </a:solidFill>
          <a:ln/>
        </p:spPr>
      </p:sp>
      <p:sp>
        <p:nvSpPr>
          <p:cNvPr id="41" name="Shape 39"/>
          <p:cNvSpPr/>
          <p:nvPr/>
        </p:nvSpPr>
        <p:spPr>
          <a:xfrm>
            <a:off x="10568595" y="1732804"/>
            <a:ext cx="53035" cy="53035"/>
          </a:xfrm>
          <a:prstGeom prst="ellipse">
            <a:avLst/>
          </a:prstGeom>
          <a:solidFill>
            <a:srgbClr val="2A3243"/>
          </a:solidFill>
          <a:ln/>
        </p:spPr>
      </p:sp>
      <p:sp>
        <p:nvSpPr>
          <p:cNvPr id="42" name="Shape 40"/>
          <p:cNvSpPr/>
          <p:nvPr/>
        </p:nvSpPr>
        <p:spPr>
          <a:xfrm>
            <a:off x="10691841" y="1710429"/>
            <a:ext cx="53035" cy="53035"/>
          </a:xfrm>
          <a:prstGeom prst="ellipse">
            <a:avLst/>
          </a:prstGeom>
          <a:solidFill>
            <a:srgbClr val="2A3243"/>
          </a:solidFill>
          <a:ln/>
        </p:spPr>
      </p:sp>
      <p:sp>
        <p:nvSpPr>
          <p:cNvPr id="43" name="Shape 41"/>
          <p:cNvSpPr/>
          <p:nvPr/>
        </p:nvSpPr>
        <p:spPr>
          <a:xfrm>
            <a:off x="10815086" y="1681249"/>
            <a:ext cx="53035" cy="53035"/>
          </a:xfrm>
          <a:prstGeom prst="ellipse">
            <a:avLst/>
          </a:prstGeom>
          <a:solidFill>
            <a:srgbClr val="2A3243"/>
          </a:solidFill>
          <a:ln/>
        </p:spPr>
      </p:sp>
      <p:sp>
        <p:nvSpPr>
          <p:cNvPr id="44" name="Shape 42"/>
          <p:cNvSpPr/>
          <p:nvPr/>
        </p:nvSpPr>
        <p:spPr>
          <a:xfrm>
            <a:off x="10938331" y="1645807"/>
            <a:ext cx="53035" cy="53035"/>
          </a:xfrm>
          <a:prstGeom prst="ellipse">
            <a:avLst/>
          </a:prstGeom>
          <a:solidFill>
            <a:srgbClr val="2A3243"/>
          </a:solidFill>
          <a:ln/>
        </p:spPr>
      </p:sp>
      <p:sp>
        <p:nvSpPr>
          <p:cNvPr id="45" name="Shape 43"/>
          <p:cNvSpPr/>
          <p:nvPr/>
        </p:nvSpPr>
        <p:spPr>
          <a:xfrm>
            <a:off x="11061576" y="1604762"/>
            <a:ext cx="53035" cy="53035"/>
          </a:xfrm>
          <a:prstGeom prst="ellipse">
            <a:avLst/>
          </a:prstGeom>
          <a:solidFill>
            <a:srgbClr val="2A3243"/>
          </a:solidFill>
          <a:ln/>
        </p:spPr>
      </p:sp>
      <p:sp>
        <p:nvSpPr>
          <p:cNvPr id="46" name="Shape 44"/>
          <p:cNvSpPr/>
          <p:nvPr/>
        </p:nvSpPr>
        <p:spPr>
          <a:xfrm>
            <a:off x="11184822" y="1558881"/>
            <a:ext cx="53035" cy="53035"/>
          </a:xfrm>
          <a:prstGeom prst="ellipse">
            <a:avLst/>
          </a:prstGeom>
          <a:solidFill>
            <a:srgbClr val="2A3243"/>
          </a:solidFill>
          <a:ln/>
        </p:spPr>
      </p:sp>
      <p:sp>
        <p:nvSpPr>
          <p:cNvPr id="47" name="Shape 45"/>
          <p:cNvSpPr/>
          <p:nvPr/>
        </p:nvSpPr>
        <p:spPr>
          <a:xfrm>
            <a:off x="11308067" y="1509016"/>
            <a:ext cx="53035" cy="53035"/>
          </a:xfrm>
          <a:prstGeom prst="ellipse">
            <a:avLst/>
          </a:prstGeom>
          <a:solidFill>
            <a:srgbClr val="2A3243"/>
          </a:solidFill>
          <a:ln/>
        </p:spPr>
      </p:sp>
      <p:sp>
        <p:nvSpPr>
          <p:cNvPr id="48" name="Shape 46"/>
          <p:cNvSpPr/>
          <p:nvPr/>
        </p:nvSpPr>
        <p:spPr>
          <a:xfrm>
            <a:off x="11431312" y="1456098"/>
            <a:ext cx="53035" cy="53035"/>
          </a:xfrm>
          <a:prstGeom prst="ellipse">
            <a:avLst/>
          </a:prstGeom>
          <a:solidFill>
            <a:srgbClr val="2A3243"/>
          </a:solidFill>
          <a:ln/>
        </p:spPr>
      </p:sp>
      <p:sp>
        <p:nvSpPr>
          <p:cNvPr id="49" name="Shape 47"/>
          <p:cNvSpPr/>
          <p:nvPr/>
        </p:nvSpPr>
        <p:spPr>
          <a:xfrm>
            <a:off x="11554557" y="1401112"/>
            <a:ext cx="53035" cy="53035"/>
          </a:xfrm>
          <a:prstGeom prst="ellipse">
            <a:avLst/>
          </a:prstGeom>
          <a:solidFill>
            <a:srgbClr val="2A3243"/>
          </a:solidFill>
          <a:ln/>
        </p:spPr>
      </p:sp>
      <p:sp>
        <p:nvSpPr>
          <p:cNvPr id="50" name="Shape 48"/>
          <p:cNvSpPr/>
          <p:nvPr/>
        </p:nvSpPr>
        <p:spPr>
          <a:xfrm>
            <a:off x="11677802" y="1345082"/>
            <a:ext cx="53035" cy="53035"/>
          </a:xfrm>
          <a:prstGeom prst="ellipse">
            <a:avLst/>
          </a:prstGeom>
          <a:solidFill>
            <a:srgbClr val="2A3243"/>
          </a:solidFill>
          <a:ln/>
        </p:spPr>
      </p:sp>
      <p:sp>
        <p:nvSpPr>
          <p:cNvPr id="51" name="Text 49"/>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16</a:t>
            </a:r>
            <a:endParaRPr lang="en-US" sz="950" dirty="0"/>
          </a:p>
        </p:txBody>
      </p:sp>
      <p:sp>
        <p:nvSpPr>
          <p:cNvPr id="52" name="Shape 50"/>
          <p:cNvSpPr/>
          <p:nvPr/>
        </p:nvSpPr>
        <p:spPr>
          <a:xfrm>
            <a:off x="621792" y="2011680"/>
            <a:ext cx="1143914" cy="283464"/>
          </a:xfrm>
          <a:prstGeom prst="roundRect">
            <a:avLst>
              <a:gd name="adj" fmla="val 50000"/>
            </a:avLst>
          </a:prstGeom>
          <a:solidFill>
            <a:srgbClr val="FF5A2D"/>
          </a:solidFill>
          <a:ln w="12700">
            <a:solidFill>
              <a:srgbClr val="FF5A2D"/>
            </a:solidFill>
            <a:prstDash val="solid"/>
          </a:ln>
        </p:spPr>
      </p:sp>
      <p:sp>
        <p:nvSpPr>
          <p:cNvPr id="53" name="Text 51"/>
          <p:cNvSpPr txBox="1"/>
          <p:nvPr/>
        </p:nvSpPr>
        <p:spPr>
          <a:xfrm>
            <a:off x="621792" y="2011680"/>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BAGIAN 10</a:t>
            </a:r>
            <a:endParaRPr lang="en-US" sz="950" dirty="0"/>
          </a:p>
        </p:txBody>
      </p:sp>
      <p:sp>
        <p:nvSpPr>
          <p:cNvPr id="54" name="Shape 52"/>
          <p:cNvSpPr/>
          <p:nvPr/>
        </p:nvSpPr>
        <p:spPr>
          <a:xfrm>
            <a:off x="1884578" y="2011680"/>
            <a:ext cx="2501798" cy="283464"/>
          </a:xfrm>
          <a:prstGeom prst="roundRect">
            <a:avLst>
              <a:gd name="adj" fmla="val 50000"/>
            </a:avLst>
          </a:prstGeom>
          <a:solidFill>
            <a:srgbClr val="1B2233"/>
          </a:solidFill>
          <a:ln w="12700">
            <a:solidFill>
              <a:srgbClr val="1B2233"/>
            </a:solidFill>
            <a:prstDash val="solid"/>
          </a:ln>
        </p:spPr>
      </p:sp>
      <p:sp>
        <p:nvSpPr>
          <p:cNvPr id="55" name="Text 53"/>
          <p:cNvSpPr txBox="1"/>
          <p:nvPr/>
        </p:nvSpPr>
        <p:spPr>
          <a:xfrm>
            <a:off x="1884578" y="2011680"/>
            <a:ext cx="2501798" cy="283464"/>
          </a:xfrm>
          <a:prstGeom prst="rect">
            <a:avLst/>
          </a:prstGeom>
          <a:noFill/>
          <a:ln/>
        </p:spPr>
        <p:txBody>
          <a:bodyPr wrap="square" lIns="0" tIns="0" rIns="0" bIns="0" rtlCol="0" anchor="ctr"/>
          <a:lstStyle/>
          <a:p>
            <a:pPr algn="ctr" indent="0" marL="0">
              <a:buNone/>
            </a:pPr>
            <a:r>
              <a:rPr lang="en-US" sz="950" b="1" spc="110" kern="0" dirty="0">
                <a:solidFill>
                  <a:srgbClr val="B9C0CE"/>
                </a:solidFill>
                <a:latin typeface="Calibri" pitchFamily="34" charset="0"/>
                <a:ea typeface="Calibri" pitchFamily="34" charset="-122"/>
                <a:cs typeface="Calibri" pitchFamily="34" charset="-120"/>
              </a:rPr>
              <a:t>CASE 3 · HALAMAN 129–134</a:t>
            </a:r>
            <a:endParaRPr lang="en-US" sz="950" dirty="0"/>
          </a:p>
        </p:txBody>
      </p:sp>
      <p:sp>
        <p:nvSpPr>
          <p:cNvPr id="56" name="Text 54"/>
          <p:cNvSpPr txBox="1"/>
          <p:nvPr/>
        </p:nvSpPr>
        <p:spPr>
          <a:xfrm>
            <a:off x="621792" y="2487168"/>
            <a:ext cx="8595360" cy="109728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Canada’s Oil Sands</a:t>
            </a:r>
            <a:pPr indent="0" marL="0">
              <a:lnSpc>
                <a:spcPts val="5200"/>
              </a:lnSpc>
              <a:buNone/>
            </a:pPr>
            <a:r>
              <a:rPr lang="en-US" sz="4600" b="1" dirty="0">
                <a:solidFill>
                  <a:srgbClr val="FF5A2D"/>
                </a:solidFill>
                <a:latin typeface="Calibri" pitchFamily="34" charset="0"/>
                <a:ea typeface="Calibri" pitchFamily="34" charset="-122"/>
                <a:cs typeface="Calibri" pitchFamily="34" charset="-120"/>
              </a:rPr>
              <a:t>.</a:t>
            </a:r>
            <a:endParaRPr lang="en-US" sz="4600" dirty="0"/>
          </a:p>
        </p:txBody>
      </p:sp>
      <p:sp>
        <p:nvSpPr>
          <p:cNvPr id="57" name="Text 55"/>
          <p:cNvSpPr txBox="1"/>
          <p:nvPr/>
        </p:nvSpPr>
        <p:spPr>
          <a:xfrm>
            <a:off x="621792" y="3749040"/>
            <a:ext cx="6949440" cy="822960"/>
          </a:xfrm>
          <a:prstGeom prst="rect">
            <a:avLst/>
          </a:prstGeom>
          <a:noFill/>
          <a:ln/>
        </p:spPr>
        <p:txBody>
          <a:bodyPr wrap="square" lIns="0" tIns="0" rIns="0" bIns="0" rtlCol="0" anchor="t"/>
          <a:lstStyle/>
          <a:p>
            <a:pPr indent="0" marL="0">
              <a:lnSpc>
                <a:spcPts val="2400"/>
              </a:lnSpc>
              <a:buNone/>
            </a:pPr>
            <a:r>
              <a:rPr lang="en-US" sz="1500" dirty="0">
                <a:solidFill>
                  <a:srgbClr val="B9C0CE"/>
                </a:solidFill>
                <a:latin typeface="Calibri" pitchFamily="34" charset="0"/>
                <a:ea typeface="Calibri" pitchFamily="34" charset="-122"/>
                <a:cs typeface="Calibri" pitchFamily="34" charset="-120"/>
              </a:rPr>
              <a:t>Most Destructive Project on Earth atau Ethical Oil? Perdebatannya berlangsung puluhan tahun tanpa kesimpulan yang konklusif.</a:t>
            </a:r>
            <a:endParaRPr lang="en-US" sz="1500" dirty="0"/>
          </a:p>
        </p:txBody>
      </p:sp>
      <p:sp>
        <p:nvSpPr>
          <p:cNvPr id="58" name="Shape 56"/>
          <p:cNvSpPr/>
          <p:nvPr/>
        </p:nvSpPr>
        <p:spPr>
          <a:xfrm>
            <a:off x="621792" y="5120640"/>
            <a:ext cx="274320" cy="274320"/>
          </a:xfrm>
          <a:prstGeom prst="rect">
            <a:avLst/>
          </a:prstGeom>
          <a:solidFill>
            <a:srgbClr val="AB463C"/>
          </a:solidFill>
          <a:ln/>
        </p:spPr>
      </p:sp>
      <p:sp>
        <p:nvSpPr>
          <p:cNvPr id="59" name="Shape 57"/>
          <p:cNvSpPr/>
          <p:nvPr/>
        </p:nvSpPr>
        <p:spPr>
          <a:xfrm>
            <a:off x="1005840" y="5120640"/>
            <a:ext cx="274320" cy="274320"/>
          </a:xfrm>
          <a:prstGeom prst="rect">
            <a:avLst/>
          </a:prstGeom>
          <a:solidFill>
            <a:srgbClr val="FF5A2D"/>
          </a:solidFill>
          <a:ln/>
        </p:spPr>
      </p:sp>
      <p:sp>
        <p:nvSpPr>
          <p:cNvPr id="60" name="Shape 58"/>
          <p:cNvSpPr/>
          <p:nvPr/>
        </p:nvSpPr>
        <p:spPr>
          <a:xfrm>
            <a:off x="1389888" y="5120640"/>
            <a:ext cx="274320" cy="274320"/>
          </a:xfrm>
          <a:prstGeom prst="rect">
            <a:avLst/>
          </a:prstGeom>
          <a:solidFill>
            <a:srgbClr val="F5B722"/>
          </a:solidFill>
          <a:ln/>
        </p:spPr>
      </p:sp>
      <p:sp>
        <p:nvSpPr>
          <p:cNvPr id="61" name="Shape 59"/>
          <p:cNvSpPr/>
          <p:nvPr/>
        </p:nvSpPr>
        <p:spPr>
          <a:xfrm>
            <a:off x="1773936" y="5120640"/>
            <a:ext cx="274320" cy="274320"/>
          </a:xfrm>
          <a:prstGeom prst="rect">
            <a:avLst/>
          </a:prstGeom>
          <a:solidFill>
            <a:srgbClr val="C6F04A"/>
          </a:solidFill>
          <a:ln/>
        </p:spPr>
      </p:sp>
      <p:sp>
        <p:nvSpPr>
          <p:cNvPr id="62" name="Shape 60"/>
          <p:cNvSpPr/>
          <p:nvPr/>
        </p:nvSpPr>
        <p:spPr>
          <a:xfrm>
            <a:off x="2157984" y="5120640"/>
            <a:ext cx="274320" cy="274320"/>
          </a:xfrm>
          <a:prstGeom prst="rect">
            <a:avLst/>
          </a:prstGeom>
          <a:solidFill>
            <a:srgbClr val="0FA98E"/>
          </a:solidFill>
          <a:ln/>
        </p:spPr>
      </p:sp>
      <p:sp>
        <p:nvSpPr>
          <p:cNvPr id="63" name="Shape 61"/>
          <p:cNvSpPr/>
          <p:nvPr/>
        </p:nvSpPr>
        <p:spPr>
          <a:xfrm>
            <a:off x="2542032" y="5120640"/>
            <a:ext cx="274320" cy="274320"/>
          </a:xfrm>
          <a:prstGeom prst="rect">
            <a:avLst/>
          </a:prstGeom>
          <a:solidFill>
            <a:srgbClr val="4EA8DE"/>
          </a:solidFill>
          <a:ln/>
        </p:spPr>
      </p:sp>
      <p:sp>
        <p:nvSpPr>
          <p:cNvPr id="64" name="Shape 62"/>
          <p:cNvSpPr/>
          <p:nvPr/>
        </p:nvSpPr>
        <p:spPr>
          <a:xfrm>
            <a:off x="2926080" y="5120640"/>
            <a:ext cx="274320" cy="274320"/>
          </a:xfrm>
          <a:prstGeom prst="rect">
            <a:avLst/>
          </a:prstGeom>
          <a:solidFill>
            <a:srgbClr val="6C7BE0"/>
          </a:solidFill>
          <a:ln/>
        </p:spPr>
      </p:sp>
      <p:sp>
        <p:nvSpPr>
          <p:cNvPr id="65" name="Shape 63"/>
          <p:cNvSpPr/>
          <p:nvPr/>
        </p:nvSpPr>
        <p:spPr>
          <a:xfrm>
            <a:off x="3310128" y="5120640"/>
            <a:ext cx="274320" cy="274320"/>
          </a:xfrm>
          <a:prstGeom prst="rect">
            <a:avLst/>
          </a:prstGeom>
          <a:solidFill>
            <a:srgbClr val="B8A6F5"/>
          </a:solidFill>
          <a:ln/>
        </p:spPr>
      </p:sp>
      <p:sp>
        <p:nvSpPr>
          <p:cNvPr id="66" name="Shape 64"/>
          <p:cNvSpPr/>
          <p:nvPr/>
        </p:nvSpPr>
        <p:spPr>
          <a:xfrm>
            <a:off x="3694176" y="5120640"/>
            <a:ext cx="274320" cy="274320"/>
          </a:xfrm>
          <a:prstGeom prst="rect">
            <a:avLst/>
          </a:prstGeom>
          <a:solidFill>
            <a:srgbClr val="E86A9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5" name="Shape 3"/>
          <p:cNvSpPr/>
          <p:nvPr/>
        </p:nvSpPr>
        <p:spPr>
          <a:xfrm>
            <a:off x="1522476"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130–131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17</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Manfaat Ekonomi dan Biaya Ekologis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37360"/>
            <a:ext cx="2599868" cy="1828800"/>
          </a:xfrm>
          <a:prstGeom prst="roundRect">
            <a:avLst>
              <a:gd name="adj" fmla="val 8000"/>
            </a:avLst>
          </a:prstGeom>
          <a:solidFill>
            <a:srgbClr val="FF5A2D"/>
          </a:solidFill>
          <a:ln/>
        </p:spPr>
      </p:sp>
      <p:sp>
        <p:nvSpPr>
          <p:cNvPr id="10" name="Text 8"/>
          <p:cNvSpPr txBox="1"/>
          <p:nvPr/>
        </p:nvSpPr>
        <p:spPr>
          <a:xfrm>
            <a:off x="841248" y="1956816"/>
            <a:ext cx="2160956" cy="566928"/>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2,77</a:t>
            </a:r>
            <a:pPr indent="0" marL="0">
              <a:buNone/>
            </a:pPr>
            <a:r>
              <a:rPr lang="en-US" sz="1260" b="1" dirty="0">
                <a:solidFill>
                  <a:srgbClr val="FFFFFF"/>
                </a:solidFill>
                <a:latin typeface="Calibri" pitchFamily="34" charset="0"/>
                <a:ea typeface="Calibri" pitchFamily="34" charset="-122"/>
                <a:cs typeface="Calibri" pitchFamily="34" charset="-120"/>
              </a:rPr>
              <a:t>  juta</a:t>
            </a:r>
            <a:endParaRPr lang="en-US" sz="3000" dirty="0"/>
          </a:p>
        </p:txBody>
      </p:sp>
      <p:sp>
        <p:nvSpPr>
          <p:cNvPr id="11" name="Text 9"/>
          <p:cNvSpPr txBox="1"/>
          <p:nvPr/>
        </p:nvSpPr>
        <p:spPr>
          <a:xfrm>
            <a:off x="841248"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Barel per hari pada 2017, naik dari 0,5 juta barel pada 1997</a:t>
            </a:r>
            <a:endParaRPr lang="en-US" sz="1100" dirty="0"/>
          </a:p>
        </p:txBody>
      </p:sp>
      <p:sp>
        <p:nvSpPr>
          <p:cNvPr id="12" name="Shape 10"/>
          <p:cNvSpPr/>
          <p:nvPr/>
        </p:nvSpPr>
        <p:spPr>
          <a:xfrm>
            <a:off x="3404540" y="1737360"/>
            <a:ext cx="2599868" cy="1828800"/>
          </a:xfrm>
          <a:prstGeom prst="roundRect">
            <a:avLst>
              <a:gd name="adj" fmla="val 8000"/>
            </a:avLst>
          </a:prstGeom>
          <a:solidFill>
            <a:srgbClr val="B8A6F5"/>
          </a:solidFill>
          <a:ln/>
        </p:spPr>
      </p:sp>
      <p:sp>
        <p:nvSpPr>
          <p:cNvPr id="13" name="Text 11"/>
          <p:cNvSpPr txBox="1"/>
          <p:nvPr/>
        </p:nvSpPr>
        <p:spPr>
          <a:xfrm>
            <a:off x="3623996" y="1956816"/>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CAD 1,6</a:t>
            </a:r>
            <a:pPr indent="0" marL="0">
              <a:buNone/>
            </a:pPr>
            <a:r>
              <a:rPr lang="en-US" sz="1260" b="1" dirty="0">
                <a:solidFill>
                  <a:srgbClr val="0E1626"/>
                </a:solidFill>
                <a:latin typeface="Calibri" pitchFamily="34" charset="0"/>
                <a:ea typeface="Calibri" pitchFamily="34" charset="-122"/>
                <a:cs typeface="Calibri" pitchFamily="34" charset="-120"/>
              </a:rPr>
              <a:t>  T</a:t>
            </a:r>
            <a:endParaRPr lang="en-US" sz="3000" dirty="0"/>
          </a:p>
        </p:txBody>
      </p:sp>
      <p:sp>
        <p:nvSpPr>
          <p:cNvPr id="14" name="Text 12"/>
          <p:cNvSpPr txBox="1"/>
          <p:nvPr/>
        </p:nvSpPr>
        <p:spPr>
          <a:xfrm>
            <a:off x="3623996"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Kontribusi ke ekonomi Kanada sepanjang 2017 sampai 2027</a:t>
            </a:r>
            <a:endParaRPr lang="en-US" sz="1100" dirty="0"/>
          </a:p>
        </p:txBody>
      </p:sp>
      <p:sp>
        <p:nvSpPr>
          <p:cNvPr id="15" name="Shape 13"/>
          <p:cNvSpPr/>
          <p:nvPr/>
        </p:nvSpPr>
        <p:spPr>
          <a:xfrm>
            <a:off x="6187288" y="1737360"/>
            <a:ext cx="2599868" cy="1828800"/>
          </a:xfrm>
          <a:prstGeom prst="roundRect">
            <a:avLst>
              <a:gd name="adj" fmla="val 8000"/>
            </a:avLst>
          </a:prstGeom>
          <a:solidFill>
            <a:srgbClr val="0E1626"/>
          </a:solidFill>
          <a:ln/>
        </p:spPr>
      </p:sp>
      <p:sp>
        <p:nvSpPr>
          <p:cNvPr id="16" name="Text 14"/>
          <p:cNvSpPr txBox="1"/>
          <p:nvPr/>
        </p:nvSpPr>
        <p:spPr>
          <a:xfrm>
            <a:off x="6406744" y="1956816"/>
            <a:ext cx="2160956" cy="566928"/>
          </a:xfrm>
          <a:prstGeom prst="rect">
            <a:avLst/>
          </a:prstGeom>
          <a:noFill/>
          <a:ln/>
        </p:spPr>
        <p:txBody>
          <a:bodyPr wrap="square" lIns="0" tIns="0" rIns="0" bIns="0" rtlCol="0" anchor="t"/>
          <a:lstStyle/>
          <a:p>
            <a:pPr indent="0" marL="0">
              <a:buNone/>
            </a:pPr>
            <a:r>
              <a:rPr lang="en-US" sz="3000" b="1" dirty="0">
                <a:solidFill>
                  <a:srgbClr val="C6F04A"/>
                </a:solidFill>
                <a:latin typeface="Calibri" pitchFamily="34" charset="0"/>
                <a:ea typeface="Calibri" pitchFamily="34" charset="-122"/>
                <a:cs typeface="Calibri" pitchFamily="34" charset="-120"/>
              </a:rPr>
              <a:t>20</a:t>
            </a:r>
            <a:pPr indent="0" marL="0">
              <a:buNone/>
            </a:pPr>
            <a:r>
              <a:rPr lang="en-US" sz="1260" b="1" dirty="0">
                <a:solidFill>
                  <a:srgbClr val="C6F04A"/>
                </a:solidFill>
                <a:latin typeface="Calibri" pitchFamily="34" charset="0"/>
                <a:ea typeface="Calibri" pitchFamily="34" charset="-122"/>
                <a:cs typeface="Calibri" pitchFamily="34" charset="-120"/>
              </a:rPr>
              <a:t>  %</a:t>
            </a:r>
            <a:endParaRPr lang="en-US" sz="3000" dirty="0"/>
          </a:p>
        </p:txBody>
      </p:sp>
      <p:sp>
        <p:nvSpPr>
          <p:cNvPr id="17" name="Text 15"/>
          <p:cNvSpPr txBox="1"/>
          <p:nvPr/>
        </p:nvSpPr>
        <p:spPr>
          <a:xfrm>
            <a:off x="6406744"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Emisi gas rumah kaca lebih tinggi daripada minyak konvensional</a:t>
            </a:r>
            <a:endParaRPr lang="en-US" sz="1100" dirty="0"/>
          </a:p>
        </p:txBody>
      </p:sp>
      <p:sp>
        <p:nvSpPr>
          <p:cNvPr id="18" name="Shape 16"/>
          <p:cNvSpPr/>
          <p:nvPr/>
        </p:nvSpPr>
        <p:spPr>
          <a:xfrm>
            <a:off x="8970035" y="1737360"/>
            <a:ext cx="2599868" cy="1828800"/>
          </a:xfrm>
          <a:prstGeom prst="roundRect">
            <a:avLst>
              <a:gd name="adj" fmla="val 8000"/>
            </a:avLst>
          </a:prstGeom>
          <a:solidFill>
            <a:srgbClr val="C6F04A"/>
          </a:solidFill>
          <a:ln/>
        </p:spPr>
      </p:sp>
      <p:sp>
        <p:nvSpPr>
          <p:cNvPr id="19" name="Text 17"/>
          <p:cNvSpPr txBox="1"/>
          <p:nvPr/>
        </p:nvSpPr>
        <p:spPr>
          <a:xfrm>
            <a:off x="9189491" y="1956816"/>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11</a:t>
            </a:r>
            <a:pPr indent="0" marL="0">
              <a:buNone/>
            </a:pPr>
            <a:r>
              <a:rPr lang="en-US" sz="1260" b="1" dirty="0">
                <a:solidFill>
                  <a:srgbClr val="0E1626"/>
                </a:solidFill>
                <a:latin typeface="Calibri" pitchFamily="34" charset="0"/>
                <a:ea typeface="Calibri" pitchFamily="34" charset="-122"/>
                <a:cs typeface="Calibri" pitchFamily="34" charset="-120"/>
              </a:rPr>
              <a:t>  %</a:t>
            </a:r>
            <a:endParaRPr lang="en-US" sz="3000" dirty="0"/>
          </a:p>
        </p:txBody>
      </p:sp>
      <p:sp>
        <p:nvSpPr>
          <p:cNvPr id="20" name="Text 18"/>
          <p:cNvSpPr txBox="1"/>
          <p:nvPr/>
        </p:nvSpPr>
        <p:spPr>
          <a:xfrm>
            <a:off x="9189491"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Jejak tambang aktif yang sudah direklamasi sampai hari ini</a:t>
            </a:r>
            <a:endParaRPr lang="en-US" sz="1100" dirty="0"/>
          </a:p>
        </p:txBody>
      </p:sp>
      <p:sp>
        <p:nvSpPr>
          <p:cNvPr id="21" name="Shape 19"/>
          <p:cNvSpPr/>
          <p:nvPr/>
        </p:nvSpPr>
        <p:spPr>
          <a:xfrm>
            <a:off x="621792" y="3712464"/>
            <a:ext cx="5346040" cy="1975104"/>
          </a:xfrm>
          <a:prstGeom prst="roundRect">
            <a:avLst>
              <a:gd name="adj" fmla="val 7407"/>
            </a:avLst>
          </a:prstGeom>
          <a:solidFill>
            <a:srgbClr val="0FA98E"/>
          </a:solidFill>
          <a:ln/>
        </p:spPr>
      </p:sp>
      <p:sp>
        <p:nvSpPr>
          <p:cNvPr id="22" name="Text 20"/>
          <p:cNvSpPr txBox="1"/>
          <p:nvPr/>
        </p:nvSpPr>
        <p:spPr>
          <a:xfrm>
            <a:off x="859536" y="39319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Perhitungan Pendukung</a:t>
            </a:r>
            <a:endParaRPr lang="en-US" sz="1600" dirty="0"/>
          </a:p>
        </p:txBody>
      </p:sp>
      <p:sp>
        <p:nvSpPr>
          <p:cNvPr id="23" name="Text 21"/>
          <p:cNvSpPr txBox="1"/>
          <p:nvPr/>
        </p:nvSpPr>
        <p:spPr>
          <a:xfrm>
            <a:off x="859536" y="4297680"/>
            <a:ext cx="4870552" cy="126187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206.000 lapangan kerja pada 2017, menuju 461.000 pada 2027</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3.400 perusahaan pemasok di luar Alberta</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CAD 3,3 miliar untuk 399 perusahaan masyarakat adat</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CAD 139 miliar pajak federal dan provinsi</a:t>
            </a:r>
            <a:endParaRPr lang="en-US" sz="1150" dirty="0"/>
          </a:p>
        </p:txBody>
      </p:sp>
      <p:sp>
        <p:nvSpPr>
          <p:cNvPr id="24" name="Shape 22"/>
          <p:cNvSpPr/>
          <p:nvPr/>
        </p:nvSpPr>
        <p:spPr>
          <a:xfrm>
            <a:off x="6223864" y="3712464"/>
            <a:ext cx="5346040" cy="1975104"/>
          </a:xfrm>
          <a:prstGeom prst="roundRect">
            <a:avLst>
              <a:gd name="adj" fmla="val 7407"/>
            </a:avLst>
          </a:prstGeom>
          <a:solidFill>
            <a:srgbClr val="0E1626"/>
          </a:solidFill>
          <a:ln/>
        </p:spPr>
      </p:sp>
      <p:sp>
        <p:nvSpPr>
          <p:cNvPr id="25" name="Text 23"/>
          <p:cNvSpPr txBox="1"/>
          <p:nvPr/>
        </p:nvSpPr>
        <p:spPr>
          <a:xfrm>
            <a:off x="6461608" y="39319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Perhitungan Penentang</a:t>
            </a:r>
            <a:endParaRPr lang="en-US" sz="1600" dirty="0"/>
          </a:p>
        </p:txBody>
      </p:sp>
      <p:sp>
        <p:nvSpPr>
          <p:cNvPr id="26" name="Text 24"/>
          <p:cNvSpPr txBox="1"/>
          <p:nvPr/>
        </p:nvSpPr>
        <p:spPr>
          <a:xfrm>
            <a:off x="6461608" y="4297680"/>
            <a:ext cx="4870552" cy="126187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Kolam limbah beracun 220 kilometer persegi berisi 1 triliun liter</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Hutan boreal seluas Kota New York telah hancur</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Tambahan 50 sampai 150 juta ton emisi per tahun pada 2030</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10 persen emisi Kanada dari satu industri saja</a:t>
            </a:r>
            <a:endParaRPr lang="en-US" sz="1150" dirty="0"/>
          </a:p>
        </p:txBody>
      </p:sp>
      <p:sp>
        <p:nvSpPr>
          <p:cNvPr id="27" name="Shape 25"/>
          <p:cNvSpPr/>
          <p:nvPr/>
        </p:nvSpPr>
        <p:spPr>
          <a:xfrm>
            <a:off x="621792" y="5797296"/>
            <a:ext cx="10948111" cy="530352"/>
          </a:xfrm>
          <a:prstGeom prst="roundRect">
            <a:avLst>
              <a:gd name="adj" fmla="val 27586"/>
            </a:avLst>
          </a:prstGeom>
          <a:solidFill>
            <a:srgbClr val="C6F04A"/>
          </a:solidFill>
          <a:ln/>
        </p:spPr>
      </p:sp>
      <p:sp>
        <p:nvSpPr>
          <p:cNvPr id="28" name="Text 26"/>
          <p:cNvSpPr txBox="1"/>
          <p:nvPr/>
        </p:nvSpPr>
        <p:spPr>
          <a:xfrm>
            <a:off x="941832" y="5959602"/>
            <a:ext cx="10308031" cy="384048"/>
          </a:xfrm>
          <a:prstGeom prst="rect">
            <a:avLst/>
          </a:prstGeom>
          <a:noFill/>
          <a:ln/>
        </p:spPr>
        <p:txBody>
          <a:bodyPr wrap="square" lIns="0" tIns="0" rIns="0" bIns="0" rtlCol="0" anchor="t"/>
          <a:lstStyle/>
          <a:p>
            <a:pPr indent="0" marL="0">
              <a:lnSpc>
                <a:spcPts val="1620"/>
              </a:lnSpc>
              <a:buNone/>
            </a:pPr>
            <a:r>
              <a:rPr lang="en-US" sz="1200" b="1" dirty="0">
                <a:solidFill>
                  <a:srgbClr val="0E1626"/>
                </a:solidFill>
                <a:latin typeface="Calibri" pitchFamily="34" charset="0"/>
                <a:ea typeface="Calibri" pitchFamily="34" charset="-122"/>
                <a:cs typeface="Calibri" pitchFamily="34" charset="-120"/>
              </a:rPr>
              <a:t>Kedua sisi memakai data resmi. Perbedaannya bukan pada fakta, melainkan pada apa yang layak dihitung.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5" name="Shape 3"/>
          <p:cNvSpPr/>
          <p:nvPr/>
        </p:nvSpPr>
        <p:spPr>
          <a:xfrm>
            <a:off x="1522476" y="457200"/>
            <a:ext cx="1958645"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958645"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KLAIM DAN BANTAHAN</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18</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Klaim Ethical Oil</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37360"/>
            <a:ext cx="5346040" cy="3529584"/>
          </a:xfrm>
          <a:prstGeom prst="roundRect">
            <a:avLst>
              <a:gd name="adj" fmla="val 4145"/>
            </a:avLst>
          </a:prstGeom>
          <a:solidFill>
            <a:srgbClr val="FF5A2D"/>
          </a:solidFill>
          <a:ln/>
        </p:spPr>
      </p:sp>
      <p:sp>
        <p:nvSpPr>
          <p:cNvPr id="10" name="Shape 8"/>
          <p:cNvSpPr/>
          <p:nvPr/>
        </p:nvSpPr>
        <p:spPr>
          <a:xfrm>
            <a:off x="896112" y="1956816"/>
            <a:ext cx="781812" cy="283464"/>
          </a:xfrm>
          <a:prstGeom prst="roundRect">
            <a:avLst>
              <a:gd name="adj" fmla="val 50000"/>
            </a:avLst>
          </a:prstGeom>
          <a:solidFill>
            <a:srgbClr val="0E1626"/>
          </a:solidFill>
          <a:ln w="12700">
            <a:solidFill>
              <a:srgbClr val="0E1626"/>
            </a:solidFill>
            <a:prstDash val="solid"/>
          </a:ln>
        </p:spPr>
      </p:sp>
      <p:sp>
        <p:nvSpPr>
          <p:cNvPr id="11" name="Text 9"/>
          <p:cNvSpPr txBox="1"/>
          <p:nvPr/>
        </p:nvSpPr>
        <p:spPr>
          <a:xfrm>
            <a:off x="896112" y="1956816"/>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KLAIM</a:t>
            </a:r>
            <a:endParaRPr lang="en-US" sz="950" dirty="0"/>
          </a:p>
        </p:txBody>
      </p:sp>
      <p:sp>
        <p:nvSpPr>
          <p:cNvPr id="12" name="Text 10"/>
          <p:cNvSpPr txBox="1"/>
          <p:nvPr/>
        </p:nvSpPr>
        <p:spPr>
          <a:xfrm>
            <a:off x="896112" y="2377440"/>
            <a:ext cx="479740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Ethical Oil</a:t>
            </a:r>
            <a:endParaRPr lang="en-US" sz="2200" dirty="0"/>
          </a:p>
        </p:txBody>
      </p:sp>
      <p:sp>
        <p:nvSpPr>
          <p:cNvPr id="13" name="Text 11"/>
          <p:cNvSpPr txBox="1"/>
          <p:nvPr/>
        </p:nvSpPr>
        <p:spPr>
          <a:xfrm>
            <a:off x="896112" y="2798064"/>
            <a:ext cx="4742536" cy="512064"/>
          </a:xfrm>
          <a:prstGeom prst="rect">
            <a:avLst/>
          </a:prstGeom>
          <a:noFill/>
          <a:ln/>
        </p:spPr>
        <p:txBody>
          <a:bodyPr wrap="square" lIns="0" tIns="0" rIns="0" bIns="0" rtlCol="0" anchor="t"/>
          <a:lstStyle/>
          <a:p>
            <a:pPr indent="0" marL="0">
              <a:lnSpc>
                <a:spcPts val="1800"/>
              </a:lnSpc>
              <a:buNone/>
            </a:pPr>
            <a:r>
              <a:rPr lang="en-US" sz="1250" dirty="0">
                <a:solidFill>
                  <a:srgbClr val="FFE8DF"/>
                </a:solidFill>
                <a:latin typeface="Calibri" pitchFamily="34" charset="0"/>
                <a:ea typeface="Calibri" pitchFamily="34" charset="-122"/>
                <a:cs typeface="Calibri" pitchFamily="34" charset="-120"/>
              </a:rPr>
              <a:t>Ezra Levant: membeli minyak Kanada lebih bertanggung jawab karena diatur demokratis dan tidak korup.</a:t>
            </a:r>
            <a:endParaRPr lang="en-US" sz="1250" dirty="0"/>
          </a:p>
        </p:txBody>
      </p:sp>
      <p:sp>
        <p:nvSpPr>
          <p:cNvPr id="14" name="Text 12"/>
          <p:cNvSpPr txBox="1"/>
          <p:nvPr/>
        </p:nvSpPr>
        <p:spPr>
          <a:xfrm>
            <a:off x="896112" y="352958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Venezuela</a:t>
            </a:r>
            <a:endParaRPr lang="en-US" sz="1200" dirty="0"/>
          </a:p>
        </p:txBody>
      </p:sp>
      <p:sp>
        <p:nvSpPr>
          <p:cNvPr id="15" name="Text 13"/>
          <p:cNvSpPr txBox="1"/>
          <p:nvPr/>
        </p:nvSpPr>
        <p:spPr>
          <a:xfrm>
            <a:off x="4504792" y="352958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301</a:t>
            </a:r>
            <a:endParaRPr lang="en-US" sz="1200" dirty="0"/>
          </a:p>
        </p:txBody>
      </p:sp>
      <p:sp>
        <p:nvSpPr>
          <p:cNvPr id="16" name="Text 14"/>
          <p:cNvSpPr txBox="1"/>
          <p:nvPr/>
        </p:nvSpPr>
        <p:spPr>
          <a:xfrm>
            <a:off x="896112" y="389534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Arab Saudi</a:t>
            </a:r>
            <a:endParaRPr lang="en-US" sz="1200" dirty="0"/>
          </a:p>
        </p:txBody>
      </p:sp>
      <p:sp>
        <p:nvSpPr>
          <p:cNvPr id="17" name="Text 15"/>
          <p:cNvSpPr txBox="1"/>
          <p:nvPr/>
        </p:nvSpPr>
        <p:spPr>
          <a:xfrm>
            <a:off x="4504792" y="389534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267</a:t>
            </a:r>
            <a:endParaRPr lang="en-US" sz="1200" dirty="0"/>
          </a:p>
        </p:txBody>
      </p:sp>
      <p:sp>
        <p:nvSpPr>
          <p:cNvPr id="18" name="Text 16"/>
          <p:cNvSpPr txBox="1"/>
          <p:nvPr/>
        </p:nvSpPr>
        <p:spPr>
          <a:xfrm>
            <a:off x="896112" y="4261104"/>
            <a:ext cx="38830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Kanada</a:t>
            </a:r>
            <a:endParaRPr lang="en-US" sz="1200" dirty="0"/>
          </a:p>
        </p:txBody>
      </p:sp>
      <p:sp>
        <p:nvSpPr>
          <p:cNvPr id="19" name="Text 17"/>
          <p:cNvSpPr txBox="1"/>
          <p:nvPr/>
        </p:nvSpPr>
        <p:spPr>
          <a:xfrm>
            <a:off x="4504792" y="4261104"/>
            <a:ext cx="1188720" cy="274320"/>
          </a:xfrm>
          <a:prstGeom prst="rect">
            <a:avLst/>
          </a:prstGeom>
          <a:noFill/>
          <a:ln/>
        </p:spPr>
        <p:txBody>
          <a:bodyPr wrap="square" lIns="0" tIns="0" rIns="0" bIns="0" rtlCol="0" anchor="t"/>
          <a:lstStyle/>
          <a:p>
            <a:pPr algn="r" indent="0" marL="0">
              <a:buNone/>
            </a:pPr>
            <a:r>
              <a:rPr lang="en-US" sz="1200" b="1" dirty="0">
                <a:solidFill>
                  <a:srgbClr val="FFFFFF"/>
                </a:solidFill>
                <a:latin typeface="Courier New" pitchFamily="34" charset="0"/>
                <a:ea typeface="Courier New" pitchFamily="34" charset="-122"/>
                <a:cs typeface="Courier New" pitchFamily="34" charset="-120"/>
              </a:rPr>
              <a:t>170</a:t>
            </a:r>
            <a:endParaRPr lang="en-US" sz="1200" dirty="0"/>
          </a:p>
        </p:txBody>
      </p:sp>
      <p:sp>
        <p:nvSpPr>
          <p:cNvPr id="20" name="Text 18"/>
          <p:cNvSpPr txBox="1"/>
          <p:nvPr/>
        </p:nvSpPr>
        <p:spPr>
          <a:xfrm>
            <a:off x="896112" y="462686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Iran</a:t>
            </a:r>
            <a:endParaRPr lang="en-US" sz="1200" dirty="0"/>
          </a:p>
        </p:txBody>
      </p:sp>
      <p:sp>
        <p:nvSpPr>
          <p:cNvPr id="21" name="Text 19"/>
          <p:cNvSpPr txBox="1"/>
          <p:nvPr/>
        </p:nvSpPr>
        <p:spPr>
          <a:xfrm>
            <a:off x="4504792" y="462686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158</a:t>
            </a:r>
            <a:endParaRPr lang="en-US" sz="1200" dirty="0"/>
          </a:p>
        </p:txBody>
      </p:sp>
      <p:sp>
        <p:nvSpPr>
          <p:cNvPr id="22" name="Text 20"/>
          <p:cNvSpPr txBox="1"/>
          <p:nvPr/>
        </p:nvSpPr>
        <p:spPr>
          <a:xfrm>
            <a:off x="896112" y="4974336"/>
            <a:ext cx="4797400" cy="237744"/>
          </a:xfrm>
          <a:prstGeom prst="rect">
            <a:avLst/>
          </a:prstGeom>
          <a:noFill/>
          <a:ln/>
        </p:spPr>
        <p:txBody>
          <a:bodyPr wrap="square" lIns="0" tIns="0" rIns="0" bIns="0" rtlCol="0" anchor="t"/>
          <a:lstStyle/>
          <a:p>
            <a:pPr indent="0" marL="0">
              <a:buNone/>
            </a:pPr>
            <a:r>
              <a:rPr lang="en-US" sz="950" dirty="0">
                <a:solidFill>
                  <a:srgbClr val="FFC9B4"/>
                </a:solidFill>
                <a:latin typeface="Calibri" pitchFamily="34" charset="0"/>
                <a:ea typeface="Calibri" pitchFamily="34" charset="-122"/>
                <a:cs typeface="Calibri" pitchFamily="34" charset="-120"/>
              </a:rPr>
              <a:t>Cadangan terbukti terbesar 2017, miliar barel · Tabel 3.9</a:t>
            </a:r>
            <a:endParaRPr lang="en-US" sz="950" dirty="0"/>
          </a:p>
        </p:txBody>
      </p:sp>
      <p:sp>
        <p:nvSpPr>
          <p:cNvPr id="23" name="Shape 21"/>
          <p:cNvSpPr/>
          <p:nvPr/>
        </p:nvSpPr>
        <p:spPr>
          <a:xfrm>
            <a:off x="6223864" y="1737360"/>
            <a:ext cx="5346040" cy="3529584"/>
          </a:xfrm>
          <a:prstGeom prst="roundRect">
            <a:avLst>
              <a:gd name="adj" fmla="val 4145"/>
            </a:avLst>
          </a:prstGeom>
          <a:solidFill>
            <a:srgbClr val="0E1626"/>
          </a:solidFill>
          <a:ln/>
        </p:spPr>
      </p:sp>
      <p:sp>
        <p:nvSpPr>
          <p:cNvPr id="24" name="Shape 22"/>
          <p:cNvSpPr/>
          <p:nvPr/>
        </p:nvSpPr>
        <p:spPr>
          <a:xfrm>
            <a:off x="6498184" y="1956816"/>
            <a:ext cx="1053389" cy="283464"/>
          </a:xfrm>
          <a:prstGeom prst="roundRect">
            <a:avLst>
              <a:gd name="adj" fmla="val 50000"/>
            </a:avLst>
          </a:prstGeom>
          <a:solidFill>
            <a:srgbClr val="C6F04A"/>
          </a:solidFill>
          <a:ln w="12700">
            <a:solidFill>
              <a:srgbClr val="C6F04A"/>
            </a:solidFill>
            <a:prstDash val="solid"/>
          </a:ln>
        </p:spPr>
      </p:sp>
      <p:sp>
        <p:nvSpPr>
          <p:cNvPr id="25" name="Text 23"/>
          <p:cNvSpPr txBox="1"/>
          <p:nvPr/>
        </p:nvSpPr>
        <p:spPr>
          <a:xfrm>
            <a:off x="6498184" y="1956816"/>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BANTAHAN</a:t>
            </a:r>
            <a:endParaRPr lang="en-US" sz="950" dirty="0"/>
          </a:p>
        </p:txBody>
      </p:sp>
      <p:sp>
        <p:nvSpPr>
          <p:cNvPr id="26" name="Shape 24"/>
          <p:cNvSpPr/>
          <p:nvPr/>
        </p:nvSpPr>
        <p:spPr>
          <a:xfrm>
            <a:off x="6498184" y="2432304"/>
            <a:ext cx="4797400" cy="822960"/>
          </a:xfrm>
          <a:prstGeom prst="roundRect">
            <a:avLst>
              <a:gd name="adj" fmla="val 17778"/>
            </a:avLst>
          </a:prstGeom>
          <a:solidFill>
            <a:srgbClr val="1B2233"/>
          </a:solidFill>
          <a:ln/>
        </p:spPr>
      </p:sp>
      <p:sp>
        <p:nvSpPr>
          <p:cNvPr id="27" name="Shape 25"/>
          <p:cNvSpPr/>
          <p:nvPr/>
        </p:nvSpPr>
        <p:spPr>
          <a:xfrm>
            <a:off x="6498184" y="2505456"/>
            <a:ext cx="45720" cy="676656"/>
          </a:xfrm>
          <a:prstGeom prst="rect">
            <a:avLst/>
          </a:prstGeom>
          <a:solidFill>
            <a:srgbClr val="C6F04A"/>
          </a:solidFill>
          <a:ln/>
        </p:spPr>
      </p:sp>
      <p:sp>
        <p:nvSpPr>
          <p:cNvPr id="28" name="Text 26"/>
          <p:cNvSpPr txBox="1"/>
          <p:nvPr/>
        </p:nvSpPr>
        <p:spPr>
          <a:xfrm>
            <a:off x="6717640" y="2514600"/>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John Bennett, Sierra Club</a:t>
            </a:r>
            <a:endParaRPr lang="en-US" sz="1150" dirty="0"/>
          </a:p>
        </p:txBody>
      </p:sp>
      <p:sp>
        <p:nvSpPr>
          <p:cNvPr id="29" name="Text 27"/>
          <p:cNvSpPr txBox="1"/>
          <p:nvPr/>
        </p:nvSpPr>
        <p:spPr>
          <a:xfrm>
            <a:off x="6717640" y="2752344"/>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Fakta bahwa negara lain lebih buruk tidak relevan. Kanada dapat menangani oil sands miliknya dan tidak melakukannya.</a:t>
            </a:r>
            <a:endParaRPr lang="en-US" sz="1050" dirty="0"/>
          </a:p>
        </p:txBody>
      </p:sp>
      <p:sp>
        <p:nvSpPr>
          <p:cNvPr id="30" name="Shape 28"/>
          <p:cNvSpPr/>
          <p:nvPr/>
        </p:nvSpPr>
        <p:spPr>
          <a:xfrm>
            <a:off x="6498184" y="3364992"/>
            <a:ext cx="4797400" cy="822960"/>
          </a:xfrm>
          <a:prstGeom prst="roundRect">
            <a:avLst>
              <a:gd name="adj" fmla="val 17778"/>
            </a:avLst>
          </a:prstGeom>
          <a:solidFill>
            <a:srgbClr val="1B2233"/>
          </a:solidFill>
          <a:ln/>
        </p:spPr>
      </p:sp>
      <p:sp>
        <p:nvSpPr>
          <p:cNvPr id="31" name="Shape 29"/>
          <p:cNvSpPr/>
          <p:nvPr/>
        </p:nvSpPr>
        <p:spPr>
          <a:xfrm>
            <a:off x="6498184" y="3438144"/>
            <a:ext cx="45720" cy="676656"/>
          </a:xfrm>
          <a:prstGeom prst="rect">
            <a:avLst/>
          </a:prstGeom>
          <a:solidFill>
            <a:srgbClr val="F5B722"/>
          </a:solidFill>
          <a:ln/>
        </p:spPr>
      </p:sp>
      <p:sp>
        <p:nvSpPr>
          <p:cNvPr id="32" name="Text 30"/>
          <p:cNvSpPr txBox="1"/>
          <p:nvPr/>
        </p:nvSpPr>
        <p:spPr>
          <a:xfrm>
            <a:off x="6717640" y="3447288"/>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David Suzuki, environmentalis</a:t>
            </a:r>
            <a:endParaRPr lang="en-US" sz="1150" dirty="0"/>
          </a:p>
        </p:txBody>
      </p:sp>
      <p:sp>
        <p:nvSpPr>
          <p:cNvPr id="33" name="Text 31"/>
          <p:cNvSpPr txBox="1"/>
          <p:nvPr/>
        </p:nvSpPr>
        <p:spPr>
          <a:xfrm>
            <a:off x="6717640" y="3685032"/>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Di dunia saat ini seluruh bahan bakar fosil tidak etis. Tidak ada yang namanya minyak yang etis.</a:t>
            </a:r>
            <a:endParaRPr lang="en-US" sz="1050" dirty="0"/>
          </a:p>
        </p:txBody>
      </p:sp>
      <p:sp>
        <p:nvSpPr>
          <p:cNvPr id="34" name="Shape 32"/>
          <p:cNvSpPr/>
          <p:nvPr/>
        </p:nvSpPr>
        <p:spPr>
          <a:xfrm>
            <a:off x="6498184" y="4297680"/>
            <a:ext cx="4797400" cy="822960"/>
          </a:xfrm>
          <a:prstGeom prst="roundRect">
            <a:avLst>
              <a:gd name="adj" fmla="val 17778"/>
            </a:avLst>
          </a:prstGeom>
          <a:solidFill>
            <a:srgbClr val="1B2233"/>
          </a:solidFill>
          <a:ln/>
        </p:spPr>
      </p:sp>
      <p:sp>
        <p:nvSpPr>
          <p:cNvPr id="35" name="Shape 33"/>
          <p:cNvSpPr/>
          <p:nvPr/>
        </p:nvSpPr>
        <p:spPr>
          <a:xfrm>
            <a:off x="6498184" y="4370832"/>
            <a:ext cx="45720" cy="676656"/>
          </a:xfrm>
          <a:prstGeom prst="rect">
            <a:avLst/>
          </a:prstGeom>
          <a:solidFill>
            <a:srgbClr val="B8A6F5"/>
          </a:solidFill>
          <a:ln/>
        </p:spPr>
      </p:sp>
      <p:sp>
        <p:nvSpPr>
          <p:cNvPr id="36" name="Text 34"/>
          <p:cNvSpPr txBox="1"/>
          <p:nvPr/>
        </p:nvSpPr>
        <p:spPr>
          <a:xfrm>
            <a:off x="6717640" y="4379976"/>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Greenpeace</a:t>
            </a:r>
            <a:endParaRPr lang="en-US" sz="1150" dirty="0"/>
          </a:p>
        </p:txBody>
      </p:sp>
      <p:sp>
        <p:nvSpPr>
          <p:cNvPr id="37" name="Text 35"/>
          <p:cNvSpPr txBox="1"/>
          <p:nvPr/>
        </p:nvSpPr>
        <p:spPr>
          <a:xfrm>
            <a:off x="6717640" y="4617720"/>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Ethicaloil.org diyakini memperoleh dana dari industri minyak dan disebut kelompok kedok.</a:t>
            </a:r>
            <a:endParaRPr lang="en-US" sz="1050" dirty="0"/>
          </a:p>
        </p:txBody>
      </p:sp>
      <p:sp>
        <p:nvSpPr>
          <p:cNvPr id="38" name="Shape 36"/>
          <p:cNvSpPr/>
          <p:nvPr/>
        </p:nvSpPr>
        <p:spPr>
          <a:xfrm>
            <a:off x="621792" y="5413248"/>
            <a:ext cx="10948111" cy="713232"/>
          </a:xfrm>
          <a:prstGeom prst="roundRect">
            <a:avLst>
              <a:gd name="adj" fmla="val 20513"/>
            </a:avLst>
          </a:prstGeom>
          <a:solidFill>
            <a:srgbClr val="F5B722"/>
          </a:solidFill>
          <a:ln/>
        </p:spPr>
      </p:sp>
      <p:sp>
        <p:nvSpPr>
          <p:cNvPr id="39" name="Text 37"/>
          <p:cNvSpPr txBox="1"/>
          <p:nvPr/>
        </p:nvSpPr>
        <p:spPr>
          <a:xfrm>
            <a:off x="941832" y="5546979"/>
            <a:ext cx="10308031" cy="56692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Klaim ethical oil membandingkan diri dengan negara terburuk. Itu perbandingan ke bawah, bukan argumen moral.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SINTESIS</a:t>
            </a:r>
            <a:endParaRPr lang="en-US" sz="950" dirty="0"/>
          </a:p>
        </p:txBody>
      </p:sp>
      <p:sp>
        <p:nvSpPr>
          <p:cNvPr id="5" name="Shape 3"/>
          <p:cNvSpPr/>
          <p:nvPr/>
        </p:nvSpPr>
        <p:spPr>
          <a:xfrm>
            <a:off x="1794053" y="457200"/>
            <a:ext cx="1596542"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596542"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SEMBILAN LENSA</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19</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Matriks Sembilan Teori</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19072"/>
            <a:ext cx="10948111" cy="420624"/>
          </a:xfrm>
          <a:prstGeom prst="roundRect">
            <a:avLst>
              <a:gd name="adj" fmla="val 17391"/>
            </a:avLst>
          </a:prstGeom>
          <a:solidFill>
            <a:srgbClr val="FFFFFF"/>
          </a:solidFill>
          <a:ln/>
        </p:spPr>
      </p:sp>
      <p:sp>
        <p:nvSpPr>
          <p:cNvPr id="10" name="Shape 8"/>
          <p:cNvSpPr/>
          <p:nvPr/>
        </p:nvSpPr>
        <p:spPr>
          <a:xfrm>
            <a:off x="621792" y="1719072"/>
            <a:ext cx="128016" cy="420624"/>
          </a:xfrm>
          <a:prstGeom prst="rect">
            <a:avLst/>
          </a:prstGeom>
          <a:solidFill>
            <a:srgbClr val="AB463C"/>
          </a:solidFill>
          <a:ln/>
        </p:spPr>
      </p:sp>
      <p:sp>
        <p:nvSpPr>
          <p:cNvPr id="11" name="Text 9"/>
          <p:cNvSpPr txBox="1"/>
          <p:nvPr/>
        </p:nvSpPr>
        <p:spPr>
          <a:xfrm>
            <a:off x="932688" y="1719072"/>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Egoism</a:t>
            </a:r>
            <a:endParaRPr lang="en-US" sz="1150" dirty="0"/>
          </a:p>
        </p:txBody>
      </p:sp>
      <p:sp>
        <p:nvSpPr>
          <p:cNvPr id="12" name="Text 10"/>
          <p:cNvSpPr txBox="1"/>
          <p:nvPr/>
        </p:nvSpPr>
        <p:spPr>
          <a:xfrm>
            <a:off x="2852928" y="1719072"/>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Generasi mendatang tidak hadir di pasar, jadi biayanya tidak pernah masuk harga</a:t>
            </a:r>
            <a:endParaRPr lang="en-US" sz="1100" dirty="0"/>
          </a:p>
        </p:txBody>
      </p:sp>
      <p:sp>
        <p:nvSpPr>
          <p:cNvPr id="13" name="Text 11"/>
          <p:cNvSpPr txBox="1"/>
          <p:nvPr/>
        </p:nvSpPr>
        <p:spPr>
          <a:xfrm>
            <a:off x="9528048" y="1719072"/>
            <a:ext cx="1858975" cy="420624"/>
          </a:xfrm>
          <a:prstGeom prst="rect">
            <a:avLst/>
          </a:prstGeom>
          <a:noFill/>
          <a:ln/>
        </p:spPr>
        <p:txBody>
          <a:bodyPr wrap="square" lIns="0" tIns="0" rIns="0" bIns="0" rtlCol="0" anchor="ctr"/>
          <a:lstStyle/>
          <a:p>
            <a:pPr algn="r" indent="0" marL="0">
              <a:buNone/>
            </a:pPr>
            <a:r>
              <a:rPr lang="en-US" sz="1150" b="1" dirty="0">
                <a:solidFill>
                  <a:srgbClr val="AB463C"/>
                </a:solidFill>
                <a:latin typeface="Calibri" pitchFamily="34" charset="0"/>
                <a:ea typeface="Calibri" pitchFamily="34" charset="-122"/>
                <a:cs typeface="Calibri" pitchFamily="34" charset="-120"/>
              </a:rPr>
              <a:t>Netral</a:t>
            </a:r>
            <a:endParaRPr lang="en-US" sz="1150" dirty="0"/>
          </a:p>
        </p:txBody>
      </p:sp>
      <p:sp>
        <p:nvSpPr>
          <p:cNvPr id="14" name="Shape 12"/>
          <p:cNvSpPr/>
          <p:nvPr/>
        </p:nvSpPr>
        <p:spPr>
          <a:xfrm>
            <a:off x="621792" y="2212848"/>
            <a:ext cx="10948111" cy="420624"/>
          </a:xfrm>
          <a:prstGeom prst="roundRect">
            <a:avLst>
              <a:gd name="adj" fmla="val 17391"/>
            </a:avLst>
          </a:prstGeom>
          <a:solidFill>
            <a:srgbClr val="FFFFFF"/>
          </a:solidFill>
          <a:ln/>
        </p:spPr>
      </p:sp>
      <p:sp>
        <p:nvSpPr>
          <p:cNvPr id="15" name="Shape 13"/>
          <p:cNvSpPr/>
          <p:nvPr/>
        </p:nvSpPr>
        <p:spPr>
          <a:xfrm>
            <a:off x="621792" y="2212848"/>
            <a:ext cx="128016" cy="420624"/>
          </a:xfrm>
          <a:prstGeom prst="rect">
            <a:avLst/>
          </a:prstGeom>
          <a:solidFill>
            <a:srgbClr val="FF5A2D"/>
          </a:solidFill>
          <a:ln/>
        </p:spPr>
      </p:sp>
      <p:sp>
        <p:nvSpPr>
          <p:cNvPr id="16" name="Text 14"/>
          <p:cNvSpPr txBox="1"/>
          <p:nvPr/>
        </p:nvSpPr>
        <p:spPr>
          <a:xfrm>
            <a:off x="932688" y="2212848"/>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Utilitarianism</a:t>
            </a:r>
            <a:endParaRPr lang="en-US" sz="1150" dirty="0"/>
          </a:p>
        </p:txBody>
      </p:sp>
      <p:sp>
        <p:nvSpPr>
          <p:cNvPr id="17" name="Text 15"/>
          <p:cNvSpPr txBox="1"/>
          <p:nvPr/>
        </p:nvSpPr>
        <p:spPr>
          <a:xfrm>
            <a:off x="2852928" y="2212848"/>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Act cenderung mendukung, rule menolak karena target Paris menjadi mustahil</a:t>
            </a:r>
            <a:endParaRPr lang="en-US" sz="1100" dirty="0"/>
          </a:p>
        </p:txBody>
      </p:sp>
      <p:sp>
        <p:nvSpPr>
          <p:cNvPr id="18" name="Text 16"/>
          <p:cNvSpPr txBox="1"/>
          <p:nvPr/>
        </p:nvSpPr>
        <p:spPr>
          <a:xfrm>
            <a:off x="9528048" y="2212848"/>
            <a:ext cx="1858975" cy="420624"/>
          </a:xfrm>
          <a:prstGeom prst="rect">
            <a:avLst/>
          </a:prstGeom>
          <a:noFill/>
          <a:ln/>
        </p:spPr>
        <p:txBody>
          <a:bodyPr wrap="square" lIns="0" tIns="0" rIns="0" bIns="0" rtlCol="0" anchor="ctr"/>
          <a:lstStyle/>
          <a:p>
            <a:pPr algn="r" indent="0" marL="0">
              <a:buNone/>
            </a:pPr>
            <a:r>
              <a:rPr lang="en-US" sz="1150" b="1" dirty="0">
                <a:solidFill>
                  <a:srgbClr val="FF5A2D"/>
                </a:solidFill>
                <a:latin typeface="Calibri" pitchFamily="34" charset="0"/>
                <a:ea typeface="Calibri" pitchFamily="34" charset="-122"/>
                <a:cs typeface="Calibri" pitchFamily="34" charset="-120"/>
              </a:rPr>
              <a:t>Terbelah</a:t>
            </a:r>
            <a:endParaRPr lang="en-US" sz="1150" dirty="0"/>
          </a:p>
        </p:txBody>
      </p:sp>
      <p:sp>
        <p:nvSpPr>
          <p:cNvPr id="19" name="Shape 17"/>
          <p:cNvSpPr/>
          <p:nvPr/>
        </p:nvSpPr>
        <p:spPr>
          <a:xfrm>
            <a:off x="621792" y="2706624"/>
            <a:ext cx="10948111" cy="420624"/>
          </a:xfrm>
          <a:prstGeom prst="roundRect">
            <a:avLst>
              <a:gd name="adj" fmla="val 17391"/>
            </a:avLst>
          </a:prstGeom>
          <a:solidFill>
            <a:srgbClr val="FFFFFF"/>
          </a:solidFill>
          <a:ln/>
        </p:spPr>
      </p:sp>
      <p:sp>
        <p:nvSpPr>
          <p:cNvPr id="20" name="Shape 18"/>
          <p:cNvSpPr/>
          <p:nvPr/>
        </p:nvSpPr>
        <p:spPr>
          <a:xfrm>
            <a:off x="621792" y="2706624"/>
            <a:ext cx="128016" cy="420624"/>
          </a:xfrm>
          <a:prstGeom prst="rect">
            <a:avLst/>
          </a:prstGeom>
          <a:solidFill>
            <a:srgbClr val="F5B722"/>
          </a:solidFill>
          <a:ln/>
        </p:spPr>
      </p:sp>
      <p:sp>
        <p:nvSpPr>
          <p:cNvPr id="21" name="Text 19"/>
          <p:cNvSpPr txBox="1"/>
          <p:nvPr/>
        </p:nvSpPr>
        <p:spPr>
          <a:xfrm>
            <a:off x="932688" y="2706624"/>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Ethics of Duty</a:t>
            </a:r>
            <a:endParaRPr lang="en-US" sz="1150" dirty="0"/>
          </a:p>
        </p:txBody>
      </p:sp>
      <p:sp>
        <p:nvSpPr>
          <p:cNvPr id="22" name="Text 20"/>
          <p:cNvSpPr txBox="1"/>
          <p:nvPr/>
        </p:nvSpPr>
        <p:spPr>
          <a:xfrm>
            <a:off x="2852928" y="2706624"/>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Bila seluruh negara pemilik cadangan berbuat sama, prinsipnya tidak dapat diuniversalkan</a:t>
            </a:r>
            <a:endParaRPr lang="en-US" sz="1100" dirty="0"/>
          </a:p>
        </p:txBody>
      </p:sp>
      <p:sp>
        <p:nvSpPr>
          <p:cNvPr id="23" name="Text 21"/>
          <p:cNvSpPr txBox="1"/>
          <p:nvPr/>
        </p:nvSpPr>
        <p:spPr>
          <a:xfrm>
            <a:off x="9528048" y="2706624"/>
            <a:ext cx="1858975" cy="420624"/>
          </a:xfrm>
          <a:prstGeom prst="rect">
            <a:avLst/>
          </a:prstGeom>
          <a:noFill/>
          <a:ln/>
        </p:spPr>
        <p:txBody>
          <a:bodyPr wrap="square" lIns="0" tIns="0" rIns="0" bIns="0" rtlCol="0" anchor="ctr"/>
          <a:lstStyle/>
          <a:p>
            <a:pPr algn="r" indent="0" marL="0">
              <a:buNone/>
            </a:pPr>
            <a:r>
              <a:rPr lang="en-US" sz="1150" b="1" dirty="0">
                <a:solidFill>
                  <a:srgbClr val="947324"/>
                </a:solidFill>
                <a:latin typeface="Calibri" pitchFamily="34" charset="0"/>
                <a:ea typeface="Calibri" pitchFamily="34" charset="-122"/>
                <a:cs typeface="Calibri" pitchFamily="34" charset="-120"/>
              </a:rPr>
              <a:t>Menolak</a:t>
            </a:r>
            <a:endParaRPr lang="en-US" sz="1150" dirty="0"/>
          </a:p>
        </p:txBody>
      </p:sp>
      <p:sp>
        <p:nvSpPr>
          <p:cNvPr id="24" name="Shape 22"/>
          <p:cNvSpPr/>
          <p:nvPr/>
        </p:nvSpPr>
        <p:spPr>
          <a:xfrm>
            <a:off x="621792" y="3200400"/>
            <a:ext cx="10948111" cy="420624"/>
          </a:xfrm>
          <a:prstGeom prst="roundRect">
            <a:avLst>
              <a:gd name="adj" fmla="val 17391"/>
            </a:avLst>
          </a:prstGeom>
          <a:solidFill>
            <a:srgbClr val="FFFFFF"/>
          </a:solidFill>
          <a:ln/>
        </p:spPr>
      </p:sp>
      <p:sp>
        <p:nvSpPr>
          <p:cNvPr id="25" name="Shape 23"/>
          <p:cNvSpPr/>
          <p:nvPr/>
        </p:nvSpPr>
        <p:spPr>
          <a:xfrm>
            <a:off x="621792" y="3200400"/>
            <a:ext cx="128016" cy="420624"/>
          </a:xfrm>
          <a:prstGeom prst="rect">
            <a:avLst/>
          </a:prstGeom>
          <a:solidFill>
            <a:srgbClr val="C6F04A"/>
          </a:solidFill>
          <a:ln/>
        </p:spPr>
      </p:sp>
      <p:sp>
        <p:nvSpPr>
          <p:cNvPr id="26" name="Text 24"/>
          <p:cNvSpPr txBox="1"/>
          <p:nvPr/>
        </p:nvSpPr>
        <p:spPr>
          <a:xfrm>
            <a:off x="932688" y="3200400"/>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Ethics of Rights</a:t>
            </a:r>
            <a:endParaRPr lang="en-US" sz="1150" dirty="0"/>
          </a:p>
        </p:txBody>
      </p:sp>
      <p:sp>
        <p:nvSpPr>
          <p:cNvPr id="27" name="Text 25"/>
          <p:cNvSpPr txBox="1"/>
          <p:nvPr/>
        </p:nvSpPr>
        <p:spPr>
          <a:xfrm>
            <a:off x="2852928" y="3200400"/>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Pasal 23 mendukung lapangan kerja, hak atas kesehatan dan tanah adat menentang</a:t>
            </a:r>
            <a:endParaRPr lang="en-US" sz="1100" dirty="0"/>
          </a:p>
        </p:txBody>
      </p:sp>
      <p:sp>
        <p:nvSpPr>
          <p:cNvPr id="28" name="Text 26"/>
          <p:cNvSpPr txBox="1"/>
          <p:nvPr/>
        </p:nvSpPr>
        <p:spPr>
          <a:xfrm>
            <a:off x="9528048" y="3200400"/>
            <a:ext cx="1858975" cy="420624"/>
          </a:xfrm>
          <a:prstGeom prst="rect">
            <a:avLst/>
          </a:prstGeom>
          <a:noFill/>
          <a:ln/>
        </p:spPr>
        <p:txBody>
          <a:bodyPr wrap="square" lIns="0" tIns="0" rIns="0" bIns="0" rtlCol="0" anchor="ctr"/>
          <a:lstStyle/>
          <a:p>
            <a:pPr algn="r" indent="0" marL="0">
              <a:buNone/>
            </a:pPr>
            <a:r>
              <a:rPr lang="en-US" sz="1150" b="1" dirty="0">
                <a:solidFill>
                  <a:srgbClr val="79943B"/>
                </a:solidFill>
                <a:latin typeface="Calibri" pitchFamily="34" charset="0"/>
                <a:ea typeface="Calibri" pitchFamily="34" charset="-122"/>
                <a:cs typeface="Calibri" pitchFamily="34" charset="-120"/>
              </a:rPr>
              <a:t>Bersyarat</a:t>
            </a:r>
            <a:endParaRPr lang="en-US" sz="1150" dirty="0"/>
          </a:p>
        </p:txBody>
      </p:sp>
      <p:sp>
        <p:nvSpPr>
          <p:cNvPr id="29" name="Shape 27"/>
          <p:cNvSpPr/>
          <p:nvPr/>
        </p:nvSpPr>
        <p:spPr>
          <a:xfrm>
            <a:off x="621792" y="3694176"/>
            <a:ext cx="10948111" cy="420624"/>
          </a:xfrm>
          <a:prstGeom prst="roundRect">
            <a:avLst>
              <a:gd name="adj" fmla="val 17391"/>
            </a:avLst>
          </a:prstGeom>
          <a:solidFill>
            <a:srgbClr val="FFFFFF"/>
          </a:solidFill>
          <a:ln/>
        </p:spPr>
      </p:sp>
      <p:sp>
        <p:nvSpPr>
          <p:cNvPr id="30" name="Shape 28"/>
          <p:cNvSpPr/>
          <p:nvPr/>
        </p:nvSpPr>
        <p:spPr>
          <a:xfrm>
            <a:off x="621792" y="3694176"/>
            <a:ext cx="128016" cy="420624"/>
          </a:xfrm>
          <a:prstGeom prst="rect">
            <a:avLst/>
          </a:prstGeom>
          <a:solidFill>
            <a:srgbClr val="0FA98E"/>
          </a:solidFill>
          <a:ln/>
        </p:spPr>
      </p:sp>
      <p:sp>
        <p:nvSpPr>
          <p:cNvPr id="31" name="Text 29"/>
          <p:cNvSpPr txBox="1"/>
          <p:nvPr/>
        </p:nvSpPr>
        <p:spPr>
          <a:xfrm>
            <a:off x="932688" y="3694176"/>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Justice</a:t>
            </a:r>
            <a:endParaRPr lang="en-US" sz="1150" dirty="0"/>
          </a:p>
        </p:txBody>
      </p:sp>
      <p:sp>
        <p:nvSpPr>
          <p:cNvPr id="32" name="Text 30"/>
          <p:cNvSpPr txBox="1"/>
          <p:nvPr/>
        </p:nvSpPr>
        <p:spPr>
          <a:xfrm>
            <a:off x="2852928" y="3694176"/>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Manfaat tersebar nasional, beban terkonsentrasi. Kriteria pertama Rawls tidak terpenuhi</a:t>
            </a:r>
            <a:endParaRPr lang="en-US" sz="1100" dirty="0"/>
          </a:p>
        </p:txBody>
      </p:sp>
      <p:sp>
        <p:nvSpPr>
          <p:cNvPr id="33" name="Text 31"/>
          <p:cNvSpPr txBox="1"/>
          <p:nvPr/>
        </p:nvSpPr>
        <p:spPr>
          <a:xfrm>
            <a:off x="9528048" y="3694176"/>
            <a:ext cx="1858975" cy="420624"/>
          </a:xfrm>
          <a:prstGeom prst="rect">
            <a:avLst/>
          </a:prstGeom>
          <a:noFill/>
          <a:ln/>
        </p:spPr>
        <p:txBody>
          <a:bodyPr wrap="square" lIns="0" tIns="0" rIns="0" bIns="0" rtlCol="0" anchor="ctr"/>
          <a:lstStyle/>
          <a:p>
            <a:pPr algn="r" indent="0" marL="0">
              <a:buNone/>
            </a:pPr>
            <a:r>
              <a:rPr lang="en-US" sz="1150" b="1" dirty="0">
                <a:solidFill>
                  <a:srgbClr val="0FA98E"/>
                </a:solidFill>
                <a:latin typeface="Calibri" pitchFamily="34" charset="0"/>
                <a:ea typeface="Calibri" pitchFamily="34" charset="-122"/>
                <a:cs typeface="Calibri" pitchFamily="34" charset="-120"/>
              </a:rPr>
              <a:t>Menolak</a:t>
            </a:r>
            <a:endParaRPr lang="en-US" sz="1150" dirty="0"/>
          </a:p>
        </p:txBody>
      </p:sp>
      <p:sp>
        <p:nvSpPr>
          <p:cNvPr id="34" name="Shape 32"/>
          <p:cNvSpPr/>
          <p:nvPr/>
        </p:nvSpPr>
        <p:spPr>
          <a:xfrm>
            <a:off x="621792" y="4187952"/>
            <a:ext cx="10948111" cy="420624"/>
          </a:xfrm>
          <a:prstGeom prst="roundRect">
            <a:avLst>
              <a:gd name="adj" fmla="val 17391"/>
            </a:avLst>
          </a:prstGeom>
          <a:solidFill>
            <a:srgbClr val="FFFFFF"/>
          </a:solidFill>
          <a:ln/>
        </p:spPr>
      </p:sp>
      <p:sp>
        <p:nvSpPr>
          <p:cNvPr id="35" name="Shape 33"/>
          <p:cNvSpPr/>
          <p:nvPr/>
        </p:nvSpPr>
        <p:spPr>
          <a:xfrm>
            <a:off x="621792" y="4187952"/>
            <a:ext cx="128016" cy="420624"/>
          </a:xfrm>
          <a:prstGeom prst="rect">
            <a:avLst/>
          </a:prstGeom>
          <a:solidFill>
            <a:srgbClr val="4EA8DE"/>
          </a:solidFill>
          <a:ln/>
        </p:spPr>
      </p:sp>
      <p:sp>
        <p:nvSpPr>
          <p:cNvPr id="36" name="Text 34"/>
          <p:cNvSpPr txBox="1"/>
          <p:nvPr/>
        </p:nvSpPr>
        <p:spPr>
          <a:xfrm>
            <a:off x="932688" y="4187952"/>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Virtue Ethics</a:t>
            </a:r>
            <a:endParaRPr lang="en-US" sz="1150" dirty="0"/>
          </a:p>
        </p:txBody>
      </p:sp>
      <p:sp>
        <p:nvSpPr>
          <p:cNvPr id="37" name="Text 35"/>
          <p:cNvSpPr txBox="1"/>
          <p:nvPr/>
        </p:nvSpPr>
        <p:spPr>
          <a:xfrm>
            <a:off x="2852928" y="4187952"/>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Mengukur diri terhadap negara terburuk adalah perbandingan ke bawah</a:t>
            </a:r>
            <a:endParaRPr lang="en-US" sz="1100" dirty="0"/>
          </a:p>
        </p:txBody>
      </p:sp>
      <p:sp>
        <p:nvSpPr>
          <p:cNvPr id="38" name="Text 36"/>
          <p:cNvSpPr txBox="1"/>
          <p:nvPr/>
        </p:nvSpPr>
        <p:spPr>
          <a:xfrm>
            <a:off x="9528048" y="4187952"/>
            <a:ext cx="1858975" cy="420624"/>
          </a:xfrm>
          <a:prstGeom prst="rect">
            <a:avLst/>
          </a:prstGeom>
          <a:noFill/>
          <a:ln/>
        </p:spPr>
        <p:txBody>
          <a:bodyPr wrap="square" lIns="0" tIns="0" rIns="0" bIns="0" rtlCol="0" anchor="ctr"/>
          <a:lstStyle/>
          <a:p>
            <a:pPr algn="r" indent="0" marL="0">
              <a:buNone/>
            </a:pPr>
            <a:r>
              <a:rPr lang="en-US" sz="1150" b="1" dirty="0">
                <a:solidFill>
                  <a:srgbClr val="336B91"/>
                </a:solidFill>
                <a:latin typeface="Calibri" pitchFamily="34" charset="0"/>
                <a:ea typeface="Calibri" pitchFamily="34" charset="-122"/>
                <a:cs typeface="Calibri" pitchFamily="34" charset="-120"/>
              </a:rPr>
              <a:t>Menolak</a:t>
            </a:r>
            <a:endParaRPr lang="en-US" sz="1150" dirty="0"/>
          </a:p>
        </p:txBody>
      </p:sp>
      <p:sp>
        <p:nvSpPr>
          <p:cNvPr id="39" name="Shape 37"/>
          <p:cNvSpPr/>
          <p:nvPr/>
        </p:nvSpPr>
        <p:spPr>
          <a:xfrm>
            <a:off x="621792" y="4681728"/>
            <a:ext cx="10948111" cy="420624"/>
          </a:xfrm>
          <a:prstGeom prst="roundRect">
            <a:avLst>
              <a:gd name="adj" fmla="val 17391"/>
            </a:avLst>
          </a:prstGeom>
          <a:solidFill>
            <a:srgbClr val="FFFFFF"/>
          </a:solidFill>
          <a:ln/>
        </p:spPr>
      </p:sp>
      <p:sp>
        <p:nvSpPr>
          <p:cNvPr id="40" name="Shape 38"/>
          <p:cNvSpPr/>
          <p:nvPr/>
        </p:nvSpPr>
        <p:spPr>
          <a:xfrm>
            <a:off x="621792" y="4681728"/>
            <a:ext cx="128016" cy="420624"/>
          </a:xfrm>
          <a:prstGeom prst="rect">
            <a:avLst/>
          </a:prstGeom>
          <a:solidFill>
            <a:srgbClr val="6C7BE0"/>
          </a:solidFill>
          <a:ln/>
        </p:spPr>
      </p:sp>
      <p:sp>
        <p:nvSpPr>
          <p:cNvPr id="41" name="Text 39"/>
          <p:cNvSpPr txBox="1"/>
          <p:nvPr/>
        </p:nvSpPr>
        <p:spPr>
          <a:xfrm>
            <a:off x="932688" y="4681728"/>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 of Care</a:t>
            </a:r>
            <a:endParaRPr lang="en-US" sz="1150" dirty="0"/>
          </a:p>
        </p:txBody>
      </p:sp>
      <p:sp>
        <p:nvSpPr>
          <p:cNvPr id="42" name="Text 40"/>
          <p:cNvSpPr txBox="1"/>
          <p:nvPr/>
        </p:nvSpPr>
        <p:spPr>
          <a:xfrm>
            <a:off x="2852928" y="4681728"/>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Komunitas hilir dan generasi mendatang adalah relasi, bukan variabel biaya</a:t>
            </a:r>
            <a:endParaRPr lang="en-US" sz="1100" dirty="0"/>
          </a:p>
        </p:txBody>
      </p:sp>
      <p:sp>
        <p:nvSpPr>
          <p:cNvPr id="43" name="Text 41"/>
          <p:cNvSpPr txBox="1"/>
          <p:nvPr/>
        </p:nvSpPr>
        <p:spPr>
          <a:xfrm>
            <a:off x="9528048" y="4681728"/>
            <a:ext cx="1858975" cy="420624"/>
          </a:xfrm>
          <a:prstGeom prst="rect">
            <a:avLst/>
          </a:prstGeom>
          <a:noFill/>
          <a:ln/>
        </p:spPr>
        <p:txBody>
          <a:bodyPr wrap="square" lIns="0" tIns="0" rIns="0" bIns="0" rtlCol="0" anchor="ctr"/>
          <a:lstStyle/>
          <a:p>
            <a:pPr algn="r" indent="0" marL="0">
              <a:buNone/>
            </a:pPr>
            <a:r>
              <a:rPr lang="en-US" sz="1150" b="1" dirty="0">
                <a:solidFill>
                  <a:srgbClr val="6C7BE0"/>
                </a:solidFill>
                <a:latin typeface="Calibri" pitchFamily="34" charset="0"/>
                <a:ea typeface="Calibri" pitchFamily="34" charset="-122"/>
                <a:cs typeface="Calibri" pitchFamily="34" charset="-120"/>
              </a:rPr>
              <a:t>Transisi adil</a:t>
            </a:r>
            <a:endParaRPr lang="en-US" sz="1150" dirty="0"/>
          </a:p>
        </p:txBody>
      </p:sp>
      <p:sp>
        <p:nvSpPr>
          <p:cNvPr id="44" name="Shape 42"/>
          <p:cNvSpPr/>
          <p:nvPr/>
        </p:nvSpPr>
        <p:spPr>
          <a:xfrm>
            <a:off x="621792" y="5175504"/>
            <a:ext cx="10948111" cy="420624"/>
          </a:xfrm>
          <a:prstGeom prst="roundRect">
            <a:avLst>
              <a:gd name="adj" fmla="val 17391"/>
            </a:avLst>
          </a:prstGeom>
          <a:solidFill>
            <a:srgbClr val="FFFFFF"/>
          </a:solidFill>
          <a:ln/>
        </p:spPr>
      </p:sp>
      <p:sp>
        <p:nvSpPr>
          <p:cNvPr id="45" name="Shape 43"/>
          <p:cNvSpPr/>
          <p:nvPr/>
        </p:nvSpPr>
        <p:spPr>
          <a:xfrm>
            <a:off x="621792" y="5175504"/>
            <a:ext cx="128016" cy="420624"/>
          </a:xfrm>
          <a:prstGeom prst="rect">
            <a:avLst/>
          </a:prstGeom>
          <a:solidFill>
            <a:srgbClr val="B8A6F5"/>
          </a:solidFill>
          <a:ln/>
        </p:spPr>
      </p:sp>
      <p:sp>
        <p:nvSpPr>
          <p:cNvPr id="46" name="Text 44"/>
          <p:cNvSpPr txBox="1"/>
          <p:nvPr/>
        </p:nvSpPr>
        <p:spPr>
          <a:xfrm>
            <a:off x="932688" y="5175504"/>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Discourse Ethics</a:t>
            </a:r>
            <a:endParaRPr lang="en-US" sz="1150" dirty="0"/>
          </a:p>
        </p:txBody>
      </p:sp>
      <p:sp>
        <p:nvSpPr>
          <p:cNvPr id="47" name="Text 45"/>
          <p:cNvSpPr txBox="1"/>
          <p:nvPr/>
        </p:nvSpPr>
        <p:spPr>
          <a:xfrm>
            <a:off x="2852928" y="5175504"/>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Label ethical oil lahir dari kampanye berdana industri, melanggar imparsialitas</a:t>
            </a:r>
            <a:endParaRPr lang="en-US" sz="1100" dirty="0"/>
          </a:p>
        </p:txBody>
      </p:sp>
      <p:sp>
        <p:nvSpPr>
          <p:cNvPr id="48" name="Text 46"/>
          <p:cNvSpPr txBox="1"/>
          <p:nvPr/>
        </p:nvSpPr>
        <p:spPr>
          <a:xfrm>
            <a:off x="9528048" y="5175504"/>
            <a:ext cx="1858975" cy="420624"/>
          </a:xfrm>
          <a:prstGeom prst="rect">
            <a:avLst/>
          </a:prstGeom>
          <a:noFill/>
          <a:ln/>
        </p:spPr>
        <p:txBody>
          <a:bodyPr wrap="square" lIns="0" tIns="0" rIns="0" bIns="0" rtlCol="0" anchor="ctr"/>
          <a:lstStyle/>
          <a:p>
            <a:pPr algn="r" indent="0" marL="0">
              <a:buNone/>
            </a:pPr>
            <a:r>
              <a:rPr lang="en-US" sz="1150" b="1" dirty="0">
                <a:solidFill>
                  <a:srgbClr val="716A9E"/>
                </a:solidFill>
                <a:latin typeface="Calibri" pitchFamily="34" charset="0"/>
                <a:ea typeface="Calibri" pitchFamily="34" charset="-122"/>
                <a:cs typeface="Calibri" pitchFamily="34" charset="-120"/>
              </a:rPr>
              <a:t>Menolak proses</a:t>
            </a:r>
            <a:endParaRPr lang="en-US" sz="1150" dirty="0"/>
          </a:p>
        </p:txBody>
      </p:sp>
      <p:sp>
        <p:nvSpPr>
          <p:cNvPr id="49" name="Shape 47"/>
          <p:cNvSpPr/>
          <p:nvPr/>
        </p:nvSpPr>
        <p:spPr>
          <a:xfrm>
            <a:off x="621792" y="5669280"/>
            <a:ext cx="10948111" cy="420624"/>
          </a:xfrm>
          <a:prstGeom prst="roundRect">
            <a:avLst>
              <a:gd name="adj" fmla="val 17391"/>
            </a:avLst>
          </a:prstGeom>
          <a:solidFill>
            <a:srgbClr val="FFFFFF"/>
          </a:solidFill>
          <a:ln/>
        </p:spPr>
      </p:sp>
      <p:sp>
        <p:nvSpPr>
          <p:cNvPr id="50" name="Shape 48"/>
          <p:cNvSpPr/>
          <p:nvPr/>
        </p:nvSpPr>
        <p:spPr>
          <a:xfrm>
            <a:off x="621792" y="5669280"/>
            <a:ext cx="128016" cy="420624"/>
          </a:xfrm>
          <a:prstGeom prst="rect">
            <a:avLst/>
          </a:prstGeom>
          <a:solidFill>
            <a:srgbClr val="E86A9B"/>
          </a:solidFill>
          <a:ln/>
        </p:spPr>
      </p:sp>
      <p:sp>
        <p:nvSpPr>
          <p:cNvPr id="51" name="Text 49"/>
          <p:cNvSpPr txBox="1"/>
          <p:nvPr/>
        </p:nvSpPr>
        <p:spPr>
          <a:xfrm>
            <a:off x="932688" y="5669280"/>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Postmodern Ethics</a:t>
            </a:r>
            <a:endParaRPr lang="en-US" sz="1150" dirty="0"/>
          </a:p>
        </p:txBody>
      </p:sp>
      <p:sp>
        <p:nvSpPr>
          <p:cNvPr id="52" name="Text 50"/>
          <p:cNvSpPr txBox="1"/>
          <p:nvPr/>
        </p:nvSpPr>
        <p:spPr>
          <a:xfrm>
            <a:off x="2852928" y="5669280"/>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Perebutan istilah oil sands dan tar sands menunjukkan bahasa membentuk moralitas</a:t>
            </a:r>
            <a:endParaRPr lang="en-US" sz="1100" dirty="0"/>
          </a:p>
        </p:txBody>
      </p:sp>
      <p:sp>
        <p:nvSpPr>
          <p:cNvPr id="53" name="Text 51"/>
          <p:cNvSpPr txBox="1"/>
          <p:nvPr/>
        </p:nvSpPr>
        <p:spPr>
          <a:xfrm>
            <a:off x="9528048" y="5669280"/>
            <a:ext cx="1858975" cy="420624"/>
          </a:xfrm>
          <a:prstGeom prst="rect">
            <a:avLst/>
          </a:prstGeom>
          <a:noFill/>
          <a:ln/>
        </p:spPr>
        <p:txBody>
          <a:bodyPr wrap="square" lIns="0" tIns="0" rIns="0" bIns="0" rtlCol="0" anchor="ctr"/>
          <a:lstStyle/>
          <a:p>
            <a:pPr algn="r" indent="0" marL="0">
              <a:buNone/>
            </a:pPr>
            <a:r>
              <a:rPr lang="en-US" sz="1150" b="1" dirty="0">
                <a:solidFill>
                  <a:srgbClr val="8C476A"/>
                </a:solidFill>
                <a:latin typeface="Calibri" pitchFamily="34" charset="0"/>
                <a:ea typeface="Calibri" pitchFamily="34" charset="-122"/>
                <a:cs typeface="Calibri" pitchFamily="34" charset="-120"/>
              </a:rPr>
              <a:t>Anti absolut</a:t>
            </a:r>
            <a:endParaRPr lang="en-US" sz="1150" dirty="0"/>
          </a:p>
        </p:txBody>
      </p:sp>
      <p:sp>
        <p:nvSpPr>
          <p:cNvPr id="54" name="Text 52"/>
          <p:cNvSpPr txBox="1"/>
          <p:nvPr/>
        </p:nvSpPr>
        <p:spPr>
          <a:xfrm>
            <a:off x="621792" y="6199632"/>
            <a:ext cx="10948111" cy="292608"/>
          </a:xfrm>
          <a:prstGeom prst="rect">
            <a:avLst/>
          </a:prstGeom>
          <a:noFill/>
          <a:ln/>
        </p:spPr>
        <p:txBody>
          <a:bodyPr wrap="square" lIns="0" tIns="0" rIns="0" bIns="0" rtlCol="0" anchor="t"/>
          <a:lstStyle/>
          <a:p>
            <a:pPr indent="0" marL="0">
              <a:buNone/>
            </a:pPr>
            <a:r>
              <a:rPr lang="en-US" sz="1150" i="1" dirty="0">
                <a:solidFill>
                  <a:srgbClr val="6B7A90"/>
                </a:solidFill>
                <a:latin typeface="Calibri" pitchFamily="34" charset="0"/>
                <a:ea typeface="Calibri" pitchFamily="34" charset="-122"/>
                <a:cs typeface="Calibri" pitchFamily="34" charset="-120"/>
              </a:rPr>
              <a:t>Tidak satu pun kolom kanan berbunyi mendukung tanpa syarat, namun kolom itu juga tidak seragam. Perbedaan itulah bahan diskusinya.</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143914"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PENERAPAN</a:t>
            </a:r>
            <a:endParaRPr lang="en-US" sz="950" dirty="0"/>
          </a:p>
        </p:txBody>
      </p:sp>
      <p:sp>
        <p:nvSpPr>
          <p:cNvPr id="5" name="Shape 3"/>
          <p:cNvSpPr/>
          <p:nvPr/>
        </p:nvSpPr>
        <p:spPr>
          <a:xfrm>
            <a:off x="1884578" y="457200"/>
            <a:ext cx="114391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884578"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PILIH DUA</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20</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Agenda Diskusi</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Empat pertanyaan pemandu, masing-masing menguji satu teori.</a:t>
            </a:r>
            <a:endParaRPr lang="en-US" sz="1350" dirty="0"/>
          </a:p>
        </p:txBody>
      </p:sp>
      <p:sp>
        <p:nvSpPr>
          <p:cNvPr id="10" name="Shape 8"/>
          <p:cNvSpPr/>
          <p:nvPr/>
        </p:nvSpPr>
        <p:spPr>
          <a:xfrm>
            <a:off x="621792" y="1938528"/>
            <a:ext cx="10948111" cy="841248"/>
          </a:xfrm>
          <a:prstGeom prst="roundRect">
            <a:avLst>
              <a:gd name="adj" fmla="val 17391"/>
            </a:avLst>
          </a:prstGeom>
          <a:solidFill>
            <a:srgbClr val="FFFFFF"/>
          </a:solidFill>
          <a:ln/>
        </p:spPr>
      </p:sp>
      <p:sp>
        <p:nvSpPr>
          <p:cNvPr id="11" name="Shape 9"/>
          <p:cNvSpPr/>
          <p:nvPr/>
        </p:nvSpPr>
        <p:spPr>
          <a:xfrm>
            <a:off x="621792" y="1938528"/>
            <a:ext cx="566928" cy="841248"/>
          </a:xfrm>
          <a:prstGeom prst="rect">
            <a:avLst/>
          </a:prstGeom>
          <a:solidFill>
            <a:srgbClr val="FF5A2D"/>
          </a:solidFill>
          <a:ln/>
        </p:spPr>
      </p:sp>
      <p:sp>
        <p:nvSpPr>
          <p:cNvPr id="12" name="Text 10"/>
          <p:cNvSpPr txBox="1"/>
          <p:nvPr/>
        </p:nvSpPr>
        <p:spPr>
          <a:xfrm>
            <a:off x="621792" y="1938528"/>
            <a:ext cx="566928" cy="8412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3" name="Text 11"/>
          <p:cNvSpPr txBox="1"/>
          <p:nvPr/>
        </p:nvSpPr>
        <p:spPr>
          <a:xfrm>
            <a:off x="1389888" y="2020824"/>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Kant</a:t>
            </a:r>
            <a:endParaRPr lang="en-US" sz="1250" dirty="0"/>
          </a:p>
        </p:txBody>
      </p:sp>
      <p:sp>
        <p:nvSpPr>
          <p:cNvPr id="14" name="Text 12"/>
          <p:cNvSpPr txBox="1"/>
          <p:nvPr/>
        </p:nvSpPr>
        <p:spPr>
          <a:xfrm>
            <a:off x="1389888" y="2258568"/>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Bila prinsip Kanada diterapkan oleh seluruh negara pemilik cadangan terbesar, apa yang tersisa dari target Paris?</a:t>
            </a:r>
            <a:endParaRPr lang="en-US" sz="1100" dirty="0"/>
          </a:p>
        </p:txBody>
      </p:sp>
      <p:sp>
        <p:nvSpPr>
          <p:cNvPr id="15" name="Shape 13"/>
          <p:cNvSpPr/>
          <p:nvPr/>
        </p:nvSpPr>
        <p:spPr>
          <a:xfrm>
            <a:off x="621792" y="2871216"/>
            <a:ext cx="10948111" cy="841248"/>
          </a:xfrm>
          <a:prstGeom prst="roundRect">
            <a:avLst>
              <a:gd name="adj" fmla="val 17391"/>
            </a:avLst>
          </a:prstGeom>
          <a:solidFill>
            <a:srgbClr val="FFFFFF"/>
          </a:solidFill>
          <a:ln/>
        </p:spPr>
      </p:sp>
      <p:sp>
        <p:nvSpPr>
          <p:cNvPr id="16" name="Shape 14"/>
          <p:cNvSpPr/>
          <p:nvPr/>
        </p:nvSpPr>
        <p:spPr>
          <a:xfrm>
            <a:off x="621792" y="2871216"/>
            <a:ext cx="566928" cy="841248"/>
          </a:xfrm>
          <a:prstGeom prst="rect">
            <a:avLst/>
          </a:prstGeom>
          <a:solidFill>
            <a:srgbClr val="B8A6F5"/>
          </a:solidFill>
          <a:ln/>
        </p:spPr>
      </p:sp>
      <p:sp>
        <p:nvSpPr>
          <p:cNvPr id="17" name="Text 15"/>
          <p:cNvSpPr txBox="1"/>
          <p:nvPr/>
        </p:nvSpPr>
        <p:spPr>
          <a:xfrm>
            <a:off x="621792" y="2871216"/>
            <a:ext cx="566928" cy="841248"/>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2</a:t>
            </a:r>
            <a:endParaRPr lang="en-US" sz="1700" dirty="0"/>
          </a:p>
        </p:txBody>
      </p:sp>
      <p:sp>
        <p:nvSpPr>
          <p:cNvPr id="18" name="Text 16"/>
          <p:cNvSpPr txBox="1"/>
          <p:nvPr/>
        </p:nvSpPr>
        <p:spPr>
          <a:xfrm>
            <a:off x="1389888" y="2953512"/>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Rawls</a:t>
            </a:r>
            <a:endParaRPr lang="en-US" sz="1250" dirty="0"/>
          </a:p>
        </p:txBody>
      </p:sp>
      <p:sp>
        <p:nvSpPr>
          <p:cNvPr id="19" name="Text 17"/>
          <p:cNvSpPr txBox="1"/>
          <p:nvPr/>
        </p:nvSpPr>
        <p:spPr>
          <a:xfrm>
            <a:off x="1389888" y="3191256"/>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Aturan apa yang Anda pilih bila tidak tahu akan terlahir sebagai pekerja tambang, warga adat hilir, atau anak yang lahir 2060?</a:t>
            </a:r>
            <a:endParaRPr lang="en-US" sz="1100" dirty="0"/>
          </a:p>
        </p:txBody>
      </p:sp>
      <p:sp>
        <p:nvSpPr>
          <p:cNvPr id="20" name="Shape 18"/>
          <p:cNvSpPr/>
          <p:nvPr/>
        </p:nvSpPr>
        <p:spPr>
          <a:xfrm>
            <a:off x="621792" y="3803904"/>
            <a:ext cx="10948111" cy="841248"/>
          </a:xfrm>
          <a:prstGeom prst="roundRect">
            <a:avLst>
              <a:gd name="adj" fmla="val 17391"/>
            </a:avLst>
          </a:prstGeom>
          <a:solidFill>
            <a:srgbClr val="FFFFFF"/>
          </a:solidFill>
          <a:ln/>
        </p:spPr>
      </p:sp>
      <p:sp>
        <p:nvSpPr>
          <p:cNvPr id="21" name="Shape 19"/>
          <p:cNvSpPr/>
          <p:nvPr/>
        </p:nvSpPr>
        <p:spPr>
          <a:xfrm>
            <a:off x="621792" y="3803904"/>
            <a:ext cx="566928" cy="841248"/>
          </a:xfrm>
          <a:prstGeom prst="rect">
            <a:avLst/>
          </a:prstGeom>
          <a:solidFill>
            <a:srgbClr val="0FA98E"/>
          </a:solidFill>
          <a:ln/>
        </p:spPr>
      </p:sp>
      <p:sp>
        <p:nvSpPr>
          <p:cNvPr id="22" name="Text 20"/>
          <p:cNvSpPr txBox="1"/>
          <p:nvPr/>
        </p:nvSpPr>
        <p:spPr>
          <a:xfrm>
            <a:off x="621792" y="3803904"/>
            <a:ext cx="566928" cy="8412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3" name="Text 21"/>
          <p:cNvSpPr txBox="1"/>
          <p:nvPr/>
        </p:nvSpPr>
        <p:spPr>
          <a:xfrm>
            <a:off x="1389888" y="3886200"/>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Bennett</a:t>
            </a:r>
            <a:endParaRPr lang="en-US" sz="1250" dirty="0"/>
          </a:p>
        </p:txBody>
      </p:sp>
      <p:sp>
        <p:nvSpPr>
          <p:cNvPr id="24" name="Text 22"/>
          <p:cNvSpPr txBox="1"/>
          <p:nvPr/>
        </p:nvSpPr>
        <p:spPr>
          <a:xfrm>
            <a:off x="1389888" y="4123944"/>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Apakah pernyataan bahwa pihak lain lebih buruk merupakan argumen moral atau sekadar pengalihan perhatian?</a:t>
            </a:r>
            <a:endParaRPr lang="en-US" sz="1100" dirty="0"/>
          </a:p>
        </p:txBody>
      </p:sp>
      <p:sp>
        <p:nvSpPr>
          <p:cNvPr id="25" name="Shape 23"/>
          <p:cNvSpPr/>
          <p:nvPr/>
        </p:nvSpPr>
        <p:spPr>
          <a:xfrm>
            <a:off x="621792" y="4736592"/>
            <a:ext cx="10948111" cy="841248"/>
          </a:xfrm>
          <a:prstGeom prst="roundRect">
            <a:avLst>
              <a:gd name="adj" fmla="val 17391"/>
            </a:avLst>
          </a:prstGeom>
          <a:solidFill>
            <a:srgbClr val="FFFFFF"/>
          </a:solidFill>
          <a:ln/>
        </p:spPr>
      </p:sp>
      <p:sp>
        <p:nvSpPr>
          <p:cNvPr id="26" name="Shape 24"/>
          <p:cNvSpPr/>
          <p:nvPr/>
        </p:nvSpPr>
        <p:spPr>
          <a:xfrm>
            <a:off x="621792" y="4736592"/>
            <a:ext cx="566928" cy="841248"/>
          </a:xfrm>
          <a:prstGeom prst="rect">
            <a:avLst/>
          </a:prstGeom>
          <a:solidFill>
            <a:srgbClr val="C6F04A"/>
          </a:solidFill>
          <a:ln/>
        </p:spPr>
      </p:sp>
      <p:sp>
        <p:nvSpPr>
          <p:cNvPr id="27" name="Text 25"/>
          <p:cNvSpPr txBox="1"/>
          <p:nvPr/>
        </p:nvSpPr>
        <p:spPr>
          <a:xfrm>
            <a:off x="621792" y="4736592"/>
            <a:ext cx="566928" cy="841248"/>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4</a:t>
            </a:r>
            <a:endParaRPr lang="en-US" sz="1700" dirty="0"/>
          </a:p>
        </p:txBody>
      </p:sp>
      <p:sp>
        <p:nvSpPr>
          <p:cNvPr id="28" name="Text 26"/>
          <p:cNvSpPr txBox="1"/>
          <p:nvPr/>
        </p:nvSpPr>
        <p:spPr>
          <a:xfrm>
            <a:off x="1389888" y="4818888"/>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Bahasa</a:t>
            </a:r>
            <a:endParaRPr lang="en-US" sz="1250" dirty="0"/>
          </a:p>
        </p:txBody>
      </p:sp>
      <p:sp>
        <p:nvSpPr>
          <p:cNvPr id="29" name="Text 27"/>
          <p:cNvSpPr txBox="1"/>
          <p:nvPr/>
        </p:nvSpPr>
        <p:spPr>
          <a:xfrm>
            <a:off x="1389888" y="5056632"/>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Siapa yang diuntungkan ketika istilah oil sands atau tar sands yang dipakai untuk menyebut hal yang sama?</a:t>
            </a:r>
            <a:endParaRPr lang="en-US" sz="1100" dirty="0"/>
          </a:p>
        </p:txBody>
      </p:sp>
      <p:sp>
        <p:nvSpPr>
          <p:cNvPr id="30" name="Shape 28"/>
          <p:cNvSpPr/>
          <p:nvPr/>
        </p:nvSpPr>
        <p:spPr>
          <a:xfrm>
            <a:off x="621792" y="5614416"/>
            <a:ext cx="10948111" cy="603504"/>
          </a:xfrm>
          <a:prstGeom prst="roundRect">
            <a:avLst>
              <a:gd name="adj" fmla="val 24242"/>
            </a:avLst>
          </a:prstGeom>
          <a:solidFill>
            <a:srgbClr val="0E1626"/>
          </a:solidFill>
          <a:ln/>
        </p:spPr>
      </p:sp>
      <p:sp>
        <p:nvSpPr>
          <p:cNvPr id="31" name="Text 29"/>
          <p:cNvSpPr txBox="1"/>
          <p:nvPr/>
        </p:nvSpPr>
        <p:spPr>
          <a:xfrm>
            <a:off x="941832" y="5809012"/>
            <a:ext cx="10308031" cy="457200"/>
          </a:xfrm>
          <a:prstGeom prst="rect">
            <a:avLst/>
          </a:prstGeom>
          <a:noFill/>
          <a:ln/>
        </p:spPr>
        <p:txBody>
          <a:bodyPr wrap="square" lIns="0" tIns="0" rIns="0" bIns="0" rtlCol="0" anchor="t"/>
          <a:lstStyle/>
          <a:p>
            <a:pPr indent="0" marL="0">
              <a:lnSpc>
                <a:spcPts val="1688"/>
              </a:lnSpc>
              <a:buNone/>
            </a:pPr>
            <a:r>
              <a:rPr lang="en-US" sz="1250" b="1" dirty="0">
                <a:solidFill>
                  <a:srgbClr val="FFFFFF"/>
                </a:solidFill>
                <a:latin typeface="Calibri" pitchFamily="34" charset="0"/>
                <a:ea typeface="Calibri" pitchFamily="34" charset="-122"/>
                <a:cs typeface="Calibri" pitchFamily="34" charset="-120"/>
              </a:rPr>
              <a:t>Simulasi discourse ethics: enam kelompok, dua menit per posisi, lalu satu norma bersama.</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B8A6F5"/>
          </a:solidFill>
          <a:ln/>
        </p:spPr>
      </p:sp>
      <p:sp>
        <p:nvSpPr>
          <p:cNvPr id="4" name="Shape 2"/>
          <p:cNvSpPr/>
          <p:nvPr/>
        </p:nvSpPr>
        <p:spPr>
          <a:xfrm>
            <a:off x="7014362" y="2168042"/>
            <a:ext cx="53035" cy="53035"/>
          </a:xfrm>
          <a:prstGeom prst="ellipse">
            <a:avLst/>
          </a:prstGeom>
          <a:solidFill>
            <a:srgbClr val="D2CCBD"/>
          </a:solidFill>
          <a:ln/>
        </p:spPr>
      </p:sp>
      <p:sp>
        <p:nvSpPr>
          <p:cNvPr id="5" name="Shape 3"/>
          <p:cNvSpPr/>
          <p:nvPr/>
        </p:nvSpPr>
        <p:spPr>
          <a:xfrm>
            <a:off x="7117729" y="2110767"/>
            <a:ext cx="53035" cy="53035"/>
          </a:xfrm>
          <a:prstGeom prst="ellipse">
            <a:avLst/>
          </a:prstGeom>
          <a:solidFill>
            <a:srgbClr val="D2CCBD"/>
          </a:solidFill>
          <a:ln/>
        </p:spPr>
      </p:sp>
      <p:sp>
        <p:nvSpPr>
          <p:cNvPr id="6" name="Shape 4"/>
          <p:cNvSpPr/>
          <p:nvPr/>
        </p:nvSpPr>
        <p:spPr>
          <a:xfrm>
            <a:off x="7221096" y="2054559"/>
            <a:ext cx="53035" cy="53035"/>
          </a:xfrm>
          <a:prstGeom prst="ellipse">
            <a:avLst/>
          </a:prstGeom>
          <a:solidFill>
            <a:srgbClr val="D2CCBD"/>
          </a:solidFill>
          <a:ln/>
        </p:spPr>
      </p:sp>
      <p:sp>
        <p:nvSpPr>
          <p:cNvPr id="7" name="Shape 5"/>
          <p:cNvSpPr/>
          <p:nvPr/>
        </p:nvSpPr>
        <p:spPr>
          <a:xfrm>
            <a:off x="7324463" y="2000465"/>
            <a:ext cx="53035" cy="53035"/>
          </a:xfrm>
          <a:prstGeom prst="ellipse">
            <a:avLst/>
          </a:prstGeom>
          <a:solidFill>
            <a:srgbClr val="D2CCBD"/>
          </a:solidFill>
          <a:ln/>
        </p:spPr>
      </p:sp>
      <p:sp>
        <p:nvSpPr>
          <p:cNvPr id="8" name="Shape 6"/>
          <p:cNvSpPr/>
          <p:nvPr/>
        </p:nvSpPr>
        <p:spPr>
          <a:xfrm>
            <a:off x="7427830" y="1949493"/>
            <a:ext cx="53035" cy="53035"/>
          </a:xfrm>
          <a:prstGeom prst="ellipse">
            <a:avLst/>
          </a:prstGeom>
          <a:solidFill>
            <a:srgbClr val="D2CCBD"/>
          </a:solidFill>
          <a:ln/>
        </p:spPr>
      </p:sp>
      <p:sp>
        <p:nvSpPr>
          <p:cNvPr id="9" name="Shape 7"/>
          <p:cNvSpPr/>
          <p:nvPr/>
        </p:nvSpPr>
        <p:spPr>
          <a:xfrm>
            <a:off x="7531197" y="1902592"/>
            <a:ext cx="53035" cy="53035"/>
          </a:xfrm>
          <a:prstGeom prst="ellipse">
            <a:avLst/>
          </a:prstGeom>
          <a:solidFill>
            <a:srgbClr val="D2CCBD"/>
          </a:solidFill>
          <a:ln/>
        </p:spPr>
      </p:sp>
      <p:sp>
        <p:nvSpPr>
          <p:cNvPr id="10" name="Shape 8"/>
          <p:cNvSpPr/>
          <p:nvPr/>
        </p:nvSpPr>
        <p:spPr>
          <a:xfrm>
            <a:off x="7634564" y="1860635"/>
            <a:ext cx="53035" cy="53035"/>
          </a:xfrm>
          <a:prstGeom prst="ellipse">
            <a:avLst/>
          </a:prstGeom>
          <a:solidFill>
            <a:srgbClr val="D2CCBD"/>
          </a:solidFill>
          <a:ln/>
        </p:spPr>
      </p:sp>
      <p:sp>
        <p:nvSpPr>
          <p:cNvPr id="11" name="Shape 9"/>
          <p:cNvSpPr/>
          <p:nvPr/>
        </p:nvSpPr>
        <p:spPr>
          <a:xfrm>
            <a:off x="7737931" y="1824405"/>
            <a:ext cx="53035" cy="53035"/>
          </a:xfrm>
          <a:prstGeom prst="ellipse">
            <a:avLst/>
          </a:prstGeom>
          <a:solidFill>
            <a:srgbClr val="D2CCBD"/>
          </a:solidFill>
          <a:ln/>
        </p:spPr>
      </p:sp>
      <p:sp>
        <p:nvSpPr>
          <p:cNvPr id="12" name="Shape 10"/>
          <p:cNvSpPr/>
          <p:nvPr/>
        </p:nvSpPr>
        <p:spPr>
          <a:xfrm>
            <a:off x="7841298" y="1794577"/>
            <a:ext cx="53035" cy="53035"/>
          </a:xfrm>
          <a:prstGeom prst="ellipse">
            <a:avLst/>
          </a:prstGeom>
          <a:solidFill>
            <a:srgbClr val="D2CCBD"/>
          </a:solidFill>
          <a:ln/>
        </p:spPr>
      </p:sp>
      <p:sp>
        <p:nvSpPr>
          <p:cNvPr id="13" name="Shape 11"/>
          <p:cNvSpPr/>
          <p:nvPr/>
        </p:nvSpPr>
        <p:spPr>
          <a:xfrm>
            <a:off x="7944665" y="1771705"/>
            <a:ext cx="53035" cy="53035"/>
          </a:xfrm>
          <a:prstGeom prst="ellipse">
            <a:avLst/>
          </a:prstGeom>
          <a:solidFill>
            <a:srgbClr val="D2CCBD"/>
          </a:solidFill>
          <a:ln/>
        </p:spPr>
      </p:sp>
      <p:sp>
        <p:nvSpPr>
          <p:cNvPr id="14" name="Shape 12"/>
          <p:cNvSpPr/>
          <p:nvPr/>
        </p:nvSpPr>
        <p:spPr>
          <a:xfrm>
            <a:off x="8048032" y="1756216"/>
            <a:ext cx="53035" cy="53035"/>
          </a:xfrm>
          <a:prstGeom prst="ellipse">
            <a:avLst/>
          </a:prstGeom>
          <a:solidFill>
            <a:srgbClr val="D2CCBD"/>
          </a:solidFill>
          <a:ln/>
        </p:spPr>
      </p:sp>
      <p:sp>
        <p:nvSpPr>
          <p:cNvPr id="15" name="Shape 13"/>
          <p:cNvSpPr/>
          <p:nvPr/>
        </p:nvSpPr>
        <p:spPr>
          <a:xfrm>
            <a:off x="8151399" y="1748399"/>
            <a:ext cx="53035" cy="53035"/>
          </a:xfrm>
          <a:prstGeom prst="ellipse">
            <a:avLst/>
          </a:prstGeom>
          <a:solidFill>
            <a:srgbClr val="D2CCBD"/>
          </a:solidFill>
          <a:ln/>
        </p:spPr>
      </p:sp>
      <p:sp>
        <p:nvSpPr>
          <p:cNvPr id="16" name="Shape 14"/>
          <p:cNvSpPr/>
          <p:nvPr/>
        </p:nvSpPr>
        <p:spPr>
          <a:xfrm>
            <a:off x="8254766" y="1748399"/>
            <a:ext cx="53035" cy="53035"/>
          </a:xfrm>
          <a:prstGeom prst="ellipse">
            <a:avLst/>
          </a:prstGeom>
          <a:solidFill>
            <a:srgbClr val="D2CCBD"/>
          </a:solidFill>
          <a:ln/>
        </p:spPr>
      </p:sp>
      <p:sp>
        <p:nvSpPr>
          <p:cNvPr id="17" name="Shape 15"/>
          <p:cNvSpPr/>
          <p:nvPr/>
        </p:nvSpPr>
        <p:spPr>
          <a:xfrm>
            <a:off x="8358133" y="1756216"/>
            <a:ext cx="53035" cy="53035"/>
          </a:xfrm>
          <a:prstGeom prst="ellipse">
            <a:avLst/>
          </a:prstGeom>
          <a:solidFill>
            <a:srgbClr val="D2CCBD"/>
          </a:solidFill>
          <a:ln/>
        </p:spPr>
      </p:sp>
      <p:sp>
        <p:nvSpPr>
          <p:cNvPr id="18" name="Shape 16"/>
          <p:cNvSpPr/>
          <p:nvPr/>
        </p:nvSpPr>
        <p:spPr>
          <a:xfrm>
            <a:off x="8461500" y="1771705"/>
            <a:ext cx="53035" cy="53035"/>
          </a:xfrm>
          <a:prstGeom prst="ellipse">
            <a:avLst/>
          </a:prstGeom>
          <a:solidFill>
            <a:srgbClr val="D2CCBD"/>
          </a:solidFill>
          <a:ln/>
        </p:spPr>
      </p:sp>
      <p:sp>
        <p:nvSpPr>
          <p:cNvPr id="19" name="Shape 17"/>
          <p:cNvSpPr/>
          <p:nvPr/>
        </p:nvSpPr>
        <p:spPr>
          <a:xfrm>
            <a:off x="8564867" y="1794577"/>
            <a:ext cx="53035" cy="53035"/>
          </a:xfrm>
          <a:prstGeom prst="ellipse">
            <a:avLst/>
          </a:prstGeom>
          <a:solidFill>
            <a:srgbClr val="D2CCBD"/>
          </a:solidFill>
          <a:ln/>
        </p:spPr>
      </p:sp>
      <p:sp>
        <p:nvSpPr>
          <p:cNvPr id="20" name="Shape 18"/>
          <p:cNvSpPr/>
          <p:nvPr/>
        </p:nvSpPr>
        <p:spPr>
          <a:xfrm>
            <a:off x="8668234" y="1824405"/>
            <a:ext cx="53035" cy="53035"/>
          </a:xfrm>
          <a:prstGeom prst="ellipse">
            <a:avLst/>
          </a:prstGeom>
          <a:solidFill>
            <a:srgbClr val="D2CCBD"/>
          </a:solidFill>
          <a:ln/>
        </p:spPr>
      </p:sp>
      <p:sp>
        <p:nvSpPr>
          <p:cNvPr id="21" name="Shape 19"/>
          <p:cNvSpPr/>
          <p:nvPr/>
        </p:nvSpPr>
        <p:spPr>
          <a:xfrm>
            <a:off x="8771601" y="1860635"/>
            <a:ext cx="53035" cy="53035"/>
          </a:xfrm>
          <a:prstGeom prst="ellipse">
            <a:avLst/>
          </a:prstGeom>
          <a:solidFill>
            <a:srgbClr val="D2CCBD"/>
          </a:solidFill>
          <a:ln/>
        </p:spPr>
      </p:sp>
      <p:sp>
        <p:nvSpPr>
          <p:cNvPr id="22" name="Shape 20"/>
          <p:cNvSpPr/>
          <p:nvPr/>
        </p:nvSpPr>
        <p:spPr>
          <a:xfrm>
            <a:off x="8874968" y="1902592"/>
            <a:ext cx="53035" cy="53035"/>
          </a:xfrm>
          <a:prstGeom prst="ellipse">
            <a:avLst/>
          </a:prstGeom>
          <a:solidFill>
            <a:srgbClr val="D2CCBD"/>
          </a:solidFill>
          <a:ln/>
        </p:spPr>
      </p:sp>
      <p:sp>
        <p:nvSpPr>
          <p:cNvPr id="23" name="Shape 21"/>
          <p:cNvSpPr/>
          <p:nvPr/>
        </p:nvSpPr>
        <p:spPr>
          <a:xfrm>
            <a:off x="8978335" y="1949493"/>
            <a:ext cx="53035" cy="53035"/>
          </a:xfrm>
          <a:prstGeom prst="ellipse">
            <a:avLst/>
          </a:prstGeom>
          <a:solidFill>
            <a:srgbClr val="D2CCBD"/>
          </a:solidFill>
          <a:ln/>
        </p:spPr>
      </p:sp>
      <p:sp>
        <p:nvSpPr>
          <p:cNvPr id="24" name="Shape 22"/>
          <p:cNvSpPr/>
          <p:nvPr/>
        </p:nvSpPr>
        <p:spPr>
          <a:xfrm>
            <a:off x="9081702" y="2000465"/>
            <a:ext cx="53035" cy="53035"/>
          </a:xfrm>
          <a:prstGeom prst="ellipse">
            <a:avLst/>
          </a:prstGeom>
          <a:solidFill>
            <a:srgbClr val="D2CCBD"/>
          </a:solidFill>
          <a:ln/>
        </p:spPr>
      </p:sp>
      <p:sp>
        <p:nvSpPr>
          <p:cNvPr id="25" name="Shape 23"/>
          <p:cNvSpPr/>
          <p:nvPr/>
        </p:nvSpPr>
        <p:spPr>
          <a:xfrm>
            <a:off x="9185068" y="2054559"/>
            <a:ext cx="53035" cy="53035"/>
          </a:xfrm>
          <a:prstGeom prst="ellipse">
            <a:avLst/>
          </a:prstGeom>
          <a:solidFill>
            <a:srgbClr val="D2CCBD"/>
          </a:solidFill>
          <a:ln/>
        </p:spPr>
      </p:sp>
      <p:sp>
        <p:nvSpPr>
          <p:cNvPr id="26" name="Shape 24"/>
          <p:cNvSpPr/>
          <p:nvPr/>
        </p:nvSpPr>
        <p:spPr>
          <a:xfrm>
            <a:off x="9288435" y="2110767"/>
            <a:ext cx="53035" cy="53035"/>
          </a:xfrm>
          <a:prstGeom prst="ellipse">
            <a:avLst/>
          </a:prstGeom>
          <a:solidFill>
            <a:srgbClr val="D2CCBD"/>
          </a:solidFill>
          <a:ln/>
        </p:spPr>
      </p:sp>
      <p:sp>
        <p:nvSpPr>
          <p:cNvPr id="27" name="Shape 25"/>
          <p:cNvSpPr/>
          <p:nvPr/>
        </p:nvSpPr>
        <p:spPr>
          <a:xfrm>
            <a:off x="9391802" y="2168042"/>
            <a:ext cx="53035" cy="53035"/>
          </a:xfrm>
          <a:prstGeom prst="ellipse">
            <a:avLst/>
          </a:prstGeom>
          <a:solidFill>
            <a:srgbClr val="D2CCBD"/>
          </a:solidFill>
          <a:ln/>
        </p:spPr>
      </p:sp>
      <p:sp>
        <p:nvSpPr>
          <p:cNvPr id="28" name="Shape 26"/>
          <p:cNvSpPr/>
          <p:nvPr/>
        </p:nvSpPr>
        <p:spPr>
          <a:xfrm>
            <a:off x="9495169" y="2225317"/>
            <a:ext cx="53035" cy="53035"/>
          </a:xfrm>
          <a:prstGeom prst="ellipse">
            <a:avLst/>
          </a:prstGeom>
          <a:solidFill>
            <a:srgbClr val="D2CCBD"/>
          </a:solidFill>
          <a:ln/>
        </p:spPr>
      </p:sp>
      <p:sp>
        <p:nvSpPr>
          <p:cNvPr id="29" name="Shape 27"/>
          <p:cNvSpPr/>
          <p:nvPr/>
        </p:nvSpPr>
        <p:spPr>
          <a:xfrm>
            <a:off x="9598536" y="2281525"/>
            <a:ext cx="53035" cy="53035"/>
          </a:xfrm>
          <a:prstGeom prst="ellipse">
            <a:avLst/>
          </a:prstGeom>
          <a:solidFill>
            <a:srgbClr val="D2CCBD"/>
          </a:solidFill>
          <a:ln/>
        </p:spPr>
      </p:sp>
      <p:sp>
        <p:nvSpPr>
          <p:cNvPr id="30" name="Shape 28"/>
          <p:cNvSpPr/>
          <p:nvPr/>
        </p:nvSpPr>
        <p:spPr>
          <a:xfrm>
            <a:off x="9701903" y="2335619"/>
            <a:ext cx="53035" cy="53035"/>
          </a:xfrm>
          <a:prstGeom prst="ellipse">
            <a:avLst/>
          </a:prstGeom>
          <a:solidFill>
            <a:srgbClr val="D2CCBD"/>
          </a:solidFill>
          <a:ln/>
        </p:spPr>
      </p:sp>
      <p:sp>
        <p:nvSpPr>
          <p:cNvPr id="31" name="Shape 29"/>
          <p:cNvSpPr/>
          <p:nvPr/>
        </p:nvSpPr>
        <p:spPr>
          <a:xfrm>
            <a:off x="9805270" y="2386592"/>
            <a:ext cx="53035" cy="53035"/>
          </a:xfrm>
          <a:prstGeom prst="ellipse">
            <a:avLst/>
          </a:prstGeom>
          <a:solidFill>
            <a:srgbClr val="D2CCBD"/>
          </a:solidFill>
          <a:ln/>
        </p:spPr>
      </p:sp>
      <p:sp>
        <p:nvSpPr>
          <p:cNvPr id="32" name="Shape 30"/>
          <p:cNvSpPr/>
          <p:nvPr/>
        </p:nvSpPr>
        <p:spPr>
          <a:xfrm>
            <a:off x="9908637" y="2433493"/>
            <a:ext cx="53035" cy="53035"/>
          </a:xfrm>
          <a:prstGeom prst="ellipse">
            <a:avLst/>
          </a:prstGeom>
          <a:solidFill>
            <a:srgbClr val="D2CCBD"/>
          </a:solidFill>
          <a:ln/>
        </p:spPr>
      </p:sp>
      <p:sp>
        <p:nvSpPr>
          <p:cNvPr id="33" name="Shape 31"/>
          <p:cNvSpPr/>
          <p:nvPr/>
        </p:nvSpPr>
        <p:spPr>
          <a:xfrm>
            <a:off x="10012004" y="2475450"/>
            <a:ext cx="53035" cy="53035"/>
          </a:xfrm>
          <a:prstGeom prst="ellipse">
            <a:avLst/>
          </a:prstGeom>
          <a:solidFill>
            <a:srgbClr val="D2CCBD"/>
          </a:solidFill>
          <a:ln/>
        </p:spPr>
      </p:sp>
      <p:sp>
        <p:nvSpPr>
          <p:cNvPr id="34" name="Shape 32"/>
          <p:cNvSpPr/>
          <p:nvPr/>
        </p:nvSpPr>
        <p:spPr>
          <a:xfrm>
            <a:off x="10115371" y="2511680"/>
            <a:ext cx="53035" cy="53035"/>
          </a:xfrm>
          <a:prstGeom prst="ellipse">
            <a:avLst/>
          </a:prstGeom>
          <a:solidFill>
            <a:srgbClr val="D2CCBD"/>
          </a:solidFill>
          <a:ln/>
        </p:spPr>
      </p:sp>
      <p:sp>
        <p:nvSpPr>
          <p:cNvPr id="35" name="Shape 33"/>
          <p:cNvSpPr/>
          <p:nvPr/>
        </p:nvSpPr>
        <p:spPr>
          <a:xfrm>
            <a:off x="10218738" y="2541508"/>
            <a:ext cx="53035" cy="53035"/>
          </a:xfrm>
          <a:prstGeom prst="ellipse">
            <a:avLst/>
          </a:prstGeom>
          <a:solidFill>
            <a:srgbClr val="D2CCBD"/>
          </a:solidFill>
          <a:ln/>
        </p:spPr>
      </p:sp>
      <p:sp>
        <p:nvSpPr>
          <p:cNvPr id="36" name="Shape 34"/>
          <p:cNvSpPr/>
          <p:nvPr/>
        </p:nvSpPr>
        <p:spPr>
          <a:xfrm>
            <a:off x="10322105" y="2564380"/>
            <a:ext cx="53035" cy="53035"/>
          </a:xfrm>
          <a:prstGeom prst="ellipse">
            <a:avLst/>
          </a:prstGeom>
          <a:solidFill>
            <a:srgbClr val="D2CCBD"/>
          </a:solidFill>
          <a:ln/>
        </p:spPr>
      </p:sp>
      <p:sp>
        <p:nvSpPr>
          <p:cNvPr id="37" name="Shape 35"/>
          <p:cNvSpPr/>
          <p:nvPr/>
        </p:nvSpPr>
        <p:spPr>
          <a:xfrm>
            <a:off x="10425472" y="2579869"/>
            <a:ext cx="53035" cy="53035"/>
          </a:xfrm>
          <a:prstGeom prst="ellipse">
            <a:avLst/>
          </a:prstGeom>
          <a:solidFill>
            <a:srgbClr val="D2CCBD"/>
          </a:solidFill>
          <a:ln/>
        </p:spPr>
      </p:sp>
      <p:sp>
        <p:nvSpPr>
          <p:cNvPr id="38" name="Shape 36"/>
          <p:cNvSpPr/>
          <p:nvPr/>
        </p:nvSpPr>
        <p:spPr>
          <a:xfrm>
            <a:off x="10528839" y="2587686"/>
            <a:ext cx="53035" cy="53035"/>
          </a:xfrm>
          <a:prstGeom prst="ellipse">
            <a:avLst/>
          </a:prstGeom>
          <a:solidFill>
            <a:srgbClr val="D2CCBD"/>
          </a:solidFill>
          <a:ln/>
        </p:spPr>
      </p:sp>
      <p:sp>
        <p:nvSpPr>
          <p:cNvPr id="39" name="Shape 37"/>
          <p:cNvSpPr/>
          <p:nvPr/>
        </p:nvSpPr>
        <p:spPr>
          <a:xfrm>
            <a:off x="10632206" y="2587686"/>
            <a:ext cx="53035" cy="53035"/>
          </a:xfrm>
          <a:prstGeom prst="ellipse">
            <a:avLst/>
          </a:prstGeom>
          <a:solidFill>
            <a:srgbClr val="D2CCBD"/>
          </a:solidFill>
          <a:ln/>
        </p:spPr>
      </p:sp>
      <p:sp>
        <p:nvSpPr>
          <p:cNvPr id="40" name="Shape 38"/>
          <p:cNvSpPr/>
          <p:nvPr/>
        </p:nvSpPr>
        <p:spPr>
          <a:xfrm>
            <a:off x="10735573" y="2579869"/>
            <a:ext cx="53035" cy="53035"/>
          </a:xfrm>
          <a:prstGeom prst="ellipse">
            <a:avLst/>
          </a:prstGeom>
          <a:solidFill>
            <a:srgbClr val="D2CCBD"/>
          </a:solidFill>
          <a:ln/>
        </p:spPr>
      </p:sp>
      <p:sp>
        <p:nvSpPr>
          <p:cNvPr id="41" name="Shape 39"/>
          <p:cNvSpPr/>
          <p:nvPr/>
        </p:nvSpPr>
        <p:spPr>
          <a:xfrm>
            <a:off x="10838940" y="2564380"/>
            <a:ext cx="53035" cy="53035"/>
          </a:xfrm>
          <a:prstGeom prst="ellipse">
            <a:avLst/>
          </a:prstGeom>
          <a:solidFill>
            <a:srgbClr val="D2CCBD"/>
          </a:solidFill>
          <a:ln/>
        </p:spPr>
      </p:sp>
      <p:sp>
        <p:nvSpPr>
          <p:cNvPr id="42" name="Shape 40"/>
          <p:cNvSpPr/>
          <p:nvPr/>
        </p:nvSpPr>
        <p:spPr>
          <a:xfrm>
            <a:off x="10942307" y="2541508"/>
            <a:ext cx="53035" cy="53035"/>
          </a:xfrm>
          <a:prstGeom prst="ellipse">
            <a:avLst/>
          </a:prstGeom>
          <a:solidFill>
            <a:srgbClr val="D2CCBD"/>
          </a:solidFill>
          <a:ln/>
        </p:spPr>
      </p:sp>
      <p:sp>
        <p:nvSpPr>
          <p:cNvPr id="43" name="Shape 41"/>
          <p:cNvSpPr/>
          <p:nvPr/>
        </p:nvSpPr>
        <p:spPr>
          <a:xfrm>
            <a:off x="11045674" y="2511680"/>
            <a:ext cx="53035" cy="53035"/>
          </a:xfrm>
          <a:prstGeom prst="ellipse">
            <a:avLst/>
          </a:prstGeom>
          <a:solidFill>
            <a:srgbClr val="D2CCBD"/>
          </a:solidFill>
          <a:ln/>
        </p:spPr>
      </p:sp>
      <p:sp>
        <p:nvSpPr>
          <p:cNvPr id="44" name="Shape 42"/>
          <p:cNvSpPr/>
          <p:nvPr/>
        </p:nvSpPr>
        <p:spPr>
          <a:xfrm>
            <a:off x="11149041" y="2475450"/>
            <a:ext cx="53035" cy="53035"/>
          </a:xfrm>
          <a:prstGeom prst="ellipse">
            <a:avLst/>
          </a:prstGeom>
          <a:solidFill>
            <a:srgbClr val="D2CCBD"/>
          </a:solidFill>
          <a:ln/>
        </p:spPr>
      </p:sp>
      <p:sp>
        <p:nvSpPr>
          <p:cNvPr id="45" name="Shape 43"/>
          <p:cNvSpPr/>
          <p:nvPr/>
        </p:nvSpPr>
        <p:spPr>
          <a:xfrm>
            <a:off x="11252408" y="2433493"/>
            <a:ext cx="53035" cy="53035"/>
          </a:xfrm>
          <a:prstGeom prst="ellipse">
            <a:avLst/>
          </a:prstGeom>
          <a:solidFill>
            <a:srgbClr val="D2CCBD"/>
          </a:solidFill>
          <a:ln/>
        </p:spPr>
      </p:sp>
      <p:sp>
        <p:nvSpPr>
          <p:cNvPr id="46" name="Shape 44"/>
          <p:cNvSpPr/>
          <p:nvPr/>
        </p:nvSpPr>
        <p:spPr>
          <a:xfrm>
            <a:off x="11355775" y="2386592"/>
            <a:ext cx="53035" cy="53035"/>
          </a:xfrm>
          <a:prstGeom prst="ellipse">
            <a:avLst/>
          </a:prstGeom>
          <a:solidFill>
            <a:srgbClr val="D2CCBD"/>
          </a:solidFill>
          <a:ln/>
        </p:spPr>
      </p:sp>
      <p:sp>
        <p:nvSpPr>
          <p:cNvPr id="47" name="Shape 45"/>
          <p:cNvSpPr/>
          <p:nvPr/>
        </p:nvSpPr>
        <p:spPr>
          <a:xfrm>
            <a:off x="11459142" y="2335619"/>
            <a:ext cx="53035" cy="53035"/>
          </a:xfrm>
          <a:prstGeom prst="ellipse">
            <a:avLst/>
          </a:prstGeom>
          <a:solidFill>
            <a:srgbClr val="D2CCBD"/>
          </a:solidFill>
          <a:ln/>
        </p:spPr>
      </p:sp>
      <p:sp>
        <p:nvSpPr>
          <p:cNvPr id="48" name="Shape 46"/>
          <p:cNvSpPr/>
          <p:nvPr/>
        </p:nvSpPr>
        <p:spPr>
          <a:xfrm>
            <a:off x="11562508" y="2281525"/>
            <a:ext cx="53035" cy="53035"/>
          </a:xfrm>
          <a:prstGeom prst="ellipse">
            <a:avLst/>
          </a:prstGeom>
          <a:solidFill>
            <a:srgbClr val="D2CCBD"/>
          </a:solidFill>
          <a:ln/>
        </p:spPr>
      </p:sp>
      <p:sp>
        <p:nvSpPr>
          <p:cNvPr id="49" name="Shape 47"/>
          <p:cNvSpPr/>
          <p:nvPr/>
        </p:nvSpPr>
        <p:spPr>
          <a:xfrm>
            <a:off x="11665875" y="2225317"/>
            <a:ext cx="53035" cy="53035"/>
          </a:xfrm>
          <a:prstGeom prst="ellipse">
            <a:avLst/>
          </a:prstGeom>
          <a:solidFill>
            <a:srgbClr val="D2CCBD"/>
          </a:solidFill>
          <a:ln/>
        </p:spPr>
      </p:sp>
      <p:sp>
        <p:nvSpPr>
          <p:cNvPr id="50" name="Shape 48"/>
          <p:cNvSpPr/>
          <p:nvPr/>
        </p:nvSpPr>
        <p:spPr>
          <a:xfrm>
            <a:off x="11769242" y="2168042"/>
            <a:ext cx="53035" cy="53035"/>
          </a:xfrm>
          <a:prstGeom prst="ellipse">
            <a:avLst/>
          </a:prstGeom>
          <a:solidFill>
            <a:srgbClr val="D2CCBD"/>
          </a:solidFill>
          <a:ln/>
        </p:spPr>
      </p:sp>
      <p:sp>
        <p:nvSpPr>
          <p:cNvPr id="51" name="Text 49"/>
          <p:cNvSpPr txBox="1"/>
          <p:nvPr/>
        </p:nvSpPr>
        <p:spPr>
          <a:xfrm>
            <a:off x="621792" y="1737360"/>
            <a:ext cx="9144000" cy="1371600"/>
          </a:xfrm>
          <a:prstGeom prst="rect">
            <a:avLst/>
          </a:prstGeom>
          <a:noFill/>
          <a:ln/>
        </p:spPr>
        <p:txBody>
          <a:bodyPr wrap="square" lIns="0" tIns="0" rIns="0" bIns="0" rtlCol="0" anchor="t"/>
          <a:lstStyle/>
          <a:p>
            <a:pPr indent="0" marL="0">
              <a:lnSpc>
                <a:spcPts val="6800"/>
              </a:lnSpc>
              <a:buNone/>
            </a:pPr>
            <a:r>
              <a:rPr lang="en-US" sz="6200" b="1" dirty="0">
                <a:solidFill>
                  <a:srgbClr val="0E1626"/>
                </a:solidFill>
                <a:latin typeface="Calibri" pitchFamily="34" charset="0"/>
                <a:ea typeface="Calibri" pitchFamily="34" charset="-122"/>
                <a:cs typeface="Calibri" pitchFamily="34" charset="-120"/>
              </a:rPr>
              <a:t>Terima Kasih</a:t>
            </a:r>
            <a:pPr indent="0" marL="0">
              <a:lnSpc>
                <a:spcPts val="6800"/>
              </a:lnSpc>
              <a:buNone/>
            </a:pPr>
            <a:r>
              <a:rPr lang="en-US" sz="6200" b="1" dirty="0">
                <a:solidFill>
                  <a:srgbClr val="FF5A2D"/>
                </a:solidFill>
                <a:latin typeface="Calibri" pitchFamily="34" charset="0"/>
                <a:ea typeface="Calibri" pitchFamily="34" charset="-122"/>
                <a:cs typeface="Calibri" pitchFamily="34" charset="-120"/>
              </a:rPr>
              <a:t>.</a:t>
            </a:r>
            <a:endParaRPr lang="en-US" sz="6200" dirty="0"/>
          </a:p>
        </p:txBody>
      </p:sp>
      <p:sp>
        <p:nvSpPr>
          <p:cNvPr id="52" name="Text 50"/>
          <p:cNvSpPr txBox="1"/>
          <p:nvPr/>
        </p:nvSpPr>
        <p:spPr>
          <a:xfrm>
            <a:off x="621792" y="3383280"/>
            <a:ext cx="7498080" cy="822960"/>
          </a:xfrm>
          <a:prstGeom prst="rect">
            <a:avLst/>
          </a:prstGeom>
          <a:noFill/>
          <a:ln/>
        </p:spPr>
        <p:txBody>
          <a:bodyPr wrap="square" lIns="0" tIns="0" rIns="0" bIns="0" rtlCol="0" anchor="t"/>
          <a:lstStyle/>
          <a:p>
            <a:pPr indent="0" marL="0">
              <a:lnSpc>
                <a:spcPts val="2400"/>
              </a:lnSpc>
              <a:buNone/>
            </a:pPr>
            <a:r>
              <a:rPr lang="en-US" sz="1500" dirty="0">
                <a:solidFill>
                  <a:srgbClr val="6B7A90"/>
                </a:solidFill>
                <a:latin typeface="Calibri" pitchFamily="34" charset="0"/>
                <a:ea typeface="Calibri" pitchFamily="34" charset="-122"/>
                <a:cs typeface="Calibri" pitchFamily="34" charset="-120"/>
              </a:rPr>
              <a:t>Setelah sembilan teori, kita tetap tidak memiliki satu jawaban. Buku ini memang tidak menjanjikannya, dan itulah pesan Figure 3.2.</a:t>
            </a:r>
            <a:endParaRPr lang="en-US" sz="1500" dirty="0"/>
          </a:p>
        </p:txBody>
      </p:sp>
      <p:sp>
        <p:nvSpPr>
          <p:cNvPr id="53" name="Shape 51"/>
          <p:cNvSpPr/>
          <p:nvPr/>
        </p:nvSpPr>
        <p:spPr>
          <a:xfrm>
            <a:off x="621792" y="5029200"/>
            <a:ext cx="4114800" cy="713232"/>
          </a:xfrm>
          <a:prstGeom prst="roundRect">
            <a:avLst>
              <a:gd name="adj" fmla="val 20513"/>
            </a:avLst>
          </a:prstGeom>
          <a:solidFill>
            <a:srgbClr val="FFFFFF"/>
          </a:solidFill>
          <a:ln/>
        </p:spPr>
      </p:sp>
      <p:sp>
        <p:nvSpPr>
          <p:cNvPr id="54" name="Shape 52"/>
          <p:cNvSpPr/>
          <p:nvPr/>
        </p:nvSpPr>
        <p:spPr>
          <a:xfrm>
            <a:off x="621792" y="5084064"/>
            <a:ext cx="54864" cy="603504"/>
          </a:xfrm>
          <a:prstGeom prst="rect">
            <a:avLst/>
          </a:prstGeom>
          <a:solidFill>
            <a:srgbClr val="FF5A2D"/>
          </a:solidFill>
          <a:ln/>
        </p:spPr>
      </p:sp>
      <p:sp>
        <p:nvSpPr>
          <p:cNvPr id="55" name="Text 53"/>
          <p:cNvSpPr txBox="1"/>
          <p:nvPr/>
        </p:nvSpPr>
        <p:spPr>
          <a:xfrm>
            <a:off x="877824" y="5166360"/>
            <a:ext cx="3657600" cy="256032"/>
          </a:xfrm>
          <a:prstGeom prst="rect">
            <a:avLst/>
          </a:prstGeom>
          <a:noFill/>
          <a:ln/>
        </p:spPr>
        <p:txBody>
          <a:bodyPr wrap="square" lIns="0" tIns="0" rIns="0" bIns="0" rtlCol="0" anchor="t"/>
          <a:lstStyle/>
          <a:p>
            <a:pPr indent="0" marL="0">
              <a:buNone/>
            </a:pPr>
            <a:r>
              <a:rPr lang="en-US" sz="1300" b="1" dirty="0">
                <a:solidFill>
                  <a:srgbClr val="0E1626"/>
                </a:solidFill>
                <a:latin typeface="Calibri" pitchFamily="34" charset="0"/>
                <a:ea typeface="Calibri" pitchFamily="34" charset="-122"/>
                <a:cs typeface="Calibri" pitchFamily="34" charset="-120"/>
              </a:rPr>
              <a:t>Aslih Abnuri</a:t>
            </a:r>
            <a:endParaRPr lang="en-US" sz="1300" dirty="0"/>
          </a:p>
        </p:txBody>
      </p:sp>
      <p:sp>
        <p:nvSpPr>
          <p:cNvPr id="56" name="Text 54"/>
          <p:cNvSpPr txBox="1"/>
          <p:nvPr/>
        </p:nvSpPr>
        <p:spPr>
          <a:xfrm>
            <a:off x="877824" y="5413248"/>
            <a:ext cx="3657600" cy="237744"/>
          </a:xfrm>
          <a:prstGeom prst="rect">
            <a:avLst/>
          </a:prstGeom>
          <a:noFill/>
          <a:ln/>
        </p:spPr>
        <p:txBody>
          <a:bodyPr wrap="square" lIns="0" tIns="0" rIns="0" bIns="0" rtlCol="0" anchor="t"/>
          <a:lstStyle/>
          <a:p>
            <a:pPr indent="0" marL="0">
              <a:buNone/>
            </a:pPr>
            <a:r>
              <a:rPr lang="en-US" sz="1050" dirty="0">
                <a:solidFill>
                  <a:srgbClr val="6B7A90"/>
                </a:solidFill>
                <a:latin typeface="Courier New" pitchFamily="34" charset="0"/>
                <a:ea typeface="Courier New" pitchFamily="34" charset="-122"/>
                <a:cs typeface="Courier New" pitchFamily="34" charset="-120"/>
              </a:rPr>
              <a:t>25/574338/PEK/31801</a:t>
            </a:r>
            <a:endParaRPr lang="en-US" sz="1050" dirty="0"/>
          </a:p>
        </p:txBody>
      </p:sp>
      <p:sp>
        <p:nvSpPr>
          <p:cNvPr id="57" name="Shape 55"/>
          <p:cNvSpPr/>
          <p:nvPr/>
        </p:nvSpPr>
        <p:spPr>
          <a:xfrm>
            <a:off x="621792" y="6053328"/>
            <a:ext cx="10948111" cy="10058"/>
          </a:xfrm>
          <a:prstGeom prst="rect">
            <a:avLst/>
          </a:prstGeom>
          <a:solidFill>
            <a:srgbClr val="DDD8CE"/>
          </a:solidFill>
          <a:ln/>
        </p:spPr>
      </p:sp>
      <p:sp>
        <p:nvSpPr>
          <p:cNvPr id="58" name="Text 56"/>
          <p:cNvSpPr txBox="1"/>
          <p:nvPr/>
        </p:nvSpPr>
        <p:spPr>
          <a:xfrm>
            <a:off x="621792" y="6199632"/>
            <a:ext cx="5852160" cy="256032"/>
          </a:xfrm>
          <a:prstGeom prst="rect">
            <a:avLst/>
          </a:prstGeom>
          <a:noFill/>
          <a:ln/>
        </p:spPr>
        <p:txBody>
          <a:bodyPr wrap="square" lIns="0" tIns="0" rIns="0" bIns="0" rtlCol="0" anchor="t"/>
          <a:lstStyle/>
          <a:p>
            <a:pPr indent="0" marL="0">
              <a:buNone/>
            </a:pPr>
            <a:r>
              <a:rPr lang="en-US" sz="1050" b="1" dirty="0">
                <a:solidFill>
                  <a:srgbClr val="0E1626"/>
                </a:solidFill>
                <a:latin typeface="Calibri" pitchFamily="34" charset="0"/>
                <a:ea typeface="Calibri" pitchFamily="34" charset="-122"/>
                <a:cs typeface="Calibri" pitchFamily="34" charset="-120"/>
              </a:rPr>
              <a:t>Business Ethics · Chapter 3 Evaluating Business Ethics</a:t>
            </a:r>
            <a:endParaRPr lang="en-US" sz="1050" dirty="0"/>
          </a:p>
        </p:txBody>
      </p:sp>
      <p:sp>
        <p:nvSpPr>
          <p:cNvPr id="59" name="Text 57"/>
          <p:cNvSpPr txBox="1"/>
          <p:nvPr/>
        </p:nvSpPr>
        <p:spPr>
          <a:xfrm>
            <a:off x="6083503" y="6199632"/>
            <a:ext cx="5486400" cy="256032"/>
          </a:xfrm>
          <a:prstGeom prst="rect">
            <a:avLst/>
          </a:prstGeom>
          <a:noFill/>
          <a:ln/>
        </p:spPr>
        <p:txBody>
          <a:bodyPr wrap="square" lIns="0" tIns="0" rIns="0" bIns="0" rtlCol="0" anchor="t"/>
          <a:lstStyle/>
          <a:p>
            <a:pPr algn="r" indent="0" marL="0">
              <a:buNone/>
            </a:pPr>
            <a:r>
              <a:rPr lang="en-US" sz="1050" dirty="0">
                <a:solidFill>
                  <a:srgbClr val="6B7A90"/>
                </a:solidFill>
                <a:latin typeface="Calibri" pitchFamily="34" charset="0"/>
                <a:ea typeface="Calibri" pitchFamily="34" charset="-122"/>
                <a:cs typeface="Calibri" pitchFamily="34" charset="-120"/>
              </a:rPr>
              <a:t>Crane, Matten, Glozer &amp; Spence (2019) · Oxford University Press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Business Ethics</dc:title>
  <dc:subject>Business Ethics Chapter 3</dc:subject>
  <dc:creator>Aslih Abnuri</dc:creator>
  <cp:lastModifiedBy>Aslih Abnuri</cp:lastModifiedBy>
  <cp:revision>1</cp:revision>
  <dcterms:created xsi:type="dcterms:W3CDTF">2026-08-26T10:42:10Z</dcterms:created>
  <dcterms:modified xsi:type="dcterms:W3CDTF">2026-08-26T10:42:10Z</dcterms:modified>
</cp:coreProperties>
</file>