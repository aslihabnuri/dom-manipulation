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ini kebalikan dari deck materi. Di sini kasusnya yang jadi tulang punggung, teorinya dipakai sebagai alat bedah.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Sepuluh bagian. Bagian 5 sampai 7 adalah inti analisisnya, masing-masing memakai teori yang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Tegaskan sejak awal: tujuan analisis ini bukan memenangkan satu pihak, melainkan memetakan seluruh pertimbangan.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Perhatikan paradoksnya: investasi turun sejak 2018, tetapi produksinya terus naik setiap tahun. Ketegangan itulah yang membuat kasus ini belum selesai.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ke kelas: dari enam pihak ini, siapa yang paling menentukan keputusan, dan siapa yang paling menanggung akibat? Jawabannya tidak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Kalimat penutup ini yang menjustifikasi seluruh analisis berikutnya. Kalau sengketanya soal nilai, maka teori nilailah alat yang tepat.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kedua kesimpulan sama-sama sah secara internal. Yang membedakan hanya unit analisisnya: tindakan tunggal atau kelas tindakan.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Rawls adalah lensa paling tajam di sini. Ingat urutan kriterianya: kebebasan dasar dulu, baru difference principle.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Discourse ethics adalah lensa yang paling praktis untuk sengketa lingkungan korporasi, karena menyerang cara keputusan dibuat, bukan isinya.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Pola inilah temuannya. Bukan satu putusan, melainkan konvergensi: sembilan pintu masuk berbeda menghasilkan arah yang mirip.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Penting: analisis ini menolak klaimnya, bukan menuntut penutupan industrinya. Bedakan dua hal itu di depan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bagian ini dengan pertanyaan Rawls versi Indonesia: siapa yang menikmati manfaatnya, siapa yang menanggung bebannya, dan apakah keduanya pihak yang sama?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jawaban atas pertanyaan pembuka. Setelah sembilan teori kita tetap tidak punya satu jawaban, dan itu memang yang dijanjikan bab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sesi tanya jawab dengan pertanyaan Rawls: aturan apa yang Anda pilih bila tidak tahu akan terlahir sebagai siapa?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4" name="Shape 2"/>
          <p:cNvSpPr/>
          <p:nvPr/>
        </p:nvSpPr>
        <p:spPr>
          <a:xfrm>
            <a:off x="6740042" y="107076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" name="Shape 3"/>
          <p:cNvSpPr/>
          <p:nvPr/>
        </p:nvSpPr>
        <p:spPr>
          <a:xfrm>
            <a:off x="6849373" y="10184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6" name="Shape 4"/>
          <p:cNvSpPr/>
          <p:nvPr/>
        </p:nvSpPr>
        <p:spPr>
          <a:xfrm>
            <a:off x="6958703" y="9671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7" name="Shape 5"/>
          <p:cNvSpPr/>
          <p:nvPr/>
        </p:nvSpPr>
        <p:spPr>
          <a:xfrm>
            <a:off x="7068034" y="9177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8" name="Shape 6"/>
          <p:cNvSpPr/>
          <p:nvPr/>
        </p:nvSpPr>
        <p:spPr>
          <a:xfrm>
            <a:off x="7177364" y="8712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9" name="Shape 7"/>
          <p:cNvSpPr/>
          <p:nvPr/>
        </p:nvSpPr>
        <p:spPr>
          <a:xfrm>
            <a:off x="7286695" y="828394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0" name="Shape 8"/>
          <p:cNvSpPr/>
          <p:nvPr/>
        </p:nvSpPr>
        <p:spPr>
          <a:xfrm>
            <a:off x="7396025" y="7900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1" name="Shape 9"/>
          <p:cNvSpPr/>
          <p:nvPr/>
        </p:nvSpPr>
        <p:spPr>
          <a:xfrm>
            <a:off x="7505355" y="75700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2" name="Shape 10"/>
          <p:cNvSpPr/>
          <p:nvPr/>
        </p:nvSpPr>
        <p:spPr>
          <a:xfrm>
            <a:off x="7614686" y="72977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4016" y="70888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4" name="Shape 12"/>
          <p:cNvSpPr/>
          <p:nvPr/>
        </p:nvSpPr>
        <p:spPr>
          <a:xfrm>
            <a:off x="7833347" y="6947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5" name="Shape 13"/>
          <p:cNvSpPr/>
          <p:nvPr/>
        </p:nvSpPr>
        <p:spPr>
          <a:xfrm>
            <a:off x="7942677" y="68761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6" name="Shape 14"/>
          <p:cNvSpPr/>
          <p:nvPr/>
        </p:nvSpPr>
        <p:spPr>
          <a:xfrm>
            <a:off x="8052008" y="68761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7" name="Shape 15"/>
          <p:cNvSpPr/>
          <p:nvPr/>
        </p:nvSpPr>
        <p:spPr>
          <a:xfrm>
            <a:off x="8161338" y="6947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0668" y="70888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9" name="Shape 17"/>
          <p:cNvSpPr/>
          <p:nvPr/>
        </p:nvSpPr>
        <p:spPr>
          <a:xfrm>
            <a:off x="8379999" y="72977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0" name="Shape 18"/>
          <p:cNvSpPr/>
          <p:nvPr/>
        </p:nvSpPr>
        <p:spPr>
          <a:xfrm>
            <a:off x="8489329" y="75700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1" name="Shape 19"/>
          <p:cNvSpPr/>
          <p:nvPr/>
        </p:nvSpPr>
        <p:spPr>
          <a:xfrm>
            <a:off x="8598660" y="7900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2" name="Shape 20"/>
          <p:cNvSpPr/>
          <p:nvPr/>
        </p:nvSpPr>
        <p:spPr>
          <a:xfrm>
            <a:off x="8707990" y="828394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3" name="Shape 21"/>
          <p:cNvSpPr/>
          <p:nvPr/>
        </p:nvSpPr>
        <p:spPr>
          <a:xfrm>
            <a:off x="8817321" y="8712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4" name="Shape 22"/>
          <p:cNvSpPr/>
          <p:nvPr/>
        </p:nvSpPr>
        <p:spPr>
          <a:xfrm>
            <a:off x="8926651" y="9177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5" name="Shape 23"/>
          <p:cNvSpPr/>
          <p:nvPr/>
        </p:nvSpPr>
        <p:spPr>
          <a:xfrm>
            <a:off x="9035982" y="9671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5312" y="10184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7" name="Shape 25"/>
          <p:cNvSpPr/>
          <p:nvPr/>
        </p:nvSpPr>
        <p:spPr>
          <a:xfrm>
            <a:off x="9254642" y="107076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8" name="Shape 26"/>
          <p:cNvSpPr/>
          <p:nvPr/>
        </p:nvSpPr>
        <p:spPr>
          <a:xfrm>
            <a:off x="9363973" y="11230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9" name="Shape 27"/>
          <p:cNvSpPr/>
          <p:nvPr/>
        </p:nvSpPr>
        <p:spPr>
          <a:xfrm>
            <a:off x="9473303" y="11743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2634" y="12237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1" name="Shape 29"/>
          <p:cNvSpPr/>
          <p:nvPr/>
        </p:nvSpPr>
        <p:spPr>
          <a:xfrm>
            <a:off x="9691964" y="12703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2" name="Shape 30"/>
          <p:cNvSpPr/>
          <p:nvPr/>
        </p:nvSpPr>
        <p:spPr>
          <a:xfrm>
            <a:off x="9801295" y="131313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3" name="Shape 31"/>
          <p:cNvSpPr/>
          <p:nvPr/>
        </p:nvSpPr>
        <p:spPr>
          <a:xfrm>
            <a:off x="9910625" y="135143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19955" y="138451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29286" y="141175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238616" y="143263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347947" y="144677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8" name="Shape 36"/>
          <p:cNvSpPr/>
          <p:nvPr/>
        </p:nvSpPr>
        <p:spPr>
          <a:xfrm>
            <a:off x="10457277" y="145391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566608" y="145391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675938" y="144677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785268" y="143263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2" name="Shape 40"/>
          <p:cNvSpPr/>
          <p:nvPr/>
        </p:nvSpPr>
        <p:spPr>
          <a:xfrm>
            <a:off x="10894599" y="141175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03929" y="138451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3260" y="135143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5" name="Shape 43"/>
          <p:cNvSpPr/>
          <p:nvPr/>
        </p:nvSpPr>
        <p:spPr>
          <a:xfrm>
            <a:off x="11222590" y="131313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31921" y="12703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41251" y="12237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8" name="Shape 46"/>
          <p:cNvSpPr/>
          <p:nvPr/>
        </p:nvSpPr>
        <p:spPr>
          <a:xfrm>
            <a:off x="11550582" y="11743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59912" y="11230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0" name="Shape 48"/>
          <p:cNvSpPr/>
          <p:nvPr/>
        </p:nvSpPr>
        <p:spPr>
          <a:xfrm>
            <a:off x="11769242" y="107076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21792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Ethics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801100" y="420624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01100" y="420624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· UGM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063886" y="420624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1B2233"/>
          </a:solidFill>
          <a:ln w="12700">
            <a:solidFill>
              <a:srgbClr val="1B223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063886" y="420624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21792" y="148132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Business Ethics</a:t>
            </a:r>
            <a:endParaRPr lang="en-US" sz="1350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181051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Kasus —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621792" y="2286000"/>
            <a:ext cx="74980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Canada’s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Sands</a:t>
            </a:r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5400" dirty="0"/>
          </a:p>
        </p:txBody>
      </p:sp>
      <p:sp>
        <p:nvSpPr>
          <p:cNvPr id="59" name="Text 57"/>
          <p:cNvSpPr txBox="1"/>
          <p:nvPr/>
        </p:nvSpPr>
        <p:spPr>
          <a:xfrm>
            <a:off x="621792" y="411480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on Earth atau Ethical Oil? Satu kasus dianalisis dengan sembilan teori etika normatif.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1792" y="5230368"/>
            <a:ext cx="4114800" cy="713232"/>
          </a:xfrm>
          <a:prstGeom prst="roundRect">
            <a:avLst>
              <a:gd name="adj" fmla="val 20513"/>
            </a:avLst>
          </a:prstGeom>
          <a:solidFill>
            <a:srgbClr val="1B2233"/>
          </a:solidFill>
          <a:ln/>
        </p:spPr>
      </p:sp>
      <p:sp>
        <p:nvSpPr>
          <p:cNvPr id="61" name="Shape 59"/>
          <p:cNvSpPr/>
          <p:nvPr/>
        </p:nvSpPr>
        <p:spPr>
          <a:xfrm>
            <a:off x="621792" y="5285232"/>
            <a:ext cx="54864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77824" y="5367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Aslih Abnuri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877824" y="56144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50992" y="5431536"/>
            <a:ext cx="274320" cy="27432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65" name="Shape 63"/>
          <p:cNvSpPr/>
          <p:nvPr/>
        </p:nvSpPr>
        <p:spPr>
          <a:xfrm>
            <a:off x="6035040" y="5431536"/>
            <a:ext cx="274320" cy="27432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6" name="Shape 64"/>
          <p:cNvSpPr/>
          <p:nvPr/>
        </p:nvSpPr>
        <p:spPr>
          <a:xfrm>
            <a:off x="6419088" y="5431536"/>
            <a:ext cx="274320" cy="27432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67" name="Shape 65"/>
          <p:cNvSpPr/>
          <p:nvPr/>
        </p:nvSpPr>
        <p:spPr>
          <a:xfrm>
            <a:off x="6803136" y="5431536"/>
            <a:ext cx="274320" cy="27432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68" name="Shape 66"/>
          <p:cNvSpPr/>
          <p:nvPr/>
        </p:nvSpPr>
        <p:spPr>
          <a:xfrm>
            <a:off x="7187184" y="5431536"/>
            <a:ext cx="274320" cy="27432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69" name="Shape 67"/>
          <p:cNvSpPr/>
          <p:nvPr/>
        </p:nvSpPr>
        <p:spPr>
          <a:xfrm>
            <a:off x="7571232" y="5431536"/>
            <a:ext cx="274320" cy="27432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70" name="Shape 68"/>
          <p:cNvSpPr/>
          <p:nvPr/>
        </p:nvSpPr>
        <p:spPr>
          <a:xfrm>
            <a:off x="7955280" y="5431536"/>
            <a:ext cx="274320" cy="27432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71" name="Shape 69"/>
          <p:cNvSpPr/>
          <p:nvPr/>
        </p:nvSpPr>
        <p:spPr>
          <a:xfrm>
            <a:off x="8339328" y="5431536"/>
            <a:ext cx="274320" cy="27432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72" name="Shape 70"/>
          <p:cNvSpPr/>
          <p:nvPr/>
        </p:nvSpPr>
        <p:spPr>
          <a:xfrm>
            <a:off x="8723376" y="5431536"/>
            <a:ext cx="274320" cy="274320"/>
          </a:xfrm>
          <a:prstGeom prst="rect">
            <a:avLst/>
          </a:prstGeom>
          <a:solidFill>
            <a:srgbClr val="E86A9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566928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21792" y="1298448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0FA98E"/>
          </a:solidFill>
          <a:ln w="12700">
            <a:solidFill>
              <a:srgbClr val="0FA9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98448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4053" y="1298448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94053" y="1298448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94737" y="1298448"/>
            <a:ext cx="1596542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4737" y="1298448"/>
            <a:ext cx="159654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0151" y="1298448"/>
            <a:ext cx="962863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10151" y="1298448"/>
            <a:ext cx="96286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PUTUSAN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19751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1956816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Analisis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35024" y="2221992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Alasan satu teori tidak memadai untuk kasus ini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" y="2578608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779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2761488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Oil Sands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35024" y="3026664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Objek, skala, dan aktor industrinya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" y="3383280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584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" y="3566160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Pemangku Kepentingan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35024" y="3831336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pihak dengan kepentingan berbenturan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" y="4187952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35024" y="4370832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Narasi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35024" y="4636008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versus ethical oil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" y="4992624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335024" y="5175504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Akibat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35024" y="5440680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 dan utilitarianism pada kasus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" y="5797296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78728" y="19751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91960" y="1956816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Prinsip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91960" y="2221992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Duty, rights, dan justice pada kasus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78728" y="2578608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78728" y="2779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91960" y="2761488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Konteks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991960" y="3026664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Virtue, care, discourse, postmodern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78728" y="3383280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278728" y="3584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91960" y="3566160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Putusan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991960" y="3831336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penilaian atas fakta yang identik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4187952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278728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991960" y="4370832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Klaim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991960" y="4636008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proposisi dari hasil analisis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278728" y="4992624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78728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991960" y="5175504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 Manajerial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991960" y="5440680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Pelajaran kasus dan konteks Indonesia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278728" y="5797296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872338" cy="283464"/>
          </a:xfrm>
          <a:prstGeom prst="roundRect">
            <a:avLst>
              <a:gd name="adj" fmla="val 50000"/>
            </a:avLst>
          </a:prstGeom>
          <a:solidFill>
            <a:srgbClr val="0FA98E"/>
          </a:solidFill>
          <a:ln w="12700">
            <a:solidFill>
              <a:srgbClr val="0FA9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87233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13002" y="457200"/>
            <a:ext cx="1868119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13002" y="457200"/>
            <a:ext cx="186811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PENDEKATAN PRISMA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Analisis Pluralis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tanpa jawaban tunggal menuntut kerangka penilaian yang jamak.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4604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D8CE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96112" y="2194560"/>
            <a:ext cx="479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YANG BIASA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468880"/>
            <a:ext cx="479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Pendekatan Teori Tunggal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07792"/>
            <a:ext cx="47425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direduksi menjadi satu pertimbangan normatif. Kesimpulannya tegas, namun keberatan pihak lain tidak terakomodasi.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23864" y="1975104"/>
            <a:ext cx="5346040" cy="2286000"/>
          </a:xfrm>
          <a:prstGeom prst="roundRect">
            <a:avLst>
              <a:gd name="adj" fmla="val 6400"/>
            </a:avLst>
          </a:prstGeom>
          <a:solidFill>
            <a:srgbClr val="0E162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8184" y="2194560"/>
            <a:ext cx="479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CHAPTER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98184" y="2468880"/>
            <a:ext cx="479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Pendekatan Pluralis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8184" y="2907792"/>
            <a:ext cx="47425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teori menyoroti dimensi yang luput dari teori lain. Yang dicari bukan jawaban tunggal, melainkan pertimbangan yang paling kuat menanggung beban argumen.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407408"/>
            <a:ext cx="10948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 analisis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" y="4818888"/>
            <a:ext cx="182880" cy="18288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Egoism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811414" y="4818888"/>
            <a:ext cx="182880" cy="18288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04022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Utilitarianism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01036" y="4818888"/>
            <a:ext cx="182880" cy="18288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93644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Duty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90659" y="4818888"/>
            <a:ext cx="182880" cy="18288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83267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Rights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80281" y="4818888"/>
            <a:ext cx="182880" cy="18288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72889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Justice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" y="5385816"/>
            <a:ext cx="182880" cy="18288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Virtue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11414" y="5385816"/>
            <a:ext cx="182880" cy="18288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04022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Care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01036" y="5385816"/>
            <a:ext cx="182880" cy="18288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293644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Discourse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190659" y="5385816"/>
            <a:ext cx="182880" cy="182880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83267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Postmodern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" y="5870448"/>
            <a:ext cx="10948111" cy="475488"/>
          </a:xfrm>
          <a:prstGeom prst="roundRect">
            <a:avLst>
              <a:gd name="adj" fmla="val 30769"/>
            </a:avLst>
          </a:prstGeom>
          <a:solidFill>
            <a:srgbClr val="C6F0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" y="6009608"/>
            <a:ext cx="10308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penilaian atas satu rangkaian fakta yang identik. Inilah pendekatan prisma.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KASUS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246681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46681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INDUSTRI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Industri Oil Sands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Campuran pasir, lempung, air, dan bitumen berviskositas tinggi.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pPr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rb km²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Luas deposit di Alberta dengan Fort McMurray sebagai pusat industri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04540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B8A6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23996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2,77</a:t>
            </a:r>
            <a:pPr indent="0" marL="0">
              <a:buNone/>
            </a:pPr>
            <a:r>
              <a:rPr lang="en-US" sz="126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juta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623996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 per hari pada 2017, naik dari 0,5 juta barel pada 1997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7288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0FA98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6744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pPr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 barel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406744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Cadangan terbukti Kanada, terbesar ketiga secara global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70035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C6F0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89491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pPr indent="0" marL="0">
              <a:buNone/>
            </a:pPr>
            <a:r>
              <a:rPr lang="en-US" sz="126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189491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minyak Kanada dengan tujuan Amerika Serikat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023360"/>
            <a:ext cx="10948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Kronologi pengembangan industri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4352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AD4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1920-an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993392" y="4352544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 pertama untuk proses pemisahan komersial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4672584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792" y="47365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A680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1960-an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993392" y="4736592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komersial dimulai, terhambat biaya ekstraksi yang tinggi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" y="5056632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5120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7A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2000-an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993392" y="5120640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Lonjakan harga minyak menarik masuk Shell, Chevron, Total, Exxon, dan CNOOC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1792" y="5440680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1792" y="5504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77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993392" y="5504688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tahunan mencapai puncak di atas 30 miliar dolar Amerika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" y="5824728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792" y="5888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876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2018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993392" y="5888736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terkoreksi dua pertiga menjadi sekitar 10 miliar dolar per tahun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AKTOR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22476" y="457200"/>
            <a:ext cx="1234440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22476" y="457200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PIHAK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Pemangku Kepentingan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teori berikutnya membobot keenam pihak ini secara berbeda.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FF5A2D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56032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Alberta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92608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Penerimaan pajak, penyerapan tenaga kerja, dan kedaulatan energi provinsi.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8218" y="197510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B8A6F5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5962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5962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5962" y="256032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Perusahaan Minyak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5962" y="292608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Suncor, Syncrude, Shell, Chevron, Total, Exxon, dan CNOOC.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54645" y="197510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0FA98E"/>
          </a:solidFill>
          <a:ln/>
        </p:spPr>
      </p:sp>
      <p:sp>
        <p:nvSpPr>
          <p:cNvPr id="21" name="Shape 19"/>
          <p:cNvSpPr/>
          <p:nvPr/>
        </p:nvSpPr>
        <p:spPr>
          <a:xfrm>
            <a:off x="8292389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92389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92389" y="256032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 Fort McMurray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92389" y="292608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Penghidupan langsung bagi 206.000 pekerja beserta keluarganya.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389534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F5B722"/>
          </a:solidFill>
          <a:ln/>
        </p:spPr>
      </p:sp>
      <p:sp>
        <p:nvSpPr>
          <p:cNvPr id="26" name="Shape 24"/>
          <p:cNvSpPr/>
          <p:nvPr/>
        </p:nvSpPr>
        <p:spPr>
          <a:xfrm>
            <a:off x="859536" y="409651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D09D2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536" y="409651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59536" y="448056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Masyarakat Adat Hilir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9536" y="484632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air, perikanan, dan tanah adat sepanjang Sungai Athabasca.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38218" y="389534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0E1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5962" y="409651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5962" y="409651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5962" y="448056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 Lingkungan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5962" y="484632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Club, Greenpeace, Environmental Defence, Pembina Institute.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054645" y="389534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6C7BE0"/>
          </a:solidFill>
          <a:ln/>
        </p:spPr>
      </p:sp>
      <p:sp>
        <p:nvSpPr>
          <p:cNvPr id="36" name="Shape 34"/>
          <p:cNvSpPr/>
          <p:nvPr/>
        </p:nvSpPr>
        <p:spPr>
          <a:xfrm>
            <a:off x="8292389" y="409651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5D6BC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92389" y="409651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92389" y="448056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Generasi Mendatang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92389" y="484632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Menanggung akibat iklim tanpa keterwakilan dalam proses pengambilan keputusan.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1792" y="5797296"/>
            <a:ext cx="10948111" cy="457200"/>
          </a:xfrm>
          <a:prstGeom prst="roundRect">
            <a:avLst>
              <a:gd name="adj" fmla="val 32000"/>
            </a:avLst>
          </a:prstGeom>
          <a:solidFill>
            <a:srgbClr val="F5B72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41832" y="5927312"/>
            <a:ext cx="103080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pihak terakhir tidak terwakili dalam proses pengambilan keputusan. Inilah kelemahan struktural kasus ini.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22476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22476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BERHADAPAN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Narasi Berlawanan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37360"/>
            <a:ext cx="5346040" cy="3657600"/>
          </a:xfrm>
          <a:prstGeom prst="roundRect">
            <a:avLst>
              <a:gd name="adj" fmla="val 4000"/>
            </a:avLst>
          </a:prstGeom>
          <a:solidFill>
            <a:srgbClr val="0E1626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1956816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1956816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PENENTANG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377440"/>
            <a:ext cx="479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on Earth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2724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084832" y="3099816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persen di atas minyak konvensional, 10 persen emisi nasional Kanada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69417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Limbah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084832" y="3666744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beracun 220 kilometer persegi berisi sekitar 1 triliun liter, terindikasi bocor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26110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084832" y="4233672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Hutan boreal seluas Kota New York hilang, reklamasi baru mencapai 11 persen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82803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Proyeksi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084832" y="4800600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Tambahan 50 sampai 150 juta ton emisi per tahun pada 2030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23864" y="1737360"/>
            <a:ext cx="5346040" cy="3657600"/>
          </a:xfrm>
          <a:prstGeom prst="roundRect">
            <a:avLst>
              <a:gd name="adj" fmla="val 4000"/>
            </a:avLst>
          </a:prstGeom>
          <a:solidFill>
            <a:srgbClr val="FF5A2D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8184" y="1956816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8184" y="1956816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PENDUKUNG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498184" y="2377440"/>
            <a:ext cx="479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Oil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498184" y="312724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686904" y="3099816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206.000 orang pada 2017, diproyeksikan menjadi 461.000 pada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98184" y="369417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686904" y="3666744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1,6 triliun sepanjang 2017 sampai 2027, pajak CAD 139 miliar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98184" y="426110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686904" y="4233672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3,3 miliar mengalir ke 399 perusahaan dari 65 komunitas adat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98184" y="482803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Kelola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686904" y="4800600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kelola demokratis dan bebas korupsi, berbeda dari produsen pembanding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" y="5541264"/>
            <a:ext cx="10948111" cy="713232"/>
          </a:xfrm>
          <a:prstGeom prst="roundRect">
            <a:avLst>
              <a:gd name="adj" fmla="val 20513"/>
            </a:avLst>
          </a:prstGeom>
          <a:solidFill>
            <a:srgbClr val="0E162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" y="5683567"/>
            <a:ext cx="103080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kolom merujuk data resmi yang sama sahnya. Sengketanya bukan sengketa fakta, melainkan sengketa kriteria penilaian.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1–2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2411273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241127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 · UTILITARIANISM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Akibat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penilaiannya hasil tindakan, bukan niat atau prosedurnya.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46040" cy="3529584"/>
          </a:xfrm>
          <a:prstGeom prst="roundRect">
            <a:avLst>
              <a:gd name="adj" fmla="val 4145"/>
            </a:avLst>
          </a:prstGeom>
          <a:solidFill>
            <a:srgbClr val="AB463C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BA675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203704"/>
            <a:ext cx="446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42616"/>
            <a:ext cx="487055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E9C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kebijakan ini melayani kepentingan jangka panjang Kanada dan korporasinya?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175508"/>
            <a:ext cx="4870552" cy="167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horizon pendek, jawabannya afirmatif. Penerimaan pajak, penyerapan tenaga kerja, dan kedaulatan energi seluruhnya meningkat.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Persoalannya terletak pada horizon panjang. Biaya iklim tidak terinternalisasi ke dalam harga karena generasi penanggungnya absen dari pasar. Inilah market failure yang diakui egoism sebagai batas teorinya.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" y="4974336"/>
            <a:ext cx="4870552" cy="347472"/>
          </a:xfrm>
          <a:prstGeom prst="roundRect">
            <a:avLst>
              <a:gd name="adj" fmla="val 23684"/>
            </a:avLst>
          </a:prstGeom>
          <a:solidFill>
            <a:srgbClr val="6C333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974336"/>
            <a:ext cx="4724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NETRAL, BATASNYA TERBUKA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23864" y="1975104"/>
            <a:ext cx="5346040" cy="3529584"/>
          </a:xfrm>
          <a:prstGeom prst="roundRect">
            <a:avLst>
              <a:gd name="adj" fmla="val 4145"/>
            </a:avLst>
          </a:prstGeom>
          <a:solidFill>
            <a:srgbClr val="FF5A2D"/>
          </a:solidFill>
          <a:ln/>
        </p:spPr>
      </p:sp>
      <p:sp>
        <p:nvSpPr>
          <p:cNvPr id="19" name="Shape 17"/>
          <p:cNvSpPr/>
          <p:nvPr/>
        </p:nvSpPr>
        <p:spPr>
          <a:xfrm>
            <a:off x="6461608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FF785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1608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863944" y="2203704"/>
            <a:ext cx="446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Utilitarianism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2642616"/>
            <a:ext cx="487055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FFD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seluruh akibat bagi semua pihak diagregasi, apakah hasilnya positif?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61608" y="3175508"/>
            <a:ext cx="4870552" cy="167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utilitarianism cenderung mendukung. Manfaat 206.000 lapangan kerja bersifat nyata dan terukur, sedangkan kerugiannya tersebar dan sulit dikuantifikasi.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utilitarianism menolak. Bila kelas tindakan ini menjadi aturan umum, target Paris menjadi mustahil dan kerugiannya melampaui manfaat mana pun.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61608" y="4974336"/>
            <a:ext cx="4870552" cy="347472"/>
          </a:xfrm>
          <a:prstGeom prst="roundRect">
            <a:avLst>
              <a:gd name="adj" fmla="val 23684"/>
            </a:avLst>
          </a:prstGeom>
          <a:solidFill>
            <a:srgbClr val="9F3F2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34760" y="4974336"/>
            <a:ext cx="4724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TERBELAH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" y="5669280"/>
            <a:ext cx="10948111" cy="457200"/>
          </a:xfrm>
          <a:prstGeom prst="roundRect">
            <a:avLst>
              <a:gd name="adj" fmla="val 32000"/>
            </a:avLst>
          </a:prstGeom>
          <a:solidFill>
            <a:srgbClr val="C6F0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832" y="5799296"/>
            <a:ext cx="103080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teori sekeluarga menghasilkan kesimpulan berbeda. Pemisahnya semata unit analisis.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3–5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2411273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241127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· RIGHTS · JUSTICE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Prinsip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penilaiannya kewajiban, hak, dan keadilan distributif.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503066" cy="3931920"/>
          </a:xfrm>
          <a:prstGeom prst="roundRect">
            <a:avLst>
              <a:gd name="adj" fmla="val 4176"/>
            </a:avLst>
          </a:prstGeom>
          <a:solidFill>
            <a:srgbClr val="F5B722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CB9A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203704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Duty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42616"/>
            <a:ext cx="3027578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534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Dapatkah prinsip yang dianut Kanada diuniversalkan ke seluruh negara?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175508"/>
            <a:ext cx="3027578" cy="2073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Kanada memegang cadangan terbukti terbesar ketiga. Bila Venezuela, Arab Saudi, Iran, dan Irak menerapkan prinsip identik, tidak tersisa anggaran karbon global.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Maksim tersebut gagal diuniversalkan. Kegagalan ini memadai untuk membatalkannya menurut Kant.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" y="5376672"/>
            <a:ext cx="3027578" cy="347472"/>
          </a:xfrm>
          <a:prstGeom prst="roundRect">
            <a:avLst>
              <a:gd name="adj" fmla="val 23684"/>
            </a:avLst>
          </a:prstGeom>
          <a:solidFill>
            <a:srgbClr val="D09D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5376672"/>
            <a:ext cx="2881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344314" y="1975104"/>
            <a:ext cx="3503066" cy="3931920"/>
          </a:xfrm>
          <a:prstGeom prst="roundRect">
            <a:avLst>
              <a:gd name="adj" fmla="val 4176"/>
            </a:avLst>
          </a:prstGeom>
          <a:solidFill>
            <a:srgbClr val="C6F04A"/>
          </a:solidFill>
          <a:ln/>
        </p:spPr>
      </p:sp>
      <p:sp>
        <p:nvSpPr>
          <p:cNvPr id="19" name="Shape 17"/>
          <p:cNvSpPr/>
          <p:nvPr/>
        </p:nvSpPr>
        <p:spPr>
          <a:xfrm>
            <a:off x="4582058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A5C9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2058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84394" y="2203704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Rights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82058" y="2642616"/>
            <a:ext cx="3027578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455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siapa yang wajib dipertimbangkan, dan apakah martabatnya dihormati?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82058" y="3175508"/>
            <a:ext cx="3027578" cy="2073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23 UDHR mendukung: hak atas pekerjaan dan kondisi kerja yang adil terpenuhi bagi 206.000 pekerja.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Sebaliknya, hak atas kesehatan komunitas hilir Athabasca dan hak atas tanah adat terlanggar. Prinsip Ruggie menuntut penghormatan hak pada seluruh relasi bisnis.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82058" y="5376672"/>
            <a:ext cx="3027578" cy="347472"/>
          </a:xfrm>
          <a:prstGeom prst="roundRect">
            <a:avLst>
              <a:gd name="adj" fmla="val 23684"/>
            </a:avLst>
          </a:prstGeom>
          <a:solidFill>
            <a:srgbClr val="A9CD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55210" y="5376672"/>
            <a:ext cx="2881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BERSYARAT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66837" y="1975104"/>
            <a:ext cx="3503066" cy="3931920"/>
          </a:xfrm>
          <a:prstGeom prst="roundRect">
            <a:avLst>
              <a:gd name="adj" fmla="val 4176"/>
            </a:avLst>
          </a:prstGeom>
          <a:solidFill>
            <a:srgbClr val="0FA98E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4581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3AB8A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04581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706917" y="2203704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Justice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04581" y="2642616"/>
            <a:ext cx="302757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C1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apa yang dipilih tanpa mengetahui posisi sosial yang akan ditempati?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304581" y="3359658"/>
            <a:ext cx="3027578" cy="1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 secara nasional, sedangkan beban terkonsentrasi pada komunitas hilir dan generasi mendatang.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 pertama Rawls tidak terpenuhi: kebebasan dasar atas air bersih dan kesehatan tidak merata, sehingga ketimpangan berikutnya tidak dapat dibenarkan.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4581" y="5376672"/>
            <a:ext cx="3027578" cy="347472"/>
          </a:xfrm>
          <a:prstGeom prst="roundRect">
            <a:avLst>
              <a:gd name="adj" fmla="val 23684"/>
            </a:avLst>
          </a:prstGeom>
          <a:solidFill>
            <a:srgbClr val="0F6E6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7733" y="5376672"/>
            <a:ext cx="2881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6–9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2320747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232074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TEORI ALTERNATIF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Konteks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penilaiannya karakter pelaku, relasi, prosedur, dan bahasa.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4EA8DE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428EB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203704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Ethics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426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214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aktor berkarakter baik bertindak pada posisi ini?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359658"/>
            <a:ext cx="2124380" cy="1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diri terhadap produsen terburuk merupakan standar terendah. Aktor berkarakter baik mengacu pada standar tertinggi.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4491C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FRAMING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04540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6C7BE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42284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8693E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42284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044620" y="2203704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 of Care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642284" y="26426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D9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mana yang memelihara relasi dengan pihak terdampak?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642284" y="3359658"/>
            <a:ext cx="2124380" cy="1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Komunitas hilir dan generasi mendatang merupakan pihak berelasi, bukan variabel biaya. Yang dituntut transisi yang adil, bukan penghentian mendadak.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42284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4653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15436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TRANSISI ADIL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87288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B8A6F5"/>
          </a:solidFill>
          <a:ln/>
        </p:spPr>
      </p:sp>
      <p:sp>
        <p:nvSpPr>
          <p:cNvPr id="27" name="Shape 25"/>
          <p:cNvSpPr/>
          <p:nvPr/>
        </p:nvSpPr>
        <p:spPr>
          <a:xfrm>
            <a:off x="6425032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998CD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25032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27368" y="2203704"/>
            <a:ext cx="1722044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Discourse Ethics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25032" y="28331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414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apa yang dapat dirumuskan melalui deliberasi terbuka?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25032" y="3550158"/>
            <a:ext cx="2124380" cy="1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berpendanaan industri. Syarat imparsialitas dan bebas manipulasi persuasif tidak terpenuhi.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25032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9D8FD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98184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PROSES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970035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E86A9B"/>
          </a:solidFill>
          <a:ln/>
        </p:spPr>
      </p:sp>
      <p:sp>
        <p:nvSpPr>
          <p:cNvPr id="35" name="Shape 33"/>
          <p:cNvSpPr/>
          <p:nvPr/>
        </p:nvSpPr>
        <p:spPr>
          <a:xfrm>
            <a:off x="9207779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EC85A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07779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610115" y="2203704"/>
            <a:ext cx="1722044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Postmodern Ethics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207779" y="28331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F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Kepentingan siapa yang dilayani oleh pemilihan istilah?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207779" y="3550158"/>
            <a:ext cx="2124380" cy="1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sands berkonotasi netral, tar sands berkonotasi merusak. Perebutan istilah menunjukkan bahasa turut membentuk penilaian moral.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9207779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91486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80931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ABSOLUT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PUTUSAN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Sembilan Lensa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19072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719072"/>
            <a:ext cx="128016" cy="420624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171907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Egoism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035808" y="171907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iklim tidak terinternalisasi karena generasi mendatang absen dari pasar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528048" y="1719072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B4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" y="2212848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2212848"/>
            <a:ext cx="128016" cy="42062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221284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Utilitarianism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035808" y="22128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mendukung manfaat kini, rule menolak karena target Paris menjadi mustahil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528048" y="2212848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Terbelah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" y="2706624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" y="2706624"/>
            <a:ext cx="128016" cy="420624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" y="27066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Ethics of Duty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035808" y="270662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Prinsipnya gagal diuniversalkan pada seluruh pemilik cadangan terbesar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28048" y="2706624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47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" y="3200400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200400"/>
            <a:ext cx="128016" cy="420624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32688" y="32004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Ethics of Rights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035808" y="320040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atas pekerjaan terpenuhi, hak atas kesehatan dan tanah adat terlanggar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528048" y="3200400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9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Bersyarat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" y="3694176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21792" y="3694176"/>
            <a:ext cx="128016" cy="42062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32688" y="369417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Justice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035808" y="369417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tersebar, beban terkonsentrasi. Kriteria pertama Rawls tidak terpenuhi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28048" y="3694176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A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" y="4187952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" y="4187952"/>
            <a:ext cx="128016" cy="420624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32688" y="418795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Virtue Ethics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035808" y="41879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diri terhadap produsen terburuk merupakan standar terendah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528048" y="4187952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3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framing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" y="4681728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4681728"/>
            <a:ext cx="128016" cy="420624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2688" y="46817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Ethic of Care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035808" y="468172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Komunitas hilir dan generasi mendatang merupakan relasi, bukan variabel biaya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28048" y="4681728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C7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Transisi adil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" y="5175504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21792" y="5175504"/>
            <a:ext cx="128016" cy="42062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32688" y="517550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Discourse Ethics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035808" y="517550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berpendanaan industri, imparsialitas gagal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528048" y="5175504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16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proses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1792" y="5669280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" y="5669280"/>
            <a:ext cx="128016" cy="420624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2688" y="56692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Postmodern Ethics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035808" y="566928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Perebutan istilah oil sands dan tar sands menunjukkan bahasa membentuk moral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9528048" y="5669280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C4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absolut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621792" y="6199632"/>
            <a:ext cx="10948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satu pun berbunyi mendukung tanpa syarat. Enam menolak, dua bersyarat, satu netral karena mengakui batas teorinya sendiri.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962863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96286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03527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03527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PROPOSISI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Klaim Ethical Oil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proposisi yang diturunkan dari kesembilan lensa.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1975104"/>
            <a:ext cx="566928" cy="87782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1975104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2057400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Perbandingan Komparatif Tidak Bernilai Normatif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2295144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Keburukan Venezuela dan Arab Saudi tidak membenarkan tindakan Kanada. Virtue ethics mengategorikannya sebagai pengukuran pada standar terendah.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" y="2944368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44368"/>
            <a:ext cx="566928" cy="87782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44368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026664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Cacat Prosedural Sejak Awal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3264408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berpendanaan industri. Discourse ethics membatalkannya karena syarat imparsialitas tidak terpenuhi.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" y="3913632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21792" y="3913632"/>
            <a:ext cx="566928" cy="87782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" y="3913632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3995928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Manfaat dan Beban Tidak Simetris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4233672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 nasional, beban terkonsentrasi pada komunitas hilir dan generasi mendatang. Rawls menolak susunan distributif semacam ini.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" y="4882896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" y="4882896"/>
            <a:ext cx="566928" cy="877824"/>
          </a:xfrm>
          <a:prstGeom prst="rect">
            <a:avLst/>
          </a:prstGeom>
          <a:solidFill>
            <a:srgbClr val="0E16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" y="4882896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389888" y="4965192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Prinsipnya Gugur Ketika Diuniversalkan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5202936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seluruh pemilik cadangan terbesar bertindak identik, tidak tersisa anggaran karbon global. Uji Kant gagal pada titik ini.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" y="5888736"/>
            <a:ext cx="10948111" cy="457200"/>
          </a:xfrm>
          <a:prstGeom prst="roundRect">
            <a:avLst>
              <a:gd name="adj" fmla="val 32000"/>
            </a:avLst>
          </a:prstGeom>
          <a:solidFill>
            <a:srgbClr val="C6F0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41832" y="6018752"/>
            <a:ext cx="103080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Penolakan atas klaim ethical oil tidak setara dengan tuntutan penghentian operasi. Keduanya persoalan terpisah.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0FA98E"/>
          </a:solidFill>
          <a:ln w="12700">
            <a:solidFill>
              <a:srgbClr val="0FA9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PENERAPAN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PELAJARAN KASUS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 Manajerial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847088"/>
            <a:ext cx="3503066" cy="2157984"/>
          </a:xfrm>
          <a:prstGeom prst="roundRect">
            <a:avLst>
              <a:gd name="adj" fmla="val 6780"/>
            </a:avLst>
          </a:prstGeom>
          <a:solidFill>
            <a:srgbClr val="FF5A2D"/>
          </a:solidFill>
          <a:ln/>
        </p:spPr>
      </p:sp>
      <p:sp>
        <p:nvSpPr>
          <p:cNvPr id="10" name="Shape 8"/>
          <p:cNvSpPr/>
          <p:nvPr/>
        </p:nvSpPr>
        <p:spPr>
          <a:xfrm>
            <a:off x="859536" y="204825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20482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43230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dengan Beberapa Teori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798064"/>
            <a:ext cx="302757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yang lolos satu teori kerap gugur pada teori kedua. Sembilan pertimbangan etis berfungsi sebagai daftar periksa, bukan prosedur berurutan.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4314" y="1847088"/>
            <a:ext cx="3503066" cy="2157984"/>
          </a:xfrm>
          <a:prstGeom prst="roundRect">
            <a:avLst>
              <a:gd name="adj" fmla="val 6780"/>
            </a:avLst>
          </a:prstGeom>
          <a:solidFill>
            <a:srgbClr val="B8A6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2058" y="204825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82058" y="20482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82058" y="243230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Pihak Absen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2798064"/>
            <a:ext cx="302757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Generasi mendatang dan komunitas hilir tidak terwakili. Keputusan yang mengabaikannya rapuh secara moral sekaligus reputasional.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6837" y="1847088"/>
            <a:ext cx="3503066" cy="2157984"/>
          </a:xfrm>
          <a:prstGeom prst="roundRect">
            <a:avLst>
              <a:gd name="adj" fmla="val 6780"/>
            </a:avLst>
          </a:prstGeom>
          <a:solidFill>
            <a:srgbClr val="0FA98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04581" y="204825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4581" y="20482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304581" y="243230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Cermati Pilihan Istilah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04581" y="2798064"/>
            <a:ext cx="302757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sands atau tar sands, hilirisasi atau ekstraksi. Pilihan kata membentuk penilaian sebelum data dianalisis.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" y="4206240"/>
            <a:ext cx="10948111" cy="1883664"/>
          </a:xfrm>
          <a:prstGeom prst="roundRect">
            <a:avLst>
              <a:gd name="adj" fmla="val 7767"/>
            </a:avLst>
          </a:prstGeom>
          <a:solidFill>
            <a:srgbClr val="0E162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389120"/>
            <a:ext cx="1868119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389120"/>
            <a:ext cx="186811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INDONESIA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791456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Hilirisasi Nikel di Morowali dan Weda Bay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157216"/>
            <a:ext cx="103263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dilemanya nyaris identik. Manfaat ekonominya besar dan terukur, biaya lingkungan dan sosialnya tersebar dan sulit dikuantifikasi. Narasi pembenarnya setara: nikel Indonesia dibutuhkan bagi transisi energi global.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705856"/>
            <a:ext cx="10326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narasi nikel yang etis lolos dari kerangka uji yang sama?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962863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96286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03527" y="457200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03527" y="457200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TEMUAN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Simpulan Analisis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847088"/>
            <a:ext cx="10948111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847088"/>
            <a:ext cx="566928" cy="10607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" y="1847088"/>
            <a:ext cx="5669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1929384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Konvergensi, Bukan Kesepakatan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2167128"/>
            <a:ext cx="99422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teori berangkat dari premis berbeda, namun enam di antaranya menghasilkan arah yang sama. Konvergensi dari titik masuk berbeda inilah bukti terkuat yang dapat dihasilkan pluralism.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" y="3017520"/>
            <a:ext cx="10948111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3017520"/>
            <a:ext cx="566928" cy="106070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3017520"/>
            <a:ext cx="5669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099816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Klaimnya yang Gugur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337560"/>
            <a:ext cx="99422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gugur bukan industrinya, melainkan klaim bahwa industri ini etis. Persoalan transisi, kompensasi, dan reklamasi tetap terbuka.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" y="4187952"/>
            <a:ext cx="10948111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" y="4187952"/>
            <a:ext cx="566928" cy="1060704"/>
          </a:xfrm>
          <a:prstGeom prst="rect">
            <a:avLst/>
          </a:prstGeom>
          <a:solidFill>
            <a:srgbClr val="0E16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4187952"/>
            <a:ext cx="5669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4270248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Bekerja pada Kasus Nyata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4507992"/>
            <a:ext cx="99422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tunggal menghasilkan jawaban yang rapi namun menyesatkan. Prisma menghasilkan spektrum yang tidak nyaman, tetapi dapat dipertanggungjawabkan kepada seluruh pihak terdampak.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" y="5431536"/>
            <a:ext cx="10948111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5486400"/>
            <a:ext cx="50292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" y="5522976"/>
            <a:ext cx="10399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yang baik bukan yang menemukan teori paling sahih, melainkan yang menyadari seluruh spektrum pertimbangan.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4" name="Shape 2"/>
          <p:cNvSpPr/>
          <p:nvPr/>
        </p:nvSpPr>
        <p:spPr>
          <a:xfrm>
            <a:off x="7014362" y="216804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" name="Shape 3"/>
          <p:cNvSpPr/>
          <p:nvPr/>
        </p:nvSpPr>
        <p:spPr>
          <a:xfrm>
            <a:off x="7117729" y="211076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6" name="Shape 4"/>
          <p:cNvSpPr/>
          <p:nvPr/>
        </p:nvSpPr>
        <p:spPr>
          <a:xfrm>
            <a:off x="7221096" y="205455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7" name="Shape 5"/>
          <p:cNvSpPr/>
          <p:nvPr/>
        </p:nvSpPr>
        <p:spPr>
          <a:xfrm>
            <a:off x="7324463" y="200046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8" name="Shape 6"/>
          <p:cNvSpPr/>
          <p:nvPr/>
        </p:nvSpPr>
        <p:spPr>
          <a:xfrm>
            <a:off x="7427830" y="1949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9" name="Shape 7"/>
          <p:cNvSpPr/>
          <p:nvPr/>
        </p:nvSpPr>
        <p:spPr>
          <a:xfrm>
            <a:off x="7531197" y="1902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0" name="Shape 8"/>
          <p:cNvSpPr/>
          <p:nvPr/>
        </p:nvSpPr>
        <p:spPr>
          <a:xfrm>
            <a:off x="7634564" y="186063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1" name="Shape 9"/>
          <p:cNvSpPr/>
          <p:nvPr/>
        </p:nvSpPr>
        <p:spPr>
          <a:xfrm>
            <a:off x="7737931" y="18244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2" name="Shape 10"/>
          <p:cNvSpPr/>
          <p:nvPr/>
        </p:nvSpPr>
        <p:spPr>
          <a:xfrm>
            <a:off x="7841298" y="17945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3" name="Shape 11"/>
          <p:cNvSpPr/>
          <p:nvPr/>
        </p:nvSpPr>
        <p:spPr>
          <a:xfrm>
            <a:off x="7944665" y="17717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8032" y="175621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5" name="Shape 13"/>
          <p:cNvSpPr/>
          <p:nvPr/>
        </p:nvSpPr>
        <p:spPr>
          <a:xfrm>
            <a:off x="8151399" y="174839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6" name="Shape 14"/>
          <p:cNvSpPr/>
          <p:nvPr/>
        </p:nvSpPr>
        <p:spPr>
          <a:xfrm>
            <a:off x="8254766" y="174839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7" name="Shape 15"/>
          <p:cNvSpPr/>
          <p:nvPr/>
        </p:nvSpPr>
        <p:spPr>
          <a:xfrm>
            <a:off x="8358133" y="175621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1500" y="17717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9" name="Shape 17"/>
          <p:cNvSpPr/>
          <p:nvPr/>
        </p:nvSpPr>
        <p:spPr>
          <a:xfrm>
            <a:off x="8564867" y="17945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0" name="Shape 18"/>
          <p:cNvSpPr/>
          <p:nvPr/>
        </p:nvSpPr>
        <p:spPr>
          <a:xfrm>
            <a:off x="8668234" y="18244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1" name="Shape 19"/>
          <p:cNvSpPr/>
          <p:nvPr/>
        </p:nvSpPr>
        <p:spPr>
          <a:xfrm>
            <a:off x="8771601" y="186063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2" name="Shape 20"/>
          <p:cNvSpPr/>
          <p:nvPr/>
        </p:nvSpPr>
        <p:spPr>
          <a:xfrm>
            <a:off x="8874968" y="1902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3" name="Shape 21"/>
          <p:cNvSpPr/>
          <p:nvPr/>
        </p:nvSpPr>
        <p:spPr>
          <a:xfrm>
            <a:off x="8978335" y="1949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4" name="Shape 22"/>
          <p:cNvSpPr/>
          <p:nvPr/>
        </p:nvSpPr>
        <p:spPr>
          <a:xfrm>
            <a:off x="9081702" y="200046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5068" y="205455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6" name="Shape 24"/>
          <p:cNvSpPr/>
          <p:nvPr/>
        </p:nvSpPr>
        <p:spPr>
          <a:xfrm>
            <a:off x="9288435" y="211076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7" name="Shape 25"/>
          <p:cNvSpPr/>
          <p:nvPr/>
        </p:nvSpPr>
        <p:spPr>
          <a:xfrm>
            <a:off x="9391802" y="216804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8" name="Shape 26"/>
          <p:cNvSpPr/>
          <p:nvPr/>
        </p:nvSpPr>
        <p:spPr>
          <a:xfrm>
            <a:off x="9495169" y="22253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98536" y="228152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0" name="Shape 28"/>
          <p:cNvSpPr/>
          <p:nvPr/>
        </p:nvSpPr>
        <p:spPr>
          <a:xfrm>
            <a:off x="9701903" y="233561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1" name="Shape 29"/>
          <p:cNvSpPr/>
          <p:nvPr/>
        </p:nvSpPr>
        <p:spPr>
          <a:xfrm>
            <a:off x="9805270" y="2386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2" name="Shape 30"/>
          <p:cNvSpPr/>
          <p:nvPr/>
        </p:nvSpPr>
        <p:spPr>
          <a:xfrm>
            <a:off x="9908637" y="2433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12004" y="247545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15371" y="25116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5" name="Shape 33"/>
          <p:cNvSpPr/>
          <p:nvPr/>
        </p:nvSpPr>
        <p:spPr>
          <a:xfrm>
            <a:off x="10218738" y="25415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22105" y="25643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425472" y="257986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8" name="Shape 36"/>
          <p:cNvSpPr/>
          <p:nvPr/>
        </p:nvSpPr>
        <p:spPr>
          <a:xfrm>
            <a:off x="10528839" y="25876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632206" y="25876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735573" y="257986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838940" y="25643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2" name="Shape 40"/>
          <p:cNvSpPr/>
          <p:nvPr/>
        </p:nvSpPr>
        <p:spPr>
          <a:xfrm>
            <a:off x="10942307" y="25415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45674" y="25116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49041" y="247545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5" name="Shape 43"/>
          <p:cNvSpPr/>
          <p:nvPr/>
        </p:nvSpPr>
        <p:spPr>
          <a:xfrm>
            <a:off x="11252408" y="2433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55775" y="2386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59142" y="233561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8" name="Shape 46"/>
          <p:cNvSpPr/>
          <p:nvPr/>
        </p:nvSpPr>
        <p:spPr>
          <a:xfrm>
            <a:off x="11562508" y="228152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65875" y="22253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0" name="Shape 48"/>
          <p:cNvSpPr/>
          <p:nvPr/>
        </p:nvSpPr>
        <p:spPr>
          <a:xfrm>
            <a:off x="11769242" y="216804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21792" y="17373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200" dirty="0"/>
          </a:p>
        </p:txBody>
      </p:sp>
      <p:sp>
        <p:nvSpPr>
          <p:cNvPr id="52" name="Text 50"/>
          <p:cNvSpPr txBox="1"/>
          <p:nvPr/>
        </p:nvSpPr>
        <p:spPr>
          <a:xfrm>
            <a:off x="621792" y="33832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 atas satu kasus tanpa jawaban tunggal. Kondisi inilah yang menjadikan kasus ini layak didiskusikan.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21792" y="4352544"/>
            <a:ext cx="274320" cy="27432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5840" y="4352544"/>
            <a:ext cx="274320" cy="27432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55" name="Shape 53"/>
          <p:cNvSpPr/>
          <p:nvPr/>
        </p:nvSpPr>
        <p:spPr>
          <a:xfrm>
            <a:off x="1389888" y="4352544"/>
            <a:ext cx="274320" cy="27432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56" name="Shape 54"/>
          <p:cNvSpPr/>
          <p:nvPr/>
        </p:nvSpPr>
        <p:spPr>
          <a:xfrm>
            <a:off x="1773936" y="4352544"/>
            <a:ext cx="274320" cy="27432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57" name="Shape 55"/>
          <p:cNvSpPr/>
          <p:nvPr/>
        </p:nvSpPr>
        <p:spPr>
          <a:xfrm>
            <a:off x="2157984" y="4352544"/>
            <a:ext cx="274320" cy="27432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58" name="Shape 56"/>
          <p:cNvSpPr/>
          <p:nvPr/>
        </p:nvSpPr>
        <p:spPr>
          <a:xfrm>
            <a:off x="2542032" y="4352544"/>
            <a:ext cx="274320" cy="27432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59" name="Shape 57"/>
          <p:cNvSpPr/>
          <p:nvPr/>
        </p:nvSpPr>
        <p:spPr>
          <a:xfrm>
            <a:off x="2926080" y="4352544"/>
            <a:ext cx="274320" cy="27432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60" name="Shape 58"/>
          <p:cNvSpPr/>
          <p:nvPr/>
        </p:nvSpPr>
        <p:spPr>
          <a:xfrm>
            <a:off x="3310128" y="4352544"/>
            <a:ext cx="274320" cy="27432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61" name="Shape 59"/>
          <p:cNvSpPr/>
          <p:nvPr/>
        </p:nvSpPr>
        <p:spPr>
          <a:xfrm>
            <a:off x="3694176" y="4352544"/>
            <a:ext cx="274320" cy="274320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62" name="Shape 60"/>
          <p:cNvSpPr/>
          <p:nvPr/>
        </p:nvSpPr>
        <p:spPr>
          <a:xfrm>
            <a:off x="621792" y="5029200"/>
            <a:ext cx="4114800" cy="713232"/>
          </a:xfrm>
          <a:prstGeom prst="roundRect">
            <a:avLst>
              <a:gd name="adj" fmla="val 20513"/>
            </a:avLst>
          </a:prstGeom>
          <a:solidFill>
            <a:srgbClr val="1B2233"/>
          </a:solidFill>
          <a:ln/>
        </p:spPr>
      </p:sp>
      <p:sp>
        <p:nvSpPr>
          <p:cNvPr id="63" name="Shape 61"/>
          <p:cNvSpPr/>
          <p:nvPr/>
        </p:nvSpPr>
        <p:spPr>
          <a:xfrm>
            <a:off x="621792" y="5084064"/>
            <a:ext cx="54864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77824" y="5166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Aslih Abnuri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877824" y="54132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21792" y="6053328"/>
            <a:ext cx="10948111" cy="10058"/>
          </a:xfrm>
          <a:prstGeom prst="rect">
            <a:avLst/>
          </a:prstGeom>
          <a:solidFill>
            <a:srgbClr val="28304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21792" y="61996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Ethics · Analisis Kasus Canada’s Oil Sands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083503" y="6199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· Universitas Gadjah Mada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Canada’s Oil Sands</dc:title>
  <dc:subject>Business Ethics Chapter 3 · Analisis Kasus</dc:subject>
  <dc:creator>Aslih Abnuri</dc:creator>
  <cp:lastModifiedBy>Aslih Abnuri</cp:lastModifiedBy>
  <cp:revision>1</cp:revision>
  <dcterms:created xsi:type="dcterms:W3CDTF">2026-08-26T13:06:22Z</dcterms:created>
  <dcterms:modified xsi:type="dcterms:W3CDTF">2026-08-26T13:06:22Z</dcterms:modified>
</cp:coreProperties>
</file>