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ini kebalikan dari deck materi. Di sini kasusnya yang jadi tulang punggung, teorinya dipakai sebagai alat bedah.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Sepuluh bagian. Bagian 5 sampai 7 adalah inti analisisnya, masing-masing memakai teori yang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sejak awal: tujuan analisis ini bukan memenangkan satu pihak, melainkan memetakan seluruh pertimbangan.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paradoksnya: investasi turun sejak 2018, tetapi produksinya terus naik setiap tahun. Ketegangan itulah yang membuat kasus ini belum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ke kelas: dari enam pihak ini, siapa yang paling menentukan keputusan, dan siapa yang paling menanggung akibat? Jawabannya tidak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penutup ini yang menjustifikasi seluruh analisis berikutnya. Kalau sengketanya soal nilai, maka teori nilailah alat yang tepat.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kedua kesimpulan sama-sama sah secara internal. Yang membedakan hanya unit analisisnya: tindakan tunggal atau kelas tindakan.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Rawls adalah lensa paling tajam di sini. Ingat urutan kriterianya: kebebasan dasar dulu, baru difference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Discourse ethics adalah lensa yang paling praktis untuk sengketa lingkungan korporasi, karena menyerang cara keputusan dibuat, bukan isinya.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inilah temuannya. Bukan satu putusan, melainkan konvergensi: sembilan pintu masuk berbeda menghasilkan arah yang mirip.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Penting: analisis ini menolak klaimnya, bukan menuntut penutupan industrinya. Bedakan dua hal itu di depan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bagian ini dengan pertanyaan Rawls versi Indonesia: siapa yang menikmati manfaatnya, siapa yang menanggung bebannya, dan apakah keduanya pihak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atas pertanyaan pembuka. Setelah sembilan teori kita tetap tidak punya satu jawaban, dan itu memang yang dijanjikan bab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sesi tanya jawab dengan pertanyaan Rawls: aturan apa yang Anda pilih bila tidak tahu akan terlahir sebagai siapa?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FF5A2D"/>
          </a:solidFill>
          <a:ln/>
        </p:spPr>
      </p:sp>
      <p:sp>
        <p:nvSpPr>
          <p:cNvPr id="3" name="Shape 1"/>
          <p:cNvSpPr/>
          <p:nvPr/>
        </p:nvSpPr>
        <p:spPr>
          <a:xfrm>
            <a:off x="0" y="6327648"/>
            <a:ext cx="530352" cy="530352"/>
          </a:xfrm>
          <a:prstGeom prst="rect">
            <a:avLst/>
          </a:prstGeom>
          <a:solidFill>
            <a:srgbClr val="C6F04A"/>
          </a:solidFill>
          <a:ln/>
        </p:spPr>
      </p:sp>
      <p:sp>
        <p:nvSpPr>
          <p:cNvPr id="4" name="Shape 2"/>
          <p:cNvSpPr/>
          <p:nvPr/>
        </p:nvSpPr>
        <p:spPr>
          <a:xfrm>
            <a:off x="6740042" y="1070762"/>
            <a:ext cx="53035" cy="53035"/>
          </a:xfrm>
          <a:prstGeom prst="ellipse">
            <a:avLst/>
          </a:prstGeom>
          <a:solidFill>
            <a:srgbClr val="283044"/>
          </a:solidFill>
          <a:ln/>
        </p:spPr>
      </p:sp>
      <p:sp>
        <p:nvSpPr>
          <p:cNvPr id="5" name="Shape 3"/>
          <p:cNvSpPr/>
          <p:nvPr/>
        </p:nvSpPr>
        <p:spPr>
          <a:xfrm>
            <a:off x="6849373" y="1018468"/>
            <a:ext cx="53035" cy="53035"/>
          </a:xfrm>
          <a:prstGeom prst="ellipse">
            <a:avLst/>
          </a:prstGeom>
          <a:solidFill>
            <a:srgbClr val="283044"/>
          </a:solidFill>
          <a:ln/>
        </p:spPr>
      </p:sp>
      <p:sp>
        <p:nvSpPr>
          <p:cNvPr id="6" name="Shape 4"/>
          <p:cNvSpPr/>
          <p:nvPr/>
        </p:nvSpPr>
        <p:spPr>
          <a:xfrm>
            <a:off x="6958703" y="967147"/>
            <a:ext cx="53035" cy="53035"/>
          </a:xfrm>
          <a:prstGeom prst="ellipse">
            <a:avLst/>
          </a:prstGeom>
          <a:solidFill>
            <a:srgbClr val="283044"/>
          </a:solidFill>
          <a:ln/>
        </p:spPr>
      </p:sp>
      <p:sp>
        <p:nvSpPr>
          <p:cNvPr id="7" name="Shape 5"/>
          <p:cNvSpPr/>
          <p:nvPr/>
        </p:nvSpPr>
        <p:spPr>
          <a:xfrm>
            <a:off x="7068034" y="917757"/>
            <a:ext cx="53035" cy="53035"/>
          </a:xfrm>
          <a:prstGeom prst="ellipse">
            <a:avLst/>
          </a:prstGeom>
          <a:solidFill>
            <a:srgbClr val="283044"/>
          </a:solidFill>
          <a:ln/>
        </p:spPr>
      </p:sp>
      <p:sp>
        <p:nvSpPr>
          <p:cNvPr id="8" name="Shape 6"/>
          <p:cNvSpPr/>
          <p:nvPr/>
        </p:nvSpPr>
        <p:spPr>
          <a:xfrm>
            <a:off x="7177364" y="871217"/>
            <a:ext cx="53035" cy="53035"/>
          </a:xfrm>
          <a:prstGeom prst="ellipse">
            <a:avLst/>
          </a:prstGeom>
          <a:solidFill>
            <a:srgbClr val="283044"/>
          </a:solidFill>
          <a:ln/>
        </p:spPr>
      </p:sp>
      <p:sp>
        <p:nvSpPr>
          <p:cNvPr id="9" name="Shape 7"/>
          <p:cNvSpPr/>
          <p:nvPr/>
        </p:nvSpPr>
        <p:spPr>
          <a:xfrm>
            <a:off x="7286695" y="828394"/>
            <a:ext cx="53035" cy="53035"/>
          </a:xfrm>
          <a:prstGeom prst="ellipse">
            <a:avLst/>
          </a:prstGeom>
          <a:solidFill>
            <a:srgbClr val="283044"/>
          </a:solidFill>
          <a:ln/>
        </p:spPr>
      </p:sp>
      <p:sp>
        <p:nvSpPr>
          <p:cNvPr id="10" name="Shape 8"/>
          <p:cNvSpPr/>
          <p:nvPr/>
        </p:nvSpPr>
        <p:spPr>
          <a:xfrm>
            <a:off x="7396025" y="790086"/>
            <a:ext cx="53035" cy="53035"/>
          </a:xfrm>
          <a:prstGeom prst="ellipse">
            <a:avLst/>
          </a:prstGeom>
          <a:solidFill>
            <a:srgbClr val="283044"/>
          </a:solidFill>
          <a:ln/>
        </p:spPr>
      </p:sp>
      <p:sp>
        <p:nvSpPr>
          <p:cNvPr id="11" name="Shape 9"/>
          <p:cNvSpPr/>
          <p:nvPr/>
        </p:nvSpPr>
        <p:spPr>
          <a:xfrm>
            <a:off x="7505355" y="757007"/>
            <a:ext cx="53035" cy="53035"/>
          </a:xfrm>
          <a:prstGeom prst="ellipse">
            <a:avLst/>
          </a:prstGeom>
          <a:solidFill>
            <a:srgbClr val="283044"/>
          </a:solidFill>
          <a:ln/>
        </p:spPr>
      </p:sp>
      <p:sp>
        <p:nvSpPr>
          <p:cNvPr id="12" name="Shape 10"/>
          <p:cNvSpPr/>
          <p:nvPr/>
        </p:nvSpPr>
        <p:spPr>
          <a:xfrm>
            <a:off x="7614686" y="729772"/>
            <a:ext cx="53035" cy="53035"/>
          </a:xfrm>
          <a:prstGeom prst="ellipse">
            <a:avLst/>
          </a:prstGeom>
          <a:solidFill>
            <a:srgbClr val="283044"/>
          </a:solidFill>
          <a:ln/>
        </p:spPr>
      </p:sp>
      <p:sp>
        <p:nvSpPr>
          <p:cNvPr id="13" name="Shape 11"/>
          <p:cNvSpPr/>
          <p:nvPr/>
        </p:nvSpPr>
        <p:spPr>
          <a:xfrm>
            <a:off x="7724016" y="708889"/>
            <a:ext cx="53035" cy="53035"/>
          </a:xfrm>
          <a:prstGeom prst="ellipse">
            <a:avLst/>
          </a:prstGeom>
          <a:solidFill>
            <a:srgbClr val="283044"/>
          </a:solidFill>
          <a:ln/>
        </p:spPr>
      </p:sp>
      <p:sp>
        <p:nvSpPr>
          <p:cNvPr id="14" name="Shape 12"/>
          <p:cNvSpPr/>
          <p:nvPr/>
        </p:nvSpPr>
        <p:spPr>
          <a:xfrm>
            <a:off x="7833347" y="694747"/>
            <a:ext cx="53035" cy="53035"/>
          </a:xfrm>
          <a:prstGeom prst="ellipse">
            <a:avLst/>
          </a:prstGeom>
          <a:solidFill>
            <a:srgbClr val="283044"/>
          </a:solidFill>
          <a:ln/>
        </p:spPr>
      </p:sp>
      <p:sp>
        <p:nvSpPr>
          <p:cNvPr id="15" name="Shape 13"/>
          <p:cNvSpPr/>
          <p:nvPr/>
        </p:nvSpPr>
        <p:spPr>
          <a:xfrm>
            <a:off x="7942677" y="687610"/>
            <a:ext cx="53035" cy="53035"/>
          </a:xfrm>
          <a:prstGeom prst="ellipse">
            <a:avLst/>
          </a:prstGeom>
          <a:solidFill>
            <a:srgbClr val="283044"/>
          </a:solidFill>
          <a:ln/>
        </p:spPr>
      </p:sp>
      <p:sp>
        <p:nvSpPr>
          <p:cNvPr id="16" name="Shape 14"/>
          <p:cNvSpPr/>
          <p:nvPr/>
        </p:nvSpPr>
        <p:spPr>
          <a:xfrm>
            <a:off x="8052008" y="687610"/>
            <a:ext cx="53035" cy="53035"/>
          </a:xfrm>
          <a:prstGeom prst="ellipse">
            <a:avLst/>
          </a:prstGeom>
          <a:solidFill>
            <a:srgbClr val="283044"/>
          </a:solidFill>
          <a:ln/>
        </p:spPr>
      </p:sp>
      <p:sp>
        <p:nvSpPr>
          <p:cNvPr id="17" name="Shape 15"/>
          <p:cNvSpPr/>
          <p:nvPr/>
        </p:nvSpPr>
        <p:spPr>
          <a:xfrm>
            <a:off x="8161338" y="694747"/>
            <a:ext cx="53035" cy="53035"/>
          </a:xfrm>
          <a:prstGeom prst="ellipse">
            <a:avLst/>
          </a:prstGeom>
          <a:solidFill>
            <a:srgbClr val="283044"/>
          </a:solidFill>
          <a:ln/>
        </p:spPr>
      </p:sp>
      <p:sp>
        <p:nvSpPr>
          <p:cNvPr id="18" name="Shape 16"/>
          <p:cNvSpPr/>
          <p:nvPr/>
        </p:nvSpPr>
        <p:spPr>
          <a:xfrm>
            <a:off x="8270668" y="708889"/>
            <a:ext cx="53035" cy="53035"/>
          </a:xfrm>
          <a:prstGeom prst="ellipse">
            <a:avLst/>
          </a:prstGeom>
          <a:solidFill>
            <a:srgbClr val="283044"/>
          </a:solidFill>
          <a:ln/>
        </p:spPr>
      </p:sp>
      <p:sp>
        <p:nvSpPr>
          <p:cNvPr id="19" name="Shape 17"/>
          <p:cNvSpPr/>
          <p:nvPr/>
        </p:nvSpPr>
        <p:spPr>
          <a:xfrm>
            <a:off x="8379999" y="729772"/>
            <a:ext cx="53035" cy="53035"/>
          </a:xfrm>
          <a:prstGeom prst="ellipse">
            <a:avLst/>
          </a:prstGeom>
          <a:solidFill>
            <a:srgbClr val="283044"/>
          </a:solidFill>
          <a:ln/>
        </p:spPr>
      </p:sp>
      <p:sp>
        <p:nvSpPr>
          <p:cNvPr id="20" name="Shape 18"/>
          <p:cNvSpPr/>
          <p:nvPr/>
        </p:nvSpPr>
        <p:spPr>
          <a:xfrm>
            <a:off x="8489329" y="757007"/>
            <a:ext cx="53035" cy="53035"/>
          </a:xfrm>
          <a:prstGeom prst="ellipse">
            <a:avLst/>
          </a:prstGeom>
          <a:solidFill>
            <a:srgbClr val="283044"/>
          </a:solidFill>
          <a:ln/>
        </p:spPr>
      </p:sp>
      <p:sp>
        <p:nvSpPr>
          <p:cNvPr id="21" name="Shape 19"/>
          <p:cNvSpPr/>
          <p:nvPr/>
        </p:nvSpPr>
        <p:spPr>
          <a:xfrm>
            <a:off x="8598660" y="790086"/>
            <a:ext cx="53035" cy="53035"/>
          </a:xfrm>
          <a:prstGeom prst="ellipse">
            <a:avLst/>
          </a:prstGeom>
          <a:solidFill>
            <a:srgbClr val="283044"/>
          </a:solidFill>
          <a:ln/>
        </p:spPr>
      </p:sp>
      <p:sp>
        <p:nvSpPr>
          <p:cNvPr id="22" name="Shape 20"/>
          <p:cNvSpPr/>
          <p:nvPr/>
        </p:nvSpPr>
        <p:spPr>
          <a:xfrm>
            <a:off x="8707990" y="828394"/>
            <a:ext cx="53035" cy="53035"/>
          </a:xfrm>
          <a:prstGeom prst="ellipse">
            <a:avLst/>
          </a:prstGeom>
          <a:solidFill>
            <a:srgbClr val="283044"/>
          </a:solidFill>
          <a:ln/>
        </p:spPr>
      </p:sp>
      <p:sp>
        <p:nvSpPr>
          <p:cNvPr id="23" name="Shape 21"/>
          <p:cNvSpPr/>
          <p:nvPr/>
        </p:nvSpPr>
        <p:spPr>
          <a:xfrm>
            <a:off x="8817321" y="871217"/>
            <a:ext cx="53035" cy="53035"/>
          </a:xfrm>
          <a:prstGeom prst="ellipse">
            <a:avLst/>
          </a:prstGeom>
          <a:solidFill>
            <a:srgbClr val="283044"/>
          </a:solidFill>
          <a:ln/>
        </p:spPr>
      </p:sp>
      <p:sp>
        <p:nvSpPr>
          <p:cNvPr id="24" name="Shape 22"/>
          <p:cNvSpPr/>
          <p:nvPr/>
        </p:nvSpPr>
        <p:spPr>
          <a:xfrm>
            <a:off x="8926651" y="917757"/>
            <a:ext cx="53035" cy="53035"/>
          </a:xfrm>
          <a:prstGeom prst="ellipse">
            <a:avLst/>
          </a:prstGeom>
          <a:solidFill>
            <a:srgbClr val="283044"/>
          </a:solidFill>
          <a:ln/>
        </p:spPr>
      </p:sp>
      <p:sp>
        <p:nvSpPr>
          <p:cNvPr id="25" name="Shape 23"/>
          <p:cNvSpPr/>
          <p:nvPr/>
        </p:nvSpPr>
        <p:spPr>
          <a:xfrm>
            <a:off x="9035982" y="967147"/>
            <a:ext cx="53035" cy="53035"/>
          </a:xfrm>
          <a:prstGeom prst="ellipse">
            <a:avLst/>
          </a:prstGeom>
          <a:solidFill>
            <a:srgbClr val="283044"/>
          </a:solidFill>
          <a:ln/>
        </p:spPr>
      </p:sp>
      <p:sp>
        <p:nvSpPr>
          <p:cNvPr id="26" name="Shape 24"/>
          <p:cNvSpPr/>
          <p:nvPr/>
        </p:nvSpPr>
        <p:spPr>
          <a:xfrm>
            <a:off x="9145312" y="1018468"/>
            <a:ext cx="53035" cy="53035"/>
          </a:xfrm>
          <a:prstGeom prst="ellipse">
            <a:avLst/>
          </a:prstGeom>
          <a:solidFill>
            <a:srgbClr val="283044"/>
          </a:solidFill>
          <a:ln/>
        </p:spPr>
      </p:sp>
      <p:sp>
        <p:nvSpPr>
          <p:cNvPr id="27" name="Shape 25"/>
          <p:cNvSpPr/>
          <p:nvPr/>
        </p:nvSpPr>
        <p:spPr>
          <a:xfrm>
            <a:off x="9254642" y="1070762"/>
            <a:ext cx="53035" cy="53035"/>
          </a:xfrm>
          <a:prstGeom prst="ellipse">
            <a:avLst/>
          </a:prstGeom>
          <a:solidFill>
            <a:srgbClr val="283044"/>
          </a:solidFill>
          <a:ln/>
        </p:spPr>
      </p:sp>
      <p:sp>
        <p:nvSpPr>
          <p:cNvPr id="28" name="Shape 26"/>
          <p:cNvSpPr/>
          <p:nvPr/>
        </p:nvSpPr>
        <p:spPr>
          <a:xfrm>
            <a:off x="9363973" y="1123057"/>
            <a:ext cx="53035" cy="53035"/>
          </a:xfrm>
          <a:prstGeom prst="ellipse">
            <a:avLst/>
          </a:prstGeom>
          <a:solidFill>
            <a:srgbClr val="283044"/>
          </a:solidFill>
          <a:ln/>
        </p:spPr>
      </p:sp>
      <p:sp>
        <p:nvSpPr>
          <p:cNvPr id="29" name="Shape 27"/>
          <p:cNvSpPr/>
          <p:nvPr/>
        </p:nvSpPr>
        <p:spPr>
          <a:xfrm>
            <a:off x="9473303" y="1174377"/>
            <a:ext cx="53035" cy="53035"/>
          </a:xfrm>
          <a:prstGeom prst="ellipse">
            <a:avLst/>
          </a:prstGeom>
          <a:solidFill>
            <a:srgbClr val="283044"/>
          </a:solidFill>
          <a:ln/>
        </p:spPr>
      </p:sp>
      <p:sp>
        <p:nvSpPr>
          <p:cNvPr id="30" name="Shape 28"/>
          <p:cNvSpPr/>
          <p:nvPr/>
        </p:nvSpPr>
        <p:spPr>
          <a:xfrm>
            <a:off x="9582634" y="1223768"/>
            <a:ext cx="53035" cy="53035"/>
          </a:xfrm>
          <a:prstGeom prst="ellipse">
            <a:avLst/>
          </a:prstGeom>
          <a:solidFill>
            <a:srgbClr val="283044"/>
          </a:solidFill>
          <a:ln/>
        </p:spPr>
      </p:sp>
      <p:sp>
        <p:nvSpPr>
          <p:cNvPr id="31" name="Shape 29"/>
          <p:cNvSpPr/>
          <p:nvPr/>
        </p:nvSpPr>
        <p:spPr>
          <a:xfrm>
            <a:off x="9691964" y="1270308"/>
            <a:ext cx="53035" cy="53035"/>
          </a:xfrm>
          <a:prstGeom prst="ellipse">
            <a:avLst/>
          </a:prstGeom>
          <a:solidFill>
            <a:srgbClr val="283044"/>
          </a:solidFill>
          <a:ln/>
        </p:spPr>
      </p:sp>
      <p:sp>
        <p:nvSpPr>
          <p:cNvPr id="32" name="Shape 30"/>
          <p:cNvSpPr/>
          <p:nvPr/>
        </p:nvSpPr>
        <p:spPr>
          <a:xfrm>
            <a:off x="9801295" y="1313130"/>
            <a:ext cx="53035" cy="53035"/>
          </a:xfrm>
          <a:prstGeom prst="ellipse">
            <a:avLst/>
          </a:prstGeom>
          <a:solidFill>
            <a:srgbClr val="283044"/>
          </a:solidFill>
          <a:ln/>
        </p:spPr>
      </p:sp>
      <p:sp>
        <p:nvSpPr>
          <p:cNvPr id="33" name="Shape 31"/>
          <p:cNvSpPr/>
          <p:nvPr/>
        </p:nvSpPr>
        <p:spPr>
          <a:xfrm>
            <a:off x="9910625" y="1351438"/>
            <a:ext cx="53035" cy="53035"/>
          </a:xfrm>
          <a:prstGeom prst="ellipse">
            <a:avLst/>
          </a:prstGeom>
          <a:solidFill>
            <a:srgbClr val="283044"/>
          </a:solidFill>
          <a:ln/>
        </p:spPr>
      </p:sp>
      <p:sp>
        <p:nvSpPr>
          <p:cNvPr id="34" name="Shape 32"/>
          <p:cNvSpPr/>
          <p:nvPr/>
        </p:nvSpPr>
        <p:spPr>
          <a:xfrm>
            <a:off x="10019955" y="1384518"/>
            <a:ext cx="53035" cy="53035"/>
          </a:xfrm>
          <a:prstGeom prst="ellipse">
            <a:avLst/>
          </a:prstGeom>
          <a:solidFill>
            <a:srgbClr val="283044"/>
          </a:solidFill>
          <a:ln/>
        </p:spPr>
      </p:sp>
      <p:sp>
        <p:nvSpPr>
          <p:cNvPr id="35" name="Shape 33"/>
          <p:cNvSpPr/>
          <p:nvPr/>
        </p:nvSpPr>
        <p:spPr>
          <a:xfrm>
            <a:off x="10129286" y="1411753"/>
            <a:ext cx="53035" cy="53035"/>
          </a:xfrm>
          <a:prstGeom prst="ellipse">
            <a:avLst/>
          </a:prstGeom>
          <a:solidFill>
            <a:srgbClr val="283044"/>
          </a:solidFill>
          <a:ln/>
        </p:spPr>
      </p:sp>
      <p:sp>
        <p:nvSpPr>
          <p:cNvPr id="36" name="Shape 34"/>
          <p:cNvSpPr/>
          <p:nvPr/>
        </p:nvSpPr>
        <p:spPr>
          <a:xfrm>
            <a:off x="10238616" y="1432636"/>
            <a:ext cx="53035" cy="53035"/>
          </a:xfrm>
          <a:prstGeom prst="ellipse">
            <a:avLst/>
          </a:prstGeom>
          <a:solidFill>
            <a:srgbClr val="283044"/>
          </a:solidFill>
          <a:ln/>
        </p:spPr>
      </p:sp>
      <p:sp>
        <p:nvSpPr>
          <p:cNvPr id="37" name="Shape 35"/>
          <p:cNvSpPr/>
          <p:nvPr/>
        </p:nvSpPr>
        <p:spPr>
          <a:xfrm>
            <a:off x="10347947" y="1446778"/>
            <a:ext cx="53035" cy="53035"/>
          </a:xfrm>
          <a:prstGeom prst="ellipse">
            <a:avLst/>
          </a:prstGeom>
          <a:solidFill>
            <a:srgbClr val="283044"/>
          </a:solidFill>
          <a:ln/>
        </p:spPr>
      </p:sp>
      <p:sp>
        <p:nvSpPr>
          <p:cNvPr id="38" name="Shape 36"/>
          <p:cNvSpPr/>
          <p:nvPr/>
        </p:nvSpPr>
        <p:spPr>
          <a:xfrm>
            <a:off x="10457277" y="1453915"/>
            <a:ext cx="53035" cy="53035"/>
          </a:xfrm>
          <a:prstGeom prst="ellipse">
            <a:avLst/>
          </a:prstGeom>
          <a:solidFill>
            <a:srgbClr val="283044"/>
          </a:solidFill>
          <a:ln/>
        </p:spPr>
      </p:sp>
      <p:sp>
        <p:nvSpPr>
          <p:cNvPr id="39" name="Shape 37"/>
          <p:cNvSpPr/>
          <p:nvPr/>
        </p:nvSpPr>
        <p:spPr>
          <a:xfrm>
            <a:off x="10566608" y="1453915"/>
            <a:ext cx="53035" cy="53035"/>
          </a:xfrm>
          <a:prstGeom prst="ellipse">
            <a:avLst/>
          </a:prstGeom>
          <a:solidFill>
            <a:srgbClr val="283044"/>
          </a:solidFill>
          <a:ln/>
        </p:spPr>
      </p:sp>
      <p:sp>
        <p:nvSpPr>
          <p:cNvPr id="40" name="Shape 38"/>
          <p:cNvSpPr/>
          <p:nvPr/>
        </p:nvSpPr>
        <p:spPr>
          <a:xfrm>
            <a:off x="10675938" y="1446778"/>
            <a:ext cx="53035" cy="53035"/>
          </a:xfrm>
          <a:prstGeom prst="ellipse">
            <a:avLst/>
          </a:prstGeom>
          <a:solidFill>
            <a:srgbClr val="283044"/>
          </a:solidFill>
          <a:ln/>
        </p:spPr>
      </p:sp>
      <p:sp>
        <p:nvSpPr>
          <p:cNvPr id="41" name="Shape 39"/>
          <p:cNvSpPr/>
          <p:nvPr/>
        </p:nvSpPr>
        <p:spPr>
          <a:xfrm>
            <a:off x="10785268" y="1432636"/>
            <a:ext cx="53035" cy="53035"/>
          </a:xfrm>
          <a:prstGeom prst="ellipse">
            <a:avLst/>
          </a:prstGeom>
          <a:solidFill>
            <a:srgbClr val="283044"/>
          </a:solidFill>
          <a:ln/>
        </p:spPr>
      </p:sp>
      <p:sp>
        <p:nvSpPr>
          <p:cNvPr id="42" name="Shape 40"/>
          <p:cNvSpPr/>
          <p:nvPr/>
        </p:nvSpPr>
        <p:spPr>
          <a:xfrm>
            <a:off x="10894599" y="1411753"/>
            <a:ext cx="53035" cy="53035"/>
          </a:xfrm>
          <a:prstGeom prst="ellipse">
            <a:avLst/>
          </a:prstGeom>
          <a:solidFill>
            <a:srgbClr val="283044"/>
          </a:solidFill>
          <a:ln/>
        </p:spPr>
      </p:sp>
      <p:sp>
        <p:nvSpPr>
          <p:cNvPr id="43" name="Shape 41"/>
          <p:cNvSpPr/>
          <p:nvPr/>
        </p:nvSpPr>
        <p:spPr>
          <a:xfrm>
            <a:off x="11003929" y="1384518"/>
            <a:ext cx="53035" cy="53035"/>
          </a:xfrm>
          <a:prstGeom prst="ellipse">
            <a:avLst/>
          </a:prstGeom>
          <a:solidFill>
            <a:srgbClr val="283044"/>
          </a:solidFill>
          <a:ln/>
        </p:spPr>
      </p:sp>
      <p:sp>
        <p:nvSpPr>
          <p:cNvPr id="44" name="Shape 42"/>
          <p:cNvSpPr/>
          <p:nvPr/>
        </p:nvSpPr>
        <p:spPr>
          <a:xfrm>
            <a:off x="11113260" y="1351438"/>
            <a:ext cx="53035" cy="53035"/>
          </a:xfrm>
          <a:prstGeom prst="ellipse">
            <a:avLst/>
          </a:prstGeom>
          <a:solidFill>
            <a:srgbClr val="283044"/>
          </a:solidFill>
          <a:ln/>
        </p:spPr>
      </p:sp>
      <p:sp>
        <p:nvSpPr>
          <p:cNvPr id="45" name="Shape 43"/>
          <p:cNvSpPr/>
          <p:nvPr/>
        </p:nvSpPr>
        <p:spPr>
          <a:xfrm>
            <a:off x="11222590" y="1313130"/>
            <a:ext cx="53035" cy="53035"/>
          </a:xfrm>
          <a:prstGeom prst="ellipse">
            <a:avLst/>
          </a:prstGeom>
          <a:solidFill>
            <a:srgbClr val="283044"/>
          </a:solidFill>
          <a:ln/>
        </p:spPr>
      </p:sp>
      <p:sp>
        <p:nvSpPr>
          <p:cNvPr id="46" name="Shape 44"/>
          <p:cNvSpPr/>
          <p:nvPr/>
        </p:nvSpPr>
        <p:spPr>
          <a:xfrm>
            <a:off x="11331921" y="1270308"/>
            <a:ext cx="53035" cy="53035"/>
          </a:xfrm>
          <a:prstGeom prst="ellipse">
            <a:avLst/>
          </a:prstGeom>
          <a:solidFill>
            <a:srgbClr val="283044"/>
          </a:solidFill>
          <a:ln/>
        </p:spPr>
      </p:sp>
      <p:sp>
        <p:nvSpPr>
          <p:cNvPr id="47" name="Shape 45"/>
          <p:cNvSpPr/>
          <p:nvPr/>
        </p:nvSpPr>
        <p:spPr>
          <a:xfrm>
            <a:off x="11441251" y="1223768"/>
            <a:ext cx="53035" cy="53035"/>
          </a:xfrm>
          <a:prstGeom prst="ellipse">
            <a:avLst/>
          </a:prstGeom>
          <a:solidFill>
            <a:srgbClr val="283044"/>
          </a:solidFill>
          <a:ln/>
        </p:spPr>
      </p:sp>
      <p:sp>
        <p:nvSpPr>
          <p:cNvPr id="48" name="Shape 46"/>
          <p:cNvSpPr/>
          <p:nvPr/>
        </p:nvSpPr>
        <p:spPr>
          <a:xfrm>
            <a:off x="11550582" y="1174377"/>
            <a:ext cx="53035" cy="53035"/>
          </a:xfrm>
          <a:prstGeom prst="ellipse">
            <a:avLst/>
          </a:prstGeom>
          <a:solidFill>
            <a:srgbClr val="283044"/>
          </a:solidFill>
          <a:ln/>
        </p:spPr>
      </p:sp>
      <p:sp>
        <p:nvSpPr>
          <p:cNvPr id="49" name="Shape 47"/>
          <p:cNvSpPr/>
          <p:nvPr/>
        </p:nvSpPr>
        <p:spPr>
          <a:xfrm>
            <a:off x="11659912" y="1123057"/>
            <a:ext cx="53035" cy="53035"/>
          </a:xfrm>
          <a:prstGeom prst="ellipse">
            <a:avLst/>
          </a:prstGeom>
          <a:solidFill>
            <a:srgbClr val="283044"/>
          </a:solidFill>
          <a:ln/>
        </p:spPr>
      </p:sp>
      <p:sp>
        <p:nvSpPr>
          <p:cNvPr id="50" name="Shape 48"/>
          <p:cNvSpPr/>
          <p:nvPr/>
        </p:nvSpPr>
        <p:spPr>
          <a:xfrm>
            <a:off x="11769242" y="1070762"/>
            <a:ext cx="53035" cy="53035"/>
          </a:xfrm>
          <a:prstGeom prst="ellipse">
            <a:avLst/>
          </a:prstGeom>
          <a:solidFill>
            <a:srgbClr val="283044"/>
          </a:solidFill>
          <a:ln/>
        </p:spPr>
      </p:sp>
      <p:sp>
        <p:nvSpPr>
          <p:cNvPr id="51" name="Text 49"/>
          <p:cNvSpPr txBox="1"/>
          <p:nvPr/>
        </p:nvSpPr>
        <p:spPr>
          <a:xfrm>
            <a:off x="621792" y="457200"/>
            <a:ext cx="3657600"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Business Ethics</a:t>
            </a:r>
            <a:endParaRPr lang="en-US" sz="1150" dirty="0"/>
          </a:p>
        </p:txBody>
      </p:sp>
      <p:sp>
        <p:nvSpPr>
          <p:cNvPr id="52" name="Shape 50"/>
          <p:cNvSpPr/>
          <p:nvPr/>
        </p:nvSpPr>
        <p:spPr>
          <a:xfrm>
            <a:off x="8801100" y="420624"/>
            <a:ext cx="1143914" cy="283464"/>
          </a:xfrm>
          <a:prstGeom prst="roundRect">
            <a:avLst>
              <a:gd name="adj" fmla="val 50000"/>
            </a:avLst>
          </a:prstGeom>
          <a:solidFill>
            <a:srgbClr val="FF5A2D"/>
          </a:solidFill>
          <a:ln w="12700">
            <a:solidFill>
              <a:srgbClr val="FF5A2D"/>
            </a:solidFill>
            <a:prstDash val="solid"/>
          </a:ln>
        </p:spPr>
      </p:sp>
      <p:sp>
        <p:nvSpPr>
          <p:cNvPr id="53" name="Text 51"/>
          <p:cNvSpPr txBox="1"/>
          <p:nvPr/>
        </p:nvSpPr>
        <p:spPr>
          <a:xfrm>
            <a:off x="8801100" y="420624"/>
            <a:ext cx="1143914"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MBA · UGM</a:t>
            </a:r>
            <a:endParaRPr lang="en-US" sz="950" dirty="0"/>
          </a:p>
        </p:txBody>
      </p:sp>
      <p:sp>
        <p:nvSpPr>
          <p:cNvPr id="54" name="Shape 52"/>
          <p:cNvSpPr/>
          <p:nvPr/>
        </p:nvSpPr>
        <p:spPr>
          <a:xfrm>
            <a:off x="10063886" y="420624"/>
            <a:ext cx="1506017" cy="283464"/>
          </a:xfrm>
          <a:prstGeom prst="roundRect">
            <a:avLst>
              <a:gd name="adj" fmla="val 50000"/>
            </a:avLst>
          </a:prstGeom>
          <a:solidFill>
            <a:srgbClr val="1B2233"/>
          </a:solidFill>
          <a:ln w="12700">
            <a:solidFill>
              <a:srgbClr val="1B2233"/>
            </a:solidFill>
            <a:prstDash val="solid"/>
          </a:ln>
        </p:spPr>
      </p:sp>
      <p:sp>
        <p:nvSpPr>
          <p:cNvPr id="55" name="Text 53"/>
          <p:cNvSpPr txBox="1"/>
          <p:nvPr/>
        </p:nvSpPr>
        <p:spPr>
          <a:xfrm>
            <a:off x="10063886" y="420624"/>
            <a:ext cx="1506017" cy="283464"/>
          </a:xfrm>
          <a:prstGeom prst="rect">
            <a:avLst/>
          </a:prstGeom>
          <a:noFill/>
          <a:ln/>
        </p:spPr>
        <p:txBody>
          <a:bodyPr wrap="square" lIns="0" tIns="0" rIns="0" bIns="0" rtlCol="0" anchor="ctr"/>
          <a:lstStyle/>
          <a:p>
            <a:pPr algn="ctr" indent="0" marL="0">
              <a:buNone/>
            </a:pPr>
            <a:r>
              <a:rPr lang="en-US" sz="950" b="1" spc="110" kern="0" dirty="0">
                <a:solidFill>
                  <a:srgbClr val="B9C0CE"/>
                </a:solidFill>
                <a:latin typeface="Calibri" pitchFamily="34" charset="0"/>
                <a:ea typeface="Calibri" pitchFamily="34" charset="-122"/>
                <a:cs typeface="Calibri" pitchFamily="34" charset="-120"/>
              </a:rPr>
              <a:t>CASE ANALYSIS</a:t>
            </a:r>
            <a:endParaRPr lang="en-US" sz="950" dirty="0"/>
          </a:p>
        </p:txBody>
      </p:sp>
      <p:sp>
        <p:nvSpPr>
          <p:cNvPr id="56" name="Text 54"/>
          <p:cNvSpPr txBox="1"/>
          <p:nvPr/>
        </p:nvSpPr>
        <p:spPr>
          <a:xfrm>
            <a:off x="621792" y="1481328"/>
            <a:ext cx="6766560" cy="292608"/>
          </a:xfrm>
          <a:prstGeom prst="rect">
            <a:avLst/>
          </a:prstGeom>
          <a:noFill/>
          <a:ln/>
        </p:spPr>
        <p:txBody>
          <a:bodyPr wrap="square" lIns="0" tIns="0" rIns="0" bIns="0" rtlCol="0" anchor="t"/>
          <a:lstStyle/>
          <a:p>
            <a:pPr indent="0" marL="0">
              <a:buNone/>
            </a:pPr>
            <a:r>
              <a:rPr lang="en-US" sz="1350" dirty="0">
                <a:solidFill>
                  <a:srgbClr val="B9C0CE"/>
                </a:solidFill>
                <a:latin typeface="Calibri" pitchFamily="34" charset="0"/>
                <a:ea typeface="Calibri" pitchFamily="34" charset="-122"/>
                <a:cs typeface="Calibri" pitchFamily="34" charset="-120"/>
              </a:rPr>
              <a:t>Chapter 3 · Evaluating Business Ethics</a:t>
            </a:r>
            <a:endParaRPr lang="en-US" sz="1350" dirty="0"/>
          </a:p>
        </p:txBody>
      </p:sp>
      <p:sp>
        <p:nvSpPr>
          <p:cNvPr id="57" name="Text 55"/>
          <p:cNvSpPr txBox="1"/>
          <p:nvPr/>
        </p:nvSpPr>
        <p:spPr>
          <a:xfrm>
            <a:off x="621792" y="1810512"/>
            <a:ext cx="6766560" cy="310896"/>
          </a:xfrm>
          <a:prstGeom prst="rect">
            <a:avLst/>
          </a:prstGeom>
          <a:noFill/>
          <a:ln/>
        </p:spPr>
        <p:txBody>
          <a:bodyPr wrap="square" lIns="0" tIns="0" rIns="0" bIns="0" rtlCol="0" anchor="t"/>
          <a:lstStyle/>
          <a:p>
            <a:pPr indent="0" marL="0">
              <a:buNone/>
            </a:pPr>
            <a:r>
              <a:rPr lang="en-US" sz="1600" b="1" dirty="0">
                <a:solidFill>
                  <a:srgbClr val="FF5A2D"/>
                </a:solidFill>
                <a:latin typeface="Calibri" pitchFamily="34" charset="0"/>
                <a:ea typeface="Calibri" pitchFamily="34" charset="-122"/>
                <a:cs typeface="Calibri" pitchFamily="34" charset="-120"/>
              </a:rPr>
              <a:t>Analisis Kasus —</a:t>
            </a:r>
            <a:endParaRPr lang="en-US" sz="1600" dirty="0"/>
          </a:p>
        </p:txBody>
      </p:sp>
      <p:sp>
        <p:nvSpPr>
          <p:cNvPr id="58" name="Text 56"/>
          <p:cNvSpPr txBox="1"/>
          <p:nvPr/>
        </p:nvSpPr>
        <p:spPr>
          <a:xfrm>
            <a:off x="621792" y="2286000"/>
            <a:ext cx="7498080" cy="1591056"/>
          </a:xfrm>
          <a:prstGeom prst="rect">
            <a:avLst/>
          </a:prstGeom>
          <a:noFill/>
          <a:ln/>
        </p:spPr>
        <p:txBody>
          <a:bodyPr wrap="square" lIns="0" tIns="0" rIns="0" bIns="0" rtlCol="0" anchor="t"/>
          <a:lstStyle/>
          <a:p>
            <a:pPr indent="0" marL="0">
              <a:lnSpc>
                <a:spcPts val="6000"/>
              </a:lnSpc>
              <a:buNone/>
            </a:pPr>
            <a:r>
              <a:rPr lang="en-US" sz="5400" b="1" dirty="0">
                <a:solidFill>
                  <a:srgbClr val="FFFFFF"/>
                </a:solidFill>
                <a:latin typeface="Calibri" pitchFamily="34" charset="0"/>
                <a:ea typeface="Calibri" pitchFamily="34" charset="-122"/>
                <a:cs typeface="Calibri" pitchFamily="34" charset="-120"/>
              </a:rPr>
              <a:t>Canada’s</a:t>
            </a:r>
            <a:endParaRPr lang="en-US" sz="5400" dirty="0"/>
          </a:p>
          <a:p>
            <a:pPr indent="0" marL="0">
              <a:lnSpc>
                <a:spcPts val="6000"/>
              </a:lnSpc>
              <a:buNone/>
            </a:pPr>
            <a:r>
              <a:rPr lang="en-US" sz="5400" b="1" dirty="0">
                <a:solidFill>
                  <a:srgbClr val="FFFFFF"/>
                </a:solidFill>
                <a:latin typeface="Calibri" pitchFamily="34" charset="0"/>
                <a:ea typeface="Calibri" pitchFamily="34" charset="-122"/>
                <a:cs typeface="Calibri" pitchFamily="34" charset="-120"/>
              </a:rPr>
              <a:t>Oil Sands</a:t>
            </a:r>
            <a:pPr indent="0" marL="0">
              <a:lnSpc>
                <a:spcPts val="6000"/>
              </a:lnSpc>
              <a:buNone/>
            </a:pPr>
            <a:r>
              <a:rPr lang="en-US" sz="5400" b="1" dirty="0">
                <a:solidFill>
                  <a:srgbClr val="FF5A2D"/>
                </a:solidFill>
                <a:latin typeface="Calibri" pitchFamily="34" charset="0"/>
                <a:ea typeface="Calibri" pitchFamily="34" charset="-122"/>
                <a:cs typeface="Calibri" pitchFamily="34" charset="-120"/>
              </a:rPr>
              <a:t>.</a:t>
            </a:r>
            <a:endParaRPr lang="en-US" sz="5400" dirty="0"/>
          </a:p>
        </p:txBody>
      </p:sp>
      <p:sp>
        <p:nvSpPr>
          <p:cNvPr id="59" name="Text 57"/>
          <p:cNvSpPr txBox="1"/>
          <p:nvPr/>
        </p:nvSpPr>
        <p:spPr>
          <a:xfrm>
            <a:off x="621792" y="4114800"/>
            <a:ext cx="6675120" cy="822960"/>
          </a:xfrm>
          <a:prstGeom prst="rect">
            <a:avLst/>
          </a:prstGeom>
          <a:noFill/>
          <a:ln/>
        </p:spPr>
        <p:txBody>
          <a:bodyPr wrap="square" lIns="0" tIns="0" rIns="0" bIns="0" rtlCol="0" anchor="t"/>
          <a:lstStyle/>
          <a:p>
            <a:pPr indent="0" marL="0">
              <a:lnSpc>
                <a:spcPts val="2200"/>
              </a:lnSpc>
              <a:buNone/>
            </a:pPr>
            <a:r>
              <a:rPr lang="en-US" sz="1400" dirty="0">
                <a:solidFill>
                  <a:srgbClr val="B9C0CE"/>
                </a:solidFill>
                <a:latin typeface="Calibri" pitchFamily="34" charset="0"/>
                <a:ea typeface="Calibri" pitchFamily="34" charset="-122"/>
                <a:cs typeface="Calibri" pitchFamily="34" charset="-120"/>
              </a:rPr>
              <a:t>Most Destructive Project on Earth atau Ethical Oil? Satu kasus dibedah dengan sembilan teori etika normatif dari Chapter 3.</a:t>
            </a:r>
            <a:endParaRPr lang="en-US" sz="1400" dirty="0"/>
          </a:p>
        </p:txBody>
      </p:sp>
      <p:sp>
        <p:nvSpPr>
          <p:cNvPr id="60" name="Shape 58"/>
          <p:cNvSpPr/>
          <p:nvPr/>
        </p:nvSpPr>
        <p:spPr>
          <a:xfrm>
            <a:off x="621792" y="5230368"/>
            <a:ext cx="4114800" cy="713232"/>
          </a:xfrm>
          <a:prstGeom prst="roundRect">
            <a:avLst>
              <a:gd name="adj" fmla="val 20513"/>
            </a:avLst>
          </a:prstGeom>
          <a:solidFill>
            <a:srgbClr val="1B2233"/>
          </a:solidFill>
          <a:ln/>
        </p:spPr>
      </p:sp>
      <p:sp>
        <p:nvSpPr>
          <p:cNvPr id="61" name="Shape 59"/>
          <p:cNvSpPr/>
          <p:nvPr/>
        </p:nvSpPr>
        <p:spPr>
          <a:xfrm>
            <a:off x="621792" y="5285232"/>
            <a:ext cx="54864" cy="603504"/>
          </a:xfrm>
          <a:prstGeom prst="rect">
            <a:avLst/>
          </a:prstGeom>
          <a:solidFill>
            <a:srgbClr val="FF5A2D"/>
          </a:solidFill>
          <a:ln/>
        </p:spPr>
      </p:sp>
      <p:sp>
        <p:nvSpPr>
          <p:cNvPr id="62" name="Text 60"/>
          <p:cNvSpPr txBox="1"/>
          <p:nvPr/>
        </p:nvSpPr>
        <p:spPr>
          <a:xfrm>
            <a:off x="877824" y="5367528"/>
            <a:ext cx="3657600"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Aslih Abnuri</a:t>
            </a:r>
            <a:endParaRPr lang="en-US" sz="1300" dirty="0"/>
          </a:p>
        </p:txBody>
      </p:sp>
      <p:sp>
        <p:nvSpPr>
          <p:cNvPr id="63" name="Text 61"/>
          <p:cNvSpPr txBox="1"/>
          <p:nvPr/>
        </p:nvSpPr>
        <p:spPr>
          <a:xfrm>
            <a:off x="877824" y="5614416"/>
            <a:ext cx="3657600" cy="237744"/>
          </a:xfrm>
          <a:prstGeom prst="rect">
            <a:avLst/>
          </a:prstGeom>
          <a:noFill/>
          <a:ln/>
        </p:spPr>
        <p:txBody>
          <a:bodyPr wrap="square" lIns="0" tIns="0" rIns="0" bIns="0" rtlCol="0" anchor="t"/>
          <a:lstStyle/>
          <a:p>
            <a:pPr indent="0" marL="0">
              <a:buNone/>
            </a:pPr>
            <a:r>
              <a:rPr lang="en-US" sz="1050" dirty="0">
                <a:solidFill>
                  <a:srgbClr val="8C93A3"/>
                </a:solidFill>
                <a:latin typeface="Courier New" pitchFamily="34" charset="0"/>
                <a:ea typeface="Courier New" pitchFamily="34" charset="-122"/>
                <a:cs typeface="Courier New" pitchFamily="34" charset="-120"/>
              </a:rPr>
              <a:t>25/574338/PEK/31801</a:t>
            </a:r>
            <a:endParaRPr lang="en-US" sz="1050" dirty="0"/>
          </a:p>
        </p:txBody>
      </p:sp>
      <p:sp>
        <p:nvSpPr>
          <p:cNvPr id="64" name="Shape 62"/>
          <p:cNvSpPr/>
          <p:nvPr/>
        </p:nvSpPr>
        <p:spPr>
          <a:xfrm>
            <a:off x="5650992" y="5431536"/>
            <a:ext cx="274320" cy="274320"/>
          </a:xfrm>
          <a:prstGeom prst="rect">
            <a:avLst/>
          </a:prstGeom>
          <a:solidFill>
            <a:srgbClr val="AB463C"/>
          </a:solidFill>
          <a:ln/>
        </p:spPr>
      </p:sp>
      <p:sp>
        <p:nvSpPr>
          <p:cNvPr id="65" name="Shape 63"/>
          <p:cNvSpPr/>
          <p:nvPr/>
        </p:nvSpPr>
        <p:spPr>
          <a:xfrm>
            <a:off x="6035040" y="5431536"/>
            <a:ext cx="274320" cy="274320"/>
          </a:xfrm>
          <a:prstGeom prst="rect">
            <a:avLst/>
          </a:prstGeom>
          <a:solidFill>
            <a:srgbClr val="FF5A2D"/>
          </a:solidFill>
          <a:ln/>
        </p:spPr>
      </p:sp>
      <p:sp>
        <p:nvSpPr>
          <p:cNvPr id="66" name="Shape 64"/>
          <p:cNvSpPr/>
          <p:nvPr/>
        </p:nvSpPr>
        <p:spPr>
          <a:xfrm>
            <a:off x="6419088" y="5431536"/>
            <a:ext cx="274320" cy="274320"/>
          </a:xfrm>
          <a:prstGeom prst="rect">
            <a:avLst/>
          </a:prstGeom>
          <a:solidFill>
            <a:srgbClr val="F5B722"/>
          </a:solidFill>
          <a:ln/>
        </p:spPr>
      </p:sp>
      <p:sp>
        <p:nvSpPr>
          <p:cNvPr id="67" name="Shape 65"/>
          <p:cNvSpPr/>
          <p:nvPr/>
        </p:nvSpPr>
        <p:spPr>
          <a:xfrm>
            <a:off x="6803136" y="5431536"/>
            <a:ext cx="274320" cy="274320"/>
          </a:xfrm>
          <a:prstGeom prst="rect">
            <a:avLst/>
          </a:prstGeom>
          <a:solidFill>
            <a:srgbClr val="C6F04A"/>
          </a:solidFill>
          <a:ln/>
        </p:spPr>
      </p:sp>
      <p:sp>
        <p:nvSpPr>
          <p:cNvPr id="68" name="Shape 66"/>
          <p:cNvSpPr/>
          <p:nvPr/>
        </p:nvSpPr>
        <p:spPr>
          <a:xfrm>
            <a:off x="7187184" y="5431536"/>
            <a:ext cx="274320" cy="274320"/>
          </a:xfrm>
          <a:prstGeom prst="rect">
            <a:avLst/>
          </a:prstGeom>
          <a:solidFill>
            <a:srgbClr val="0FA98E"/>
          </a:solidFill>
          <a:ln/>
        </p:spPr>
      </p:sp>
      <p:sp>
        <p:nvSpPr>
          <p:cNvPr id="69" name="Shape 67"/>
          <p:cNvSpPr/>
          <p:nvPr/>
        </p:nvSpPr>
        <p:spPr>
          <a:xfrm>
            <a:off x="7571232" y="5431536"/>
            <a:ext cx="274320" cy="274320"/>
          </a:xfrm>
          <a:prstGeom prst="rect">
            <a:avLst/>
          </a:prstGeom>
          <a:solidFill>
            <a:srgbClr val="4EA8DE"/>
          </a:solidFill>
          <a:ln/>
        </p:spPr>
      </p:sp>
      <p:sp>
        <p:nvSpPr>
          <p:cNvPr id="70" name="Shape 68"/>
          <p:cNvSpPr/>
          <p:nvPr/>
        </p:nvSpPr>
        <p:spPr>
          <a:xfrm>
            <a:off x="7955280" y="5431536"/>
            <a:ext cx="274320" cy="274320"/>
          </a:xfrm>
          <a:prstGeom prst="rect">
            <a:avLst/>
          </a:prstGeom>
          <a:solidFill>
            <a:srgbClr val="6C7BE0"/>
          </a:solidFill>
          <a:ln/>
        </p:spPr>
      </p:sp>
      <p:sp>
        <p:nvSpPr>
          <p:cNvPr id="71" name="Shape 69"/>
          <p:cNvSpPr/>
          <p:nvPr/>
        </p:nvSpPr>
        <p:spPr>
          <a:xfrm>
            <a:off x="8339328" y="5431536"/>
            <a:ext cx="274320" cy="274320"/>
          </a:xfrm>
          <a:prstGeom prst="rect">
            <a:avLst/>
          </a:prstGeom>
          <a:solidFill>
            <a:srgbClr val="B8A6F5"/>
          </a:solidFill>
          <a:ln/>
        </p:spPr>
      </p:sp>
      <p:sp>
        <p:nvSpPr>
          <p:cNvPr id="72" name="Shape 70"/>
          <p:cNvSpPr/>
          <p:nvPr/>
        </p:nvSpPr>
        <p:spPr>
          <a:xfrm>
            <a:off x="8723376" y="5431536"/>
            <a:ext cx="274320" cy="274320"/>
          </a:xfrm>
          <a:prstGeom prst="rect">
            <a:avLst/>
          </a:prstGeom>
          <a:solidFill>
            <a:srgbClr val="E86A9B"/>
          </a:solidFill>
          <a:ln/>
        </p:spPr>
      </p:sp>
      <p:sp>
        <p:nvSpPr>
          <p:cNvPr id="73" name="Text 71"/>
          <p:cNvSpPr txBox="1"/>
          <p:nvPr/>
        </p:nvSpPr>
        <p:spPr>
          <a:xfrm>
            <a:off x="621792" y="6272784"/>
            <a:ext cx="10948111" cy="256032"/>
          </a:xfrm>
          <a:prstGeom prst="rect">
            <a:avLst/>
          </a:prstGeom>
          <a:noFill/>
          <a:ln/>
        </p:spPr>
        <p:txBody>
          <a:bodyPr wrap="square" lIns="0" tIns="0" rIns="0" bIns="0" rtlCol="0" anchor="t"/>
          <a:lstStyle/>
          <a:p>
            <a:pPr indent="0" marL="0">
              <a:buNone/>
            </a:pPr>
            <a:r>
              <a:rPr lang="en-US" sz="1050" dirty="0">
                <a:solidFill>
                  <a:srgbClr val="8C93A3"/>
                </a:solidFill>
                <a:latin typeface="Calibri" pitchFamily="34" charset="0"/>
                <a:ea typeface="Calibri" pitchFamily="34" charset="-122"/>
                <a:cs typeface="Calibri" pitchFamily="34" charset="-120"/>
              </a:rPr>
              <a:t>Case 3 · Crane, Matten, Glozer &amp; Spence (2019), halaman 129–134</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Text 1"/>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02</a:t>
            </a:r>
            <a:endParaRPr lang="en-US" sz="950" dirty="0"/>
          </a:p>
        </p:txBody>
      </p:sp>
      <p:sp>
        <p:nvSpPr>
          <p:cNvPr id="4" name="Text 2"/>
          <p:cNvSpPr txBox="1"/>
          <p:nvPr/>
        </p:nvSpPr>
        <p:spPr>
          <a:xfrm>
            <a:off x="621792" y="566928"/>
            <a:ext cx="10948111" cy="1024128"/>
          </a:xfrm>
          <a:prstGeom prst="rect">
            <a:avLst/>
          </a:prstGeom>
          <a:noFill/>
          <a:ln/>
        </p:spPr>
        <p:txBody>
          <a:bodyPr wrap="square" lIns="0" tIns="0" rIns="0" bIns="0" rtlCol="0" anchor="t"/>
          <a:lstStyle/>
          <a:p>
            <a:pPr indent="0" marL="0">
              <a:lnSpc>
                <a:spcPts val="4640"/>
              </a:lnSpc>
              <a:buNone/>
            </a:pPr>
            <a:r>
              <a:rPr lang="en-US" sz="4000" b="1" dirty="0">
                <a:solidFill>
                  <a:srgbClr val="0E1626"/>
                </a:solidFill>
                <a:latin typeface="Calibri" pitchFamily="34" charset="0"/>
                <a:ea typeface="Calibri" pitchFamily="34" charset="-122"/>
                <a:cs typeface="Calibri" pitchFamily="34" charset="-120"/>
              </a:rPr>
              <a:t>Index</a:t>
            </a:r>
            <a:pPr indent="0" marL="0">
              <a:lnSpc>
                <a:spcPts val="4640"/>
              </a:lnSpc>
              <a:buNone/>
            </a:pPr>
            <a:r>
              <a:rPr lang="en-US" sz="4000" b="1" dirty="0">
                <a:solidFill>
                  <a:srgbClr val="FF5A2D"/>
                </a:solidFill>
                <a:latin typeface="Calibri" pitchFamily="34" charset="0"/>
                <a:ea typeface="Calibri" pitchFamily="34" charset="-122"/>
                <a:cs typeface="Calibri" pitchFamily="34" charset="-120"/>
              </a:rPr>
              <a:t>.</a:t>
            </a:r>
            <a:endParaRPr lang="en-US" sz="4000" dirty="0"/>
          </a:p>
        </p:txBody>
      </p:sp>
      <p:sp>
        <p:nvSpPr>
          <p:cNvPr id="5" name="Shape 3"/>
          <p:cNvSpPr/>
          <p:nvPr/>
        </p:nvSpPr>
        <p:spPr>
          <a:xfrm>
            <a:off x="621792" y="1298448"/>
            <a:ext cx="1053389" cy="283464"/>
          </a:xfrm>
          <a:prstGeom prst="roundRect">
            <a:avLst>
              <a:gd name="adj" fmla="val 50000"/>
            </a:avLst>
          </a:prstGeom>
          <a:solidFill>
            <a:srgbClr val="0FA98E"/>
          </a:solidFill>
          <a:ln w="12700">
            <a:solidFill>
              <a:srgbClr val="0FA98E"/>
            </a:solidFill>
            <a:prstDash val="solid"/>
          </a:ln>
        </p:spPr>
      </p:sp>
      <p:sp>
        <p:nvSpPr>
          <p:cNvPr id="6" name="Text 4"/>
          <p:cNvSpPr txBox="1"/>
          <p:nvPr/>
        </p:nvSpPr>
        <p:spPr>
          <a:xfrm>
            <a:off x="621792" y="1298448"/>
            <a:ext cx="1053389"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KERANGKA</a:t>
            </a:r>
            <a:endParaRPr lang="en-US" sz="950" dirty="0"/>
          </a:p>
        </p:txBody>
      </p:sp>
      <p:sp>
        <p:nvSpPr>
          <p:cNvPr id="7" name="Shape 5"/>
          <p:cNvSpPr/>
          <p:nvPr/>
        </p:nvSpPr>
        <p:spPr>
          <a:xfrm>
            <a:off x="1794053" y="1298448"/>
            <a:ext cx="781812" cy="283464"/>
          </a:xfrm>
          <a:prstGeom prst="roundRect">
            <a:avLst>
              <a:gd name="adj" fmla="val 50000"/>
            </a:avLst>
          </a:prstGeom>
          <a:solidFill>
            <a:srgbClr val="FF5A2D"/>
          </a:solidFill>
          <a:ln w="12700">
            <a:solidFill>
              <a:srgbClr val="FF5A2D"/>
            </a:solidFill>
            <a:prstDash val="solid"/>
          </a:ln>
        </p:spPr>
      </p:sp>
      <p:sp>
        <p:nvSpPr>
          <p:cNvPr id="8" name="Text 6"/>
          <p:cNvSpPr txBox="1"/>
          <p:nvPr/>
        </p:nvSpPr>
        <p:spPr>
          <a:xfrm>
            <a:off x="1794053" y="1298448"/>
            <a:ext cx="781812"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KASUS</a:t>
            </a:r>
            <a:endParaRPr lang="en-US" sz="950" dirty="0"/>
          </a:p>
        </p:txBody>
      </p:sp>
      <p:sp>
        <p:nvSpPr>
          <p:cNvPr id="9" name="Shape 7"/>
          <p:cNvSpPr/>
          <p:nvPr/>
        </p:nvSpPr>
        <p:spPr>
          <a:xfrm>
            <a:off x="2694737" y="1298448"/>
            <a:ext cx="1596542" cy="283464"/>
          </a:xfrm>
          <a:prstGeom prst="roundRect">
            <a:avLst>
              <a:gd name="adj" fmla="val 50000"/>
            </a:avLst>
          </a:prstGeom>
          <a:solidFill>
            <a:srgbClr val="B8A6F5"/>
          </a:solidFill>
          <a:ln w="12700">
            <a:solidFill>
              <a:srgbClr val="B8A6F5"/>
            </a:solidFill>
            <a:prstDash val="solid"/>
          </a:ln>
        </p:spPr>
      </p:sp>
      <p:sp>
        <p:nvSpPr>
          <p:cNvPr id="10" name="Text 8"/>
          <p:cNvSpPr txBox="1"/>
          <p:nvPr/>
        </p:nvSpPr>
        <p:spPr>
          <a:xfrm>
            <a:off x="2694737" y="1298448"/>
            <a:ext cx="1596542"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SEMBILAN LENSA</a:t>
            </a:r>
            <a:endParaRPr lang="en-US" sz="950" dirty="0"/>
          </a:p>
        </p:txBody>
      </p:sp>
      <p:sp>
        <p:nvSpPr>
          <p:cNvPr id="11" name="Shape 9"/>
          <p:cNvSpPr/>
          <p:nvPr/>
        </p:nvSpPr>
        <p:spPr>
          <a:xfrm>
            <a:off x="4410151" y="1298448"/>
            <a:ext cx="962863" cy="283464"/>
          </a:xfrm>
          <a:prstGeom prst="roundRect">
            <a:avLst>
              <a:gd name="adj" fmla="val 50000"/>
            </a:avLst>
          </a:prstGeom>
          <a:solidFill>
            <a:srgbClr val="0E1626"/>
          </a:solidFill>
          <a:ln w="12700">
            <a:solidFill>
              <a:srgbClr val="0E1626"/>
            </a:solidFill>
            <a:prstDash val="solid"/>
          </a:ln>
        </p:spPr>
      </p:sp>
      <p:sp>
        <p:nvSpPr>
          <p:cNvPr id="12" name="Text 10"/>
          <p:cNvSpPr txBox="1"/>
          <p:nvPr/>
        </p:nvSpPr>
        <p:spPr>
          <a:xfrm>
            <a:off x="4410151" y="1298448"/>
            <a:ext cx="962863"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PUTUSAN</a:t>
            </a:r>
            <a:endParaRPr lang="en-US" sz="950" dirty="0"/>
          </a:p>
        </p:txBody>
      </p:sp>
      <p:sp>
        <p:nvSpPr>
          <p:cNvPr id="13" name="Text 11"/>
          <p:cNvSpPr txBox="1"/>
          <p:nvPr/>
        </p:nvSpPr>
        <p:spPr>
          <a:xfrm>
            <a:off x="621792" y="1975104"/>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01.</a:t>
            </a:r>
            <a:endParaRPr lang="en-US" sz="1400" dirty="0"/>
          </a:p>
        </p:txBody>
      </p:sp>
      <p:sp>
        <p:nvSpPr>
          <p:cNvPr id="14" name="Text 12"/>
          <p:cNvSpPr txBox="1"/>
          <p:nvPr/>
        </p:nvSpPr>
        <p:spPr>
          <a:xfrm>
            <a:off x="1335024" y="1956816"/>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Kerangka Analisis</a:t>
            </a:r>
            <a:endParaRPr lang="en-US" sz="1400" dirty="0"/>
          </a:p>
        </p:txBody>
      </p:sp>
      <p:sp>
        <p:nvSpPr>
          <p:cNvPr id="15" name="Text 13"/>
          <p:cNvSpPr txBox="1"/>
          <p:nvPr/>
        </p:nvSpPr>
        <p:spPr>
          <a:xfrm>
            <a:off x="1335024" y="2221992"/>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Kenapa satu teori tidak cukup untuk kasus ini</a:t>
            </a:r>
            <a:endParaRPr lang="en-US" sz="1150" dirty="0"/>
          </a:p>
        </p:txBody>
      </p:sp>
      <p:sp>
        <p:nvSpPr>
          <p:cNvPr id="16" name="Shape 14"/>
          <p:cNvSpPr/>
          <p:nvPr/>
        </p:nvSpPr>
        <p:spPr>
          <a:xfrm>
            <a:off x="621792" y="2578608"/>
            <a:ext cx="5291176" cy="10058"/>
          </a:xfrm>
          <a:prstGeom prst="rect">
            <a:avLst/>
          </a:prstGeom>
          <a:solidFill>
            <a:srgbClr val="DDD8CE"/>
          </a:solidFill>
          <a:ln/>
        </p:spPr>
      </p:sp>
      <p:sp>
        <p:nvSpPr>
          <p:cNvPr id="17" name="Text 15"/>
          <p:cNvSpPr txBox="1"/>
          <p:nvPr/>
        </p:nvSpPr>
        <p:spPr>
          <a:xfrm>
            <a:off x="621792" y="2779776"/>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02.</a:t>
            </a:r>
            <a:endParaRPr lang="en-US" sz="1400" dirty="0"/>
          </a:p>
        </p:txBody>
      </p:sp>
      <p:sp>
        <p:nvSpPr>
          <p:cNvPr id="18" name="Text 16"/>
          <p:cNvSpPr txBox="1"/>
          <p:nvPr/>
        </p:nvSpPr>
        <p:spPr>
          <a:xfrm>
            <a:off x="1335024" y="2761488"/>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Profil Oil Sands</a:t>
            </a:r>
            <a:endParaRPr lang="en-US" sz="1400" dirty="0"/>
          </a:p>
        </p:txBody>
      </p:sp>
      <p:sp>
        <p:nvSpPr>
          <p:cNvPr id="19" name="Text 17"/>
          <p:cNvSpPr txBox="1"/>
          <p:nvPr/>
        </p:nvSpPr>
        <p:spPr>
          <a:xfrm>
            <a:off x="1335024" y="3026664"/>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Apa yang ditambang, seberapa besar, siapa pemainnya</a:t>
            </a:r>
            <a:endParaRPr lang="en-US" sz="1150" dirty="0"/>
          </a:p>
        </p:txBody>
      </p:sp>
      <p:sp>
        <p:nvSpPr>
          <p:cNvPr id="20" name="Shape 18"/>
          <p:cNvSpPr/>
          <p:nvPr/>
        </p:nvSpPr>
        <p:spPr>
          <a:xfrm>
            <a:off x="621792" y="3383280"/>
            <a:ext cx="5291176" cy="10058"/>
          </a:xfrm>
          <a:prstGeom prst="rect">
            <a:avLst/>
          </a:prstGeom>
          <a:solidFill>
            <a:srgbClr val="DDD8CE"/>
          </a:solidFill>
          <a:ln/>
        </p:spPr>
      </p:sp>
      <p:sp>
        <p:nvSpPr>
          <p:cNvPr id="21" name="Text 19"/>
          <p:cNvSpPr txBox="1"/>
          <p:nvPr/>
        </p:nvSpPr>
        <p:spPr>
          <a:xfrm>
            <a:off x="621792" y="3584448"/>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03.</a:t>
            </a:r>
            <a:endParaRPr lang="en-US" sz="1400" dirty="0"/>
          </a:p>
        </p:txBody>
      </p:sp>
      <p:sp>
        <p:nvSpPr>
          <p:cNvPr id="22" name="Text 20"/>
          <p:cNvSpPr txBox="1"/>
          <p:nvPr/>
        </p:nvSpPr>
        <p:spPr>
          <a:xfrm>
            <a:off x="1335024" y="3566160"/>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Peta Pemangku Kepentingan</a:t>
            </a:r>
            <a:endParaRPr lang="en-US" sz="1400" dirty="0"/>
          </a:p>
        </p:txBody>
      </p:sp>
      <p:sp>
        <p:nvSpPr>
          <p:cNvPr id="23" name="Text 21"/>
          <p:cNvSpPr txBox="1"/>
          <p:nvPr/>
        </p:nvSpPr>
        <p:spPr>
          <a:xfrm>
            <a:off x="1335024" y="3831336"/>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Enam pihak dengan kepentingan yang berbenturan</a:t>
            </a:r>
            <a:endParaRPr lang="en-US" sz="1150" dirty="0"/>
          </a:p>
        </p:txBody>
      </p:sp>
      <p:sp>
        <p:nvSpPr>
          <p:cNvPr id="24" name="Shape 22"/>
          <p:cNvSpPr/>
          <p:nvPr/>
        </p:nvSpPr>
        <p:spPr>
          <a:xfrm>
            <a:off x="621792" y="4187952"/>
            <a:ext cx="5291176" cy="10058"/>
          </a:xfrm>
          <a:prstGeom prst="rect">
            <a:avLst/>
          </a:prstGeom>
          <a:solidFill>
            <a:srgbClr val="DDD8CE"/>
          </a:solidFill>
          <a:ln/>
        </p:spPr>
      </p:sp>
      <p:sp>
        <p:nvSpPr>
          <p:cNvPr id="25" name="Text 23"/>
          <p:cNvSpPr txBox="1"/>
          <p:nvPr/>
        </p:nvSpPr>
        <p:spPr>
          <a:xfrm>
            <a:off x="621792" y="4389120"/>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04.</a:t>
            </a:r>
            <a:endParaRPr lang="en-US" sz="1400" dirty="0"/>
          </a:p>
        </p:txBody>
      </p:sp>
      <p:sp>
        <p:nvSpPr>
          <p:cNvPr id="26" name="Text 24"/>
          <p:cNvSpPr txBox="1"/>
          <p:nvPr/>
        </p:nvSpPr>
        <p:spPr>
          <a:xfrm>
            <a:off x="1335024" y="4370832"/>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Dua Narasi</a:t>
            </a:r>
            <a:endParaRPr lang="en-US" sz="1400" dirty="0"/>
          </a:p>
        </p:txBody>
      </p:sp>
      <p:sp>
        <p:nvSpPr>
          <p:cNvPr id="27" name="Text 25"/>
          <p:cNvSpPr txBox="1"/>
          <p:nvPr/>
        </p:nvSpPr>
        <p:spPr>
          <a:xfrm>
            <a:off x="1335024" y="4636008"/>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Most destructive project versus ethical oil</a:t>
            </a:r>
            <a:endParaRPr lang="en-US" sz="1150" dirty="0"/>
          </a:p>
        </p:txBody>
      </p:sp>
      <p:sp>
        <p:nvSpPr>
          <p:cNvPr id="28" name="Shape 26"/>
          <p:cNvSpPr/>
          <p:nvPr/>
        </p:nvSpPr>
        <p:spPr>
          <a:xfrm>
            <a:off x="621792" y="4992624"/>
            <a:ext cx="5291176" cy="10058"/>
          </a:xfrm>
          <a:prstGeom prst="rect">
            <a:avLst/>
          </a:prstGeom>
          <a:solidFill>
            <a:srgbClr val="DDD8CE"/>
          </a:solidFill>
          <a:ln/>
        </p:spPr>
      </p:sp>
      <p:sp>
        <p:nvSpPr>
          <p:cNvPr id="29" name="Text 27"/>
          <p:cNvSpPr txBox="1"/>
          <p:nvPr/>
        </p:nvSpPr>
        <p:spPr>
          <a:xfrm>
            <a:off x="621792" y="5193792"/>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05.</a:t>
            </a:r>
            <a:endParaRPr lang="en-US" sz="1400" dirty="0"/>
          </a:p>
        </p:txBody>
      </p:sp>
      <p:sp>
        <p:nvSpPr>
          <p:cNvPr id="30" name="Text 28"/>
          <p:cNvSpPr txBox="1"/>
          <p:nvPr/>
        </p:nvSpPr>
        <p:spPr>
          <a:xfrm>
            <a:off x="1335024" y="5175504"/>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Lensa Akibat</a:t>
            </a:r>
            <a:endParaRPr lang="en-US" sz="1400" dirty="0"/>
          </a:p>
        </p:txBody>
      </p:sp>
      <p:sp>
        <p:nvSpPr>
          <p:cNvPr id="31" name="Text 29"/>
          <p:cNvSpPr txBox="1"/>
          <p:nvPr/>
        </p:nvSpPr>
        <p:spPr>
          <a:xfrm>
            <a:off x="1335024" y="5440680"/>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Egoism dan utilitarianism membaca kasus</a:t>
            </a:r>
            <a:endParaRPr lang="en-US" sz="1150" dirty="0"/>
          </a:p>
        </p:txBody>
      </p:sp>
      <p:sp>
        <p:nvSpPr>
          <p:cNvPr id="32" name="Shape 30"/>
          <p:cNvSpPr/>
          <p:nvPr/>
        </p:nvSpPr>
        <p:spPr>
          <a:xfrm>
            <a:off x="621792" y="5797296"/>
            <a:ext cx="5291176" cy="10058"/>
          </a:xfrm>
          <a:prstGeom prst="rect">
            <a:avLst/>
          </a:prstGeom>
          <a:solidFill>
            <a:srgbClr val="DDD8CE"/>
          </a:solidFill>
          <a:ln/>
        </p:spPr>
      </p:sp>
      <p:sp>
        <p:nvSpPr>
          <p:cNvPr id="33" name="Text 31"/>
          <p:cNvSpPr txBox="1"/>
          <p:nvPr/>
        </p:nvSpPr>
        <p:spPr>
          <a:xfrm>
            <a:off x="6278728" y="1975104"/>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06.</a:t>
            </a:r>
            <a:endParaRPr lang="en-US" sz="1400" dirty="0"/>
          </a:p>
        </p:txBody>
      </p:sp>
      <p:sp>
        <p:nvSpPr>
          <p:cNvPr id="34" name="Text 32"/>
          <p:cNvSpPr txBox="1"/>
          <p:nvPr/>
        </p:nvSpPr>
        <p:spPr>
          <a:xfrm>
            <a:off x="6991960" y="1956816"/>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Lensa Prinsip</a:t>
            </a:r>
            <a:endParaRPr lang="en-US" sz="1400" dirty="0"/>
          </a:p>
        </p:txBody>
      </p:sp>
      <p:sp>
        <p:nvSpPr>
          <p:cNvPr id="35" name="Text 33"/>
          <p:cNvSpPr txBox="1"/>
          <p:nvPr/>
        </p:nvSpPr>
        <p:spPr>
          <a:xfrm>
            <a:off x="6991960" y="2221992"/>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Duty, rights, dan justice membaca kasus</a:t>
            </a:r>
            <a:endParaRPr lang="en-US" sz="1150" dirty="0"/>
          </a:p>
        </p:txBody>
      </p:sp>
      <p:sp>
        <p:nvSpPr>
          <p:cNvPr id="36" name="Shape 34"/>
          <p:cNvSpPr/>
          <p:nvPr/>
        </p:nvSpPr>
        <p:spPr>
          <a:xfrm>
            <a:off x="6278728" y="2578608"/>
            <a:ext cx="5291176" cy="10058"/>
          </a:xfrm>
          <a:prstGeom prst="rect">
            <a:avLst/>
          </a:prstGeom>
          <a:solidFill>
            <a:srgbClr val="DDD8CE"/>
          </a:solidFill>
          <a:ln/>
        </p:spPr>
      </p:sp>
      <p:sp>
        <p:nvSpPr>
          <p:cNvPr id="37" name="Text 35"/>
          <p:cNvSpPr txBox="1"/>
          <p:nvPr/>
        </p:nvSpPr>
        <p:spPr>
          <a:xfrm>
            <a:off x="6278728" y="2779776"/>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07.</a:t>
            </a:r>
            <a:endParaRPr lang="en-US" sz="1400" dirty="0"/>
          </a:p>
        </p:txBody>
      </p:sp>
      <p:sp>
        <p:nvSpPr>
          <p:cNvPr id="38" name="Text 36"/>
          <p:cNvSpPr txBox="1"/>
          <p:nvPr/>
        </p:nvSpPr>
        <p:spPr>
          <a:xfrm>
            <a:off x="6991960" y="2761488"/>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Lensa Alternatif</a:t>
            </a:r>
            <a:endParaRPr lang="en-US" sz="1400" dirty="0"/>
          </a:p>
        </p:txBody>
      </p:sp>
      <p:sp>
        <p:nvSpPr>
          <p:cNvPr id="39" name="Text 37"/>
          <p:cNvSpPr txBox="1"/>
          <p:nvPr/>
        </p:nvSpPr>
        <p:spPr>
          <a:xfrm>
            <a:off x="6991960" y="3026664"/>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Virtue, care, discourse, postmodern</a:t>
            </a:r>
            <a:endParaRPr lang="en-US" sz="1150" dirty="0"/>
          </a:p>
        </p:txBody>
      </p:sp>
      <p:sp>
        <p:nvSpPr>
          <p:cNvPr id="40" name="Shape 38"/>
          <p:cNvSpPr/>
          <p:nvPr/>
        </p:nvSpPr>
        <p:spPr>
          <a:xfrm>
            <a:off x="6278728" y="3383280"/>
            <a:ext cx="5291176" cy="10058"/>
          </a:xfrm>
          <a:prstGeom prst="rect">
            <a:avLst/>
          </a:prstGeom>
          <a:solidFill>
            <a:srgbClr val="DDD8CE"/>
          </a:solidFill>
          <a:ln/>
        </p:spPr>
      </p:sp>
      <p:sp>
        <p:nvSpPr>
          <p:cNvPr id="41" name="Text 39"/>
          <p:cNvSpPr txBox="1"/>
          <p:nvPr/>
        </p:nvSpPr>
        <p:spPr>
          <a:xfrm>
            <a:off x="6278728" y="3584448"/>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08.</a:t>
            </a:r>
            <a:endParaRPr lang="en-US" sz="1400" dirty="0"/>
          </a:p>
        </p:txBody>
      </p:sp>
      <p:sp>
        <p:nvSpPr>
          <p:cNvPr id="42" name="Text 40"/>
          <p:cNvSpPr txBox="1"/>
          <p:nvPr/>
        </p:nvSpPr>
        <p:spPr>
          <a:xfrm>
            <a:off x="6991960" y="3566160"/>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Matriks Putusan</a:t>
            </a:r>
            <a:endParaRPr lang="en-US" sz="1400" dirty="0"/>
          </a:p>
        </p:txBody>
      </p:sp>
      <p:sp>
        <p:nvSpPr>
          <p:cNvPr id="43" name="Text 41"/>
          <p:cNvSpPr txBox="1"/>
          <p:nvPr/>
        </p:nvSpPr>
        <p:spPr>
          <a:xfrm>
            <a:off x="6991960" y="3831336"/>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Sembilan sorotan atas fakta yang sama</a:t>
            </a:r>
            <a:endParaRPr lang="en-US" sz="1150" dirty="0"/>
          </a:p>
        </p:txBody>
      </p:sp>
      <p:sp>
        <p:nvSpPr>
          <p:cNvPr id="44" name="Shape 42"/>
          <p:cNvSpPr/>
          <p:nvPr/>
        </p:nvSpPr>
        <p:spPr>
          <a:xfrm>
            <a:off x="6278728" y="4187952"/>
            <a:ext cx="5291176" cy="10058"/>
          </a:xfrm>
          <a:prstGeom prst="rect">
            <a:avLst/>
          </a:prstGeom>
          <a:solidFill>
            <a:srgbClr val="DDD8CE"/>
          </a:solidFill>
          <a:ln/>
        </p:spPr>
      </p:sp>
      <p:sp>
        <p:nvSpPr>
          <p:cNvPr id="45" name="Text 43"/>
          <p:cNvSpPr txBox="1"/>
          <p:nvPr/>
        </p:nvSpPr>
        <p:spPr>
          <a:xfrm>
            <a:off x="6278728" y="4389120"/>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09.</a:t>
            </a:r>
            <a:endParaRPr lang="en-US" sz="1400" dirty="0"/>
          </a:p>
        </p:txBody>
      </p:sp>
      <p:sp>
        <p:nvSpPr>
          <p:cNvPr id="46" name="Text 44"/>
          <p:cNvSpPr txBox="1"/>
          <p:nvPr/>
        </p:nvSpPr>
        <p:spPr>
          <a:xfrm>
            <a:off x="6991960" y="4370832"/>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Menguji Ethical Oil</a:t>
            </a:r>
            <a:endParaRPr lang="en-US" sz="1400" dirty="0"/>
          </a:p>
        </p:txBody>
      </p:sp>
      <p:sp>
        <p:nvSpPr>
          <p:cNvPr id="47" name="Text 45"/>
          <p:cNvSpPr txBox="1"/>
          <p:nvPr/>
        </p:nvSpPr>
        <p:spPr>
          <a:xfrm>
            <a:off x="6991960" y="4636008"/>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Empat proposisi dari hasil analisis</a:t>
            </a:r>
            <a:endParaRPr lang="en-US" sz="1150" dirty="0"/>
          </a:p>
        </p:txBody>
      </p:sp>
      <p:sp>
        <p:nvSpPr>
          <p:cNvPr id="48" name="Shape 46"/>
          <p:cNvSpPr/>
          <p:nvPr/>
        </p:nvSpPr>
        <p:spPr>
          <a:xfrm>
            <a:off x="6278728" y="4992624"/>
            <a:ext cx="5291176" cy="10058"/>
          </a:xfrm>
          <a:prstGeom prst="rect">
            <a:avLst/>
          </a:prstGeom>
          <a:solidFill>
            <a:srgbClr val="DDD8CE"/>
          </a:solidFill>
          <a:ln/>
        </p:spPr>
      </p:sp>
      <p:sp>
        <p:nvSpPr>
          <p:cNvPr id="49" name="Text 47"/>
          <p:cNvSpPr txBox="1"/>
          <p:nvPr/>
        </p:nvSpPr>
        <p:spPr>
          <a:xfrm>
            <a:off x="6278728" y="5193792"/>
            <a:ext cx="566928"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10.</a:t>
            </a:r>
            <a:endParaRPr lang="en-US" sz="1400" dirty="0"/>
          </a:p>
        </p:txBody>
      </p:sp>
      <p:sp>
        <p:nvSpPr>
          <p:cNvPr id="50" name="Text 48"/>
          <p:cNvSpPr txBox="1"/>
          <p:nvPr/>
        </p:nvSpPr>
        <p:spPr>
          <a:xfrm>
            <a:off x="6991960" y="5175504"/>
            <a:ext cx="4577944" cy="274320"/>
          </a:xfrm>
          <a:prstGeom prst="rect">
            <a:avLst/>
          </a:prstGeom>
          <a:noFill/>
          <a:ln/>
        </p:spPr>
        <p:txBody>
          <a:bodyPr wrap="square" lIns="0" tIns="0" rIns="0" bIns="0" rtlCol="0" anchor="t"/>
          <a:lstStyle/>
          <a:p>
            <a:pPr indent="0" marL="0">
              <a:buNone/>
            </a:pPr>
            <a:r>
              <a:rPr lang="en-US" sz="1400" b="1" dirty="0">
                <a:solidFill>
                  <a:srgbClr val="0E1626"/>
                </a:solidFill>
                <a:latin typeface="Calibri" pitchFamily="34" charset="0"/>
                <a:ea typeface="Calibri" pitchFamily="34" charset="-122"/>
                <a:cs typeface="Calibri" pitchFamily="34" charset="-120"/>
              </a:rPr>
              <a:t>Implikasi</a:t>
            </a:r>
            <a:endParaRPr lang="en-US" sz="1400" dirty="0"/>
          </a:p>
        </p:txBody>
      </p:sp>
      <p:sp>
        <p:nvSpPr>
          <p:cNvPr id="51" name="Text 49"/>
          <p:cNvSpPr txBox="1"/>
          <p:nvPr/>
        </p:nvSpPr>
        <p:spPr>
          <a:xfrm>
            <a:off x="6991960" y="5440680"/>
            <a:ext cx="4577944" cy="256032"/>
          </a:xfrm>
          <a:prstGeom prst="rect">
            <a:avLst/>
          </a:prstGeom>
          <a:noFill/>
          <a:ln/>
        </p:spPr>
        <p:txBody>
          <a:bodyPr wrap="square" lIns="0" tIns="0" rIns="0" bIns="0" rtlCol="0" anchor="t"/>
          <a:lstStyle/>
          <a:p>
            <a:pPr indent="0" marL="0">
              <a:buNone/>
            </a:pPr>
            <a:r>
              <a:rPr lang="en-US" sz="1150" dirty="0">
                <a:solidFill>
                  <a:srgbClr val="6B7A90"/>
                </a:solidFill>
                <a:latin typeface="Calibri" pitchFamily="34" charset="0"/>
                <a:ea typeface="Calibri" pitchFamily="34" charset="-122"/>
                <a:cs typeface="Calibri" pitchFamily="34" charset="-120"/>
              </a:rPr>
              <a:t>Pelajaran manajerial dan konteks Indonesia</a:t>
            </a:r>
            <a:endParaRPr lang="en-US" sz="1150" dirty="0"/>
          </a:p>
        </p:txBody>
      </p:sp>
      <p:sp>
        <p:nvSpPr>
          <p:cNvPr id="52" name="Shape 50"/>
          <p:cNvSpPr/>
          <p:nvPr/>
        </p:nvSpPr>
        <p:spPr>
          <a:xfrm>
            <a:off x="6278728" y="5797296"/>
            <a:ext cx="5291176" cy="10058"/>
          </a:xfrm>
          <a:prstGeom prst="rect">
            <a:avLst/>
          </a:prstGeom>
          <a:solidFill>
            <a:srgbClr val="DDD8C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1053389" cy="283464"/>
          </a:xfrm>
          <a:prstGeom prst="roundRect">
            <a:avLst>
              <a:gd name="adj" fmla="val 50000"/>
            </a:avLst>
          </a:prstGeom>
          <a:solidFill>
            <a:srgbClr val="0FA98E"/>
          </a:solidFill>
          <a:ln w="12700">
            <a:solidFill>
              <a:srgbClr val="0FA98E"/>
            </a:solidFill>
            <a:prstDash val="solid"/>
          </a:ln>
        </p:spPr>
      </p:sp>
      <p:sp>
        <p:nvSpPr>
          <p:cNvPr id="4" name="Text 2"/>
          <p:cNvSpPr txBox="1"/>
          <p:nvPr/>
        </p:nvSpPr>
        <p:spPr>
          <a:xfrm>
            <a:off x="621792" y="457200"/>
            <a:ext cx="1053389"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KERANGKA</a:t>
            </a:r>
            <a:endParaRPr lang="en-US" sz="950" dirty="0"/>
          </a:p>
        </p:txBody>
      </p:sp>
      <p:sp>
        <p:nvSpPr>
          <p:cNvPr id="5" name="Shape 3"/>
          <p:cNvSpPr/>
          <p:nvPr/>
        </p:nvSpPr>
        <p:spPr>
          <a:xfrm>
            <a:off x="1794053" y="457200"/>
            <a:ext cx="1234440"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94053" y="457200"/>
            <a:ext cx="1234440"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FIGURE 3.2</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03</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Kasus Ini Menolak Satu Jawaban</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Karena itu kerangkanya bukan satu teori, melainkan sembilan sekaligus.</a:t>
            </a:r>
            <a:endParaRPr lang="en-US" sz="1350" dirty="0"/>
          </a:p>
        </p:txBody>
      </p:sp>
      <p:sp>
        <p:nvSpPr>
          <p:cNvPr id="10" name="Shape 8"/>
          <p:cNvSpPr/>
          <p:nvPr/>
        </p:nvSpPr>
        <p:spPr>
          <a:xfrm>
            <a:off x="621792" y="1975104"/>
            <a:ext cx="5346040" cy="2286000"/>
          </a:xfrm>
          <a:prstGeom prst="roundRect">
            <a:avLst>
              <a:gd name="adj" fmla="val 6400"/>
            </a:avLst>
          </a:prstGeom>
          <a:solidFill>
            <a:srgbClr val="FFFFFF"/>
          </a:solidFill>
          <a:ln w="12700">
            <a:solidFill>
              <a:srgbClr val="DDD8CE"/>
            </a:solidFill>
            <a:prstDash val="dash"/>
          </a:ln>
        </p:spPr>
      </p:sp>
      <p:sp>
        <p:nvSpPr>
          <p:cNvPr id="11" name="Text 9"/>
          <p:cNvSpPr txBox="1"/>
          <p:nvPr/>
        </p:nvSpPr>
        <p:spPr>
          <a:xfrm>
            <a:off x="896112" y="2194560"/>
            <a:ext cx="4797400" cy="237744"/>
          </a:xfrm>
          <a:prstGeom prst="rect">
            <a:avLst/>
          </a:prstGeom>
          <a:noFill/>
          <a:ln/>
        </p:spPr>
        <p:txBody>
          <a:bodyPr wrap="square" lIns="0" tIns="0" rIns="0" bIns="0" rtlCol="0" anchor="t"/>
          <a:lstStyle/>
          <a:p>
            <a:pPr indent="0" marL="0">
              <a:buNone/>
            </a:pPr>
            <a:r>
              <a:rPr lang="en-US" sz="950" b="1" spc="100" kern="0" dirty="0">
                <a:solidFill>
                  <a:srgbClr val="6B7A90"/>
                </a:solidFill>
                <a:latin typeface="Calibri" pitchFamily="34" charset="0"/>
                <a:ea typeface="Calibri" pitchFamily="34" charset="-122"/>
                <a:cs typeface="Calibri" pitchFamily="34" charset="-120"/>
              </a:rPr>
              <a:t>CARA YANG BIASA</a:t>
            </a:r>
            <a:endParaRPr lang="en-US" sz="950" dirty="0"/>
          </a:p>
        </p:txBody>
      </p:sp>
      <p:sp>
        <p:nvSpPr>
          <p:cNvPr id="12" name="Text 10"/>
          <p:cNvSpPr txBox="1"/>
          <p:nvPr/>
        </p:nvSpPr>
        <p:spPr>
          <a:xfrm>
            <a:off x="896112" y="2468880"/>
            <a:ext cx="4797400" cy="329184"/>
          </a:xfrm>
          <a:prstGeom prst="rect">
            <a:avLst/>
          </a:prstGeom>
          <a:noFill/>
          <a:ln/>
        </p:spPr>
        <p:txBody>
          <a:bodyPr wrap="square" lIns="0" tIns="0" rIns="0" bIns="0" rtlCol="0" anchor="t"/>
          <a:lstStyle/>
          <a:p>
            <a:pPr indent="0" marL="0">
              <a:buNone/>
            </a:pPr>
            <a:r>
              <a:rPr lang="en-US" sz="1800" b="1" dirty="0">
                <a:solidFill>
                  <a:srgbClr val="0E1626"/>
                </a:solidFill>
                <a:latin typeface="Calibri" pitchFamily="34" charset="0"/>
                <a:ea typeface="Calibri" pitchFamily="34" charset="-122"/>
                <a:cs typeface="Calibri" pitchFamily="34" charset="-120"/>
              </a:rPr>
              <a:t>Pilih Satu Teori, Ambil Kesimpulan</a:t>
            </a:r>
            <a:endParaRPr lang="en-US" sz="1800" dirty="0"/>
          </a:p>
        </p:txBody>
      </p:sp>
      <p:sp>
        <p:nvSpPr>
          <p:cNvPr id="13" name="Text 11"/>
          <p:cNvSpPr txBox="1"/>
          <p:nvPr/>
        </p:nvSpPr>
        <p:spPr>
          <a:xfrm>
            <a:off x="896112" y="2907792"/>
            <a:ext cx="4742536" cy="1060704"/>
          </a:xfrm>
          <a:prstGeom prst="rect">
            <a:avLst/>
          </a:prstGeom>
          <a:noFill/>
          <a:ln/>
        </p:spPr>
        <p:txBody>
          <a:bodyPr wrap="square" lIns="0" tIns="0" rIns="0" bIns="0" rtlCol="0" anchor="t"/>
          <a:lstStyle/>
          <a:p>
            <a:pPr indent="0" marL="0">
              <a:lnSpc>
                <a:spcPts val="1800"/>
              </a:lnSpc>
              <a:buNone/>
            </a:pPr>
            <a:r>
              <a:rPr lang="en-US" sz="1250" dirty="0">
                <a:solidFill>
                  <a:srgbClr val="2A3243"/>
                </a:solidFill>
                <a:latin typeface="Calibri" pitchFamily="34" charset="0"/>
                <a:ea typeface="Calibri" pitchFamily="34" charset="-122"/>
                <a:cs typeface="Calibri" pitchFamily="34" charset="-120"/>
              </a:rPr>
              <a:t>Kasus dipusatkan menjadi satu pertimbangan tunggal. Kesimpulannya rapi, tetapi seluruh keberatan pihak lain hilang dari pandangan dan tidak pernah terjawab.</a:t>
            </a:r>
            <a:endParaRPr lang="en-US" sz="1250" dirty="0"/>
          </a:p>
        </p:txBody>
      </p:sp>
      <p:sp>
        <p:nvSpPr>
          <p:cNvPr id="14" name="Shape 12"/>
          <p:cNvSpPr/>
          <p:nvPr/>
        </p:nvSpPr>
        <p:spPr>
          <a:xfrm>
            <a:off x="6223864" y="1975104"/>
            <a:ext cx="5346040" cy="2286000"/>
          </a:xfrm>
          <a:prstGeom prst="roundRect">
            <a:avLst>
              <a:gd name="adj" fmla="val 6400"/>
            </a:avLst>
          </a:prstGeom>
          <a:solidFill>
            <a:srgbClr val="0E1626"/>
          </a:solidFill>
          <a:ln/>
        </p:spPr>
      </p:sp>
      <p:sp>
        <p:nvSpPr>
          <p:cNvPr id="15" name="Text 13"/>
          <p:cNvSpPr txBox="1"/>
          <p:nvPr/>
        </p:nvSpPr>
        <p:spPr>
          <a:xfrm>
            <a:off x="6498184" y="2194560"/>
            <a:ext cx="4797400" cy="237744"/>
          </a:xfrm>
          <a:prstGeom prst="rect">
            <a:avLst/>
          </a:prstGeom>
          <a:noFill/>
          <a:ln/>
        </p:spPr>
        <p:txBody>
          <a:bodyPr wrap="square" lIns="0" tIns="0" rIns="0" bIns="0" rtlCol="0" anchor="t"/>
          <a:lstStyle/>
          <a:p>
            <a:pPr indent="0" marL="0">
              <a:buNone/>
            </a:pPr>
            <a:r>
              <a:rPr lang="en-US" sz="950" b="1" spc="100" kern="0" dirty="0">
                <a:solidFill>
                  <a:srgbClr val="C6F04A"/>
                </a:solidFill>
                <a:latin typeface="Calibri" pitchFamily="34" charset="0"/>
                <a:ea typeface="Calibri" pitchFamily="34" charset="-122"/>
                <a:cs typeface="Calibri" pitchFamily="34" charset="-120"/>
              </a:rPr>
              <a:t>CARA CHAPTER 3</a:t>
            </a:r>
            <a:endParaRPr lang="en-US" sz="950" dirty="0"/>
          </a:p>
        </p:txBody>
      </p:sp>
      <p:sp>
        <p:nvSpPr>
          <p:cNvPr id="16" name="Text 14"/>
          <p:cNvSpPr txBox="1"/>
          <p:nvPr/>
        </p:nvSpPr>
        <p:spPr>
          <a:xfrm>
            <a:off x="6498184" y="2468880"/>
            <a:ext cx="4797400" cy="329184"/>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Jalankan Sembilan Lensa Sekaligus</a:t>
            </a:r>
            <a:endParaRPr lang="en-US" sz="1800" dirty="0"/>
          </a:p>
        </p:txBody>
      </p:sp>
      <p:sp>
        <p:nvSpPr>
          <p:cNvPr id="17" name="Text 15"/>
          <p:cNvSpPr txBox="1"/>
          <p:nvPr/>
        </p:nvSpPr>
        <p:spPr>
          <a:xfrm>
            <a:off x="6498184" y="2907792"/>
            <a:ext cx="4742536" cy="1060704"/>
          </a:xfrm>
          <a:prstGeom prst="rect">
            <a:avLst/>
          </a:prstGeom>
          <a:noFill/>
          <a:ln/>
        </p:spPr>
        <p:txBody>
          <a:bodyPr wrap="square" lIns="0" tIns="0" rIns="0" bIns="0" rtlCol="0" anchor="t"/>
          <a:lstStyle/>
          <a:p>
            <a:pPr indent="0" marL="0">
              <a:lnSpc>
                <a:spcPts val="1800"/>
              </a:lnSpc>
              <a:buNone/>
            </a:pPr>
            <a:r>
              <a:rPr lang="en-US" sz="1250" dirty="0">
                <a:solidFill>
                  <a:srgbClr val="E8E4DC"/>
                </a:solidFill>
                <a:latin typeface="Calibri" pitchFamily="34" charset="0"/>
                <a:ea typeface="Calibri" pitchFamily="34" charset="-122"/>
                <a:cs typeface="Calibri" pitchFamily="34" charset="-120"/>
              </a:rPr>
              <a:t>Setiap teori menyinari sisi yang tidak terlihat teori lain. Yang dicari bukan jawaban tunggal, melainkan pertimbangan mana yang paling berat menanggung beban argumen.</a:t>
            </a:r>
            <a:endParaRPr lang="en-US" sz="1250" dirty="0"/>
          </a:p>
        </p:txBody>
      </p:sp>
      <p:sp>
        <p:nvSpPr>
          <p:cNvPr id="18" name="Text 16"/>
          <p:cNvSpPr txBox="1"/>
          <p:nvPr/>
        </p:nvSpPr>
        <p:spPr>
          <a:xfrm>
            <a:off x="621792" y="4407408"/>
            <a:ext cx="10948111" cy="274320"/>
          </a:xfrm>
          <a:prstGeom prst="rect">
            <a:avLst/>
          </a:prstGeom>
          <a:noFill/>
          <a:ln/>
        </p:spPr>
        <p:txBody>
          <a:bodyPr wrap="square" lIns="0" tIns="0" rIns="0" bIns="0" rtlCol="0" anchor="t"/>
          <a:lstStyle/>
          <a:p>
            <a:pPr indent="0" marL="0">
              <a:buNone/>
            </a:pPr>
            <a:r>
              <a:rPr lang="en-US" sz="1200" b="1" dirty="0">
                <a:solidFill>
                  <a:srgbClr val="6B7A90"/>
                </a:solidFill>
                <a:latin typeface="Calibri" pitchFamily="34" charset="0"/>
                <a:ea typeface="Calibri" pitchFamily="34" charset="-122"/>
                <a:cs typeface="Calibri" pitchFamily="34" charset="-120"/>
              </a:rPr>
              <a:t>Sembilan lensa yang akan dijalankan</a:t>
            </a:r>
            <a:endParaRPr lang="en-US" sz="1200" dirty="0"/>
          </a:p>
        </p:txBody>
      </p:sp>
      <p:sp>
        <p:nvSpPr>
          <p:cNvPr id="19" name="Shape 17"/>
          <p:cNvSpPr/>
          <p:nvPr/>
        </p:nvSpPr>
        <p:spPr>
          <a:xfrm>
            <a:off x="621792" y="4818888"/>
            <a:ext cx="182880" cy="182880"/>
          </a:xfrm>
          <a:prstGeom prst="rect">
            <a:avLst/>
          </a:prstGeom>
          <a:solidFill>
            <a:srgbClr val="AB463C"/>
          </a:solidFill>
          <a:ln/>
        </p:spPr>
      </p:sp>
      <p:sp>
        <p:nvSpPr>
          <p:cNvPr id="20" name="Text 18"/>
          <p:cNvSpPr txBox="1"/>
          <p:nvPr/>
        </p:nvSpPr>
        <p:spPr>
          <a:xfrm>
            <a:off x="914400" y="4754880"/>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1. Egoism</a:t>
            </a:r>
            <a:endParaRPr lang="en-US" sz="1200" dirty="0"/>
          </a:p>
        </p:txBody>
      </p:sp>
      <p:sp>
        <p:nvSpPr>
          <p:cNvPr id="21" name="Shape 19"/>
          <p:cNvSpPr/>
          <p:nvPr/>
        </p:nvSpPr>
        <p:spPr>
          <a:xfrm>
            <a:off x="2811414" y="4818888"/>
            <a:ext cx="182880" cy="182880"/>
          </a:xfrm>
          <a:prstGeom prst="rect">
            <a:avLst/>
          </a:prstGeom>
          <a:solidFill>
            <a:srgbClr val="FF5A2D"/>
          </a:solidFill>
          <a:ln/>
        </p:spPr>
      </p:sp>
      <p:sp>
        <p:nvSpPr>
          <p:cNvPr id="22" name="Text 20"/>
          <p:cNvSpPr txBox="1"/>
          <p:nvPr/>
        </p:nvSpPr>
        <p:spPr>
          <a:xfrm>
            <a:off x="3104022" y="4754880"/>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2. Utilitarianism</a:t>
            </a:r>
            <a:endParaRPr lang="en-US" sz="1200" dirty="0"/>
          </a:p>
        </p:txBody>
      </p:sp>
      <p:sp>
        <p:nvSpPr>
          <p:cNvPr id="23" name="Shape 21"/>
          <p:cNvSpPr/>
          <p:nvPr/>
        </p:nvSpPr>
        <p:spPr>
          <a:xfrm>
            <a:off x="5001036" y="4818888"/>
            <a:ext cx="182880" cy="182880"/>
          </a:xfrm>
          <a:prstGeom prst="rect">
            <a:avLst/>
          </a:prstGeom>
          <a:solidFill>
            <a:srgbClr val="F5B722"/>
          </a:solidFill>
          <a:ln/>
        </p:spPr>
      </p:sp>
      <p:sp>
        <p:nvSpPr>
          <p:cNvPr id="24" name="Text 22"/>
          <p:cNvSpPr txBox="1"/>
          <p:nvPr/>
        </p:nvSpPr>
        <p:spPr>
          <a:xfrm>
            <a:off x="5293644" y="4754880"/>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3. Duty</a:t>
            </a:r>
            <a:endParaRPr lang="en-US" sz="1200" dirty="0"/>
          </a:p>
        </p:txBody>
      </p:sp>
      <p:sp>
        <p:nvSpPr>
          <p:cNvPr id="25" name="Shape 23"/>
          <p:cNvSpPr/>
          <p:nvPr/>
        </p:nvSpPr>
        <p:spPr>
          <a:xfrm>
            <a:off x="7190659" y="4818888"/>
            <a:ext cx="182880" cy="182880"/>
          </a:xfrm>
          <a:prstGeom prst="rect">
            <a:avLst/>
          </a:prstGeom>
          <a:solidFill>
            <a:srgbClr val="C6F04A"/>
          </a:solidFill>
          <a:ln/>
        </p:spPr>
      </p:sp>
      <p:sp>
        <p:nvSpPr>
          <p:cNvPr id="26" name="Text 24"/>
          <p:cNvSpPr txBox="1"/>
          <p:nvPr/>
        </p:nvSpPr>
        <p:spPr>
          <a:xfrm>
            <a:off x="7483267" y="4754880"/>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4. Rights</a:t>
            </a:r>
            <a:endParaRPr lang="en-US" sz="1200" dirty="0"/>
          </a:p>
        </p:txBody>
      </p:sp>
      <p:sp>
        <p:nvSpPr>
          <p:cNvPr id="27" name="Shape 25"/>
          <p:cNvSpPr/>
          <p:nvPr/>
        </p:nvSpPr>
        <p:spPr>
          <a:xfrm>
            <a:off x="9380281" y="4818888"/>
            <a:ext cx="182880" cy="182880"/>
          </a:xfrm>
          <a:prstGeom prst="rect">
            <a:avLst/>
          </a:prstGeom>
          <a:solidFill>
            <a:srgbClr val="0FA98E"/>
          </a:solidFill>
          <a:ln/>
        </p:spPr>
      </p:sp>
      <p:sp>
        <p:nvSpPr>
          <p:cNvPr id="28" name="Text 26"/>
          <p:cNvSpPr txBox="1"/>
          <p:nvPr/>
        </p:nvSpPr>
        <p:spPr>
          <a:xfrm>
            <a:off x="9672889" y="4754880"/>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5. Justice</a:t>
            </a:r>
            <a:endParaRPr lang="en-US" sz="1200" dirty="0"/>
          </a:p>
        </p:txBody>
      </p:sp>
      <p:sp>
        <p:nvSpPr>
          <p:cNvPr id="29" name="Shape 27"/>
          <p:cNvSpPr/>
          <p:nvPr/>
        </p:nvSpPr>
        <p:spPr>
          <a:xfrm>
            <a:off x="621792" y="5385816"/>
            <a:ext cx="182880" cy="182880"/>
          </a:xfrm>
          <a:prstGeom prst="rect">
            <a:avLst/>
          </a:prstGeom>
          <a:solidFill>
            <a:srgbClr val="4EA8DE"/>
          </a:solidFill>
          <a:ln/>
        </p:spPr>
      </p:sp>
      <p:sp>
        <p:nvSpPr>
          <p:cNvPr id="30" name="Text 28"/>
          <p:cNvSpPr txBox="1"/>
          <p:nvPr/>
        </p:nvSpPr>
        <p:spPr>
          <a:xfrm>
            <a:off x="914400" y="5321808"/>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6. Virtue</a:t>
            </a:r>
            <a:endParaRPr lang="en-US" sz="1200" dirty="0"/>
          </a:p>
        </p:txBody>
      </p:sp>
      <p:sp>
        <p:nvSpPr>
          <p:cNvPr id="31" name="Shape 29"/>
          <p:cNvSpPr/>
          <p:nvPr/>
        </p:nvSpPr>
        <p:spPr>
          <a:xfrm>
            <a:off x="2811414" y="5385816"/>
            <a:ext cx="182880" cy="182880"/>
          </a:xfrm>
          <a:prstGeom prst="rect">
            <a:avLst/>
          </a:prstGeom>
          <a:solidFill>
            <a:srgbClr val="6C7BE0"/>
          </a:solidFill>
          <a:ln/>
        </p:spPr>
      </p:sp>
      <p:sp>
        <p:nvSpPr>
          <p:cNvPr id="32" name="Text 30"/>
          <p:cNvSpPr txBox="1"/>
          <p:nvPr/>
        </p:nvSpPr>
        <p:spPr>
          <a:xfrm>
            <a:off x="3104022" y="5321808"/>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7. Care</a:t>
            </a:r>
            <a:endParaRPr lang="en-US" sz="1200" dirty="0"/>
          </a:p>
        </p:txBody>
      </p:sp>
      <p:sp>
        <p:nvSpPr>
          <p:cNvPr id="33" name="Shape 31"/>
          <p:cNvSpPr/>
          <p:nvPr/>
        </p:nvSpPr>
        <p:spPr>
          <a:xfrm>
            <a:off x="5001036" y="5385816"/>
            <a:ext cx="182880" cy="182880"/>
          </a:xfrm>
          <a:prstGeom prst="rect">
            <a:avLst/>
          </a:prstGeom>
          <a:solidFill>
            <a:srgbClr val="B8A6F5"/>
          </a:solidFill>
          <a:ln/>
        </p:spPr>
      </p:sp>
      <p:sp>
        <p:nvSpPr>
          <p:cNvPr id="34" name="Text 32"/>
          <p:cNvSpPr txBox="1"/>
          <p:nvPr/>
        </p:nvSpPr>
        <p:spPr>
          <a:xfrm>
            <a:off x="5293644" y="5321808"/>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8. Discourse</a:t>
            </a:r>
            <a:endParaRPr lang="en-US" sz="1200" dirty="0"/>
          </a:p>
        </p:txBody>
      </p:sp>
      <p:sp>
        <p:nvSpPr>
          <p:cNvPr id="35" name="Shape 33"/>
          <p:cNvSpPr/>
          <p:nvPr/>
        </p:nvSpPr>
        <p:spPr>
          <a:xfrm>
            <a:off x="7190659" y="5385816"/>
            <a:ext cx="182880" cy="182880"/>
          </a:xfrm>
          <a:prstGeom prst="rect">
            <a:avLst/>
          </a:prstGeom>
          <a:solidFill>
            <a:srgbClr val="E86A9B"/>
          </a:solidFill>
          <a:ln/>
        </p:spPr>
      </p:sp>
      <p:sp>
        <p:nvSpPr>
          <p:cNvPr id="36" name="Text 34"/>
          <p:cNvSpPr txBox="1"/>
          <p:nvPr/>
        </p:nvSpPr>
        <p:spPr>
          <a:xfrm>
            <a:off x="7483267" y="5321808"/>
            <a:ext cx="1823862" cy="292608"/>
          </a:xfrm>
          <a:prstGeom prst="rect">
            <a:avLst/>
          </a:prstGeom>
          <a:noFill/>
          <a:ln/>
        </p:spPr>
        <p:txBody>
          <a:bodyPr wrap="square" lIns="0" tIns="0" rIns="0" bIns="0" rtlCol="0" anchor="t"/>
          <a:lstStyle/>
          <a:p>
            <a:pPr indent="0" marL="0">
              <a:buNone/>
            </a:pPr>
            <a:r>
              <a:rPr lang="en-US" sz="1200" b="1" dirty="0">
                <a:solidFill>
                  <a:srgbClr val="0E1626"/>
                </a:solidFill>
                <a:latin typeface="Calibri" pitchFamily="34" charset="0"/>
                <a:ea typeface="Calibri" pitchFamily="34" charset="-122"/>
                <a:cs typeface="Calibri" pitchFamily="34" charset="-120"/>
              </a:rPr>
              <a:t>9. Postmodern</a:t>
            </a:r>
            <a:endParaRPr lang="en-US" sz="1200" dirty="0"/>
          </a:p>
        </p:txBody>
      </p:sp>
      <p:sp>
        <p:nvSpPr>
          <p:cNvPr id="37" name="Shape 35"/>
          <p:cNvSpPr/>
          <p:nvPr/>
        </p:nvSpPr>
        <p:spPr>
          <a:xfrm>
            <a:off x="621792" y="5870448"/>
            <a:ext cx="10948111" cy="475488"/>
          </a:xfrm>
          <a:prstGeom prst="roundRect">
            <a:avLst>
              <a:gd name="adj" fmla="val 30769"/>
            </a:avLst>
          </a:prstGeom>
          <a:solidFill>
            <a:srgbClr val="C6F04A"/>
          </a:solidFill>
          <a:ln/>
        </p:spPr>
      </p:sp>
      <p:sp>
        <p:nvSpPr>
          <p:cNvPr id="38" name="Text 36"/>
          <p:cNvSpPr txBox="1"/>
          <p:nvPr/>
        </p:nvSpPr>
        <p:spPr>
          <a:xfrm>
            <a:off x="941832" y="6009608"/>
            <a:ext cx="10308031" cy="329184"/>
          </a:xfrm>
          <a:prstGeom prst="rect">
            <a:avLst/>
          </a:prstGeom>
          <a:noFill/>
          <a:ln/>
        </p:spPr>
        <p:txBody>
          <a:bodyPr wrap="square" lIns="0" tIns="0" rIns="0" bIns="0" rtlCol="0" anchor="t"/>
          <a:lstStyle/>
          <a:p>
            <a:pPr indent="0" marL="0">
              <a:lnSpc>
                <a:spcPts val="1553"/>
              </a:lnSpc>
              <a:buNone/>
            </a:pPr>
            <a:r>
              <a:rPr lang="en-US" sz="1150" b="1" dirty="0">
                <a:solidFill>
                  <a:srgbClr val="0E1626"/>
                </a:solidFill>
                <a:latin typeface="Calibri" pitchFamily="34" charset="0"/>
                <a:ea typeface="Calibri" pitchFamily="34" charset="-122"/>
                <a:cs typeface="Calibri" pitchFamily="34" charset="-120"/>
              </a:rPr>
              <a:t>Sembilan sorotan atas satu rangkaian fakta yang sama. Itulah prisma pada Figure 3.2.</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872338"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872338"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PROFIL</a:t>
            </a:r>
            <a:endParaRPr lang="en-US" sz="950" dirty="0"/>
          </a:p>
        </p:txBody>
      </p:sp>
      <p:sp>
        <p:nvSpPr>
          <p:cNvPr id="5" name="Shape 3"/>
          <p:cNvSpPr/>
          <p:nvPr/>
        </p:nvSpPr>
        <p:spPr>
          <a:xfrm>
            <a:off x="1613002" y="457200"/>
            <a:ext cx="1687068"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613002" y="457200"/>
            <a:ext cx="1687068"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HALAMAN 129–130</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04</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Apa yang Sebenarnya Ditambang</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Campuran pasir, lempung, air, dan bitumen yang berat dan sangat kental.</a:t>
            </a:r>
            <a:endParaRPr lang="en-US" sz="1350" dirty="0"/>
          </a:p>
        </p:txBody>
      </p:sp>
      <p:sp>
        <p:nvSpPr>
          <p:cNvPr id="10" name="Shape 8"/>
          <p:cNvSpPr/>
          <p:nvPr/>
        </p:nvSpPr>
        <p:spPr>
          <a:xfrm>
            <a:off x="621792" y="1975104"/>
            <a:ext cx="2599868" cy="1828800"/>
          </a:xfrm>
          <a:prstGeom prst="roundRect">
            <a:avLst>
              <a:gd name="adj" fmla="val 8000"/>
            </a:avLst>
          </a:prstGeom>
          <a:solidFill>
            <a:srgbClr val="FF5A2D"/>
          </a:solidFill>
          <a:ln/>
        </p:spPr>
      </p:sp>
      <p:sp>
        <p:nvSpPr>
          <p:cNvPr id="11" name="Text 9"/>
          <p:cNvSpPr txBox="1"/>
          <p:nvPr/>
        </p:nvSpPr>
        <p:spPr>
          <a:xfrm>
            <a:off x="841248" y="2194560"/>
            <a:ext cx="2160956" cy="566928"/>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140</a:t>
            </a:r>
            <a:pPr indent="0" marL="0">
              <a:buNone/>
            </a:pPr>
            <a:r>
              <a:rPr lang="en-US" sz="1260" b="1" dirty="0">
                <a:solidFill>
                  <a:srgbClr val="FFFFFF"/>
                </a:solidFill>
                <a:latin typeface="Calibri" pitchFamily="34" charset="0"/>
                <a:ea typeface="Calibri" pitchFamily="34" charset="-122"/>
                <a:cs typeface="Calibri" pitchFamily="34" charset="-120"/>
              </a:rPr>
              <a:t>  rb km²</a:t>
            </a:r>
            <a:endParaRPr lang="en-US" sz="3000" dirty="0"/>
          </a:p>
        </p:txBody>
      </p:sp>
      <p:sp>
        <p:nvSpPr>
          <p:cNvPr id="12" name="Text 10"/>
          <p:cNvSpPr txBox="1"/>
          <p:nvPr/>
        </p:nvSpPr>
        <p:spPr>
          <a:xfrm>
            <a:off x="841248" y="2834640"/>
            <a:ext cx="2160956" cy="786384"/>
          </a:xfrm>
          <a:prstGeom prst="rect">
            <a:avLst/>
          </a:prstGeom>
          <a:noFill/>
          <a:ln/>
        </p:spPr>
        <p:txBody>
          <a:bodyPr wrap="square" lIns="0" tIns="0" rIns="0" bIns="0" rtlCol="0" anchor="t"/>
          <a:lstStyle/>
          <a:p>
            <a:pPr indent="0" marL="0">
              <a:lnSpc>
                <a:spcPts val="1540"/>
              </a:lnSpc>
              <a:buNone/>
            </a:pPr>
            <a:r>
              <a:rPr lang="en-US" sz="1100" dirty="0">
                <a:solidFill>
                  <a:srgbClr val="E8E4DC"/>
                </a:solidFill>
                <a:latin typeface="Calibri" pitchFamily="34" charset="0"/>
                <a:ea typeface="Calibri" pitchFamily="34" charset="-122"/>
                <a:cs typeface="Calibri" pitchFamily="34" charset="-120"/>
              </a:rPr>
              <a:t>Luas deposit di Alberta, dengan Fort McMurray sebagai pusat industrinya</a:t>
            </a:r>
            <a:endParaRPr lang="en-US" sz="1100" dirty="0"/>
          </a:p>
        </p:txBody>
      </p:sp>
      <p:sp>
        <p:nvSpPr>
          <p:cNvPr id="13" name="Shape 11"/>
          <p:cNvSpPr/>
          <p:nvPr/>
        </p:nvSpPr>
        <p:spPr>
          <a:xfrm>
            <a:off x="3404540" y="1975104"/>
            <a:ext cx="2599868" cy="1828800"/>
          </a:xfrm>
          <a:prstGeom prst="roundRect">
            <a:avLst>
              <a:gd name="adj" fmla="val 8000"/>
            </a:avLst>
          </a:prstGeom>
          <a:solidFill>
            <a:srgbClr val="B8A6F5"/>
          </a:solidFill>
          <a:ln/>
        </p:spPr>
      </p:sp>
      <p:sp>
        <p:nvSpPr>
          <p:cNvPr id="14" name="Text 12"/>
          <p:cNvSpPr txBox="1"/>
          <p:nvPr/>
        </p:nvSpPr>
        <p:spPr>
          <a:xfrm>
            <a:off x="3623996" y="2194560"/>
            <a:ext cx="2160956" cy="566928"/>
          </a:xfrm>
          <a:prstGeom prst="rect">
            <a:avLst/>
          </a:prstGeom>
          <a:noFill/>
          <a:ln/>
        </p:spPr>
        <p:txBody>
          <a:bodyPr wrap="square" lIns="0" tIns="0" rIns="0" bIns="0" rtlCol="0" anchor="t"/>
          <a:lstStyle/>
          <a:p>
            <a:pPr indent="0" marL="0">
              <a:buNone/>
            </a:pPr>
            <a:r>
              <a:rPr lang="en-US" sz="3000" b="1" dirty="0">
                <a:solidFill>
                  <a:srgbClr val="0E1626"/>
                </a:solidFill>
                <a:latin typeface="Calibri" pitchFamily="34" charset="0"/>
                <a:ea typeface="Calibri" pitchFamily="34" charset="-122"/>
                <a:cs typeface="Calibri" pitchFamily="34" charset="-120"/>
              </a:rPr>
              <a:t>2,77</a:t>
            </a:r>
            <a:pPr indent="0" marL="0">
              <a:buNone/>
            </a:pPr>
            <a:r>
              <a:rPr lang="en-US" sz="1260" b="1" dirty="0">
                <a:solidFill>
                  <a:srgbClr val="0E1626"/>
                </a:solidFill>
                <a:latin typeface="Calibri" pitchFamily="34" charset="0"/>
                <a:ea typeface="Calibri" pitchFamily="34" charset="-122"/>
                <a:cs typeface="Calibri" pitchFamily="34" charset="-120"/>
              </a:rPr>
              <a:t>  juta</a:t>
            </a:r>
            <a:endParaRPr lang="en-US" sz="3000" dirty="0"/>
          </a:p>
        </p:txBody>
      </p:sp>
      <p:sp>
        <p:nvSpPr>
          <p:cNvPr id="15" name="Text 13"/>
          <p:cNvSpPr txBox="1"/>
          <p:nvPr/>
        </p:nvSpPr>
        <p:spPr>
          <a:xfrm>
            <a:off x="3623996" y="2834640"/>
            <a:ext cx="2160956" cy="786384"/>
          </a:xfrm>
          <a:prstGeom prst="rect">
            <a:avLst/>
          </a:prstGeom>
          <a:noFill/>
          <a:ln/>
        </p:spPr>
        <p:txBody>
          <a:bodyPr wrap="square" lIns="0" tIns="0" rIns="0" bIns="0" rtlCol="0" anchor="t"/>
          <a:lstStyle/>
          <a:p>
            <a:pPr indent="0" marL="0">
              <a:lnSpc>
                <a:spcPts val="1540"/>
              </a:lnSpc>
              <a:buNone/>
            </a:pPr>
            <a:r>
              <a:rPr lang="en-US" sz="1100" dirty="0">
                <a:solidFill>
                  <a:srgbClr val="2A3243"/>
                </a:solidFill>
                <a:latin typeface="Calibri" pitchFamily="34" charset="0"/>
                <a:ea typeface="Calibri" pitchFamily="34" charset="-122"/>
                <a:cs typeface="Calibri" pitchFamily="34" charset="-120"/>
              </a:rPr>
              <a:t>Barel per hari pada 2017, naik dari 0,5 juta barel pada 1997</a:t>
            </a:r>
            <a:endParaRPr lang="en-US" sz="1100" dirty="0"/>
          </a:p>
        </p:txBody>
      </p:sp>
      <p:sp>
        <p:nvSpPr>
          <p:cNvPr id="16" name="Shape 14"/>
          <p:cNvSpPr/>
          <p:nvPr/>
        </p:nvSpPr>
        <p:spPr>
          <a:xfrm>
            <a:off x="6187288" y="1975104"/>
            <a:ext cx="2599868" cy="1828800"/>
          </a:xfrm>
          <a:prstGeom prst="roundRect">
            <a:avLst>
              <a:gd name="adj" fmla="val 8000"/>
            </a:avLst>
          </a:prstGeom>
          <a:solidFill>
            <a:srgbClr val="0FA98E"/>
          </a:solidFill>
          <a:ln/>
        </p:spPr>
      </p:sp>
      <p:sp>
        <p:nvSpPr>
          <p:cNvPr id="17" name="Text 15"/>
          <p:cNvSpPr txBox="1"/>
          <p:nvPr/>
        </p:nvSpPr>
        <p:spPr>
          <a:xfrm>
            <a:off x="6406744" y="2194560"/>
            <a:ext cx="2160956" cy="566928"/>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170</a:t>
            </a:r>
            <a:pPr indent="0" marL="0">
              <a:buNone/>
            </a:pPr>
            <a:r>
              <a:rPr lang="en-US" sz="1260" b="1" dirty="0">
                <a:solidFill>
                  <a:srgbClr val="FFFFFF"/>
                </a:solidFill>
                <a:latin typeface="Calibri" pitchFamily="34" charset="0"/>
                <a:ea typeface="Calibri" pitchFamily="34" charset="-122"/>
                <a:cs typeface="Calibri" pitchFamily="34" charset="-120"/>
              </a:rPr>
              <a:t>  M barel</a:t>
            </a:r>
            <a:endParaRPr lang="en-US" sz="3000" dirty="0"/>
          </a:p>
        </p:txBody>
      </p:sp>
      <p:sp>
        <p:nvSpPr>
          <p:cNvPr id="18" name="Text 16"/>
          <p:cNvSpPr txBox="1"/>
          <p:nvPr/>
        </p:nvSpPr>
        <p:spPr>
          <a:xfrm>
            <a:off x="6406744" y="2834640"/>
            <a:ext cx="2160956" cy="786384"/>
          </a:xfrm>
          <a:prstGeom prst="rect">
            <a:avLst/>
          </a:prstGeom>
          <a:noFill/>
          <a:ln/>
        </p:spPr>
        <p:txBody>
          <a:bodyPr wrap="square" lIns="0" tIns="0" rIns="0" bIns="0" rtlCol="0" anchor="t"/>
          <a:lstStyle/>
          <a:p>
            <a:pPr indent="0" marL="0">
              <a:lnSpc>
                <a:spcPts val="1540"/>
              </a:lnSpc>
              <a:buNone/>
            </a:pPr>
            <a:r>
              <a:rPr lang="en-US" sz="1100" dirty="0">
                <a:solidFill>
                  <a:srgbClr val="E8E4DC"/>
                </a:solidFill>
                <a:latin typeface="Calibri" pitchFamily="34" charset="0"/>
                <a:ea typeface="Calibri" pitchFamily="34" charset="-122"/>
                <a:cs typeface="Calibri" pitchFamily="34" charset="-120"/>
              </a:rPr>
              <a:t>Cadangan terbukti Kanada, terbesar ketiga di dunia setelah Venezuela</a:t>
            </a:r>
            <a:endParaRPr lang="en-US" sz="1100" dirty="0"/>
          </a:p>
        </p:txBody>
      </p:sp>
      <p:sp>
        <p:nvSpPr>
          <p:cNvPr id="19" name="Shape 17"/>
          <p:cNvSpPr/>
          <p:nvPr/>
        </p:nvSpPr>
        <p:spPr>
          <a:xfrm>
            <a:off x="8970035" y="1975104"/>
            <a:ext cx="2599868" cy="1828800"/>
          </a:xfrm>
          <a:prstGeom prst="roundRect">
            <a:avLst>
              <a:gd name="adj" fmla="val 8000"/>
            </a:avLst>
          </a:prstGeom>
          <a:solidFill>
            <a:srgbClr val="C6F04A"/>
          </a:solidFill>
          <a:ln/>
        </p:spPr>
      </p:sp>
      <p:sp>
        <p:nvSpPr>
          <p:cNvPr id="20" name="Text 18"/>
          <p:cNvSpPr txBox="1"/>
          <p:nvPr/>
        </p:nvSpPr>
        <p:spPr>
          <a:xfrm>
            <a:off x="9189491" y="2194560"/>
            <a:ext cx="2160956" cy="566928"/>
          </a:xfrm>
          <a:prstGeom prst="rect">
            <a:avLst/>
          </a:prstGeom>
          <a:noFill/>
          <a:ln/>
        </p:spPr>
        <p:txBody>
          <a:bodyPr wrap="square" lIns="0" tIns="0" rIns="0" bIns="0" rtlCol="0" anchor="t"/>
          <a:lstStyle/>
          <a:p>
            <a:pPr indent="0" marL="0">
              <a:buNone/>
            </a:pPr>
            <a:r>
              <a:rPr lang="en-US" sz="3000" b="1" dirty="0">
                <a:solidFill>
                  <a:srgbClr val="0E1626"/>
                </a:solidFill>
                <a:latin typeface="Calibri" pitchFamily="34" charset="0"/>
                <a:ea typeface="Calibri" pitchFamily="34" charset="-122"/>
                <a:cs typeface="Calibri" pitchFamily="34" charset="-120"/>
              </a:rPr>
              <a:t>99</a:t>
            </a:r>
            <a:pPr indent="0" marL="0">
              <a:buNone/>
            </a:pPr>
            <a:r>
              <a:rPr lang="en-US" sz="1260" b="1" dirty="0">
                <a:solidFill>
                  <a:srgbClr val="0E1626"/>
                </a:solidFill>
                <a:latin typeface="Calibri" pitchFamily="34" charset="0"/>
                <a:ea typeface="Calibri" pitchFamily="34" charset="-122"/>
                <a:cs typeface="Calibri" pitchFamily="34" charset="-120"/>
              </a:rPr>
              <a:t>  %</a:t>
            </a:r>
            <a:endParaRPr lang="en-US" sz="3000" dirty="0"/>
          </a:p>
        </p:txBody>
      </p:sp>
      <p:sp>
        <p:nvSpPr>
          <p:cNvPr id="21" name="Text 19"/>
          <p:cNvSpPr txBox="1"/>
          <p:nvPr/>
        </p:nvSpPr>
        <p:spPr>
          <a:xfrm>
            <a:off x="9189491" y="2834640"/>
            <a:ext cx="2160956" cy="786384"/>
          </a:xfrm>
          <a:prstGeom prst="rect">
            <a:avLst/>
          </a:prstGeom>
          <a:noFill/>
          <a:ln/>
        </p:spPr>
        <p:txBody>
          <a:bodyPr wrap="square" lIns="0" tIns="0" rIns="0" bIns="0" rtlCol="0" anchor="t"/>
          <a:lstStyle/>
          <a:p>
            <a:pPr indent="0" marL="0">
              <a:lnSpc>
                <a:spcPts val="1540"/>
              </a:lnSpc>
              <a:buNone/>
            </a:pPr>
            <a:r>
              <a:rPr lang="en-US" sz="1100" dirty="0">
                <a:solidFill>
                  <a:srgbClr val="2A3243"/>
                </a:solidFill>
                <a:latin typeface="Calibri" pitchFamily="34" charset="0"/>
                <a:ea typeface="Calibri" pitchFamily="34" charset="-122"/>
                <a:cs typeface="Calibri" pitchFamily="34" charset="-120"/>
              </a:rPr>
              <a:t>Ekspor minyak Kanada yang mengalir ke Amerika Serikat</a:t>
            </a:r>
            <a:endParaRPr lang="en-US" sz="1100" dirty="0"/>
          </a:p>
        </p:txBody>
      </p:sp>
      <p:sp>
        <p:nvSpPr>
          <p:cNvPr id="22" name="Text 20"/>
          <p:cNvSpPr txBox="1"/>
          <p:nvPr/>
        </p:nvSpPr>
        <p:spPr>
          <a:xfrm>
            <a:off x="621792" y="4023360"/>
            <a:ext cx="10948111" cy="274320"/>
          </a:xfrm>
          <a:prstGeom prst="rect">
            <a:avLst/>
          </a:prstGeom>
          <a:noFill/>
          <a:ln/>
        </p:spPr>
        <p:txBody>
          <a:bodyPr wrap="square" lIns="0" tIns="0" rIns="0" bIns="0" rtlCol="0" anchor="t"/>
          <a:lstStyle/>
          <a:p>
            <a:pPr indent="0" marL="0">
              <a:buNone/>
            </a:pPr>
            <a:r>
              <a:rPr lang="en-US" sz="1200" b="1" dirty="0">
                <a:solidFill>
                  <a:srgbClr val="6B7A90"/>
                </a:solidFill>
                <a:latin typeface="Calibri" pitchFamily="34" charset="0"/>
                <a:ea typeface="Calibri" pitchFamily="34" charset="-122"/>
                <a:cs typeface="Calibri" pitchFamily="34" charset="-120"/>
              </a:rPr>
              <a:t>Perjalanan pengembangannya</a:t>
            </a:r>
            <a:endParaRPr lang="en-US" sz="1200" dirty="0"/>
          </a:p>
        </p:txBody>
      </p:sp>
      <p:sp>
        <p:nvSpPr>
          <p:cNvPr id="23" name="Text 21"/>
          <p:cNvSpPr txBox="1"/>
          <p:nvPr/>
        </p:nvSpPr>
        <p:spPr>
          <a:xfrm>
            <a:off x="621792" y="4352544"/>
            <a:ext cx="1188720" cy="292608"/>
          </a:xfrm>
          <a:prstGeom prst="rect">
            <a:avLst/>
          </a:prstGeom>
          <a:noFill/>
          <a:ln/>
        </p:spPr>
        <p:txBody>
          <a:bodyPr wrap="square" lIns="0" tIns="0" rIns="0" bIns="0" rtlCol="0" anchor="t"/>
          <a:lstStyle/>
          <a:p>
            <a:pPr indent="0" marL="0">
              <a:buNone/>
            </a:pPr>
            <a:r>
              <a:rPr lang="en-US" sz="1150" b="1" dirty="0">
                <a:solidFill>
                  <a:srgbClr val="AD432B"/>
                </a:solidFill>
                <a:latin typeface="Courier New" pitchFamily="34" charset="0"/>
                <a:ea typeface="Courier New" pitchFamily="34" charset="-122"/>
                <a:cs typeface="Courier New" pitchFamily="34" charset="-120"/>
              </a:rPr>
              <a:t>1920-an</a:t>
            </a:r>
            <a:endParaRPr lang="en-US" sz="1150" dirty="0"/>
          </a:p>
        </p:txBody>
      </p:sp>
      <p:sp>
        <p:nvSpPr>
          <p:cNvPr id="24" name="Text 22"/>
          <p:cNvSpPr txBox="1"/>
          <p:nvPr/>
        </p:nvSpPr>
        <p:spPr>
          <a:xfrm>
            <a:off x="1993392" y="4352544"/>
            <a:ext cx="9576511" cy="292608"/>
          </a:xfrm>
          <a:prstGeom prst="rect">
            <a:avLst/>
          </a:prstGeom>
          <a:noFill/>
          <a:ln/>
        </p:spPr>
        <p:txBody>
          <a:bodyPr wrap="square" lIns="0" tIns="0" rIns="0" bIns="0" rtlCol="0" anchor="t"/>
          <a:lstStyle/>
          <a:p>
            <a:pPr indent="0" marL="0">
              <a:buNone/>
            </a:pPr>
            <a:r>
              <a:rPr lang="en-US" sz="1150" dirty="0">
                <a:solidFill>
                  <a:srgbClr val="2A3243"/>
                </a:solidFill>
                <a:latin typeface="Calibri" pitchFamily="34" charset="0"/>
                <a:ea typeface="Calibri" pitchFamily="34" charset="-122"/>
                <a:cs typeface="Calibri" pitchFamily="34" charset="-120"/>
              </a:rPr>
              <a:t>Paten pertama untuk proses pemisahan komersial</a:t>
            </a:r>
            <a:endParaRPr lang="en-US" sz="1150" dirty="0"/>
          </a:p>
        </p:txBody>
      </p:sp>
      <p:sp>
        <p:nvSpPr>
          <p:cNvPr id="25" name="Shape 23"/>
          <p:cNvSpPr/>
          <p:nvPr/>
        </p:nvSpPr>
        <p:spPr>
          <a:xfrm>
            <a:off x="621792" y="4672584"/>
            <a:ext cx="10948111" cy="10058"/>
          </a:xfrm>
          <a:prstGeom prst="rect">
            <a:avLst/>
          </a:prstGeom>
          <a:solidFill>
            <a:srgbClr val="DDD8CE"/>
          </a:solidFill>
          <a:ln/>
        </p:spPr>
      </p:sp>
      <p:sp>
        <p:nvSpPr>
          <p:cNvPr id="26" name="Text 24"/>
          <p:cNvSpPr txBox="1"/>
          <p:nvPr/>
        </p:nvSpPr>
        <p:spPr>
          <a:xfrm>
            <a:off x="621792" y="4736592"/>
            <a:ext cx="1188720" cy="292608"/>
          </a:xfrm>
          <a:prstGeom prst="rect">
            <a:avLst/>
          </a:prstGeom>
          <a:noFill/>
          <a:ln/>
        </p:spPr>
        <p:txBody>
          <a:bodyPr wrap="square" lIns="0" tIns="0" rIns="0" bIns="0" rtlCol="0" anchor="t"/>
          <a:lstStyle/>
          <a:p>
            <a:pPr indent="0" marL="0">
              <a:buNone/>
            </a:pPr>
            <a:r>
              <a:rPr lang="en-US" sz="1150" b="1" dirty="0">
                <a:solidFill>
                  <a:srgbClr val="A68023"/>
                </a:solidFill>
                <a:latin typeface="Courier New" pitchFamily="34" charset="0"/>
                <a:ea typeface="Courier New" pitchFamily="34" charset="-122"/>
                <a:cs typeface="Courier New" pitchFamily="34" charset="-120"/>
              </a:rPr>
              <a:t>1960-an</a:t>
            </a:r>
            <a:endParaRPr lang="en-US" sz="1150" dirty="0"/>
          </a:p>
        </p:txBody>
      </p:sp>
      <p:sp>
        <p:nvSpPr>
          <p:cNvPr id="27" name="Text 25"/>
          <p:cNvSpPr txBox="1"/>
          <p:nvPr/>
        </p:nvSpPr>
        <p:spPr>
          <a:xfrm>
            <a:off x="1993392" y="4736592"/>
            <a:ext cx="9576511" cy="292608"/>
          </a:xfrm>
          <a:prstGeom prst="rect">
            <a:avLst/>
          </a:prstGeom>
          <a:noFill/>
          <a:ln/>
        </p:spPr>
        <p:txBody>
          <a:bodyPr wrap="square" lIns="0" tIns="0" rIns="0" bIns="0" rtlCol="0" anchor="t"/>
          <a:lstStyle/>
          <a:p>
            <a:pPr indent="0" marL="0">
              <a:buNone/>
            </a:pPr>
            <a:r>
              <a:rPr lang="en-US" sz="1150" dirty="0">
                <a:solidFill>
                  <a:srgbClr val="2A3243"/>
                </a:solidFill>
                <a:latin typeface="Calibri" pitchFamily="34" charset="0"/>
                <a:ea typeface="Calibri" pitchFamily="34" charset="-122"/>
                <a:cs typeface="Calibri" pitchFamily="34" charset="-120"/>
              </a:rPr>
              <a:t>Operasi komersial dimulai serius, tetapi lambat karena biaya ekstraksi tinggi</a:t>
            </a:r>
            <a:endParaRPr lang="en-US" sz="1150" dirty="0"/>
          </a:p>
        </p:txBody>
      </p:sp>
      <p:sp>
        <p:nvSpPr>
          <p:cNvPr id="28" name="Shape 26"/>
          <p:cNvSpPr/>
          <p:nvPr/>
        </p:nvSpPr>
        <p:spPr>
          <a:xfrm>
            <a:off x="621792" y="5056632"/>
            <a:ext cx="10948111" cy="10058"/>
          </a:xfrm>
          <a:prstGeom prst="rect">
            <a:avLst/>
          </a:prstGeom>
          <a:solidFill>
            <a:srgbClr val="DDD8CE"/>
          </a:solidFill>
          <a:ln/>
        </p:spPr>
      </p:sp>
      <p:sp>
        <p:nvSpPr>
          <p:cNvPr id="29" name="Text 27"/>
          <p:cNvSpPr txBox="1"/>
          <p:nvPr/>
        </p:nvSpPr>
        <p:spPr>
          <a:xfrm>
            <a:off x="621792" y="5120640"/>
            <a:ext cx="1188720" cy="292608"/>
          </a:xfrm>
          <a:prstGeom prst="rect">
            <a:avLst/>
          </a:prstGeom>
          <a:noFill/>
          <a:ln/>
        </p:spPr>
        <p:txBody>
          <a:bodyPr wrap="square" lIns="0" tIns="0" rIns="0" bIns="0" rtlCol="0" anchor="t"/>
          <a:lstStyle/>
          <a:p>
            <a:pPr indent="0" marL="0">
              <a:buNone/>
            </a:pPr>
            <a:r>
              <a:rPr lang="en-US" sz="1150" b="1" dirty="0">
                <a:solidFill>
                  <a:srgbClr val="87A63E"/>
                </a:solidFill>
                <a:latin typeface="Courier New" pitchFamily="34" charset="0"/>
                <a:ea typeface="Courier New" pitchFamily="34" charset="-122"/>
                <a:cs typeface="Courier New" pitchFamily="34" charset="-120"/>
              </a:rPr>
              <a:t>2000-an</a:t>
            </a:r>
            <a:endParaRPr lang="en-US" sz="1150" dirty="0"/>
          </a:p>
        </p:txBody>
      </p:sp>
      <p:sp>
        <p:nvSpPr>
          <p:cNvPr id="30" name="Text 28"/>
          <p:cNvSpPr txBox="1"/>
          <p:nvPr/>
        </p:nvSpPr>
        <p:spPr>
          <a:xfrm>
            <a:off x="1993392" y="5120640"/>
            <a:ext cx="9576511" cy="292608"/>
          </a:xfrm>
          <a:prstGeom prst="rect">
            <a:avLst/>
          </a:prstGeom>
          <a:noFill/>
          <a:ln/>
        </p:spPr>
        <p:txBody>
          <a:bodyPr wrap="square" lIns="0" tIns="0" rIns="0" bIns="0" rtlCol="0" anchor="t"/>
          <a:lstStyle/>
          <a:p>
            <a:pPr indent="0" marL="0">
              <a:buNone/>
            </a:pPr>
            <a:r>
              <a:rPr lang="en-US" sz="1150" dirty="0">
                <a:solidFill>
                  <a:srgbClr val="2A3243"/>
                </a:solidFill>
                <a:latin typeface="Calibri" pitchFamily="34" charset="0"/>
                <a:ea typeface="Calibri" pitchFamily="34" charset="-122"/>
                <a:cs typeface="Calibri" pitchFamily="34" charset="-120"/>
              </a:rPr>
              <a:t>Harga minyak melonjak. Shell, Chevron, Total, Exxon, dan CNOOC masuk</a:t>
            </a:r>
            <a:endParaRPr lang="en-US" sz="1150" dirty="0"/>
          </a:p>
        </p:txBody>
      </p:sp>
      <p:sp>
        <p:nvSpPr>
          <p:cNvPr id="31" name="Shape 29"/>
          <p:cNvSpPr/>
          <p:nvPr/>
        </p:nvSpPr>
        <p:spPr>
          <a:xfrm>
            <a:off x="621792" y="5440680"/>
            <a:ext cx="10948111" cy="10058"/>
          </a:xfrm>
          <a:prstGeom prst="rect">
            <a:avLst/>
          </a:prstGeom>
          <a:solidFill>
            <a:srgbClr val="DDD8CE"/>
          </a:solidFill>
          <a:ln/>
        </p:spPr>
      </p:sp>
      <p:sp>
        <p:nvSpPr>
          <p:cNvPr id="32" name="Text 30"/>
          <p:cNvSpPr txBox="1"/>
          <p:nvPr/>
        </p:nvSpPr>
        <p:spPr>
          <a:xfrm>
            <a:off x="621792" y="5504688"/>
            <a:ext cx="1188720" cy="292608"/>
          </a:xfrm>
          <a:prstGeom prst="rect">
            <a:avLst/>
          </a:prstGeom>
          <a:noFill/>
          <a:ln/>
        </p:spPr>
        <p:txBody>
          <a:bodyPr wrap="square" lIns="0" tIns="0" rIns="0" bIns="0" rtlCol="0" anchor="t"/>
          <a:lstStyle/>
          <a:p>
            <a:pPr indent="0" marL="0">
              <a:buNone/>
            </a:pPr>
            <a:r>
              <a:rPr lang="en-US" sz="1150" b="1" dirty="0">
                <a:solidFill>
                  <a:srgbClr val="0F776B"/>
                </a:solidFill>
                <a:latin typeface="Courier New" pitchFamily="34" charset="0"/>
                <a:ea typeface="Courier New" pitchFamily="34" charset="-122"/>
                <a:cs typeface="Courier New" pitchFamily="34" charset="-120"/>
              </a:rPr>
              <a:t>2012</a:t>
            </a:r>
            <a:endParaRPr lang="en-US" sz="1150" dirty="0"/>
          </a:p>
        </p:txBody>
      </p:sp>
      <p:sp>
        <p:nvSpPr>
          <p:cNvPr id="33" name="Text 31"/>
          <p:cNvSpPr txBox="1"/>
          <p:nvPr/>
        </p:nvSpPr>
        <p:spPr>
          <a:xfrm>
            <a:off x="1993392" y="5504688"/>
            <a:ext cx="9576511" cy="292608"/>
          </a:xfrm>
          <a:prstGeom prst="rect">
            <a:avLst/>
          </a:prstGeom>
          <a:noFill/>
          <a:ln/>
        </p:spPr>
        <p:txBody>
          <a:bodyPr wrap="square" lIns="0" tIns="0" rIns="0" bIns="0" rtlCol="0" anchor="t"/>
          <a:lstStyle/>
          <a:p>
            <a:pPr indent="0" marL="0">
              <a:buNone/>
            </a:pPr>
            <a:r>
              <a:rPr lang="en-US" sz="1150" dirty="0">
                <a:solidFill>
                  <a:srgbClr val="2A3243"/>
                </a:solidFill>
                <a:latin typeface="Calibri" pitchFamily="34" charset="0"/>
                <a:ea typeface="Calibri" pitchFamily="34" charset="-122"/>
                <a:cs typeface="Calibri" pitchFamily="34" charset="-120"/>
              </a:rPr>
              <a:t>Investasi tahunan memuncak di atas 30 miliar dolar Amerika</a:t>
            </a:r>
            <a:endParaRPr lang="en-US" sz="1150" dirty="0"/>
          </a:p>
        </p:txBody>
      </p:sp>
      <p:sp>
        <p:nvSpPr>
          <p:cNvPr id="34" name="Shape 32"/>
          <p:cNvSpPr/>
          <p:nvPr/>
        </p:nvSpPr>
        <p:spPr>
          <a:xfrm>
            <a:off x="621792" y="5824728"/>
            <a:ext cx="10948111" cy="10058"/>
          </a:xfrm>
          <a:prstGeom prst="rect">
            <a:avLst/>
          </a:prstGeom>
          <a:solidFill>
            <a:srgbClr val="DDD8CE"/>
          </a:solidFill>
          <a:ln/>
        </p:spPr>
      </p:sp>
      <p:sp>
        <p:nvSpPr>
          <p:cNvPr id="35" name="Text 33"/>
          <p:cNvSpPr txBox="1"/>
          <p:nvPr/>
        </p:nvSpPr>
        <p:spPr>
          <a:xfrm>
            <a:off x="621792" y="5888736"/>
            <a:ext cx="1188720" cy="292608"/>
          </a:xfrm>
          <a:prstGeom prst="rect">
            <a:avLst/>
          </a:prstGeom>
          <a:noFill/>
          <a:ln/>
        </p:spPr>
        <p:txBody>
          <a:bodyPr wrap="square" lIns="0" tIns="0" rIns="0" bIns="0" rtlCol="0" anchor="t"/>
          <a:lstStyle/>
          <a:p>
            <a:pPr indent="0" marL="0">
              <a:buNone/>
            </a:pPr>
            <a:r>
              <a:rPr lang="en-US" sz="1150" b="1" dirty="0">
                <a:solidFill>
                  <a:srgbClr val="38769F"/>
                </a:solidFill>
                <a:latin typeface="Courier New" pitchFamily="34" charset="0"/>
                <a:ea typeface="Courier New" pitchFamily="34" charset="-122"/>
                <a:cs typeface="Courier New" pitchFamily="34" charset="-120"/>
              </a:rPr>
              <a:t>2018</a:t>
            </a:r>
            <a:endParaRPr lang="en-US" sz="1150" dirty="0"/>
          </a:p>
        </p:txBody>
      </p:sp>
      <p:sp>
        <p:nvSpPr>
          <p:cNvPr id="36" name="Text 34"/>
          <p:cNvSpPr txBox="1"/>
          <p:nvPr/>
        </p:nvSpPr>
        <p:spPr>
          <a:xfrm>
            <a:off x="1993392" y="5888736"/>
            <a:ext cx="9576511" cy="292608"/>
          </a:xfrm>
          <a:prstGeom prst="rect">
            <a:avLst/>
          </a:prstGeom>
          <a:noFill/>
          <a:ln/>
        </p:spPr>
        <p:txBody>
          <a:bodyPr wrap="square" lIns="0" tIns="0" rIns="0" bIns="0" rtlCol="0" anchor="t"/>
          <a:lstStyle/>
          <a:p>
            <a:pPr indent="0" marL="0">
              <a:buNone/>
            </a:pPr>
            <a:r>
              <a:rPr lang="en-US" sz="1150" dirty="0">
                <a:solidFill>
                  <a:srgbClr val="2A3243"/>
                </a:solidFill>
                <a:latin typeface="Calibri" pitchFamily="34" charset="0"/>
                <a:ea typeface="Calibri" pitchFamily="34" charset="-122"/>
                <a:cs typeface="Calibri" pitchFamily="34" charset="-120"/>
              </a:rPr>
              <a:t>Investasi turun sampai dua pertiga menjadi sekitar 10 miliar dolar per tahun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1234440"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234440"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PETA PIHAK</a:t>
            </a:r>
            <a:endParaRPr lang="en-US" sz="950" dirty="0"/>
          </a:p>
        </p:txBody>
      </p:sp>
      <p:sp>
        <p:nvSpPr>
          <p:cNvPr id="5" name="Shape 3"/>
          <p:cNvSpPr/>
          <p:nvPr/>
        </p:nvSpPr>
        <p:spPr>
          <a:xfrm>
            <a:off x="1975104" y="457200"/>
            <a:ext cx="2592324"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975104" y="457200"/>
            <a:ext cx="259232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ENAM PEMANGKU KEPENTINGAN</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05</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Enam Pihak, Enam Kepentingan</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Setiap teori pada bagian berikutnya memberi bobot berbeda pada pihak-pihak ini.</a:t>
            </a:r>
            <a:endParaRPr lang="en-US" sz="1350" dirty="0"/>
          </a:p>
        </p:txBody>
      </p:sp>
      <p:sp>
        <p:nvSpPr>
          <p:cNvPr id="10" name="Shape 8"/>
          <p:cNvSpPr/>
          <p:nvPr/>
        </p:nvSpPr>
        <p:spPr>
          <a:xfrm>
            <a:off x="621792" y="1975104"/>
            <a:ext cx="3515258" cy="1737360"/>
          </a:xfrm>
          <a:prstGeom prst="roundRect">
            <a:avLst>
              <a:gd name="adj" fmla="val 8421"/>
            </a:avLst>
          </a:prstGeom>
          <a:solidFill>
            <a:srgbClr val="FF5A2D"/>
          </a:solidFill>
          <a:ln/>
        </p:spPr>
      </p:sp>
      <p:sp>
        <p:nvSpPr>
          <p:cNvPr id="11" name="Shape 9"/>
          <p:cNvSpPr/>
          <p:nvPr/>
        </p:nvSpPr>
        <p:spPr>
          <a:xfrm>
            <a:off x="859536" y="2176272"/>
            <a:ext cx="283464" cy="283464"/>
          </a:xfrm>
          <a:prstGeom prst="roundRect">
            <a:avLst>
              <a:gd name="adj" fmla="val 32258"/>
            </a:avLst>
          </a:prstGeom>
          <a:solidFill>
            <a:srgbClr val="FF744F"/>
          </a:solidFill>
          <a:ln/>
        </p:spPr>
      </p:sp>
      <p:sp>
        <p:nvSpPr>
          <p:cNvPr id="12" name="Text 10"/>
          <p:cNvSpPr txBox="1"/>
          <p:nvPr/>
        </p:nvSpPr>
        <p:spPr>
          <a:xfrm>
            <a:off x="859536" y="2176272"/>
            <a:ext cx="283464"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01</a:t>
            </a:r>
            <a:endParaRPr lang="en-US" sz="1050" dirty="0"/>
          </a:p>
        </p:txBody>
      </p:sp>
      <p:sp>
        <p:nvSpPr>
          <p:cNvPr id="13" name="Text 11"/>
          <p:cNvSpPr txBox="1"/>
          <p:nvPr/>
        </p:nvSpPr>
        <p:spPr>
          <a:xfrm>
            <a:off x="859536" y="2560320"/>
            <a:ext cx="3039770" cy="292608"/>
          </a:xfrm>
          <a:prstGeom prst="rect">
            <a:avLst/>
          </a:prstGeom>
          <a:noFill/>
          <a:ln/>
        </p:spPr>
        <p:txBody>
          <a:bodyPr wrap="square" lIns="0" tIns="0" rIns="0" bIns="0" rtlCol="0" anchor="t"/>
          <a:lstStyle/>
          <a:p>
            <a:pPr indent="0" marL="0">
              <a:lnSpc>
                <a:spcPts val="1708"/>
              </a:lnSpc>
              <a:buNone/>
            </a:pPr>
            <a:r>
              <a:rPr lang="en-US" sz="1400" b="1" dirty="0">
                <a:solidFill>
                  <a:srgbClr val="FFFFFF"/>
                </a:solidFill>
                <a:latin typeface="Calibri" pitchFamily="34" charset="0"/>
                <a:ea typeface="Calibri" pitchFamily="34" charset="-122"/>
                <a:cs typeface="Calibri" pitchFamily="34" charset="-120"/>
              </a:rPr>
              <a:t>Pemerintah Alberta</a:t>
            </a:r>
            <a:endParaRPr lang="en-US" sz="1400" dirty="0"/>
          </a:p>
        </p:txBody>
      </p:sp>
      <p:sp>
        <p:nvSpPr>
          <p:cNvPr id="14" name="Text 12"/>
          <p:cNvSpPr txBox="1"/>
          <p:nvPr/>
        </p:nvSpPr>
        <p:spPr>
          <a:xfrm>
            <a:off x="859536" y="2926080"/>
            <a:ext cx="3039770" cy="658368"/>
          </a:xfrm>
          <a:prstGeom prst="rect">
            <a:avLst/>
          </a:prstGeom>
          <a:noFill/>
          <a:ln/>
        </p:spPr>
        <p:txBody>
          <a:bodyPr wrap="square" lIns="0" tIns="0" rIns="0" bIns="0" rtlCol="0" anchor="t"/>
          <a:lstStyle/>
          <a:p>
            <a:pPr indent="0" marL="0">
              <a:lnSpc>
                <a:spcPts val="1633"/>
              </a:lnSpc>
              <a:buNone/>
            </a:pPr>
            <a:r>
              <a:rPr lang="en-US" sz="1150" dirty="0">
                <a:solidFill>
                  <a:srgbClr val="E8E4DC"/>
                </a:solidFill>
                <a:latin typeface="Calibri" pitchFamily="34" charset="0"/>
                <a:ea typeface="Calibri" pitchFamily="34" charset="-122"/>
                <a:cs typeface="Calibri" pitchFamily="34" charset="-120"/>
              </a:rPr>
              <a:t>Pendapatan pajak, lapangan kerja, dan kedaulatan energi provinsi.</a:t>
            </a:r>
            <a:endParaRPr lang="en-US" sz="1150" dirty="0"/>
          </a:p>
        </p:txBody>
      </p:sp>
      <p:sp>
        <p:nvSpPr>
          <p:cNvPr id="15" name="Shape 13"/>
          <p:cNvSpPr/>
          <p:nvPr/>
        </p:nvSpPr>
        <p:spPr>
          <a:xfrm>
            <a:off x="4338218" y="1975104"/>
            <a:ext cx="3515258" cy="1737360"/>
          </a:xfrm>
          <a:prstGeom prst="roundRect">
            <a:avLst>
              <a:gd name="adj" fmla="val 8421"/>
            </a:avLst>
          </a:prstGeom>
          <a:solidFill>
            <a:srgbClr val="B8A6F5"/>
          </a:solidFill>
          <a:ln/>
        </p:spPr>
      </p:sp>
      <p:sp>
        <p:nvSpPr>
          <p:cNvPr id="16" name="Shape 14"/>
          <p:cNvSpPr/>
          <p:nvPr/>
        </p:nvSpPr>
        <p:spPr>
          <a:xfrm>
            <a:off x="4575962" y="2176272"/>
            <a:ext cx="283464" cy="283464"/>
          </a:xfrm>
          <a:prstGeom prst="roundRect">
            <a:avLst>
              <a:gd name="adj" fmla="val 32258"/>
            </a:avLst>
          </a:prstGeom>
          <a:solidFill>
            <a:srgbClr val="9D8FD4"/>
          </a:solidFill>
          <a:ln/>
        </p:spPr>
      </p:sp>
      <p:sp>
        <p:nvSpPr>
          <p:cNvPr id="17" name="Text 15"/>
          <p:cNvSpPr txBox="1"/>
          <p:nvPr/>
        </p:nvSpPr>
        <p:spPr>
          <a:xfrm>
            <a:off x="4575962" y="2176272"/>
            <a:ext cx="283464" cy="283464"/>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02</a:t>
            </a:r>
            <a:endParaRPr lang="en-US" sz="1050" dirty="0"/>
          </a:p>
        </p:txBody>
      </p:sp>
      <p:sp>
        <p:nvSpPr>
          <p:cNvPr id="18" name="Text 16"/>
          <p:cNvSpPr txBox="1"/>
          <p:nvPr/>
        </p:nvSpPr>
        <p:spPr>
          <a:xfrm>
            <a:off x="4575962" y="2560320"/>
            <a:ext cx="3039770" cy="292608"/>
          </a:xfrm>
          <a:prstGeom prst="rect">
            <a:avLst/>
          </a:prstGeom>
          <a:noFill/>
          <a:ln/>
        </p:spPr>
        <p:txBody>
          <a:bodyPr wrap="square" lIns="0" tIns="0" rIns="0" bIns="0" rtlCol="0" anchor="t"/>
          <a:lstStyle/>
          <a:p>
            <a:pPr indent="0" marL="0">
              <a:lnSpc>
                <a:spcPts val="1708"/>
              </a:lnSpc>
              <a:buNone/>
            </a:pPr>
            <a:r>
              <a:rPr lang="en-US" sz="1400" b="1" dirty="0">
                <a:solidFill>
                  <a:srgbClr val="0E1626"/>
                </a:solidFill>
                <a:latin typeface="Calibri" pitchFamily="34" charset="0"/>
                <a:ea typeface="Calibri" pitchFamily="34" charset="-122"/>
                <a:cs typeface="Calibri" pitchFamily="34" charset="-120"/>
              </a:rPr>
              <a:t>Perusahaan Minyak</a:t>
            </a:r>
            <a:endParaRPr lang="en-US" sz="1400" dirty="0"/>
          </a:p>
        </p:txBody>
      </p:sp>
      <p:sp>
        <p:nvSpPr>
          <p:cNvPr id="19" name="Text 17"/>
          <p:cNvSpPr txBox="1"/>
          <p:nvPr/>
        </p:nvSpPr>
        <p:spPr>
          <a:xfrm>
            <a:off x="4575962" y="2926080"/>
            <a:ext cx="3039770" cy="658368"/>
          </a:xfrm>
          <a:prstGeom prst="rect">
            <a:avLst/>
          </a:prstGeom>
          <a:noFill/>
          <a:ln/>
        </p:spPr>
        <p:txBody>
          <a:bodyPr wrap="square" lIns="0" tIns="0" rIns="0" bIns="0" rtlCol="0" anchor="t"/>
          <a:lstStyle/>
          <a:p>
            <a:pPr indent="0" marL="0">
              <a:lnSpc>
                <a:spcPts val="1633"/>
              </a:lnSpc>
              <a:buNone/>
            </a:pPr>
            <a:r>
              <a:rPr lang="en-US" sz="1150" dirty="0">
                <a:solidFill>
                  <a:srgbClr val="2A3243"/>
                </a:solidFill>
                <a:latin typeface="Calibri" pitchFamily="34" charset="0"/>
                <a:ea typeface="Calibri" pitchFamily="34" charset="-122"/>
                <a:cs typeface="Calibri" pitchFamily="34" charset="-120"/>
              </a:rPr>
              <a:t>Suncor, Syncrude, Shell, Chevron, Total, Exxon, dan CNOOC.</a:t>
            </a:r>
            <a:endParaRPr lang="en-US" sz="1150" dirty="0"/>
          </a:p>
        </p:txBody>
      </p:sp>
      <p:sp>
        <p:nvSpPr>
          <p:cNvPr id="20" name="Shape 18"/>
          <p:cNvSpPr/>
          <p:nvPr/>
        </p:nvSpPr>
        <p:spPr>
          <a:xfrm>
            <a:off x="8054645" y="1975104"/>
            <a:ext cx="3515258" cy="1737360"/>
          </a:xfrm>
          <a:prstGeom prst="roundRect">
            <a:avLst>
              <a:gd name="adj" fmla="val 8421"/>
            </a:avLst>
          </a:prstGeom>
          <a:solidFill>
            <a:srgbClr val="0FA98E"/>
          </a:solidFill>
          <a:ln/>
        </p:spPr>
      </p:sp>
      <p:sp>
        <p:nvSpPr>
          <p:cNvPr id="21" name="Shape 19"/>
          <p:cNvSpPr/>
          <p:nvPr/>
        </p:nvSpPr>
        <p:spPr>
          <a:xfrm>
            <a:off x="8292389" y="2176272"/>
            <a:ext cx="283464" cy="283464"/>
          </a:xfrm>
          <a:prstGeom prst="roundRect">
            <a:avLst>
              <a:gd name="adj" fmla="val 32258"/>
            </a:avLst>
          </a:prstGeom>
          <a:solidFill>
            <a:srgbClr val="35B7A0"/>
          </a:solidFill>
          <a:ln/>
        </p:spPr>
      </p:sp>
      <p:sp>
        <p:nvSpPr>
          <p:cNvPr id="22" name="Text 20"/>
          <p:cNvSpPr txBox="1"/>
          <p:nvPr/>
        </p:nvSpPr>
        <p:spPr>
          <a:xfrm>
            <a:off x="8292389" y="2176272"/>
            <a:ext cx="283464"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03</a:t>
            </a:r>
            <a:endParaRPr lang="en-US" sz="1050" dirty="0"/>
          </a:p>
        </p:txBody>
      </p:sp>
      <p:sp>
        <p:nvSpPr>
          <p:cNvPr id="23" name="Text 21"/>
          <p:cNvSpPr txBox="1"/>
          <p:nvPr/>
        </p:nvSpPr>
        <p:spPr>
          <a:xfrm>
            <a:off x="8292389" y="2560320"/>
            <a:ext cx="3039770" cy="292608"/>
          </a:xfrm>
          <a:prstGeom prst="rect">
            <a:avLst/>
          </a:prstGeom>
          <a:noFill/>
          <a:ln/>
        </p:spPr>
        <p:txBody>
          <a:bodyPr wrap="square" lIns="0" tIns="0" rIns="0" bIns="0" rtlCol="0" anchor="t"/>
          <a:lstStyle/>
          <a:p>
            <a:pPr indent="0" marL="0">
              <a:lnSpc>
                <a:spcPts val="1708"/>
              </a:lnSpc>
              <a:buNone/>
            </a:pPr>
            <a:r>
              <a:rPr lang="en-US" sz="1400" b="1" dirty="0">
                <a:solidFill>
                  <a:srgbClr val="FFFFFF"/>
                </a:solidFill>
                <a:latin typeface="Calibri" pitchFamily="34" charset="0"/>
                <a:ea typeface="Calibri" pitchFamily="34" charset="-122"/>
                <a:cs typeface="Calibri" pitchFamily="34" charset="-120"/>
              </a:rPr>
              <a:t>Pekerja Fort McMurray</a:t>
            </a:r>
            <a:endParaRPr lang="en-US" sz="1400" dirty="0"/>
          </a:p>
        </p:txBody>
      </p:sp>
      <p:sp>
        <p:nvSpPr>
          <p:cNvPr id="24" name="Text 22"/>
          <p:cNvSpPr txBox="1"/>
          <p:nvPr/>
        </p:nvSpPr>
        <p:spPr>
          <a:xfrm>
            <a:off x="8292389" y="2926080"/>
            <a:ext cx="3039770" cy="658368"/>
          </a:xfrm>
          <a:prstGeom prst="rect">
            <a:avLst/>
          </a:prstGeom>
          <a:noFill/>
          <a:ln/>
        </p:spPr>
        <p:txBody>
          <a:bodyPr wrap="square" lIns="0" tIns="0" rIns="0" bIns="0" rtlCol="0" anchor="t"/>
          <a:lstStyle/>
          <a:p>
            <a:pPr indent="0" marL="0">
              <a:lnSpc>
                <a:spcPts val="1633"/>
              </a:lnSpc>
              <a:buNone/>
            </a:pPr>
            <a:r>
              <a:rPr lang="en-US" sz="1150" dirty="0">
                <a:solidFill>
                  <a:srgbClr val="E8E4DC"/>
                </a:solidFill>
                <a:latin typeface="Calibri" pitchFamily="34" charset="0"/>
                <a:ea typeface="Calibri" pitchFamily="34" charset="-122"/>
                <a:cs typeface="Calibri" pitchFamily="34" charset="-120"/>
              </a:rPr>
              <a:t>Penghidupan langsung 206.000 orang beserta keluarganya.</a:t>
            </a:r>
            <a:endParaRPr lang="en-US" sz="1150" dirty="0"/>
          </a:p>
        </p:txBody>
      </p:sp>
      <p:sp>
        <p:nvSpPr>
          <p:cNvPr id="25" name="Shape 23"/>
          <p:cNvSpPr/>
          <p:nvPr/>
        </p:nvSpPr>
        <p:spPr>
          <a:xfrm>
            <a:off x="621792" y="3895344"/>
            <a:ext cx="3515258" cy="1737360"/>
          </a:xfrm>
          <a:prstGeom prst="roundRect">
            <a:avLst>
              <a:gd name="adj" fmla="val 8421"/>
            </a:avLst>
          </a:prstGeom>
          <a:solidFill>
            <a:srgbClr val="F5B722"/>
          </a:solidFill>
          <a:ln/>
        </p:spPr>
      </p:sp>
      <p:sp>
        <p:nvSpPr>
          <p:cNvPr id="26" name="Shape 24"/>
          <p:cNvSpPr/>
          <p:nvPr/>
        </p:nvSpPr>
        <p:spPr>
          <a:xfrm>
            <a:off x="859536" y="4096512"/>
            <a:ext cx="283464" cy="283464"/>
          </a:xfrm>
          <a:prstGeom prst="roundRect">
            <a:avLst>
              <a:gd name="adj" fmla="val 32258"/>
            </a:avLst>
          </a:prstGeom>
          <a:solidFill>
            <a:srgbClr val="D09D23"/>
          </a:solidFill>
          <a:ln/>
        </p:spPr>
      </p:sp>
      <p:sp>
        <p:nvSpPr>
          <p:cNvPr id="27" name="Text 25"/>
          <p:cNvSpPr txBox="1"/>
          <p:nvPr/>
        </p:nvSpPr>
        <p:spPr>
          <a:xfrm>
            <a:off x="859536" y="4096512"/>
            <a:ext cx="283464" cy="283464"/>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04</a:t>
            </a:r>
            <a:endParaRPr lang="en-US" sz="1050" dirty="0"/>
          </a:p>
        </p:txBody>
      </p:sp>
      <p:sp>
        <p:nvSpPr>
          <p:cNvPr id="28" name="Text 26"/>
          <p:cNvSpPr txBox="1"/>
          <p:nvPr/>
        </p:nvSpPr>
        <p:spPr>
          <a:xfrm>
            <a:off x="859536" y="4480560"/>
            <a:ext cx="3039770" cy="292608"/>
          </a:xfrm>
          <a:prstGeom prst="rect">
            <a:avLst/>
          </a:prstGeom>
          <a:noFill/>
          <a:ln/>
        </p:spPr>
        <p:txBody>
          <a:bodyPr wrap="square" lIns="0" tIns="0" rIns="0" bIns="0" rtlCol="0" anchor="t"/>
          <a:lstStyle/>
          <a:p>
            <a:pPr indent="0" marL="0">
              <a:lnSpc>
                <a:spcPts val="1708"/>
              </a:lnSpc>
              <a:buNone/>
            </a:pPr>
            <a:r>
              <a:rPr lang="en-US" sz="1400" b="1" dirty="0">
                <a:solidFill>
                  <a:srgbClr val="0E1626"/>
                </a:solidFill>
                <a:latin typeface="Calibri" pitchFamily="34" charset="0"/>
                <a:ea typeface="Calibri" pitchFamily="34" charset="-122"/>
                <a:cs typeface="Calibri" pitchFamily="34" charset="-120"/>
              </a:rPr>
              <a:t>Masyarakat Adat Hilir</a:t>
            </a:r>
            <a:endParaRPr lang="en-US" sz="1400" dirty="0"/>
          </a:p>
        </p:txBody>
      </p:sp>
      <p:sp>
        <p:nvSpPr>
          <p:cNvPr id="29" name="Text 27"/>
          <p:cNvSpPr txBox="1"/>
          <p:nvPr/>
        </p:nvSpPr>
        <p:spPr>
          <a:xfrm>
            <a:off x="859536" y="4846320"/>
            <a:ext cx="3039770" cy="658368"/>
          </a:xfrm>
          <a:prstGeom prst="rect">
            <a:avLst/>
          </a:prstGeom>
          <a:noFill/>
          <a:ln/>
        </p:spPr>
        <p:txBody>
          <a:bodyPr wrap="square" lIns="0" tIns="0" rIns="0" bIns="0" rtlCol="0" anchor="t"/>
          <a:lstStyle/>
          <a:p>
            <a:pPr indent="0" marL="0">
              <a:lnSpc>
                <a:spcPts val="1633"/>
              </a:lnSpc>
              <a:buNone/>
            </a:pPr>
            <a:r>
              <a:rPr lang="en-US" sz="1150" dirty="0">
                <a:solidFill>
                  <a:srgbClr val="2A3243"/>
                </a:solidFill>
                <a:latin typeface="Calibri" pitchFamily="34" charset="0"/>
                <a:ea typeface="Calibri" pitchFamily="34" charset="-122"/>
                <a:cs typeface="Calibri" pitchFamily="34" charset="-120"/>
              </a:rPr>
              <a:t>Air, ikan, dan tanah adat di sepanjang Sungai Athabasca.</a:t>
            </a:r>
            <a:endParaRPr lang="en-US" sz="1150" dirty="0"/>
          </a:p>
        </p:txBody>
      </p:sp>
      <p:sp>
        <p:nvSpPr>
          <p:cNvPr id="30" name="Shape 28"/>
          <p:cNvSpPr/>
          <p:nvPr/>
        </p:nvSpPr>
        <p:spPr>
          <a:xfrm>
            <a:off x="4338218" y="3895344"/>
            <a:ext cx="3515258" cy="1737360"/>
          </a:xfrm>
          <a:prstGeom prst="roundRect">
            <a:avLst>
              <a:gd name="adj" fmla="val 8421"/>
            </a:avLst>
          </a:prstGeom>
          <a:solidFill>
            <a:srgbClr val="0E1626"/>
          </a:solidFill>
          <a:ln/>
        </p:spPr>
      </p:sp>
      <p:sp>
        <p:nvSpPr>
          <p:cNvPr id="31" name="Shape 29"/>
          <p:cNvSpPr/>
          <p:nvPr/>
        </p:nvSpPr>
        <p:spPr>
          <a:xfrm>
            <a:off x="4575962" y="4096512"/>
            <a:ext cx="283464" cy="283464"/>
          </a:xfrm>
          <a:prstGeom prst="roundRect">
            <a:avLst>
              <a:gd name="adj" fmla="val 32258"/>
            </a:avLst>
          </a:prstGeom>
          <a:solidFill>
            <a:srgbClr val="353B49"/>
          </a:solidFill>
          <a:ln/>
        </p:spPr>
      </p:sp>
      <p:sp>
        <p:nvSpPr>
          <p:cNvPr id="32" name="Text 30"/>
          <p:cNvSpPr txBox="1"/>
          <p:nvPr/>
        </p:nvSpPr>
        <p:spPr>
          <a:xfrm>
            <a:off x="4575962" y="4096512"/>
            <a:ext cx="283464"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05</a:t>
            </a:r>
            <a:endParaRPr lang="en-US" sz="1050" dirty="0"/>
          </a:p>
        </p:txBody>
      </p:sp>
      <p:sp>
        <p:nvSpPr>
          <p:cNvPr id="33" name="Text 31"/>
          <p:cNvSpPr txBox="1"/>
          <p:nvPr/>
        </p:nvSpPr>
        <p:spPr>
          <a:xfrm>
            <a:off x="4575962" y="4480560"/>
            <a:ext cx="3039770" cy="292608"/>
          </a:xfrm>
          <a:prstGeom prst="rect">
            <a:avLst/>
          </a:prstGeom>
          <a:noFill/>
          <a:ln/>
        </p:spPr>
        <p:txBody>
          <a:bodyPr wrap="square" lIns="0" tIns="0" rIns="0" bIns="0" rtlCol="0" anchor="t"/>
          <a:lstStyle/>
          <a:p>
            <a:pPr indent="0" marL="0">
              <a:lnSpc>
                <a:spcPts val="1708"/>
              </a:lnSpc>
              <a:buNone/>
            </a:pPr>
            <a:r>
              <a:rPr lang="en-US" sz="1400" b="1" dirty="0">
                <a:solidFill>
                  <a:srgbClr val="FFFFFF"/>
                </a:solidFill>
                <a:latin typeface="Calibri" pitchFamily="34" charset="0"/>
                <a:ea typeface="Calibri" pitchFamily="34" charset="-122"/>
                <a:cs typeface="Calibri" pitchFamily="34" charset="-120"/>
              </a:rPr>
              <a:t>Organisasi Lingkungan</a:t>
            </a:r>
            <a:endParaRPr lang="en-US" sz="1400" dirty="0"/>
          </a:p>
        </p:txBody>
      </p:sp>
      <p:sp>
        <p:nvSpPr>
          <p:cNvPr id="34" name="Text 32"/>
          <p:cNvSpPr txBox="1"/>
          <p:nvPr/>
        </p:nvSpPr>
        <p:spPr>
          <a:xfrm>
            <a:off x="4575962" y="4846320"/>
            <a:ext cx="3039770" cy="658368"/>
          </a:xfrm>
          <a:prstGeom prst="rect">
            <a:avLst/>
          </a:prstGeom>
          <a:noFill/>
          <a:ln/>
        </p:spPr>
        <p:txBody>
          <a:bodyPr wrap="square" lIns="0" tIns="0" rIns="0" bIns="0" rtlCol="0" anchor="t"/>
          <a:lstStyle/>
          <a:p>
            <a:pPr indent="0" marL="0">
              <a:lnSpc>
                <a:spcPts val="1633"/>
              </a:lnSpc>
              <a:buNone/>
            </a:pPr>
            <a:r>
              <a:rPr lang="en-US" sz="1150" dirty="0">
                <a:solidFill>
                  <a:srgbClr val="E8E4DC"/>
                </a:solidFill>
                <a:latin typeface="Calibri" pitchFamily="34" charset="0"/>
                <a:ea typeface="Calibri" pitchFamily="34" charset="-122"/>
                <a:cs typeface="Calibri" pitchFamily="34" charset="-120"/>
              </a:rPr>
              <a:t>Sierra Club, Greenpeace, Environmental Defence, Pembina Institute.</a:t>
            </a:r>
            <a:endParaRPr lang="en-US" sz="1150" dirty="0"/>
          </a:p>
        </p:txBody>
      </p:sp>
      <p:sp>
        <p:nvSpPr>
          <p:cNvPr id="35" name="Shape 33"/>
          <p:cNvSpPr/>
          <p:nvPr/>
        </p:nvSpPr>
        <p:spPr>
          <a:xfrm>
            <a:off x="8054645" y="3895344"/>
            <a:ext cx="3515258" cy="1737360"/>
          </a:xfrm>
          <a:prstGeom prst="roundRect">
            <a:avLst>
              <a:gd name="adj" fmla="val 8421"/>
            </a:avLst>
          </a:prstGeom>
          <a:solidFill>
            <a:srgbClr val="6C7BE0"/>
          </a:solidFill>
          <a:ln/>
        </p:spPr>
      </p:sp>
      <p:sp>
        <p:nvSpPr>
          <p:cNvPr id="36" name="Shape 34"/>
          <p:cNvSpPr/>
          <p:nvPr/>
        </p:nvSpPr>
        <p:spPr>
          <a:xfrm>
            <a:off x="8292389" y="4096512"/>
            <a:ext cx="283464" cy="283464"/>
          </a:xfrm>
          <a:prstGeom prst="roundRect">
            <a:avLst>
              <a:gd name="adj" fmla="val 32258"/>
            </a:avLst>
          </a:prstGeom>
          <a:solidFill>
            <a:srgbClr val="5D6BC2"/>
          </a:solidFill>
          <a:ln/>
        </p:spPr>
      </p:sp>
      <p:sp>
        <p:nvSpPr>
          <p:cNvPr id="37" name="Text 35"/>
          <p:cNvSpPr txBox="1"/>
          <p:nvPr/>
        </p:nvSpPr>
        <p:spPr>
          <a:xfrm>
            <a:off x="8292389" y="4096512"/>
            <a:ext cx="283464" cy="283464"/>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06</a:t>
            </a:r>
            <a:endParaRPr lang="en-US" sz="1050" dirty="0"/>
          </a:p>
        </p:txBody>
      </p:sp>
      <p:sp>
        <p:nvSpPr>
          <p:cNvPr id="38" name="Text 36"/>
          <p:cNvSpPr txBox="1"/>
          <p:nvPr/>
        </p:nvSpPr>
        <p:spPr>
          <a:xfrm>
            <a:off x="8292389" y="4480560"/>
            <a:ext cx="3039770" cy="292608"/>
          </a:xfrm>
          <a:prstGeom prst="rect">
            <a:avLst/>
          </a:prstGeom>
          <a:noFill/>
          <a:ln/>
        </p:spPr>
        <p:txBody>
          <a:bodyPr wrap="square" lIns="0" tIns="0" rIns="0" bIns="0" rtlCol="0" anchor="t"/>
          <a:lstStyle/>
          <a:p>
            <a:pPr indent="0" marL="0">
              <a:lnSpc>
                <a:spcPts val="1708"/>
              </a:lnSpc>
              <a:buNone/>
            </a:pPr>
            <a:r>
              <a:rPr lang="en-US" sz="1400" b="1" dirty="0">
                <a:solidFill>
                  <a:srgbClr val="0E1626"/>
                </a:solidFill>
                <a:latin typeface="Calibri" pitchFamily="34" charset="0"/>
                <a:ea typeface="Calibri" pitchFamily="34" charset="-122"/>
                <a:cs typeface="Calibri" pitchFamily="34" charset="-120"/>
              </a:rPr>
              <a:t>Generasi Mendatang</a:t>
            </a:r>
            <a:endParaRPr lang="en-US" sz="1400" dirty="0"/>
          </a:p>
        </p:txBody>
      </p:sp>
      <p:sp>
        <p:nvSpPr>
          <p:cNvPr id="39" name="Text 37"/>
          <p:cNvSpPr txBox="1"/>
          <p:nvPr/>
        </p:nvSpPr>
        <p:spPr>
          <a:xfrm>
            <a:off x="8292389" y="4846320"/>
            <a:ext cx="3039770" cy="658368"/>
          </a:xfrm>
          <a:prstGeom prst="rect">
            <a:avLst/>
          </a:prstGeom>
          <a:noFill/>
          <a:ln/>
        </p:spPr>
        <p:txBody>
          <a:bodyPr wrap="square" lIns="0" tIns="0" rIns="0" bIns="0" rtlCol="0" anchor="t"/>
          <a:lstStyle/>
          <a:p>
            <a:pPr indent="0" marL="0">
              <a:lnSpc>
                <a:spcPts val="1633"/>
              </a:lnSpc>
              <a:buNone/>
            </a:pPr>
            <a:r>
              <a:rPr lang="en-US" sz="1150" dirty="0">
                <a:solidFill>
                  <a:srgbClr val="2A3243"/>
                </a:solidFill>
                <a:latin typeface="Calibri" pitchFamily="34" charset="0"/>
                <a:ea typeface="Calibri" pitchFamily="34" charset="-122"/>
                <a:cs typeface="Calibri" pitchFamily="34" charset="-120"/>
              </a:rPr>
              <a:t>Menanggung akibat iklim tanpa pernah hadir di meja perundingan.</a:t>
            </a:r>
            <a:endParaRPr lang="en-US" sz="1150" dirty="0"/>
          </a:p>
        </p:txBody>
      </p:sp>
      <p:sp>
        <p:nvSpPr>
          <p:cNvPr id="40" name="Shape 38"/>
          <p:cNvSpPr/>
          <p:nvPr/>
        </p:nvSpPr>
        <p:spPr>
          <a:xfrm>
            <a:off x="621792" y="5797296"/>
            <a:ext cx="10948111" cy="457200"/>
          </a:xfrm>
          <a:prstGeom prst="roundRect">
            <a:avLst>
              <a:gd name="adj" fmla="val 32000"/>
            </a:avLst>
          </a:prstGeom>
          <a:solidFill>
            <a:srgbClr val="F5B722"/>
          </a:solidFill>
          <a:ln/>
        </p:spPr>
      </p:sp>
      <p:sp>
        <p:nvSpPr>
          <p:cNvPr id="41" name="Text 39"/>
          <p:cNvSpPr txBox="1"/>
          <p:nvPr/>
        </p:nvSpPr>
        <p:spPr>
          <a:xfrm>
            <a:off x="941832" y="5927312"/>
            <a:ext cx="10308031" cy="310896"/>
          </a:xfrm>
          <a:prstGeom prst="rect">
            <a:avLst/>
          </a:prstGeom>
          <a:noFill/>
          <a:ln/>
        </p:spPr>
        <p:txBody>
          <a:bodyPr wrap="square" lIns="0" tIns="0" rIns="0" bIns="0" rtlCol="0" anchor="t"/>
          <a:lstStyle/>
          <a:p>
            <a:pPr indent="0" marL="0">
              <a:lnSpc>
                <a:spcPts val="1553"/>
              </a:lnSpc>
              <a:buNone/>
            </a:pPr>
            <a:r>
              <a:rPr lang="en-US" sz="1150" b="1" dirty="0">
                <a:solidFill>
                  <a:srgbClr val="0E1626"/>
                </a:solidFill>
                <a:latin typeface="Calibri" pitchFamily="34" charset="0"/>
                <a:ea typeface="Calibri" pitchFamily="34" charset="-122"/>
                <a:cs typeface="Calibri" pitchFamily="34" charset="-120"/>
              </a:rPr>
              <a:t>Dua pihak terakhir tidak punya kursi di meja perundingan. Itu titik lemah paling serius dalam kasus ini.</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1234440"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234440"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DUA NARASI</a:t>
            </a:r>
            <a:endParaRPr lang="en-US" sz="950" dirty="0"/>
          </a:p>
        </p:txBody>
      </p:sp>
      <p:sp>
        <p:nvSpPr>
          <p:cNvPr id="5" name="Shape 3"/>
          <p:cNvSpPr/>
          <p:nvPr/>
        </p:nvSpPr>
        <p:spPr>
          <a:xfrm>
            <a:off x="1975104" y="457200"/>
            <a:ext cx="1687068"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975104" y="457200"/>
            <a:ext cx="1687068"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HALAMAN 131–133</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06</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Dua Narasi yang Saling Berhadapan</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Shape 7"/>
          <p:cNvSpPr/>
          <p:nvPr/>
        </p:nvSpPr>
        <p:spPr>
          <a:xfrm>
            <a:off x="621792" y="1737360"/>
            <a:ext cx="5346040" cy="3657600"/>
          </a:xfrm>
          <a:prstGeom prst="roundRect">
            <a:avLst>
              <a:gd name="adj" fmla="val 4000"/>
            </a:avLst>
          </a:prstGeom>
          <a:solidFill>
            <a:srgbClr val="0E1626"/>
          </a:solidFill>
          <a:ln/>
        </p:spPr>
      </p:sp>
      <p:sp>
        <p:nvSpPr>
          <p:cNvPr id="10" name="Shape 8"/>
          <p:cNvSpPr/>
          <p:nvPr/>
        </p:nvSpPr>
        <p:spPr>
          <a:xfrm>
            <a:off x="896112" y="1956816"/>
            <a:ext cx="1143914" cy="283464"/>
          </a:xfrm>
          <a:prstGeom prst="roundRect">
            <a:avLst>
              <a:gd name="adj" fmla="val 50000"/>
            </a:avLst>
          </a:prstGeom>
          <a:solidFill>
            <a:srgbClr val="C6F04A"/>
          </a:solidFill>
          <a:ln w="12700">
            <a:solidFill>
              <a:srgbClr val="C6F04A"/>
            </a:solidFill>
            <a:prstDash val="solid"/>
          </a:ln>
        </p:spPr>
      </p:sp>
      <p:sp>
        <p:nvSpPr>
          <p:cNvPr id="11" name="Text 9"/>
          <p:cNvSpPr txBox="1"/>
          <p:nvPr/>
        </p:nvSpPr>
        <p:spPr>
          <a:xfrm>
            <a:off x="896112" y="1956816"/>
            <a:ext cx="114391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PENENTANG</a:t>
            </a:r>
            <a:endParaRPr lang="en-US" sz="950" dirty="0"/>
          </a:p>
        </p:txBody>
      </p:sp>
      <p:sp>
        <p:nvSpPr>
          <p:cNvPr id="12" name="Text 10"/>
          <p:cNvSpPr txBox="1"/>
          <p:nvPr/>
        </p:nvSpPr>
        <p:spPr>
          <a:xfrm>
            <a:off x="896112" y="2377440"/>
            <a:ext cx="4797400" cy="658368"/>
          </a:xfrm>
          <a:prstGeom prst="rect">
            <a:avLst/>
          </a:prstGeom>
          <a:noFill/>
          <a:ln/>
        </p:spPr>
        <p:txBody>
          <a:bodyPr wrap="square" lIns="0" tIns="0" rIns="0" bIns="0" rtlCol="0" anchor="t"/>
          <a:lstStyle/>
          <a:p>
            <a:pPr indent="0" marL="0">
              <a:lnSpc>
                <a:spcPts val="2500"/>
              </a:lnSpc>
              <a:buNone/>
            </a:pPr>
            <a:r>
              <a:rPr lang="en-US" sz="1900" b="1" dirty="0">
                <a:solidFill>
                  <a:srgbClr val="FFFFFF"/>
                </a:solidFill>
                <a:latin typeface="Calibri" pitchFamily="34" charset="0"/>
                <a:ea typeface="Calibri" pitchFamily="34" charset="-122"/>
                <a:cs typeface="Calibri" pitchFamily="34" charset="-120"/>
              </a:rPr>
              <a:t>Most Destructive Project on Earth</a:t>
            </a:r>
            <a:endParaRPr lang="en-US" sz="1900" dirty="0"/>
          </a:p>
        </p:txBody>
      </p:sp>
      <p:sp>
        <p:nvSpPr>
          <p:cNvPr id="13" name="Text 11"/>
          <p:cNvSpPr txBox="1"/>
          <p:nvPr/>
        </p:nvSpPr>
        <p:spPr>
          <a:xfrm>
            <a:off x="896112" y="3127248"/>
            <a:ext cx="1133856"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Emisi</a:t>
            </a:r>
            <a:endParaRPr lang="en-US" sz="1150" dirty="0"/>
          </a:p>
        </p:txBody>
      </p:sp>
      <p:sp>
        <p:nvSpPr>
          <p:cNvPr id="14" name="Text 12"/>
          <p:cNvSpPr txBox="1"/>
          <p:nvPr/>
        </p:nvSpPr>
        <p:spPr>
          <a:xfrm>
            <a:off x="2084832" y="3099816"/>
            <a:ext cx="3572104" cy="512064"/>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20 persen lebih tinggi daripada minyak konvensional, 10 persen emisi nasional Kanada</a:t>
            </a:r>
            <a:endParaRPr lang="en-US" sz="1100" dirty="0"/>
          </a:p>
        </p:txBody>
      </p:sp>
      <p:sp>
        <p:nvSpPr>
          <p:cNvPr id="15" name="Text 13"/>
          <p:cNvSpPr txBox="1"/>
          <p:nvPr/>
        </p:nvSpPr>
        <p:spPr>
          <a:xfrm>
            <a:off x="896112" y="3694176"/>
            <a:ext cx="1133856"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Limbah</a:t>
            </a:r>
            <a:endParaRPr lang="en-US" sz="1150" dirty="0"/>
          </a:p>
        </p:txBody>
      </p:sp>
      <p:sp>
        <p:nvSpPr>
          <p:cNvPr id="16" name="Text 14"/>
          <p:cNvSpPr txBox="1"/>
          <p:nvPr/>
        </p:nvSpPr>
        <p:spPr>
          <a:xfrm>
            <a:off x="2084832" y="3666744"/>
            <a:ext cx="3572104" cy="512064"/>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Kolam beracun 220 kilometer persegi berisi sekitar 1 triliun liter yang bocor</a:t>
            </a:r>
            <a:endParaRPr lang="en-US" sz="1100" dirty="0"/>
          </a:p>
        </p:txBody>
      </p:sp>
      <p:sp>
        <p:nvSpPr>
          <p:cNvPr id="17" name="Text 15"/>
          <p:cNvSpPr txBox="1"/>
          <p:nvPr/>
        </p:nvSpPr>
        <p:spPr>
          <a:xfrm>
            <a:off x="896112" y="4261104"/>
            <a:ext cx="1133856"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Habitat</a:t>
            </a:r>
            <a:endParaRPr lang="en-US" sz="1150" dirty="0"/>
          </a:p>
        </p:txBody>
      </p:sp>
      <p:sp>
        <p:nvSpPr>
          <p:cNvPr id="18" name="Text 16"/>
          <p:cNvSpPr txBox="1"/>
          <p:nvPr/>
        </p:nvSpPr>
        <p:spPr>
          <a:xfrm>
            <a:off x="2084832" y="4233672"/>
            <a:ext cx="3572104" cy="512064"/>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Hutan boreal seluas Kota New York telah hancur, hanya 11 persen direklamasi</a:t>
            </a:r>
            <a:endParaRPr lang="en-US" sz="1100" dirty="0"/>
          </a:p>
        </p:txBody>
      </p:sp>
      <p:sp>
        <p:nvSpPr>
          <p:cNvPr id="19" name="Text 17"/>
          <p:cNvSpPr txBox="1"/>
          <p:nvPr/>
        </p:nvSpPr>
        <p:spPr>
          <a:xfrm>
            <a:off x="896112" y="4828032"/>
            <a:ext cx="1133856" cy="274320"/>
          </a:xfrm>
          <a:prstGeom prst="rect">
            <a:avLst/>
          </a:prstGeom>
          <a:noFill/>
          <a:ln/>
        </p:spPr>
        <p:txBody>
          <a:bodyPr wrap="square" lIns="0" tIns="0" rIns="0" bIns="0" rtlCol="0" anchor="t"/>
          <a:lstStyle/>
          <a:p>
            <a:pPr indent="0" marL="0">
              <a:buNone/>
            </a:pPr>
            <a:r>
              <a:rPr lang="en-US" sz="1150" b="1" dirty="0">
                <a:solidFill>
                  <a:srgbClr val="C6F04A"/>
                </a:solidFill>
                <a:latin typeface="Calibri" pitchFamily="34" charset="0"/>
                <a:ea typeface="Calibri" pitchFamily="34" charset="-122"/>
                <a:cs typeface="Calibri" pitchFamily="34" charset="-120"/>
              </a:rPr>
              <a:t>Proyeksi</a:t>
            </a:r>
            <a:endParaRPr lang="en-US" sz="1150" dirty="0"/>
          </a:p>
        </p:txBody>
      </p:sp>
      <p:sp>
        <p:nvSpPr>
          <p:cNvPr id="20" name="Text 18"/>
          <p:cNvSpPr txBox="1"/>
          <p:nvPr/>
        </p:nvSpPr>
        <p:spPr>
          <a:xfrm>
            <a:off x="2084832" y="4800600"/>
            <a:ext cx="3572104" cy="512064"/>
          </a:xfrm>
          <a:prstGeom prst="rect">
            <a:avLst/>
          </a:prstGeom>
          <a:noFill/>
          <a:ln/>
        </p:spPr>
        <p:txBody>
          <a:bodyPr wrap="square" lIns="0" tIns="0" rIns="0" bIns="0" rtlCol="0" anchor="t"/>
          <a:lstStyle/>
          <a:p>
            <a:pPr indent="0" marL="0">
              <a:lnSpc>
                <a:spcPts val="1450"/>
              </a:lnSpc>
              <a:buNone/>
            </a:pPr>
            <a:r>
              <a:rPr lang="en-US" sz="1100" dirty="0">
                <a:solidFill>
                  <a:srgbClr val="B9C0CE"/>
                </a:solidFill>
                <a:latin typeface="Calibri" pitchFamily="34" charset="0"/>
                <a:ea typeface="Calibri" pitchFamily="34" charset="-122"/>
                <a:cs typeface="Calibri" pitchFamily="34" charset="-120"/>
              </a:rPr>
              <a:t>Tambahan 50 sampai 150 juta ton emisi per tahun pada 2030</a:t>
            </a:r>
            <a:endParaRPr lang="en-US" sz="1100" dirty="0"/>
          </a:p>
        </p:txBody>
      </p:sp>
      <p:sp>
        <p:nvSpPr>
          <p:cNvPr id="21" name="Shape 19"/>
          <p:cNvSpPr/>
          <p:nvPr/>
        </p:nvSpPr>
        <p:spPr>
          <a:xfrm>
            <a:off x="6223864" y="1737360"/>
            <a:ext cx="5346040" cy="3657600"/>
          </a:xfrm>
          <a:prstGeom prst="roundRect">
            <a:avLst>
              <a:gd name="adj" fmla="val 4000"/>
            </a:avLst>
          </a:prstGeom>
          <a:solidFill>
            <a:srgbClr val="FF5A2D"/>
          </a:solidFill>
          <a:ln/>
        </p:spPr>
      </p:sp>
      <p:sp>
        <p:nvSpPr>
          <p:cNvPr id="22" name="Shape 20"/>
          <p:cNvSpPr/>
          <p:nvPr/>
        </p:nvSpPr>
        <p:spPr>
          <a:xfrm>
            <a:off x="6498184" y="1956816"/>
            <a:ext cx="1143914" cy="283464"/>
          </a:xfrm>
          <a:prstGeom prst="roundRect">
            <a:avLst>
              <a:gd name="adj" fmla="val 50000"/>
            </a:avLst>
          </a:prstGeom>
          <a:solidFill>
            <a:srgbClr val="0E1626"/>
          </a:solidFill>
          <a:ln w="12700">
            <a:solidFill>
              <a:srgbClr val="0E1626"/>
            </a:solidFill>
            <a:prstDash val="solid"/>
          </a:ln>
        </p:spPr>
      </p:sp>
      <p:sp>
        <p:nvSpPr>
          <p:cNvPr id="23" name="Text 21"/>
          <p:cNvSpPr txBox="1"/>
          <p:nvPr/>
        </p:nvSpPr>
        <p:spPr>
          <a:xfrm>
            <a:off x="6498184" y="1956816"/>
            <a:ext cx="1143914"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PENDUKUNG</a:t>
            </a:r>
            <a:endParaRPr lang="en-US" sz="950" dirty="0"/>
          </a:p>
        </p:txBody>
      </p:sp>
      <p:sp>
        <p:nvSpPr>
          <p:cNvPr id="24" name="Text 22"/>
          <p:cNvSpPr txBox="1"/>
          <p:nvPr/>
        </p:nvSpPr>
        <p:spPr>
          <a:xfrm>
            <a:off x="6498184" y="2377440"/>
            <a:ext cx="4797400" cy="658368"/>
          </a:xfrm>
          <a:prstGeom prst="rect">
            <a:avLst/>
          </a:prstGeom>
          <a:noFill/>
          <a:ln/>
        </p:spPr>
        <p:txBody>
          <a:bodyPr wrap="square" lIns="0" tIns="0" rIns="0" bIns="0" rtlCol="0" anchor="t"/>
          <a:lstStyle/>
          <a:p>
            <a:pPr indent="0" marL="0">
              <a:lnSpc>
                <a:spcPts val="2500"/>
              </a:lnSpc>
              <a:buNone/>
            </a:pPr>
            <a:r>
              <a:rPr lang="en-US" sz="1900" b="1" dirty="0">
                <a:solidFill>
                  <a:srgbClr val="FFFFFF"/>
                </a:solidFill>
                <a:latin typeface="Calibri" pitchFamily="34" charset="0"/>
                <a:ea typeface="Calibri" pitchFamily="34" charset="-122"/>
                <a:cs typeface="Calibri" pitchFamily="34" charset="-120"/>
              </a:rPr>
              <a:t>Ethical Oil</a:t>
            </a:r>
            <a:endParaRPr lang="en-US" sz="1900" dirty="0"/>
          </a:p>
        </p:txBody>
      </p:sp>
      <p:sp>
        <p:nvSpPr>
          <p:cNvPr id="25" name="Text 23"/>
          <p:cNvSpPr txBox="1"/>
          <p:nvPr/>
        </p:nvSpPr>
        <p:spPr>
          <a:xfrm>
            <a:off x="6498184" y="3127248"/>
            <a:ext cx="1133856"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Kerja</a:t>
            </a:r>
            <a:endParaRPr lang="en-US" sz="1150" dirty="0"/>
          </a:p>
        </p:txBody>
      </p:sp>
      <p:sp>
        <p:nvSpPr>
          <p:cNvPr id="26" name="Text 24"/>
          <p:cNvSpPr txBox="1"/>
          <p:nvPr/>
        </p:nvSpPr>
        <p:spPr>
          <a:xfrm>
            <a:off x="7686904" y="3099816"/>
            <a:ext cx="3572104" cy="512064"/>
          </a:xfrm>
          <a:prstGeom prst="rect">
            <a:avLst/>
          </a:prstGeom>
          <a:noFill/>
          <a:ln/>
        </p:spPr>
        <p:txBody>
          <a:bodyPr wrap="square" lIns="0" tIns="0" rIns="0" bIns="0" rtlCol="0" anchor="t"/>
          <a:lstStyle/>
          <a:p>
            <a:pPr indent="0" marL="0">
              <a:lnSpc>
                <a:spcPts val="1450"/>
              </a:lnSpc>
              <a:buNone/>
            </a:pPr>
            <a:r>
              <a:rPr lang="en-US" sz="1100" dirty="0">
                <a:solidFill>
                  <a:srgbClr val="FFE0D4"/>
                </a:solidFill>
                <a:latin typeface="Calibri" pitchFamily="34" charset="0"/>
                <a:ea typeface="Calibri" pitchFamily="34" charset="-122"/>
                <a:cs typeface="Calibri" pitchFamily="34" charset="-120"/>
              </a:rPr>
              <a:t>206.000 orang pada 2017, diproyeksikan menjadi 461.000 pada 2027</a:t>
            </a:r>
            <a:endParaRPr lang="en-US" sz="1100" dirty="0"/>
          </a:p>
        </p:txBody>
      </p:sp>
      <p:sp>
        <p:nvSpPr>
          <p:cNvPr id="27" name="Text 25"/>
          <p:cNvSpPr txBox="1"/>
          <p:nvPr/>
        </p:nvSpPr>
        <p:spPr>
          <a:xfrm>
            <a:off x="6498184" y="3694176"/>
            <a:ext cx="1133856"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Ekonomi</a:t>
            </a:r>
            <a:endParaRPr lang="en-US" sz="1150" dirty="0"/>
          </a:p>
        </p:txBody>
      </p:sp>
      <p:sp>
        <p:nvSpPr>
          <p:cNvPr id="28" name="Text 26"/>
          <p:cNvSpPr txBox="1"/>
          <p:nvPr/>
        </p:nvSpPr>
        <p:spPr>
          <a:xfrm>
            <a:off x="7686904" y="3666744"/>
            <a:ext cx="3572104" cy="512064"/>
          </a:xfrm>
          <a:prstGeom prst="rect">
            <a:avLst/>
          </a:prstGeom>
          <a:noFill/>
          <a:ln/>
        </p:spPr>
        <p:txBody>
          <a:bodyPr wrap="square" lIns="0" tIns="0" rIns="0" bIns="0" rtlCol="0" anchor="t"/>
          <a:lstStyle/>
          <a:p>
            <a:pPr indent="0" marL="0">
              <a:lnSpc>
                <a:spcPts val="1450"/>
              </a:lnSpc>
              <a:buNone/>
            </a:pPr>
            <a:r>
              <a:rPr lang="en-US" sz="1100" dirty="0">
                <a:solidFill>
                  <a:srgbClr val="FFE0D4"/>
                </a:solidFill>
                <a:latin typeface="Calibri" pitchFamily="34" charset="0"/>
                <a:ea typeface="Calibri" pitchFamily="34" charset="-122"/>
                <a:cs typeface="Calibri" pitchFamily="34" charset="-120"/>
              </a:rPr>
              <a:t>CAD 1,6 triliun sepanjang 2017 sampai 2027, pajak CAD 139 miliar</a:t>
            </a:r>
            <a:endParaRPr lang="en-US" sz="1100" dirty="0"/>
          </a:p>
        </p:txBody>
      </p:sp>
      <p:sp>
        <p:nvSpPr>
          <p:cNvPr id="29" name="Text 27"/>
          <p:cNvSpPr txBox="1"/>
          <p:nvPr/>
        </p:nvSpPr>
        <p:spPr>
          <a:xfrm>
            <a:off x="6498184" y="4261104"/>
            <a:ext cx="1133856"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Adat</a:t>
            </a:r>
            <a:endParaRPr lang="en-US" sz="1150" dirty="0"/>
          </a:p>
        </p:txBody>
      </p:sp>
      <p:sp>
        <p:nvSpPr>
          <p:cNvPr id="30" name="Text 28"/>
          <p:cNvSpPr txBox="1"/>
          <p:nvPr/>
        </p:nvSpPr>
        <p:spPr>
          <a:xfrm>
            <a:off x="7686904" y="4233672"/>
            <a:ext cx="3572104" cy="512064"/>
          </a:xfrm>
          <a:prstGeom prst="rect">
            <a:avLst/>
          </a:prstGeom>
          <a:noFill/>
          <a:ln/>
        </p:spPr>
        <p:txBody>
          <a:bodyPr wrap="square" lIns="0" tIns="0" rIns="0" bIns="0" rtlCol="0" anchor="t"/>
          <a:lstStyle/>
          <a:p>
            <a:pPr indent="0" marL="0">
              <a:lnSpc>
                <a:spcPts val="1450"/>
              </a:lnSpc>
              <a:buNone/>
            </a:pPr>
            <a:r>
              <a:rPr lang="en-US" sz="1100" dirty="0">
                <a:solidFill>
                  <a:srgbClr val="FFE0D4"/>
                </a:solidFill>
                <a:latin typeface="Calibri" pitchFamily="34" charset="0"/>
                <a:ea typeface="Calibri" pitchFamily="34" charset="-122"/>
                <a:cs typeface="Calibri" pitchFamily="34" charset="-120"/>
              </a:rPr>
              <a:t>CAD 3,3 miliar mengalir ke 399 perusahaan dari 65 komunitas adat</a:t>
            </a:r>
            <a:endParaRPr lang="en-US" sz="1100" dirty="0"/>
          </a:p>
        </p:txBody>
      </p:sp>
      <p:sp>
        <p:nvSpPr>
          <p:cNvPr id="31" name="Text 29"/>
          <p:cNvSpPr txBox="1"/>
          <p:nvPr/>
        </p:nvSpPr>
        <p:spPr>
          <a:xfrm>
            <a:off x="6498184" y="4828032"/>
            <a:ext cx="1133856" cy="274320"/>
          </a:xfrm>
          <a:prstGeom prst="rect">
            <a:avLst/>
          </a:prstGeom>
          <a:noFill/>
          <a:ln/>
        </p:spPr>
        <p:txBody>
          <a:bodyPr wrap="square" lIns="0" tIns="0" rIns="0" bIns="0" rtlCol="0" anchor="t"/>
          <a:lstStyle/>
          <a:p>
            <a:pPr indent="0" marL="0">
              <a:buNone/>
            </a:pPr>
            <a:r>
              <a:rPr lang="en-US" sz="1150" b="1" dirty="0">
                <a:solidFill>
                  <a:srgbClr val="0E1626"/>
                </a:solidFill>
                <a:latin typeface="Calibri" pitchFamily="34" charset="0"/>
                <a:ea typeface="Calibri" pitchFamily="34" charset="-122"/>
                <a:cs typeface="Calibri" pitchFamily="34" charset="-120"/>
              </a:rPr>
              <a:t>Tata Kelola</a:t>
            </a:r>
            <a:endParaRPr lang="en-US" sz="1150" dirty="0"/>
          </a:p>
        </p:txBody>
      </p:sp>
      <p:sp>
        <p:nvSpPr>
          <p:cNvPr id="32" name="Text 30"/>
          <p:cNvSpPr txBox="1"/>
          <p:nvPr/>
        </p:nvSpPr>
        <p:spPr>
          <a:xfrm>
            <a:off x="7686904" y="4800600"/>
            <a:ext cx="3572104" cy="512064"/>
          </a:xfrm>
          <a:prstGeom prst="rect">
            <a:avLst/>
          </a:prstGeom>
          <a:noFill/>
          <a:ln/>
        </p:spPr>
        <p:txBody>
          <a:bodyPr wrap="square" lIns="0" tIns="0" rIns="0" bIns="0" rtlCol="0" anchor="t"/>
          <a:lstStyle/>
          <a:p>
            <a:pPr indent="0" marL="0">
              <a:lnSpc>
                <a:spcPts val="1450"/>
              </a:lnSpc>
              <a:buNone/>
            </a:pPr>
            <a:r>
              <a:rPr lang="en-US" sz="1100" dirty="0">
                <a:solidFill>
                  <a:srgbClr val="FFE0D4"/>
                </a:solidFill>
                <a:latin typeface="Calibri" pitchFamily="34" charset="0"/>
                <a:ea typeface="Calibri" pitchFamily="34" charset="-122"/>
                <a:cs typeface="Calibri" pitchFamily="34" charset="-120"/>
              </a:rPr>
              <a:t>Diatur secara demokratis, tidak terjerat korupsi seperti produsen lain</a:t>
            </a:r>
            <a:endParaRPr lang="en-US" sz="1100" dirty="0"/>
          </a:p>
        </p:txBody>
      </p:sp>
      <p:sp>
        <p:nvSpPr>
          <p:cNvPr id="33" name="Shape 31"/>
          <p:cNvSpPr/>
          <p:nvPr/>
        </p:nvSpPr>
        <p:spPr>
          <a:xfrm>
            <a:off x="621792" y="5541264"/>
            <a:ext cx="10948111" cy="713232"/>
          </a:xfrm>
          <a:prstGeom prst="roundRect">
            <a:avLst>
              <a:gd name="adj" fmla="val 20513"/>
            </a:avLst>
          </a:prstGeom>
          <a:solidFill>
            <a:srgbClr val="0E1626"/>
          </a:solidFill>
          <a:ln/>
        </p:spPr>
      </p:sp>
      <p:sp>
        <p:nvSpPr>
          <p:cNvPr id="34" name="Text 32"/>
          <p:cNvSpPr txBox="1"/>
          <p:nvPr/>
        </p:nvSpPr>
        <p:spPr>
          <a:xfrm>
            <a:off x="941832" y="5683567"/>
            <a:ext cx="10308031" cy="566928"/>
          </a:xfrm>
          <a:prstGeom prst="rect">
            <a:avLst/>
          </a:prstGeom>
          <a:noFill/>
          <a:ln/>
        </p:spPr>
        <p:txBody>
          <a:bodyPr wrap="square" lIns="0" tIns="0" rIns="0" bIns="0" rtlCol="0" anchor="t"/>
          <a:lstStyle/>
          <a:p>
            <a:pPr indent="0" marL="0">
              <a:lnSpc>
                <a:spcPts val="1688"/>
              </a:lnSpc>
              <a:buNone/>
            </a:pPr>
            <a:r>
              <a:rPr lang="en-US" sz="1250" b="1" dirty="0">
                <a:solidFill>
                  <a:srgbClr val="FFFFFF"/>
                </a:solidFill>
                <a:latin typeface="Calibri" pitchFamily="34" charset="0"/>
                <a:ea typeface="Calibri" pitchFamily="34" charset="-122"/>
                <a:cs typeface="Calibri" pitchFamily="34" charset="-120"/>
              </a:rPr>
              <a:t>Kedua kolom memakai data resmi yang sama sahnya. Sengketa ini bukan sengketa fakta, melainkan sengketa tentang apa yang layak dihitung.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1143914"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143914"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LENSA 1–2</a:t>
            </a:r>
            <a:endParaRPr lang="en-US" sz="950" dirty="0"/>
          </a:p>
        </p:txBody>
      </p:sp>
      <p:sp>
        <p:nvSpPr>
          <p:cNvPr id="5" name="Shape 3"/>
          <p:cNvSpPr/>
          <p:nvPr/>
        </p:nvSpPr>
        <p:spPr>
          <a:xfrm>
            <a:off x="1884578" y="457200"/>
            <a:ext cx="1777594"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884578" y="457200"/>
            <a:ext cx="177759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CONSEQUENTIALIST</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07</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Membaca Kasus dari Akibatnya</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Yang dinilai adalah hasil, bukan niat atau prosedurnya.</a:t>
            </a:r>
            <a:endParaRPr lang="en-US" sz="1350" dirty="0"/>
          </a:p>
        </p:txBody>
      </p:sp>
      <p:sp>
        <p:nvSpPr>
          <p:cNvPr id="10" name="Shape 8"/>
          <p:cNvSpPr/>
          <p:nvPr/>
        </p:nvSpPr>
        <p:spPr>
          <a:xfrm>
            <a:off x="621792" y="1975104"/>
            <a:ext cx="5346040" cy="3529584"/>
          </a:xfrm>
          <a:prstGeom prst="roundRect">
            <a:avLst>
              <a:gd name="adj" fmla="val 4145"/>
            </a:avLst>
          </a:prstGeom>
          <a:solidFill>
            <a:srgbClr val="AB463C"/>
          </a:solidFill>
          <a:ln/>
        </p:spPr>
      </p:sp>
      <p:sp>
        <p:nvSpPr>
          <p:cNvPr id="11" name="Shape 9"/>
          <p:cNvSpPr/>
          <p:nvPr/>
        </p:nvSpPr>
        <p:spPr>
          <a:xfrm>
            <a:off x="859536" y="2194560"/>
            <a:ext cx="301752" cy="301752"/>
          </a:xfrm>
          <a:prstGeom prst="roundRect">
            <a:avLst>
              <a:gd name="adj" fmla="val 30303"/>
            </a:avLst>
          </a:prstGeom>
          <a:solidFill>
            <a:srgbClr val="BA675F"/>
          </a:solidFill>
          <a:ln/>
        </p:spPr>
      </p:sp>
      <p:sp>
        <p:nvSpPr>
          <p:cNvPr id="12" name="Text 10"/>
          <p:cNvSpPr txBox="1"/>
          <p:nvPr/>
        </p:nvSpPr>
        <p:spPr>
          <a:xfrm>
            <a:off x="859536" y="2194560"/>
            <a:ext cx="301752"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3" name="Text 11"/>
          <p:cNvSpPr txBox="1"/>
          <p:nvPr/>
        </p:nvSpPr>
        <p:spPr>
          <a:xfrm>
            <a:off x="1261872" y="2203704"/>
            <a:ext cx="4468216" cy="274320"/>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Egoism</a:t>
            </a:r>
            <a:endParaRPr lang="en-US" sz="1500" dirty="0"/>
          </a:p>
        </p:txBody>
      </p:sp>
      <p:sp>
        <p:nvSpPr>
          <p:cNvPr id="14" name="Text 12"/>
          <p:cNvSpPr txBox="1"/>
          <p:nvPr/>
        </p:nvSpPr>
        <p:spPr>
          <a:xfrm>
            <a:off x="859536" y="2642616"/>
            <a:ext cx="4870552" cy="368300"/>
          </a:xfrm>
          <a:prstGeom prst="rect">
            <a:avLst/>
          </a:prstGeom>
          <a:noFill/>
          <a:ln/>
        </p:spPr>
        <p:txBody>
          <a:bodyPr wrap="square" lIns="0" tIns="0" rIns="0" bIns="0" rtlCol="0" anchor="t"/>
          <a:lstStyle/>
          <a:p>
            <a:pPr indent="0" marL="0">
              <a:lnSpc>
                <a:spcPts val="1450"/>
              </a:lnSpc>
              <a:buNone/>
            </a:pPr>
            <a:r>
              <a:rPr lang="en-US" sz="1100" i="1" dirty="0">
                <a:solidFill>
                  <a:srgbClr val="E9CFCC"/>
                </a:solidFill>
                <a:latin typeface="Calibri" pitchFamily="34" charset="0"/>
                <a:ea typeface="Calibri" pitchFamily="34" charset="-122"/>
                <a:cs typeface="Calibri" pitchFamily="34" charset="-120"/>
              </a:rPr>
              <a:t>Apakah ini kepentingan jangka panjang terbaik bagi Kanada dan perusahaannya?</a:t>
            </a:r>
            <a:endParaRPr lang="en-US" sz="1100" dirty="0"/>
          </a:p>
        </p:txBody>
      </p:sp>
      <p:sp>
        <p:nvSpPr>
          <p:cNvPr id="15" name="Text 13"/>
          <p:cNvSpPr txBox="1"/>
          <p:nvPr/>
        </p:nvSpPr>
        <p:spPr>
          <a:xfrm>
            <a:off x="859536" y="3175508"/>
            <a:ext cx="4870552" cy="1670812"/>
          </a:xfrm>
          <a:prstGeom prst="rect">
            <a:avLst/>
          </a:prstGeom>
          <a:noFill/>
          <a:ln/>
        </p:spPr>
        <p:txBody>
          <a:bodyPr wrap="square" lIns="0" tIns="0" rIns="0" bIns="0" rtlCol="0" anchor="t"/>
          <a:lstStyle/>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Jangka pendek, jawabannya iya. Pajak, lapangan kerja, dan kedaulatan energi seluruhnya bertambah.</a:t>
            </a:r>
            <a:endParaRPr lang="en-US" sz="1150" dirty="0"/>
          </a:p>
          <a:p>
            <a:pPr indent="0" marL="0">
              <a:lnSpc>
                <a:spcPts val="1650"/>
              </a:lnSpc>
              <a:buNone/>
            </a:pPr>
            <a:endParaRPr lang="en-US" sz="1150" dirty="0"/>
          </a:p>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Masalahnya ada pada kata jangka panjang. Biaya iklim tidak pernah masuk ke dalam harga, karena generasi yang menanggungnya tidak hadir di pasar untuk menawar. Inilah market failure yang diakui egoism sendiri sebagai batas teorinya.</a:t>
            </a:r>
            <a:endParaRPr lang="en-US" sz="1150" dirty="0"/>
          </a:p>
        </p:txBody>
      </p:sp>
      <p:sp>
        <p:nvSpPr>
          <p:cNvPr id="16" name="Shape 14"/>
          <p:cNvSpPr/>
          <p:nvPr/>
        </p:nvSpPr>
        <p:spPr>
          <a:xfrm>
            <a:off x="859536" y="4974336"/>
            <a:ext cx="4870552" cy="347472"/>
          </a:xfrm>
          <a:prstGeom prst="roundRect">
            <a:avLst>
              <a:gd name="adj" fmla="val 23684"/>
            </a:avLst>
          </a:prstGeom>
          <a:solidFill>
            <a:srgbClr val="6C3333"/>
          </a:solidFill>
          <a:ln/>
        </p:spPr>
      </p:sp>
      <p:sp>
        <p:nvSpPr>
          <p:cNvPr id="17" name="Text 15"/>
          <p:cNvSpPr txBox="1"/>
          <p:nvPr/>
        </p:nvSpPr>
        <p:spPr>
          <a:xfrm>
            <a:off x="932688" y="4974336"/>
            <a:ext cx="4724248" cy="347472"/>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Calibri" pitchFamily="34" charset="0"/>
                <a:ea typeface="Calibri" pitchFamily="34" charset="-122"/>
                <a:cs typeface="Calibri" pitchFamily="34" charset="-120"/>
              </a:rPr>
              <a:t>NETRAL, BATASNYA TERBUKA</a:t>
            </a:r>
            <a:endParaRPr lang="en-US" sz="950" dirty="0"/>
          </a:p>
        </p:txBody>
      </p:sp>
      <p:sp>
        <p:nvSpPr>
          <p:cNvPr id="18" name="Shape 16"/>
          <p:cNvSpPr/>
          <p:nvPr/>
        </p:nvSpPr>
        <p:spPr>
          <a:xfrm>
            <a:off x="6223864" y="1975104"/>
            <a:ext cx="5346040" cy="3529584"/>
          </a:xfrm>
          <a:prstGeom prst="roundRect">
            <a:avLst>
              <a:gd name="adj" fmla="val 4145"/>
            </a:avLst>
          </a:prstGeom>
          <a:solidFill>
            <a:srgbClr val="FF5A2D"/>
          </a:solidFill>
          <a:ln/>
        </p:spPr>
      </p:sp>
      <p:sp>
        <p:nvSpPr>
          <p:cNvPr id="19" name="Shape 17"/>
          <p:cNvSpPr/>
          <p:nvPr/>
        </p:nvSpPr>
        <p:spPr>
          <a:xfrm>
            <a:off x="6461608" y="2194560"/>
            <a:ext cx="301752" cy="301752"/>
          </a:xfrm>
          <a:prstGeom prst="roundRect">
            <a:avLst>
              <a:gd name="adj" fmla="val 30303"/>
            </a:avLst>
          </a:prstGeom>
          <a:solidFill>
            <a:srgbClr val="FF7853"/>
          </a:solidFill>
          <a:ln/>
        </p:spPr>
      </p:sp>
      <p:sp>
        <p:nvSpPr>
          <p:cNvPr id="20" name="Text 18"/>
          <p:cNvSpPr txBox="1"/>
          <p:nvPr/>
        </p:nvSpPr>
        <p:spPr>
          <a:xfrm>
            <a:off x="6461608" y="2194560"/>
            <a:ext cx="301752"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1" name="Text 19"/>
          <p:cNvSpPr txBox="1"/>
          <p:nvPr/>
        </p:nvSpPr>
        <p:spPr>
          <a:xfrm>
            <a:off x="6863944" y="2203704"/>
            <a:ext cx="4468216" cy="274320"/>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Utilitarianism</a:t>
            </a:r>
            <a:endParaRPr lang="en-US" sz="1500" dirty="0"/>
          </a:p>
        </p:txBody>
      </p:sp>
      <p:sp>
        <p:nvSpPr>
          <p:cNvPr id="22" name="Text 20"/>
          <p:cNvSpPr txBox="1"/>
          <p:nvPr/>
        </p:nvSpPr>
        <p:spPr>
          <a:xfrm>
            <a:off x="6461608" y="2642616"/>
            <a:ext cx="4870552" cy="368300"/>
          </a:xfrm>
          <a:prstGeom prst="rect">
            <a:avLst/>
          </a:prstGeom>
          <a:noFill/>
          <a:ln/>
        </p:spPr>
        <p:txBody>
          <a:bodyPr wrap="square" lIns="0" tIns="0" rIns="0" bIns="0" rtlCol="0" anchor="t"/>
          <a:lstStyle/>
          <a:p>
            <a:pPr indent="0" marL="0">
              <a:lnSpc>
                <a:spcPts val="1450"/>
              </a:lnSpc>
              <a:buNone/>
            </a:pPr>
            <a:r>
              <a:rPr lang="en-US" sz="1100" i="1" dirty="0">
                <a:solidFill>
                  <a:srgbClr val="FFD4C8"/>
                </a:solidFill>
                <a:latin typeface="Calibri" pitchFamily="34" charset="0"/>
                <a:ea typeface="Calibri" pitchFamily="34" charset="-122"/>
                <a:cs typeface="Calibri" pitchFamily="34" charset="-120"/>
              </a:rPr>
              <a:t>Bila seluruh akibat untuk semua pihak dihitung, apakah kita lebih baik?</a:t>
            </a:r>
            <a:endParaRPr lang="en-US" sz="1100" dirty="0"/>
          </a:p>
        </p:txBody>
      </p:sp>
      <p:sp>
        <p:nvSpPr>
          <p:cNvPr id="23" name="Text 21"/>
          <p:cNvSpPr txBox="1"/>
          <p:nvPr/>
        </p:nvSpPr>
        <p:spPr>
          <a:xfrm>
            <a:off x="6461608" y="3175508"/>
            <a:ext cx="4870552" cy="1670812"/>
          </a:xfrm>
          <a:prstGeom prst="rect">
            <a:avLst/>
          </a:prstGeom>
          <a:noFill/>
          <a:ln/>
        </p:spPr>
        <p:txBody>
          <a:bodyPr wrap="square" lIns="0" tIns="0" rIns="0" bIns="0" rtlCol="0" anchor="t"/>
          <a:lstStyle/>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Act utilitarianism cenderung mendukung. Manfaat 206.000 pekerjaan hari ini nyata dan terukur, sedangkan kerugiannya tersebar dan sulit dikuantifikasi.</a:t>
            </a:r>
            <a:endParaRPr lang="en-US" sz="1150" dirty="0"/>
          </a:p>
          <a:p>
            <a:pPr indent="0" marL="0">
              <a:lnSpc>
                <a:spcPts val="1650"/>
              </a:lnSpc>
              <a:buNone/>
            </a:pPr>
            <a:endParaRPr lang="en-US" sz="1150" dirty="0"/>
          </a:p>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Rule utilitarianism menolak. Bila kelas tindakan ini menjadi aturan umum, target Paris menjadi mustahil dan kerugiannya melampaui manfaat mana pun.</a:t>
            </a:r>
            <a:endParaRPr lang="en-US" sz="1150" dirty="0"/>
          </a:p>
        </p:txBody>
      </p:sp>
      <p:sp>
        <p:nvSpPr>
          <p:cNvPr id="24" name="Shape 22"/>
          <p:cNvSpPr/>
          <p:nvPr/>
        </p:nvSpPr>
        <p:spPr>
          <a:xfrm>
            <a:off x="6461608" y="4974336"/>
            <a:ext cx="4870552" cy="347472"/>
          </a:xfrm>
          <a:prstGeom prst="roundRect">
            <a:avLst>
              <a:gd name="adj" fmla="val 23684"/>
            </a:avLst>
          </a:prstGeom>
          <a:solidFill>
            <a:srgbClr val="9F3F2A"/>
          </a:solidFill>
          <a:ln/>
        </p:spPr>
      </p:sp>
      <p:sp>
        <p:nvSpPr>
          <p:cNvPr id="25" name="Text 23"/>
          <p:cNvSpPr txBox="1"/>
          <p:nvPr/>
        </p:nvSpPr>
        <p:spPr>
          <a:xfrm>
            <a:off x="6534760" y="4974336"/>
            <a:ext cx="4724248" cy="347472"/>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Calibri" pitchFamily="34" charset="0"/>
                <a:ea typeface="Calibri" pitchFamily="34" charset="-122"/>
                <a:cs typeface="Calibri" pitchFamily="34" charset="-120"/>
              </a:rPr>
              <a:t>TERBELAH</a:t>
            </a:r>
            <a:endParaRPr lang="en-US" sz="950" dirty="0"/>
          </a:p>
        </p:txBody>
      </p:sp>
      <p:sp>
        <p:nvSpPr>
          <p:cNvPr id="26" name="Shape 24"/>
          <p:cNvSpPr/>
          <p:nvPr/>
        </p:nvSpPr>
        <p:spPr>
          <a:xfrm>
            <a:off x="621792" y="5669280"/>
            <a:ext cx="10948111" cy="457200"/>
          </a:xfrm>
          <a:prstGeom prst="roundRect">
            <a:avLst>
              <a:gd name="adj" fmla="val 32000"/>
            </a:avLst>
          </a:prstGeom>
          <a:solidFill>
            <a:srgbClr val="C6F04A"/>
          </a:solidFill>
          <a:ln/>
        </p:spPr>
      </p:sp>
      <p:sp>
        <p:nvSpPr>
          <p:cNvPr id="27" name="Text 25"/>
          <p:cNvSpPr txBox="1"/>
          <p:nvPr/>
        </p:nvSpPr>
        <p:spPr>
          <a:xfrm>
            <a:off x="941832" y="5799296"/>
            <a:ext cx="10308031" cy="310896"/>
          </a:xfrm>
          <a:prstGeom prst="rect">
            <a:avLst/>
          </a:prstGeom>
          <a:noFill/>
          <a:ln/>
        </p:spPr>
        <p:txBody>
          <a:bodyPr wrap="square" lIns="0" tIns="0" rIns="0" bIns="0" rtlCol="0" anchor="t"/>
          <a:lstStyle/>
          <a:p>
            <a:pPr indent="0" marL="0">
              <a:lnSpc>
                <a:spcPts val="1553"/>
              </a:lnSpc>
              <a:buNone/>
            </a:pPr>
            <a:r>
              <a:rPr lang="en-US" sz="1150" b="1" dirty="0">
                <a:solidFill>
                  <a:srgbClr val="0E1626"/>
                </a:solidFill>
                <a:latin typeface="Calibri" pitchFamily="34" charset="0"/>
                <a:ea typeface="Calibri" pitchFamily="34" charset="-122"/>
                <a:cs typeface="Calibri" pitchFamily="34" charset="-120"/>
              </a:rPr>
              <a:t>Dua teori dari keluarga yang sama, dua kesimpulan berbeda. Yang memisahkan hanya unit analisisnya.</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1143914" cy="283464"/>
          </a:xfrm>
          <a:prstGeom prst="roundRect">
            <a:avLst>
              <a:gd name="adj" fmla="val 50000"/>
            </a:avLst>
          </a:prstGeom>
          <a:solidFill>
            <a:srgbClr val="B8A6F5"/>
          </a:solidFill>
          <a:ln w="12700">
            <a:solidFill>
              <a:srgbClr val="B8A6F5"/>
            </a:solidFill>
            <a:prstDash val="solid"/>
          </a:ln>
        </p:spPr>
      </p:sp>
      <p:sp>
        <p:nvSpPr>
          <p:cNvPr id="4" name="Text 2"/>
          <p:cNvSpPr txBox="1"/>
          <p:nvPr/>
        </p:nvSpPr>
        <p:spPr>
          <a:xfrm>
            <a:off x="621792" y="457200"/>
            <a:ext cx="114391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LENSA 3–5</a:t>
            </a:r>
            <a:endParaRPr lang="en-US" sz="950" dirty="0"/>
          </a:p>
        </p:txBody>
      </p:sp>
      <p:sp>
        <p:nvSpPr>
          <p:cNvPr id="5" name="Shape 3"/>
          <p:cNvSpPr/>
          <p:nvPr/>
        </p:nvSpPr>
        <p:spPr>
          <a:xfrm>
            <a:off x="1884578" y="457200"/>
            <a:ext cx="1687068"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884578" y="457200"/>
            <a:ext cx="1687068"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PRINCIPLE-BASED</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08</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Membaca Kasus dari Prinsipnya</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Yang dinilai adalah kewajiban, hak, dan keadilan distribusinya.</a:t>
            </a:r>
            <a:endParaRPr lang="en-US" sz="1350" dirty="0"/>
          </a:p>
        </p:txBody>
      </p:sp>
      <p:sp>
        <p:nvSpPr>
          <p:cNvPr id="10" name="Shape 8"/>
          <p:cNvSpPr/>
          <p:nvPr/>
        </p:nvSpPr>
        <p:spPr>
          <a:xfrm>
            <a:off x="621792" y="1975104"/>
            <a:ext cx="3503066" cy="3931920"/>
          </a:xfrm>
          <a:prstGeom prst="roundRect">
            <a:avLst>
              <a:gd name="adj" fmla="val 4176"/>
            </a:avLst>
          </a:prstGeom>
          <a:solidFill>
            <a:srgbClr val="F5B722"/>
          </a:solidFill>
          <a:ln/>
        </p:spPr>
      </p:sp>
      <p:sp>
        <p:nvSpPr>
          <p:cNvPr id="11" name="Shape 9"/>
          <p:cNvSpPr/>
          <p:nvPr/>
        </p:nvSpPr>
        <p:spPr>
          <a:xfrm>
            <a:off x="859536" y="2194560"/>
            <a:ext cx="301752" cy="301752"/>
          </a:xfrm>
          <a:prstGeom prst="roundRect">
            <a:avLst>
              <a:gd name="adj" fmla="val 30303"/>
            </a:avLst>
          </a:prstGeom>
          <a:solidFill>
            <a:srgbClr val="CB9A23"/>
          </a:solidFill>
          <a:ln/>
        </p:spPr>
      </p:sp>
      <p:sp>
        <p:nvSpPr>
          <p:cNvPr id="12" name="Text 10"/>
          <p:cNvSpPr txBox="1"/>
          <p:nvPr/>
        </p:nvSpPr>
        <p:spPr>
          <a:xfrm>
            <a:off x="859536" y="2194560"/>
            <a:ext cx="301752" cy="301752"/>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3</a:t>
            </a:r>
            <a:endParaRPr lang="en-US" sz="1050" dirty="0"/>
          </a:p>
        </p:txBody>
      </p:sp>
      <p:sp>
        <p:nvSpPr>
          <p:cNvPr id="13" name="Text 11"/>
          <p:cNvSpPr txBox="1"/>
          <p:nvPr/>
        </p:nvSpPr>
        <p:spPr>
          <a:xfrm>
            <a:off x="1261872" y="2203704"/>
            <a:ext cx="2625242" cy="274320"/>
          </a:xfrm>
          <a:prstGeom prst="rect">
            <a:avLst/>
          </a:prstGeom>
          <a:noFill/>
          <a:ln/>
        </p:spPr>
        <p:txBody>
          <a:bodyPr wrap="square" lIns="0" tIns="0" rIns="0" bIns="0" rtlCol="0" anchor="t"/>
          <a:lstStyle/>
          <a:p>
            <a:pPr indent="0" marL="0">
              <a:lnSpc>
                <a:spcPts val="1830"/>
              </a:lnSpc>
              <a:buNone/>
            </a:pPr>
            <a:r>
              <a:rPr lang="en-US" sz="1500" b="1" dirty="0">
                <a:solidFill>
                  <a:srgbClr val="0E1626"/>
                </a:solidFill>
                <a:latin typeface="Calibri" pitchFamily="34" charset="0"/>
                <a:ea typeface="Calibri" pitchFamily="34" charset="-122"/>
                <a:cs typeface="Calibri" pitchFamily="34" charset="-120"/>
              </a:rPr>
              <a:t>Ethics of Duty</a:t>
            </a:r>
            <a:endParaRPr lang="en-US" sz="1500" dirty="0"/>
          </a:p>
        </p:txBody>
      </p:sp>
      <p:sp>
        <p:nvSpPr>
          <p:cNvPr id="14" name="Text 12"/>
          <p:cNvSpPr txBox="1"/>
          <p:nvPr/>
        </p:nvSpPr>
        <p:spPr>
          <a:xfrm>
            <a:off x="859536" y="2642616"/>
            <a:ext cx="3027578" cy="368300"/>
          </a:xfrm>
          <a:prstGeom prst="rect">
            <a:avLst/>
          </a:prstGeom>
          <a:noFill/>
          <a:ln/>
        </p:spPr>
        <p:txBody>
          <a:bodyPr wrap="square" lIns="0" tIns="0" rIns="0" bIns="0" rtlCol="0" anchor="t"/>
          <a:lstStyle/>
          <a:p>
            <a:pPr indent="0" marL="0">
              <a:lnSpc>
                <a:spcPts val="1450"/>
              </a:lnSpc>
              <a:buNone/>
            </a:pPr>
            <a:r>
              <a:rPr lang="en-US" sz="1100" i="1" dirty="0">
                <a:solidFill>
                  <a:srgbClr val="534625"/>
                </a:solidFill>
                <a:latin typeface="Calibri" pitchFamily="34" charset="0"/>
                <a:ea typeface="Calibri" pitchFamily="34" charset="-122"/>
                <a:cs typeface="Calibri" pitchFamily="34" charset="-120"/>
              </a:rPr>
              <a:t>Apa yang terjadi bila setiap negara bertindak seperti Kanada?</a:t>
            </a:r>
            <a:endParaRPr lang="en-US" sz="1100" dirty="0"/>
          </a:p>
        </p:txBody>
      </p:sp>
      <p:sp>
        <p:nvSpPr>
          <p:cNvPr id="15" name="Text 13"/>
          <p:cNvSpPr txBox="1"/>
          <p:nvPr/>
        </p:nvSpPr>
        <p:spPr>
          <a:xfrm>
            <a:off x="859536" y="3175508"/>
            <a:ext cx="3027578" cy="2073148"/>
          </a:xfrm>
          <a:prstGeom prst="rect">
            <a:avLst/>
          </a:prstGeom>
          <a:noFill/>
          <a:ln/>
        </p:spPr>
        <p:txBody>
          <a:bodyPr wrap="square" lIns="0" tIns="0" rIns="0" bIns="0" rtlCol="0" anchor="t"/>
          <a:lstStyle/>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Kanada memegang cadangan terbukti terbesar ketiga. Bila Venezuela, Arab Saudi, Iran, dan Irak menerapkan prinsip yang sama, tidak ada anggaran karbon yang tersisa.</a:t>
            </a:r>
            <a:endParaRPr lang="en-US" sz="1150" dirty="0"/>
          </a:p>
          <a:p>
            <a:pPr indent="0" marL="0">
              <a:lnSpc>
                <a:spcPts val="1650"/>
              </a:lnSpc>
              <a:buNone/>
            </a:pPr>
            <a:endParaRPr lang="en-US" sz="1150" dirty="0"/>
          </a:p>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Maksim ini gagal diuniversalkan. Itu cukup untuk membatalkannya menurut Kant.</a:t>
            </a:r>
            <a:endParaRPr lang="en-US" sz="1150" dirty="0"/>
          </a:p>
        </p:txBody>
      </p:sp>
      <p:sp>
        <p:nvSpPr>
          <p:cNvPr id="16" name="Shape 14"/>
          <p:cNvSpPr/>
          <p:nvPr/>
        </p:nvSpPr>
        <p:spPr>
          <a:xfrm>
            <a:off x="859536" y="5376672"/>
            <a:ext cx="3027578" cy="347472"/>
          </a:xfrm>
          <a:prstGeom prst="roundRect">
            <a:avLst>
              <a:gd name="adj" fmla="val 23684"/>
            </a:avLst>
          </a:prstGeom>
          <a:solidFill>
            <a:srgbClr val="D09D23"/>
          </a:solidFill>
          <a:ln/>
        </p:spPr>
      </p:sp>
      <p:sp>
        <p:nvSpPr>
          <p:cNvPr id="17" name="Text 15"/>
          <p:cNvSpPr txBox="1"/>
          <p:nvPr/>
        </p:nvSpPr>
        <p:spPr>
          <a:xfrm>
            <a:off x="932688" y="5376672"/>
            <a:ext cx="2881274" cy="347472"/>
          </a:xfrm>
          <a:prstGeom prst="rect">
            <a:avLst/>
          </a:prstGeom>
          <a:noFill/>
          <a:ln/>
        </p:spPr>
        <p:txBody>
          <a:bodyPr wrap="square" lIns="0" tIns="0" rIns="0" bIns="0" rtlCol="0" anchor="ctr"/>
          <a:lstStyle/>
          <a:p>
            <a:pPr algn="ctr" indent="0" marL="0">
              <a:buNone/>
            </a:pPr>
            <a:r>
              <a:rPr lang="en-US" sz="950" b="1" spc="80" kern="0" dirty="0">
                <a:solidFill>
                  <a:srgbClr val="0E1626"/>
                </a:solidFill>
                <a:latin typeface="Calibri" pitchFamily="34" charset="0"/>
                <a:ea typeface="Calibri" pitchFamily="34" charset="-122"/>
                <a:cs typeface="Calibri" pitchFamily="34" charset="-120"/>
              </a:rPr>
              <a:t>MENOLAK</a:t>
            </a:r>
            <a:endParaRPr lang="en-US" sz="950" dirty="0"/>
          </a:p>
        </p:txBody>
      </p:sp>
      <p:sp>
        <p:nvSpPr>
          <p:cNvPr id="18" name="Shape 16"/>
          <p:cNvSpPr/>
          <p:nvPr/>
        </p:nvSpPr>
        <p:spPr>
          <a:xfrm>
            <a:off x="4344314" y="1975104"/>
            <a:ext cx="3503066" cy="3931920"/>
          </a:xfrm>
          <a:prstGeom prst="roundRect">
            <a:avLst>
              <a:gd name="adj" fmla="val 4176"/>
            </a:avLst>
          </a:prstGeom>
          <a:solidFill>
            <a:srgbClr val="C6F04A"/>
          </a:solidFill>
          <a:ln/>
        </p:spPr>
      </p:sp>
      <p:sp>
        <p:nvSpPr>
          <p:cNvPr id="19" name="Shape 17"/>
          <p:cNvSpPr/>
          <p:nvPr/>
        </p:nvSpPr>
        <p:spPr>
          <a:xfrm>
            <a:off x="4582058" y="2194560"/>
            <a:ext cx="301752" cy="301752"/>
          </a:xfrm>
          <a:prstGeom prst="roundRect">
            <a:avLst>
              <a:gd name="adj" fmla="val 30303"/>
            </a:avLst>
          </a:prstGeom>
          <a:solidFill>
            <a:srgbClr val="A5C944"/>
          </a:solidFill>
          <a:ln/>
        </p:spPr>
      </p:sp>
      <p:sp>
        <p:nvSpPr>
          <p:cNvPr id="20" name="Text 18"/>
          <p:cNvSpPr txBox="1"/>
          <p:nvPr/>
        </p:nvSpPr>
        <p:spPr>
          <a:xfrm>
            <a:off x="4582058" y="2194560"/>
            <a:ext cx="301752" cy="301752"/>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4</a:t>
            </a:r>
            <a:endParaRPr lang="en-US" sz="1050" dirty="0"/>
          </a:p>
        </p:txBody>
      </p:sp>
      <p:sp>
        <p:nvSpPr>
          <p:cNvPr id="21" name="Text 19"/>
          <p:cNvSpPr txBox="1"/>
          <p:nvPr/>
        </p:nvSpPr>
        <p:spPr>
          <a:xfrm>
            <a:off x="4984394" y="2203704"/>
            <a:ext cx="2625242" cy="274320"/>
          </a:xfrm>
          <a:prstGeom prst="rect">
            <a:avLst/>
          </a:prstGeom>
          <a:noFill/>
          <a:ln/>
        </p:spPr>
        <p:txBody>
          <a:bodyPr wrap="square" lIns="0" tIns="0" rIns="0" bIns="0" rtlCol="0" anchor="t"/>
          <a:lstStyle/>
          <a:p>
            <a:pPr indent="0" marL="0">
              <a:lnSpc>
                <a:spcPts val="1830"/>
              </a:lnSpc>
              <a:buNone/>
            </a:pPr>
            <a:r>
              <a:rPr lang="en-US" sz="1500" b="1" dirty="0">
                <a:solidFill>
                  <a:srgbClr val="0E1626"/>
                </a:solidFill>
                <a:latin typeface="Calibri" pitchFamily="34" charset="0"/>
                <a:ea typeface="Calibri" pitchFamily="34" charset="-122"/>
                <a:cs typeface="Calibri" pitchFamily="34" charset="-120"/>
              </a:rPr>
              <a:t>Ethics of Rights</a:t>
            </a:r>
            <a:endParaRPr lang="en-US" sz="1500" dirty="0"/>
          </a:p>
        </p:txBody>
      </p:sp>
      <p:sp>
        <p:nvSpPr>
          <p:cNvPr id="22" name="Text 20"/>
          <p:cNvSpPr txBox="1"/>
          <p:nvPr/>
        </p:nvSpPr>
        <p:spPr>
          <a:xfrm>
            <a:off x="4582058" y="2642616"/>
            <a:ext cx="3027578" cy="368300"/>
          </a:xfrm>
          <a:prstGeom prst="rect">
            <a:avLst/>
          </a:prstGeom>
          <a:noFill/>
          <a:ln/>
        </p:spPr>
        <p:txBody>
          <a:bodyPr wrap="square" lIns="0" tIns="0" rIns="0" bIns="0" rtlCol="0" anchor="t"/>
          <a:lstStyle/>
          <a:p>
            <a:pPr indent="0" marL="0">
              <a:lnSpc>
                <a:spcPts val="1450"/>
              </a:lnSpc>
              <a:buNone/>
            </a:pPr>
            <a:r>
              <a:rPr lang="en-US" sz="1100" i="1" dirty="0">
                <a:solidFill>
                  <a:srgbClr val="455731"/>
                </a:solidFill>
                <a:latin typeface="Calibri" pitchFamily="34" charset="0"/>
                <a:ea typeface="Calibri" pitchFamily="34" charset="-122"/>
                <a:cs typeface="Calibri" pitchFamily="34" charset="-120"/>
              </a:rPr>
              <a:t>Hak siapa yang perlu dipertimbangkan, dan apakah martabatnya dihormati?</a:t>
            </a:r>
            <a:endParaRPr lang="en-US" sz="1100" dirty="0"/>
          </a:p>
        </p:txBody>
      </p:sp>
      <p:sp>
        <p:nvSpPr>
          <p:cNvPr id="23" name="Text 21"/>
          <p:cNvSpPr txBox="1"/>
          <p:nvPr/>
        </p:nvSpPr>
        <p:spPr>
          <a:xfrm>
            <a:off x="4582058" y="3175508"/>
            <a:ext cx="3027578" cy="2073148"/>
          </a:xfrm>
          <a:prstGeom prst="rect">
            <a:avLst/>
          </a:prstGeom>
          <a:noFill/>
          <a:ln/>
        </p:spPr>
        <p:txBody>
          <a:bodyPr wrap="square" lIns="0" tIns="0" rIns="0" bIns="0" rtlCol="0" anchor="t"/>
          <a:lstStyle/>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Pasal 23 UDHR mendukung: hak atas pekerjaan dan kondisi kerja yang adil terpenuhi bagi 206.000 orang.</a:t>
            </a:r>
            <a:endParaRPr lang="en-US" sz="1150" dirty="0"/>
          </a:p>
          <a:p>
            <a:pPr indent="0" marL="0">
              <a:lnSpc>
                <a:spcPts val="1650"/>
              </a:lnSpc>
              <a:buNone/>
            </a:pPr>
            <a:endParaRPr lang="en-US" sz="1150" dirty="0"/>
          </a:p>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Namun hak atas kesehatan komunitas hilir Athabasca dan hak atas tanah adat menentang. Prinsip Ruggie menuntut perusahaan menghormati hak lewat seluruh relasi bisnisnya.</a:t>
            </a:r>
            <a:endParaRPr lang="en-US" sz="1150" dirty="0"/>
          </a:p>
        </p:txBody>
      </p:sp>
      <p:sp>
        <p:nvSpPr>
          <p:cNvPr id="24" name="Shape 22"/>
          <p:cNvSpPr/>
          <p:nvPr/>
        </p:nvSpPr>
        <p:spPr>
          <a:xfrm>
            <a:off x="4582058" y="5376672"/>
            <a:ext cx="3027578" cy="347472"/>
          </a:xfrm>
          <a:prstGeom prst="roundRect">
            <a:avLst>
              <a:gd name="adj" fmla="val 23684"/>
            </a:avLst>
          </a:prstGeom>
          <a:solidFill>
            <a:srgbClr val="A9CD44"/>
          </a:solidFill>
          <a:ln/>
        </p:spPr>
      </p:sp>
      <p:sp>
        <p:nvSpPr>
          <p:cNvPr id="25" name="Text 23"/>
          <p:cNvSpPr txBox="1"/>
          <p:nvPr/>
        </p:nvSpPr>
        <p:spPr>
          <a:xfrm>
            <a:off x="4655210" y="5376672"/>
            <a:ext cx="2881274" cy="347472"/>
          </a:xfrm>
          <a:prstGeom prst="rect">
            <a:avLst/>
          </a:prstGeom>
          <a:noFill/>
          <a:ln/>
        </p:spPr>
        <p:txBody>
          <a:bodyPr wrap="square" lIns="0" tIns="0" rIns="0" bIns="0" rtlCol="0" anchor="ctr"/>
          <a:lstStyle/>
          <a:p>
            <a:pPr algn="ctr" indent="0" marL="0">
              <a:buNone/>
            </a:pPr>
            <a:r>
              <a:rPr lang="en-US" sz="950" b="1" spc="80" kern="0" dirty="0">
                <a:solidFill>
                  <a:srgbClr val="0E1626"/>
                </a:solidFill>
                <a:latin typeface="Calibri" pitchFamily="34" charset="0"/>
                <a:ea typeface="Calibri" pitchFamily="34" charset="-122"/>
                <a:cs typeface="Calibri" pitchFamily="34" charset="-120"/>
              </a:rPr>
              <a:t>MENDUKUNG BERSYARAT</a:t>
            </a:r>
            <a:endParaRPr lang="en-US" sz="950" dirty="0"/>
          </a:p>
        </p:txBody>
      </p:sp>
      <p:sp>
        <p:nvSpPr>
          <p:cNvPr id="26" name="Shape 24"/>
          <p:cNvSpPr/>
          <p:nvPr/>
        </p:nvSpPr>
        <p:spPr>
          <a:xfrm>
            <a:off x="8066837" y="1975104"/>
            <a:ext cx="3503066" cy="3931920"/>
          </a:xfrm>
          <a:prstGeom prst="roundRect">
            <a:avLst>
              <a:gd name="adj" fmla="val 4176"/>
            </a:avLst>
          </a:prstGeom>
          <a:solidFill>
            <a:srgbClr val="0FA98E"/>
          </a:solidFill>
          <a:ln/>
        </p:spPr>
      </p:sp>
      <p:sp>
        <p:nvSpPr>
          <p:cNvPr id="27" name="Shape 25"/>
          <p:cNvSpPr/>
          <p:nvPr/>
        </p:nvSpPr>
        <p:spPr>
          <a:xfrm>
            <a:off x="8304581" y="2194560"/>
            <a:ext cx="301752" cy="301752"/>
          </a:xfrm>
          <a:prstGeom prst="roundRect">
            <a:avLst>
              <a:gd name="adj" fmla="val 30303"/>
            </a:avLst>
          </a:prstGeom>
          <a:solidFill>
            <a:srgbClr val="3AB8A2"/>
          </a:solidFill>
          <a:ln/>
        </p:spPr>
      </p:sp>
      <p:sp>
        <p:nvSpPr>
          <p:cNvPr id="28" name="Text 26"/>
          <p:cNvSpPr txBox="1"/>
          <p:nvPr/>
        </p:nvSpPr>
        <p:spPr>
          <a:xfrm>
            <a:off x="8304581" y="2194560"/>
            <a:ext cx="301752"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9" name="Text 27"/>
          <p:cNvSpPr txBox="1"/>
          <p:nvPr/>
        </p:nvSpPr>
        <p:spPr>
          <a:xfrm>
            <a:off x="8706917" y="2203704"/>
            <a:ext cx="2625242" cy="274320"/>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Justice</a:t>
            </a:r>
            <a:endParaRPr lang="en-US" sz="1500" dirty="0"/>
          </a:p>
        </p:txBody>
      </p:sp>
      <p:sp>
        <p:nvSpPr>
          <p:cNvPr id="30" name="Text 28"/>
          <p:cNvSpPr txBox="1"/>
          <p:nvPr/>
        </p:nvSpPr>
        <p:spPr>
          <a:xfrm>
            <a:off x="8304581" y="2642616"/>
            <a:ext cx="3027578" cy="368300"/>
          </a:xfrm>
          <a:prstGeom prst="rect">
            <a:avLst/>
          </a:prstGeom>
          <a:noFill/>
          <a:ln/>
        </p:spPr>
        <p:txBody>
          <a:bodyPr wrap="square" lIns="0" tIns="0" rIns="0" bIns="0" rtlCol="0" anchor="t"/>
          <a:lstStyle/>
          <a:p>
            <a:pPr indent="0" marL="0">
              <a:lnSpc>
                <a:spcPts val="1450"/>
              </a:lnSpc>
              <a:buNone/>
            </a:pPr>
            <a:r>
              <a:rPr lang="en-US" sz="1100" i="1" dirty="0">
                <a:solidFill>
                  <a:srgbClr val="C1E9E2"/>
                </a:solidFill>
                <a:latin typeface="Calibri" pitchFamily="34" charset="0"/>
                <a:ea typeface="Calibri" pitchFamily="34" charset="-122"/>
                <a:cs typeface="Calibri" pitchFamily="34" charset="-120"/>
              </a:rPr>
              <a:t>Aturan apa yang Anda pilih bila tidak tahu akan terlahir sebagai siapa?</a:t>
            </a:r>
            <a:endParaRPr lang="en-US" sz="1100" dirty="0"/>
          </a:p>
        </p:txBody>
      </p:sp>
      <p:sp>
        <p:nvSpPr>
          <p:cNvPr id="31" name="Text 29"/>
          <p:cNvSpPr txBox="1"/>
          <p:nvPr/>
        </p:nvSpPr>
        <p:spPr>
          <a:xfrm>
            <a:off x="8304581" y="3175508"/>
            <a:ext cx="3027578" cy="2073148"/>
          </a:xfrm>
          <a:prstGeom prst="rect">
            <a:avLst/>
          </a:prstGeom>
          <a:noFill/>
          <a:ln/>
        </p:spPr>
        <p:txBody>
          <a:bodyPr wrap="square" lIns="0" tIns="0" rIns="0" bIns="0" rtlCol="0" anchor="t"/>
          <a:lstStyle/>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Manfaatnya tersebar secara nasional, bebannya terkonsentrasi pada komunitas hilir dan generasi mendatang.</a:t>
            </a:r>
            <a:endParaRPr lang="en-US" sz="1150" dirty="0"/>
          </a:p>
          <a:p>
            <a:pPr indent="0" marL="0">
              <a:lnSpc>
                <a:spcPts val="1650"/>
              </a:lnSpc>
              <a:buNone/>
            </a:pPr>
            <a:endParaRPr lang="en-US" sz="1150" dirty="0"/>
          </a:p>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Kriteria pertama Rawls tidak terpenuhi: kebebasan dasar atas air bersih dan kesehatan tidak terwujud sama rata, sehingga ketimpangan berikutnya tidak boleh dibenarkan.</a:t>
            </a:r>
            <a:endParaRPr lang="en-US" sz="1150" dirty="0"/>
          </a:p>
        </p:txBody>
      </p:sp>
      <p:sp>
        <p:nvSpPr>
          <p:cNvPr id="32" name="Shape 30"/>
          <p:cNvSpPr/>
          <p:nvPr/>
        </p:nvSpPr>
        <p:spPr>
          <a:xfrm>
            <a:off x="8304581" y="5376672"/>
            <a:ext cx="3027578" cy="347472"/>
          </a:xfrm>
          <a:prstGeom prst="roundRect">
            <a:avLst>
              <a:gd name="adj" fmla="val 23684"/>
            </a:avLst>
          </a:prstGeom>
          <a:solidFill>
            <a:srgbClr val="0F6E64"/>
          </a:solidFill>
          <a:ln/>
        </p:spPr>
      </p:sp>
      <p:sp>
        <p:nvSpPr>
          <p:cNvPr id="33" name="Text 31"/>
          <p:cNvSpPr txBox="1"/>
          <p:nvPr/>
        </p:nvSpPr>
        <p:spPr>
          <a:xfrm>
            <a:off x="8377733" y="5376672"/>
            <a:ext cx="2881274" cy="347472"/>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Calibri" pitchFamily="34" charset="0"/>
                <a:ea typeface="Calibri" pitchFamily="34" charset="-122"/>
                <a:cs typeface="Calibri" pitchFamily="34" charset="-120"/>
              </a:rPr>
              <a:t>MENOLAK</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1143914" cy="283464"/>
          </a:xfrm>
          <a:prstGeom prst="roundRect">
            <a:avLst>
              <a:gd name="adj" fmla="val 50000"/>
            </a:avLst>
          </a:prstGeom>
          <a:solidFill>
            <a:srgbClr val="C6F04A"/>
          </a:solidFill>
          <a:ln w="12700">
            <a:solidFill>
              <a:srgbClr val="C6F04A"/>
            </a:solidFill>
            <a:prstDash val="solid"/>
          </a:ln>
        </p:spPr>
      </p:sp>
      <p:sp>
        <p:nvSpPr>
          <p:cNvPr id="4" name="Text 2"/>
          <p:cNvSpPr txBox="1"/>
          <p:nvPr/>
        </p:nvSpPr>
        <p:spPr>
          <a:xfrm>
            <a:off x="621792" y="457200"/>
            <a:ext cx="114391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LENSA 6–9</a:t>
            </a:r>
            <a:endParaRPr lang="en-US" sz="950" dirty="0"/>
          </a:p>
        </p:txBody>
      </p:sp>
      <p:sp>
        <p:nvSpPr>
          <p:cNvPr id="5" name="Shape 3"/>
          <p:cNvSpPr/>
          <p:nvPr/>
        </p:nvSpPr>
        <p:spPr>
          <a:xfrm>
            <a:off x="1884578" y="457200"/>
            <a:ext cx="2230222"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884578" y="457200"/>
            <a:ext cx="2230222"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PERSPEKTIF ALTERNATIF</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09</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Membaca Kasus dari Sisi yang Terlewat</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Karakter pelakunya, relasinya, prosesnya, dan bahasanya.</a:t>
            </a:r>
            <a:endParaRPr lang="en-US" sz="1350" dirty="0"/>
          </a:p>
        </p:txBody>
      </p:sp>
      <p:sp>
        <p:nvSpPr>
          <p:cNvPr id="10" name="Shape 8"/>
          <p:cNvSpPr/>
          <p:nvPr/>
        </p:nvSpPr>
        <p:spPr>
          <a:xfrm>
            <a:off x="621792" y="1975104"/>
            <a:ext cx="2599868" cy="3931920"/>
          </a:xfrm>
          <a:prstGeom prst="roundRect">
            <a:avLst>
              <a:gd name="adj" fmla="val 5627"/>
            </a:avLst>
          </a:prstGeom>
          <a:solidFill>
            <a:srgbClr val="4EA8DE"/>
          </a:solidFill>
          <a:ln/>
        </p:spPr>
      </p:sp>
      <p:sp>
        <p:nvSpPr>
          <p:cNvPr id="11" name="Shape 9"/>
          <p:cNvSpPr/>
          <p:nvPr/>
        </p:nvSpPr>
        <p:spPr>
          <a:xfrm>
            <a:off x="859536" y="2194560"/>
            <a:ext cx="301752" cy="301752"/>
          </a:xfrm>
          <a:prstGeom prst="roundRect">
            <a:avLst>
              <a:gd name="adj" fmla="val 30303"/>
            </a:avLst>
          </a:prstGeom>
          <a:solidFill>
            <a:srgbClr val="428EBD"/>
          </a:solidFill>
          <a:ln/>
        </p:spPr>
      </p:sp>
      <p:sp>
        <p:nvSpPr>
          <p:cNvPr id="12" name="Text 10"/>
          <p:cNvSpPr txBox="1"/>
          <p:nvPr/>
        </p:nvSpPr>
        <p:spPr>
          <a:xfrm>
            <a:off x="859536" y="2194560"/>
            <a:ext cx="301752" cy="301752"/>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6</a:t>
            </a:r>
            <a:endParaRPr lang="en-US" sz="1050" dirty="0"/>
          </a:p>
        </p:txBody>
      </p:sp>
      <p:sp>
        <p:nvSpPr>
          <p:cNvPr id="13" name="Text 11"/>
          <p:cNvSpPr txBox="1"/>
          <p:nvPr/>
        </p:nvSpPr>
        <p:spPr>
          <a:xfrm>
            <a:off x="1261872" y="2203704"/>
            <a:ext cx="1722044" cy="274320"/>
          </a:xfrm>
          <a:prstGeom prst="rect">
            <a:avLst/>
          </a:prstGeom>
          <a:noFill/>
          <a:ln/>
        </p:spPr>
        <p:txBody>
          <a:bodyPr wrap="square" lIns="0" tIns="0" rIns="0" bIns="0" rtlCol="0" anchor="t"/>
          <a:lstStyle/>
          <a:p>
            <a:pPr indent="0" marL="0">
              <a:lnSpc>
                <a:spcPts val="1830"/>
              </a:lnSpc>
              <a:buNone/>
            </a:pPr>
            <a:r>
              <a:rPr lang="en-US" sz="1500" b="1" dirty="0">
                <a:solidFill>
                  <a:srgbClr val="0E1626"/>
                </a:solidFill>
                <a:latin typeface="Calibri" pitchFamily="34" charset="0"/>
                <a:ea typeface="Calibri" pitchFamily="34" charset="-122"/>
                <a:cs typeface="Calibri" pitchFamily="34" charset="-120"/>
              </a:rPr>
              <a:t>Virtue Ethics</a:t>
            </a:r>
            <a:endParaRPr lang="en-US" sz="1500" dirty="0"/>
          </a:p>
        </p:txBody>
      </p:sp>
      <p:sp>
        <p:nvSpPr>
          <p:cNvPr id="14" name="Text 12"/>
          <p:cNvSpPr txBox="1"/>
          <p:nvPr/>
        </p:nvSpPr>
        <p:spPr>
          <a:xfrm>
            <a:off x="859536" y="2642616"/>
            <a:ext cx="2124380" cy="552450"/>
          </a:xfrm>
          <a:prstGeom prst="rect">
            <a:avLst/>
          </a:prstGeom>
          <a:noFill/>
          <a:ln/>
        </p:spPr>
        <p:txBody>
          <a:bodyPr wrap="square" lIns="0" tIns="0" rIns="0" bIns="0" rtlCol="0" anchor="t"/>
          <a:lstStyle/>
          <a:p>
            <a:pPr indent="0" marL="0">
              <a:lnSpc>
                <a:spcPts val="1450"/>
              </a:lnSpc>
              <a:buNone/>
            </a:pPr>
            <a:r>
              <a:rPr lang="en-US" sz="1100" i="1" dirty="0">
                <a:solidFill>
                  <a:srgbClr val="21425D"/>
                </a:solidFill>
                <a:latin typeface="Calibri" pitchFamily="34" charset="0"/>
                <a:ea typeface="Calibri" pitchFamily="34" charset="-122"/>
                <a:cs typeface="Calibri" pitchFamily="34" charset="-120"/>
              </a:rPr>
              <a:t>Apa yang akan dilakukan orang yang layak dan jujur dalam posisi ini?</a:t>
            </a:r>
            <a:endParaRPr lang="en-US" sz="1100" dirty="0"/>
          </a:p>
        </p:txBody>
      </p:sp>
      <p:sp>
        <p:nvSpPr>
          <p:cNvPr id="15" name="Text 13"/>
          <p:cNvSpPr txBox="1"/>
          <p:nvPr/>
        </p:nvSpPr>
        <p:spPr>
          <a:xfrm>
            <a:off x="859536" y="3359658"/>
            <a:ext cx="2124380" cy="1888998"/>
          </a:xfrm>
          <a:prstGeom prst="rect">
            <a:avLst/>
          </a:prstGeom>
          <a:noFill/>
          <a:ln/>
        </p:spPr>
        <p:txBody>
          <a:bodyPr wrap="square" lIns="0" tIns="0" rIns="0" bIns="0" rtlCol="0" anchor="t"/>
          <a:lstStyle/>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Mengukur diri terhadap negara terburuk adalah perbandingan ke bawah. Orang yang berbudi mengukur diri terhadap yang terbaik.</a:t>
            </a:r>
            <a:endParaRPr lang="en-US" sz="1150" dirty="0"/>
          </a:p>
        </p:txBody>
      </p:sp>
      <p:sp>
        <p:nvSpPr>
          <p:cNvPr id="16" name="Shape 14"/>
          <p:cNvSpPr/>
          <p:nvPr/>
        </p:nvSpPr>
        <p:spPr>
          <a:xfrm>
            <a:off x="859536" y="5376672"/>
            <a:ext cx="2124380" cy="347472"/>
          </a:xfrm>
          <a:prstGeom prst="roundRect">
            <a:avLst>
              <a:gd name="adj" fmla="val 23684"/>
            </a:avLst>
          </a:prstGeom>
          <a:solidFill>
            <a:srgbClr val="4491C1"/>
          </a:solidFill>
          <a:ln/>
        </p:spPr>
      </p:sp>
      <p:sp>
        <p:nvSpPr>
          <p:cNvPr id="17" name="Text 15"/>
          <p:cNvSpPr txBox="1"/>
          <p:nvPr/>
        </p:nvSpPr>
        <p:spPr>
          <a:xfrm>
            <a:off x="932688" y="5376672"/>
            <a:ext cx="1978076" cy="347472"/>
          </a:xfrm>
          <a:prstGeom prst="rect">
            <a:avLst/>
          </a:prstGeom>
          <a:noFill/>
          <a:ln/>
        </p:spPr>
        <p:txBody>
          <a:bodyPr wrap="square" lIns="0" tIns="0" rIns="0" bIns="0" rtlCol="0" anchor="ctr"/>
          <a:lstStyle/>
          <a:p>
            <a:pPr algn="ctr" indent="0" marL="0">
              <a:buNone/>
            </a:pPr>
            <a:r>
              <a:rPr lang="en-US" sz="950" b="1" spc="80" kern="0" dirty="0">
                <a:solidFill>
                  <a:srgbClr val="0E1626"/>
                </a:solidFill>
                <a:latin typeface="Calibri" pitchFamily="34" charset="0"/>
                <a:ea typeface="Calibri" pitchFamily="34" charset="-122"/>
                <a:cs typeface="Calibri" pitchFamily="34" charset="-120"/>
              </a:rPr>
              <a:t>MENOLAK FRAMING</a:t>
            </a:r>
            <a:endParaRPr lang="en-US" sz="950" dirty="0"/>
          </a:p>
        </p:txBody>
      </p:sp>
      <p:sp>
        <p:nvSpPr>
          <p:cNvPr id="18" name="Shape 16"/>
          <p:cNvSpPr/>
          <p:nvPr/>
        </p:nvSpPr>
        <p:spPr>
          <a:xfrm>
            <a:off x="3404540" y="1975104"/>
            <a:ext cx="2599868" cy="3931920"/>
          </a:xfrm>
          <a:prstGeom prst="roundRect">
            <a:avLst>
              <a:gd name="adj" fmla="val 5627"/>
            </a:avLst>
          </a:prstGeom>
          <a:solidFill>
            <a:srgbClr val="6C7BE0"/>
          </a:solidFill>
          <a:ln/>
        </p:spPr>
      </p:sp>
      <p:sp>
        <p:nvSpPr>
          <p:cNvPr id="19" name="Shape 17"/>
          <p:cNvSpPr/>
          <p:nvPr/>
        </p:nvSpPr>
        <p:spPr>
          <a:xfrm>
            <a:off x="3642284" y="2194560"/>
            <a:ext cx="301752" cy="301752"/>
          </a:xfrm>
          <a:prstGeom prst="roundRect">
            <a:avLst>
              <a:gd name="adj" fmla="val 30303"/>
            </a:avLst>
          </a:prstGeom>
          <a:solidFill>
            <a:srgbClr val="8693E6"/>
          </a:solidFill>
          <a:ln/>
        </p:spPr>
      </p:sp>
      <p:sp>
        <p:nvSpPr>
          <p:cNvPr id="20" name="Text 18"/>
          <p:cNvSpPr txBox="1"/>
          <p:nvPr/>
        </p:nvSpPr>
        <p:spPr>
          <a:xfrm>
            <a:off x="3642284" y="2194560"/>
            <a:ext cx="301752"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21" name="Text 19"/>
          <p:cNvSpPr txBox="1"/>
          <p:nvPr/>
        </p:nvSpPr>
        <p:spPr>
          <a:xfrm>
            <a:off x="4044620" y="2203704"/>
            <a:ext cx="1722044" cy="274320"/>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Ethic of Care</a:t>
            </a:r>
            <a:endParaRPr lang="en-US" sz="1500" dirty="0"/>
          </a:p>
        </p:txBody>
      </p:sp>
      <p:sp>
        <p:nvSpPr>
          <p:cNvPr id="22" name="Text 20"/>
          <p:cNvSpPr txBox="1"/>
          <p:nvPr/>
        </p:nvSpPr>
        <p:spPr>
          <a:xfrm>
            <a:off x="3642284" y="2642616"/>
            <a:ext cx="2124380" cy="552450"/>
          </a:xfrm>
          <a:prstGeom prst="rect">
            <a:avLst/>
          </a:prstGeom>
          <a:noFill/>
          <a:ln/>
        </p:spPr>
        <p:txBody>
          <a:bodyPr wrap="square" lIns="0" tIns="0" rIns="0" bIns="0" rtlCol="0" anchor="t"/>
          <a:lstStyle/>
          <a:p>
            <a:pPr indent="0" marL="0">
              <a:lnSpc>
                <a:spcPts val="1450"/>
              </a:lnSpc>
              <a:buNone/>
            </a:pPr>
            <a:r>
              <a:rPr lang="en-US" sz="1100" i="1" dirty="0">
                <a:solidFill>
                  <a:srgbClr val="D9DDF7"/>
                </a:solidFill>
                <a:latin typeface="Calibri" pitchFamily="34" charset="0"/>
                <a:ea typeface="Calibri" pitchFamily="34" charset="-122"/>
                <a:cs typeface="Calibri" pitchFamily="34" charset="-120"/>
              </a:rPr>
              <a:t>Bagaimana perasaan pihak lain, dan solusi mana yang memelihara relasi?</a:t>
            </a:r>
            <a:endParaRPr lang="en-US" sz="1100" dirty="0"/>
          </a:p>
        </p:txBody>
      </p:sp>
      <p:sp>
        <p:nvSpPr>
          <p:cNvPr id="23" name="Text 21"/>
          <p:cNvSpPr txBox="1"/>
          <p:nvPr/>
        </p:nvSpPr>
        <p:spPr>
          <a:xfrm>
            <a:off x="3642284" y="3359658"/>
            <a:ext cx="2124380" cy="1888998"/>
          </a:xfrm>
          <a:prstGeom prst="rect">
            <a:avLst/>
          </a:prstGeom>
          <a:noFill/>
          <a:ln/>
        </p:spPr>
        <p:txBody>
          <a:bodyPr wrap="square" lIns="0" tIns="0" rIns="0" bIns="0" rtlCol="0" anchor="t"/>
          <a:lstStyle/>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Komunitas hilir dan generasi mendatang adalah pihak yang berelasi, bukan variabel biaya. Yang dituntut adalah transisi yang adil, bukan penghentian mendadak.</a:t>
            </a:r>
            <a:endParaRPr lang="en-US" sz="1150" dirty="0"/>
          </a:p>
        </p:txBody>
      </p:sp>
      <p:sp>
        <p:nvSpPr>
          <p:cNvPr id="24" name="Shape 22"/>
          <p:cNvSpPr/>
          <p:nvPr/>
        </p:nvSpPr>
        <p:spPr>
          <a:xfrm>
            <a:off x="3642284" y="5376672"/>
            <a:ext cx="2124380" cy="347472"/>
          </a:xfrm>
          <a:prstGeom prst="roundRect">
            <a:avLst>
              <a:gd name="adj" fmla="val 23684"/>
            </a:avLst>
          </a:prstGeom>
          <a:solidFill>
            <a:srgbClr val="465396"/>
          </a:solidFill>
          <a:ln/>
        </p:spPr>
      </p:sp>
      <p:sp>
        <p:nvSpPr>
          <p:cNvPr id="25" name="Text 23"/>
          <p:cNvSpPr txBox="1"/>
          <p:nvPr/>
        </p:nvSpPr>
        <p:spPr>
          <a:xfrm>
            <a:off x="3715436" y="5376672"/>
            <a:ext cx="1978076" cy="347472"/>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Calibri" pitchFamily="34" charset="0"/>
                <a:ea typeface="Calibri" pitchFamily="34" charset="-122"/>
                <a:cs typeface="Calibri" pitchFamily="34" charset="-120"/>
              </a:rPr>
              <a:t>TRANSISI ADIL</a:t>
            </a:r>
            <a:endParaRPr lang="en-US" sz="950" dirty="0"/>
          </a:p>
        </p:txBody>
      </p:sp>
      <p:sp>
        <p:nvSpPr>
          <p:cNvPr id="26" name="Shape 24"/>
          <p:cNvSpPr/>
          <p:nvPr/>
        </p:nvSpPr>
        <p:spPr>
          <a:xfrm>
            <a:off x="6187288" y="1975104"/>
            <a:ext cx="2599868" cy="3931920"/>
          </a:xfrm>
          <a:prstGeom prst="roundRect">
            <a:avLst>
              <a:gd name="adj" fmla="val 5627"/>
            </a:avLst>
          </a:prstGeom>
          <a:solidFill>
            <a:srgbClr val="B8A6F5"/>
          </a:solidFill>
          <a:ln/>
        </p:spPr>
      </p:sp>
      <p:sp>
        <p:nvSpPr>
          <p:cNvPr id="27" name="Shape 25"/>
          <p:cNvSpPr/>
          <p:nvPr/>
        </p:nvSpPr>
        <p:spPr>
          <a:xfrm>
            <a:off x="6425032" y="2194560"/>
            <a:ext cx="301752" cy="301752"/>
          </a:xfrm>
          <a:prstGeom prst="roundRect">
            <a:avLst>
              <a:gd name="adj" fmla="val 30303"/>
            </a:avLst>
          </a:prstGeom>
          <a:solidFill>
            <a:srgbClr val="998CD0"/>
          </a:solidFill>
          <a:ln/>
        </p:spPr>
      </p:sp>
      <p:sp>
        <p:nvSpPr>
          <p:cNvPr id="28" name="Text 26"/>
          <p:cNvSpPr txBox="1"/>
          <p:nvPr/>
        </p:nvSpPr>
        <p:spPr>
          <a:xfrm>
            <a:off x="6425032" y="2194560"/>
            <a:ext cx="301752" cy="301752"/>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8</a:t>
            </a:r>
            <a:endParaRPr lang="en-US" sz="1050" dirty="0"/>
          </a:p>
        </p:txBody>
      </p:sp>
      <p:sp>
        <p:nvSpPr>
          <p:cNvPr id="29" name="Text 27"/>
          <p:cNvSpPr txBox="1"/>
          <p:nvPr/>
        </p:nvSpPr>
        <p:spPr>
          <a:xfrm>
            <a:off x="6827368" y="2203704"/>
            <a:ext cx="1722044" cy="464820"/>
          </a:xfrm>
          <a:prstGeom prst="rect">
            <a:avLst/>
          </a:prstGeom>
          <a:noFill/>
          <a:ln/>
        </p:spPr>
        <p:txBody>
          <a:bodyPr wrap="square" lIns="0" tIns="0" rIns="0" bIns="0" rtlCol="0" anchor="t"/>
          <a:lstStyle/>
          <a:p>
            <a:pPr indent="0" marL="0">
              <a:lnSpc>
                <a:spcPts val="1830"/>
              </a:lnSpc>
              <a:buNone/>
            </a:pPr>
            <a:r>
              <a:rPr lang="en-US" sz="1500" b="1" dirty="0">
                <a:solidFill>
                  <a:srgbClr val="0E1626"/>
                </a:solidFill>
                <a:latin typeface="Calibri" pitchFamily="34" charset="0"/>
                <a:ea typeface="Calibri" pitchFamily="34" charset="-122"/>
                <a:cs typeface="Calibri" pitchFamily="34" charset="-120"/>
              </a:rPr>
              <a:t>Discourse Ethics</a:t>
            </a:r>
            <a:endParaRPr lang="en-US" sz="1500" dirty="0"/>
          </a:p>
        </p:txBody>
      </p:sp>
      <p:sp>
        <p:nvSpPr>
          <p:cNvPr id="30" name="Text 28"/>
          <p:cNvSpPr txBox="1"/>
          <p:nvPr/>
        </p:nvSpPr>
        <p:spPr>
          <a:xfrm>
            <a:off x="6425032" y="2833116"/>
            <a:ext cx="2124380" cy="552450"/>
          </a:xfrm>
          <a:prstGeom prst="rect">
            <a:avLst/>
          </a:prstGeom>
          <a:noFill/>
          <a:ln/>
        </p:spPr>
        <p:txBody>
          <a:bodyPr wrap="square" lIns="0" tIns="0" rIns="0" bIns="0" rtlCol="0" anchor="t"/>
          <a:lstStyle/>
          <a:p>
            <a:pPr indent="0" marL="0">
              <a:lnSpc>
                <a:spcPts val="1450"/>
              </a:lnSpc>
              <a:buNone/>
            </a:pPr>
            <a:r>
              <a:rPr lang="en-US" sz="1100" i="1" dirty="0">
                <a:solidFill>
                  <a:srgbClr val="414164"/>
                </a:solidFill>
                <a:latin typeface="Calibri" pitchFamily="34" charset="0"/>
                <a:ea typeface="Calibri" pitchFamily="34" charset="-122"/>
                <a:cs typeface="Calibri" pitchFamily="34" charset="-120"/>
              </a:rPr>
              <a:t>Norma apa yang dapat disusun bersama lewat komunikasi yang terbuka?</a:t>
            </a:r>
            <a:endParaRPr lang="en-US" sz="1100" dirty="0"/>
          </a:p>
        </p:txBody>
      </p:sp>
      <p:sp>
        <p:nvSpPr>
          <p:cNvPr id="31" name="Text 29"/>
          <p:cNvSpPr txBox="1"/>
          <p:nvPr/>
        </p:nvSpPr>
        <p:spPr>
          <a:xfrm>
            <a:off x="6425032" y="3550158"/>
            <a:ext cx="2124380" cy="1698498"/>
          </a:xfrm>
          <a:prstGeom prst="rect">
            <a:avLst/>
          </a:prstGeom>
          <a:noFill/>
          <a:ln/>
        </p:spPr>
        <p:txBody>
          <a:bodyPr wrap="square" lIns="0" tIns="0" rIns="0" bIns="0" rtlCol="0" anchor="t"/>
          <a:lstStyle/>
          <a:p>
            <a:pPr indent="0" marL="0">
              <a:lnSpc>
                <a:spcPts val="1650"/>
              </a:lnSpc>
              <a:buNone/>
            </a:pPr>
            <a:r>
              <a:rPr lang="en-US" sz="1150" dirty="0">
                <a:solidFill>
                  <a:srgbClr val="1E2534"/>
                </a:solidFill>
                <a:latin typeface="Calibri" pitchFamily="34" charset="0"/>
                <a:ea typeface="Calibri" pitchFamily="34" charset="-122"/>
                <a:cs typeface="Calibri" pitchFamily="34" charset="-120"/>
              </a:rPr>
              <a:t>Label ethical oil lahir dari kampanye berdana industri. Syarat imparsialitas dan tanpa manipulasi persuasif gagal dipenuhi sejak awal.</a:t>
            </a:r>
            <a:endParaRPr lang="en-US" sz="1150" dirty="0"/>
          </a:p>
        </p:txBody>
      </p:sp>
      <p:sp>
        <p:nvSpPr>
          <p:cNvPr id="32" name="Shape 30"/>
          <p:cNvSpPr/>
          <p:nvPr/>
        </p:nvSpPr>
        <p:spPr>
          <a:xfrm>
            <a:off x="6425032" y="5376672"/>
            <a:ext cx="2124380" cy="347472"/>
          </a:xfrm>
          <a:prstGeom prst="roundRect">
            <a:avLst>
              <a:gd name="adj" fmla="val 23684"/>
            </a:avLst>
          </a:prstGeom>
          <a:solidFill>
            <a:srgbClr val="9D8FD4"/>
          </a:solidFill>
          <a:ln/>
        </p:spPr>
      </p:sp>
      <p:sp>
        <p:nvSpPr>
          <p:cNvPr id="33" name="Text 31"/>
          <p:cNvSpPr txBox="1"/>
          <p:nvPr/>
        </p:nvSpPr>
        <p:spPr>
          <a:xfrm>
            <a:off x="6498184" y="5376672"/>
            <a:ext cx="1978076" cy="347472"/>
          </a:xfrm>
          <a:prstGeom prst="rect">
            <a:avLst/>
          </a:prstGeom>
          <a:noFill/>
          <a:ln/>
        </p:spPr>
        <p:txBody>
          <a:bodyPr wrap="square" lIns="0" tIns="0" rIns="0" bIns="0" rtlCol="0" anchor="ctr"/>
          <a:lstStyle/>
          <a:p>
            <a:pPr algn="ctr" indent="0" marL="0">
              <a:buNone/>
            </a:pPr>
            <a:r>
              <a:rPr lang="en-US" sz="950" b="1" spc="80" kern="0" dirty="0">
                <a:solidFill>
                  <a:srgbClr val="0E1626"/>
                </a:solidFill>
                <a:latin typeface="Calibri" pitchFamily="34" charset="0"/>
                <a:ea typeface="Calibri" pitchFamily="34" charset="-122"/>
                <a:cs typeface="Calibri" pitchFamily="34" charset="-120"/>
              </a:rPr>
              <a:t>MENOLAK PROSES</a:t>
            </a:r>
            <a:endParaRPr lang="en-US" sz="950" dirty="0"/>
          </a:p>
        </p:txBody>
      </p:sp>
      <p:sp>
        <p:nvSpPr>
          <p:cNvPr id="34" name="Shape 32"/>
          <p:cNvSpPr/>
          <p:nvPr/>
        </p:nvSpPr>
        <p:spPr>
          <a:xfrm>
            <a:off x="8970035" y="1975104"/>
            <a:ext cx="2599868" cy="3931920"/>
          </a:xfrm>
          <a:prstGeom prst="roundRect">
            <a:avLst>
              <a:gd name="adj" fmla="val 5627"/>
            </a:avLst>
          </a:prstGeom>
          <a:solidFill>
            <a:srgbClr val="E86A9B"/>
          </a:solidFill>
          <a:ln/>
        </p:spPr>
      </p:sp>
      <p:sp>
        <p:nvSpPr>
          <p:cNvPr id="35" name="Shape 33"/>
          <p:cNvSpPr/>
          <p:nvPr/>
        </p:nvSpPr>
        <p:spPr>
          <a:xfrm>
            <a:off x="9207779" y="2194560"/>
            <a:ext cx="301752" cy="301752"/>
          </a:xfrm>
          <a:prstGeom prst="roundRect">
            <a:avLst>
              <a:gd name="adj" fmla="val 30303"/>
            </a:avLst>
          </a:prstGeom>
          <a:solidFill>
            <a:srgbClr val="EC85AD"/>
          </a:solidFill>
          <a:ln/>
        </p:spPr>
      </p:sp>
      <p:sp>
        <p:nvSpPr>
          <p:cNvPr id="36" name="Text 34"/>
          <p:cNvSpPr txBox="1"/>
          <p:nvPr/>
        </p:nvSpPr>
        <p:spPr>
          <a:xfrm>
            <a:off x="9207779" y="2194560"/>
            <a:ext cx="301752"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9</a:t>
            </a:r>
            <a:endParaRPr lang="en-US" sz="1050" dirty="0"/>
          </a:p>
        </p:txBody>
      </p:sp>
      <p:sp>
        <p:nvSpPr>
          <p:cNvPr id="37" name="Text 35"/>
          <p:cNvSpPr txBox="1"/>
          <p:nvPr/>
        </p:nvSpPr>
        <p:spPr>
          <a:xfrm>
            <a:off x="9610115" y="2203704"/>
            <a:ext cx="1722044" cy="464820"/>
          </a:xfrm>
          <a:prstGeom prst="rect">
            <a:avLst/>
          </a:prstGeom>
          <a:noFill/>
          <a:ln/>
        </p:spPr>
        <p:txBody>
          <a:bodyPr wrap="square" lIns="0" tIns="0" rIns="0" bIns="0" rtlCol="0" anchor="t"/>
          <a:lstStyle/>
          <a:p>
            <a:pPr indent="0" marL="0">
              <a:lnSpc>
                <a:spcPts val="1830"/>
              </a:lnSpc>
              <a:buNone/>
            </a:pPr>
            <a:r>
              <a:rPr lang="en-US" sz="1500" b="1" dirty="0">
                <a:solidFill>
                  <a:srgbClr val="FFFFFF"/>
                </a:solidFill>
                <a:latin typeface="Calibri" pitchFamily="34" charset="0"/>
                <a:ea typeface="Calibri" pitchFamily="34" charset="-122"/>
                <a:cs typeface="Calibri" pitchFamily="34" charset="-120"/>
              </a:rPr>
              <a:t>Postmodern Ethics</a:t>
            </a:r>
            <a:endParaRPr lang="en-US" sz="1500" dirty="0"/>
          </a:p>
        </p:txBody>
      </p:sp>
      <p:sp>
        <p:nvSpPr>
          <p:cNvPr id="38" name="Text 36"/>
          <p:cNvSpPr txBox="1"/>
          <p:nvPr/>
        </p:nvSpPr>
        <p:spPr>
          <a:xfrm>
            <a:off x="9207779" y="2833116"/>
            <a:ext cx="2124380" cy="552450"/>
          </a:xfrm>
          <a:prstGeom prst="rect">
            <a:avLst/>
          </a:prstGeom>
          <a:noFill/>
          <a:ln/>
        </p:spPr>
        <p:txBody>
          <a:bodyPr wrap="square" lIns="0" tIns="0" rIns="0" bIns="0" rtlCol="0" anchor="t"/>
          <a:lstStyle/>
          <a:p>
            <a:pPr indent="0" marL="0">
              <a:lnSpc>
                <a:spcPts val="1450"/>
              </a:lnSpc>
              <a:buNone/>
            </a:pPr>
            <a:r>
              <a:rPr lang="en-US" sz="1100" i="1" dirty="0">
                <a:solidFill>
                  <a:srgbClr val="F9D8E5"/>
                </a:solidFill>
                <a:latin typeface="Calibri" pitchFamily="34" charset="0"/>
                <a:ea typeface="Calibri" pitchFamily="34" charset="-122"/>
                <a:cs typeface="Calibri" pitchFamily="34" charset="-120"/>
              </a:rPr>
              <a:t>Siapa yang diuntungkan oleh istilah yang dipakai untuk menyebut hal ini?</a:t>
            </a:r>
            <a:endParaRPr lang="en-US" sz="1100" dirty="0"/>
          </a:p>
        </p:txBody>
      </p:sp>
      <p:sp>
        <p:nvSpPr>
          <p:cNvPr id="39" name="Text 37"/>
          <p:cNvSpPr txBox="1"/>
          <p:nvPr/>
        </p:nvSpPr>
        <p:spPr>
          <a:xfrm>
            <a:off x="9207779" y="3550158"/>
            <a:ext cx="2124380" cy="1698498"/>
          </a:xfrm>
          <a:prstGeom prst="rect">
            <a:avLst/>
          </a:prstGeom>
          <a:noFill/>
          <a:ln/>
        </p:spPr>
        <p:txBody>
          <a:bodyPr wrap="square" lIns="0" tIns="0" rIns="0" bIns="0" rtlCol="0" anchor="t"/>
          <a:lstStyle/>
          <a:p>
            <a:pPr indent="0" marL="0">
              <a:lnSpc>
                <a:spcPts val="1650"/>
              </a:lnSpc>
              <a:buNone/>
            </a:pPr>
            <a:r>
              <a:rPr lang="en-US" sz="1150" dirty="0">
                <a:solidFill>
                  <a:srgbClr val="F4F1EB"/>
                </a:solidFill>
                <a:latin typeface="Calibri" pitchFamily="34" charset="0"/>
                <a:ea typeface="Calibri" pitchFamily="34" charset="-122"/>
                <a:cs typeface="Calibri" pitchFamily="34" charset="-120"/>
              </a:rPr>
              <a:t>Oil sands terdengar netral, tar sands terdengar kotor. Perebutan istilah ini membuktikan bahasa ikut membentuk penilaian moral.</a:t>
            </a:r>
            <a:endParaRPr lang="en-US" sz="1150" dirty="0"/>
          </a:p>
        </p:txBody>
      </p:sp>
      <p:sp>
        <p:nvSpPr>
          <p:cNvPr id="40" name="Shape 38"/>
          <p:cNvSpPr/>
          <p:nvPr/>
        </p:nvSpPr>
        <p:spPr>
          <a:xfrm>
            <a:off x="9207779" y="5376672"/>
            <a:ext cx="2124380" cy="347472"/>
          </a:xfrm>
          <a:prstGeom prst="roundRect">
            <a:avLst>
              <a:gd name="adj" fmla="val 23684"/>
            </a:avLst>
          </a:prstGeom>
          <a:solidFill>
            <a:srgbClr val="91486C"/>
          </a:solidFill>
          <a:ln/>
        </p:spPr>
      </p:sp>
      <p:sp>
        <p:nvSpPr>
          <p:cNvPr id="41" name="Text 39"/>
          <p:cNvSpPr txBox="1"/>
          <p:nvPr/>
        </p:nvSpPr>
        <p:spPr>
          <a:xfrm>
            <a:off x="9280931" y="5376672"/>
            <a:ext cx="1978076" cy="347472"/>
          </a:xfrm>
          <a:prstGeom prst="rect">
            <a:avLst/>
          </a:prstGeom>
          <a:noFill/>
          <a:ln/>
        </p:spPr>
        <p:txBody>
          <a:bodyPr wrap="square" lIns="0" tIns="0" rIns="0" bIns="0" rtlCol="0" anchor="ctr"/>
          <a:lstStyle/>
          <a:p>
            <a:pPr algn="ctr" indent="0" marL="0">
              <a:buNone/>
            </a:pPr>
            <a:r>
              <a:rPr lang="en-US" sz="950" b="1" spc="80" kern="0" dirty="0">
                <a:solidFill>
                  <a:srgbClr val="FFFFFF"/>
                </a:solidFill>
                <a:latin typeface="Calibri" pitchFamily="34" charset="0"/>
                <a:ea typeface="Calibri" pitchFamily="34" charset="-122"/>
                <a:cs typeface="Calibri" pitchFamily="34" charset="-120"/>
              </a:rPr>
              <a:t>ANTI ABSOLUT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962863"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962863"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MATRIKS</a:t>
            </a:r>
            <a:endParaRPr lang="en-US" sz="950" dirty="0"/>
          </a:p>
        </p:txBody>
      </p:sp>
      <p:sp>
        <p:nvSpPr>
          <p:cNvPr id="5" name="Shape 3"/>
          <p:cNvSpPr/>
          <p:nvPr/>
        </p:nvSpPr>
        <p:spPr>
          <a:xfrm>
            <a:off x="1703527" y="457200"/>
            <a:ext cx="1777594"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703527" y="457200"/>
            <a:ext cx="1777594"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SEMBILAN PUTUSAN</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10</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Sembilan Sorotan, Satu Rangkaian Fakta</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Shape 7"/>
          <p:cNvSpPr/>
          <p:nvPr/>
        </p:nvSpPr>
        <p:spPr>
          <a:xfrm>
            <a:off x="621792" y="1719072"/>
            <a:ext cx="10948111" cy="420624"/>
          </a:xfrm>
          <a:prstGeom prst="roundRect">
            <a:avLst>
              <a:gd name="adj" fmla="val 17391"/>
            </a:avLst>
          </a:prstGeom>
          <a:solidFill>
            <a:srgbClr val="FFFFFF"/>
          </a:solidFill>
          <a:ln/>
        </p:spPr>
      </p:sp>
      <p:sp>
        <p:nvSpPr>
          <p:cNvPr id="10" name="Shape 8"/>
          <p:cNvSpPr/>
          <p:nvPr/>
        </p:nvSpPr>
        <p:spPr>
          <a:xfrm>
            <a:off x="621792" y="1719072"/>
            <a:ext cx="128016" cy="420624"/>
          </a:xfrm>
          <a:prstGeom prst="rect">
            <a:avLst/>
          </a:prstGeom>
          <a:solidFill>
            <a:srgbClr val="AB463C"/>
          </a:solidFill>
          <a:ln/>
        </p:spPr>
      </p:sp>
      <p:sp>
        <p:nvSpPr>
          <p:cNvPr id="11" name="Text 9"/>
          <p:cNvSpPr txBox="1"/>
          <p:nvPr/>
        </p:nvSpPr>
        <p:spPr>
          <a:xfrm>
            <a:off x="932688" y="1719072"/>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1.  Egoism</a:t>
            </a:r>
            <a:endParaRPr lang="en-US" sz="1150" dirty="0"/>
          </a:p>
        </p:txBody>
      </p:sp>
      <p:sp>
        <p:nvSpPr>
          <p:cNvPr id="12" name="Text 10"/>
          <p:cNvSpPr txBox="1"/>
          <p:nvPr/>
        </p:nvSpPr>
        <p:spPr>
          <a:xfrm>
            <a:off x="3035808" y="1719072"/>
            <a:ext cx="640080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Biaya iklim tidak pernah masuk harga karena generasi mendatang tidak hadir di pasar</a:t>
            </a:r>
            <a:endParaRPr lang="en-US" sz="1100" dirty="0"/>
          </a:p>
        </p:txBody>
      </p:sp>
      <p:sp>
        <p:nvSpPr>
          <p:cNvPr id="13" name="Text 11"/>
          <p:cNvSpPr txBox="1"/>
          <p:nvPr/>
        </p:nvSpPr>
        <p:spPr>
          <a:xfrm>
            <a:off x="9528048" y="1719072"/>
            <a:ext cx="1858975" cy="420624"/>
          </a:xfrm>
          <a:prstGeom prst="rect">
            <a:avLst/>
          </a:prstGeom>
          <a:noFill/>
          <a:ln/>
        </p:spPr>
        <p:txBody>
          <a:bodyPr wrap="square" lIns="0" tIns="0" rIns="0" bIns="0" rtlCol="0" anchor="ctr"/>
          <a:lstStyle/>
          <a:p>
            <a:pPr algn="r" indent="0" marL="0">
              <a:buNone/>
            </a:pPr>
            <a:r>
              <a:rPr lang="en-US" sz="1150" b="1" dirty="0">
                <a:solidFill>
                  <a:srgbClr val="AB463C"/>
                </a:solidFill>
                <a:latin typeface="Calibri" pitchFamily="34" charset="0"/>
                <a:ea typeface="Calibri" pitchFamily="34" charset="-122"/>
                <a:cs typeface="Calibri" pitchFamily="34" charset="-120"/>
              </a:rPr>
              <a:t>Netral</a:t>
            </a:r>
            <a:endParaRPr lang="en-US" sz="1150" dirty="0"/>
          </a:p>
        </p:txBody>
      </p:sp>
      <p:sp>
        <p:nvSpPr>
          <p:cNvPr id="14" name="Shape 12"/>
          <p:cNvSpPr/>
          <p:nvPr/>
        </p:nvSpPr>
        <p:spPr>
          <a:xfrm>
            <a:off x="621792" y="2212848"/>
            <a:ext cx="10948111" cy="420624"/>
          </a:xfrm>
          <a:prstGeom prst="roundRect">
            <a:avLst>
              <a:gd name="adj" fmla="val 17391"/>
            </a:avLst>
          </a:prstGeom>
          <a:solidFill>
            <a:srgbClr val="FFFFFF"/>
          </a:solidFill>
          <a:ln/>
        </p:spPr>
      </p:sp>
      <p:sp>
        <p:nvSpPr>
          <p:cNvPr id="15" name="Shape 13"/>
          <p:cNvSpPr/>
          <p:nvPr/>
        </p:nvSpPr>
        <p:spPr>
          <a:xfrm>
            <a:off x="621792" y="2212848"/>
            <a:ext cx="128016" cy="420624"/>
          </a:xfrm>
          <a:prstGeom prst="rect">
            <a:avLst/>
          </a:prstGeom>
          <a:solidFill>
            <a:srgbClr val="FF5A2D"/>
          </a:solidFill>
          <a:ln/>
        </p:spPr>
      </p:sp>
      <p:sp>
        <p:nvSpPr>
          <p:cNvPr id="16" name="Text 14"/>
          <p:cNvSpPr txBox="1"/>
          <p:nvPr/>
        </p:nvSpPr>
        <p:spPr>
          <a:xfrm>
            <a:off x="932688" y="2212848"/>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2.  Utilitarianism</a:t>
            </a:r>
            <a:endParaRPr lang="en-US" sz="1150" dirty="0"/>
          </a:p>
        </p:txBody>
      </p:sp>
      <p:sp>
        <p:nvSpPr>
          <p:cNvPr id="17" name="Text 15"/>
          <p:cNvSpPr txBox="1"/>
          <p:nvPr/>
        </p:nvSpPr>
        <p:spPr>
          <a:xfrm>
            <a:off x="3035808" y="2212848"/>
            <a:ext cx="640080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Act mendukung manfaat hari ini, rule menolak karena target Paris menjadi mustahil</a:t>
            </a:r>
            <a:endParaRPr lang="en-US" sz="1100" dirty="0"/>
          </a:p>
        </p:txBody>
      </p:sp>
      <p:sp>
        <p:nvSpPr>
          <p:cNvPr id="18" name="Text 16"/>
          <p:cNvSpPr txBox="1"/>
          <p:nvPr/>
        </p:nvSpPr>
        <p:spPr>
          <a:xfrm>
            <a:off x="9528048" y="2212848"/>
            <a:ext cx="1858975" cy="420624"/>
          </a:xfrm>
          <a:prstGeom prst="rect">
            <a:avLst/>
          </a:prstGeom>
          <a:noFill/>
          <a:ln/>
        </p:spPr>
        <p:txBody>
          <a:bodyPr wrap="square" lIns="0" tIns="0" rIns="0" bIns="0" rtlCol="0" anchor="ctr"/>
          <a:lstStyle/>
          <a:p>
            <a:pPr algn="r" indent="0" marL="0">
              <a:buNone/>
            </a:pPr>
            <a:r>
              <a:rPr lang="en-US" sz="1150" b="1" dirty="0">
                <a:solidFill>
                  <a:srgbClr val="FF5A2D"/>
                </a:solidFill>
                <a:latin typeface="Calibri" pitchFamily="34" charset="0"/>
                <a:ea typeface="Calibri" pitchFamily="34" charset="-122"/>
                <a:cs typeface="Calibri" pitchFamily="34" charset="-120"/>
              </a:rPr>
              <a:t>Terbelah</a:t>
            </a:r>
            <a:endParaRPr lang="en-US" sz="1150" dirty="0"/>
          </a:p>
        </p:txBody>
      </p:sp>
      <p:sp>
        <p:nvSpPr>
          <p:cNvPr id="19" name="Shape 17"/>
          <p:cNvSpPr/>
          <p:nvPr/>
        </p:nvSpPr>
        <p:spPr>
          <a:xfrm>
            <a:off x="621792" y="2706624"/>
            <a:ext cx="10948111" cy="420624"/>
          </a:xfrm>
          <a:prstGeom prst="roundRect">
            <a:avLst>
              <a:gd name="adj" fmla="val 17391"/>
            </a:avLst>
          </a:prstGeom>
          <a:solidFill>
            <a:srgbClr val="FFFFFF"/>
          </a:solidFill>
          <a:ln/>
        </p:spPr>
      </p:sp>
      <p:sp>
        <p:nvSpPr>
          <p:cNvPr id="20" name="Shape 18"/>
          <p:cNvSpPr/>
          <p:nvPr/>
        </p:nvSpPr>
        <p:spPr>
          <a:xfrm>
            <a:off x="621792" y="2706624"/>
            <a:ext cx="128016" cy="420624"/>
          </a:xfrm>
          <a:prstGeom prst="rect">
            <a:avLst/>
          </a:prstGeom>
          <a:solidFill>
            <a:srgbClr val="F5B722"/>
          </a:solidFill>
          <a:ln/>
        </p:spPr>
      </p:sp>
      <p:sp>
        <p:nvSpPr>
          <p:cNvPr id="21" name="Text 19"/>
          <p:cNvSpPr txBox="1"/>
          <p:nvPr/>
        </p:nvSpPr>
        <p:spPr>
          <a:xfrm>
            <a:off x="932688" y="2706624"/>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3.  Ethics of Duty</a:t>
            </a:r>
            <a:endParaRPr lang="en-US" sz="1150" dirty="0"/>
          </a:p>
        </p:txBody>
      </p:sp>
      <p:sp>
        <p:nvSpPr>
          <p:cNvPr id="22" name="Text 20"/>
          <p:cNvSpPr txBox="1"/>
          <p:nvPr/>
        </p:nvSpPr>
        <p:spPr>
          <a:xfrm>
            <a:off x="3035808" y="2706624"/>
            <a:ext cx="640080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Prinsipnya gagal diuniversalkan ke seluruh negara pemilik cadangan terbesar</a:t>
            </a:r>
            <a:endParaRPr lang="en-US" sz="1100" dirty="0"/>
          </a:p>
        </p:txBody>
      </p:sp>
      <p:sp>
        <p:nvSpPr>
          <p:cNvPr id="23" name="Text 21"/>
          <p:cNvSpPr txBox="1"/>
          <p:nvPr/>
        </p:nvSpPr>
        <p:spPr>
          <a:xfrm>
            <a:off x="9528048" y="2706624"/>
            <a:ext cx="1858975" cy="420624"/>
          </a:xfrm>
          <a:prstGeom prst="rect">
            <a:avLst/>
          </a:prstGeom>
          <a:noFill/>
          <a:ln/>
        </p:spPr>
        <p:txBody>
          <a:bodyPr wrap="square" lIns="0" tIns="0" rIns="0" bIns="0" rtlCol="0" anchor="ctr"/>
          <a:lstStyle/>
          <a:p>
            <a:pPr algn="r" indent="0" marL="0">
              <a:buNone/>
            </a:pPr>
            <a:r>
              <a:rPr lang="en-US" sz="1150" b="1" dirty="0">
                <a:solidFill>
                  <a:srgbClr val="947324"/>
                </a:solidFill>
                <a:latin typeface="Calibri" pitchFamily="34" charset="0"/>
                <a:ea typeface="Calibri" pitchFamily="34" charset="-122"/>
                <a:cs typeface="Calibri" pitchFamily="34" charset="-120"/>
              </a:rPr>
              <a:t>Menolak</a:t>
            </a:r>
            <a:endParaRPr lang="en-US" sz="1150" dirty="0"/>
          </a:p>
        </p:txBody>
      </p:sp>
      <p:sp>
        <p:nvSpPr>
          <p:cNvPr id="24" name="Shape 22"/>
          <p:cNvSpPr/>
          <p:nvPr/>
        </p:nvSpPr>
        <p:spPr>
          <a:xfrm>
            <a:off x="621792" y="3200400"/>
            <a:ext cx="10948111" cy="420624"/>
          </a:xfrm>
          <a:prstGeom prst="roundRect">
            <a:avLst>
              <a:gd name="adj" fmla="val 17391"/>
            </a:avLst>
          </a:prstGeom>
          <a:solidFill>
            <a:srgbClr val="FFFFFF"/>
          </a:solidFill>
          <a:ln/>
        </p:spPr>
      </p:sp>
      <p:sp>
        <p:nvSpPr>
          <p:cNvPr id="25" name="Shape 23"/>
          <p:cNvSpPr/>
          <p:nvPr/>
        </p:nvSpPr>
        <p:spPr>
          <a:xfrm>
            <a:off x="621792" y="3200400"/>
            <a:ext cx="128016" cy="420624"/>
          </a:xfrm>
          <a:prstGeom prst="rect">
            <a:avLst/>
          </a:prstGeom>
          <a:solidFill>
            <a:srgbClr val="C6F04A"/>
          </a:solidFill>
          <a:ln/>
        </p:spPr>
      </p:sp>
      <p:sp>
        <p:nvSpPr>
          <p:cNvPr id="26" name="Text 24"/>
          <p:cNvSpPr txBox="1"/>
          <p:nvPr/>
        </p:nvSpPr>
        <p:spPr>
          <a:xfrm>
            <a:off x="932688" y="3200400"/>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4.  Ethics of Rights</a:t>
            </a:r>
            <a:endParaRPr lang="en-US" sz="1150" dirty="0"/>
          </a:p>
        </p:txBody>
      </p:sp>
      <p:sp>
        <p:nvSpPr>
          <p:cNvPr id="27" name="Text 25"/>
          <p:cNvSpPr txBox="1"/>
          <p:nvPr/>
        </p:nvSpPr>
        <p:spPr>
          <a:xfrm>
            <a:off x="3035808" y="3200400"/>
            <a:ext cx="640080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Hak atas pekerjaan terpenuhi, hak atas kesehatan dan tanah adat dilanggar</a:t>
            </a:r>
            <a:endParaRPr lang="en-US" sz="1100" dirty="0"/>
          </a:p>
        </p:txBody>
      </p:sp>
      <p:sp>
        <p:nvSpPr>
          <p:cNvPr id="28" name="Text 26"/>
          <p:cNvSpPr txBox="1"/>
          <p:nvPr/>
        </p:nvSpPr>
        <p:spPr>
          <a:xfrm>
            <a:off x="9528048" y="3200400"/>
            <a:ext cx="1858975" cy="420624"/>
          </a:xfrm>
          <a:prstGeom prst="rect">
            <a:avLst/>
          </a:prstGeom>
          <a:noFill/>
          <a:ln/>
        </p:spPr>
        <p:txBody>
          <a:bodyPr wrap="square" lIns="0" tIns="0" rIns="0" bIns="0" rtlCol="0" anchor="ctr"/>
          <a:lstStyle/>
          <a:p>
            <a:pPr algn="r" indent="0" marL="0">
              <a:buNone/>
            </a:pPr>
            <a:r>
              <a:rPr lang="en-US" sz="1150" b="1" dirty="0">
                <a:solidFill>
                  <a:srgbClr val="79943B"/>
                </a:solidFill>
                <a:latin typeface="Calibri" pitchFamily="34" charset="0"/>
                <a:ea typeface="Calibri" pitchFamily="34" charset="-122"/>
                <a:cs typeface="Calibri" pitchFamily="34" charset="-120"/>
              </a:rPr>
              <a:t>Bersyarat</a:t>
            </a:r>
            <a:endParaRPr lang="en-US" sz="1150" dirty="0"/>
          </a:p>
        </p:txBody>
      </p:sp>
      <p:sp>
        <p:nvSpPr>
          <p:cNvPr id="29" name="Shape 27"/>
          <p:cNvSpPr/>
          <p:nvPr/>
        </p:nvSpPr>
        <p:spPr>
          <a:xfrm>
            <a:off x="621792" y="3694176"/>
            <a:ext cx="10948111" cy="420624"/>
          </a:xfrm>
          <a:prstGeom prst="roundRect">
            <a:avLst>
              <a:gd name="adj" fmla="val 17391"/>
            </a:avLst>
          </a:prstGeom>
          <a:solidFill>
            <a:srgbClr val="FFFFFF"/>
          </a:solidFill>
          <a:ln/>
        </p:spPr>
      </p:sp>
      <p:sp>
        <p:nvSpPr>
          <p:cNvPr id="30" name="Shape 28"/>
          <p:cNvSpPr/>
          <p:nvPr/>
        </p:nvSpPr>
        <p:spPr>
          <a:xfrm>
            <a:off x="621792" y="3694176"/>
            <a:ext cx="128016" cy="420624"/>
          </a:xfrm>
          <a:prstGeom prst="rect">
            <a:avLst/>
          </a:prstGeom>
          <a:solidFill>
            <a:srgbClr val="0FA98E"/>
          </a:solidFill>
          <a:ln/>
        </p:spPr>
      </p:sp>
      <p:sp>
        <p:nvSpPr>
          <p:cNvPr id="31" name="Text 29"/>
          <p:cNvSpPr txBox="1"/>
          <p:nvPr/>
        </p:nvSpPr>
        <p:spPr>
          <a:xfrm>
            <a:off x="932688" y="3694176"/>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5.  Justice</a:t>
            </a:r>
            <a:endParaRPr lang="en-US" sz="1150" dirty="0"/>
          </a:p>
        </p:txBody>
      </p:sp>
      <p:sp>
        <p:nvSpPr>
          <p:cNvPr id="32" name="Text 30"/>
          <p:cNvSpPr txBox="1"/>
          <p:nvPr/>
        </p:nvSpPr>
        <p:spPr>
          <a:xfrm>
            <a:off x="3035808" y="3694176"/>
            <a:ext cx="640080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Manfaat tersebar, beban terkonsentrasi. Kriteria pertama Rawls tidak terpenuhi</a:t>
            </a:r>
            <a:endParaRPr lang="en-US" sz="1100" dirty="0"/>
          </a:p>
        </p:txBody>
      </p:sp>
      <p:sp>
        <p:nvSpPr>
          <p:cNvPr id="33" name="Text 31"/>
          <p:cNvSpPr txBox="1"/>
          <p:nvPr/>
        </p:nvSpPr>
        <p:spPr>
          <a:xfrm>
            <a:off x="9528048" y="3694176"/>
            <a:ext cx="1858975" cy="420624"/>
          </a:xfrm>
          <a:prstGeom prst="rect">
            <a:avLst/>
          </a:prstGeom>
          <a:noFill/>
          <a:ln/>
        </p:spPr>
        <p:txBody>
          <a:bodyPr wrap="square" lIns="0" tIns="0" rIns="0" bIns="0" rtlCol="0" anchor="ctr"/>
          <a:lstStyle/>
          <a:p>
            <a:pPr algn="r" indent="0" marL="0">
              <a:buNone/>
            </a:pPr>
            <a:r>
              <a:rPr lang="en-US" sz="1150" b="1" dirty="0">
                <a:solidFill>
                  <a:srgbClr val="0FA98E"/>
                </a:solidFill>
                <a:latin typeface="Calibri" pitchFamily="34" charset="0"/>
                <a:ea typeface="Calibri" pitchFamily="34" charset="-122"/>
                <a:cs typeface="Calibri" pitchFamily="34" charset="-120"/>
              </a:rPr>
              <a:t>Menolak</a:t>
            </a:r>
            <a:endParaRPr lang="en-US" sz="1150" dirty="0"/>
          </a:p>
        </p:txBody>
      </p:sp>
      <p:sp>
        <p:nvSpPr>
          <p:cNvPr id="34" name="Shape 32"/>
          <p:cNvSpPr/>
          <p:nvPr/>
        </p:nvSpPr>
        <p:spPr>
          <a:xfrm>
            <a:off x="621792" y="4187952"/>
            <a:ext cx="10948111" cy="420624"/>
          </a:xfrm>
          <a:prstGeom prst="roundRect">
            <a:avLst>
              <a:gd name="adj" fmla="val 17391"/>
            </a:avLst>
          </a:prstGeom>
          <a:solidFill>
            <a:srgbClr val="FFFFFF"/>
          </a:solidFill>
          <a:ln/>
        </p:spPr>
      </p:sp>
      <p:sp>
        <p:nvSpPr>
          <p:cNvPr id="35" name="Shape 33"/>
          <p:cNvSpPr/>
          <p:nvPr/>
        </p:nvSpPr>
        <p:spPr>
          <a:xfrm>
            <a:off x="621792" y="4187952"/>
            <a:ext cx="128016" cy="420624"/>
          </a:xfrm>
          <a:prstGeom prst="rect">
            <a:avLst/>
          </a:prstGeom>
          <a:solidFill>
            <a:srgbClr val="4EA8DE"/>
          </a:solidFill>
          <a:ln/>
        </p:spPr>
      </p:sp>
      <p:sp>
        <p:nvSpPr>
          <p:cNvPr id="36" name="Text 34"/>
          <p:cNvSpPr txBox="1"/>
          <p:nvPr/>
        </p:nvSpPr>
        <p:spPr>
          <a:xfrm>
            <a:off x="932688" y="4187952"/>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6.  Virtue Ethics</a:t>
            </a:r>
            <a:endParaRPr lang="en-US" sz="1150" dirty="0"/>
          </a:p>
        </p:txBody>
      </p:sp>
      <p:sp>
        <p:nvSpPr>
          <p:cNvPr id="37" name="Text 35"/>
          <p:cNvSpPr txBox="1"/>
          <p:nvPr/>
        </p:nvSpPr>
        <p:spPr>
          <a:xfrm>
            <a:off x="3035808" y="4187952"/>
            <a:ext cx="640080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Mengukur diri terhadap negara terburuk adalah perbandingan ke bawah</a:t>
            </a:r>
            <a:endParaRPr lang="en-US" sz="1100" dirty="0"/>
          </a:p>
        </p:txBody>
      </p:sp>
      <p:sp>
        <p:nvSpPr>
          <p:cNvPr id="38" name="Text 36"/>
          <p:cNvSpPr txBox="1"/>
          <p:nvPr/>
        </p:nvSpPr>
        <p:spPr>
          <a:xfrm>
            <a:off x="9528048" y="4187952"/>
            <a:ext cx="1858975" cy="420624"/>
          </a:xfrm>
          <a:prstGeom prst="rect">
            <a:avLst/>
          </a:prstGeom>
          <a:noFill/>
          <a:ln/>
        </p:spPr>
        <p:txBody>
          <a:bodyPr wrap="square" lIns="0" tIns="0" rIns="0" bIns="0" rtlCol="0" anchor="ctr"/>
          <a:lstStyle/>
          <a:p>
            <a:pPr algn="r" indent="0" marL="0">
              <a:buNone/>
            </a:pPr>
            <a:r>
              <a:rPr lang="en-US" sz="1150" b="1" dirty="0">
                <a:solidFill>
                  <a:srgbClr val="336B91"/>
                </a:solidFill>
                <a:latin typeface="Calibri" pitchFamily="34" charset="0"/>
                <a:ea typeface="Calibri" pitchFamily="34" charset="-122"/>
                <a:cs typeface="Calibri" pitchFamily="34" charset="-120"/>
              </a:rPr>
              <a:t>Menolak framing</a:t>
            </a:r>
            <a:endParaRPr lang="en-US" sz="1150" dirty="0"/>
          </a:p>
        </p:txBody>
      </p:sp>
      <p:sp>
        <p:nvSpPr>
          <p:cNvPr id="39" name="Shape 37"/>
          <p:cNvSpPr/>
          <p:nvPr/>
        </p:nvSpPr>
        <p:spPr>
          <a:xfrm>
            <a:off x="621792" y="4681728"/>
            <a:ext cx="10948111" cy="420624"/>
          </a:xfrm>
          <a:prstGeom prst="roundRect">
            <a:avLst>
              <a:gd name="adj" fmla="val 17391"/>
            </a:avLst>
          </a:prstGeom>
          <a:solidFill>
            <a:srgbClr val="FFFFFF"/>
          </a:solidFill>
          <a:ln/>
        </p:spPr>
      </p:sp>
      <p:sp>
        <p:nvSpPr>
          <p:cNvPr id="40" name="Shape 38"/>
          <p:cNvSpPr/>
          <p:nvPr/>
        </p:nvSpPr>
        <p:spPr>
          <a:xfrm>
            <a:off x="621792" y="4681728"/>
            <a:ext cx="128016" cy="420624"/>
          </a:xfrm>
          <a:prstGeom prst="rect">
            <a:avLst/>
          </a:prstGeom>
          <a:solidFill>
            <a:srgbClr val="6C7BE0"/>
          </a:solidFill>
          <a:ln/>
        </p:spPr>
      </p:sp>
      <p:sp>
        <p:nvSpPr>
          <p:cNvPr id="41" name="Text 39"/>
          <p:cNvSpPr txBox="1"/>
          <p:nvPr/>
        </p:nvSpPr>
        <p:spPr>
          <a:xfrm>
            <a:off x="932688" y="4681728"/>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7.  Ethic of Care</a:t>
            </a:r>
            <a:endParaRPr lang="en-US" sz="1150" dirty="0"/>
          </a:p>
        </p:txBody>
      </p:sp>
      <p:sp>
        <p:nvSpPr>
          <p:cNvPr id="42" name="Text 40"/>
          <p:cNvSpPr txBox="1"/>
          <p:nvPr/>
        </p:nvSpPr>
        <p:spPr>
          <a:xfrm>
            <a:off x="3035808" y="4681728"/>
            <a:ext cx="640080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Komunitas hilir dan generasi mendatang adalah relasi, bukan variabel biaya</a:t>
            </a:r>
            <a:endParaRPr lang="en-US" sz="1100" dirty="0"/>
          </a:p>
        </p:txBody>
      </p:sp>
      <p:sp>
        <p:nvSpPr>
          <p:cNvPr id="43" name="Text 41"/>
          <p:cNvSpPr txBox="1"/>
          <p:nvPr/>
        </p:nvSpPr>
        <p:spPr>
          <a:xfrm>
            <a:off x="9528048" y="4681728"/>
            <a:ext cx="1858975" cy="420624"/>
          </a:xfrm>
          <a:prstGeom prst="rect">
            <a:avLst/>
          </a:prstGeom>
          <a:noFill/>
          <a:ln/>
        </p:spPr>
        <p:txBody>
          <a:bodyPr wrap="square" lIns="0" tIns="0" rIns="0" bIns="0" rtlCol="0" anchor="ctr"/>
          <a:lstStyle/>
          <a:p>
            <a:pPr algn="r" indent="0" marL="0">
              <a:buNone/>
            </a:pPr>
            <a:r>
              <a:rPr lang="en-US" sz="1150" b="1" dirty="0">
                <a:solidFill>
                  <a:srgbClr val="6C7BE0"/>
                </a:solidFill>
                <a:latin typeface="Calibri" pitchFamily="34" charset="0"/>
                <a:ea typeface="Calibri" pitchFamily="34" charset="-122"/>
                <a:cs typeface="Calibri" pitchFamily="34" charset="-120"/>
              </a:rPr>
              <a:t>Transisi adil</a:t>
            </a:r>
            <a:endParaRPr lang="en-US" sz="1150" dirty="0"/>
          </a:p>
        </p:txBody>
      </p:sp>
      <p:sp>
        <p:nvSpPr>
          <p:cNvPr id="44" name="Shape 42"/>
          <p:cNvSpPr/>
          <p:nvPr/>
        </p:nvSpPr>
        <p:spPr>
          <a:xfrm>
            <a:off x="621792" y="5175504"/>
            <a:ext cx="10948111" cy="420624"/>
          </a:xfrm>
          <a:prstGeom prst="roundRect">
            <a:avLst>
              <a:gd name="adj" fmla="val 17391"/>
            </a:avLst>
          </a:prstGeom>
          <a:solidFill>
            <a:srgbClr val="FFFFFF"/>
          </a:solidFill>
          <a:ln/>
        </p:spPr>
      </p:sp>
      <p:sp>
        <p:nvSpPr>
          <p:cNvPr id="45" name="Shape 43"/>
          <p:cNvSpPr/>
          <p:nvPr/>
        </p:nvSpPr>
        <p:spPr>
          <a:xfrm>
            <a:off x="621792" y="5175504"/>
            <a:ext cx="128016" cy="420624"/>
          </a:xfrm>
          <a:prstGeom prst="rect">
            <a:avLst/>
          </a:prstGeom>
          <a:solidFill>
            <a:srgbClr val="B8A6F5"/>
          </a:solidFill>
          <a:ln/>
        </p:spPr>
      </p:sp>
      <p:sp>
        <p:nvSpPr>
          <p:cNvPr id="46" name="Text 44"/>
          <p:cNvSpPr txBox="1"/>
          <p:nvPr/>
        </p:nvSpPr>
        <p:spPr>
          <a:xfrm>
            <a:off x="932688" y="5175504"/>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8.  Discourse Ethics</a:t>
            </a:r>
            <a:endParaRPr lang="en-US" sz="1150" dirty="0"/>
          </a:p>
        </p:txBody>
      </p:sp>
      <p:sp>
        <p:nvSpPr>
          <p:cNvPr id="47" name="Text 45"/>
          <p:cNvSpPr txBox="1"/>
          <p:nvPr/>
        </p:nvSpPr>
        <p:spPr>
          <a:xfrm>
            <a:off x="3035808" y="5175504"/>
            <a:ext cx="640080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Label ethical oil lahir dari kampanye berdana industri, imparsialitas gagal</a:t>
            </a:r>
            <a:endParaRPr lang="en-US" sz="1100" dirty="0"/>
          </a:p>
        </p:txBody>
      </p:sp>
      <p:sp>
        <p:nvSpPr>
          <p:cNvPr id="48" name="Text 46"/>
          <p:cNvSpPr txBox="1"/>
          <p:nvPr/>
        </p:nvSpPr>
        <p:spPr>
          <a:xfrm>
            <a:off x="9528048" y="5175504"/>
            <a:ext cx="1858975" cy="420624"/>
          </a:xfrm>
          <a:prstGeom prst="rect">
            <a:avLst/>
          </a:prstGeom>
          <a:noFill/>
          <a:ln/>
        </p:spPr>
        <p:txBody>
          <a:bodyPr wrap="square" lIns="0" tIns="0" rIns="0" bIns="0" rtlCol="0" anchor="ctr"/>
          <a:lstStyle/>
          <a:p>
            <a:pPr algn="r" indent="0" marL="0">
              <a:buNone/>
            </a:pPr>
            <a:r>
              <a:rPr lang="en-US" sz="1150" b="1" dirty="0">
                <a:solidFill>
                  <a:srgbClr val="716A9E"/>
                </a:solidFill>
                <a:latin typeface="Calibri" pitchFamily="34" charset="0"/>
                <a:ea typeface="Calibri" pitchFamily="34" charset="-122"/>
                <a:cs typeface="Calibri" pitchFamily="34" charset="-120"/>
              </a:rPr>
              <a:t>Menolak proses</a:t>
            </a:r>
            <a:endParaRPr lang="en-US" sz="1150" dirty="0"/>
          </a:p>
        </p:txBody>
      </p:sp>
      <p:sp>
        <p:nvSpPr>
          <p:cNvPr id="49" name="Shape 47"/>
          <p:cNvSpPr/>
          <p:nvPr/>
        </p:nvSpPr>
        <p:spPr>
          <a:xfrm>
            <a:off x="621792" y="5669280"/>
            <a:ext cx="10948111" cy="420624"/>
          </a:xfrm>
          <a:prstGeom prst="roundRect">
            <a:avLst>
              <a:gd name="adj" fmla="val 17391"/>
            </a:avLst>
          </a:prstGeom>
          <a:solidFill>
            <a:srgbClr val="FFFFFF"/>
          </a:solidFill>
          <a:ln/>
        </p:spPr>
      </p:sp>
      <p:sp>
        <p:nvSpPr>
          <p:cNvPr id="50" name="Shape 48"/>
          <p:cNvSpPr/>
          <p:nvPr/>
        </p:nvSpPr>
        <p:spPr>
          <a:xfrm>
            <a:off x="621792" y="5669280"/>
            <a:ext cx="128016" cy="420624"/>
          </a:xfrm>
          <a:prstGeom prst="rect">
            <a:avLst/>
          </a:prstGeom>
          <a:solidFill>
            <a:srgbClr val="E86A9B"/>
          </a:solidFill>
          <a:ln/>
        </p:spPr>
      </p:sp>
      <p:sp>
        <p:nvSpPr>
          <p:cNvPr id="51" name="Text 49"/>
          <p:cNvSpPr txBox="1"/>
          <p:nvPr/>
        </p:nvSpPr>
        <p:spPr>
          <a:xfrm>
            <a:off x="932688" y="5669280"/>
            <a:ext cx="2011680" cy="420624"/>
          </a:xfrm>
          <a:prstGeom prst="rect">
            <a:avLst/>
          </a:prstGeom>
          <a:noFill/>
          <a:ln/>
        </p:spPr>
        <p:txBody>
          <a:bodyPr wrap="square" lIns="0" tIns="0" rIns="0" bIns="0" rtlCol="0" anchor="ctr"/>
          <a:lstStyle/>
          <a:p>
            <a:pPr indent="0" marL="0">
              <a:buNone/>
            </a:pPr>
            <a:r>
              <a:rPr lang="en-US" sz="1150" b="1" dirty="0">
                <a:solidFill>
                  <a:srgbClr val="0E1626"/>
                </a:solidFill>
                <a:latin typeface="Calibri" pitchFamily="34" charset="0"/>
                <a:ea typeface="Calibri" pitchFamily="34" charset="-122"/>
                <a:cs typeface="Calibri" pitchFamily="34" charset="-120"/>
              </a:rPr>
              <a:t>9.  Postmodern Ethics</a:t>
            </a:r>
            <a:endParaRPr lang="en-US" sz="1150" dirty="0"/>
          </a:p>
        </p:txBody>
      </p:sp>
      <p:sp>
        <p:nvSpPr>
          <p:cNvPr id="52" name="Text 50"/>
          <p:cNvSpPr txBox="1"/>
          <p:nvPr/>
        </p:nvSpPr>
        <p:spPr>
          <a:xfrm>
            <a:off x="3035808" y="5669280"/>
            <a:ext cx="6400800" cy="420624"/>
          </a:xfrm>
          <a:prstGeom prst="rect">
            <a:avLst/>
          </a:prstGeom>
          <a:noFill/>
          <a:ln/>
        </p:spPr>
        <p:txBody>
          <a:bodyPr wrap="square" lIns="0" tIns="0" rIns="0" bIns="0" rtlCol="0" anchor="ctr"/>
          <a:lstStyle/>
          <a:p>
            <a:pPr indent="0" marL="0">
              <a:buNone/>
            </a:pPr>
            <a:r>
              <a:rPr lang="en-US" sz="1100" dirty="0">
                <a:solidFill>
                  <a:srgbClr val="2A3243"/>
                </a:solidFill>
                <a:latin typeface="Calibri" pitchFamily="34" charset="0"/>
                <a:ea typeface="Calibri" pitchFamily="34" charset="-122"/>
                <a:cs typeface="Calibri" pitchFamily="34" charset="-120"/>
              </a:rPr>
              <a:t>Perebutan istilah oil sands dan tar sands membuktikan bahasa membentuk moral</a:t>
            </a:r>
            <a:endParaRPr lang="en-US" sz="1100" dirty="0"/>
          </a:p>
        </p:txBody>
      </p:sp>
      <p:sp>
        <p:nvSpPr>
          <p:cNvPr id="53" name="Text 51"/>
          <p:cNvSpPr txBox="1"/>
          <p:nvPr/>
        </p:nvSpPr>
        <p:spPr>
          <a:xfrm>
            <a:off x="9528048" y="5669280"/>
            <a:ext cx="1858975" cy="420624"/>
          </a:xfrm>
          <a:prstGeom prst="rect">
            <a:avLst/>
          </a:prstGeom>
          <a:noFill/>
          <a:ln/>
        </p:spPr>
        <p:txBody>
          <a:bodyPr wrap="square" lIns="0" tIns="0" rIns="0" bIns="0" rtlCol="0" anchor="ctr"/>
          <a:lstStyle/>
          <a:p>
            <a:pPr algn="r" indent="0" marL="0">
              <a:buNone/>
            </a:pPr>
            <a:r>
              <a:rPr lang="en-US" sz="1150" b="1" dirty="0">
                <a:solidFill>
                  <a:srgbClr val="8C476A"/>
                </a:solidFill>
                <a:latin typeface="Calibri" pitchFamily="34" charset="0"/>
                <a:ea typeface="Calibri" pitchFamily="34" charset="-122"/>
                <a:cs typeface="Calibri" pitchFamily="34" charset="-120"/>
              </a:rPr>
              <a:t>Anti absolut</a:t>
            </a:r>
            <a:endParaRPr lang="en-US" sz="1150" dirty="0"/>
          </a:p>
        </p:txBody>
      </p:sp>
      <p:sp>
        <p:nvSpPr>
          <p:cNvPr id="54" name="Text 52"/>
          <p:cNvSpPr txBox="1"/>
          <p:nvPr/>
        </p:nvSpPr>
        <p:spPr>
          <a:xfrm>
            <a:off x="621792" y="6199632"/>
            <a:ext cx="10948111" cy="292608"/>
          </a:xfrm>
          <a:prstGeom prst="rect">
            <a:avLst/>
          </a:prstGeom>
          <a:noFill/>
          <a:ln/>
        </p:spPr>
        <p:txBody>
          <a:bodyPr wrap="square" lIns="0" tIns="0" rIns="0" bIns="0" rtlCol="0" anchor="t"/>
          <a:lstStyle/>
          <a:p>
            <a:pPr indent="0" marL="0">
              <a:buNone/>
            </a:pPr>
            <a:r>
              <a:rPr lang="en-US" sz="1150" i="1" dirty="0">
                <a:solidFill>
                  <a:srgbClr val="6B7A90"/>
                </a:solidFill>
                <a:latin typeface="Calibri" pitchFamily="34" charset="0"/>
                <a:ea typeface="Calibri" pitchFamily="34" charset="-122"/>
                <a:cs typeface="Calibri" pitchFamily="34" charset="-120"/>
              </a:rPr>
              <a:t>Tidak satu pun berbunyi mendukung tanpa syarat. Enam dari sembilan menolak, dua bersyarat, satu netral karena mengakui batasnya sendiri.</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1143914"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143914"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UJI KLAIM</a:t>
            </a:r>
            <a:endParaRPr lang="en-US" sz="950" dirty="0"/>
          </a:p>
        </p:txBody>
      </p:sp>
      <p:sp>
        <p:nvSpPr>
          <p:cNvPr id="5" name="Shape 3"/>
          <p:cNvSpPr/>
          <p:nvPr/>
        </p:nvSpPr>
        <p:spPr>
          <a:xfrm>
            <a:off x="1884578" y="457200"/>
            <a:ext cx="1687068"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884578" y="457200"/>
            <a:ext cx="1687068"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EMPAT PROPOSISI</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11</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Kenapa Klaim Ethical Oil Tidak Bertahan</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Text 7"/>
          <p:cNvSpPr txBox="1"/>
          <p:nvPr/>
        </p:nvSpPr>
        <p:spPr>
          <a:xfrm>
            <a:off x="621792" y="1481328"/>
            <a:ext cx="10948111" cy="310896"/>
          </a:xfrm>
          <a:prstGeom prst="rect">
            <a:avLst/>
          </a:prstGeom>
          <a:noFill/>
          <a:ln/>
        </p:spPr>
        <p:txBody>
          <a:bodyPr wrap="square" lIns="0" tIns="0" rIns="0" bIns="0" rtlCol="0" anchor="t"/>
          <a:lstStyle/>
          <a:p>
            <a:pPr indent="0" marL="0">
              <a:lnSpc>
                <a:spcPts val="1823"/>
              </a:lnSpc>
              <a:buNone/>
            </a:pPr>
            <a:r>
              <a:rPr lang="en-US" sz="1350" dirty="0">
                <a:solidFill>
                  <a:srgbClr val="6B7A90"/>
                </a:solidFill>
                <a:latin typeface="Calibri" pitchFamily="34" charset="0"/>
                <a:ea typeface="Calibri" pitchFamily="34" charset="-122"/>
                <a:cs typeface="Calibri" pitchFamily="34" charset="-120"/>
              </a:rPr>
              <a:t>Empat proposisi yang lahir dari kesembilan lensa di atas.</a:t>
            </a:r>
            <a:endParaRPr lang="en-US" sz="1350" dirty="0"/>
          </a:p>
        </p:txBody>
      </p:sp>
      <p:sp>
        <p:nvSpPr>
          <p:cNvPr id="10" name="Shape 8"/>
          <p:cNvSpPr/>
          <p:nvPr/>
        </p:nvSpPr>
        <p:spPr>
          <a:xfrm>
            <a:off x="621792" y="1975104"/>
            <a:ext cx="10948111" cy="877824"/>
          </a:xfrm>
          <a:prstGeom prst="roundRect">
            <a:avLst>
              <a:gd name="adj" fmla="val 16667"/>
            </a:avLst>
          </a:prstGeom>
          <a:solidFill>
            <a:srgbClr val="FFFFFF"/>
          </a:solidFill>
          <a:ln/>
        </p:spPr>
      </p:sp>
      <p:sp>
        <p:nvSpPr>
          <p:cNvPr id="11" name="Shape 9"/>
          <p:cNvSpPr/>
          <p:nvPr/>
        </p:nvSpPr>
        <p:spPr>
          <a:xfrm>
            <a:off x="621792" y="1975104"/>
            <a:ext cx="566928" cy="877824"/>
          </a:xfrm>
          <a:prstGeom prst="rect">
            <a:avLst/>
          </a:prstGeom>
          <a:solidFill>
            <a:srgbClr val="FF5A2D"/>
          </a:solidFill>
          <a:ln/>
        </p:spPr>
      </p:sp>
      <p:sp>
        <p:nvSpPr>
          <p:cNvPr id="12" name="Text 10"/>
          <p:cNvSpPr txBox="1"/>
          <p:nvPr/>
        </p:nvSpPr>
        <p:spPr>
          <a:xfrm>
            <a:off x="621792" y="1975104"/>
            <a:ext cx="566928" cy="8778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3" name="Text 11"/>
          <p:cNvSpPr txBox="1"/>
          <p:nvPr/>
        </p:nvSpPr>
        <p:spPr>
          <a:xfrm>
            <a:off x="1389888" y="2057400"/>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Perbandingan ke Bawah Bukan Argumen Moral</a:t>
            </a:r>
            <a:endParaRPr lang="en-US" sz="1250" dirty="0"/>
          </a:p>
        </p:txBody>
      </p:sp>
      <p:sp>
        <p:nvSpPr>
          <p:cNvPr id="14" name="Text 12"/>
          <p:cNvSpPr txBox="1"/>
          <p:nvPr/>
        </p:nvSpPr>
        <p:spPr>
          <a:xfrm>
            <a:off x="1389888" y="2295144"/>
            <a:ext cx="9942271" cy="47548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Bahwa Venezuela dan Arab Saudi lebih buruk tidak membuat tindakan Kanada menjadi benar. Virtue ethics menyebutnya mengukur diri pada standar terendah.</a:t>
            </a:r>
            <a:endParaRPr lang="en-US" sz="1100" dirty="0"/>
          </a:p>
        </p:txBody>
      </p:sp>
      <p:sp>
        <p:nvSpPr>
          <p:cNvPr id="15" name="Shape 13"/>
          <p:cNvSpPr/>
          <p:nvPr/>
        </p:nvSpPr>
        <p:spPr>
          <a:xfrm>
            <a:off x="621792" y="2944368"/>
            <a:ext cx="10948111" cy="877824"/>
          </a:xfrm>
          <a:prstGeom prst="roundRect">
            <a:avLst>
              <a:gd name="adj" fmla="val 16667"/>
            </a:avLst>
          </a:prstGeom>
          <a:solidFill>
            <a:srgbClr val="FFFFFF"/>
          </a:solidFill>
          <a:ln/>
        </p:spPr>
      </p:sp>
      <p:sp>
        <p:nvSpPr>
          <p:cNvPr id="16" name="Shape 14"/>
          <p:cNvSpPr/>
          <p:nvPr/>
        </p:nvSpPr>
        <p:spPr>
          <a:xfrm>
            <a:off x="621792" y="2944368"/>
            <a:ext cx="566928" cy="877824"/>
          </a:xfrm>
          <a:prstGeom prst="rect">
            <a:avLst/>
          </a:prstGeom>
          <a:solidFill>
            <a:srgbClr val="B8A6F5"/>
          </a:solidFill>
          <a:ln/>
        </p:spPr>
      </p:sp>
      <p:sp>
        <p:nvSpPr>
          <p:cNvPr id="17" name="Text 15"/>
          <p:cNvSpPr txBox="1"/>
          <p:nvPr/>
        </p:nvSpPr>
        <p:spPr>
          <a:xfrm>
            <a:off x="621792" y="2944368"/>
            <a:ext cx="566928" cy="877824"/>
          </a:xfrm>
          <a:prstGeom prst="rect">
            <a:avLst/>
          </a:prstGeom>
          <a:noFill/>
          <a:ln/>
        </p:spPr>
        <p:txBody>
          <a:bodyPr wrap="square" lIns="0" tIns="0" rIns="0" bIns="0" rtlCol="0" anchor="ctr"/>
          <a:lstStyle/>
          <a:p>
            <a:pPr algn="ctr" indent="0" marL="0">
              <a:buNone/>
            </a:pPr>
            <a:r>
              <a:rPr lang="en-US" sz="1700" b="1" dirty="0">
                <a:solidFill>
                  <a:srgbClr val="0E1626"/>
                </a:solidFill>
                <a:latin typeface="Calibri" pitchFamily="34" charset="0"/>
                <a:ea typeface="Calibri" pitchFamily="34" charset="-122"/>
                <a:cs typeface="Calibri" pitchFamily="34" charset="-120"/>
              </a:rPr>
              <a:t>2</a:t>
            </a:r>
            <a:endParaRPr lang="en-US" sz="1700" dirty="0"/>
          </a:p>
        </p:txBody>
      </p:sp>
      <p:sp>
        <p:nvSpPr>
          <p:cNvPr id="18" name="Text 16"/>
          <p:cNvSpPr txBox="1"/>
          <p:nvPr/>
        </p:nvSpPr>
        <p:spPr>
          <a:xfrm>
            <a:off x="1389888" y="3026664"/>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Prosesnya Cacat Sebelum Isinya Dinilai</a:t>
            </a:r>
            <a:endParaRPr lang="en-US" sz="1250" dirty="0"/>
          </a:p>
        </p:txBody>
      </p:sp>
      <p:sp>
        <p:nvSpPr>
          <p:cNvPr id="19" name="Text 17"/>
          <p:cNvSpPr txBox="1"/>
          <p:nvPr/>
        </p:nvSpPr>
        <p:spPr>
          <a:xfrm>
            <a:off x="1389888" y="3264408"/>
            <a:ext cx="9942271" cy="47548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Label ethical oil lahir dari kampanye berdana industri. Discourse ethics membatalkannya karena syarat imparsialitas gagal sejak awal.</a:t>
            </a:r>
            <a:endParaRPr lang="en-US" sz="1100" dirty="0"/>
          </a:p>
        </p:txBody>
      </p:sp>
      <p:sp>
        <p:nvSpPr>
          <p:cNvPr id="20" name="Shape 18"/>
          <p:cNvSpPr/>
          <p:nvPr/>
        </p:nvSpPr>
        <p:spPr>
          <a:xfrm>
            <a:off x="621792" y="3913632"/>
            <a:ext cx="10948111" cy="877824"/>
          </a:xfrm>
          <a:prstGeom prst="roundRect">
            <a:avLst>
              <a:gd name="adj" fmla="val 16667"/>
            </a:avLst>
          </a:prstGeom>
          <a:solidFill>
            <a:srgbClr val="FFFFFF"/>
          </a:solidFill>
          <a:ln/>
        </p:spPr>
      </p:sp>
      <p:sp>
        <p:nvSpPr>
          <p:cNvPr id="21" name="Shape 19"/>
          <p:cNvSpPr/>
          <p:nvPr/>
        </p:nvSpPr>
        <p:spPr>
          <a:xfrm>
            <a:off x="621792" y="3913632"/>
            <a:ext cx="566928" cy="877824"/>
          </a:xfrm>
          <a:prstGeom prst="rect">
            <a:avLst/>
          </a:prstGeom>
          <a:solidFill>
            <a:srgbClr val="0FA98E"/>
          </a:solidFill>
          <a:ln/>
        </p:spPr>
      </p:sp>
      <p:sp>
        <p:nvSpPr>
          <p:cNvPr id="22" name="Text 20"/>
          <p:cNvSpPr txBox="1"/>
          <p:nvPr/>
        </p:nvSpPr>
        <p:spPr>
          <a:xfrm>
            <a:off x="621792" y="3913632"/>
            <a:ext cx="566928" cy="8778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3" name="Text 21"/>
          <p:cNvSpPr txBox="1"/>
          <p:nvPr/>
        </p:nvSpPr>
        <p:spPr>
          <a:xfrm>
            <a:off x="1389888" y="3995928"/>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Beban dan Manfaat Jatuh pada Pihak Berbeda</a:t>
            </a:r>
            <a:endParaRPr lang="en-US" sz="1250" dirty="0"/>
          </a:p>
        </p:txBody>
      </p:sp>
      <p:sp>
        <p:nvSpPr>
          <p:cNvPr id="24" name="Text 22"/>
          <p:cNvSpPr txBox="1"/>
          <p:nvPr/>
        </p:nvSpPr>
        <p:spPr>
          <a:xfrm>
            <a:off x="1389888" y="4233672"/>
            <a:ext cx="9942271" cy="47548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Manfaat tersebar nasional, beban terkonsentrasi pada komunitas hilir dan generasi mendatang. Rawls menolak susunan seperti ini.</a:t>
            </a:r>
            <a:endParaRPr lang="en-US" sz="1100" dirty="0"/>
          </a:p>
        </p:txBody>
      </p:sp>
      <p:sp>
        <p:nvSpPr>
          <p:cNvPr id="25" name="Shape 23"/>
          <p:cNvSpPr/>
          <p:nvPr/>
        </p:nvSpPr>
        <p:spPr>
          <a:xfrm>
            <a:off x="621792" y="4882896"/>
            <a:ext cx="10948111" cy="877824"/>
          </a:xfrm>
          <a:prstGeom prst="roundRect">
            <a:avLst>
              <a:gd name="adj" fmla="val 16667"/>
            </a:avLst>
          </a:prstGeom>
          <a:solidFill>
            <a:srgbClr val="FFFFFF"/>
          </a:solidFill>
          <a:ln/>
        </p:spPr>
      </p:sp>
      <p:sp>
        <p:nvSpPr>
          <p:cNvPr id="26" name="Shape 24"/>
          <p:cNvSpPr/>
          <p:nvPr/>
        </p:nvSpPr>
        <p:spPr>
          <a:xfrm>
            <a:off x="621792" y="4882896"/>
            <a:ext cx="566928" cy="877824"/>
          </a:xfrm>
          <a:prstGeom prst="rect">
            <a:avLst/>
          </a:prstGeom>
          <a:solidFill>
            <a:srgbClr val="0E1626"/>
          </a:solidFill>
          <a:ln/>
        </p:spPr>
      </p:sp>
      <p:sp>
        <p:nvSpPr>
          <p:cNvPr id="27" name="Text 25"/>
          <p:cNvSpPr txBox="1"/>
          <p:nvPr/>
        </p:nvSpPr>
        <p:spPr>
          <a:xfrm>
            <a:off x="621792" y="4882896"/>
            <a:ext cx="566928" cy="8778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8" name="Text 26"/>
          <p:cNvSpPr txBox="1"/>
          <p:nvPr/>
        </p:nvSpPr>
        <p:spPr>
          <a:xfrm>
            <a:off x="1389888" y="4965192"/>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Prinsipnya Runtuh Ketika Diuniversalkan</a:t>
            </a:r>
            <a:endParaRPr lang="en-US" sz="1250" dirty="0"/>
          </a:p>
        </p:txBody>
      </p:sp>
      <p:sp>
        <p:nvSpPr>
          <p:cNvPr id="29" name="Text 27"/>
          <p:cNvSpPr txBox="1"/>
          <p:nvPr/>
        </p:nvSpPr>
        <p:spPr>
          <a:xfrm>
            <a:off x="1389888" y="5202936"/>
            <a:ext cx="9942271" cy="47548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Bila seluruh pemilik cadangan terbesar berbuat sama, tidak ada anggaran karbon yang tersisa. Uji Kant gagal di titik ini.</a:t>
            </a:r>
            <a:endParaRPr lang="en-US" sz="1100" dirty="0"/>
          </a:p>
        </p:txBody>
      </p:sp>
      <p:sp>
        <p:nvSpPr>
          <p:cNvPr id="30" name="Shape 28"/>
          <p:cNvSpPr/>
          <p:nvPr/>
        </p:nvSpPr>
        <p:spPr>
          <a:xfrm>
            <a:off x="621792" y="5888736"/>
            <a:ext cx="10948111" cy="457200"/>
          </a:xfrm>
          <a:prstGeom prst="roundRect">
            <a:avLst>
              <a:gd name="adj" fmla="val 32000"/>
            </a:avLst>
          </a:prstGeom>
          <a:solidFill>
            <a:srgbClr val="C6F04A"/>
          </a:solidFill>
          <a:ln/>
        </p:spPr>
      </p:sp>
      <p:sp>
        <p:nvSpPr>
          <p:cNvPr id="31" name="Text 29"/>
          <p:cNvSpPr txBox="1"/>
          <p:nvPr/>
        </p:nvSpPr>
        <p:spPr>
          <a:xfrm>
            <a:off x="941832" y="6018752"/>
            <a:ext cx="10308031" cy="310896"/>
          </a:xfrm>
          <a:prstGeom prst="rect">
            <a:avLst/>
          </a:prstGeom>
          <a:noFill/>
          <a:ln/>
        </p:spPr>
        <p:txBody>
          <a:bodyPr wrap="square" lIns="0" tIns="0" rIns="0" bIns="0" rtlCol="0" anchor="t"/>
          <a:lstStyle/>
          <a:p>
            <a:pPr indent="0" marL="0">
              <a:lnSpc>
                <a:spcPts val="1553"/>
              </a:lnSpc>
              <a:buNone/>
            </a:pPr>
            <a:r>
              <a:rPr lang="en-US" sz="1150" b="1" dirty="0">
                <a:solidFill>
                  <a:srgbClr val="0E1626"/>
                </a:solidFill>
                <a:latin typeface="Calibri" pitchFamily="34" charset="0"/>
                <a:ea typeface="Calibri" pitchFamily="34" charset="-122"/>
                <a:cs typeface="Calibri" pitchFamily="34" charset="-120"/>
              </a:rPr>
              <a:t>Menolak klaim ethical oil bukan berarti menuntut penghentian mendadak. Itu pertanyaan yang berbeda.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1143914" cy="283464"/>
          </a:xfrm>
          <a:prstGeom prst="roundRect">
            <a:avLst>
              <a:gd name="adj" fmla="val 50000"/>
            </a:avLst>
          </a:prstGeom>
          <a:solidFill>
            <a:srgbClr val="0FA98E"/>
          </a:solidFill>
          <a:ln w="12700">
            <a:solidFill>
              <a:srgbClr val="0FA98E"/>
            </a:solidFill>
            <a:prstDash val="solid"/>
          </a:ln>
        </p:spPr>
      </p:sp>
      <p:sp>
        <p:nvSpPr>
          <p:cNvPr id="4" name="Text 2"/>
          <p:cNvSpPr txBox="1"/>
          <p:nvPr/>
        </p:nvSpPr>
        <p:spPr>
          <a:xfrm>
            <a:off x="621792" y="457200"/>
            <a:ext cx="1143914"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IMPLIKASI</a:t>
            </a:r>
            <a:endParaRPr lang="en-US" sz="950" dirty="0"/>
          </a:p>
        </p:txBody>
      </p:sp>
      <p:sp>
        <p:nvSpPr>
          <p:cNvPr id="5" name="Shape 3"/>
          <p:cNvSpPr/>
          <p:nvPr/>
        </p:nvSpPr>
        <p:spPr>
          <a:xfrm>
            <a:off x="1884578" y="457200"/>
            <a:ext cx="1234440"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884578" y="457200"/>
            <a:ext cx="1234440"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MANAJERIAL</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12</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Yang Dapat Dibawa Pulang Manajer</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Shape 7"/>
          <p:cNvSpPr/>
          <p:nvPr/>
        </p:nvSpPr>
        <p:spPr>
          <a:xfrm>
            <a:off x="621792" y="1847088"/>
            <a:ext cx="3503066" cy="2157984"/>
          </a:xfrm>
          <a:prstGeom prst="roundRect">
            <a:avLst>
              <a:gd name="adj" fmla="val 6780"/>
            </a:avLst>
          </a:prstGeom>
          <a:solidFill>
            <a:srgbClr val="FF5A2D"/>
          </a:solidFill>
          <a:ln/>
        </p:spPr>
      </p:sp>
      <p:sp>
        <p:nvSpPr>
          <p:cNvPr id="10" name="Shape 8"/>
          <p:cNvSpPr/>
          <p:nvPr/>
        </p:nvSpPr>
        <p:spPr>
          <a:xfrm>
            <a:off x="859536" y="2048256"/>
            <a:ext cx="283464" cy="283464"/>
          </a:xfrm>
          <a:prstGeom prst="roundRect">
            <a:avLst>
              <a:gd name="adj" fmla="val 32258"/>
            </a:avLst>
          </a:prstGeom>
          <a:solidFill>
            <a:srgbClr val="FF744F"/>
          </a:solidFill>
          <a:ln/>
        </p:spPr>
      </p:sp>
      <p:sp>
        <p:nvSpPr>
          <p:cNvPr id="11" name="Text 9"/>
          <p:cNvSpPr txBox="1"/>
          <p:nvPr/>
        </p:nvSpPr>
        <p:spPr>
          <a:xfrm>
            <a:off x="859536" y="2048256"/>
            <a:ext cx="283464"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01</a:t>
            </a:r>
            <a:endParaRPr lang="en-US" sz="1050" dirty="0"/>
          </a:p>
        </p:txBody>
      </p:sp>
      <p:sp>
        <p:nvSpPr>
          <p:cNvPr id="12" name="Text 10"/>
          <p:cNvSpPr txBox="1"/>
          <p:nvPr/>
        </p:nvSpPr>
        <p:spPr>
          <a:xfrm>
            <a:off x="859536" y="2432304"/>
            <a:ext cx="3027578" cy="292608"/>
          </a:xfrm>
          <a:prstGeom prst="rect">
            <a:avLst/>
          </a:prstGeom>
          <a:noFill/>
          <a:ln/>
        </p:spPr>
        <p:txBody>
          <a:bodyPr wrap="square" lIns="0" tIns="0" rIns="0" bIns="0" rtlCol="0" anchor="t"/>
          <a:lstStyle/>
          <a:p>
            <a:pPr indent="0" marL="0">
              <a:lnSpc>
                <a:spcPts val="1647"/>
              </a:lnSpc>
              <a:buNone/>
            </a:pPr>
            <a:r>
              <a:rPr lang="en-US" sz="1350" b="1" dirty="0">
                <a:solidFill>
                  <a:srgbClr val="FFFFFF"/>
                </a:solidFill>
                <a:latin typeface="Calibri" pitchFamily="34" charset="0"/>
                <a:ea typeface="Calibri" pitchFamily="34" charset="-122"/>
                <a:cs typeface="Calibri" pitchFamily="34" charset="-120"/>
              </a:rPr>
              <a:t>Pakai Lebih dari Satu Teori</a:t>
            </a:r>
            <a:endParaRPr lang="en-US" sz="1350" dirty="0"/>
          </a:p>
        </p:txBody>
      </p:sp>
      <p:sp>
        <p:nvSpPr>
          <p:cNvPr id="13" name="Text 11"/>
          <p:cNvSpPr txBox="1"/>
          <p:nvPr/>
        </p:nvSpPr>
        <p:spPr>
          <a:xfrm>
            <a:off x="859536" y="2798064"/>
            <a:ext cx="3027578" cy="1078992"/>
          </a:xfrm>
          <a:prstGeom prst="rect">
            <a:avLst/>
          </a:prstGeom>
          <a:noFill/>
          <a:ln/>
        </p:spPr>
        <p:txBody>
          <a:bodyPr wrap="square" lIns="0" tIns="0" rIns="0" bIns="0" rtlCol="0" anchor="t"/>
          <a:lstStyle/>
          <a:p>
            <a:pPr indent="0" marL="0">
              <a:lnSpc>
                <a:spcPts val="1562"/>
              </a:lnSpc>
              <a:buNone/>
            </a:pPr>
            <a:r>
              <a:rPr lang="en-US" sz="1100" dirty="0">
                <a:solidFill>
                  <a:srgbClr val="E8E4DC"/>
                </a:solidFill>
                <a:latin typeface="Calibri" pitchFamily="34" charset="0"/>
                <a:ea typeface="Calibri" pitchFamily="34" charset="-122"/>
                <a:cs typeface="Calibri" pitchFamily="34" charset="-120"/>
              </a:rPr>
              <a:t>Klaim yang lolos satu teori sering runtuh pada teori kedua. Sembilan pertimbangan pada Tabel 3.8 adalah daftar periksa, bukan rencana sepuluh langkah.</a:t>
            </a:r>
            <a:endParaRPr lang="en-US" sz="1100" dirty="0"/>
          </a:p>
        </p:txBody>
      </p:sp>
      <p:sp>
        <p:nvSpPr>
          <p:cNvPr id="14" name="Shape 12"/>
          <p:cNvSpPr/>
          <p:nvPr/>
        </p:nvSpPr>
        <p:spPr>
          <a:xfrm>
            <a:off x="4344314" y="1847088"/>
            <a:ext cx="3503066" cy="2157984"/>
          </a:xfrm>
          <a:prstGeom prst="roundRect">
            <a:avLst>
              <a:gd name="adj" fmla="val 6780"/>
            </a:avLst>
          </a:prstGeom>
          <a:solidFill>
            <a:srgbClr val="B8A6F5"/>
          </a:solidFill>
          <a:ln/>
        </p:spPr>
      </p:sp>
      <p:sp>
        <p:nvSpPr>
          <p:cNvPr id="15" name="Shape 13"/>
          <p:cNvSpPr/>
          <p:nvPr/>
        </p:nvSpPr>
        <p:spPr>
          <a:xfrm>
            <a:off x="4582058" y="2048256"/>
            <a:ext cx="283464" cy="283464"/>
          </a:xfrm>
          <a:prstGeom prst="roundRect">
            <a:avLst>
              <a:gd name="adj" fmla="val 32258"/>
            </a:avLst>
          </a:prstGeom>
          <a:solidFill>
            <a:srgbClr val="9D8FD4"/>
          </a:solidFill>
          <a:ln/>
        </p:spPr>
      </p:sp>
      <p:sp>
        <p:nvSpPr>
          <p:cNvPr id="16" name="Text 14"/>
          <p:cNvSpPr txBox="1"/>
          <p:nvPr/>
        </p:nvSpPr>
        <p:spPr>
          <a:xfrm>
            <a:off x="4582058" y="2048256"/>
            <a:ext cx="283464" cy="283464"/>
          </a:xfrm>
          <a:prstGeom prst="rect">
            <a:avLst/>
          </a:prstGeom>
          <a:noFill/>
          <a:ln/>
        </p:spPr>
        <p:txBody>
          <a:bodyPr wrap="square" lIns="0" tIns="0" rIns="0" bIns="0" rtlCol="0" anchor="ctr"/>
          <a:lstStyle/>
          <a:p>
            <a:pPr algn="ctr" indent="0" marL="0">
              <a:buNone/>
            </a:pPr>
            <a:r>
              <a:rPr lang="en-US" sz="1050" b="1" dirty="0">
                <a:solidFill>
                  <a:srgbClr val="0E1626"/>
                </a:solidFill>
                <a:latin typeface="Calibri" pitchFamily="34" charset="0"/>
                <a:ea typeface="Calibri" pitchFamily="34" charset="-122"/>
                <a:cs typeface="Calibri" pitchFamily="34" charset="-120"/>
              </a:rPr>
              <a:t>02</a:t>
            </a:r>
            <a:endParaRPr lang="en-US" sz="1050" dirty="0"/>
          </a:p>
        </p:txBody>
      </p:sp>
      <p:sp>
        <p:nvSpPr>
          <p:cNvPr id="17" name="Text 15"/>
          <p:cNvSpPr txBox="1"/>
          <p:nvPr/>
        </p:nvSpPr>
        <p:spPr>
          <a:xfrm>
            <a:off x="4582058" y="2432304"/>
            <a:ext cx="3027578" cy="292608"/>
          </a:xfrm>
          <a:prstGeom prst="rect">
            <a:avLst/>
          </a:prstGeom>
          <a:noFill/>
          <a:ln/>
        </p:spPr>
        <p:txBody>
          <a:bodyPr wrap="square" lIns="0" tIns="0" rIns="0" bIns="0" rtlCol="0" anchor="t"/>
          <a:lstStyle/>
          <a:p>
            <a:pPr indent="0" marL="0">
              <a:lnSpc>
                <a:spcPts val="1647"/>
              </a:lnSpc>
              <a:buNone/>
            </a:pPr>
            <a:r>
              <a:rPr lang="en-US" sz="1350" b="1" dirty="0">
                <a:solidFill>
                  <a:srgbClr val="0E1626"/>
                </a:solidFill>
                <a:latin typeface="Calibri" pitchFamily="34" charset="0"/>
                <a:ea typeface="Calibri" pitchFamily="34" charset="-122"/>
                <a:cs typeface="Calibri" pitchFamily="34" charset="-120"/>
              </a:rPr>
              <a:t>Cek Siapa yang Tidak Hadir</a:t>
            </a:r>
            <a:endParaRPr lang="en-US" sz="1350" dirty="0"/>
          </a:p>
        </p:txBody>
      </p:sp>
      <p:sp>
        <p:nvSpPr>
          <p:cNvPr id="18" name="Text 16"/>
          <p:cNvSpPr txBox="1"/>
          <p:nvPr/>
        </p:nvSpPr>
        <p:spPr>
          <a:xfrm>
            <a:off x="4582058" y="2798064"/>
            <a:ext cx="3027578" cy="1078992"/>
          </a:xfrm>
          <a:prstGeom prst="rect">
            <a:avLst/>
          </a:prstGeom>
          <a:noFill/>
          <a:ln/>
        </p:spPr>
        <p:txBody>
          <a:bodyPr wrap="square" lIns="0" tIns="0" rIns="0" bIns="0" rtlCol="0" anchor="t"/>
          <a:lstStyle/>
          <a:p>
            <a:pPr indent="0" marL="0">
              <a:lnSpc>
                <a:spcPts val="1562"/>
              </a:lnSpc>
              <a:buNone/>
            </a:pPr>
            <a:r>
              <a:rPr lang="en-US" sz="1100" dirty="0">
                <a:solidFill>
                  <a:srgbClr val="2A3243"/>
                </a:solidFill>
                <a:latin typeface="Calibri" pitchFamily="34" charset="0"/>
                <a:ea typeface="Calibri" pitchFamily="34" charset="-122"/>
                <a:cs typeface="Calibri" pitchFamily="34" charset="-120"/>
              </a:rPr>
              <a:t>Generasi mendatang dan komunitas hilir tidak punya kursi. Keputusan yang mengabaikan mereka rapuh secara moral sekaligus secara reputasi.</a:t>
            </a:r>
            <a:endParaRPr lang="en-US" sz="1100" dirty="0"/>
          </a:p>
        </p:txBody>
      </p:sp>
      <p:sp>
        <p:nvSpPr>
          <p:cNvPr id="19" name="Shape 17"/>
          <p:cNvSpPr/>
          <p:nvPr/>
        </p:nvSpPr>
        <p:spPr>
          <a:xfrm>
            <a:off x="8066837" y="1847088"/>
            <a:ext cx="3503066" cy="2157984"/>
          </a:xfrm>
          <a:prstGeom prst="roundRect">
            <a:avLst>
              <a:gd name="adj" fmla="val 6780"/>
            </a:avLst>
          </a:prstGeom>
          <a:solidFill>
            <a:srgbClr val="0FA98E"/>
          </a:solidFill>
          <a:ln/>
        </p:spPr>
      </p:sp>
      <p:sp>
        <p:nvSpPr>
          <p:cNvPr id="20" name="Shape 18"/>
          <p:cNvSpPr/>
          <p:nvPr/>
        </p:nvSpPr>
        <p:spPr>
          <a:xfrm>
            <a:off x="8304581" y="2048256"/>
            <a:ext cx="283464" cy="283464"/>
          </a:xfrm>
          <a:prstGeom prst="roundRect">
            <a:avLst>
              <a:gd name="adj" fmla="val 32258"/>
            </a:avLst>
          </a:prstGeom>
          <a:solidFill>
            <a:srgbClr val="35B7A0"/>
          </a:solidFill>
          <a:ln/>
        </p:spPr>
      </p:sp>
      <p:sp>
        <p:nvSpPr>
          <p:cNvPr id="21" name="Text 19"/>
          <p:cNvSpPr txBox="1"/>
          <p:nvPr/>
        </p:nvSpPr>
        <p:spPr>
          <a:xfrm>
            <a:off x="8304581" y="2048256"/>
            <a:ext cx="283464"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03</a:t>
            </a:r>
            <a:endParaRPr lang="en-US" sz="1050" dirty="0"/>
          </a:p>
        </p:txBody>
      </p:sp>
      <p:sp>
        <p:nvSpPr>
          <p:cNvPr id="22" name="Text 20"/>
          <p:cNvSpPr txBox="1"/>
          <p:nvPr/>
        </p:nvSpPr>
        <p:spPr>
          <a:xfrm>
            <a:off x="8304581" y="2432304"/>
            <a:ext cx="3027578" cy="292608"/>
          </a:xfrm>
          <a:prstGeom prst="rect">
            <a:avLst/>
          </a:prstGeom>
          <a:noFill/>
          <a:ln/>
        </p:spPr>
        <p:txBody>
          <a:bodyPr wrap="square" lIns="0" tIns="0" rIns="0" bIns="0" rtlCol="0" anchor="t"/>
          <a:lstStyle/>
          <a:p>
            <a:pPr indent="0" marL="0">
              <a:lnSpc>
                <a:spcPts val="1647"/>
              </a:lnSpc>
              <a:buNone/>
            </a:pPr>
            <a:r>
              <a:rPr lang="en-US" sz="1350" b="1" dirty="0">
                <a:solidFill>
                  <a:srgbClr val="FFFFFF"/>
                </a:solidFill>
                <a:latin typeface="Calibri" pitchFamily="34" charset="0"/>
                <a:ea typeface="Calibri" pitchFamily="34" charset="-122"/>
                <a:cs typeface="Calibri" pitchFamily="34" charset="-120"/>
              </a:rPr>
              <a:t>Awasi Pilihan Istilahnya</a:t>
            </a:r>
            <a:endParaRPr lang="en-US" sz="1350" dirty="0"/>
          </a:p>
        </p:txBody>
      </p:sp>
      <p:sp>
        <p:nvSpPr>
          <p:cNvPr id="23" name="Text 21"/>
          <p:cNvSpPr txBox="1"/>
          <p:nvPr/>
        </p:nvSpPr>
        <p:spPr>
          <a:xfrm>
            <a:off x="8304581" y="2798064"/>
            <a:ext cx="3027578" cy="1078992"/>
          </a:xfrm>
          <a:prstGeom prst="rect">
            <a:avLst/>
          </a:prstGeom>
          <a:noFill/>
          <a:ln/>
        </p:spPr>
        <p:txBody>
          <a:bodyPr wrap="square" lIns="0" tIns="0" rIns="0" bIns="0" rtlCol="0" anchor="t"/>
          <a:lstStyle/>
          <a:p>
            <a:pPr indent="0" marL="0">
              <a:lnSpc>
                <a:spcPts val="1562"/>
              </a:lnSpc>
              <a:buNone/>
            </a:pPr>
            <a:r>
              <a:rPr lang="en-US" sz="1100" dirty="0">
                <a:solidFill>
                  <a:srgbClr val="E8E4DC"/>
                </a:solidFill>
                <a:latin typeface="Calibri" pitchFamily="34" charset="0"/>
                <a:ea typeface="Calibri" pitchFamily="34" charset="-122"/>
                <a:cs typeface="Calibri" pitchFamily="34" charset="-120"/>
              </a:rPr>
              <a:t>Oil sands atau tar sands, hilirisasi atau ekstraksi. Pilihan kata menentukan penilaian sebelum datanya sempat dibaca.</a:t>
            </a:r>
            <a:endParaRPr lang="en-US" sz="1100" dirty="0"/>
          </a:p>
        </p:txBody>
      </p:sp>
      <p:sp>
        <p:nvSpPr>
          <p:cNvPr id="24" name="Shape 22"/>
          <p:cNvSpPr/>
          <p:nvPr/>
        </p:nvSpPr>
        <p:spPr>
          <a:xfrm>
            <a:off x="621792" y="4206240"/>
            <a:ext cx="10948111" cy="1883664"/>
          </a:xfrm>
          <a:prstGeom prst="roundRect">
            <a:avLst>
              <a:gd name="adj" fmla="val 7767"/>
            </a:avLst>
          </a:prstGeom>
          <a:solidFill>
            <a:srgbClr val="0E1626"/>
          </a:solidFill>
          <a:ln/>
        </p:spPr>
      </p:sp>
      <p:sp>
        <p:nvSpPr>
          <p:cNvPr id="25" name="Shape 23"/>
          <p:cNvSpPr/>
          <p:nvPr/>
        </p:nvSpPr>
        <p:spPr>
          <a:xfrm>
            <a:off x="914400" y="4389120"/>
            <a:ext cx="1868119" cy="283464"/>
          </a:xfrm>
          <a:prstGeom prst="roundRect">
            <a:avLst>
              <a:gd name="adj" fmla="val 50000"/>
            </a:avLst>
          </a:prstGeom>
          <a:solidFill>
            <a:srgbClr val="C6F04A"/>
          </a:solidFill>
          <a:ln w="12700">
            <a:solidFill>
              <a:srgbClr val="C6F04A"/>
            </a:solidFill>
            <a:prstDash val="solid"/>
          </a:ln>
        </p:spPr>
      </p:sp>
      <p:sp>
        <p:nvSpPr>
          <p:cNvPr id="26" name="Text 24"/>
          <p:cNvSpPr txBox="1"/>
          <p:nvPr/>
        </p:nvSpPr>
        <p:spPr>
          <a:xfrm>
            <a:off x="914400" y="4389120"/>
            <a:ext cx="1868119"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KONTEKS INDONESIA</a:t>
            </a:r>
            <a:endParaRPr lang="en-US" sz="950" dirty="0"/>
          </a:p>
        </p:txBody>
      </p:sp>
      <p:sp>
        <p:nvSpPr>
          <p:cNvPr id="27" name="Text 25"/>
          <p:cNvSpPr txBox="1"/>
          <p:nvPr/>
        </p:nvSpPr>
        <p:spPr>
          <a:xfrm>
            <a:off x="914400" y="4791456"/>
            <a:ext cx="10362895" cy="310896"/>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Hilirisasi Nikel di Morowali dan Weda Bay</a:t>
            </a:r>
            <a:endParaRPr lang="en-US" sz="1700" dirty="0"/>
          </a:p>
        </p:txBody>
      </p:sp>
      <p:sp>
        <p:nvSpPr>
          <p:cNvPr id="28" name="Text 26"/>
          <p:cNvSpPr txBox="1"/>
          <p:nvPr/>
        </p:nvSpPr>
        <p:spPr>
          <a:xfrm>
            <a:off x="914400" y="5157216"/>
            <a:ext cx="10326319" cy="475488"/>
          </a:xfrm>
          <a:prstGeom prst="rect">
            <a:avLst/>
          </a:prstGeom>
          <a:noFill/>
          <a:ln/>
        </p:spPr>
        <p:txBody>
          <a:bodyPr wrap="square" lIns="0" tIns="0" rIns="0" bIns="0" rtlCol="0" anchor="t"/>
          <a:lstStyle/>
          <a:p>
            <a:pPr indent="0" marL="0">
              <a:lnSpc>
                <a:spcPts val="1700"/>
              </a:lnSpc>
              <a:buNone/>
            </a:pPr>
            <a:r>
              <a:rPr lang="en-US" sz="1200" dirty="0">
                <a:solidFill>
                  <a:srgbClr val="B9C0CE"/>
                </a:solidFill>
                <a:latin typeface="Calibri" pitchFamily="34" charset="0"/>
                <a:ea typeface="Calibri" pitchFamily="34" charset="-122"/>
                <a:cs typeface="Calibri" pitchFamily="34" charset="-120"/>
              </a:rPr>
              <a:t>Strukturnya nyaris identik. Manfaat ekonominya besar dan terukur, biaya lingkungan dan sosialnya tersebar dan sulit dikuantifikasi. Narasi pembenarnya pun sama: nikel Indonesia dibutuhkan untuk transisi energi dunia.</a:t>
            </a:r>
            <a:endParaRPr lang="en-US" sz="1200" dirty="0"/>
          </a:p>
        </p:txBody>
      </p:sp>
      <p:sp>
        <p:nvSpPr>
          <p:cNvPr id="29" name="Text 27"/>
          <p:cNvSpPr txBox="1"/>
          <p:nvPr/>
        </p:nvSpPr>
        <p:spPr>
          <a:xfrm>
            <a:off x="914400" y="5705856"/>
            <a:ext cx="10326319" cy="274320"/>
          </a:xfrm>
          <a:prstGeom prst="rect">
            <a:avLst/>
          </a:prstGeom>
          <a:noFill/>
          <a:ln/>
        </p:spPr>
        <p:txBody>
          <a:bodyPr wrap="square" lIns="0" tIns="0" rIns="0" bIns="0" rtlCol="0" anchor="t"/>
          <a:lstStyle/>
          <a:p>
            <a:pPr indent="0" marL="0">
              <a:buNone/>
            </a:pPr>
            <a:r>
              <a:rPr lang="en-US" sz="1250" b="1" i="1" dirty="0">
                <a:solidFill>
                  <a:srgbClr val="C6F04A"/>
                </a:solidFill>
                <a:latin typeface="Calibri" pitchFamily="34" charset="0"/>
                <a:ea typeface="Calibri" pitchFamily="34" charset="-122"/>
                <a:cs typeface="Calibri" pitchFamily="34" charset="-120"/>
              </a:rPr>
              <a:t>Apakah narasi nikel yang etis lolos dari uji yang baru saja kita jalankan?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0EB"/>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0FA98E"/>
          </a:solidFill>
          <a:ln/>
        </p:spPr>
      </p:sp>
      <p:sp>
        <p:nvSpPr>
          <p:cNvPr id="3" name="Shape 1"/>
          <p:cNvSpPr/>
          <p:nvPr/>
        </p:nvSpPr>
        <p:spPr>
          <a:xfrm>
            <a:off x="621792" y="457200"/>
            <a:ext cx="1234440" cy="283464"/>
          </a:xfrm>
          <a:prstGeom prst="roundRect">
            <a:avLst>
              <a:gd name="adj" fmla="val 50000"/>
            </a:avLst>
          </a:prstGeom>
          <a:solidFill>
            <a:srgbClr val="FF5A2D"/>
          </a:solidFill>
          <a:ln w="12700">
            <a:solidFill>
              <a:srgbClr val="FF5A2D"/>
            </a:solidFill>
            <a:prstDash val="solid"/>
          </a:ln>
        </p:spPr>
      </p:sp>
      <p:sp>
        <p:nvSpPr>
          <p:cNvPr id="4" name="Text 2"/>
          <p:cNvSpPr txBox="1"/>
          <p:nvPr/>
        </p:nvSpPr>
        <p:spPr>
          <a:xfrm>
            <a:off x="621792" y="457200"/>
            <a:ext cx="1234440" cy="283464"/>
          </a:xfrm>
          <a:prstGeom prst="rect">
            <a:avLst/>
          </a:prstGeom>
          <a:noFill/>
          <a:ln/>
        </p:spPr>
        <p:txBody>
          <a:bodyPr wrap="square" lIns="0" tIns="0" rIns="0" bIns="0" rtlCol="0" anchor="ctr"/>
          <a:lstStyle/>
          <a:p>
            <a:pPr algn="ctr" indent="0" marL="0">
              <a:buNone/>
            </a:pPr>
            <a:r>
              <a:rPr lang="en-US" sz="950" b="1" spc="110" kern="0" dirty="0">
                <a:solidFill>
                  <a:srgbClr val="FFFFFF"/>
                </a:solidFill>
                <a:latin typeface="Calibri" pitchFamily="34" charset="0"/>
                <a:ea typeface="Calibri" pitchFamily="34" charset="-122"/>
                <a:cs typeface="Calibri" pitchFamily="34" charset="-120"/>
              </a:rPr>
              <a:t>KESIMPULAN</a:t>
            </a:r>
            <a:endParaRPr lang="en-US" sz="950" dirty="0"/>
          </a:p>
        </p:txBody>
      </p:sp>
      <p:sp>
        <p:nvSpPr>
          <p:cNvPr id="5" name="Shape 3"/>
          <p:cNvSpPr/>
          <p:nvPr/>
        </p:nvSpPr>
        <p:spPr>
          <a:xfrm>
            <a:off x="1975104" y="457200"/>
            <a:ext cx="1324966" cy="283464"/>
          </a:xfrm>
          <a:prstGeom prst="roundRect">
            <a:avLst>
              <a:gd name="adj" fmla="val 50000"/>
            </a:avLst>
          </a:prstGeom>
          <a:solidFill>
            <a:srgbClr val="F2F0EB"/>
          </a:solidFill>
          <a:ln w="12700">
            <a:solidFill>
              <a:srgbClr val="DDD8CE"/>
            </a:solidFill>
            <a:prstDash val="solid"/>
          </a:ln>
        </p:spPr>
      </p:sp>
      <p:sp>
        <p:nvSpPr>
          <p:cNvPr id="6" name="Text 4"/>
          <p:cNvSpPr txBox="1"/>
          <p:nvPr/>
        </p:nvSpPr>
        <p:spPr>
          <a:xfrm>
            <a:off x="1975104" y="457200"/>
            <a:ext cx="1324966" cy="283464"/>
          </a:xfrm>
          <a:prstGeom prst="rect">
            <a:avLst/>
          </a:prstGeom>
          <a:noFill/>
          <a:ln/>
        </p:spPr>
        <p:txBody>
          <a:bodyPr wrap="square" lIns="0" tIns="0" rIns="0" bIns="0" rtlCol="0" anchor="ctr"/>
          <a:lstStyle/>
          <a:p>
            <a:pPr algn="ctr" indent="0" marL="0">
              <a:buNone/>
            </a:pPr>
            <a:r>
              <a:rPr lang="en-US" sz="950" b="1" spc="110" kern="0" dirty="0">
                <a:solidFill>
                  <a:srgbClr val="0E1626"/>
                </a:solidFill>
                <a:latin typeface="Calibri" pitchFamily="34" charset="0"/>
                <a:ea typeface="Calibri" pitchFamily="34" charset="-122"/>
                <a:cs typeface="Calibri" pitchFamily="34" charset="-120"/>
              </a:rPr>
              <a:t>TIGA TEMUAN</a:t>
            </a:r>
            <a:endParaRPr lang="en-US" sz="950" dirty="0"/>
          </a:p>
        </p:txBody>
      </p:sp>
      <p:sp>
        <p:nvSpPr>
          <p:cNvPr id="7" name="Text 5"/>
          <p:cNvSpPr txBox="1"/>
          <p:nvPr/>
        </p:nvSpPr>
        <p:spPr>
          <a:xfrm>
            <a:off x="11021263" y="6345936"/>
            <a:ext cx="548640" cy="256032"/>
          </a:xfrm>
          <a:prstGeom prst="rect">
            <a:avLst/>
          </a:prstGeom>
          <a:noFill/>
          <a:ln/>
        </p:spPr>
        <p:txBody>
          <a:bodyPr wrap="square" lIns="0" tIns="0" rIns="0" bIns="0" rtlCol="0" anchor="t"/>
          <a:lstStyle/>
          <a:p>
            <a:pPr algn="r" indent="0" marL="0">
              <a:buNone/>
            </a:pPr>
            <a:r>
              <a:rPr lang="en-US" sz="950" dirty="0">
                <a:solidFill>
                  <a:srgbClr val="6B7A90"/>
                </a:solidFill>
                <a:latin typeface="Courier New" pitchFamily="34" charset="0"/>
                <a:ea typeface="Courier New" pitchFamily="34" charset="-122"/>
                <a:cs typeface="Courier New" pitchFamily="34" charset="-120"/>
              </a:rPr>
              <a:t>13</a:t>
            </a:r>
            <a:endParaRPr lang="en-US" sz="950" dirty="0"/>
          </a:p>
        </p:txBody>
      </p:sp>
      <p:sp>
        <p:nvSpPr>
          <p:cNvPr id="8" name="Text 6"/>
          <p:cNvSpPr txBox="1"/>
          <p:nvPr/>
        </p:nvSpPr>
        <p:spPr>
          <a:xfrm>
            <a:off x="621792" y="877824"/>
            <a:ext cx="10948111" cy="1024128"/>
          </a:xfrm>
          <a:prstGeom prst="rect">
            <a:avLst/>
          </a:prstGeom>
          <a:noFill/>
          <a:ln/>
        </p:spPr>
        <p:txBody>
          <a:bodyPr wrap="square" lIns="0" tIns="0" rIns="0" bIns="0" rtlCol="0" anchor="t"/>
          <a:lstStyle/>
          <a:p>
            <a:pPr indent="0" marL="0">
              <a:lnSpc>
                <a:spcPts val="3944"/>
              </a:lnSpc>
              <a:buNone/>
            </a:pPr>
            <a:r>
              <a:rPr lang="en-US" sz="3400" b="1" dirty="0">
                <a:solidFill>
                  <a:srgbClr val="0E1626"/>
                </a:solidFill>
                <a:latin typeface="Calibri" pitchFamily="34" charset="0"/>
                <a:ea typeface="Calibri" pitchFamily="34" charset="-122"/>
                <a:cs typeface="Calibri" pitchFamily="34" charset="-120"/>
              </a:rPr>
              <a:t>Tiga Temuan dari Analisis Ini</a:t>
            </a:r>
            <a:pPr indent="0" marL="0">
              <a:lnSpc>
                <a:spcPts val="3944"/>
              </a:lnSpc>
              <a:buNone/>
            </a:pPr>
            <a:r>
              <a:rPr lang="en-US" sz="3400" b="1" dirty="0">
                <a:solidFill>
                  <a:srgbClr val="FF5A2D"/>
                </a:solidFill>
                <a:latin typeface="Calibri" pitchFamily="34" charset="0"/>
                <a:ea typeface="Calibri" pitchFamily="34" charset="-122"/>
                <a:cs typeface="Calibri" pitchFamily="34" charset="-120"/>
              </a:rPr>
              <a:t>.</a:t>
            </a:r>
            <a:endParaRPr lang="en-US" sz="3400" dirty="0"/>
          </a:p>
        </p:txBody>
      </p:sp>
      <p:sp>
        <p:nvSpPr>
          <p:cNvPr id="9" name="Shape 7"/>
          <p:cNvSpPr/>
          <p:nvPr/>
        </p:nvSpPr>
        <p:spPr>
          <a:xfrm>
            <a:off x="621792" y="1847088"/>
            <a:ext cx="10948111" cy="1060704"/>
          </a:xfrm>
          <a:prstGeom prst="roundRect">
            <a:avLst>
              <a:gd name="adj" fmla="val 13793"/>
            </a:avLst>
          </a:prstGeom>
          <a:solidFill>
            <a:srgbClr val="FFFFFF"/>
          </a:solidFill>
          <a:ln/>
        </p:spPr>
      </p:sp>
      <p:sp>
        <p:nvSpPr>
          <p:cNvPr id="10" name="Shape 8"/>
          <p:cNvSpPr/>
          <p:nvPr/>
        </p:nvSpPr>
        <p:spPr>
          <a:xfrm>
            <a:off x="621792" y="1847088"/>
            <a:ext cx="566928" cy="1060704"/>
          </a:xfrm>
          <a:prstGeom prst="rect">
            <a:avLst/>
          </a:prstGeom>
          <a:solidFill>
            <a:srgbClr val="FF5A2D"/>
          </a:solidFill>
          <a:ln/>
        </p:spPr>
      </p:sp>
      <p:sp>
        <p:nvSpPr>
          <p:cNvPr id="11" name="Text 9"/>
          <p:cNvSpPr txBox="1"/>
          <p:nvPr/>
        </p:nvSpPr>
        <p:spPr>
          <a:xfrm>
            <a:off x="621792" y="1847088"/>
            <a:ext cx="566928" cy="106070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2" name="Text 10"/>
          <p:cNvSpPr txBox="1"/>
          <p:nvPr/>
        </p:nvSpPr>
        <p:spPr>
          <a:xfrm>
            <a:off x="1389888" y="1929384"/>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Konvergensi, Bukan Kesepakatan</a:t>
            </a:r>
            <a:endParaRPr lang="en-US" sz="1250" dirty="0"/>
          </a:p>
        </p:txBody>
      </p:sp>
      <p:sp>
        <p:nvSpPr>
          <p:cNvPr id="13" name="Text 11"/>
          <p:cNvSpPr txBox="1"/>
          <p:nvPr/>
        </p:nvSpPr>
        <p:spPr>
          <a:xfrm>
            <a:off x="1389888" y="2167128"/>
            <a:ext cx="9942271" cy="65836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Sembilan teori berangkat dari premis yang berbeda, namun enam di antaranya tiba pada arah yang sama. Konvergensi dari pintu masuk yang berbeda itulah bukti terkuat yang bisa dihasilkan pluralism.</a:t>
            </a:r>
            <a:endParaRPr lang="en-US" sz="1100" dirty="0"/>
          </a:p>
        </p:txBody>
      </p:sp>
      <p:sp>
        <p:nvSpPr>
          <p:cNvPr id="14" name="Shape 12"/>
          <p:cNvSpPr/>
          <p:nvPr/>
        </p:nvSpPr>
        <p:spPr>
          <a:xfrm>
            <a:off x="621792" y="3017520"/>
            <a:ext cx="10948111" cy="1060704"/>
          </a:xfrm>
          <a:prstGeom prst="roundRect">
            <a:avLst>
              <a:gd name="adj" fmla="val 13793"/>
            </a:avLst>
          </a:prstGeom>
          <a:solidFill>
            <a:srgbClr val="FFFFFF"/>
          </a:solidFill>
          <a:ln/>
        </p:spPr>
      </p:sp>
      <p:sp>
        <p:nvSpPr>
          <p:cNvPr id="15" name="Shape 13"/>
          <p:cNvSpPr/>
          <p:nvPr/>
        </p:nvSpPr>
        <p:spPr>
          <a:xfrm>
            <a:off x="621792" y="3017520"/>
            <a:ext cx="566928" cy="1060704"/>
          </a:xfrm>
          <a:prstGeom prst="rect">
            <a:avLst/>
          </a:prstGeom>
          <a:solidFill>
            <a:srgbClr val="B8A6F5"/>
          </a:solidFill>
          <a:ln/>
        </p:spPr>
      </p:sp>
      <p:sp>
        <p:nvSpPr>
          <p:cNvPr id="16" name="Text 14"/>
          <p:cNvSpPr txBox="1"/>
          <p:nvPr/>
        </p:nvSpPr>
        <p:spPr>
          <a:xfrm>
            <a:off x="621792" y="3017520"/>
            <a:ext cx="566928" cy="1060704"/>
          </a:xfrm>
          <a:prstGeom prst="rect">
            <a:avLst/>
          </a:prstGeom>
          <a:noFill/>
          <a:ln/>
        </p:spPr>
        <p:txBody>
          <a:bodyPr wrap="square" lIns="0" tIns="0" rIns="0" bIns="0" rtlCol="0" anchor="ctr"/>
          <a:lstStyle/>
          <a:p>
            <a:pPr algn="ctr" indent="0" marL="0">
              <a:buNone/>
            </a:pPr>
            <a:r>
              <a:rPr lang="en-US" sz="1700" b="1" dirty="0">
                <a:solidFill>
                  <a:srgbClr val="0E1626"/>
                </a:solidFill>
                <a:latin typeface="Calibri" pitchFamily="34" charset="0"/>
                <a:ea typeface="Calibri" pitchFamily="34" charset="-122"/>
                <a:cs typeface="Calibri" pitchFamily="34" charset="-120"/>
              </a:rPr>
              <a:t>2</a:t>
            </a:r>
            <a:endParaRPr lang="en-US" sz="1700" dirty="0"/>
          </a:p>
        </p:txBody>
      </p:sp>
      <p:sp>
        <p:nvSpPr>
          <p:cNvPr id="17" name="Text 15"/>
          <p:cNvSpPr txBox="1"/>
          <p:nvPr/>
        </p:nvSpPr>
        <p:spPr>
          <a:xfrm>
            <a:off x="1389888" y="3099816"/>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Yang Gugur Adalah Klaimnya</a:t>
            </a:r>
            <a:endParaRPr lang="en-US" sz="1250" dirty="0"/>
          </a:p>
        </p:txBody>
      </p:sp>
      <p:sp>
        <p:nvSpPr>
          <p:cNvPr id="18" name="Text 16"/>
          <p:cNvSpPr txBox="1"/>
          <p:nvPr/>
        </p:nvSpPr>
        <p:spPr>
          <a:xfrm>
            <a:off x="1389888" y="3337560"/>
            <a:ext cx="9942271" cy="65836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Yang runtuh bukan industrinya, melainkan klaim bahwa industri ini etis. Pertanyaan tentang transisi, kompensasi, dan reklamasi masih terbuka dan tetap perlu dijawab.</a:t>
            </a:r>
            <a:endParaRPr lang="en-US" sz="1100" dirty="0"/>
          </a:p>
        </p:txBody>
      </p:sp>
      <p:sp>
        <p:nvSpPr>
          <p:cNvPr id="19" name="Shape 17"/>
          <p:cNvSpPr/>
          <p:nvPr/>
        </p:nvSpPr>
        <p:spPr>
          <a:xfrm>
            <a:off x="621792" y="4187952"/>
            <a:ext cx="10948111" cy="1060704"/>
          </a:xfrm>
          <a:prstGeom prst="roundRect">
            <a:avLst>
              <a:gd name="adj" fmla="val 13793"/>
            </a:avLst>
          </a:prstGeom>
          <a:solidFill>
            <a:srgbClr val="FFFFFF"/>
          </a:solidFill>
          <a:ln/>
        </p:spPr>
      </p:sp>
      <p:sp>
        <p:nvSpPr>
          <p:cNvPr id="20" name="Shape 18"/>
          <p:cNvSpPr/>
          <p:nvPr/>
        </p:nvSpPr>
        <p:spPr>
          <a:xfrm>
            <a:off x="621792" y="4187952"/>
            <a:ext cx="566928" cy="1060704"/>
          </a:xfrm>
          <a:prstGeom prst="rect">
            <a:avLst/>
          </a:prstGeom>
          <a:solidFill>
            <a:srgbClr val="0E1626"/>
          </a:solidFill>
          <a:ln/>
        </p:spPr>
      </p:sp>
      <p:sp>
        <p:nvSpPr>
          <p:cNvPr id="21" name="Text 19"/>
          <p:cNvSpPr txBox="1"/>
          <p:nvPr/>
        </p:nvSpPr>
        <p:spPr>
          <a:xfrm>
            <a:off x="621792" y="4187952"/>
            <a:ext cx="566928" cy="106070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2" name="Text 20"/>
          <p:cNvSpPr txBox="1"/>
          <p:nvPr/>
        </p:nvSpPr>
        <p:spPr>
          <a:xfrm>
            <a:off x="1389888" y="4270248"/>
            <a:ext cx="9942271" cy="256032"/>
          </a:xfrm>
          <a:prstGeom prst="rect">
            <a:avLst/>
          </a:prstGeom>
          <a:noFill/>
          <a:ln/>
        </p:spPr>
        <p:txBody>
          <a:bodyPr wrap="square" lIns="0" tIns="0" rIns="0" bIns="0" rtlCol="0" anchor="t"/>
          <a:lstStyle/>
          <a:p>
            <a:pPr indent="0" marL="0">
              <a:buNone/>
            </a:pPr>
            <a:r>
              <a:rPr lang="en-US" sz="1250" b="1" dirty="0">
                <a:solidFill>
                  <a:srgbClr val="0E1626"/>
                </a:solidFill>
                <a:latin typeface="Calibri" pitchFamily="34" charset="0"/>
                <a:ea typeface="Calibri" pitchFamily="34" charset="-122"/>
                <a:cs typeface="Calibri" pitchFamily="34" charset="-120"/>
              </a:rPr>
              <a:t>Prisma Bekerja pada Kasus Nyata</a:t>
            </a:r>
            <a:endParaRPr lang="en-US" sz="1250" dirty="0"/>
          </a:p>
        </p:txBody>
      </p:sp>
      <p:sp>
        <p:nvSpPr>
          <p:cNvPr id="23" name="Text 21"/>
          <p:cNvSpPr txBox="1"/>
          <p:nvPr/>
        </p:nvSpPr>
        <p:spPr>
          <a:xfrm>
            <a:off x="1389888" y="4507992"/>
            <a:ext cx="9942271" cy="658368"/>
          </a:xfrm>
          <a:prstGeom prst="rect">
            <a:avLst/>
          </a:prstGeom>
          <a:noFill/>
          <a:ln/>
        </p:spPr>
        <p:txBody>
          <a:bodyPr wrap="square" lIns="0" tIns="0" rIns="0" bIns="0" rtlCol="0" anchor="t"/>
          <a:lstStyle/>
          <a:p>
            <a:pPr indent="0" marL="0">
              <a:lnSpc>
                <a:spcPts val="1500"/>
              </a:lnSpc>
              <a:buNone/>
            </a:pPr>
            <a:r>
              <a:rPr lang="en-US" sz="1100" dirty="0">
                <a:solidFill>
                  <a:srgbClr val="6B7A90"/>
                </a:solidFill>
                <a:latin typeface="Calibri" pitchFamily="34" charset="0"/>
                <a:ea typeface="Calibri" pitchFamily="34" charset="-122"/>
                <a:cs typeface="Calibri" pitchFamily="34" charset="-120"/>
              </a:rPr>
              <a:t>Satu lensa akan memberi jawaban yang rapi dan menyesatkan. Prisma memberi spektrum yang tidak nyaman, tetapi dapat dipertanggungjawabkan kepada seluruh pihak yang terdampak.</a:t>
            </a:r>
            <a:endParaRPr lang="en-US" sz="1100" dirty="0"/>
          </a:p>
        </p:txBody>
      </p:sp>
      <p:sp>
        <p:nvSpPr>
          <p:cNvPr id="24" name="Shape 22"/>
          <p:cNvSpPr/>
          <p:nvPr/>
        </p:nvSpPr>
        <p:spPr>
          <a:xfrm>
            <a:off x="621792" y="5394960"/>
            <a:ext cx="10948111" cy="841248"/>
          </a:xfrm>
          <a:prstGeom prst="roundRect">
            <a:avLst>
              <a:gd name="adj" fmla="val 17391"/>
            </a:avLst>
          </a:prstGeom>
          <a:solidFill>
            <a:srgbClr val="FFFFFF"/>
          </a:solidFill>
          <a:ln/>
        </p:spPr>
      </p:sp>
      <p:sp>
        <p:nvSpPr>
          <p:cNvPr id="25" name="Shape 23"/>
          <p:cNvSpPr/>
          <p:nvPr/>
        </p:nvSpPr>
        <p:spPr>
          <a:xfrm>
            <a:off x="621792" y="5449824"/>
            <a:ext cx="50292" cy="731520"/>
          </a:xfrm>
          <a:prstGeom prst="rect">
            <a:avLst/>
          </a:prstGeom>
          <a:solidFill>
            <a:srgbClr val="FF5A2D"/>
          </a:solidFill>
          <a:ln/>
        </p:spPr>
      </p:sp>
      <p:sp>
        <p:nvSpPr>
          <p:cNvPr id="26" name="Text 24"/>
          <p:cNvSpPr txBox="1"/>
          <p:nvPr/>
        </p:nvSpPr>
        <p:spPr>
          <a:xfrm>
            <a:off x="896112" y="5559552"/>
            <a:ext cx="10399471" cy="274320"/>
          </a:xfrm>
          <a:prstGeom prst="rect">
            <a:avLst/>
          </a:prstGeom>
          <a:noFill/>
          <a:ln/>
        </p:spPr>
        <p:txBody>
          <a:bodyPr wrap="square" lIns="0" tIns="0" rIns="0" bIns="0" rtlCol="0" anchor="t"/>
          <a:lstStyle/>
          <a:p>
            <a:pPr indent="0" marL="0">
              <a:lnSpc>
                <a:spcPts val="1800"/>
              </a:lnSpc>
              <a:buNone/>
            </a:pPr>
            <a:r>
              <a:rPr lang="en-US" sz="1250" dirty="0">
                <a:solidFill>
                  <a:srgbClr val="0E1626"/>
                </a:solidFill>
                <a:latin typeface="Calibri" pitchFamily="34" charset="0"/>
                <a:ea typeface="Calibri" pitchFamily="34" charset="-122"/>
                <a:cs typeface="Calibri" pitchFamily="34" charset="-120"/>
              </a:rPr>
              <a:t>Keputusan yang baik bukan yang menemukan teori paling benar, melainkan yang menyadari seluruh spektrum pertimbangan.</a:t>
            </a:r>
            <a:endParaRPr lang="en-US" sz="1250" dirty="0"/>
          </a:p>
        </p:txBody>
      </p:sp>
      <p:sp>
        <p:nvSpPr>
          <p:cNvPr id="27" name="Text 25"/>
          <p:cNvSpPr txBox="1"/>
          <p:nvPr/>
        </p:nvSpPr>
        <p:spPr>
          <a:xfrm>
            <a:off x="896112" y="5852160"/>
            <a:ext cx="10399471" cy="237744"/>
          </a:xfrm>
          <a:prstGeom prst="rect">
            <a:avLst/>
          </a:prstGeom>
          <a:noFill/>
          <a:ln/>
        </p:spPr>
        <p:txBody>
          <a:bodyPr wrap="square" lIns="0" tIns="0" rIns="0" bIns="0" rtlCol="0" anchor="t"/>
          <a:lstStyle/>
          <a:p>
            <a:pPr indent="0" marL="0">
              <a:buNone/>
            </a:pPr>
            <a:r>
              <a:rPr lang="en-US" sz="950" b="1" spc="100" kern="0" dirty="0">
                <a:solidFill>
                  <a:srgbClr val="6B7A90"/>
                </a:solidFill>
                <a:latin typeface="Calibri" pitchFamily="34" charset="0"/>
                <a:ea typeface="Calibri" pitchFamily="34" charset="-122"/>
                <a:cs typeface="Calibri" pitchFamily="34" charset="-120"/>
              </a:rPr>
              <a:t>PESAN UTAMA FIGURE 3.2 · CRANE ET AL. (2019)</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11624767" y="0"/>
            <a:ext cx="566928" cy="530352"/>
          </a:xfrm>
          <a:prstGeom prst="rect">
            <a:avLst/>
          </a:prstGeom>
          <a:solidFill>
            <a:srgbClr val="FF5A2D"/>
          </a:solidFill>
          <a:ln/>
        </p:spPr>
      </p:sp>
      <p:sp>
        <p:nvSpPr>
          <p:cNvPr id="3" name="Shape 1"/>
          <p:cNvSpPr/>
          <p:nvPr/>
        </p:nvSpPr>
        <p:spPr>
          <a:xfrm>
            <a:off x="0" y="6327648"/>
            <a:ext cx="530352" cy="530352"/>
          </a:xfrm>
          <a:prstGeom prst="rect">
            <a:avLst/>
          </a:prstGeom>
          <a:solidFill>
            <a:srgbClr val="C6F04A"/>
          </a:solidFill>
          <a:ln/>
        </p:spPr>
      </p:sp>
      <p:sp>
        <p:nvSpPr>
          <p:cNvPr id="4" name="Shape 2"/>
          <p:cNvSpPr/>
          <p:nvPr/>
        </p:nvSpPr>
        <p:spPr>
          <a:xfrm>
            <a:off x="7014362" y="2168042"/>
            <a:ext cx="53035" cy="53035"/>
          </a:xfrm>
          <a:prstGeom prst="ellipse">
            <a:avLst/>
          </a:prstGeom>
          <a:solidFill>
            <a:srgbClr val="283044"/>
          </a:solidFill>
          <a:ln/>
        </p:spPr>
      </p:sp>
      <p:sp>
        <p:nvSpPr>
          <p:cNvPr id="5" name="Shape 3"/>
          <p:cNvSpPr/>
          <p:nvPr/>
        </p:nvSpPr>
        <p:spPr>
          <a:xfrm>
            <a:off x="7117729" y="2110767"/>
            <a:ext cx="53035" cy="53035"/>
          </a:xfrm>
          <a:prstGeom prst="ellipse">
            <a:avLst/>
          </a:prstGeom>
          <a:solidFill>
            <a:srgbClr val="283044"/>
          </a:solidFill>
          <a:ln/>
        </p:spPr>
      </p:sp>
      <p:sp>
        <p:nvSpPr>
          <p:cNvPr id="6" name="Shape 4"/>
          <p:cNvSpPr/>
          <p:nvPr/>
        </p:nvSpPr>
        <p:spPr>
          <a:xfrm>
            <a:off x="7221096" y="2054559"/>
            <a:ext cx="53035" cy="53035"/>
          </a:xfrm>
          <a:prstGeom prst="ellipse">
            <a:avLst/>
          </a:prstGeom>
          <a:solidFill>
            <a:srgbClr val="283044"/>
          </a:solidFill>
          <a:ln/>
        </p:spPr>
      </p:sp>
      <p:sp>
        <p:nvSpPr>
          <p:cNvPr id="7" name="Shape 5"/>
          <p:cNvSpPr/>
          <p:nvPr/>
        </p:nvSpPr>
        <p:spPr>
          <a:xfrm>
            <a:off x="7324463" y="2000465"/>
            <a:ext cx="53035" cy="53035"/>
          </a:xfrm>
          <a:prstGeom prst="ellipse">
            <a:avLst/>
          </a:prstGeom>
          <a:solidFill>
            <a:srgbClr val="283044"/>
          </a:solidFill>
          <a:ln/>
        </p:spPr>
      </p:sp>
      <p:sp>
        <p:nvSpPr>
          <p:cNvPr id="8" name="Shape 6"/>
          <p:cNvSpPr/>
          <p:nvPr/>
        </p:nvSpPr>
        <p:spPr>
          <a:xfrm>
            <a:off x="7427830" y="1949493"/>
            <a:ext cx="53035" cy="53035"/>
          </a:xfrm>
          <a:prstGeom prst="ellipse">
            <a:avLst/>
          </a:prstGeom>
          <a:solidFill>
            <a:srgbClr val="283044"/>
          </a:solidFill>
          <a:ln/>
        </p:spPr>
      </p:sp>
      <p:sp>
        <p:nvSpPr>
          <p:cNvPr id="9" name="Shape 7"/>
          <p:cNvSpPr/>
          <p:nvPr/>
        </p:nvSpPr>
        <p:spPr>
          <a:xfrm>
            <a:off x="7531197" y="1902592"/>
            <a:ext cx="53035" cy="53035"/>
          </a:xfrm>
          <a:prstGeom prst="ellipse">
            <a:avLst/>
          </a:prstGeom>
          <a:solidFill>
            <a:srgbClr val="283044"/>
          </a:solidFill>
          <a:ln/>
        </p:spPr>
      </p:sp>
      <p:sp>
        <p:nvSpPr>
          <p:cNvPr id="10" name="Shape 8"/>
          <p:cNvSpPr/>
          <p:nvPr/>
        </p:nvSpPr>
        <p:spPr>
          <a:xfrm>
            <a:off x="7634564" y="1860635"/>
            <a:ext cx="53035" cy="53035"/>
          </a:xfrm>
          <a:prstGeom prst="ellipse">
            <a:avLst/>
          </a:prstGeom>
          <a:solidFill>
            <a:srgbClr val="283044"/>
          </a:solidFill>
          <a:ln/>
        </p:spPr>
      </p:sp>
      <p:sp>
        <p:nvSpPr>
          <p:cNvPr id="11" name="Shape 9"/>
          <p:cNvSpPr/>
          <p:nvPr/>
        </p:nvSpPr>
        <p:spPr>
          <a:xfrm>
            <a:off x="7737931" y="1824405"/>
            <a:ext cx="53035" cy="53035"/>
          </a:xfrm>
          <a:prstGeom prst="ellipse">
            <a:avLst/>
          </a:prstGeom>
          <a:solidFill>
            <a:srgbClr val="283044"/>
          </a:solidFill>
          <a:ln/>
        </p:spPr>
      </p:sp>
      <p:sp>
        <p:nvSpPr>
          <p:cNvPr id="12" name="Shape 10"/>
          <p:cNvSpPr/>
          <p:nvPr/>
        </p:nvSpPr>
        <p:spPr>
          <a:xfrm>
            <a:off x="7841298" y="1794577"/>
            <a:ext cx="53035" cy="53035"/>
          </a:xfrm>
          <a:prstGeom prst="ellipse">
            <a:avLst/>
          </a:prstGeom>
          <a:solidFill>
            <a:srgbClr val="283044"/>
          </a:solidFill>
          <a:ln/>
        </p:spPr>
      </p:sp>
      <p:sp>
        <p:nvSpPr>
          <p:cNvPr id="13" name="Shape 11"/>
          <p:cNvSpPr/>
          <p:nvPr/>
        </p:nvSpPr>
        <p:spPr>
          <a:xfrm>
            <a:off x="7944665" y="1771705"/>
            <a:ext cx="53035" cy="53035"/>
          </a:xfrm>
          <a:prstGeom prst="ellipse">
            <a:avLst/>
          </a:prstGeom>
          <a:solidFill>
            <a:srgbClr val="283044"/>
          </a:solidFill>
          <a:ln/>
        </p:spPr>
      </p:sp>
      <p:sp>
        <p:nvSpPr>
          <p:cNvPr id="14" name="Shape 12"/>
          <p:cNvSpPr/>
          <p:nvPr/>
        </p:nvSpPr>
        <p:spPr>
          <a:xfrm>
            <a:off x="8048032" y="1756216"/>
            <a:ext cx="53035" cy="53035"/>
          </a:xfrm>
          <a:prstGeom prst="ellipse">
            <a:avLst/>
          </a:prstGeom>
          <a:solidFill>
            <a:srgbClr val="283044"/>
          </a:solidFill>
          <a:ln/>
        </p:spPr>
      </p:sp>
      <p:sp>
        <p:nvSpPr>
          <p:cNvPr id="15" name="Shape 13"/>
          <p:cNvSpPr/>
          <p:nvPr/>
        </p:nvSpPr>
        <p:spPr>
          <a:xfrm>
            <a:off x="8151399" y="1748399"/>
            <a:ext cx="53035" cy="53035"/>
          </a:xfrm>
          <a:prstGeom prst="ellipse">
            <a:avLst/>
          </a:prstGeom>
          <a:solidFill>
            <a:srgbClr val="283044"/>
          </a:solidFill>
          <a:ln/>
        </p:spPr>
      </p:sp>
      <p:sp>
        <p:nvSpPr>
          <p:cNvPr id="16" name="Shape 14"/>
          <p:cNvSpPr/>
          <p:nvPr/>
        </p:nvSpPr>
        <p:spPr>
          <a:xfrm>
            <a:off x="8254766" y="1748399"/>
            <a:ext cx="53035" cy="53035"/>
          </a:xfrm>
          <a:prstGeom prst="ellipse">
            <a:avLst/>
          </a:prstGeom>
          <a:solidFill>
            <a:srgbClr val="283044"/>
          </a:solidFill>
          <a:ln/>
        </p:spPr>
      </p:sp>
      <p:sp>
        <p:nvSpPr>
          <p:cNvPr id="17" name="Shape 15"/>
          <p:cNvSpPr/>
          <p:nvPr/>
        </p:nvSpPr>
        <p:spPr>
          <a:xfrm>
            <a:off x="8358133" y="1756216"/>
            <a:ext cx="53035" cy="53035"/>
          </a:xfrm>
          <a:prstGeom prst="ellipse">
            <a:avLst/>
          </a:prstGeom>
          <a:solidFill>
            <a:srgbClr val="283044"/>
          </a:solidFill>
          <a:ln/>
        </p:spPr>
      </p:sp>
      <p:sp>
        <p:nvSpPr>
          <p:cNvPr id="18" name="Shape 16"/>
          <p:cNvSpPr/>
          <p:nvPr/>
        </p:nvSpPr>
        <p:spPr>
          <a:xfrm>
            <a:off x="8461500" y="1771705"/>
            <a:ext cx="53035" cy="53035"/>
          </a:xfrm>
          <a:prstGeom prst="ellipse">
            <a:avLst/>
          </a:prstGeom>
          <a:solidFill>
            <a:srgbClr val="283044"/>
          </a:solidFill>
          <a:ln/>
        </p:spPr>
      </p:sp>
      <p:sp>
        <p:nvSpPr>
          <p:cNvPr id="19" name="Shape 17"/>
          <p:cNvSpPr/>
          <p:nvPr/>
        </p:nvSpPr>
        <p:spPr>
          <a:xfrm>
            <a:off x="8564867" y="1794577"/>
            <a:ext cx="53035" cy="53035"/>
          </a:xfrm>
          <a:prstGeom prst="ellipse">
            <a:avLst/>
          </a:prstGeom>
          <a:solidFill>
            <a:srgbClr val="283044"/>
          </a:solidFill>
          <a:ln/>
        </p:spPr>
      </p:sp>
      <p:sp>
        <p:nvSpPr>
          <p:cNvPr id="20" name="Shape 18"/>
          <p:cNvSpPr/>
          <p:nvPr/>
        </p:nvSpPr>
        <p:spPr>
          <a:xfrm>
            <a:off x="8668234" y="1824405"/>
            <a:ext cx="53035" cy="53035"/>
          </a:xfrm>
          <a:prstGeom prst="ellipse">
            <a:avLst/>
          </a:prstGeom>
          <a:solidFill>
            <a:srgbClr val="283044"/>
          </a:solidFill>
          <a:ln/>
        </p:spPr>
      </p:sp>
      <p:sp>
        <p:nvSpPr>
          <p:cNvPr id="21" name="Shape 19"/>
          <p:cNvSpPr/>
          <p:nvPr/>
        </p:nvSpPr>
        <p:spPr>
          <a:xfrm>
            <a:off x="8771601" y="1860635"/>
            <a:ext cx="53035" cy="53035"/>
          </a:xfrm>
          <a:prstGeom prst="ellipse">
            <a:avLst/>
          </a:prstGeom>
          <a:solidFill>
            <a:srgbClr val="283044"/>
          </a:solidFill>
          <a:ln/>
        </p:spPr>
      </p:sp>
      <p:sp>
        <p:nvSpPr>
          <p:cNvPr id="22" name="Shape 20"/>
          <p:cNvSpPr/>
          <p:nvPr/>
        </p:nvSpPr>
        <p:spPr>
          <a:xfrm>
            <a:off x="8874968" y="1902592"/>
            <a:ext cx="53035" cy="53035"/>
          </a:xfrm>
          <a:prstGeom prst="ellipse">
            <a:avLst/>
          </a:prstGeom>
          <a:solidFill>
            <a:srgbClr val="283044"/>
          </a:solidFill>
          <a:ln/>
        </p:spPr>
      </p:sp>
      <p:sp>
        <p:nvSpPr>
          <p:cNvPr id="23" name="Shape 21"/>
          <p:cNvSpPr/>
          <p:nvPr/>
        </p:nvSpPr>
        <p:spPr>
          <a:xfrm>
            <a:off x="8978335" y="1949493"/>
            <a:ext cx="53035" cy="53035"/>
          </a:xfrm>
          <a:prstGeom prst="ellipse">
            <a:avLst/>
          </a:prstGeom>
          <a:solidFill>
            <a:srgbClr val="283044"/>
          </a:solidFill>
          <a:ln/>
        </p:spPr>
      </p:sp>
      <p:sp>
        <p:nvSpPr>
          <p:cNvPr id="24" name="Shape 22"/>
          <p:cNvSpPr/>
          <p:nvPr/>
        </p:nvSpPr>
        <p:spPr>
          <a:xfrm>
            <a:off x="9081702" y="2000465"/>
            <a:ext cx="53035" cy="53035"/>
          </a:xfrm>
          <a:prstGeom prst="ellipse">
            <a:avLst/>
          </a:prstGeom>
          <a:solidFill>
            <a:srgbClr val="283044"/>
          </a:solidFill>
          <a:ln/>
        </p:spPr>
      </p:sp>
      <p:sp>
        <p:nvSpPr>
          <p:cNvPr id="25" name="Shape 23"/>
          <p:cNvSpPr/>
          <p:nvPr/>
        </p:nvSpPr>
        <p:spPr>
          <a:xfrm>
            <a:off x="9185068" y="2054559"/>
            <a:ext cx="53035" cy="53035"/>
          </a:xfrm>
          <a:prstGeom prst="ellipse">
            <a:avLst/>
          </a:prstGeom>
          <a:solidFill>
            <a:srgbClr val="283044"/>
          </a:solidFill>
          <a:ln/>
        </p:spPr>
      </p:sp>
      <p:sp>
        <p:nvSpPr>
          <p:cNvPr id="26" name="Shape 24"/>
          <p:cNvSpPr/>
          <p:nvPr/>
        </p:nvSpPr>
        <p:spPr>
          <a:xfrm>
            <a:off x="9288435" y="2110767"/>
            <a:ext cx="53035" cy="53035"/>
          </a:xfrm>
          <a:prstGeom prst="ellipse">
            <a:avLst/>
          </a:prstGeom>
          <a:solidFill>
            <a:srgbClr val="283044"/>
          </a:solidFill>
          <a:ln/>
        </p:spPr>
      </p:sp>
      <p:sp>
        <p:nvSpPr>
          <p:cNvPr id="27" name="Shape 25"/>
          <p:cNvSpPr/>
          <p:nvPr/>
        </p:nvSpPr>
        <p:spPr>
          <a:xfrm>
            <a:off x="9391802" y="2168042"/>
            <a:ext cx="53035" cy="53035"/>
          </a:xfrm>
          <a:prstGeom prst="ellipse">
            <a:avLst/>
          </a:prstGeom>
          <a:solidFill>
            <a:srgbClr val="283044"/>
          </a:solidFill>
          <a:ln/>
        </p:spPr>
      </p:sp>
      <p:sp>
        <p:nvSpPr>
          <p:cNvPr id="28" name="Shape 26"/>
          <p:cNvSpPr/>
          <p:nvPr/>
        </p:nvSpPr>
        <p:spPr>
          <a:xfrm>
            <a:off x="9495169" y="2225317"/>
            <a:ext cx="53035" cy="53035"/>
          </a:xfrm>
          <a:prstGeom prst="ellipse">
            <a:avLst/>
          </a:prstGeom>
          <a:solidFill>
            <a:srgbClr val="283044"/>
          </a:solidFill>
          <a:ln/>
        </p:spPr>
      </p:sp>
      <p:sp>
        <p:nvSpPr>
          <p:cNvPr id="29" name="Shape 27"/>
          <p:cNvSpPr/>
          <p:nvPr/>
        </p:nvSpPr>
        <p:spPr>
          <a:xfrm>
            <a:off x="9598536" y="2281525"/>
            <a:ext cx="53035" cy="53035"/>
          </a:xfrm>
          <a:prstGeom prst="ellipse">
            <a:avLst/>
          </a:prstGeom>
          <a:solidFill>
            <a:srgbClr val="283044"/>
          </a:solidFill>
          <a:ln/>
        </p:spPr>
      </p:sp>
      <p:sp>
        <p:nvSpPr>
          <p:cNvPr id="30" name="Shape 28"/>
          <p:cNvSpPr/>
          <p:nvPr/>
        </p:nvSpPr>
        <p:spPr>
          <a:xfrm>
            <a:off x="9701903" y="2335619"/>
            <a:ext cx="53035" cy="53035"/>
          </a:xfrm>
          <a:prstGeom prst="ellipse">
            <a:avLst/>
          </a:prstGeom>
          <a:solidFill>
            <a:srgbClr val="283044"/>
          </a:solidFill>
          <a:ln/>
        </p:spPr>
      </p:sp>
      <p:sp>
        <p:nvSpPr>
          <p:cNvPr id="31" name="Shape 29"/>
          <p:cNvSpPr/>
          <p:nvPr/>
        </p:nvSpPr>
        <p:spPr>
          <a:xfrm>
            <a:off x="9805270" y="2386592"/>
            <a:ext cx="53035" cy="53035"/>
          </a:xfrm>
          <a:prstGeom prst="ellipse">
            <a:avLst/>
          </a:prstGeom>
          <a:solidFill>
            <a:srgbClr val="283044"/>
          </a:solidFill>
          <a:ln/>
        </p:spPr>
      </p:sp>
      <p:sp>
        <p:nvSpPr>
          <p:cNvPr id="32" name="Shape 30"/>
          <p:cNvSpPr/>
          <p:nvPr/>
        </p:nvSpPr>
        <p:spPr>
          <a:xfrm>
            <a:off x="9908637" y="2433493"/>
            <a:ext cx="53035" cy="53035"/>
          </a:xfrm>
          <a:prstGeom prst="ellipse">
            <a:avLst/>
          </a:prstGeom>
          <a:solidFill>
            <a:srgbClr val="283044"/>
          </a:solidFill>
          <a:ln/>
        </p:spPr>
      </p:sp>
      <p:sp>
        <p:nvSpPr>
          <p:cNvPr id="33" name="Shape 31"/>
          <p:cNvSpPr/>
          <p:nvPr/>
        </p:nvSpPr>
        <p:spPr>
          <a:xfrm>
            <a:off x="10012004" y="2475450"/>
            <a:ext cx="53035" cy="53035"/>
          </a:xfrm>
          <a:prstGeom prst="ellipse">
            <a:avLst/>
          </a:prstGeom>
          <a:solidFill>
            <a:srgbClr val="283044"/>
          </a:solidFill>
          <a:ln/>
        </p:spPr>
      </p:sp>
      <p:sp>
        <p:nvSpPr>
          <p:cNvPr id="34" name="Shape 32"/>
          <p:cNvSpPr/>
          <p:nvPr/>
        </p:nvSpPr>
        <p:spPr>
          <a:xfrm>
            <a:off x="10115371" y="2511680"/>
            <a:ext cx="53035" cy="53035"/>
          </a:xfrm>
          <a:prstGeom prst="ellipse">
            <a:avLst/>
          </a:prstGeom>
          <a:solidFill>
            <a:srgbClr val="283044"/>
          </a:solidFill>
          <a:ln/>
        </p:spPr>
      </p:sp>
      <p:sp>
        <p:nvSpPr>
          <p:cNvPr id="35" name="Shape 33"/>
          <p:cNvSpPr/>
          <p:nvPr/>
        </p:nvSpPr>
        <p:spPr>
          <a:xfrm>
            <a:off x="10218738" y="2541508"/>
            <a:ext cx="53035" cy="53035"/>
          </a:xfrm>
          <a:prstGeom prst="ellipse">
            <a:avLst/>
          </a:prstGeom>
          <a:solidFill>
            <a:srgbClr val="283044"/>
          </a:solidFill>
          <a:ln/>
        </p:spPr>
      </p:sp>
      <p:sp>
        <p:nvSpPr>
          <p:cNvPr id="36" name="Shape 34"/>
          <p:cNvSpPr/>
          <p:nvPr/>
        </p:nvSpPr>
        <p:spPr>
          <a:xfrm>
            <a:off x="10322105" y="2564380"/>
            <a:ext cx="53035" cy="53035"/>
          </a:xfrm>
          <a:prstGeom prst="ellipse">
            <a:avLst/>
          </a:prstGeom>
          <a:solidFill>
            <a:srgbClr val="283044"/>
          </a:solidFill>
          <a:ln/>
        </p:spPr>
      </p:sp>
      <p:sp>
        <p:nvSpPr>
          <p:cNvPr id="37" name="Shape 35"/>
          <p:cNvSpPr/>
          <p:nvPr/>
        </p:nvSpPr>
        <p:spPr>
          <a:xfrm>
            <a:off x="10425472" y="2579869"/>
            <a:ext cx="53035" cy="53035"/>
          </a:xfrm>
          <a:prstGeom prst="ellipse">
            <a:avLst/>
          </a:prstGeom>
          <a:solidFill>
            <a:srgbClr val="283044"/>
          </a:solidFill>
          <a:ln/>
        </p:spPr>
      </p:sp>
      <p:sp>
        <p:nvSpPr>
          <p:cNvPr id="38" name="Shape 36"/>
          <p:cNvSpPr/>
          <p:nvPr/>
        </p:nvSpPr>
        <p:spPr>
          <a:xfrm>
            <a:off x="10528839" y="2587686"/>
            <a:ext cx="53035" cy="53035"/>
          </a:xfrm>
          <a:prstGeom prst="ellipse">
            <a:avLst/>
          </a:prstGeom>
          <a:solidFill>
            <a:srgbClr val="283044"/>
          </a:solidFill>
          <a:ln/>
        </p:spPr>
      </p:sp>
      <p:sp>
        <p:nvSpPr>
          <p:cNvPr id="39" name="Shape 37"/>
          <p:cNvSpPr/>
          <p:nvPr/>
        </p:nvSpPr>
        <p:spPr>
          <a:xfrm>
            <a:off x="10632206" y="2587686"/>
            <a:ext cx="53035" cy="53035"/>
          </a:xfrm>
          <a:prstGeom prst="ellipse">
            <a:avLst/>
          </a:prstGeom>
          <a:solidFill>
            <a:srgbClr val="283044"/>
          </a:solidFill>
          <a:ln/>
        </p:spPr>
      </p:sp>
      <p:sp>
        <p:nvSpPr>
          <p:cNvPr id="40" name="Shape 38"/>
          <p:cNvSpPr/>
          <p:nvPr/>
        </p:nvSpPr>
        <p:spPr>
          <a:xfrm>
            <a:off x="10735573" y="2579869"/>
            <a:ext cx="53035" cy="53035"/>
          </a:xfrm>
          <a:prstGeom prst="ellipse">
            <a:avLst/>
          </a:prstGeom>
          <a:solidFill>
            <a:srgbClr val="283044"/>
          </a:solidFill>
          <a:ln/>
        </p:spPr>
      </p:sp>
      <p:sp>
        <p:nvSpPr>
          <p:cNvPr id="41" name="Shape 39"/>
          <p:cNvSpPr/>
          <p:nvPr/>
        </p:nvSpPr>
        <p:spPr>
          <a:xfrm>
            <a:off x="10838940" y="2564380"/>
            <a:ext cx="53035" cy="53035"/>
          </a:xfrm>
          <a:prstGeom prst="ellipse">
            <a:avLst/>
          </a:prstGeom>
          <a:solidFill>
            <a:srgbClr val="283044"/>
          </a:solidFill>
          <a:ln/>
        </p:spPr>
      </p:sp>
      <p:sp>
        <p:nvSpPr>
          <p:cNvPr id="42" name="Shape 40"/>
          <p:cNvSpPr/>
          <p:nvPr/>
        </p:nvSpPr>
        <p:spPr>
          <a:xfrm>
            <a:off x="10942307" y="2541508"/>
            <a:ext cx="53035" cy="53035"/>
          </a:xfrm>
          <a:prstGeom prst="ellipse">
            <a:avLst/>
          </a:prstGeom>
          <a:solidFill>
            <a:srgbClr val="283044"/>
          </a:solidFill>
          <a:ln/>
        </p:spPr>
      </p:sp>
      <p:sp>
        <p:nvSpPr>
          <p:cNvPr id="43" name="Shape 41"/>
          <p:cNvSpPr/>
          <p:nvPr/>
        </p:nvSpPr>
        <p:spPr>
          <a:xfrm>
            <a:off x="11045674" y="2511680"/>
            <a:ext cx="53035" cy="53035"/>
          </a:xfrm>
          <a:prstGeom prst="ellipse">
            <a:avLst/>
          </a:prstGeom>
          <a:solidFill>
            <a:srgbClr val="283044"/>
          </a:solidFill>
          <a:ln/>
        </p:spPr>
      </p:sp>
      <p:sp>
        <p:nvSpPr>
          <p:cNvPr id="44" name="Shape 42"/>
          <p:cNvSpPr/>
          <p:nvPr/>
        </p:nvSpPr>
        <p:spPr>
          <a:xfrm>
            <a:off x="11149041" y="2475450"/>
            <a:ext cx="53035" cy="53035"/>
          </a:xfrm>
          <a:prstGeom prst="ellipse">
            <a:avLst/>
          </a:prstGeom>
          <a:solidFill>
            <a:srgbClr val="283044"/>
          </a:solidFill>
          <a:ln/>
        </p:spPr>
      </p:sp>
      <p:sp>
        <p:nvSpPr>
          <p:cNvPr id="45" name="Shape 43"/>
          <p:cNvSpPr/>
          <p:nvPr/>
        </p:nvSpPr>
        <p:spPr>
          <a:xfrm>
            <a:off x="11252408" y="2433493"/>
            <a:ext cx="53035" cy="53035"/>
          </a:xfrm>
          <a:prstGeom prst="ellipse">
            <a:avLst/>
          </a:prstGeom>
          <a:solidFill>
            <a:srgbClr val="283044"/>
          </a:solidFill>
          <a:ln/>
        </p:spPr>
      </p:sp>
      <p:sp>
        <p:nvSpPr>
          <p:cNvPr id="46" name="Shape 44"/>
          <p:cNvSpPr/>
          <p:nvPr/>
        </p:nvSpPr>
        <p:spPr>
          <a:xfrm>
            <a:off x="11355775" y="2386592"/>
            <a:ext cx="53035" cy="53035"/>
          </a:xfrm>
          <a:prstGeom prst="ellipse">
            <a:avLst/>
          </a:prstGeom>
          <a:solidFill>
            <a:srgbClr val="283044"/>
          </a:solidFill>
          <a:ln/>
        </p:spPr>
      </p:sp>
      <p:sp>
        <p:nvSpPr>
          <p:cNvPr id="47" name="Shape 45"/>
          <p:cNvSpPr/>
          <p:nvPr/>
        </p:nvSpPr>
        <p:spPr>
          <a:xfrm>
            <a:off x="11459142" y="2335619"/>
            <a:ext cx="53035" cy="53035"/>
          </a:xfrm>
          <a:prstGeom prst="ellipse">
            <a:avLst/>
          </a:prstGeom>
          <a:solidFill>
            <a:srgbClr val="283044"/>
          </a:solidFill>
          <a:ln/>
        </p:spPr>
      </p:sp>
      <p:sp>
        <p:nvSpPr>
          <p:cNvPr id="48" name="Shape 46"/>
          <p:cNvSpPr/>
          <p:nvPr/>
        </p:nvSpPr>
        <p:spPr>
          <a:xfrm>
            <a:off x="11562508" y="2281525"/>
            <a:ext cx="53035" cy="53035"/>
          </a:xfrm>
          <a:prstGeom prst="ellipse">
            <a:avLst/>
          </a:prstGeom>
          <a:solidFill>
            <a:srgbClr val="283044"/>
          </a:solidFill>
          <a:ln/>
        </p:spPr>
      </p:sp>
      <p:sp>
        <p:nvSpPr>
          <p:cNvPr id="49" name="Shape 47"/>
          <p:cNvSpPr/>
          <p:nvPr/>
        </p:nvSpPr>
        <p:spPr>
          <a:xfrm>
            <a:off x="11665875" y="2225317"/>
            <a:ext cx="53035" cy="53035"/>
          </a:xfrm>
          <a:prstGeom prst="ellipse">
            <a:avLst/>
          </a:prstGeom>
          <a:solidFill>
            <a:srgbClr val="283044"/>
          </a:solidFill>
          <a:ln/>
        </p:spPr>
      </p:sp>
      <p:sp>
        <p:nvSpPr>
          <p:cNvPr id="50" name="Shape 48"/>
          <p:cNvSpPr/>
          <p:nvPr/>
        </p:nvSpPr>
        <p:spPr>
          <a:xfrm>
            <a:off x="11769242" y="2168042"/>
            <a:ext cx="53035" cy="53035"/>
          </a:xfrm>
          <a:prstGeom prst="ellipse">
            <a:avLst/>
          </a:prstGeom>
          <a:solidFill>
            <a:srgbClr val="283044"/>
          </a:solidFill>
          <a:ln/>
        </p:spPr>
      </p:sp>
      <p:sp>
        <p:nvSpPr>
          <p:cNvPr id="51" name="Text 49"/>
          <p:cNvSpPr txBox="1"/>
          <p:nvPr/>
        </p:nvSpPr>
        <p:spPr>
          <a:xfrm>
            <a:off x="621792" y="1737360"/>
            <a:ext cx="9144000" cy="1371600"/>
          </a:xfrm>
          <a:prstGeom prst="rect">
            <a:avLst/>
          </a:prstGeom>
          <a:noFill/>
          <a:ln/>
        </p:spPr>
        <p:txBody>
          <a:bodyPr wrap="square" lIns="0" tIns="0" rIns="0" bIns="0" rtlCol="0" anchor="t"/>
          <a:lstStyle/>
          <a:p>
            <a:pPr indent="0" marL="0">
              <a:lnSpc>
                <a:spcPts val="6800"/>
              </a:lnSpc>
              <a:buNone/>
            </a:pPr>
            <a:r>
              <a:rPr lang="en-US" sz="6200" b="1" dirty="0">
                <a:solidFill>
                  <a:srgbClr val="FFFFFF"/>
                </a:solidFill>
                <a:latin typeface="Calibri" pitchFamily="34" charset="0"/>
                <a:ea typeface="Calibri" pitchFamily="34" charset="-122"/>
                <a:cs typeface="Calibri" pitchFamily="34" charset="-120"/>
              </a:rPr>
              <a:t>Terima Kasih</a:t>
            </a:r>
            <a:pPr indent="0" marL="0">
              <a:lnSpc>
                <a:spcPts val="6800"/>
              </a:lnSpc>
              <a:buNone/>
            </a:pPr>
            <a:r>
              <a:rPr lang="en-US" sz="6200" b="1" dirty="0">
                <a:solidFill>
                  <a:srgbClr val="FF5A2D"/>
                </a:solidFill>
                <a:latin typeface="Calibri" pitchFamily="34" charset="0"/>
                <a:ea typeface="Calibri" pitchFamily="34" charset="-122"/>
                <a:cs typeface="Calibri" pitchFamily="34" charset="-120"/>
              </a:rPr>
              <a:t>.</a:t>
            </a:r>
            <a:endParaRPr lang="en-US" sz="6200" dirty="0"/>
          </a:p>
        </p:txBody>
      </p:sp>
      <p:sp>
        <p:nvSpPr>
          <p:cNvPr id="52" name="Text 50"/>
          <p:cNvSpPr txBox="1"/>
          <p:nvPr/>
        </p:nvSpPr>
        <p:spPr>
          <a:xfrm>
            <a:off x="621792" y="3383280"/>
            <a:ext cx="6949440" cy="822960"/>
          </a:xfrm>
          <a:prstGeom prst="rect">
            <a:avLst/>
          </a:prstGeom>
          <a:noFill/>
          <a:ln/>
        </p:spPr>
        <p:txBody>
          <a:bodyPr wrap="square" lIns="0" tIns="0" rIns="0" bIns="0" rtlCol="0" anchor="t"/>
          <a:lstStyle/>
          <a:p>
            <a:pPr indent="0" marL="0">
              <a:lnSpc>
                <a:spcPts val="2400"/>
              </a:lnSpc>
              <a:buNone/>
            </a:pPr>
            <a:r>
              <a:rPr lang="en-US" sz="1500" dirty="0">
                <a:solidFill>
                  <a:srgbClr val="B9C0CE"/>
                </a:solidFill>
                <a:latin typeface="Calibri" pitchFamily="34" charset="0"/>
                <a:ea typeface="Calibri" pitchFamily="34" charset="-122"/>
                <a:cs typeface="Calibri" pitchFamily="34" charset="-120"/>
              </a:rPr>
              <a:t>Sembilan lensa, satu kasus, dan tidak ada satu jawaban. Itulah yang membuat kasus ini layak didiskusikan.</a:t>
            </a:r>
            <a:endParaRPr lang="en-US" sz="1500" dirty="0"/>
          </a:p>
        </p:txBody>
      </p:sp>
      <p:sp>
        <p:nvSpPr>
          <p:cNvPr id="53" name="Shape 51"/>
          <p:cNvSpPr/>
          <p:nvPr/>
        </p:nvSpPr>
        <p:spPr>
          <a:xfrm>
            <a:off x="621792" y="4352544"/>
            <a:ext cx="274320" cy="274320"/>
          </a:xfrm>
          <a:prstGeom prst="rect">
            <a:avLst/>
          </a:prstGeom>
          <a:solidFill>
            <a:srgbClr val="AB463C"/>
          </a:solidFill>
          <a:ln/>
        </p:spPr>
      </p:sp>
      <p:sp>
        <p:nvSpPr>
          <p:cNvPr id="54" name="Shape 52"/>
          <p:cNvSpPr/>
          <p:nvPr/>
        </p:nvSpPr>
        <p:spPr>
          <a:xfrm>
            <a:off x="1005840" y="4352544"/>
            <a:ext cx="274320" cy="274320"/>
          </a:xfrm>
          <a:prstGeom prst="rect">
            <a:avLst/>
          </a:prstGeom>
          <a:solidFill>
            <a:srgbClr val="FF5A2D"/>
          </a:solidFill>
          <a:ln/>
        </p:spPr>
      </p:sp>
      <p:sp>
        <p:nvSpPr>
          <p:cNvPr id="55" name="Shape 53"/>
          <p:cNvSpPr/>
          <p:nvPr/>
        </p:nvSpPr>
        <p:spPr>
          <a:xfrm>
            <a:off x="1389888" y="4352544"/>
            <a:ext cx="274320" cy="274320"/>
          </a:xfrm>
          <a:prstGeom prst="rect">
            <a:avLst/>
          </a:prstGeom>
          <a:solidFill>
            <a:srgbClr val="F5B722"/>
          </a:solidFill>
          <a:ln/>
        </p:spPr>
      </p:sp>
      <p:sp>
        <p:nvSpPr>
          <p:cNvPr id="56" name="Shape 54"/>
          <p:cNvSpPr/>
          <p:nvPr/>
        </p:nvSpPr>
        <p:spPr>
          <a:xfrm>
            <a:off x="1773936" y="4352544"/>
            <a:ext cx="274320" cy="274320"/>
          </a:xfrm>
          <a:prstGeom prst="rect">
            <a:avLst/>
          </a:prstGeom>
          <a:solidFill>
            <a:srgbClr val="C6F04A"/>
          </a:solidFill>
          <a:ln/>
        </p:spPr>
      </p:sp>
      <p:sp>
        <p:nvSpPr>
          <p:cNvPr id="57" name="Shape 55"/>
          <p:cNvSpPr/>
          <p:nvPr/>
        </p:nvSpPr>
        <p:spPr>
          <a:xfrm>
            <a:off x="2157984" y="4352544"/>
            <a:ext cx="274320" cy="274320"/>
          </a:xfrm>
          <a:prstGeom prst="rect">
            <a:avLst/>
          </a:prstGeom>
          <a:solidFill>
            <a:srgbClr val="0FA98E"/>
          </a:solidFill>
          <a:ln/>
        </p:spPr>
      </p:sp>
      <p:sp>
        <p:nvSpPr>
          <p:cNvPr id="58" name="Shape 56"/>
          <p:cNvSpPr/>
          <p:nvPr/>
        </p:nvSpPr>
        <p:spPr>
          <a:xfrm>
            <a:off x="2542032" y="4352544"/>
            <a:ext cx="274320" cy="274320"/>
          </a:xfrm>
          <a:prstGeom prst="rect">
            <a:avLst/>
          </a:prstGeom>
          <a:solidFill>
            <a:srgbClr val="4EA8DE"/>
          </a:solidFill>
          <a:ln/>
        </p:spPr>
      </p:sp>
      <p:sp>
        <p:nvSpPr>
          <p:cNvPr id="59" name="Shape 57"/>
          <p:cNvSpPr/>
          <p:nvPr/>
        </p:nvSpPr>
        <p:spPr>
          <a:xfrm>
            <a:off x="2926080" y="4352544"/>
            <a:ext cx="274320" cy="274320"/>
          </a:xfrm>
          <a:prstGeom prst="rect">
            <a:avLst/>
          </a:prstGeom>
          <a:solidFill>
            <a:srgbClr val="6C7BE0"/>
          </a:solidFill>
          <a:ln/>
        </p:spPr>
      </p:sp>
      <p:sp>
        <p:nvSpPr>
          <p:cNvPr id="60" name="Shape 58"/>
          <p:cNvSpPr/>
          <p:nvPr/>
        </p:nvSpPr>
        <p:spPr>
          <a:xfrm>
            <a:off x="3310128" y="4352544"/>
            <a:ext cx="274320" cy="274320"/>
          </a:xfrm>
          <a:prstGeom prst="rect">
            <a:avLst/>
          </a:prstGeom>
          <a:solidFill>
            <a:srgbClr val="B8A6F5"/>
          </a:solidFill>
          <a:ln/>
        </p:spPr>
      </p:sp>
      <p:sp>
        <p:nvSpPr>
          <p:cNvPr id="61" name="Shape 59"/>
          <p:cNvSpPr/>
          <p:nvPr/>
        </p:nvSpPr>
        <p:spPr>
          <a:xfrm>
            <a:off x="3694176" y="4352544"/>
            <a:ext cx="274320" cy="274320"/>
          </a:xfrm>
          <a:prstGeom prst="rect">
            <a:avLst/>
          </a:prstGeom>
          <a:solidFill>
            <a:srgbClr val="E86A9B"/>
          </a:solidFill>
          <a:ln/>
        </p:spPr>
      </p:sp>
      <p:sp>
        <p:nvSpPr>
          <p:cNvPr id="62" name="Shape 60"/>
          <p:cNvSpPr/>
          <p:nvPr/>
        </p:nvSpPr>
        <p:spPr>
          <a:xfrm>
            <a:off x="621792" y="5029200"/>
            <a:ext cx="4114800" cy="713232"/>
          </a:xfrm>
          <a:prstGeom prst="roundRect">
            <a:avLst>
              <a:gd name="adj" fmla="val 20513"/>
            </a:avLst>
          </a:prstGeom>
          <a:solidFill>
            <a:srgbClr val="1B2233"/>
          </a:solidFill>
          <a:ln/>
        </p:spPr>
      </p:sp>
      <p:sp>
        <p:nvSpPr>
          <p:cNvPr id="63" name="Shape 61"/>
          <p:cNvSpPr/>
          <p:nvPr/>
        </p:nvSpPr>
        <p:spPr>
          <a:xfrm>
            <a:off x="621792" y="5084064"/>
            <a:ext cx="54864" cy="603504"/>
          </a:xfrm>
          <a:prstGeom prst="rect">
            <a:avLst/>
          </a:prstGeom>
          <a:solidFill>
            <a:srgbClr val="FF5A2D"/>
          </a:solidFill>
          <a:ln/>
        </p:spPr>
      </p:sp>
      <p:sp>
        <p:nvSpPr>
          <p:cNvPr id="64" name="Text 62"/>
          <p:cNvSpPr txBox="1"/>
          <p:nvPr/>
        </p:nvSpPr>
        <p:spPr>
          <a:xfrm>
            <a:off x="877824" y="5166360"/>
            <a:ext cx="3657600"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Aslih Abnuri</a:t>
            </a:r>
            <a:endParaRPr lang="en-US" sz="1300" dirty="0"/>
          </a:p>
        </p:txBody>
      </p:sp>
      <p:sp>
        <p:nvSpPr>
          <p:cNvPr id="65" name="Text 63"/>
          <p:cNvSpPr txBox="1"/>
          <p:nvPr/>
        </p:nvSpPr>
        <p:spPr>
          <a:xfrm>
            <a:off x="877824" y="5413248"/>
            <a:ext cx="3657600" cy="237744"/>
          </a:xfrm>
          <a:prstGeom prst="rect">
            <a:avLst/>
          </a:prstGeom>
          <a:noFill/>
          <a:ln/>
        </p:spPr>
        <p:txBody>
          <a:bodyPr wrap="square" lIns="0" tIns="0" rIns="0" bIns="0" rtlCol="0" anchor="t"/>
          <a:lstStyle/>
          <a:p>
            <a:pPr indent="0" marL="0">
              <a:buNone/>
            </a:pPr>
            <a:r>
              <a:rPr lang="en-US" sz="1050" dirty="0">
                <a:solidFill>
                  <a:srgbClr val="8C93A3"/>
                </a:solidFill>
                <a:latin typeface="Courier New" pitchFamily="34" charset="0"/>
                <a:ea typeface="Courier New" pitchFamily="34" charset="-122"/>
                <a:cs typeface="Courier New" pitchFamily="34" charset="-120"/>
              </a:rPr>
              <a:t>25/574338/PEK/31801</a:t>
            </a:r>
            <a:endParaRPr lang="en-US" sz="1050" dirty="0"/>
          </a:p>
        </p:txBody>
      </p:sp>
      <p:sp>
        <p:nvSpPr>
          <p:cNvPr id="66" name="Shape 64"/>
          <p:cNvSpPr/>
          <p:nvPr/>
        </p:nvSpPr>
        <p:spPr>
          <a:xfrm>
            <a:off x="621792" y="6053328"/>
            <a:ext cx="10948111" cy="10058"/>
          </a:xfrm>
          <a:prstGeom prst="rect">
            <a:avLst/>
          </a:prstGeom>
          <a:solidFill>
            <a:srgbClr val="283044"/>
          </a:solidFill>
          <a:ln/>
        </p:spPr>
      </p:sp>
      <p:sp>
        <p:nvSpPr>
          <p:cNvPr id="67" name="Text 65"/>
          <p:cNvSpPr txBox="1"/>
          <p:nvPr/>
        </p:nvSpPr>
        <p:spPr>
          <a:xfrm>
            <a:off x="621792" y="6199632"/>
            <a:ext cx="5852160" cy="256032"/>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Business Ethics · Analisis Kasus Canada’s Oil Sands</a:t>
            </a:r>
            <a:endParaRPr lang="en-US" sz="1050" dirty="0"/>
          </a:p>
        </p:txBody>
      </p:sp>
      <p:sp>
        <p:nvSpPr>
          <p:cNvPr id="68" name="Text 66"/>
          <p:cNvSpPr txBox="1"/>
          <p:nvPr/>
        </p:nvSpPr>
        <p:spPr>
          <a:xfrm>
            <a:off x="6083503" y="6199632"/>
            <a:ext cx="5486400" cy="256032"/>
          </a:xfrm>
          <a:prstGeom prst="rect">
            <a:avLst/>
          </a:prstGeom>
          <a:noFill/>
          <a:ln/>
        </p:spPr>
        <p:txBody>
          <a:bodyPr wrap="square" lIns="0" tIns="0" rIns="0" bIns="0" rtlCol="0" anchor="t"/>
          <a:lstStyle/>
          <a:p>
            <a:pPr algn="r" indent="0" marL="0">
              <a:buNone/>
            </a:pPr>
            <a:r>
              <a:rPr lang="en-US" sz="1050" dirty="0">
                <a:solidFill>
                  <a:srgbClr val="8C93A3"/>
                </a:solidFill>
                <a:latin typeface="Calibri" pitchFamily="34" charset="0"/>
                <a:ea typeface="Calibri" pitchFamily="34" charset="-122"/>
                <a:cs typeface="Calibri" pitchFamily="34" charset="-120"/>
              </a:rPr>
              <a:t>Crane, Matten, Glozer &amp; Spence (2019) · Case 3, halaman 129–134</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Canada’s Oil Sands</dc:title>
  <dc:subject>Business Ethics Chapter 3 · Analisis Kasus</dc:subject>
  <dc:creator>Aslih Abnuri</dc:creator>
  <cp:lastModifiedBy>Aslih Abnuri</cp:lastModifiedBy>
  <cp:revision>1</cp:revision>
  <dcterms:created xsi:type="dcterms:W3CDTF">2026-08-26T10:33:10Z</dcterms:created>
  <dcterms:modified xsi:type="dcterms:W3CDTF">2026-08-26T10:33:10Z</dcterms:modified>
</cp:coreProperties>
</file>