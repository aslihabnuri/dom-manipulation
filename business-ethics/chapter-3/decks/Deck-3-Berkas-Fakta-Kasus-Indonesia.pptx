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ini bukan untuk dipresentasikan. Isinya bahan mentah agar Aslih bisa memilih kasus dan menyusun analisisnya sendiri.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Tiga bagian terakhir adalah alat bantu memilih, bukan kasus.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Kalau hanya satu hal yang diingat dari slide ini: kasus yang bagus adalah kasus yang jawabannya belum selesai.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Angka pekerja IMIP naik lebih dari dua kali lipat dalam lima tahun. Itu inti argumen pendukung.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Angka 163 ribu hektare adalah penjumlahan Halmahera Tengah 27.900, Halmahera Timur 56.300, dan Halmahera Selatan 79.000 hektare.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Perhatikan bahwa dampaknya bukan kecelakaan, melainkan konsekuensi kebijakan yang disengaja.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Paradoks logam hijau dari listrik kotor adalah pintu masuk paling kuat untuk kelas.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Perpres 27/2026 memperlihatkan negara mengatur isi hubungan tanpa mengubah statusnya. Itu titik analisis yang menarik.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Sengketanya benar-benar berhenti pada satu kata. Bahan sempurna untuk lensa postmodern.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Angka kemiskinan itu yang paling kuat untuk lensa Rawls. Beban jatuh pada rumah tangga paling tidak beruntung.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Argumen pilihan bebas adalah titik paling menarik. Kant dan ethic of care menjawabnya sangat berbeda.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Satu-satunya sudut yang relevan untuk bab ini: perdebatan tentang apa yang layak dihitung sebagai kerugian.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Vonis membuat kasus ini makin tidak cocok sebagai kasus prisma, karena pertanyaan moralnya sudah dijawab pengadilan.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ini menjelaskan kenapa kasus 04 dan 05 tidak disarankan dalam bentuk aslinya.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Kalau harus memilih cepat, baris pertama adalah jawabannya.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Nikel muncul di lima baris. Itu indikator bahwa kasusnya paling kaya.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Untuk keperluan akademis, sebaiknya turunkan sekali lagi ke publikasi resmi lembaganya, bukan berhenti pada pemberitaan.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Setelah kasus dipilih, deck analisis lengkapnya bisa dibangun terpisah.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0"/>
            <a:ext cx="566928" cy="530352"/>
          </a:xfrm>
          <a:prstGeom prst="rect">
            <a:avLst/>
          </a:prstGeom>
          <a:solidFill>
            <a:srgbClr val="B8A6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27648"/>
            <a:ext cx="530352" cy="530352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4" name="Shape 2"/>
          <p:cNvSpPr/>
          <p:nvPr/>
        </p:nvSpPr>
        <p:spPr>
          <a:xfrm>
            <a:off x="6740042" y="1070762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5" name="Shape 3"/>
          <p:cNvSpPr/>
          <p:nvPr/>
        </p:nvSpPr>
        <p:spPr>
          <a:xfrm>
            <a:off x="6849373" y="1018468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6" name="Shape 4"/>
          <p:cNvSpPr/>
          <p:nvPr/>
        </p:nvSpPr>
        <p:spPr>
          <a:xfrm>
            <a:off x="6958703" y="967147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7" name="Shape 5"/>
          <p:cNvSpPr/>
          <p:nvPr/>
        </p:nvSpPr>
        <p:spPr>
          <a:xfrm>
            <a:off x="7068034" y="917757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8" name="Shape 6"/>
          <p:cNvSpPr/>
          <p:nvPr/>
        </p:nvSpPr>
        <p:spPr>
          <a:xfrm>
            <a:off x="7177364" y="871217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9" name="Shape 7"/>
          <p:cNvSpPr/>
          <p:nvPr/>
        </p:nvSpPr>
        <p:spPr>
          <a:xfrm>
            <a:off x="7286695" y="828394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10" name="Shape 8"/>
          <p:cNvSpPr/>
          <p:nvPr/>
        </p:nvSpPr>
        <p:spPr>
          <a:xfrm>
            <a:off x="7396025" y="790086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11" name="Shape 9"/>
          <p:cNvSpPr/>
          <p:nvPr/>
        </p:nvSpPr>
        <p:spPr>
          <a:xfrm>
            <a:off x="7505355" y="757007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12" name="Shape 10"/>
          <p:cNvSpPr/>
          <p:nvPr/>
        </p:nvSpPr>
        <p:spPr>
          <a:xfrm>
            <a:off x="7614686" y="729772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13" name="Shape 11"/>
          <p:cNvSpPr/>
          <p:nvPr/>
        </p:nvSpPr>
        <p:spPr>
          <a:xfrm>
            <a:off x="7724016" y="708889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14" name="Shape 12"/>
          <p:cNvSpPr/>
          <p:nvPr/>
        </p:nvSpPr>
        <p:spPr>
          <a:xfrm>
            <a:off x="7833347" y="694747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15" name="Shape 13"/>
          <p:cNvSpPr/>
          <p:nvPr/>
        </p:nvSpPr>
        <p:spPr>
          <a:xfrm>
            <a:off x="7942677" y="687610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16" name="Shape 14"/>
          <p:cNvSpPr/>
          <p:nvPr/>
        </p:nvSpPr>
        <p:spPr>
          <a:xfrm>
            <a:off x="8052008" y="687610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17" name="Shape 15"/>
          <p:cNvSpPr/>
          <p:nvPr/>
        </p:nvSpPr>
        <p:spPr>
          <a:xfrm>
            <a:off x="8161338" y="694747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18" name="Shape 16"/>
          <p:cNvSpPr/>
          <p:nvPr/>
        </p:nvSpPr>
        <p:spPr>
          <a:xfrm>
            <a:off x="8270668" y="708889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19" name="Shape 17"/>
          <p:cNvSpPr/>
          <p:nvPr/>
        </p:nvSpPr>
        <p:spPr>
          <a:xfrm>
            <a:off x="8379999" y="729772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20" name="Shape 18"/>
          <p:cNvSpPr/>
          <p:nvPr/>
        </p:nvSpPr>
        <p:spPr>
          <a:xfrm>
            <a:off x="8489329" y="757007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21" name="Shape 19"/>
          <p:cNvSpPr/>
          <p:nvPr/>
        </p:nvSpPr>
        <p:spPr>
          <a:xfrm>
            <a:off x="8598660" y="790086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22" name="Shape 20"/>
          <p:cNvSpPr/>
          <p:nvPr/>
        </p:nvSpPr>
        <p:spPr>
          <a:xfrm>
            <a:off x="8707990" y="828394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23" name="Shape 21"/>
          <p:cNvSpPr/>
          <p:nvPr/>
        </p:nvSpPr>
        <p:spPr>
          <a:xfrm>
            <a:off x="8817321" y="871217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24" name="Shape 22"/>
          <p:cNvSpPr/>
          <p:nvPr/>
        </p:nvSpPr>
        <p:spPr>
          <a:xfrm>
            <a:off x="8926651" y="917757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25" name="Shape 23"/>
          <p:cNvSpPr/>
          <p:nvPr/>
        </p:nvSpPr>
        <p:spPr>
          <a:xfrm>
            <a:off x="9035982" y="967147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26" name="Shape 24"/>
          <p:cNvSpPr/>
          <p:nvPr/>
        </p:nvSpPr>
        <p:spPr>
          <a:xfrm>
            <a:off x="9145312" y="1018468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27" name="Shape 25"/>
          <p:cNvSpPr/>
          <p:nvPr/>
        </p:nvSpPr>
        <p:spPr>
          <a:xfrm>
            <a:off x="9254642" y="1070762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28" name="Shape 26"/>
          <p:cNvSpPr/>
          <p:nvPr/>
        </p:nvSpPr>
        <p:spPr>
          <a:xfrm>
            <a:off x="9363973" y="1123057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29" name="Shape 27"/>
          <p:cNvSpPr/>
          <p:nvPr/>
        </p:nvSpPr>
        <p:spPr>
          <a:xfrm>
            <a:off x="9473303" y="1174377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30" name="Shape 28"/>
          <p:cNvSpPr/>
          <p:nvPr/>
        </p:nvSpPr>
        <p:spPr>
          <a:xfrm>
            <a:off x="9582634" y="1223768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31" name="Shape 29"/>
          <p:cNvSpPr/>
          <p:nvPr/>
        </p:nvSpPr>
        <p:spPr>
          <a:xfrm>
            <a:off x="9691964" y="1270308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32" name="Shape 30"/>
          <p:cNvSpPr/>
          <p:nvPr/>
        </p:nvSpPr>
        <p:spPr>
          <a:xfrm>
            <a:off x="9801295" y="1313130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33" name="Shape 31"/>
          <p:cNvSpPr/>
          <p:nvPr/>
        </p:nvSpPr>
        <p:spPr>
          <a:xfrm>
            <a:off x="9910625" y="1351438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34" name="Shape 32"/>
          <p:cNvSpPr/>
          <p:nvPr/>
        </p:nvSpPr>
        <p:spPr>
          <a:xfrm>
            <a:off x="10019955" y="1384518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35" name="Shape 33"/>
          <p:cNvSpPr/>
          <p:nvPr/>
        </p:nvSpPr>
        <p:spPr>
          <a:xfrm>
            <a:off x="10129286" y="1411753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36" name="Shape 34"/>
          <p:cNvSpPr/>
          <p:nvPr/>
        </p:nvSpPr>
        <p:spPr>
          <a:xfrm>
            <a:off x="10238616" y="1432636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37" name="Shape 35"/>
          <p:cNvSpPr/>
          <p:nvPr/>
        </p:nvSpPr>
        <p:spPr>
          <a:xfrm>
            <a:off x="10347947" y="1446778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38" name="Shape 36"/>
          <p:cNvSpPr/>
          <p:nvPr/>
        </p:nvSpPr>
        <p:spPr>
          <a:xfrm>
            <a:off x="10457277" y="1453915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39" name="Shape 37"/>
          <p:cNvSpPr/>
          <p:nvPr/>
        </p:nvSpPr>
        <p:spPr>
          <a:xfrm>
            <a:off x="10566608" y="1453915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40" name="Shape 38"/>
          <p:cNvSpPr/>
          <p:nvPr/>
        </p:nvSpPr>
        <p:spPr>
          <a:xfrm>
            <a:off x="10675938" y="1446778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41" name="Shape 39"/>
          <p:cNvSpPr/>
          <p:nvPr/>
        </p:nvSpPr>
        <p:spPr>
          <a:xfrm>
            <a:off x="10785268" y="1432636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42" name="Shape 40"/>
          <p:cNvSpPr/>
          <p:nvPr/>
        </p:nvSpPr>
        <p:spPr>
          <a:xfrm>
            <a:off x="10894599" y="1411753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43" name="Shape 41"/>
          <p:cNvSpPr/>
          <p:nvPr/>
        </p:nvSpPr>
        <p:spPr>
          <a:xfrm>
            <a:off x="11003929" y="1384518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44" name="Shape 42"/>
          <p:cNvSpPr/>
          <p:nvPr/>
        </p:nvSpPr>
        <p:spPr>
          <a:xfrm>
            <a:off x="11113260" y="1351438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45" name="Shape 43"/>
          <p:cNvSpPr/>
          <p:nvPr/>
        </p:nvSpPr>
        <p:spPr>
          <a:xfrm>
            <a:off x="11222590" y="1313130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46" name="Shape 44"/>
          <p:cNvSpPr/>
          <p:nvPr/>
        </p:nvSpPr>
        <p:spPr>
          <a:xfrm>
            <a:off x="11331921" y="1270308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47" name="Shape 45"/>
          <p:cNvSpPr/>
          <p:nvPr/>
        </p:nvSpPr>
        <p:spPr>
          <a:xfrm>
            <a:off x="11441251" y="1223768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48" name="Shape 46"/>
          <p:cNvSpPr/>
          <p:nvPr/>
        </p:nvSpPr>
        <p:spPr>
          <a:xfrm>
            <a:off x="11550582" y="1174377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49" name="Shape 47"/>
          <p:cNvSpPr/>
          <p:nvPr/>
        </p:nvSpPr>
        <p:spPr>
          <a:xfrm>
            <a:off x="11659912" y="1123057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50" name="Shape 48"/>
          <p:cNvSpPr/>
          <p:nvPr/>
        </p:nvSpPr>
        <p:spPr>
          <a:xfrm>
            <a:off x="11769242" y="1070762"/>
            <a:ext cx="53035" cy="53035"/>
          </a:xfrm>
          <a:prstGeom prst="ellipse">
            <a:avLst/>
          </a:prstGeom>
          <a:solidFill>
            <a:srgbClr val="D2CCBD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21792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Ethics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8891626" y="420624"/>
            <a:ext cx="1143914" cy="283464"/>
          </a:xfrm>
          <a:prstGeom prst="roundRect">
            <a:avLst>
              <a:gd name="adj" fmla="val 50000"/>
            </a:avLst>
          </a:prstGeom>
          <a:solidFill>
            <a:srgbClr val="B8A6F5"/>
          </a:solidFill>
          <a:ln w="12700">
            <a:solidFill>
              <a:srgbClr val="B8A6F5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891626" y="420624"/>
            <a:ext cx="114391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· UGM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10154412" y="420624"/>
            <a:ext cx="1415491" cy="283464"/>
          </a:xfrm>
          <a:prstGeom prst="roundRect">
            <a:avLst>
              <a:gd name="adj" fmla="val 50000"/>
            </a:avLst>
          </a:prstGeom>
          <a:solidFill>
            <a:srgbClr val="F2F0EB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10154412" y="420624"/>
            <a:ext cx="141549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BERKAS FAKTA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621792" y="1481328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Bahan Kajian Mandiri</a:t>
            </a:r>
            <a:endParaRPr lang="en-US" sz="1350" dirty="0"/>
          </a:p>
        </p:txBody>
      </p:sp>
      <p:sp>
        <p:nvSpPr>
          <p:cNvPr id="57" name="Text 55"/>
          <p:cNvSpPr txBox="1"/>
          <p:nvPr/>
        </p:nvSpPr>
        <p:spPr>
          <a:xfrm>
            <a:off x="621792" y="1783080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 Kandidat Kasus —</a:t>
            </a:r>
            <a:endParaRPr lang="en-US" sz="1600" dirty="0"/>
          </a:p>
        </p:txBody>
      </p:sp>
      <p:sp>
        <p:nvSpPr>
          <p:cNvPr id="58" name="Text 56"/>
          <p:cNvSpPr txBox="1"/>
          <p:nvPr/>
        </p:nvSpPr>
        <p:spPr>
          <a:xfrm>
            <a:off x="621792" y="2267712"/>
            <a:ext cx="74980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800"/>
              </a:lnSpc>
              <a:buNone/>
            </a:pPr>
            <a:r>
              <a:rPr lang="en-US" sz="52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Fakta Kasus</a:t>
            </a:r>
            <a:endParaRPr lang="en-US" sz="52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2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</a:t>
            </a:r>
            <a:pPr indent="0" marL="0">
              <a:lnSpc>
                <a:spcPts val="5800"/>
              </a:lnSpc>
              <a:buNone/>
            </a:pPr>
            <a:r>
              <a:rPr lang="en-US" sz="5200" b="1" dirty="0">
                <a:solidFill>
                  <a:srgbClr val="FF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5200" dirty="0"/>
          </a:p>
        </p:txBody>
      </p:sp>
      <p:sp>
        <p:nvSpPr>
          <p:cNvPr id="59" name="Text 57"/>
          <p:cNvSpPr txBox="1"/>
          <p:nvPr/>
        </p:nvSpPr>
        <p:spPr>
          <a:xfrm>
            <a:off x="621792" y="4114800"/>
            <a:ext cx="6675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terverifikasi dari sumber publik, disusun tanpa analisis, untuk dikonseptualisasikan sendiri dengan kerangka sembilan teori.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621792" y="5230368"/>
            <a:ext cx="274320" cy="274320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61" name="Shape 59"/>
          <p:cNvSpPr/>
          <p:nvPr/>
        </p:nvSpPr>
        <p:spPr>
          <a:xfrm>
            <a:off x="1005840" y="5230368"/>
            <a:ext cx="274320" cy="274320"/>
          </a:xfrm>
          <a:prstGeom prst="rect">
            <a:avLst/>
          </a:prstGeom>
          <a:solidFill>
            <a:srgbClr val="0FA98E"/>
          </a:solidFill>
          <a:ln/>
        </p:spPr>
      </p:sp>
      <p:sp>
        <p:nvSpPr>
          <p:cNvPr id="62" name="Shape 60"/>
          <p:cNvSpPr/>
          <p:nvPr/>
        </p:nvSpPr>
        <p:spPr>
          <a:xfrm>
            <a:off x="1389888" y="5230368"/>
            <a:ext cx="274320" cy="274320"/>
          </a:xfrm>
          <a:prstGeom prst="rect">
            <a:avLst/>
          </a:prstGeom>
          <a:solidFill>
            <a:srgbClr val="F5B722"/>
          </a:solidFill>
          <a:ln/>
        </p:spPr>
      </p:sp>
      <p:sp>
        <p:nvSpPr>
          <p:cNvPr id="63" name="Shape 61"/>
          <p:cNvSpPr/>
          <p:nvPr/>
        </p:nvSpPr>
        <p:spPr>
          <a:xfrm>
            <a:off x="1773936" y="5230368"/>
            <a:ext cx="274320" cy="274320"/>
          </a:xfrm>
          <a:prstGeom prst="rect">
            <a:avLst/>
          </a:prstGeom>
          <a:solidFill>
            <a:srgbClr val="0E1626"/>
          </a:solidFill>
          <a:ln/>
        </p:spPr>
      </p:sp>
      <p:sp>
        <p:nvSpPr>
          <p:cNvPr id="64" name="Shape 62"/>
          <p:cNvSpPr/>
          <p:nvPr/>
        </p:nvSpPr>
        <p:spPr>
          <a:xfrm>
            <a:off x="2157984" y="5230368"/>
            <a:ext cx="274320" cy="274320"/>
          </a:xfrm>
          <a:prstGeom prst="rect">
            <a:avLst/>
          </a:prstGeom>
          <a:solidFill>
            <a:srgbClr val="B8A6F5"/>
          </a:solidFill>
          <a:ln/>
        </p:spPr>
      </p:sp>
      <p:sp>
        <p:nvSpPr>
          <p:cNvPr id="65" name="Shape 63"/>
          <p:cNvSpPr/>
          <p:nvPr/>
        </p:nvSpPr>
        <p:spPr>
          <a:xfrm>
            <a:off x="621792" y="5724144"/>
            <a:ext cx="4114800" cy="713232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/>
        </p:spPr>
      </p:sp>
      <p:sp>
        <p:nvSpPr>
          <p:cNvPr id="66" name="Shape 64"/>
          <p:cNvSpPr/>
          <p:nvPr/>
        </p:nvSpPr>
        <p:spPr>
          <a:xfrm>
            <a:off x="621792" y="5779008"/>
            <a:ext cx="54864" cy="603504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877824" y="58613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Aslih Abnuri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877824" y="61081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25/574338/PEK/31801</a:t>
            </a:r>
            <a:endParaRPr lang="en-US" sz="1050" dirty="0"/>
          </a:p>
        </p:txBody>
      </p:sp>
      <p:sp>
        <p:nvSpPr>
          <p:cNvPr id="69" name="Text 67"/>
          <p:cNvSpPr txBox="1"/>
          <p:nvPr/>
        </p:nvSpPr>
        <p:spPr>
          <a:xfrm>
            <a:off x="7912303" y="61081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ditelusuri Agustus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0"/>
            <a:ext cx="566928" cy="530352"/>
          </a:xfrm>
          <a:prstGeom prst="rect">
            <a:avLst/>
          </a:prstGeom>
          <a:solidFill>
            <a:srgbClr val="B8A6F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021263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566928"/>
            <a:ext cx="10948111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40"/>
              </a:lnSpc>
              <a:buNone/>
            </a:pPr>
            <a:r>
              <a:rPr lang="en-US" sz="40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 Kandidat</a:t>
            </a:r>
            <a:pPr indent="0" marL="0">
              <a:lnSpc>
                <a:spcPts val="4640"/>
              </a:lnSpc>
              <a:buNone/>
            </a:pPr>
            <a:r>
              <a:rPr lang="en-US" sz="4000" b="1" dirty="0">
                <a:solidFill>
                  <a:srgbClr val="FF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21792" y="1298448"/>
            <a:ext cx="1053389" cy="283464"/>
          </a:xfrm>
          <a:prstGeom prst="roundRect">
            <a:avLst>
              <a:gd name="adj" fmla="val 50000"/>
            </a:avLst>
          </a:prstGeom>
          <a:solidFill>
            <a:srgbClr val="FF5A2D"/>
          </a:solidFill>
          <a:ln w="12700">
            <a:solidFill>
              <a:srgbClr val="FF5A2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298448"/>
            <a:ext cx="105338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794053" y="1298448"/>
            <a:ext cx="1687068" cy="283464"/>
          </a:xfrm>
          <a:prstGeom prst="roundRect">
            <a:avLst>
              <a:gd name="adj" fmla="val 50000"/>
            </a:avLst>
          </a:prstGeom>
          <a:solidFill>
            <a:srgbClr val="0FA98E"/>
          </a:solidFill>
          <a:ln w="12700">
            <a:solidFill>
              <a:srgbClr val="0FA98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94053" y="1298448"/>
            <a:ext cx="16870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KETENAGAKERJAAN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599993" y="1298448"/>
            <a:ext cx="1053389" cy="283464"/>
          </a:xfrm>
          <a:prstGeom prst="roundRect">
            <a:avLst>
              <a:gd name="adj" fmla="val 50000"/>
            </a:avLst>
          </a:prstGeom>
          <a:solidFill>
            <a:srgbClr val="F5B722"/>
          </a:solidFill>
          <a:ln w="12700">
            <a:solidFill>
              <a:srgbClr val="F5B72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99993" y="1298448"/>
            <a:ext cx="105338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KONSUMSI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72254" y="1298448"/>
            <a:ext cx="1506017" cy="283464"/>
          </a:xfrm>
          <a:prstGeom prst="roundRect">
            <a:avLst>
              <a:gd name="adj" fmla="val 50000"/>
            </a:avLst>
          </a:prstGeom>
          <a:solidFill>
            <a:srgbClr val="0E1626"/>
          </a:solidFill>
          <a:ln w="12700">
            <a:solidFill>
              <a:srgbClr val="0E162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72254" y="1298448"/>
            <a:ext cx="150601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PERKARA HUKUM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197510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35024" y="1956816"/>
            <a:ext cx="457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Hilirisasi Nikel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35024" y="2221992"/>
            <a:ext cx="457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Morowali dan Weda Bay, tambang sampai smelter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" y="2670048"/>
            <a:ext cx="5291176" cy="10058"/>
          </a:xfrm>
          <a:prstGeom prst="rect">
            <a:avLst/>
          </a:prstGeom>
          <a:solidFill>
            <a:srgbClr val="DDD8C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" y="294436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A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35024" y="2926080"/>
            <a:ext cx="457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Kemitraan Ojek Online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35024" y="3191256"/>
            <a:ext cx="457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mitra, potongan aplikasi, dan Perpres 27/2026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" y="3639312"/>
            <a:ext cx="5291176" cy="10058"/>
          </a:xfrm>
          <a:prstGeom prst="rect">
            <a:avLst/>
          </a:prstGeom>
          <a:solidFill>
            <a:srgbClr val="DDD8C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1792" y="39136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B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335024" y="3895344"/>
            <a:ext cx="457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 Rokok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335024" y="4160520"/>
            <a:ext cx="457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Cukai dan lapangan kerja versus beban kesehatan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" y="4608576"/>
            <a:ext cx="5291176" cy="10058"/>
          </a:xfrm>
          <a:prstGeom prst="rect">
            <a:avLst/>
          </a:prstGeom>
          <a:solidFill>
            <a:srgbClr val="DDD8C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1792" y="488289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335024" y="4864608"/>
            <a:ext cx="457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 Minyak Pertamina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335024" y="5129784"/>
            <a:ext cx="457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perkara, tersangka masih buron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1792" y="5577840"/>
            <a:ext cx="5291176" cy="10058"/>
          </a:xfrm>
          <a:prstGeom prst="rect">
            <a:avLst/>
          </a:prstGeom>
          <a:solidFill>
            <a:srgbClr val="DDD8C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78728" y="197510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A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991960" y="1956816"/>
            <a:ext cx="457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Pengadaan Chromebook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991960" y="2221992"/>
            <a:ext cx="457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Sudah divonis tingkat pertama, dalam proses banding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78728" y="2670048"/>
            <a:ext cx="5291176" cy="10058"/>
          </a:xfrm>
          <a:prstGeom prst="rect">
            <a:avLst/>
          </a:prstGeom>
          <a:solidFill>
            <a:srgbClr val="DDD8C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991960" y="2926080"/>
            <a:ext cx="457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Matriks Kesesuaian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991960" y="3191256"/>
            <a:ext cx="457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Kelima kasus diuji terhadap kriteria bab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78728" y="3639312"/>
            <a:ext cx="5291176" cy="10058"/>
          </a:xfrm>
          <a:prstGeom prst="rect">
            <a:avLst/>
          </a:prstGeom>
          <a:solidFill>
            <a:srgbClr val="DDD8C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991960" y="3895344"/>
            <a:ext cx="457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Lensa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991960" y="4160520"/>
            <a:ext cx="457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 mana yang tajam untuk kasus mana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78728" y="4608576"/>
            <a:ext cx="5291176" cy="10058"/>
          </a:xfrm>
          <a:prstGeom prst="rect">
            <a:avLst/>
          </a:prstGeom>
          <a:solidFill>
            <a:srgbClr val="DDD8CE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991960" y="4864608"/>
            <a:ext cx="4577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 Data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991960" y="5129784"/>
            <a:ext cx="457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Rujukan lengkap untuk penelusuran lanjutan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278728" y="5577840"/>
            <a:ext cx="5291176" cy="10058"/>
          </a:xfrm>
          <a:prstGeom prst="rect">
            <a:avLst/>
          </a:prstGeom>
          <a:solidFill>
            <a:srgbClr val="DDD8C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0"/>
            <a:ext cx="566928" cy="530352"/>
          </a:xfrm>
          <a:prstGeom prst="rect">
            <a:avLst/>
          </a:prstGeom>
          <a:solidFill>
            <a:srgbClr val="B8A6F5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457200"/>
            <a:ext cx="1053389" cy="283464"/>
          </a:xfrm>
          <a:prstGeom prst="roundRect">
            <a:avLst>
              <a:gd name="adj" fmla="val 50000"/>
            </a:avLst>
          </a:prstGeom>
          <a:solidFill>
            <a:srgbClr val="B8A6F5"/>
          </a:solidFill>
          <a:ln w="12700">
            <a:solidFill>
              <a:srgbClr val="B8A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457200"/>
            <a:ext cx="105338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PETUNJUK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794053" y="457200"/>
            <a:ext cx="1324966" cy="283464"/>
          </a:xfrm>
          <a:prstGeom prst="roundRect">
            <a:avLst>
              <a:gd name="adj" fmla="val 50000"/>
            </a:avLst>
          </a:prstGeom>
          <a:solidFill>
            <a:srgbClr val="F2F0EB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94053" y="457200"/>
            <a:ext cx="132496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BACA DAHULU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1021263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877824"/>
            <a:ext cx="10948111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Memakai Berkas Ini</a:t>
            </a:r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1481328"/>
            <a:ext cx="109481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hal yang menentukan apakah bahan ini aman dipakai.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" y="1975104"/>
            <a:ext cx="3503066" cy="2395728"/>
          </a:xfrm>
          <a:prstGeom prst="roundRect">
            <a:avLst>
              <a:gd name="adj" fmla="val 6107"/>
            </a:avLst>
          </a:prstGeom>
          <a:solidFill>
            <a:srgbClr val="FF5A2D"/>
          </a:solidFill>
          <a:ln/>
        </p:spPr>
      </p:sp>
      <p:sp>
        <p:nvSpPr>
          <p:cNvPr id="11" name="Shape 9"/>
          <p:cNvSpPr/>
          <p:nvPr/>
        </p:nvSpPr>
        <p:spPr>
          <a:xfrm>
            <a:off x="859536" y="2176272"/>
            <a:ext cx="283464" cy="283464"/>
          </a:xfrm>
          <a:prstGeom prst="roundRect">
            <a:avLst>
              <a:gd name="adj" fmla="val 32258"/>
            </a:avLst>
          </a:prstGeom>
          <a:solidFill>
            <a:srgbClr val="FF744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59536" y="2176272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59536" y="2560320"/>
            <a:ext cx="3027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8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Fakta, Bukan Analisis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59536" y="2926080"/>
            <a:ext cx="302757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Berkas ini berhenti pada data dan narasi yang diperdebatkan. Penilaian moral dan penerapan sembilan teori dikerjakan sendiri, karena di situlah nilai tugasnya berada.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44314" y="1975104"/>
            <a:ext cx="3503066" cy="2395728"/>
          </a:xfrm>
          <a:prstGeom prst="roundRect">
            <a:avLst>
              <a:gd name="adj" fmla="val 6107"/>
            </a:avLst>
          </a:prstGeom>
          <a:solidFill>
            <a:srgbClr val="F5B722"/>
          </a:solidFill>
          <a:ln/>
        </p:spPr>
      </p:sp>
      <p:sp>
        <p:nvSpPr>
          <p:cNvPr id="16" name="Shape 14"/>
          <p:cNvSpPr/>
          <p:nvPr/>
        </p:nvSpPr>
        <p:spPr>
          <a:xfrm>
            <a:off x="4582058" y="2176272"/>
            <a:ext cx="283464" cy="283464"/>
          </a:xfrm>
          <a:prstGeom prst="roundRect">
            <a:avLst>
              <a:gd name="adj" fmla="val 32258"/>
            </a:avLst>
          </a:prstGeom>
          <a:solidFill>
            <a:srgbClr val="D09D2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82058" y="2176272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582058" y="2560320"/>
            <a:ext cx="3027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8"/>
              </a:lnSpc>
              <a:buNone/>
            </a:pPr>
            <a:r>
              <a:rPr lang="en-US" sz="1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Angka Punya Tanggal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82058" y="2926080"/>
            <a:ext cx="302757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angka disertai periodenya. Angka industri dan penerimaan negara berubah tiap tahun, jadi periksa ulang bila presentasi mundur beberapa bulan.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66837" y="1975104"/>
            <a:ext cx="3503066" cy="2395728"/>
          </a:xfrm>
          <a:prstGeom prst="roundRect">
            <a:avLst>
              <a:gd name="adj" fmla="val 6107"/>
            </a:avLst>
          </a:prstGeom>
          <a:solidFill>
            <a:srgbClr val="0E1626"/>
          </a:solidFill>
          <a:ln/>
        </p:spPr>
      </p:sp>
      <p:sp>
        <p:nvSpPr>
          <p:cNvPr id="21" name="Shape 19"/>
          <p:cNvSpPr/>
          <p:nvPr/>
        </p:nvSpPr>
        <p:spPr>
          <a:xfrm>
            <a:off x="8304581" y="2176272"/>
            <a:ext cx="283464" cy="283464"/>
          </a:xfrm>
          <a:prstGeom prst="roundRect">
            <a:avLst>
              <a:gd name="adj" fmla="val 32258"/>
            </a:avLst>
          </a:prstGeom>
          <a:solidFill>
            <a:srgbClr val="353B4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304581" y="2176272"/>
            <a:ext cx="283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304581" y="2560320"/>
            <a:ext cx="3027578" cy="43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8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Perkara Hukum Berbeda Statusnya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304581" y="3067304"/>
            <a:ext cx="3027578" cy="1175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33"/>
              </a:lnSpc>
              <a:buNone/>
            </a:pPr>
            <a:r>
              <a:rPr lang="en-US" sz="11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Kasus 04 belum masuk persidangan. Kasus 05 sudah divonis tingkat pertama namun sedang banding, sehingga belum berkekuatan hukum tetap.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1792" y="4590288"/>
            <a:ext cx="10948111" cy="969264"/>
          </a:xfrm>
          <a:prstGeom prst="roundRect">
            <a:avLst>
              <a:gd name="adj" fmla="val 15094"/>
            </a:avLst>
          </a:prstGeom>
          <a:solidFill>
            <a:srgbClr val="C6F0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41832" y="4852035"/>
            <a:ext cx="1030803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Kriteria kelayakan sebuah kasus untuk bab ini: apakah kesembilan teori menghasilkan putusan yang berbeda. Kasus yang seluruh teorinya menolak justru membatalkan pesan bab.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0"/>
            <a:ext cx="566928" cy="530352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457200"/>
            <a:ext cx="1053389" cy="283464"/>
          </a:xfrm>
          <a:prstGeom prst="roundRect">
            <a:avLst>
              <a:gd name="adj" fmla="val 50000"/>
            </a:avLst>
          </a:prstGeom>
          <a:solidFill>
            <a:srgbClr val="FF5A2D"/>
          </a:solidFill>
          <a:ln w="12700">
            <a:solidFill>
              <a:srgbClr val="FF5A2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457200"/>
            <a:ext cx="105338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KASUS 01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794053" y="457200"/>
            <a:ext cx="1596542" cy="283464"/>
          </a:xfrm>
          <a:prstGeom prst="roundRect">
            <a:avLst>
              <a:gd name="adj" fmla="val 50000"/>
            </a:avLst>
          </a:prstGeom>
          <a:solidFill>
            <a:srgbClr val="F2F0EB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94053" y="457200"/>
            <a:ext cx="159654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SKALA INDUSTRI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1021263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877824"/>
            <a:ext cx="10948111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Nikel: Angka Manfaat</a:t>
            </a:r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1481328"/>
            <a:ext cx="109481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kawasan industri terintegrasi, dari tambang sampai produk turunan.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" y="1975104"/>
            <a:ext cx="2599868" cy="1956816"/>
          </a:xfrm>
          <a:prstGeom prst="roundRect">
            <a:avLst>
              <a:gd name="adj" fmla="val 7477"/>
            </a:avLst>
          </a:prstGeom>
          <a:solidFill>
            <a:srgbClr val="FF5A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2194560"/>
            <a:ext cx="21609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41,5</a:t>
            </a:r>
            <a:pPr indent="0" marL="0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834640"/>
            <a:ext cx="21609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Investasi kumulatif kawasan IMIP Morowali per Desember 2025, setara Rp 697 triliun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04540" y="1975104"/>
            <a:ext cx="2599868" cy="1956816"/>
          </a:xfrm>
          <a:prstGeom prst="roundRect">
            <a:avLst>
              <a:gd name="adj" fmla="val 7477"/>
            </a:avLst>
          </a:prstGeom>
          <a:solidFill>
            <a:srgbClr val="B8A6F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23996" y="2194560"/>
            <a:ext cx="21609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85.520</a:t>
            </a:r>
            <a:pPr indent="0" marL="0">
              <a:buNone/>
            </a:pP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3623996" y="2834640"/>
            <a:ext cx="21609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Pekerja IMIP per Juni 2025, naik dari 35.952 pekerja pada 2020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87288" y="1975104"/>
            <a:ext cx="2599868" cy="1956816"/>
          </a:xfrm>
          <a:prstGeom prst="roundRect">
            <a:avLst>
              <a:gd name="adj" fmla="val 7477"/>
            </a:avLst>
          </a:prstGeom>
          <a:solidFill>
            <a:srgbClr val="0FA98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6744" y="2194560"/>
            <a:ext cx="21609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81.000</a:t>
            </a:r>
            <a:pPr indent="0" marL="0">
              <a:buNone/>
            </a:pP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406744" y="2834640"/>
            <a:ext cx="21609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Pekerja terserap di kawasan IWIP Weda Bay, dari target 100.000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70035" y="1975104"/>
            <a:ext cx="2599868" cy="1956816"/>
          </a:xfrm>
          <a:prstGeom prst="roundRect">
            <a:avLst>
              <a:gd name="adj" fmla="val 7477"/>
            </a:avLst>
          </a:prstGeom>
          <a:solidFill>
            <a:srgbClr val="0E162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89491" y="2194560"/>
            <a:ext cx="21609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6F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40</a:t>
            </a:r>
            <a:pPr indent="0" marL="0">
              <a:buNone/>
            </a:pPr>
            <a:r>
              <a:rPr lang="en-US" sz="1260" b="1" dirty="0">
                <a:solidFill>
                  <a:srgbClr val="C6F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9189491" y="2834640"/>
            <a:ext cx="21609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ekspor produk olahan nikel 2025, dari USD 3 miliar pada 2020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" y="4242816"/>
            <a:ext cx="146304" cy="146304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4400" y="413308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AB4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Kebijakan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2505456" y="4133088"/>
            <a:ext cx="90644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Larangan ekspor bijih nikel berlaku 1 Januari 2020 melalui Permen ESDM Nomor 11 Tahun 2019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1792" y="4791456"/>
            <a:ext cx="146304" cy="146304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4400" y="468172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AB4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Ekspor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505456" y="4681728"/>
            <a:ext cx="90644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Ekspor lewat Pelabuhan Bahodopi dan Morowali 2025 mencapai USD 18,08 miliar, sekitar 81 persen ekspor Sulawesi Tengah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1792" y="5340096"/>
            <a:ext cx="146304" cy="146304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14400" y="523036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AB4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Komposisi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2505456" y="5230368"/>
            <a:ext cx="90644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Besi dan baja menyumbang 61,31 persen ekspor kawasan, nikel 16,59 persen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21792" y="5888736"/>
            <a:ext cx="109481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detikFinance dan nikel.co.id atas data PT IMIP dan BPS Sulawesi Tengah, 2025 sampai 2026.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0"/>
            <a:ext cx="566928" cy="530352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457200"/>
            <a:ext cx="1053389" cy="283464"/>
          </a:xfrm>
          <a:prstGeom prst="roundRect">
            <a:avLst>
              <a:gd name="adj" fmla="val 50000"/>
            </a:avLst>
          </a:prstGeom>
          <a:solidFill>
            <a:srgbClr val="FF5A2D"/>
          </a:solidFill>
          <a:ln w="12700">
            <a:solidFill>
              <a:srgbClr val="FF5A2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457200"/>
            <a:ext cx="105338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KASUS 01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794053" y="457200"/>
            <a:ext cx="1596542" cy="283464"/>
          </a:xfrm>
          <a:prstGeom prst="roundRect">
            <a:avLst>
              <a:gd name="adj" fmla="val 50000"/>
            </a:avLst>
          </a:prstGeom>
          <a:solidFill>
            <a:srgbClr val="F2F0EB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94053" y="457200"/>
            <a:ext cx="159654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DAMPAK TERUKUR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1021263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877824"/>
            <a:ext cx="10948111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Nikel: Angka Beban</a:t>
            </a:r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1481328"/>
            <a:ext cx="109481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Biaya yang tersebar dan tidak masuk ke dalam harga produk.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" y="1975104"/>
            <a:ext cx="2599868" cy="1956816"/>
          </a:xfrm>
          <a:prstGeom prst="roundRect">
            <a:avLst>
              <a:gd name="adj" fmla="val 7477"/>
            </a:avLst>
          </a:prstGeom>
          <a:solidFill>
            <a:srgbClr val="0E162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2194560"/>
            <a:ext cx="21609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6F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pPr indent="0" marL="0">
              <a:buNone/>
            </a:pPr>
            <a:r>
              <a:rPr lang="en-US" sz="1260" b="1" dirty="0">
                <a:solidFill>
                  <a:srgbClr val="C6F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834640"/>
            <a:ext cx="21609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Kapasitas PLTU captive nasional yang berasal dari industri nikel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04540" y="1975104"/>
            <a:ext cx="2599868" cy="1956816"/>
          </a:xfrm>
          <a:prstGeom prst="roundRect">
            <a:avLst>
              <a:gd name="adj" fmla="val 7477"/>
            </a:avLst>
          </a:prstGeom>
          <a:solidFill>
            <a:srgbClr val="F5B72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23996" y="2194560"/>
            <a:ext cx="21609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pPr indent="0" marL="0">
              <a:buNone/>
            </a:pPr>
            <a:r>
              <a:rPr lang="en-US" sz="126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%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3623996" y="2834640"/>
            <a:ext cx="21609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Kontribusi pengolahan nikel 2023 pada emisi nasional sektor energi dan proses industri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87288" y="1975104"/>
            <a:ext cx="2599868" cy="1956816"/>
          </a:xfrm>
          <a:prstGeom prst="roundRect">
            <a:avLst>
              <a:gd name="adj" fmla="val 7477"/>
            </a:avLst>
          </a:prstGeom>
          <a:solidFill>
            <a:srgbClr val="0FA98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6744" y="2194560"/>
            <a:ext cx="21609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</a:t>
            </a:r>
            <a:pPr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rb ha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6406744" y="2834640"/>
            <a:ext cx="21609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Tutupan pohon hilang di tiga kabupaten Halmahera, 2001 sampai 2023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70035" y="1975104"/>
            <a:ext cx="2599868" cy="1956816"/>
          </a:xfrm>
          <a:prstGeom prst="roundRect">
            <a:avLst>
              <a:gd name="adj" fmla="val 7477"/>
            </a:avLst>
          </a:prstGeom>
          <a:solidFill>
            <a:srgbClr val="FF5A2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89491" y="2194560"/>
            <a:ext cx="21609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pPr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jiwa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9189491" y="2834640"/>
            <a:ext cx="21609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Korban meninggal ledakan tungku PT ITSS di IMIP, 24 Desember 2023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" y="4242816"/>
            <a:ext cx="146304" cy="146304"/>
          </a:xfrm>
          <a:prstGeom prst="rect">
            <a:avLst/>
          </a:prstGeom>
          <a:solidFill>
            <a:srgbClr val="0E162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4400" y="413308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Energi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2505456" y="4133088"/>
            <a:ext cx="90644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Kapasitas PLTU captive nasional naik dari 5,5 GW pada 2019 menjadi 16,6 GW pada 2024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1792" y="4791456"/>
            <a:ext cx="146304" cy="146304"/>
          </a:xfrm>
          <a:prstGeom prst="rect">
            <a:avLst/>
          </a:prstGeom>
          <a:solidFill>
            <a:srgbClr val="0E162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4400" y="468172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Masyarakat Adat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505456" y="4681728"/>
            <a:ext cx="90644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International mencatat sekitar 19 perusahaan tambang beririsan dengan sekitar 40 persen wilayah hidup suku O Hongana Manyawa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1792" y="5340096"/>
            <a:ext cx="146304" cy="146304"/>
          </a:xfrm>
          <a:prstGeom prst="rect">
            <a:avLst/>
          </a:prstGeom>
          <a:solidFill>
            <a:srgbClr val="0E162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14400" y="523036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Investor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2505456" y="5230368"/>
            <a:ext cx="90644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 pensiun pemerintah Norwegia mengeluarkan Eramet dari portofolionya pada September 2025 atas alasan lingkungan dan hak asasi manusia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21792" y="5888736"/>
            <a:ext cx="109481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Greenpeace, AEER, Climate Action Tracker, Global Forest Watch, Survival International, NBIM, Mongabay, Tempo.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0"/>
            <a:ext cx="566928" cy="530352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457200"/>
            <a:ext cx="1053389" cy="283464"/>
          </a:xfrm>
          <a:prstGeom prst="roundRect">
            <a:avLst>
              <a:gd name="adj" fmla="val 50000"/>
            </a:avLst>
          </a:prstGeom>
          <a:solidFill>
            <a:srgbClr val="FF5A2D"/>
          </a:solidFill>
          <a:ln w="12700">
            <a:solidFill>
              <a:srgbClr val="FF5A2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457200"/>
            <a:ext cx="105338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KASUS 01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794053" y="457200"/>
            <a:ext cx="1143914" cy="283464"/>
          </a:xfrm>
          <a:prstGeom prst="roundRect">
            <a:avLst>
              <a:gd name="adj" fmla="val 50000"/>
            </a:avLst>
          </a:prstGeom>
          <a:solidFill>
            <a:srgbClr val="F2F0EB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94053" y="457200"/>
            <a:ext cx="114391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KRONOLOGI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1021263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877824"/>
            <a:ext cx="10948111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Nikel: Urutan Peristiwa</a:t>
            </a:r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621792" y="1847088"/>
            <a:ext cx="164592" cy="164592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50976" y="173736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B4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2019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048256" y="1737360"/>
            <a:ext cx="95216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Permen ESDM Nomor 11 Tahun 2019 menetapkan larangan ekspor bijih nikel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" y="2157984"/>
            <a:ext cx="10948111" cy="10058"/>
          </a:xfrm>
          <a:prstGeom prst="rect">
            <a:avLst/>
          </a:prstGeom>
          <a:solidFill>
            <a:srgbClr val="DDD8CE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" y="2395728"/>
            <a:ext cx="164592" cy="164592"/>
          </a:xfrm>
          <a:prstGeom prst="rect">
            <a:avLst/>
          </a:prstGeom>
          <a:solidFill>
            <a:srgbClr val="0FA98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50976" y="22860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6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048256" y="2286000"/>
            <a:ext cx="95216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Larangan berlaku 1 Januari, memaksa pembangunan smelter di dalam negeri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" y="2706624"/>
            <a:ext cx="10948111" cy="10058"/>
          </a:xfrm>
          <a:prstGeom prst="rect">
            <a:avLst/>
          </a:prstGeom>
          <a:solidFill>
            <a:srgbClr val="DDD8CE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" y="2944368"/>
            <a:ext cx="164592" cy="164592"/>
          </a:xfrm>
          <a:prstGeom prst="rect">
            <a:avLst/>
          </a:prstGeom>
          <a:solidFill>
            <a:srgbClr val="F5B72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50976" y="283464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47F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2021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048256" y="2834640"/>
            <a:ext cx="95216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 Eropa menggugat kebijakan tersebut ke Organisasi Perdagangan Dunia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" y="3255264"/>
            <a:ext cx="10948111" cy="10058"/>
          </a:xfrm>
          <a:prstGeom prst="rect">
            <a:avLst/>
          </a:prstGeom>
          <a:solidFill>
            <a:srgbClr val="DDD8CE"/>
          </a:solidFill>
          <a:ln/>
        </p:spPr>
      </p:sp>
      <p:sp>
        <p:nvSpPr>
          <p:cNvPr id="21" name="Shape 19"/>
          <p:cNvSpPr/>
          <p:nvPr/>
        </p:nvSpPr>
        <p:spPr>
          <a:xfrm>
            <a:off x="621792" y="3493008"/>
            <a:ext cx="164592" cy="164592"/>
          </a:xfrm>
          <a:prstGeom prst="rect">
            <a:avLst/>
          </a:prstGeom>
          <a:solidFill>
            <a:srgbClr val="0E162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50976" y="33832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2022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2048256" y="3383280"/>
            <a:ext cx="95216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November, panel WTO memutus Indonesia melanggar GATT Pasal XI ayat 1. Indonesia menyatakan banding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" y="3803904"/>
            <a:ext cx="10948111" cy="10058"/>
          </a:xfrm>
          <a:prstGeom prst="rect">
            <a:avLst/>
          </a:prstGeom>
          <a:solidFill>
            <a:srgbClr val="DDD8CE"/>
          </a:solidFill>
          <a:ln/>
        </p:spPr>
      </p:sp>
      <p:sp>
        <p:nvSpPr>
          <p:cNvPr id="25" name="Shape 23"/>
          <p:cNvSpPr/>
          <p:nvPr/>
        </p:nvSpPr>
        <p:spPr>
          <a:xfrm>
            <a:off x="621792" y="4041648"/>
            <a:ext cx="164592" cy="164592"/>
          </a:xfrm>
          <a:prstGeom prst="rect">
            <a:avLst/>
          </a:prstGeom>
          <a:solidFill>
            <a:srgbClr val="B8A6F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50976" y="393192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D74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2023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048256" y="3931920"/>
            <a:ext cx="95216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Desember, ledakan tungku PT ITSS di kawasan IMIP menewaskan 21 pekerja, 13 warga negara Indonesia dan 8 warga negara asing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" y="4352544"/>
            <a:ext cx="10948111" cy="10058"/>
          </a:xfrm>
          <a:prstGeom prst="rect">
            <a:avLst/>
          </a:prstGeom>
          <a:solidFill>
            <a:srgbClr val="DDD8CE"/>
          </a:solidFill>
          <a:ln/>
        </p:spPr>
      </p:sp>
      <p:sp>
        <p:nvSpPr>
          <p:cNvPr id="29" name="Shape 27"/>
          <p:cNvSpPr/>
          <p:nvPr/>
        </p:nvSpPr>
        <p:spPr>
          <a:xfrm>
            <a:off x="621792" y="4590288"/>
            <a:ext cx="164592" cy="164592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50976" y="448056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B42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2048256" y="4480560"/>
            <a:ext cx="95216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September, dana pensiun Norwegia mengeluarkan Eramet dari portofolionya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1792" y="4901184"/>
            <a:ext cx="10948111" cy="10058"/>
          </a:xfrm>
          <a:prstGeom prst="rect">
            <a:avLst/>
          </a:prstGeom>
          <a:solidFill>
            <a:srgbClr val="DDD8CE"/>
          </a:solidFill>
          <a:ln/>
        </p:spPr>
      </p:sp>
      <p:sp>
        <p:nvSpPr>
          <p:cNvPr id="33" name="Shape 31"/>
          <p:cNvSpPr/>
          <p:nvPr/>
        </p:nvSpPr>
        <p:spPr>
          <a:xfrm>
            <a:off x="621792" y="5138928"/>
            <a:ext cx="164592" cy="164592"/>
          </a:xfrm>
          <a:prstGeom prst="rect">
            <a:avLst/>
          </a:prstGeom>
          <a:solidFill>
            <a:srgbClr val="0FA98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50976" y="50292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6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2048256" y="5029200"/>
            <a:ext cx="95216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Banding Indonesia di WTO belum diputus karena Badan Banding tidak berfungsi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1792" y="5650992"/>
            <a:ext cx="10948111" cy="457200"/>
          </a:xfrm>
          <a:prstGeom prst="roundRect">
            <a:avLst>
              <a:gd name="adj" fmla="val 32000"/>
            </a:avLst>
          </a:prstGeom>
          <a:solidFill>
            <a:srgbClr val="C6F04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41832" y="5781008"/>
            <a:ext cx="103080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3"/>
              </a:lnSpc>
              <a:buNone/>
            </a:pPr>
            <a:r>
              <a:rPr lang="en-US" sz="11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Larangan ekspor adalah titik balik yang membuat seluruh manfaat dan seluruh beban berikutnya mungkin terjadi.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621792" y="6236208"/>
            <a:ext cx="109481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Wikipedia, ADCO Law, CNBC Indonesia, Kompas, Mongabay.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0"/>
            <a:ext cx="566928" cy="530352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457200"/>
            <a:ext cx="1053389" cy="283464"/>
          </a:xfrm>
          <a:prstGeom prst="roundRect">
            <a:avLst>
              <a:gd name="adj" fmla="val 50000"/>
            </a:avLst>
          </a:prstGeom>
          <a:solidFill>
            <a:srgbClr val="FF5A2D"/>
          </a:solidFill>
          <a:ln w="12700">
            <a:solidFill>
              <a:srgbClr val="FF5A2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457200"/>
            <a:ext cx="105338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KASUS 01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794053" y="457200"/>
            <a:ext cx="1596542" cy="283464"/>
          </a:xfrm>
          <a:prstGeom prst="roundRect">
            <a:avLst>
              <a:gd name="adj" fmla="val 50000"/>
            </a:avLst>
          </a:prstGeom>
          <a:solidFill>
            <a:srgbClr val="F2F0EB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94053" y="457200"/>
            <a:ext cx="159654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TITIK SENGKETA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1021263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877824"/>
            <a:ext cx="10948111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Nikel: Dua Narasi</a:t>
            </a:r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621792" y="1737360"/>
            <a:ext cx="5346040" cy="3529584"/>
          </a:xfrm>
          <a:prstGeom prst="roundRect">
            <a:avLst>
              <a:gd name="adj" fmla="val 4145"/>
            </a:avLst>
          </a:prstGeom>
          <a:solidFill>
            <a:srgbClr val="FF5A2D"/>
          </a:solidFill>
          <a:ln/>
        </p:spPr>
      </p:sp>
      <p:sp>
        <p:nvSpPr>
          <p:cNvPr id="10" name="Shape 8"/>
          <p:cNvSpPr/>
          <p:nvPr/>
        </p:nvSpPr>
        <p:spPr>
          <a:xfrm>
            <a:off x="896112" y="1956816"/>
            <a:ext cx="1053389" cy="283464"/>
          </a:xfrm>
          <a:prstGeom prst="roundRect">
            <a:avLst>
              <a:gd name="adj" fmla="val 50000"/>
            </a:avLst>
          </a:prstGeom>
          <a:solidFill>
            <a:srgbClr val="0E1626"/>
          </a:solidFill>
          <a:ln w="12700">
            <a:solidFill>
              <a:srgbClr val="0E16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96112" y="1956816"/>
            <a:ext cx="105338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PEMBENAR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2377440"/>
            <a:ext cx="479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Nikel untuk Transisi Energi Dunia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31272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Tambah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139696" y="3099816"/>
            <a:ext cx="351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FF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Ekspor olahan naik dari USD 3 miliar menjadi USD 40 miliar dalam lima tahun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3657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Kerja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2139696" y="3630168"/>
            <a:ext cx="351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FF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 dari 166 ribu pekerja terserap di dua kawasan industri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" y="4187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Daerah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2139696" y="4160520"/>
            <a:ext cx="351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FF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Ekonomi Sulawesi Tengah bergeser dari komoditas mentah ke manufaktur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47183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Iklim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2139696" y="4690872"/>
            <a:ext cx="351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FF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Baterai kendaraan listrik dunia membutuhkan pasokan nikel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23864" y="1737360"/>
            <a:ext cx="5346040" cy="3529584"/>
          </a:xfrm>
          <a:prstGeom prst="roundRect">
            <a:avLst>
              <a:gd name="adj" fmla="val 4145"/>
            </a:avLst>
          </a:prstGeom>
          <a:solidFill>
            <a:srgbClr val="0E1626"/>
          </a:solidFill>
          <a:ln/>
        </p:spPr>
      </p:sp>
      <p:sp>
        <p:nvSpPr>
          <p:cNvPr id="22" name="Shape 20"/>
          <p:cNvSpPr/>
          <p:nvPr/>
        </p:nvSpPr>
        <p:spPr>
          <a:xfrm>
            <a:off x="6498184" y="1956816"/>
            <a:ext cx="1053389" cy="283464"/>
          </a:xfrm>
          <a:prstGeom prst="roundRect">
            <a:avLst>
              <a:gd name="adj" fmla="val 50000"/>
            </a:avLst>
          </a:prstGeom>
          <a:solidFill>
            <a:srgbClr val="C6F04A"/>
          </a:solidFill>
          <a:ln w="12700">
            <a:solidFill>
              <a:srgbClr val="C6F0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98184" y="1956816"/>
            <a:ext cx="105338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BANTAHAN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498184" y="2377440"/>
            <a:ext cx="479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Logam Hijau dari Listrik Kotor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6498184" y="31272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6F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741768" y="3099816"/>
            <a:ext cx="351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 nikel menyumbang 76 persen kapasitas PLTU captive nasional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498184" y="3657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6F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Hutan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741768" y="3630168"/>
            <a:ext cx="351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 ribu hektare tutupan pohon hilang di tiga kabupaten Halmahera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498184" y="4187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6F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Kerja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7741768" y="4160520"/>
            <a:ext cx="351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pekerja meninggal dalam satu insiden ledakan tungku pada 2023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498184" y="47183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6F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7741768" y="4690872"/>
            <a:ext cx="351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Sungai Ake Jira dan Ake Sagea dilaporkan tercemar logam berat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1792" y="5413248"/>
            <a:ext cx="10948111" cy="566928"/>
          </a:xfrm>
          <a:prstGeom prst="roundRect">
            <a:avLst>
              <a:gd name="adj" fmla="val 25806"/>
            </a:avLst>
          </a:prstGeom>
          <a:solidFill>
            <a:srgbClr val="F5B72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41832" y="5593842"/>
            <a:ext cx="1030803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Istilah yang diperebutkan: hilirisasi berkonotasi kemajuan, ekstraksi berkonotasi pengurasan.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21792" y="6108192"/>
            <a:ext cx="109481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Ongoing Harms, Limited Accountability 2025 untuk data pencemaran sungai.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0"/>
            <a:ext cx="566928" cy="530352"/>
          </a:xfrm>
          <a:prstGeom prst="rect">
            <a:avLst/>
          </a:prstGeom>
          <a:solidFill>
            <a:srgbClr val="0FA98E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457200"/>
            <a:ext cx="1053389" cy="283464"/>
          </a:xfrm>
          <a:prstGeom prst="roundRect">
            <a:avLst>
              <a:gd name="adj" fmla="val 50000"/>
            </a:avLst>
          </a:prstGeom>
          <a:solidFill>
            <a:srgbClr val="0FA98E"/>
          </a:solidFill>
          <a:ln w="12700">
            <a:solidFill>
              <a:srgbClr val="0FA98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457200"/>
            <a:ext cx="105338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KASUS 02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794053" y="457200"/>
            <a:ext cx="1324966" cy="283464"/>
          </a:xfrm>
          <a:prstGeom prst="roundRect">
            <a:avLst>
              <a:gd name="adj" fmla="val 50000"/>
            </a:avLst>
          </a:prstGeom>
          <a:solidFill>
            <a:srgbClr val="F2F0EB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94053" y="457200"/>
            <a:ext cx="132496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MAIN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1021263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877824"/>
            <a:ext cx="10948111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Ojol: Angka dan Regulasi</a:t>
            </a:r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1481328"/>
            <a:ext cx="109481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mitra dipertahankan, namun negara mulai mengatur isinya.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" y="1975104"/>
            <a:ext cx="2599868" cy="1956816"/>
          </a:xfrm>
          <a:prstGeom prst="roundRect">
            <a:avLst>
              <a:gd name="adj" fmla="val 7477"/>
            </a:avLst>
          </a:prstGeom>
          <a:solidFill>
            <a:srgbClr val="0FA98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2194560"/>
            <a:ext cx="21609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850.000</a:t>
            </a:r>
            <a:pPr indent="0" marL="0">
              <a:buNone/>
            </a:pP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834640"/>
            <a:ext cx="21609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Pengemudi penerima bonus hari raya 2026 dari empat aplikator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04540" y="1975104"/>
            <a:ext cx="2599868" cy="1956816"/>
          </a:xfrm>
          <a:prstGeom prst="roundRect">
            <a:avLst>
              <a:gd name="adj" fmla="val 7477"/>
            </a:avLst>
          </a:prstGeom>
          <a:solidFill>
            <a:srgbClr val="B8A6F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23996" y="2194560"/>
            <a:ext cx="21609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ke 8</a:t>
            </a:r>
            <a:pPr indent="0" marL="0">
              <a:buNone/>
            </a:pPr>
            <a:r>
              <a:rPr lang="en-US" sz="1092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%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3623996" y="2834640"/>
            <a:ext cx="21609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Pemangkasan batas potongan aplikasi menurut Perpres 27 Tahun 2026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87288" y="1975104"/>
            <a:ext cx="2599868" cy="1956816"/>
          </a:xfrm>
          <a:prstGeom prst="roundRect">
            <a:avLst>
              <a:gd name="adj" fmla="val 7477"/>
            </a:avLst>
          </a:prstGeom>
          <a:solidFill>
            <a:srgbClr val="F5B72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6744" y="2194560"/>
            <a:ext cx="21609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Juli</a:t>
            </a:r>
            <a:pPr indent="0" marL="0">
              <a:buNone/>
            </a:pPr>
            <a:r>
              <a:rPr lang="en-US" sz="1092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2026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406744" y="2834640"/>
            <a:ext cx="21609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Tanggal berlakunya batas potongan 8 persen bagi aplikator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70035" y="1975104"/>
            <a:ext cx="2599868" cy="1956816"/>
          </a:xfrm>
          <a:prstGeom prst="roundRect">
            <a:avLst>
              <a:gd name="adj" fmla="val 7477"/>
            </a:avLst>
          </a:prstGeom>
          <a:solidFill>
            <a:srgbClr val="0E162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89491" y="2194560"/>
            <a:ext cx="21609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6F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Mitra</a:t>
            </a:r>
            <a:pPr indent="0" marL="0">
              <a:buNone/>
            </a:pP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9189491" y="2834640"/>
            <a:ext cx="21609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hukum pengemudi tidak berubah, tetap bukan hubungan kerja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" y="4242816"/>
            <a:ext cx="146304" cy="146304"/>
          </a:xfrm>
          <a:prstGeom prst="rect">
            <a:avLst/>
          </a:prstGeom>
          <a:solidFill>
            <a:srgbClr val="0FA98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4400" y="413308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76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Sebaran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2505456" y="4133088"/>
            <a:ext cx="906444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 sekitar 400 ribu pengemudi, Gojek sekitar 400 ribu, Maxim sekitar 51 ribu, inDrive sekitar 500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1792" y="4809744"/>
            <a:ext cx="146304" cy="146304"/>
          </a:xfrm>
          <a:prstGeom prst="rect">
            <a:avLst/>
          </a:prstGeom>
          <a:solidFill>
            <a:srgbClr val="0FA98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4400" y="470001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76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Bantahan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505456" y="4700016"/>
            <a:ext cx="906444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Serikat Pekerja Angkutan Indonesia menyatakan potongan efektif di lapangan masih di atas 20 persen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1792" y="5376672"/>
            <a:ext cx="146304" cy="146304"/>
          </a:xfrm>
          <a:prstGeom prst="rect">
            <a:avLst/>
          </a:prstGeom>
          <a:solidFill>
            <a:srgbClr val="0FA98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14400" y="526694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76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Contoh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2505456" y="5266944"/>
            <a:ext cx="906444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tarif Rp 15.500, pengemudi dipotong Rp 3.500 berupa biaya aplikasi Rp 2.500 dan biaya asuransi Rp 1.000, sebelum potongan 8 persen dihitung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21792" y="5943600"/>
            <a:ext cx="109481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Perpres Nomor 27 Tahun 2026, Hukumonline, detikFinance, Espos, pernyataan SPAI.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0"/>
            <a:ext cx="566928" cy="530352"/>
          </a:xfrm>
          <a:prstGeom prst="rect">
            <a:avLst/>
          </a:prstGeom>
          <a:solidFill>
            <a:srgbClr val="0FA98E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457200"/>
            <a:ext cx="1053389" cy="283464"/>
          </a:xfrm>
          <a:prstGeom prst="roundRect">
            <a:avLst>
              <a:gd name="adj" fmla="val 50000"/>
            </a:avLst>
          </a:prstGeom>
          <a:solidFill>
            <a:srgbClr val="0FA98E"/>
          </a:solidFill>
          <a:ln w="12700">
            <a:solidFill>
              <a:srgbClr val="0FA98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457200"/>
            <a:ext cx="105338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KASUS 02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794053" y="457200"/>
            <a:ext cx="1596542" cy="283464"/>
          </a:xfrm>
          <a:prstGeom prst="roundRect">
            <a:avLst>
              <a:gd name="adj" fmla="val 50000"/>
            </a:avLst>
          </a:prstGeom>
          <a:solidFill>
            <a:srgbClr val="F2F0EB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94053" y="457200"/>
            <a:ext cx="159654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TITIK SENGKETA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1021263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877824"/>
            <a:ext cx="10948111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Ojol: Dua Narasi</a:t>
            </a:r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621792" y="1737360"/>
            <a:ext cx="5346040" cy="3310128"/>
          </a:xfrm>
          <a:prstGeom prst="roundRect">
            <a:avLst>
              <a:gd name="adj" fmla="val 4420"/>
            </a:avLst>
          </a:prstGeom>
          <a:solidFill>
            <a:srgbClr val="0FA98E"/>
          </a:solidFill>
          <a:ln/>
        </p:spPr>
      </p:sp>
      <p:sp>
        <p:nvSpPr>
          <p:cNvPr id="10" name="Shape 8"/>
          <p:cNvSpPr/>
          <p:nvPr/>
        </p:nvSpPr>
        <p:spPr>
          <a:xfrm>
            <a:off x="896112" y="1956816"/>
            <a:ext cx="1053389" cy="283464"/>
          </a:xfrm>
          <a:prstGeom prst="roundRect">
            <a:avLst>
              <a:gd name="adj" fmla="val 50000"/>
            </a:avLst>
          </a:prstGeom>
          <a:solidFill>
            <a:srgbClr val="0E1626"/>
          </a:solidFill>
          <a:ln w="12700">
            <a:solidFill>
              <a:srgbClr val="0E16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96112" y="1956816"/>
            <a:ext cx="105338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PEMBENAR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2377440"/>
            <a:ext cx="479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Kemitraan dan Fleksibilitas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3108960"/>
            <a:ext cx="47425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membuka akses pendapatan bagi ratusan ribu orang tanpa syarat pendidikan atau pengalaman. Status mitra memungkinkan pengemudi menentukan sendiri jam kerjanya dan bekerja pada lebih dari satu aplikasi.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Pemangkasan potongan menjadi 8 persen disebut sudah menjawab keberatan utama tanpa perlu mengubah status hukum.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23864" y="1737360"/>
            <a:ext cx="5346040" cy="3310128"/>
          </a:xfrm>
          <a:prstGeom prst="roundRect">
            <a:avLst>
              <a:gd name="adj" fmla="val 4420"/>
            </a:avLst>
          </a:prstGeom>
          <a:solidFill>
            <a:srgbClr val="0E1626"/>
          </a:solidFill>
          <a:ln/>
        </p:spPr>
      </p:sp>
      <p:sp>
        <p:nvSpPr>
          <p:cNvPr id="15" name="Shape 13"/>
          <p:cNvSpPr/>
          <p:nvPr/>
        </p:nvSpPr>
        <p:spPr>
          <a:xfrm>
            <a:off x="6498184" y="1956816"/>
            <a:ext cx="1053389" cy="283464"/>
          </a:xfrm>
          <a:prstGeom prst="roundRect">
            <a:avLst>
              <a:gd name="adj" fmla="val 50000"/>
            </a:avLst>
          </a:prstGeom>
          <a:solidFill>
            <a:srgbClr val="C6F04A"/>
          </a:solidFill>
          <a:ln w="12700">
            <a:solidFill>
              <a:srgbClr val="C6F0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8184" y="1956816"/>
            <a:ext cx="105338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BANTAHAN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498184" y="2377440"/>
            <a:ext cx="479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Kendali Ada, Perlindungan Tidak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498184" y="3108960"/>
            <a:ext cx="47425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menetapkan tarif, membagi order lewat algoritma, memberi sanksi, dan memutus akun secara sepihak. Ciri itu disebut menyerupai hubungan kerja, bukan kemitraan setara.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Serikat pengemudi menyatakan potongan efektif tetap di atas 20 persen karena biaya aplikasi dan asuransi dihitung terpisah.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" y="5193792"/>
            <a:ext cx="10948111" cy="658368"/>
          </a:xfrm>
          <a:prstGeom prst="roundRect">
            <a:avLst>
              <a:gd name="adj" fmla="val 22222"/>
            </a:avLst>
          </a:prstGeom>
          <a:solidFill>
            <a:srgbClr val="F5B72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41832" y="5308664"/>
            <a:ext cx="1030803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Istilah yang diperebutkan: mitra menyiratkan kedudukan setara, pekerja menyiratkan kewajiban perlindungan. Satu kata menentukan seluruh hak yang melekat.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21792" y="5998464"/>
            <a:ext cx="109481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Perpres Nomor 27 Tahun 2026, pernyataan Serikat Pekerja Angkutan Indonesia, pemberitaan Agustus 2026.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0"/>
            <a:ext cx="566928" cy="530352"/>
          </a:xfrm>
          <a:prstGeom prst="rect">
            <a:avLst/>
          </a:prstGeom>
          <a:solidFill>
            <a:srgbClr val="F5B722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457200"/>
            <a:ext cx="1053389" cy="283464"/>
          </a:xfrm>
          <a:prstGeom prst="roundRect">
            <a:avLst>
              <a:gd name="adj" fmla="val 50000"/>
            </a:avLst>
          </a:prstGeom>
          <a:solidFill>
            <a:srgbClr val="F5B722"/>
          </a:solidFill>
          <a:ln w="12700">
            <a:solidFill>
              <a:srgbClr val="F5B72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457200"/>
            <a:ext cx="105338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KASUS 03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794053" y="457200"/>
            <a:ext cx="1324966" cy="283464"/>
          </a:xfrm>
          <a:prstGeom prst="roundRect">
            <a:avLst>
              <a:gd name="adj" fmla="val 50000"/>
            </a:avLst>
          </a:prstGeom>
          <a:solidFill>
            <a:srgbClr val="F2F0EB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94053" y="457200"/>
            <a:ext cx="132496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ANGKA KUNCI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1021263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877824"/>
            <a:ext cx="10948111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Rokok: Angka Dua Sisi</a:t>
            </a:r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1481328"/>
            <a:ext cx="109481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Penerimaan negara dan penyerapan tenaga kerja berhadapan dengan beban kesehatan.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" y="1975104"/>
            <a:ext cx="2599868" cy="1956816"/>
          </a:xfrm>
          <a:prstGeom prst="roundRect">
            <a:avLst>
              <a:gd name="adj" fmla="val 7477"/>
            </a:avLst>
          </a:prstGeom>
          <a:solidFill>
            <a:srgbClr val="F5B72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2194560"/>
            <a:ext cx="21609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122</a:t>
            </a:r>
            <a:pPr indent="0" marL="0">
              <a:buNone/>
            </a:pPr>
            <a:r>
              <a:rPr lang="en-US" sz="1176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834640"/>
            <a:ext cx="21609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Penerimaan cukai hasil tembakau sampai Juli 2025, naik 9,6 persen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04540" y="1975104"/>
            <a:ext cx="2599868" cy="1956816"/>
          </a:xfrm>
          <a:prstGeom prst="roundRect">
            <a:avLst>
              <a:gd name="adj" fmla="val 7477"/>
            </a:avLst>
          </a:prstGeom>
          <a:solidFill>
            <a:srgbClr val="FF5A2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23996" y="2194560"/>
            <a:ext cx="21609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pPr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juta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3623996" y="2834640"/>
            <a:ext cx="21609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Perokok aktif menurut Survei Kesehatan Indonesia 2023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87288" y="1975104"/>
            <a:ext cx="2599868" cy="1956816"/>
          </a:xfrm>
          <a:prstGeom prst="roundRect">
            <a:avLst>
              <a:gd name="adj" fmla="val 7477"/>
            </a:avLst>
          </a:prstGeom>
          <a:solidFill>
            <a:srgbClr val="0FA98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6744" y="2194560"/>
            <a:ext cx="21609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74,5</a:t>
            </a:r>
            <a:pPr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%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6406744" y="2834640"/>
            <a:ext cx="21609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Prevalensi merokok pada laki-laki, perempuan 3 persen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70035" y="1975104"/>
            <a:ext cx="2599868" cy="1956816"/>
          </a:xfrm>
          <a:prstGeom prst="roundRect">
            <a:avLst>
              <a:gd name="adj" fmla="val 7477"/>
            </a:avLst>
          </a:prstGeom>
          <a:solidFill>
            <a:srgbClr val="0E162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89491" y="2194560"/>
            <a:ext cx="21609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6F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10,8</a:t>
            </a:r>
            <a:pPr indent="0" marL="0">
              <a:buNone/>
            </a:pPr>
            <a:r>
              <a:rPr lang="en-US" sz="1260" b="1" dirty="0">
                <a:solidFill>
                  <a:srgbClr val="C6F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%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9189491" y="2834640"/>
            <a:ext cx="21609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Sumbangan rokok kretek filter pada garis kemiskinan perkotaan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" y="4242816"/>
            <a:ext cx="146304" cy="146304"/>
          </a:xfrm>
          <a:prstGeom prst="rect">
            <a:avLst/>
          </a:prstGeom>
          <a:solidFill>
            <a:srgbClr val="F5B72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4400" y="413308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A47F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Peringkat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2505456" y="4133088"/>
            <a:ext cx="906444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Indonesia berada di posisi kelima dunia untuk persentase perokok, yaitu 38,7 persen penduduk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1792" y="4809744"/>
            <a:ext cx="146304" cy="146304"/>
          </a:xfrm>
          <a:prstGeom prst="rect">
            <a:avLst/>
          </a:prstGeom>
          <a:solidFill>
            <a:srgbClr val="F5B72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4400" y="470001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A47F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Usia Muda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505456" y="4700016"/>
            <a:ext cx="906444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7,4 persen perokok berada pada rentang usia 10 sampai 18 tahun menurut survei 2023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1792" y="5376672"/>
            <a:ext cx="146304" cy="146304"/>
          </a:xfrm>
          <a:prstGeom prst="rect">
            <a:avLst/>
          </a:prstGeom>
          <a:solidFill>
            <a:srgbClr val="F5B72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14400" y="526694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A47F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Kemiskinan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2505456" y="5266944"/>
            <a:ext cx="906444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Rokok kretek filter adalah penyumbang garis kemiskinan terbesar kedua setelah beras, 10,83 persen di kota dan 10,18 persen di desa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21792" y="5943600"/>
            <a:ext cx="109481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Kementerian Kesehatan, Survei Kesehatan Indonesia 2023, Badan Pusat Statistik Maret 2025, Kementerian Keuangan.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0"/>
            <a:ext cx="566928" cy="530352"/>
          </a:xfrm>
          <a:prstGeom prst="rect">
            <a:avLst/>
          </a:prstGeom>
          <a:solidFill>
            <a:srgbClr val="F5B722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457200"/>
            <a:ext cx="1053389" cy="283464"/>
          </a:xfrm>
          <a:prstGeom prst="roundRect">
            <a:avLst>
              <a:gd name="adj" fmla="val 50000"/>
            </a:avLst>
          </a:prstGeom>
          <a:solidFill>
            <a:srgbClr val="F5B722"/>
          </a:solidFill>
          <a:ln w="12700">
            <a:solidFill>
              <a:srgbClr val="F5B72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457200"/>
            <a:ext cx="105338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KASUS 03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794053" y="457200"/>
            <a:ext cx="1596542" cy="283464"/>
          </a:xfrm>
          <a:prstGeom prst="roundRect">
            <a:avLst>
              <a:gd name="adj" fmla="val 50000"/>
            </a:avLst>
          </a:prstGeom>
          <a:solidFill>
            <a:srgbClr val="F2F0EB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94053" y="457200"/>
            <a:ext cx="159654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TITIK SENGKETA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1021263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877824"/>
            <a:ext cx="10948111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Rokok: Dua Narasi</a:t>
            </a:r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621792" y="1737360"/>
            <a:ext cx="5346040" cy="3310128"/>
          </a:xfrm>
          <a:prstGeom prst="roundRect">
            <a:avLst>
              <a:gd name="adj" fmla="val 4420"/>
            </a:avLst>
          </a:prstGeom>
          <a:solidFill>
            <a:srgbClr val="F5B722"/>
          </a:solidFill>
          <a:ln/>
        </p:spPr>
      </p:sp>
      <p:sp>
        <p:nvSpPr>
          <p:cNvPr id="10" name="Shape 8"/>
          <p:cNvSpPr/>
          <p:nvPr/>
        </p:nvSpPr>
        <p:spPr>
          <a:xfrm>
            <a:off x="896112" y="1956816"/>
            <a:ext cx="1053389" cy="283464"/>
          </a:xfrm>
          <a:prstGeom prst="roundRect">
            <a:avLst>
              <a:gd name="adj" fmla="val 50000"/>
            </a:avLst>
          </a:prstGeom>
          <a:solidFill>
            <a:srgbClr val="0E1626"/>
          </a:solidFill>
          <a:ln w="12700">
            <a:solidFill>
              <a:srgbClr val="0E16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96112" y="1956816"/>
            <a:ext cx="105338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PEMBENAR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2377440"/>
            <a:ext cx="479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9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 Legal dan Padat Karya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3108960"/>
            <a:ext cx="47425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2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 ini legal, dikenai cukai, dan diatur ketat. Konsumsinya merupakan pilihan orang dewasa yang mengetahui risikonya, karena peringatan kesehatan tercetak pada setiap bungkus.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2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Sigaret kretek tangan menyerap tenaga kerja besar, mayoritas perempuan, di Kudus, Malang, dan Blitar. Pengetatan mendadak disebut akan memindahkan pasar ke rokok ilegal.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23864" y="1737360"/>
            <a:ext cx="5346040" cy="3310128"/>
          </a:xfrm>
          <a:prstGeom prst="roundRect">
            <a:avLst>
              <a:gd name="adj" fmla="val 4420"/>
            </a:avLst>
          </a:prstGeom>
          <a:solidFill>
            <a:srgbClr val="0E1626"/>
          </a:solidFill>
          <a:ln/>
        </p:spPr>
      </p:sp>
      <p:sp>
        <p:nvSpPr>
          <p:cNvPr id="15" name="Shape 13"/>
          <p:cNvSpPr/>
          <p:nvPr/>
        </p:nvSpPr>
        <p:spPr>
          <a:xfrm>
            <a:off x="6498184" y="1956816"/>
            <a:ext cx="1053389" cy="283464"/>
          </a:xfrm>
          <a:prstGeom prst="roundRect">
            <a:avLst>
              <a:gd name="adj" fmla="val 50000"/>
            </a:avLst>
          </a:prstGeom>
          <a:solidFill>
            <a:srgbClr val="C6F04A"/>
          </a:solidFill>
          <a:ln w="12700">
            <a:solidFill>
              <a:srgbClr val="C6F0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8184" y="1956816"/>
            <a:ext cx="105338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BANTAHAN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498184" y="2377440"/>
            <a:ext cx="479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Pilihan yang Tidak Sepenuhnya Bebas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498184" y="3108960"/>
            <a:ext cx="47425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Sebagian besar perokok mulai pada usia remaja, ketika kapasitas menimbang risiko jangka panjang belum penuh. Ketergantungan nikotin membuat pilihan berhenti tidak sebebas pilihan memulai.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Bebannya jatuh pada rumah tangga berpenghasilan rendah, karena rokok adalah penyumbang garis kemiskinan terbesar kedua setelah beras.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" y="5193792"/>
            <a:ext cx="10948111" cy="658368"/>
          </a:xfrm>
          <a:prstGeom prst="roundRect">
            <a:avLst>
              <a:gd name="adj" fmla="val 22222"/>
            </a:avLst>
          </a:prstGeom>
          <a:solidFill>
            <a:srgbClr val="F5B72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41832" y="5308664"/>
            <a:ext cx="1030803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Istilah yang diperebutkan: industri hasil tembakau berkonotasi pertanian dan manufaktur, industri rokok menyebut produk akhirnya secara langsung.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21792" y="5998464"/>
            <a:ext cx="109481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 cukai hasil tembakau tidak dinaikkan pada 2025, penerimaan tetap tumbuh lewat penyesuaian harga dasar.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0"/>
            <a:ext cx="566928" cy="530352"/>
          </a:xfrm>
          <a:prstGeom prst="rect">
            <a:avLst/>
          </a:prstGeom>
          <a:solidFill>
            <a:srgbClr val="0E1626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457200"/>
            <a:ext cx="1053389" cy="283464"/>
          </a:xfrm>
          <a:prstGeom prst="roundRect">
            <a:avLst>
              <a:gd name="adj" fmla="val 50000"/>
            </a:avLst>
          </a:prstGeom>
          <a:solidFill>
            <a:srgbClr val="0E1626"/>
          </a:solidFill>
          <a:ln w="12700">
            <a:solidFill>
              <a:srgbClr val="0E162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457200"/>
            <a:ext cx="105338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KASUS 04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794053" y="457200"/>
            <a:ext cx="1868119" cy="283464"/>
          </a:xfrm>
          <a:prstGeom prst="roundRect">
            <a:avLst>
              <a:gd name="adj" fmla="val 50000"/>
            </a:avLst>
          </a:prstGeom>
          <a:solidFill>
            <a:srgbClr val="F2F0EB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94053" y="457200"/>
            <a:ext cx="186811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DISIDANGKAN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1021263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877824"/>
            <a:ext cx="10948111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 Minyak Pertamina</a:t>
            </a:r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1481328"/>
            <a:ext cx="109481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perkara terpisah dengan satu nama tersangka yang sama.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" y="2048256"/>
            <a:ext cx="146304" cy="146304"/>
          </a:xfrm>
          <a:prstGeom prst="rect">
            <a:avLst/>
          </a:prstGeom>
          <a:solidFill>
            <a:srgbClr val="0E162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193852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Perkara I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505456" y="1938528"/>
            <a:ext cx="906444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kelola minyak mentah dan produk kilang periode 2018 sampai 2023, sembilan tersangka, dugaan kerugian negara Rp 193,7 triliun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" y="2615184"/>
            <a:ext cx="146304" cy="146304"/>
          </a:xfrm>
          <a:prstGeom prst="rect">
            <a:avLst/>
          </a:prstGeom>
          <a:solidFill>
            <a:srgbClr val="0E162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250545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Perkara II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505456" y="2505456"/>
            <a:ext cx="906444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Pengadaan minyak mentah dan produk kilang di Petral periode 2008 sampai 2015, status tersangka diumumkan 9 April 2026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" y="3182112"/>
            <a:ext cx="146304" cy="146304"/>
          </a:xfrm>
          <a:prstGeom prst="rect">
            <a:avLst/>
          </a:prstGeom>
          <a:solidFill>
            <a:srgbClr val="0E162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307238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Kerugian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505456" y="3072384"/>
            <a:ext cx="906444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kerugian perkara Petral belum ditetapkan, penyidik masih menghitung bersama auditor BPKP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" y="3749040"/>
            <a:ext cx="146304" cy="146304"/>
          </a:xfrm>
          <a:prstGeom prst="rect">
            <a:avLst/>
          </a:prstGeom>
          <a:solidFill>
            <a:srgbClr val="0E162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363931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2505456" y="3639312"/>
            <a:ext cx="906444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Tersangka berada di luar negeri, masuk daftar pencarian orang, dan belum tertangkap sampai Agustus 2026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1792" y="4315968"/>
            <a:ext cx="146304" cy="146304"/>
          </a:xfrm>
          <a:prstGeom prst="rect">
            <a:avLst/>
          </a:prstGeom>
          <a:solidFill>
            <a:srgbClr val="0E162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4400" y="420624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Sengketa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2505456" y="4206240"/>
            <a:ext cx="906444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penghitungan Rp 193,7 triliun dipersoalkan karena melampaui kerugian keuangan negara secara langsung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1792" y="4882896"/>
            <a:ext cx="146304" cy="146304"/>
          </a:xfrm>
          <a:prstGeom prst="rect">
            <a:avLst/>
          </a:prstGeom>
          <a:solidFill>
            <a:srgbClr val="0E162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4400" y="477316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1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Latar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505456" y="4773168"/>
            <a:ext cx="906444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Petral, lengan dagang Pertamina di Singapura, dibubarkan pada 2015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1792" y="5413248"/>
            <a:ext cx="10948111" cy="786384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21792" y="5486400"/>
            <a:ext cx="50292" cy="640080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96112" y="55229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 Hukum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2633472" y="5413248"/>
            <a:ext cx="866211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Perkara belum bergulir ke persidangan. Asas praduga tak bersalah berlaku penuh, dan seluruh pernyataan wajib memakai kata diduga.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21792" y="6309360"/>
            <a:ext cx="109481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Tempo, CNBC Indonesia, detikNews, Narasi, Monitor Indonesia, April sampai Agustus 2026.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0"/>
            <a:ext cx="566928" cy="530352"/>
          </a:xfrm>
          <a:prstGeom prst="rect">
            <a:avLst/>
          </a:prstGeom>
          <a:solidFill>
            <a:srgbClr val="B8A6F5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457200"/>
            <a:ext cx="1053389" cy="283464"/>
          </a:xfrm>
          <a:prstGeom prst="roundRect">
            <a:avLst>
              <a:gd name="adj" fmla="val 50000"/>
            </a:avLst>
          </a:prstGeom>
          <a:solidFill>
            <a:srgbClr val="B8A6F5"/>
          </a:solidFill>
          <a:ln w="12700">
            <a:solidFill>
              <a:srgbClr val="B8A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457200"/>
            <a:ext cx="105338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KASUS 05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794053" y="457200"/>
            <a:ext cx="1506017" cy="283464"/>
          </a:xfrm>
          <a:prstGeom prst="roundRect">
            <a:avLst>
              <a:gd name="adj" fmla="val 50000"/>
            </a:avLst>
          </a:prstGeom>
          <a:solidFill>
            <a:srgbClr val="F2F0EB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94053" y="457200"/>
            <a:ext cx="1506017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SUDAH DIVONIS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1021263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877824"/>
            <a:ext cx="10948111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Pengadaan Chromebook</a:t>
            </a:r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1481328"/>
            <a:ext cx="109481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Sudah diputus pada tingkat pertama, terdakwa menyatakan banding.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" y="2048256"/>
            <a:ext cx="146304" cy="146304"/>
          </a:xfrm>
          <a:prstGeom prst="rect">
            <a:avLst/>
          </a:prstGeom>
          <a:solidFill>
            <a:srgbClr val="B8A6F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193852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D74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505456" y="1938528"/>
            <a:ext cx="906444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Pengadaan perangkat belajar berbasis sistem operasi Chrome untuk sekolah dalam program digitalisasi pendidikan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" y="2615184"/>
            <a:ext cx="146304" cy="146304"/>
          </a:xfrm>
          <a:prstGeom prst="rect">
            <a:avLst/>
          </a:prstGeom>
          <a:solidFill>
            <a:srgbClr val="B8A6F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250545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D74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Kerugian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505456" y="2505456"/>
            <a:ext cx="906444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Majelis hakim menetapkan kerugian keuangan negara sebesar Rp 2,1 triliun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" y="3182112"/>
            <a:ext cx="146304" cy="146304"/>
          </a:xfrm>
          <a:prstGeom prst="rect">
            <a:avLst/>
          </a:prstGeom>
          <a:solidFill>
            <a:srgbClr val="B8A6F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307238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D74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Tuntutan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505456" y="3072384"/>
            <a:ext cx="906444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Jaksa menuntut 18 tahun penjara, denda Rp 1 miliar, dan uang pengganti Rp 5,6 triliun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" y="3749040"/>
            <a:ext cx="146304" cy="146304"/>
          </a:xfrm>
          <a:prstGeom prst="rect">
            <a:avLst/>
          </a:prstGeom>
          <a:solidFill>
            <a:srgbClr val="B8A6F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363931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D74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Vonis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2505456" y="3639312"/>
            <a:ext cx="906444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Juni 2026, Pengadilan Tipikor Jakarta Pusat menjatuhkan 10 tahun penjara, denda Rp 1 miliar, dan uang pengganti Rp 809,59 miliar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1792" y="4315968"/>
            <a:ext cx="146304" cy="146304"/>
          </a:xfrm>
          <a:prstGeom prst="rect">
            <a:avLst/>
          </a:prstGeom>
          <a:solidFill>
            <a:srgbClr val="B8A6F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4400" y="420624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D74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Sikap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2505456" y="4206240"/>
            <a:ext cx="906444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Terdakwa menolak putusan dan langsung menyatakan mengajukan banding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1792" y="4882896"/>
            <a:ext cx="146304" cy="146304"/>
          </a:xfrm>
          <a:prstGeom prst="rect">
            <a:avLst/>
          </a:prstGeom>
          <a:solidFill>
            <a:srgbClr val="B8A6F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4400" y="477316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D74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505456" y="4773168"/>
            <a:ext cx="906444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Putusan belum berkekuatan hukum tetap selama proses banding berjalan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1792" y="5413248"/>
            <a:ext cx="10948111" cy="786384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21792" y="5486400"/>
            <a:ext cx="50292" cy="640080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96112" y="55229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 Hukum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2633472" y="5413248"/>
            <a:ext cx="8662111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Putusan tingkat pertama bukan putusan akhir. Sebutkan bahwa perkara masih dalam proses banding bila kasus ini dipakai di kelas.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21792" y="6309360"/>
            <a:ext cx="109481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Kompas, ANTARA, Media Justitia, Juni sampai Agustus 2026.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0"/>
            <a:ext cx="566928" cy="530352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457200"/>
            <a:ext cx="1234440" cy="283464"/>
          </a:xfrm>
          <a:prstGeom prst="roundRect">
            <a:avLst>
              <a:gd name="adj" fmla="val 50000"/>
            </a:avLst>
          </a:prstGeom>
          <a:solidFill>
            <a:srgbClr val="FF5A2D"/>
          </a:solidFill>
          <a:ln w="12700">
            <a:solidFill>
              <a:srgbClr val="FF5A2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457200"/>
            <a:ext cx="1234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PERINGATAN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975104" y="457200"/>
            <a:ext cx="1687068" cy="283464"/>
          </a:xfrm>
          <a:prstGeom prst="roundRect">
            <a:avLst>
              <a:gd name="adj" fmla="val 50000"/>
            </a:avLst>
          </a:prstGeom>
          <a:solidFill>
            <a:srgbClr val="F2F0EB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75104" y="457200"/>
            <a:ext cx="16870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KASUS 04 DAN 05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1021263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877824"/>
            <a:ext cx="10948111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Ketika Prisma Runtuh Jadi Lensa</a:t>
            </a:r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1481328"/>
            <a:ext cx="109481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Sembilan teori diuji pada perkara korupsi menghasilkan sembilan putusan yang sama.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" y="1975104"/>
            <a:ext cx="352745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1975104"/>
            <a:ext cx="118872" cy="512064"/>
          </a:xfrm>
          <a:prstGeom prst="rect">
            <a:avLst/>
          </a:prstGeom>
          <a:solidFill>
            <a:srgbClr val="AB463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96112" y="1975104"/>
            <a:ext cx="20644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Egoism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869082" y="1975104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80" kern="0" dirty="0">
                <a:solidFill>
                  <a:srgbClr val="6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MENOLAK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32122" y="1975104"/>
            <a:ext cx="352745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332122" y="1975104"/>
            <a:ext cx="118872" cy="512064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06442" y="1975104"/>
            <a:ext cx="20644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Utilitarianism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79413" y="1975104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80" kern="0" dirty="0">
                <a:solidFill>
                  <a:srgbClr val="9F3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MENOLAK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42453" y="1975104"/>
            <a:ext cx="352745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8042453" y="1975104"/>
            <a:ext cx="118872" cy="512064"/>
          </a:xfrm>
          <a:prstGeom prst="rect">
            <a:avLst/>
          </a:prstGeom>
          <a:solidFill>
            <a:srgbClr val="F5B72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316773" y="1975104"/>
            <a:ext cx="20644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of Duty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289743" y="1975104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80" kern="0" dirty="0">
                <a:solidFill>
                  <a:srgbClr val="997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MENOLAK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" y="2596896"/>
            <a:ext cx="352745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21792" y="2596896"/>
            <a:ext cx="118872" cy="512064"/>
          </a:xfrm>
          <a:prstGeom prst="rect">
            <a:avLst/>
          </a:prstGeom>
          <a:solidFill>
            <a:srgbClr val="C6F04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96112" y="2596896"/>
            <a:ext cx="20644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of Rights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869082" y="2596896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80" kern="0" dirty="0">
                <a:solidFill>
                  <a:srgbClr val="7C9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MENOLAK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32122" y="2596896"/>
            <a:ext cx="352745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4332122" y="2596896"/>
            <a:ext cx="118872" cy="512064"/>
          </a:xfrm>
          <a:prstGeom prst="rect">
            <a:avLst/>
          </a:prstGeom>
          <a:solidFill>
            <a:srgbClr val="0FA98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606442" y="2596896"/>
            <a:ext cx="20644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Justice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579413" y="2596896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80" kern="0" dirty="0">
                <a:solidFill>
                  <a:srgbClr val="0F6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MENOLAK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042453" y="2596896"/>
            <a:ext cx="352745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8042453" y="2596896"/>
            <a:ext cx="118872" cy="512064"/>
          </a:xfrm>
          <a:prstGeom prst="rect">
            <a:avLst/>
          </a:prstGeom>
          <a:solidFill>
            <a:srgbClr val="4EA8D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316773" y="2596896"/>
            <a:ext cx="20644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Virtue Ethics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0289743" y="2596896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80" kern="0" dirty="0">
                <a:solidFill>
                  <a:srgbClr val="346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MENOLAK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" y="3218688"/>
            <a:ext cx="352745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621792" y="3218688"/>
            <a:ext cx="118872" cy="512064"/>
          </a:xfrm>
          <a:prstGeom prst="rect">
            <a:avLst/>
          </a:prstGeom>
          <a:solidFill>
            <a:srgbClr val="6C7BE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96112" y="3218688"/>
            <a:ext cx="20644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 of Care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2869082" y="3218688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80" kern="0" dirty="0">
                <a:solidFill>
                  <a:srgbClr val="465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MENOLAK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332122" y="3218688"/>
            <a:ext cx="352745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4332122" y="3218688"/>
            <a:ext cx="118872" cy="512064"/>
          </a:xfrm>
          <a:prstGeom prst="rect">
            <a:avLst/>
          </a:prstGeom>
          <a:solidFill>
            <a:srgbClr val="B8A6F5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606442" y="3218688"/>
            <a:ext cx="20644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Discourse Ethics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579413" y="3218688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80" kern="0" dirty="0">
                <a:solidFill>
                  <a:srgbClr val="746C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MENOLAK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042453" y="3218688"/>
            <a:ext cx="352745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8042453" y="3218688"/>
            <a:ext cx="118872" cy="512064"/>
          </a:xfrm>
          <a:prstGeom prst="rect">
            <a:avLst/>
          </a:prstGeom>
          <a:solidFill>
            <a:srgbClr val="E86A9B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316773" y="3218688"/>
            <a:ext cx="20644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Postmodern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10289743" y="3218688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80" kern="0" dirty="0">
                <a:solidFill>
                  <a:srgbClr val="914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MENOLAK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21792" y="4023360"/>
            <a:ext cx="10948111" cy="969264"/>
          </a:xfrm>
          <a:prstGeom prst="roundRect">
            <a:avLst>
              <a:gd name="adj" fmla="val 15094"/>
            </a:avLst>
          </a:prstGeom>
          <a:solidFill>
            <a:srgbClr val="0E1626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941832" y="4285107"/>
            <a:ext cx="1030803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kanan seragam. Tidak ada yang bisa didiskusikan, karena tidak ada perbedaan pandangan yang perlu dijembatani. Bab ini justru dibangun untuk menunjukkan perbedaan itu.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21792" y="5120640"/>
            <a:ext cx="5346040" cy="1225296"/>
          </a:xfrm>
          <a:prstGeom prst="roundRect">
            <a:avLst>
              <a:gd name="adj" fmla="val 11940"/>
            </a:avLst>
          </a:prstGeom>
          <a:solidFill>
            <a:srgbClr val="C6F04A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859536" y="5340096"/>
            <a:ext cx="487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8"/>
              </a:lnSpc>
              <a:buNone/>
            </a:pPr>
            <a:r>
              <a:rPr lang="en-US" sz="1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Kasus yang Bekerja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859536" y="5705856"/>
            <a:ext cx="4870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Manfaat dan beban jatuh ke pihak berbeda, kedua sisi punya data resmi, dan ada label pembenar yang dapat diuji.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223864" y="5120640"/>
            <a:ext cx="5346040" cy="1225296"/>
          </a:xfrm>
          <a:prstGeom prst="roundRect">
            <a:avLst>
              <a:gd name="adj" fmla="val 11940"/>
            </a:avLst>
          </a:prstGeom>
          <a:solidFill>
            <a:srgbClr val="0E1626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461608" y="5340096"/>
            <a:ext cx="487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8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Kasus yang Tidak Bekerja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6461608" y="5705856"/>
            <a:ext cx="4870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Perbuatannya sudah jelas salah menurut seluruh kerangka, sehingga sembilan teori hanya mengulang kesimpulan yang sama.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0"/>
            <a:ext cx="566928" cy="530352"/>
          </a:xfrm>
          <a:prstGeom prst="rect">
            <a:avLst/>
          </a:prstGeom>
          <a:solidFill>
            <a:srgbClr val="B8A6F5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457200"/>
            <a:ext cx="1234440" cy="283464"/>
          </a:xfrm>
          <a:prstGeom prst="roundRect">
            <a:avLst>
              <a:gd name="adj" fmla="val 50000"/>
            </a:avLst>
          </a:prstGeom>
          <a:solidFill>
            <a:srgbClr val="B8A6F5"/>
          </a:solidFill>
          <a:ln w="12700">
            <a:solidFill>
              <a:srgbClr val="B8A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457200"/>
            <a:ext cx="1234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ALAT BANTU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975104" y="457200"/>
            <a:ext cx="1415491" cy="283464"/>
          </a:xfrm>
          <a:prstGeom prst="roundRect">
            <a:avLst>
              <a:gd name="adj" fmla="val 50000"/>
            </a:avLst>
          </a:prstGeom>
          <a:solidFill>
            <a:srgbClr val="F2F0EB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75104" y="457200"/>
            <a:ext cx="141549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KRITERIA BAB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1021263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877824"/>
            <a:ext cx="10948111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Matriks Kesesuaian</a:t>
            </a:r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1481328"/>
            <a:ext cx="109481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Kelima kasus diuji terhadap lima syarat yang membuat sebuah kasus cocok untuk bab ini.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2953512" y="2048256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Jawaban Terbuka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160520" y="2048256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Pembenar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367528" y="2048256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Beban Asimetris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574536" y="2048256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Pihak Absen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7781544" y="2048256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di Kelas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942832" y="2048256"/>
            <a:ext cx="24076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spc="9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KECOCOKAN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" y="2542032"/>
            <a:ext cx="10948111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" y="2542032"/>
            <a:ext cx="128016" cy="548640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32688" y="25420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Hilirisasi Nikel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907792" y="2542032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114800" y="2542032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321808" y="2542032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528816" y="2542032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735824" y="2542032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942832" y="2542032"/>
            <a:ext cx="2407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F4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Sangat cocok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1792" y="3182112"/>
            <a:ext cx="10948111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621792" y="3182112"/>
            <a:ext cx="128016" cy="548640"/>
          </a:xfrm>
          <a:prstGeom prst="rect">
            <a:avLst/>
          </a:prstGeom>
          <a:solidFill>
            <a:srgbClr val="0FA98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32688" y="318211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Kemitraan Ojol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2907792" y="3182112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114800" y="3182112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321808" y="3182112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528816" y="3182112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B8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Sebagian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7735824" y="3182112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8942832" y="3182112"/>
            <a:ext cx="2407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F8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1792" y="3822192"/>
            <a:ext cx="10948111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621792" y="3822192"/>
            <a:ext cx="128016" cy="548640"/>
          </a:xfrm>
          <a:prstGeom prst="rect">
            <a:avLst/>
          </a:prstGeom>
          <a:solidFill>
            <a:srgbClr val="F5B72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32688" y="38221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 Rokok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2907792" y="3822192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4114800" y="3822192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5321808" y="3822192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6528816" y="3822192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B8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Sebagian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7735824" y="3822192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8942832" y="3822192"/>
            <a:ext cx="2407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79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21792" y="4462272"/>
            <a:ext cx="10948111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621792" y="4462272"/>
            <a:ext cx="128016" cy="548640"/>
          </a:xfrm>
          <a:prstGeom prst="rect">
            <a:avLst/>
          </a:prstGeom>
          <a:solidFill>
            <a:srgbClr val="0E1626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32688" y="446227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 Minyak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2907792" y="4462272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43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4114800" y="4462272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43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5321808" y="4462272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B8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Sebagian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6528816" y="4462272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43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7735824" y="4462272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43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8942832" y="4462272"/>
            <a:ext cx="2407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cocok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21792" y="5102352"/>
            <a:ext cx="10948111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53" name="Shape 51"/>
          <p:cNvSpPr/>
          <p:nvPr/>
        </p:nvSpPr>
        <p:spPr>
          <a:xfrm>
            <a:off x="621792" y="5102352"/>
            <a:ext cx="128016" cy="548640"/>
          </a:xfrm>
          <a:prstGeom prst="rect">
            <a:avLst/>
          </a:prstGeom>
          <a:solidFill>
            <a:srgbClr val="B8A6F5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932688" y="51023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Chromebook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2907792" y="5102352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43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4114800" y="5102352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5321808" y="5102352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8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6528816" y="5102352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B8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Sebagian</a:t>
            </a:r>
            <a:endParaRPr lang="en-US" sz="1050" dirty="0"/>
          </a:p>
        </p:txBody>
      </p:sp>
      <p:sp>
        <p:nvSpPr>
          <p:cNvPr id="59" name="Text 57"/>
          <p:cNvSpPr txBox="1"/>
          <p:nvPr/>
        </p:nvSpPr>
        <p:spPr>
          <a:xfrm>
            <a:off x="7735824" y="5102352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43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</a:t>
            </a:r>
            <a:endParaRPr lang="en-US" sz="1050" dirty="0"/>
          </a:p>
        </p:txBody>
      </p:sp>
      <p:sp>
        <p:nvSpPr>
          <p:cNvPr id="60" name="Text 58"/>
          <p:cNvSpPr txBox="1"/>
          <p:nvPr/>
        </p:nvSpPr>
        <p:spPr>
          <a:xfrm>
            <a:off x="8942832" y="5102352"/>
            <a:ext cx="2407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968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cocok</a:t>
            </a:r>
            <a:endParaRPr lang="en-US" sz="1150" dirty="0"/>
          </a:p>
        </p:txBody>
      </p:sp>
      <p:sp>
        <p:nvSpPr>
          <p:cNvPr id="61" name="Text 59"/>
          <p:cNvSpPr txBox="1"/>
          <p:nvPr/>
        </p:nvSpPr>
        <p:spPr>
          <a:xfrm>
            <a:off x="621792" y="5870448"/>
            <a:ext cx="10948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Chromebook turun peringkat setelah vonis 30 Juni 2026, karena pertanyaan moralnya sudah dijawab pengadilan pada tingkat pertama.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0"/>
            <a:ext cx="566928" cy="530352"/>
          </a:xfrm>
          <a:prstGeom prst="rect">
            <a:avLst/>
          </a:prstGeom>
          <a:solidFill>
            <a:srgbClr val="B8A6F5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457200"/>
            <a:ext cx="1234440" cy="283464"/>
          </a:xfrm>
          <a:prstGeom prst="roundRect">
            <a:avLst>
              <a:gd name="adj" fmla="val 50000"/>
            </a:avLst>
          </a:prstGeom>
          <a:solidFill>
            <a:srgbClr val="B8A6F5"/>
          </a:solidFill>
          <a:ln w="12700">
            <a:solidFill>
              <a:srgbClr val="B8A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457200"/>
            <a:ext cx="1234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ALAT BANTU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975104" y="457200"/>
            <a:ext cx="1596542" cy="283464"/>
          </a:xfrm>
          <a:prstGeom prst="roundRect">
            <a:avLst>
              <a:gd name="adj" fmla="val 50000"/>
            </a:avLst>
          </a:prstGeom>
          <a:solidFill>
            <a:srgbClr val="F2F0EB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75104" y="457200"/>
            <a:ext cx="159654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SEMBILAN TEORI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1021263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877824"/>
            <a:ext cx="10948111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Lensa per Kasus</a:t>
            </a:r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1481328"/>
            <a:ext cx="109481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 mana yang paling tajam untuk kasus mana, sebagai titik awal penyusunan analisis.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" y="1975104"/>
            <a:ext cx="10948111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1975104"/>
            <a:ext cx="118872" cy="402336"/>
          </a:xfrm>
          <a:prstGeom prst="rect">
            <a:avLst/>
          </a:prstGeom>
          <a:solidFill>
            <a:srgbClr val="AB463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1975104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Egoism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236976" y="1975104"/>
            <a:ext cx="81134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Nikel: biaya iklim tidak masuk harga karena penanggungnya belum lahir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" y="2450592"/>
            <a:ext cx="10948111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" y="2450592"/>
            <a:ext cx="118872" cy="402336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24505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Utilitarianism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236976" y="2450592"/>
            <a:ext cx="81134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Rokok: Rp 122 triliun cukai berhadapan dengan 70 juta perokok aktif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" y="2926080"/>
            <a:ext cx="10948111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792" y="2926080"/>
            <a:ext cx="118872" cy="402336"/>
          </a:xfrm>
          <a:prstGeom prst="rect">
            <a:avLst/>
          </a:prstGeom>
          <a:solidFill>
            <a:srgbClr val="F5B72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292608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Ethics of Duty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3236976" y="2926080"/>
            <a:ext cx="81134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Nikel: apakah prinsipnya bertahan bila seluruh pemilik cadangan berbuat sama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" y="3401568"/>
            <a:ext cx="10948111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21792" y="3401568"/>
            <a:ext cx="118872" cy="402336"/>
          </a:xfrm>
          <a:prstGeom prst="rect">
            <a:avLst/>
          </a:prstGeom>
          <a:solidFill>
            <a:srgbClr val="C6F04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" y="340156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Ethics of Rights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3236976" y="3401568"/>
            <a:ext cx="81134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Ojol: hak atas jaminan sosial dan hak berserikat versus hak atas fleksibilitas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" y="3877056"/>
            <a:ext cx="10948111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621792" y="3877056"/>
            <a:ext cx="118872" cy="402336"/>
          </a:xfrm>
          <a:prstGeom prst="rect">
            <a:avLst/>
          </a:prstGeom>
          <a:solidFill>
            <a:srgbClr val="0FA98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14400" y="387705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Justice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3236976" y="3877056"/>
            <a:ext cx="81134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Rokok: penyumbang garis kemiskinan kedua. Nikel: beban di Sulteng dan Halmahera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" y="4352544"/>
            <a:ext cx="10948111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621792" y="4352544"/>
            <a:ext cx="118872" cy="402336"/>
          </a:xfrm>
          <a:prstGeom prst="rect">
            <a:avLst/>
          </a:prstGeom>
          <a:solidFill>
            <a:srgbClr val="4EA8D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14400" y="4352544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Virtue Ethics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3236976" y="4352544"/>
            <a:ext cx="81134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Rokok: apa yang dilakukan pelaku usaha berkarakter baik atas produk ini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" y="4828032"/>
            <a:ext cx="10948111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621792" y="4828032"/>
            <a:ext cx="118872" cy="402336"/>
          </a:xfrm>
          <a:prstGeom prst="rect">
            <a:avLst/>
          </a:prstGeom>
          <a:solidFill>
            <a:srgbClr val="6C7BE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14400" y="482803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Ethic of Care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3236976" y="4828032"/>
            <a:ext cx="81134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Ojol: manajemen algoritmik menghapus relasi perusahaan dengan pengemudi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1792" y="5303520"/>
            <a:ext cx="10948111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621792" y="5303520"/>
            <a:ext cx="118872" cy="402336"/>
          </a:xfrm>
          <a:prstGeom prst="rect">
            <a:avLst/>
          </a:prstGeom>
          <a:solidFill>
            <a:srgbClr val="B8A6F5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14400" y="53035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Discourse Ethics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3236976" y="5303520"/>
            <a:ext cx="81134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Nikel: apakah masyarakat adat Halmahera ikut dalam proses keputusan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1792" y="5779008"/>
            <a:ext cx="10948111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621792" y="5779008"/>
            <a:ext cx="118872" cy="402336"/>
          </a:xfrm>
          <a:prstGeom prst="rect">
            <a:avLst/>
          </a:prstGeom>
          <a:solidFill>
            <a:srgbClr val="E86A9B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914400" y="57790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Postmodern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3236976" y="5779008"/>
            <a:ext cx="81134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Ojol: mitra atau pekerja. Nikel: hilirisasi atau ekstraksi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621792" y="6272784"/>
            <a:ext cx="109481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kanan hanya titik masuk, bukan kesimpulan. Setiap teori tetap perlu dijalankan penuh pada kasus yang dipilih.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0"/>
            <a:ext cx="566928" cy="530352"/>
          </a:xfrm>
          <a:prstGeom prst="rect">
            <a:avLst/>
          </a:prstGeom>
          <a:solidFill>
            <a:srgbClr val="F5B722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457200"/>
            <a:ext cx="962863" cy="283464"/>
          </a:xfrm>
          <a:prstGeom prst="roundRect">
            <a:avLst>
              <a:gd name="adj" fmla="val 50000"/>
            </a:avLst>
          </a:prstGeom>
          <a:solidFill>
            <a:srgbClr val="F5B722"/>
          </a:solidFill>
          <a:ln w="12700">
            <a:solidFill>
              <a:srgbClr val="F5B72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457200"/>
            <a:ext cx="962863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RUJUKAN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703527" y="457200"/>
            <a:ext cx="2139696" cy="283464"/>
          </a:xfrm>
          <a:prstGeom prst="roundRect">
            <a:avLst>
              <a:gd name="adj" fmla="val 50000"/>
            </a:avLst>
          </a:prstGeom>
          <a:solidFill>
            <a:srgbClr val="F2F0EB"/>
          </a:solidFill>
          <a:ln w="12700">
            <a:solidFill>
              <a:srgbClr val="DDD8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03527" y="457200"/>
            <a:ext cx="21396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10" kern="0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PENELUSURAN LANJUTAN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1021263" y="6345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877824"/>
            <a:ext cx="10948111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 Data</a:t>
            </a:r>
            <a:pPr indent="0" marL="0">
              <a:lnSpc>
                <a:spcPts val="3944"/>
              </a:lnSpc>
              <a:buNone/>
            </a:pPr>
            <a:r>
              <a:rPr lang="en-US" sz="3400" b="1" dirty="0">
                <a:solidFill>
                  <a:srgbClr val="FF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1481328"/>
            <a:ext cx="109481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3"/>
              </a:lnSpc>
              <a:buNone/>
            </a:pPr>
            <a:r>
              <a:rPr lang="en-US" sz="13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ditelusuri pada Agustus 2026. Periksa ulang bila presentasi mundur beberapa bulan.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" y="1975104"/>
            <a:ext cx="5346040" cy="1737360"/>
          </a:xfrm>
          <a:prstGeom prst="roundRect">
            <a:avLst>
              <a:gd name="adj" fmla="val 8421"/>
            </a:avLst>
          </a:prstGeom>
          <a:solidFill>
            <a:srgbClr val="FF5A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59536" y="2194560"/>
            <a:ext cx="487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3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Nikel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59536" y="2560320"/>
            <a:ext cx="48705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IMIP dan PT IWIP untuk investasi dan tenaga kerja</a:t>
            </a:r>
            <a:endParaRPr lang="en-US" sz="1050" dirty="0"/>
          </a:p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BPS Sulawesi Tengah untuk nilai ekspor</a:t>
            </a:r>
            <a:endParaRPr lang="en-US" sz="1050" dirty="0"/>
          </a:p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Greenpeace, AEER, dan Climate Action Tracker untuk PLTU captive</a:t>
            </a:r>
            <a:endParaRPr lang="en-US" sz="1050" dirty="0"/>
          </a:p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Forest Watch dan Survival International untuk hutan</a:t>
            </a:r>
            <a:endParaRPr lang="en-US" sz="1050" dirty="0"/>
          </a:p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Norges Bank Investment Management untuk keputusan divestasi Eramet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23864" y="1975104"/>
            <a:ext cx="5346040" cy="1737360"/>
          </a:xfrm>
          <a:prstGeom prst="roundRect">
            <a:avLst>
              <a:gd name="adj" fmla="val 8421"/>
            </a:avLst>
          </a:prstGeom>
          <a:solidFill>
            <a:srgbClr val="0FA98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61608" y="2194560"/>
            <a:ext cx="487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3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Ojol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61608" y="2560320"/>
            <a:ext cx="48705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Peraturan Presiden Nomor 27 Tahun 2026</a:t>
            </a:r>
            <a:endParaRPr lang="en-US" sz="1050" dirty="0"/>
          </a:p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Kementerian Ketenagakerjaan untuk data penerima bonus hari raya</a:t>
            </a:r>
            <a:endParaRPr lang="en-US" sz="1050" dirty="0"/>
          </a:p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Serikat Pekerja Angkutan Indonesia untuk kondisi lapangan</a:t>
            </a:r>
            <a:endParaRPr lang="en-US" sz="1050" dirty="0"/>
          </a:p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tahunan GoTo dan Grab untuk jumlah mitra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" y="3895344"/>
            <a:ext cx="5346040" cy="1737360"/>
          </a:xfrm>
          <a:prstGeom prst="roundRect">
            <a:avLst>
              <a:gd name="adj" fmla="val 8421"/>
            </a:avLst>
          </a:prstGeom>
          <a:solidFill>
            <a:srgbClr val="F5B72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59536" y="4114800"/>
            <a:ext cx="487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30"/>
              </a:lnSpc>
              <a:buNone/>
            </a:pPr>
            <a:r>
              <a:rPr lang="en-US" sz="150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Rokok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59536" y="4480560"/>
            <a:ext cx="48705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Kementerian Keuangan untuk penerimaan cukai hasil tembakau</a:t>
            </a:r>
            <a:endParaRPr lang="en-US" sz="1050" dirty="0"/>
          </a:p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 Kesehatan Indonesia 2023 untuk prevalensi dan jumlah perokok</a:t>
            </a:r>
            <a:endParaRPr lang="en-US" sz="1050" dirty="0"/>
          </a:p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Badan Pusat Statistik Maret 2025 untuk komposisi garis kemiskinan</a:t>
            </a:r>
            <a:endParaRPr lang="en-US" sz="1050" dirty="0"/>
          </a:p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2A32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CISDI dan CHED ITB Ahmad Dahlan untuk analisis kebijakan cukai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23864" y="3895344"/>
            <a:ext cx="5346040" cy="1737360"/>
          </a:xfrm>
          <a:prstGeom prst="roundRect">
            <a:avLst>
              <a:gd name="adj" fmla="val 8421"/>
            </a:avLst>
          </a:prstGeom>
          <a:solidFill>
            <a:srgbClr val="0E162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61608" y="4114800"/>
            <a:ext cx="487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3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Perkara Hukum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61608" y="4480560"/>
            <a:ext cx="48705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Rilis resmi Kejaksaan Agung untuk status perkara dan tersangka</a:t>
            </a:r>
            <a:endParaRPr lang="en-US" sz="1050" dirty="0"/>
          </a:p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Salinan putusan Pengadilan Tipikor untuk perkara Chromebook</a:t>
            </a:r>
            <a:endParaRPr lang="en-US" sz="1050" dirty="0"/>
          </a:p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Periksa perkembangan banding sebelum kasus dipakai</a:t>
            </a:r>
            <a:endParaRPr lang="en-US" sz="1050" dirty="0"/>
          </a:p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Hindari mengutip angka kerugian yang masih disengketakan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1792" y="5797296"/>
            <a:ext cx="10948111" cy="402336"/>
          </a:xfrm>
          <a:prstGeom prst="roundRect">
            <a:avLst>
              <a:gd name="adj" fmla="val 36364"/>
            </a:avLst>
          </a:prstGeom>
          <a:solidFill>
            <a:srgbClr val="C6F04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41832" y="5908453"/>
            <a:ext cx="103080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0E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Angka berasal dari pemberitaan dan laporan lembaga, bukan dari basis data resmi yang diakses langsung.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24767" y="0"/>
            <a:ext cx="566928" cy="530352"/>
          </a:xfrm>
          <a:prstGeom prst="rect">
            <a:avLst/>
          </a:prstGeom>
          <a:solidFill>
            <a:srgbClr val="B8A6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27648"/>
            <a:ext cx="530352" cy="530352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4" name="Shape 2"/>
          <p:cNvSpPr/>
          <p:nvPr/>
        </p:nvSpPr>
        <p:spPr>
          <a:xfrm>
            <a:off x="7014362" y="2168042"/>
            <a:ext cx="53035" cy="53035"/>
          </a:xfrm>
          <a:prstGeom prst="ellipse">
            <a:avLst/>
          </a:prstGeom>
          <a:solidFill>
            <a:srgbClr val="283044"/>
          </a:solidFill>
          <a:ln/>
        </p:spPr>
      </p:sp>
      <p:sp>
        <p:nvSpPr>
          <p:cNvPr id="5" name="Shape 3"/>
          <p:cNvSpPr/>
          <p:nvPr/>
        </p:nvSpPr>
        <p:spPr>
          <a:xfrm>
            <a:off x="7117729" y="2110767"/>
            <a:ext cx="53035" cy="53035"/>
          </a:xfrm>
          <a:prstGeom prst="ellipse">
            <a:avLst/>
          </a:prstGeom>
          <a:solidFill>
            <a:srgbClr val="283044"/>
          </a:solidFill>
          <a:ln/>
        </p:spPr>
      </p:sp>
      <p:sp>
        <p:nvSpPr>
          <p:cNvPr id="6" name="Shape 4"/>
          <p:cNvSpPr/>
          <p:nvPr/>
        </p:nvSpPr>
        <p:spPr>
          <a:xfrm>
            <a:off x="7221096" y="2054559"/>
            <a:ext cx="53035" cy="53035"/>
          </a:xfrm>
          <a:prstGeom prst="ellipse">
            <a:avLst/>
          </a:prstGeom>
          <a:solidFill>
            <a:srgbClr val="283044"/>
          </a:solidFill>
          <a:ln/>
        </p:spPr>
      </p:sp>
      <p:sp>
        <p:nvSpPr>
          <p:cNvPr id="7" name="Shape 5"/>
          <p:cNvSpPr/>
          <p:nvPr/>
        </p:nvSpPr>
        <p:spPr>
          <a:xfrm>
            <a:off x="7324463" y="2000465"/>
            <a:ext cx="53035" cy="53035"/>
          </a:xfrm>
          <a:prstGeom prst="ellipse">
            <a:avLst/>
          </a:prstGeom>
          <a:solidFill>
            <a:srgbClr val="283044"/>
          </a:solidFill>
          <a:ln/>
        </p:spPr>
      </p:sp>
      <p:sp>
        <p:nvSpPr>
          <p:cNvPr id="8" name="Shape 6"/>
          <p:cNvSpPr/>
          <p:nvPr/>
        </p:nvSpPr>
        <p:spPr>
          <a:xfrm>
            <a:off x="7427830" y="1949493"/>
            <a:ext cx="53035" cy="53035"/>
          </a:xfrm>
          <a:prstGeom prst="ellipse">
            <a:avLst/>
          </a:prstGeom>
          <a:solidFill>
            <a:srgbClr val="283044"/>
          </a:solidFill>
          <a:ln/>
        </p:spPr>
      </p:sp>
      <p:sp>
        <p:nvSpPr>
          <p:cNvPr id="9" name="Shape 7"/>
          <p:cNvSpPr/>
          <p:nvPr/>
        </p:nvSpPr>
        <p:spPr>
          <a:xfrm>
            <a:off x="7531197" y="1902592"/>
            <a:ext cx="53035" cy="53035"/>
          </a:xfrm>
          <a:prstGeom prst="ellipse">
            <a:avLst/>
          </a:prstGeom>
          <a:solidFill>
            <a:srgbClr val="283044"/>
          </a:solidFill>
          <a:ln/>
        </p:spPr>
      </p:sp>
      <p:sp>
        <p:nvSpPr>
          <p:cNvPr id="10" name="Shape 8"/>
          <p:cNvSpPr/>
          <p:nvPr/>
        </p:nvSpPr>
        <p:spPr>
          <a:xfrm>
            <a:off x="7634564" y="1860635"/>
            <a:ext cx="53035" cy="53035"/>
          </a:xfrm>
          <a:prstGeom prst="ellipse">
            <a:avLst/>
          </a:prstGeom>
          <a:solidFill>
            <a:srgbClr val="283044"/>
          </a:solidFill>
          <a:ln/>
        </p:spPr>
      </p:sp>
      <p:sp>
        <p:nvSpPr>
          <p:cNvPr id="11" name="Shape 9"/>
          <p:cNvSpPr/>
          <p:nvPr/>
        </p:nvSpPr>
        <p:spPr>
          <a:xfrm>
            <a:off x="7737931" y="1824405"/>
            <a:ext cx="53035" cy="53035"/>
          </a:xfrm>
          <a:prstGeom prst="ellipse">
            <a:avLst/>
          </a:prstGeom>
          <a:solidFill>
            <a:srgbClr val="283044"/>
          </a:solidFill>
          <a:ln/>
        </p:spPr>
      </p:sp>
      <p:sp>
        <p:nvSpPr>
          <p:cNvPr id="12" name="Shape 10"/>
          <p:cNvSpPr/>
          <p:nvPr/>
        </p:nvSpPr>
        <p:spPr>
          <a:xfrm>
            <a:off x="7841298" y="1794577"/>
            <a:ext cx="53035" cy="53035"/>
          </a:xfrm>
          <a:prstGeom prst="ellipse">
            <a:avLst/>
          </a:prstGeom>
          <a:solidFill>
            <a:srgbClr val="283044"/>
          </a:solidFill>
          <a:ln/>
        </p:spPr>
      </p:sp>
      <p:sp>
        <p:nvSpPr>
          <p:cNvPr id="13" name="Shape 11"/>
          <p:cNvSpPr/>
          <p:nvPr/>
        </p:nvSpPr>
        <p:spPr>
          <a:xfrm>
            <a:off x="7944665" y="1771705"/>
            <a:ext cx="53035" cy="53035"/>
          </a:xfrm>
          <a:prstGeom prst="ellipse">
            <a:avLst/>
          </a:prstGeom>
          <a:solidFill>
            <a:srgbClr val="283044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8032" y="1756216"/>
            <a:ext cx="53035" cy="53035"/>
          </a:xfrm>
          <a:prstGeom prst="ellipse">
            <a:avLst/>
          </a:prstGeom>
          <a:solidFill>
            <a:srgbClr val="283044"/>
          </a:solidFill>
          <a:ln/>
        </p:spPr>
      </p:sp>
      <p:sp>
        <p:nvSpPr>
          <p:cNvPr id="15" name="Shape 13"/>
          <p:cNvSpPr/>
          <p:nvPr/>
        </p:nvSpPr>
        <p:spPr>
          <a:xfrm>
            <a:off x="8151399" y="1748399"/>
            <a:ext cx="53035" cy="53035"/>
          </a:xfrm>
          <a:prstGeom prst="ellipse">
            <a:avLst/>
          </a:prstGeom>
          <a:solidFill>
            <a:srgbClr val="283044"/>
          </a:solidFill>
          <a:ln/>
        </p:spPr>
      </p:sp>
      <p:sp>
        <p:nvSpPr>
          <p:cNvPr id="16" name="Shape 14"/>
          <p:cNvSpPr/>
          <p:nvPr/>
        </p:nvSpPr>
        <p:spPr>
          <a:xfrm>
            <a:off x="8254766" y="1748399"/>
            <a:ext cx="53035" cy="53035"/>
          </a:xfrm>
          <a:prstGeom prst="ellipse">
            <a:avLst/>
          </a:prstGeom>
          <a:solidFill>
            <a:srgbClr val="283044"/>
          </a:solidFill>
          <a:ln/>
        </p:spPr>
      </p:sp>
      <p:sp>
        <p:nvSpPr>
          <p:cNvPr id="17" name="Shape 15"/>
          <p:cNvSpPr/>
          <p:nvPr/>
        </p:nvSpPr>
        <p:spPr>
          <a:xfrm>
            <a:off x="8358133" y="1756216"/>
            <a:ext cx="53035" cy="53035"/>
          </a:xfrm>
          <a:prstGeom prst="ellipse">
            <a:avLst/>
          </a:prstGeom>
          <a:solidFill>
            <a:srgbClr val="283044"/>
          </a:solidFill>
          <a:ln/>
        </p:spPr>
      </p:sp>
      <p:sp>
        <p:nvSpPr>
          <p:cNvPr id="18" name="Shape 16"/>
          <p:cNvSpPr/>
          <p:nvPr/>
        </p:nvSpPr>
        <p:spPr>
          <a:xfrm>
            <a:off x="8461500" y="1771705"/>
            <a:ext cx="53035" cy="53035"/>
          </a:xfrm>
          <a:prstGeom prst="ellipse">
            <a:avLst/>
          </a:prstGeom>
          <a:solidFill>
            <a:srgbClr val="283044"/>
          </a:solidFill>
          <a:ln/>
        </p:spPr>
      </p:sp>
      <p:sp>
        <p:nvSpPr>
          <p:cNvPr id="19" name="Shape 17"/>
          <p:cNvSpPr/>
          <p:nvPr/>
        </p:nvSpPr>
        <p:spPr>
          <a:xfrm>
            <a:off x="8564867" y="1794577"/>
            <a:ext cx="53035" cy="53035"/>
          </a:xfrm>
          <a:prstGeom prst="ellipse">
            <a:avLst/>
          </a:prstGeom>
          <a:solidFill>
            <a:srgbClr val="283044"/>
          </a:solidFill>
          <a:ln/>
        </p:spPr>
      </p:sp>
      <p:sp>
        <p:nvSpPr>
          <p:cNvPr id="20" name="Shape 18"/>
          <p:cNvSpPr/>
          <p:nvPr/>
        </p:nvSpPr>
        <p:spPr>
          <a:xfrm>
            <a:off x="8668234" y="1824405"/>
            <a:ext cx="53035" cy="53035"/>
          </a:xfrm>
          <a:prstGeom prst="ellipse">
            <a:avLst/>
          </a:prstGeom>
          <a:solidFill>
            <a:srgbClr val="283044"/>
          </a:solidFill>
          <a:ln/>
        </p:spPr>
      </p:sp>
      <p:sp>
        <p:nvSpPr>
          <p:cNvPr id="21" name="Shape 19"/>
          <p:cNvSpPr/>
          <p:nvPr/>
        </p:nvSpPr>
        <p:spPr>
          <a:xfrm>
            <a:off x="8771601" y="1860635"/>
            <a:ext cx="53035" cy="53035"/>
          </a:xfrm>
          <a:prstGeom prst="ellipse">
            <a:avLst/>
          </a:prstGeom>
          <a:solidFill>
            <a:srgbClr val="283044"/>
          </a:solidFill>
          <a:ln/>
        </p:spPr>
      </p:sp>
      <p:sp>
        <p:nvSpPr>
          <p:cNvPr id="22" name="Shape 20"/>
          <p:cNvSpPr/>
          <p:nvPr/>
        </p:nvSpPr>
        <p:spPr>
          <a:xfrm>
            <a:off x="8874968" y="1902592"/>
            <a:ext cx="53035" cy="53035"/>
          </a:xfrm>
          <a:prstGeom prst="ellipse">
            <a:avLst/>
          </a:prstGeom>
          <a:solidFill>
            <a:srgbClr val="283044"/>
          </a:solidFill>
          <a:ln/>
        </p:spPr>
      </p:sp>
      <p:sp>
        <p:nvSpPr>
          <p:cNvPr id="23" name="Shape 21"/>
          <p:cNvSpPr/>
          <p:nvPr/>
        </p:nvSpPr>
        <p:spPr>
          <a:xfrm>
            <a:off x="8978335" y="1949493"/>
            <a:ext cx="53035" cy="53035"/>
          </a:xfrm>
          <a:prstGeom prst="ellipse">
            <a:avLst/>
          </a:prstGeom>
          <a:solidFill>
            <a:srgbClr val="283044"/>
          </a:solidFill>
          <a:ln/>
        </p:spPr>
      </p:sp>
      <p:sp>
        <p:nvSpPr>
          <p:cNvPr id="24" name="Shape 22"/>
          <p:cNvSpPr/>
          <p:nvPr/>
        </p:nvSpPr>
        <p:spPr>
          <a:xfrm>
            <a:off x="9081702" y="2000465"/>
            <a:ext cx="53035" cy="53035"/>
          </a:xfrm>
          <a:prstGeom prst="ellipse">
            <a:avLst/>
          </a:prstGeom>
          <a:solidFill>
            <a:srgbClr val="283044"/>
          </a:solidFill>
          <a:ln/>
        </p:spPr>
      </p:sp>
      <p:sp>
        <p:nvSpPr>
          <p:cNvPr id="25" name="Shape 23"/>
          <p:cNvSpPr/>
          <p:nvPr/>
        </p:nvSpPr>
        <p:spPr>
          <a:xfrm>
            <a:off x="9185068" y="2054559"/>
            <a:ext cx="53035" cy="53035"/>
          </a:xfrm>
          <a:prstGeom prst="ellipse">
            <a:avLst/>
          </a:prstGeom>
          <a:solidFill>
            <a:srgbClr val="283044"/>
          </a:solidFill>
          <a:ln/>
        </p:spPr>
      </p:sp>
      <p:sp>
        <p:nvSpPr>
          <p:cNvPr id="26" name="Shape 24"/>
          <p:cNvSpPr/>
          <p:nvPr/>
        </p:nvSpPr>
        <p:spPr>
          <a:xfrm>
            <a:off x="9288435" y="2110767"/>
            <a:ext cx="53035" cy="53035"/>
          </a:xfrm>
          <a:prstGeom prst="ellipse">
            <a:avLst/>
          </a:prstGeom>
          <a:solidFill>
            <a:srgbClr val="283044"/>
          </a:solidFill>
          <a:ln/>
        </p:spPr>
      </p:sp>
      <p:sp>
        <p:nvSpPr>
          <p:cNvPr id="27" name="Shape 25"/>
          <p:cNvSpPr/>
          <p:nvPr/>
        </p:nvSpPr>
        <p:spPr>
          <a:xfrm>
            <a:off x="9391802" y="2168042"/>
            <a:ext cx="53035" cy="53035"/>
          </a:xfrm>
          <a:prstGeom prst="ellipse">
            <a:avLst/>
          </a:prstGeom>
          <a:solidFill>
            <a:srgbClr val="283044"/>
          </a:solidFill>
          <a:ln/>
        </p:spPr>
      </p:sp>
      <p:sp>
        <p:nvSpPr>
          <p:cNvPr id="28" name="Shape 26"/>
          <p:cNvSpPr/>
          <p:nvPr/>
        </p:nvSpPr>
        <p:spPr>
          <a:xfrm>
            <a:off x="9495169" y="2225317"/>
            <a:ext cx="53035" cy="53035"/>
          </a:xfrm>
          <a:prstGeom prst="ellipse">
            <a:avLst/>
          </a:prstGeom>
          <a:solidFill>
            <a:srgbClr val="283044"/>
          </a:solidFill>
          <a:ln/>
        </p:spPr>
      </p:sp>
      <p:sp>
        <p:nvSpPr>
          <p:cNvPr id="29" name="Shape 27"/>
          <p:cNvSpPr/>
          <p:nvPr/>
        </p:nvSpPr>
        <p:spPr>
          <a:xfrm>
            <a:off x="9598536" y="2281525"/>
            <a:ext cx="53035" cy="53035"/>
          </a:xfrm>
          <a:prstGeom prst="ellipse">
            <a:avLst/>
          </a:prstGeom>
          <a:solidFill>
            <a:srgbClr val="283044"/>
          </a:solidFill>
          <a:ln/>
        </p:spPr>
      </p:sp>
      <p:sp>
        <p:nvSpPr>
          <p:cNvPr id="30" name="Shape 28"/>
          <p:cNvSpPr/>
          <p:nvPr/>
        </p:nvSpPr>
        <p:spPr>
          <a:xfrm>
            <a:off x="9701903" y="2335619"/>
            <a:ext cx="53035" cy="53035"/>
          </a:xfrm>
          <a:prstGeom prst="ellipse">
            <a:avLst/>
          </a:prstGeom>
          <a:solidFill>
            <a:srgbClr val="283044"/>
          </a:solidFill>
          <a:ln/>
        </p:spPr>
      </p:sp>
      <p:sp>
        <p:nvSpPr>
          <p:cNvPr id="31" name="Shape 29"/>
          <p:cNvSpPr/>
          <p:nvPr/>
        </p:nvSpPr>
        <p:spPr>
          <a:xfrm>
            <a:off x="9805270" y="2386592"/>
            <a:ext cx="53035" cy="53035"/>
          </a:xfrm>
          <a:prstGeom prst="ellipse">
            <a:avLst/>
          </a:prstGeom>
          <a:solidFill>
            <a:srgbClr val="283044"/>
          </a:solidFill>
          <a:ln/>
        </p:spPr>
      </p:sp>
      <p:sp>
        <p:nvSpPr>
          <p:cNvPr id="32" name="Shape 30"/>
          <p:cNvSpPr/>
          <p:nvPr/>
        </p:nvSpPr>
        <p:spPr>
          <a:xfrm>
            <a:off x="9908637" y="2433493"/>
            <a:ext cx="53035" cy="53035"/>
          </a:xfrm>
          <a:prstGeom prst="ellipse">
            <a:avLst/>
          </a:prstGeom>
          <a:solidFill>
            <a:srgbClr val="283044"/>
          </a:solidFill>
          <a:ln/>
        </p:spPr>
      </p:sp>
      <p:sp>
        <p:nvSpPr>
          <p:cNvPr id="33" name="Shape 31"/>
          <p:cNvSpPr/>
          <p:nvPr/>
        </p:nvSpPr>
        <p:spPr>
          <a:xfrm>
            <a:off x="10012004" y="2475450"/>
            <a:ext cx="53035" cy="53035"/>
          </a:xfrm>
          <a:prstGeom prst="ellipse">
            <a:avLst/>
          </a:prstGeom>
          <a:solidFill>
            <a:srgbClr val="283044"/>
          </a:solidFill>
          <a:ln/>
        </p:spPr>
      </p:sp>
      <p:sp>
        <p:nvSpPr>
          <p:cNvPr id="34" name="Shape 32"/>
          <p:cNvSpPr/>
          <p:nvPr/>
        </p:nvSpPr>
        <p:spPr>
          <a:xfrm>
            <a:off x="10115371" y="2511680"/>
            <a:ext cx="53035" cy="53035"/>
          </a:xfrm>
          <a:prstGeom prst="ellipse">
            <a:avLst/>
          </a:prstGeom>
          <a:solidFill>
            <a:srgbClr val="283044"/>
          </a:solidFill>
          <a:ln/>
        </p:spPr>
      </p:sp>
      <p:sp>
        <p:nvSpPr>
          <p:cNvPr id="35" name="Shape 33"/>
          <p:cNvSpPr/>
          <p:nvPr/>
        </p:nvSpPr>
        <p:spPr>
          <a:xfrm>
            <a:off x="10218738" y="2541508"/>
            <a:ext cx="53035" cy="53035"/>
          </a:xfrm>
          <a:prstGeom prst="ellipse">
            <a:avLst/>
          </a:prstGeom>
          <a:solidFill>
            <a:srgbClr val="283044"/>
          </a:solidFill>
          <a:ln/>
        </p:spPr>
      </p:sp>
      <p:sp>
        <p:nvSpPr>
          <p:cNvPr id="36" name="Shape 34"/>
          <p:cNvSpPr/>
          <p:nvPr/>
        </p:nvSpPr>
        <p:spPr>
          <a:xfrm>
            <a:off x="10322105" y="2564380"/>
            <a:ext cx="53035" cy="53035"/>
          </a:xfrm>
          <a:prstGeom prst="ellipse">
            <a:avLst/>
          </a:prstGeom>
          <a:solidFill>
            <a:srgbClr val="283044"/>
          </a:solidFill>
          <a:ln/>
        </p:spPr>
      </p:sp>
      <p:sp>
        <p:nvSpPr>
          <p:cNvPr id="37" name="Shape 35"/>
          <p:cNvSpPr/>
          <p:nvPr/>
        </p:nvSpPr>
        <p:spPr>
          <a:xfrm>
            <a:off x="10425472" y="2579869"/>
            <a:ext cx="53035" cy="53035"/>
          </a:xfrm>
          <a:prstGeom prst="ellipse">
            <a:avLst/>
          </a:prstGeom>
          <a:solidFill>
            <a:srgbClr val="283044"/>
          </a:solidFill>
          <a:ln/>
        </p:spPr>
      </p:sp>
      <p:sp>
        <p:nvSpPr>
          <p:cNvPr id="38" name="Shape 36"/>
          <p:cNvSpPr/>
          <p:nvPr/>
        </p:nvSpPr>
        <p:spPr>
          <a:xfrm>
            <a:off x="10528839" y="2587686"/>
            <a:ext cx="53035" cy="53035"/>
          </a:xfrm>
          <a:prstGeom prst="ellipse">
            <a:avLst/>
          </a:prstGeom>
          <a:solidFill>
            <a:srgbClr val="283044"/>
          </a:solidFill>
          <a:ln/>
        </p:spPr>
      </p:sp>
      <p:sp>
        <p:nvSpPr>
          <p:cNvPr id="39" name="Shape 37"/>
          <p:cNvSpPr/>
          <p:nvPr/>
        </p:nvSpPr>
        <p:spPr>
          <a:xfrm>
            <a:off x="10632206" y="2587686"/>
            <a:ext cx="53035" cy="53035"/>
          </a:xfrm>
          <a:prstGeom prst="ellipse">
            <a:avLst/>
          </a:prstGeom>
          <a:solidFill>
            <a:srgbClr val="283044"/>
          </a:solidFill>
          <a:ln/>
        </p:spPr>
      </p:sp>
      <p:sp>
        <p:nvSpPr>
          <p:cNvPr id="40" name="Shape 38"/>
          <p:cNvSpPr/>
          <p:nvPr/>
        </p:nvSpPr>
        <p:spPr>
          <a:xfrm>
            <a:off x="10735573" y="2579869"/>
            <a:ext cx="53035" cy="53035"/>
          </a:xfrm>
          <a:prstGeom prst="ellipse">
            <a:avLst/>
          </a:prstGeom>
          <a:solidFill>
            <a:srgbClr val="283044"/>
          </a:solidFill>
          <a:ln/>
        </p:spPr>
      </p:sp>
      <p:sp>
        <p:nvSpPr>
          <p:cNvPr id="41" name="Shape 39"/>
          <p:cNvSpPr/>
          <p:nvPr/>
        </p:nvSpPr>
        <p:spPr>
          <a:xfrm>
            <a:off x="10838940" y="2564380"/>
            <a:ext cx="53035" cy="53035"/>
          </a:xfrm>
          <a:prstGeom prst="ellipse">
            <a:avLst/>
          </a:prstGeom>
          <a:solidFill>
            <a:srgbClr val="283044"/>
          </a:solidFill>
          <a:ln/>
        </p:spPr>
      </p:sp>
      <p:sp>
        <p:nvSpPr>
          <p:cNvPr id="42" name="Shape 40"/>
          <p:cNvSpPr/>
          <p:nvPr/>
        </p:nvSpPr>
        <p:spPr>
          <a:xfrm>
            <a:off x="10942307" y="2541508"/>
            <a:ext cx="53035" cy="53035"/>
          </a:xfrm>
          <a:prstGeom prst="ellipse">
            <a:avLst/>
          </a:prstGeom>
          <a:solidFill>
            <a:srgbClr val="283044"/>
          </a:solidFill>
          <a:ln/>
        </p:spPr>
      </p:sp>
      <p:sp>
        <p:nvSpPr>
          <p:cNvPr id="43" name="Shape 41"/>
          <p:cNvSpPr/>
          <p:nvPr/>
        </p:nvSpPr>
        <p:spPr>
          <a:xfrm>
            <a:off x="11045674" y="2511680"/>
            <a:ext cx="53035" cy="53035"/>
          </a:xfrm>
          <a:prstGeom prst="ellipse">
            <a:avLst/>
          </a:prstGeom>
          <a:solidFill>
            <a:srgbClr val="283044"/>
          </a:solidFill>
          <a:ln/>
        </p:spPr>
      </p:sp>
      <p:sp>
        <p:nvSpPr>
          <p:cNvPr id="44" name="Shape 42"/>
          <p:cNvSpPr/>
          <p:nvPr/>
        </p:nvSpPr>
        <p:spPr>
          <a:xfrm>
            <a:off x="11149041" y="2475450"/>
            <a:ext cx="53035" cy="53035"/>
          </a:xfrm>
          <a:prstGeom prst="ellipse">
            <a:avLst/>
          </a:prstGeom>
          <a:solidFill>
            <a:srgbClr val="283044"/>
          </a:solidFill>
          <a:ln/>
        </p:spPr>
      </p:sp>
      <p:sp>
        <p:nvSpPr>
          <p:cNvPr id="45" name="Shape 43"/>
          <p:cNvSpPr/>
          <p:nvPr/>
        </p:nvSpPr>
        <p:spPr>
          <a:xfrm>
            <a:off x="11252408" y="2433493"/>
            <a:ext cx="53035" cy="53035"/>
          </a:xfrm>
          <a:prstGeom prst="ellipse">
            <a:avLst/>
          </a:prstGeom>
          <a:solidFill>
            <a:srgbClr val="283044"/>
          </a:solidFill>
          <a:ln/>
        </p:spPr>
      </p:sp>
      <p:sp>
        <p:nvSpPr>
          <p:cNvPr id="46" name="Shape 44"/>
          <p:cNvSpPr/>
          <p:nvPr/>
        </p:nvSpPr>
        <p:spPr>
          <a:xfrm>
            <a:off x="11355775" y="2386592"/>
            <a:ext cx="53035" cy="53035"/>
          </a:xfrm>
          <a:prstGeom prst="ellipse">
            <a:avLst/>
          </a:prstGeom>
          <a:solidFill>
            <a:srgbClr val="283044"/>
          </a:solidFill>
          <a:ln/>
        </p:spPr>
      </p:sp>
      <p:sp>
        <p:nvSpPr>
          <p:cNvPr id="47" name="Shape 45"/>
          <p:cNvSpPr/>
          <p:nvPr/>
        </p:nvSpPr>
        <p:spPr>
          <a:xfrm>
            <a:off x="11459142" y="2335619"/>
            <a:ext cx="53035" cy="53035"/>
          </a:xfrm>
          <a:prstGeom prst="ellipse">
            <a:avLst/>
          </a:prstGeom>
          <a:solidFill>
            <a:srgbClr val="283044"/>
          </a:solidFill>
          <a:ln/>
        </p:spPr>
      </p:sp>
      <p:sp>
        <p:nvSpPr>
          <p:cNvPr id="48" name="Shape 46"/>
          <p:cNvSpPr/>
          <p:nvPr/>
        </p:nvSpPr>
        <p:spPr>
          <a:xfrm>
            <a:off x="11562508" y="2281525"/>
            <a:ext cx="53035" cy="53035"/>
          </a:xfrm>
          <a:prstGeom prst="ellipse">
            <a:avLst/>
          </a:prstGeom>
          <a:solidFill>
            <a:srgbClr val="283044"/>
          </a:solidFill>
          <a:ln/>
        </p:spPr>
      </p:sp>
      <p:sp>
        <p:nvSpPr>
          <p:cNvPr id="49" name="Shape 47"/>
          <p:cNvSpPr/>
          <p:nvPr/>
        </p:nvSpPr>
        <p:spPr>
          <a:xfrm>
            <a:off x="11665875" y="2225317"/>
            <a:ext cx="53035" cy="53035"/>
          </a:xfrm>
          <a:prstGeom prst="ellipse">
            <a:avLst/>
          </a:prstGeom>
          <a:solidFill>
            <a:srgbClr val="283044"/>
          </a:solidFill>
          <a:ln/>
        </p:spPr>
      </p:sp>
      <p:sp>
        <p:nvSpPr>
          <p:cNvPr id="50" name="Shape 48"/>
          <p:cNvSpPr/>
          <p:nvPr/>
        </p:nvSpPr>
        <p:spPr>
          <a:xfrm>
            <a:off x="11769242" y="2168042"/>
            <a:ext cx="53035" cy="53035"/>
          </a:xfrm>
          <a:prstGeom prst="ellipse">
            <a:avLst/>
          </a:prstGeom>
          <a:solidFill>
            <a:srgbClr val="283044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21792" y="173736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4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Tinggal Dipilih</a:t>
            </a:r>
            <a:pPr indent="0" marL="0">
              <a:lnSpc>
                <a:spcPts val="6400"/>
              </a:lnSpc>
              <a:buNone/>
            </a:pPr>
            <a:r>
              <a:rPr lang="en-US" sz="5800" b="1" dirty="0">
                <a:solidFill>
                  <a:srgbClr val="FF5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5800" dirty="0"/>
          </a:p>
        </p:txBody>
      </p:sp>
      <p:sp>
        <p:nvSpPr>
          <p:cNvPr id="52" name="Text 50"/>
          <p:cNvSpPr txBox="1"/>
          <p:nvPr/>
        </p:nvSpPr>
        <p:spPr>
          <a:xfrm>
            <a:off x="621792" y="3310128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B9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kasus pertama siap dijalankan dengan sembilan teori. Dua perkara hukum sebaiknya ditinggalkan, karena pertanyaan moralnya sudah tertutup.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621792" y="4315968"/>
            <a:ext cx="274320" cy="274320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54" name="Shape 52"/>
          <p:cNvSpPr/>
          <p:nvPr/>
        </p:nvSpPr>
        <p:spPr>
          <a:xfrm>
            <a:off x="1005840" y="4315968"/>
            <a:ext cx="274320" cy="274320"/>
          </a:xfrm>
          <a:prstGeom prst="rect">
            <a:avLst/>
          </a:prstGeom>
          <a:solidFill>
            <a:srgbClr val="0FA98E"/>
          </a:solidFill>
          <a:ln/>
        </p:spPr>
      </p:sp>
      <p:sp>
        <p:nvSpPr>
          <p:cNvPr id="55" name="Shape 53"/>
          <p:cNvSpPr/>
          <p:nvPr/>
        </p:nvSpPr>
        <p:spPr>
          <a:xfrm>
            <a:off x="1389888" y="4315968"/>
            <a:ext cx="274320" cy="274320"/>
          </a:xfrm>
          <a:prstGeom prst="rect">
            <a:avLst/>
          </a:prstGeom>
          <a:solidFill>
            <a:srgbClr val="F5B722"/>
          </a:solidFill>
          <a:ln/>
        </p:spPr>
      </p:sp>
      <p:sp>
        <p:nvSpPr>
          <p:cNvPr id="56" name="Shape 54"/>
          <p:cNvSpPr/>
          <p:nvPr/>
        </p:nvSpPr>
        <p:spPr>
          <a:xfrm>
            <a:off x="1773936" y="4315968"/>
            <a:ext cx="274320" cy="274320"/>
          </a:xfrm>
          <a:prstGeom prst="rect">
            <a:avLst/>
          </a:prstGeom>
          <a:solidFill>
            <a:srgbClr val="0E1626"/>
          </a:solidFill>
          <a:ln/>
        </p:spPr>
      </p:sp>
      <p:sp>
        <p:nvSpPr>
          <p:cNvPr id="57" name="Shape 55"/>
          <p:cNvSpPr/>
          <p:nvPr/>
        </p:nvSpPr>
        <p:spPr>
          <a:xfrm>
            <a:off x="2157984" y="4315968"/>
            <a:ext cx="274320" cy="274320"/>
          </a:xfrm>
          <a:prstGeom prst="rect">
            <a:avLst/>
          </a:prstGeom>
          <a:solidFill>
            <a:srgbClr val="B8A6F5"/>
          </a:solidFill>
          <a:ln/>
        </p:spPr>
      </p:sp>
      <p:sp>
        <p:nvSpPr>
          <p:cNvPr id="58" name="Shape 56"/>
          <p:cNvSpPr/>
          <p:nvPr/>
        </p:nvSpPr>
        <p:spPr>
          <a:xfrm>
            <a:off x="621792" y="5029200"/>
            <a:ext cx="4114800" cy="713232"/>
          </a:xfrm>
          <a:prstGeom prst="roundRect">
            <a:avLst>
              <a:gd name="adj" fmla="val 20513"/>
            </a:avLst>
          </a:prstGeom>
          <a:solidFill>
            <a:srgbClr val="1B2233"/>
          </a:solidFill>
          <a:ln/>
        </p:spPr>
      </p:sp>
      <p:sp>
        <p:nvSpPr>
          <p:cNvPr id="59" name="Shape 57"/>
          <p:cNvSpPr/>
          <p:nvPr/>
        </p:nvSpPr>
        <p:spPr>
          <a:xfrm>
            <a:off x="621792" y="5084064"/>
            <a:ext cx="54864" cy="603504"/>
          </a:xfrm>
          <a:prstGeom prst="rect">
            <a:avLst/>
          </a:prstGeom>
          <a:solidFill>
            <a:srgbClr val="FF5A2D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877824" y="5166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Aslih Abnuri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877824" y="54132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25/574338/PEK/31801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621792" y="6053328"/>
            <a:ext cx="10948111" cy="10058"/>
          </a:xfrm>
          <a:prstGeom prst="rect">
            <a:avLst/>
          </a:prstGeom>
          <a:solidFill>
            <a:srgbClr val="283044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621792" y="619963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Ethics · Berkas Fakta Lima Kandidat Kasus</a:t>
            </a:r>
            <a:endParaRPr lang="en-US" sz="1050" dirty="0"/>
          </a:p>
        </p:txBody>
      </p:sp>
      <p:sp>
        <p:nvSpPr>
          <p:cNvPr id="64" name="Text 62"/>
          <p:cNvSpPr txBox="1"/>
          <p:nvPr/>
        </p:nvSpPr>
        <p:spPr>
          <a:xfrm>
            <a:off x="6083503" y="61996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8C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ditelusuri Agustus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Lima Kandidat Kasus Indonesia</dc:title>
  <dc:subject>Berkas fakta untuk Chapter 3</dc:subject>
  <dc:creator>Aslih Abnuri</dc:creator>
  <cp:lastModifiedBy>Aslih Abnuri</cp:lastModifiedBy>
  <cp:revision>1</cp:revision>
  <dcterms:created xsi:type="dcterms:W3CDTF">2026-08-26T13:55:29Z</dcterms:created>
  <dcterms:modified xsi:type="dcterms:W3CDTF">2026-08-26T13:55:29Z</dcterms:modified>
</cp:coreProperties>
</file>