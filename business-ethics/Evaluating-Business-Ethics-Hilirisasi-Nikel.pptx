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1 menit. Sampaikan dua hal: Bab 3 memberi sembilan kriteria penilaian, dan kita akan memakainya pada kasus nyata yang belum selesai. Alokasi 30 menit: sekitar 17 menit teori, 11 menit kasus, 2 menit penutup.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detik. Tekankan bahwa urutannya sengaja: kalau kasus dibahas lebih dulu, diskusi berhenti di adu data. Teori memberi alat untuk menilai data yang sama secara berbeda.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menit. Poin kunci: teori tidak menggantikan intuisi, tetapi merapikannya. Contoh pemantik: perbedaan antara mengatakan praktik di negara lain itu berbeda dan mengatakan praktik itu salah.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menit. Pertanyaan pemantik ke kelas: suap. Absolutis bilang selalu salah. Relativis bilang tergantung negaranya. Pluralis bertanya kriteria mana yang paling kuat menanggung beban argumen di situasi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menit. Ini peta jalan sisa presentasi. Minta kelas mengingat nomor urutnya, karena matriks di bagian kasus memakai nomor yang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menit. Jangan buru-buru menolak egoisme. Justru versi jangka panjangnya yang nanti memberi kritik paling tajam pada kasus nikel, karena biaya tertunda belum masuk perhitungan. Catatan tambahan: Adam Smith dan Milton Friedman kerap dikaitkan dengan egoisme, meski keduanya tidak pernah menganjurkan egoisme tanpa simpati.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menit. Titik terpenting: act dan rule bisa menghasilkan kesimpulan berlawanan atas fakta yang sama. Ini yang nanti terjadi pada kasus nikel, jadi tanam dulu di sini. Utilitarianism dalam praktik mendekati cost benefit analysis, dan lazim dipakai pada analisis dampak sosial dan lingkungan proyek tambang.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menit. Cara cepat memakai Kant di kelas: sebutkan maksim tindakannya dalam satu kalimat, lalu universalkan. Kalau maksimnya membatalkan dirinya sendiri saat diuniversalkan, tindakan itu gagal.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menit. Ini teori yang paling siap dipakai auditor dan investor. Tekankan cakupan relasi bisnis, karena itu yang menghubungkan pembeli kendaraan listrik di Eropa dengan Halmahera.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menit. Veil of ignorance adalah alat paling mudah dipakai mahasiswa. Latihan singkat: bila Anda tidak tahu akan lahir sebagai pemegang saham atau warga hilir sungai, kebijakan mana yang Anda pilih?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menit. Slide transisi. Sampaikan bahwa keberatan nomor 3 sampai 5 yang paling menentukan bagi kasus nikel, karena warga terdampak tidak pernah jadi pihak dalam perumusan.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menit. Virtue ethics sering disalahpahami sebagai imbauan moral. Tekankan pertanyaan pembandingnya: dibandingkan dengan apa kita menyebut sesuatu sudah cukup baik? Itu yang jadi kunci di bagian kasus.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menit. Discourse ethics menilai proses, jadi ia bisa membatalkan kebijakan yang hasilnya bagus sekalipun. Postmodern ethics menilai bahasa, dan itu yang akan membongkar istilah nikel hijau nanti.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menit. Minta kelas memotret slide ini. Selama bagian kasus, mereka bisa menandai sendiri jawaban tiap pertanyaan sebelum kita bahas.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menit. Sebutkan bahwa kebijakannya masih berjalan dan sengketa dagangnya belum tuntas. Kasus yang belum selesai justru paling layak didiskusikan di kelas.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menit. Jangan berdebat soal angka. Tegaskan kedua kolom benar. Justru itu yang membuat kasus ini butuh sembilan kriteria, bukan satu.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menit. Bagian terpenting: utilitarianism terbelah. Tunjukkan bahwa perbedaan act dan rule bukan detail teknis, melainkan yang menentukan putusan.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menit. Perhatikan bahwa ethic of care tidak menolak kebijakan. Ia menuntut pemulihan. Ini contoh bagus bahwa pluralisme bukan berarti semua teori berkata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menit. Ini inti kontribusi analisis. Tekankan proposisi keempat: yang gugur adalah klaim etisnya, bukan kebijakan hilirisasinya.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menit. Sampaikan ketiga temuan, lalu ketiga tindak lanjutnya. Pertanyaan diskusinya ditayangkan pada slide berikutnya, jadi jangan dibacakan di sini.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penutup. Bacakan pertanyaan diskusinya, lalu buka forum tanya jawab. Tidak perlu diberi alokasi waktu tersendiri.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A"/>
        </a:solidFill>
      </p:bgPr>
    </p:bg>
    <p:spTree>
      <p:nvGrpSpPr>
        <p:cNvPr id="1" name=""/>
        <p:cNvGrpSpPr/>
        <p:nvPr/>
      </p:nvGrpSpPr>
      <p:grpSpPr>
        <a:xfrm>
          <a:off x="0" y="0"/>
          <a:ext cx="0" cy="0"/>
          <a:chOff x="0" y="0"/>
          <a:chExt cx="0" cy="0"/>
        </a:xfrm>
      </p:grpSpPr>
      <p:sp>
        <p:nvSpPr>
          <p:cNvPr id="2" name="Shape 0"/>
          <p:cNvSpPr/>
          <p:nvPr/>
        </p:nvSpPr>
        <p:spPr>
          <a:xfrm>
            <a:off x="8001000" y="1188720"/>
            <a:ext cx="3657600" cy="3657600"/>
          </a:xfrm>
          <a:prstGeom prst="roundRect">
            <a:avLst>
              <a:gd name="adj" fmla="val 3000"/>
            </a:avLst>
          </a:prstGeom>
          <a:solidFill>
            <a:srgbClr val="22303D"/>
          </a:solidFill>
          <a:ln w="12700">
            <a:solidFill>
              <a:srgbClr val="22303D"/>
            </a:solidFill>
            <a:prstDash val="solid"/>
          </a:ln>
        </p:spPr>
      </p:sp>
      <p:sp>
        <p:nvSpPr>
          <p:cNvPr id="3" name="Shape 1"/>
          <p:cNvSpPr/>
          <p:nvPr/>
        </p:nvSpPr>
        <p:spPr>
          <a:xfrm>
            <a:off x="8321040" y="1481328"/>
            <a:ext cx="256032" cy="256032"/>
          </a:xfrm>
          <a:prstGeom prst="roundRect">
            <a:avLst>
              <a:gd name="adj" fmla="val 25000"/>
            </a:avLst>
          </a:prstGeom>
          <a:solidFill>
            <a:srgbClr val="B8542A"/>
          </a:solidFill>
          <a:ln w="12700">
            <a:solidFill>
              <a:srgbClr val="B8542A"/>
            </a:solidFill>
            <a:prstDash val="solid"/>
          </a:ln>
        </p:spPr>
      </p:sp>
      <p:sp>
        <p:nvSpPr>
          <p:cNvPr id="4" name="Text 2"/>
          <p:cNvSpPr txBox="1"/>
          <p:nvPr/>
        </p:nvSpPr>
        <p:spPr>
          <a:xfrm>
            <a:off x="8321040" y="1481328"/>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5" name="Text 3"/>
          <p:cNvSpPr txBox="1"/>
          <p:nvPr/>
        </p:nvSpPr>
        <p:spPr>
          <a:xfrm>
            <a:off x="8705088" y="1481328"/>
            <a:ext cx="2743200" cy="25603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Egoism</a:t>
            </a:r>
            <a:endParaRPr lang="en-US" sz="1150" dirty="0"/>
          </a:p>
        </p:txBody>
      </p:sp>
      <p:sp>
        <p:nvSpPr>
          <p:cNvPr id="6" name="Shape 4"/>
          <p:cNvSpPr/>
          <p:nvPr/>
        </p:nvSpPr>
        <p:spPr>
          <a:xfrm>
            <a:off x="8321040" y="1847088"/>
            <a:ext cx="256032" cy="256032"/>
          </a:xfrm>
          <a:prstGeom prst="roundRect">
            <a:avLst>
              <a:gd name="adj" fmla="val 25000"/>
            </a:avLst>
          </a:prstGeom>
          <a:solidFill>
            <a:srgbClr val="B8542A"/>
          </a:solidFill>
          <a:ln w="12700">
            <a:solidFill>
              <a:srgbClr val="B8542A"/>
            </a:solidFill>
            <a:prstDash val="solid"/>
          </a:ln>
        </p:spPr>
      </p:sp>
      <p:sp>
        <p:nvSpPr>
          <p:cNvPr id="7" name="Text 5"/>
          <p:cNvSpPr txBox="1"/>
          <p:nvPr/>
        </p:nvSpPr>
        <p:spPr>
          <a:xfrm>
            <a:off x="8321040" y="1847088"/>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8" name="Text 6"/>
          <p:cNvSpPr txBox="1"/>
          <p:nvPr/>
        </p:nvSpPr>
        <p:spPr>
          <a:xfrm>
            <a:off x="8705088" y="1847088"/>
            <a:ext cx="2743200" cy="25603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Utilitarianism</a:t>
            </a:r>
            <a:endParaRPr lang="en-US" sz="1150" dirty="0"/>
          </a:p>
        </p:txBody>
      </p:sp>
      <p:sp>
        <p:nvSpPr>
          <p:cNvPr id="9" name="Shape 7"/>
          <p:cNvSpPr/>
          <p:nvPr/>
        </p:nvSpPr>
        <p:spPr>
          <a:xfrm>
            <a:off x="8321040" y="2212848"/>
            <a:ext cx="256032" cy="256032"/>
          </a:xfrm>
          <a:prstGeom prst="roundRect">
            <a:avLst>
              <a:gd name="adj" fmla="val 25000"/>
            </a:avLst>
          </a:prstGeom>
          <a:solidFill>
            <a:srgbClr val="B8542A"/>
          </a:solidFill>
          <a:ln w="12700">
            <a:solidFill>
              <a:srgbClr val="B8542A"/>
            </a:solidFill>
            <a:prstDash val="solid"/>
          </a:ln>
        </p:spPr>
      </p:sp>
      <p:sp>
        <p:nvSpPr>
          <p:cNvPr id="10" name="Text 8"/>
          <p:cNvSpPr txBox="1"/>
          <p:nvPr/>
        </p:nvSpPr>
        <p:spPr>
          <a:xfrm>
            <a:off x="8321040" y="2212848"/>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1" name="Text 9"/>
          <p:cNvSpPr txBox="1"/>
          <p:nvPr/>
        </p:nvSpPr>
        <p:spPr>
          <a:xfrm>
            <a:off x="8705088" y="2212848"/>
            <a:ext cx="2743200" cy="25603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Ethics of duty</a:t>
            </a:r>
            <a:endParaRPr lang="en-US" sz="1150" dirty="0"/>
          </a:p>
        </p:txBody>
      </p:sp>
      <p:sp>
        <p:nvSpPr>
          <p:cNvPr id="12" name="Shape 10"/>
          <p:cNvSpPr/>
          <p:nvPr/>
        </p:nvSpPr>
        <p:spPr>
          <a:xfrm>
            <a:off x="8321040" y="2578608"/>
            <a:ext cx="256032" cy="256032"/>
          </a:xfrm>
          <a:prstGeom prst="roundRect">
            <a:avLst>
              <a:gd name="adj" fmla="val 25000"/>
            </a:avLst>
          </a:prstGeom>
          <a:solidFill>
            <a:srgbClr val="B8542A"/>
          </a:solidFill>
          <a:ln w="12700">
            <a:solidFill>
              <a:srgbClr val="B8542A"/>
            </a:solidFill>
            <a:prstDash val="solid"/>
          </a:ln>
        </p:spPr>
      </p:sp>
      <p:sp>
        <p:nvSpPr>
          <p:cNvPr id="13" name="Text 11"/>
          <p:cNvSpPr txBox="1"/>
          <p:nvPr/>
        </p:nvSpPr>
        <p:spPr>
          <a:xfrm>
            <a:off x="8321040" y="2578608"/>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4" name="Text 12"/>
          <p:cNvSpPr txBox="1"/>
          <p:nvPr/>
        </p:nvSpPr>
        <p:spPr>
          <a:xfrm>
            <a:off x="8705088" y="2578608"/>
            <a:ext cx="2743200" cy="25603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Ethics of rights</a:t>
            </a:r>
            <a:endParaRPr lang="en-US" sz="1150" dirty="0"/>
          </a:p>
        </p:txBody>
      </p:sp>
      <p:sp>
        <p:nvSpPr>
          <p:cNvPr id="15" name="Shape 13"/>
          <p:cNvSpPr/>
          <p:nvPr/>
        </p:nvSpPr>
        <p:spPr>
          <a:xfrm>
            <a:off x="8321040" y="2944368"/>
            <a:ext cx="256032" cy="256032"/>
          </a:xfrm>
          <a:prstGeom prst="roundRect">
            <a:avLst>
              <a:gd name="adj" fmla="val 25000"/>
            </a:avLst>
          </a:prstGeom>
          <a:solidFill>
            <a:srgbClr val="B8542A"/>
          </a:solidFill>
          <a:ln w="12700">
            <a:solidFill>
              <a:srgbClr val="B8542A"/>
            </a:solidFill>
            <a:prstDash val="solid"/>
          </a:ln>
        </p:spPr>
      </p:sp>
      <p:sp>
        <p:nvSpPr>
          <p:cNvPr id="16" name="Text 14"/>
          <p:cNvSpPr txBox="1"/>
          <p:nvPr/>
        </p:nvSpPr>
        <p:spPr>
          <a:xfrm>
            <a:off x="8321040" y="2944368"/>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17" name="Text 15"/>
          <p:cNvSpPr txBox="1"/>
          <p:nvPr/>
        </p:nvSpPr>
        <p:spPr>
          <a:xfrm>
            <a:off x="8705088" y="2944368"/>
            <a:ext cx="2743200" cy="25603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Justice</a:t>
            </a:r>
            <a:endParaRPr lang="en-US" sz="1150" dirty="0"/>
          </a:p>
        </p:txBody>
      </p:sp>
      <p:sp>
        <p:nvSpPr>
          <p:cNvPr id="18" name="Shape 16"/>
          <p:cNvSpPr/>
          <p:nvPr/>
        </p:nvSpPr>
        <p:spPr>
          <a:xfrm>
            <a:off x="8321040" y="3310128"/>
            <a:ext cx="256032" cy="256032"/>
          </a:xfrm>
          <a:prstGeom prst="roundRect">
            <a:avLst>
              <a:gd name="adj" fmla="val 25000"/>
            </a:avLst>
          </a:prstGeom>
          <a:solidFill>
            <a:srgbClr val="2E6F63"/>
          </a:solidFill>
          <a:ln w="12700">
            <a:solidFill>
              <a:srgbClr val="2E6F63"/>
            </a:solidFill>
            <a:prstDash val="solid"/>
          </a:ln>
        </p:spPr>
      </p:sp>
      <p:sp>
        <p:nvSpPr>
          <p:cNvPr id="19" name="Text 17"/>
          <p:cNvSpPr txBox="1"/>
          <p:nvPr/>
        </p:nvSpPr>
        <p:spPr>
          <a:xfrm>
            <a:off x="8321040" y="3310128"/>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20" name="Text 18"/>
          <p:cNvSpPr txBox="1"/>
          <p:nvPr/>
        </p:nvSpPr>
        <p:spPr>
          <a:xfrm>
            <a:off x="8705088" y="3310128"/>
            <a:ext cx="2743200" cy="25603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Virtue ethics</a:t>
            </a:r>
            <a:endParaRPr lang="en-US" sz="1150" dirty="0"/>
          </a:p>
        </p:txBody>
      </p:sp>
      <p:sp>
        <p:nvSpPr>
          <p:cNvPr id="21" name="Shape 19"/>
          <p:cNvSpPr/>
          <p:nvPr/>
        </p:nvSpPr>
        <p:spPr>
          <a:xfrm>
            <a:off x="8321040" y="3675888"/>
            <a:ext cx="256032" cy="256032"/>
          </a:xfrm>
          <a:prstGeom prst="roundRect">
            <a:avLst>
              <a:gd name="adj" fmla="val 25000"/>
            </a:avLst>
          </a:prstGeom>
          <a:solidFill>
            <a:srgbClr val="2E6F63"/>
          </a:solidFill>
          <a:ln w="12700">
            <a:solidFill>
              <a:srgbClr val="2E6F63"/>
            </a:solidFill>
            <a:prstDash val="solid"/>
          </a:ln>
        </p:spPr>
      </p:sp>
      <p:sp>
        <p:nvSpPr>
          <p:cNvPr id="22" name="Text 20"/>
          <p:cNvSpPr txBox="1"/>
          <p:nvPr/>
        </p:nvSpPr>
        <p:spPr>
          <a:xfrm>
            <a:off x="8321040" y="3675888"/>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7</a:t>
            </a:r>
            <a:endParaRPr lang="en-US" sz="1300" dirty="0"/>
          </a:p>
        </p:txBody>
      </p:sp>
      <p:sp>
        <p:nvSpPr>
          <p:cNvPr id="23" name="Text 21"/>
          <p:cNvSpPr txBox="1"/>
          <p:nvPr/>
        </p:nvSpPr>
        <p:spPr>
          <a:xfrm>
            <a:off x="8705088" y="3675888"/>
            <a:ext cx="2743200" cy="25603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Ethic of care</a:t>
            </a:r>
            <a:endParaRPr lang="en-US" sz="1150" dirty="0"/>
          </a:p>
        </p:txBody>
      </p:sp>
      <p:sp>
        <p:nvSpPr>
          <p:cNvPr id="24" name="Shape 22"/>
          <p:cNvSpPr/>
          <p:nvPr/>
        </p:nvSpPr>
        <p:spPr>
          <a:xfrm>
            <a:off x="8321040" y="4041648"/>
            <a:ext cx="256032" cy="256032"/>
          </a:xfrm>
          <a:prstGeom prst="roundRect">
            <a:avLst>
              <a:gd name="adj" fmla="val 25000"/>
            </a:avLst>
          </a:prstGeom>
          <a:solidFill>
            <a:srgbClr val="2E6F63"/>
          </a:solidFill>
          <a:ln w="12700">
            <a:solidFill>
              <a:srgbClr val="2E6F63"/>
            </a:solidFill>
            <a:prstDash val="solid"/>
          </a:ln>
        </p:spPr>
      </p:sp>
      <p:sp>
        <p:nvSpPr>
          <p:cNvPr id="25" name="Text 23"/>
          <p:cNvSpPr txBox="1"/>
          <p:nvPr/>
        </p:nvSpPr>
        <p:spPr>
          <a:xfrm>
            <a:off x="8321040" y="4041648"/>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8</a:t>
            </a:r>
            <a:endParaRPr lang="en-US" sz="1300" dirty="0"/>
          </a:p>
        </p:txBody>
      </p:sp>
      <p:sp>
        <p:nvSpPr>
          <p:cNvPr id="26" name="Text 24"/>
          <p:cNvSpPr txBox="1"/>
          <p:nvPr/>
        </p:nvSpPr>
        <p:spPr>
          <a:xfrm>
            <a:off x="8705088" y="4041648"/>
            <a:ext cx="2743200" cy="25603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Discourse ethics</a:t>
            </a:r>
            <a:endParaRPr lang="en-US" sz="1150" dirty="0"/>
          </a:p>
        </p:txBody>
      </p:sp>
      <p:sp>
        <p:nvSpPr>
          <p:cNvPr id="27" name="Shape 25"/>
          <p:cNvSpPr/>
          <p:nvPr/>
        </p:nvSpPr>
        <p:spPr>
          <a:xfrm>
            <a:off x="8321040" y="4407408"/>
            <a:ext cx="256032" cy="256032"/>
          </a:xfrm>
          <a:prstGeom prst="roundRect">
            <a:avLst>
              <a:gd name="adj" fmla="val 25000"/>
            </a:avLst>
          </a:prstGeom>
          <a:solidFill>
            <a:srgbClr val="2E6F63"/>
          </a:solidFill>
          <a:ln w="12700">
            <a:solidFill>
              <a:srgbClr val="2E6F63"/>
            </a:solidFill>
            <a:prstDash val="solid"/>
          </a:ln>
        </p:spPr>
      </p:sp>
      <p:sp>
        <p:nvSpPr>
          <p:cNvPr id="28" name="Text 26"/>
          <p:cNvSpPr txBox="1"/>
          <p:nvPr/>
        </p:nvSpPr>
        <p:spPr>
          <a:xfrm>
            <a:off x="8321040" y="4407408"/>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9</a:t>
            </a:r>
            <a:endParaRPr lang="en-US" sz="1300" dirty="0"/>
          </a:p>
        </p:txBody>
      </p:sp>
      <p:sp>
        <p:nvSpPr>
          <p:cNvPr id="29" name="Text 27"/>
          <p:cNvSpPr txBox="1"/>
          <p:nvPr/>
        </p:nvSpPr>
        <p:spPr>
          <a:xfrm>
            <a:off x="8705088" y="4407408"/>
            <a:ext cx="2743200" cy="256032"/>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Postmodern ethics</a:t>
            </a:r>
            <a:endParaRPr lang="en-US" sz="1150" dirty="0"/>
          </a:p>
        </p:txBody>
      </p:sp>
      <p:sp>
        <p:nvSpPr>
          <p:cNvPr id="30" name="Text 28"/>
          <p:cNvSpPr txBox="1"/>
          <p:nvPr/>
        </p:nvSpPr>
        <p:spPr>
          <a:xfrm>
            <a:off x="566928" y="1234440"/>
            <a:ext cx="6949440" cy="237744"/>
          </a:xfrm>
          <a:prstGeom prst="rect">
            <a:avLst/>
          </a:prstGeom>
          <a:noFill/>
          <a:ln/>
        </p:spPr>
        <p:txBody>
          <a:bodyPr wrap="square" lIns="0" tIns="0" rIns="0" bIns="0" rtlCol="0" anchor="ctr"/>
          <a:lstStyle/>
          <a:p>
            <a:pPr indent="0" marL="0">
              <a:buNone/>
            </a:pPr>
            <a:r>
              <a:rPr lang="en-US" sz="1050" b="1" spc="140" kern="0" dirty="0">
                <a:solidFill>
                  <a:srgbClr val="B8542A"/>
                </a:solidFill>
                <a:latin typeface="Calibri" pitchFamily="34" charset="0"/>
                <a:ea typeface="Calibri" pitchFamily="34" charset="-122"/>
                <a:cs typeface="Calibri" pitchFamily="34" charset="-120"/>
              </a:rPr>
              <a:t>BUSINESS ETHICS FOR SUSTAINABILITY</a:t>
            </a:r>
            <a:endParaRPr lang="en-US" sz="1050" dirty="0"/>
          </a:p>
        </p:txBody>
      </p:sp>
      <p:sp>
        <p:nvSpPr>
          <p:cNvPr id="31" name="Text 29"/>
          <p:cNvSpPr txBox="1"/>
          <p:nvPr/>
        </p:nvSpPr>
        <p:spPr>
          <a:xfrm>
            <a:off x="566928" y="1600200"/>
            <a:ext cx="7132320" cy="1600200"/>
          </a:xfrm>
          <a:prstGeom prst="rect">
            <a:avLst/>
          </a:prstGeom>
          <a:noFill/>
          <a:ln/>
        </p:spPr>
        <p:txBody>
          <a:bodyPr wrap="square" lIns="0" tIns="0" rIns="0" bIns="0" rtlCol="0" anchor="t"/>
          <a:lstStyle/>
          <a:p>
            <a:pPr indent="0" marL="0">
              <a:lnSpc>
                <a:spcPct val="98000"/>
              </a:lnSpc>
              <a:buNone/>
            </a:pPr>
            <a:r>
              <a:rPr lang="en-US" sz="4800" b="1" dirty="0">
                <a:solidFill>
                  <a:srgbClr val="FFFFFF"/>
                </a:solidFill>
                <a:latin typeface="Cambria" pitchFamily="34" charset="0"/>
                <a:ea typeface="Cambria" pitchFamily="34" charset="-122"/>
                <a:cs typeface="Cambria" pitchFamily="34" charset="-120"/>
              </a:rPr>
              <a:t>Evaluating</a:t>
            </a:r>
            <a:endParaRPr lang="en-US" sz="4800" dirty="0"/>
          </a:p>
          <a:p>
            <a:pPr indent="0" marL="0">
              <a:lnSpc>
                <a:spcPct val="98000"/>
              </a:lnSpc>
              <a:buNone/>
            </a:pPr>
            <a:r>
              <a:rPr lang="en-US" sz="4800" b="1" dirty="0">
                <a:solidFill>
                  <a:srgbClr val="FFFFFF"/>
                </a:solidFill>
                <a:latin typeface="Cambria" pitchFamily="34" charset="0"/>
                <a:ea typeface="Cambria" pitchFamily="34" charset="-122"/>
                <a:cs typeface="Cambria" pitchFamily="34" charset="-120"/>
              </a:rPr>
              <a:t>Business Ethics</a:t>
            </a:r>
            <a:endParaRPr lang="en-US" sz="4800" dirty="0"/>
          </a:p>
        </p:txBody>
      </p:sp>
      <p:sp>
        <p:nvSpPr>
          <p:cNvPr id="32" name="Text 30"/>
          <p:cNvSpPr txBox="1"/>
          <p:nvPr/>
        </p:nvSpPr>
        <p:spPr>
          <a:xfrm>
            <a:off x="566928" y="3246120"/>
            <a:ext cx="7132320" cy="384048"/>
          </a:xfrm>
          <a:prstGeom prst="rect">
            <a:avLst/>
          </a:prstGeom>
          <a:noFill/>
          <a:ln/>
        </p:spPr>
        <p:txBody>
          <a:bodyPr wrap="square" lIns="0" tIns="0" rIns="0" bIns="0" rtlCol="0" anchor="ctr"/>
          <a:lstStyle/>
          <a:p>
            <a:pPr indent="0" marL="0">
              <a:buNone/>
            </a:pPr>
            <a:r>
              <a:rPr lang="en-US" sz="2200" i="1" dirty="0">
                <a:solidFill>
                  <a:srgbClr val="97A3AE"/>
                </a:solidFill>
                <a:latin typeface="Cambria" pitchFamily="34" charset="0"/>
                <a:ea typeface="Cambria" pitchFamily="34" charset="-122"/>
                <a:cs typeface="Cambria" pitchFamily="34" charset="-120"/>
              </a:rPr>
              <a:t>Normative Ethical Theories</a:t>
            </a:r>
            <a:endParaRPr lang="en-US" sz="2200" dirty="0"/>
          </a:p>
        </p:txBody>
      </p:sp>
      <p:sp>
        <p:nvSpPr>
          <p:cNvPr id="33" name="Text 31"/>
          <p:cNvSpPr txBox="1"/>
          <p:nvPr/>
        </p:nvSpPr>
        <p:spPr>
          <a:xfrm>
            <a:off x="566928" y="3950208"/>
            <a:ext cx="4572000" cy="219456"/>
          </a:xfrm>
          <a:prstGeom prst="rect">
            <a:avLst/>
          </a:prstGeom>
          <a:noFill/>
          <a:ln/>
        </p:spPr>
        <p:txBody>
          <a:bodyPr wrap="square" lIns="0" tIns="0" rIns="0" bIns="0" rtlCol="0" anchor="ctr"/>
          <a:lstStyle/>
          <a:p>
            <a:pPr indent="0" marL="0">
              <a:buNone/>
            </a:pPr>
            <a:r>
              <a:rPr lang="en-US" sz="950" b="1" spc="140" kern="0" dirty="0">
                <a:solidFill>
                  <a:srgbClr val="B8542A"/>
                </a:solidFill>
                <a:latin typeface="Calibri" pitchFamily="34" charset="0"/>
                <a:ea typeface="Calibri" pitchFamily="34" charset="-122"/>
                <a:cs typeface="Calibri" pitchFamily="34" charset="-120"/>
              </a:rPr>
              <a:t>DISUSUN OLEH</a:t>
            </a:r>
            <a:endParaRPr lang="en-US" sz="950" dirty="0"/>
          </a:p>
        </p:txBody>
      </p:sp>
      <p:sp>
        <p:nvSpPr>
          <p:cNvPr id="34" name="Text 32"/>
          <p:cNvSpPr txBox="1"/>
          <p:nvPr/>
        </p:nvSpPr>
        <p:spPr>
          <a:xfrm>
            <a:off x="566928" y="4279392"/>
            <a:ext cx="4937760" cy="256032"/>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Aslih Abnuri</a:t>
            </a:r>
            <a:endParaRPr lang="en-US" sz="1350" dirty="0"/>
          </a:p>
        </p:txBody>
      </p:sp>
      <p:sp>
        <p:nvSpPr>
          <p:cNvPr id="35" name="Text 33"/>
          <p:cNvSpPr txBox="1"/>
          <p:nvPr/>
        </p:nvSpPr>
        <p:spPr>
          <a:xfrm>
            <a:off x="566928" y="4526280"/>
            <a:ext cx="4937760" cy="219456"/>
          </a:xfrm>
          <a:prstGeom prst="rect">
            <a:avLst/>
          </a:prstGeom>
          <a:noFill/>
          <a:ln/>
        </p:spPr>
        <p:txBody>
          <a:bodyPr wrap="square" lIns="0" tIns="0" rIns="0" bIns="0" rtlCol="0" anchor="ctr"/>
          <a:lstStyle/>
          <a:p>
            <a:pPr indent="0" marL="0">
              <a:buNone/>
            </a:pPr>
            <a:r>
              <a:rPr lang="en-US" sz="1050" dirty="0">
                <a:solidFill>
                  <a:srgbClr val="97A3AE"/>
                </a:solidFill>
                <a:latin typeface="Calibri" pitchFamily="34" charset="0"/>
                <a:ea typeface="Calibri" pitchFamily="34" charset="-122"/>
                <a:cs typeface="Calibri" pitchFamily="34" charset="-120"/>
              </a:rPr>
              <a:t>25/574338/PEK/31801</a:t>
            </a:r>
            <a:endParaRPr lang="en-US" sz="1050" dirty="0"/>
          </a:p>
        </p:txBody>
      </p:sp>
      <p:sp>
        <p:nvSpPr>
          <p:cNvPr id="36" name="Text 34"/>
          <p:cNvSpPr txBox="1"/>
          <p:nvPr/>
        </p:nvSpPr>
        <p:spPr>
          <a:xfrm>
            <a:off x="566928" y="4791456"/>
            <a:ext cx="4937760" cy="256032"/>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Arfinal Diputra</a:t>
            </a:r>
            <a:endParaRPr lang="en-US" sz="1350" dirty="0"/>
          </a:p>
        </p:txBody>
      </p:sp>
      <p:sp>
        <p:nvSpPr>
          <p:cNvPr id="37" name="Text 35"/>
          <p:cNvSpPr txBox="1"/>
          <p:nvPr/>
        </p:nvSpPr>
        <p:spPr>
          <a:xfrm>
            <a:off x="566928" y="5038344"/>
            <a:ext cx="4937760" cy="219456"/>
          </a:xfrm>
          <a:prstGeom prst="rect">
            <a:avLst/>
          </a:prstGeom>
          <a:noFill/>
          <a:ln/>
        </p:spPr>
        <p:txBody>
          <a:bodyPr wrap="square" lIns="0" tIns="0" rIns="0" bIns="0" rtlCol="0" anchor="ctr"/>
          <a:lstStyle/>
          <a:p>
            <a:pPr indent="0" marL="0">
              <a:buNone/>
            </a:pPr>
            <a:r>
              <a:rPr lang="en-US" sz="1050" dirty="0">
                <a:solidFill>
                  <a:srgbClr val="97A3AE"/>
                </a:solidFill>
                <a:latin typeface="Calibri" pitchFamily="34" charset="0"/>
                <a:ea typeface="Calibri" pitchFamily="34" charset="-122"/>
                <a:cs typeface="Calibri" pitchFamily="34" charset="-120"/>
              </a:rPr>
              <a:t>25/574664/PEK/31914</a:t>
            </a:r>
            <a:endParaRPr lang="en-US" sz="1050" dirty="0"/>
          </a:p>
        </p:txBody>
      </p:sp>
      <p:sp>
        <p:nvSpPr>
          <p:cNvPr id="38" name="Text 36"/>
          <p:cNvSpPr txBox="1"/>
          <p:nvPr/>
        </p:nvSpPr>
        <p:spPr>
          <a:xfrm>
            <a:off x="566928" y="5303520"/>
            <a:ext cx="4937760" cy="256032"/>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Rohana Dwi Hardianti</a:t>
            </a:r>
            <a:endParaRPr lang="en-US" sz="1350" dirty="0"/>
          </a:p>
        </p:txBody>
      </p:sp>
      <p:sp>
        <p:nvSpPr>
          <p:cNvPr id="39" name="Text 37"/>
          <p:cNvSpPr txBox="1"/>
          <p:nvPr/>
        </p:nvSpPr>
        <p:spPr>
          <a:xfrm>
            <a:off x="566928" y="5550408"/>
            <a:ext cx="4937760" cy="219456"/>
          </a:xfrm>
          <a:prstGeom prst="rect">
            <a:avLst/>
          </a:prstGeom>
          <a:noFill/>
          <a:ln/>
        </p:spPr>
        <p:txBody>
          <a:bodyPr wrap="square" lIns="0" tIns="0" rIns="0" bIns="0" rtlCol="0" anchor="ctr"/>
          <a:lstStyle/>
          <a:p>
            <a:pPr indent="0" marL="0">
              <a:buNone/>
            </a:pPr>
            <a:r>
              <a:rPr lang="en-US" sz="1050" dirty="0">
                <a:solidFill>
                  <a:srgbClr val="97A3AE"/>
                </a:solidFill>
                <a:latin typeface="Calibri" pitchFamily="34" charset="0"/>
                <a:ea typeface="Calibri" pitchFamily="34" charset="-122"/>
                <a:cs typeface="Calibri" pitchFamily="34" charset="-120"/>
              </a:rPr>
              <a:t>25/574077/PEK/31728</a:t>
            </a:r>
            <a:endParaRPr lang="en-US" sz="1050" dirty="0"/>
          </a:p>
        </p:txBody>
      </p:sp>
      <p:sp>
        <p:nvSpPr>
          <p:cNvPr id="40" name="Text 38"/>
          <p:cNvSpPr txBox="1"/>
          <p:nvPr/>
        </p:nvSpPr>
        <p:spPr>
          <a:xfrm>
            <a:off x="566928" y="6016752"/>
            <a:ext cx="6949440" cy="548640"/>
          </a:xfrm>
          <a:prstGeom prst="rect">
            <a:avLst/>
          </a:prstGeom>
          <a:noFill/>
          <a:ln/>
        </p:spPr>
        <p:txBody>
          <a:bodyPr wrap="square" lIns="0" tIns="0" rIns="0" bIns="0" rtlCol="0" anchor="t"/>
          <a:lstStyle/>
          <a:p>
            <a:pPr indent="0" marL="0">
              <a:lnSpc>
                <a:spcPct val="115000"/>
              </a:lnSpc>
              <a:buNone/>
            </a:pPr>
            <a:r>
              <a:rPr lang="en-US" sz="950" i="1" dirty="0">
                <a:solidFill>
                  <a:srgbClr val="6B7684"/>
                </a:solidFill>
                <a:latin typeface="Calibri" pitchFamily="34" charset="0"/>
                <a:ea typeface="Calibri" pitchFamily="34" charset="-122"/>
                <a:cs typeface="Calibri" pitchFamily="34" charset="-120"/>
              </a:rPr>
              <a:t>Crane, A., Matten, D., Glozer, S., dan Spence, L. (2019). Business Ethics: Managing Corporate Citizenship and Sustainability in the Age of Globalization. Edisi kelima. Oxford: Oxford University Press, Bab 3.</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B8542A"/>
                </a:solidFill>
                <a:latin typeface="Calibri" pitchFamily="34" charset="0"/>
                <a:ea typeface="Calibri" pitchFamily="34" charset="-122"/>
                <a:cs typeface="Calibri" pitchFamily="34" charset="-120"/>
              </a:rPr>
              <a:t>PETA BAHASAN</a:t>
            </a:r>
            <a:endParaRPr lang="en-US" sz="1000" dirty="0"/>
          </a:p>
        </p:txBody>
      </p:sp>
      <p:sp>
        <p:nvSpPr>
          <p:cNvPr id="3" name="Text 1"/>
          <p:cNvSpPr txBox="1"/>
          <p:nvPr/>
        </p:nvSpPr>
        <p:spPr>
          <a:xfrm>
            <a:off x="566928" y="585216"/>
            <a:ext cx="11057839" cy="548640"/>
          </a:xfrm>
          <a:prstGeom prst="rect">
            <a:avLst/>
          </a:prstGeom>
          <a:noFill/>
          <a:ln/>
        </p:spPr>
        <p:txBody>
          <a:bodyPr wrap="square" lIns="0" tIns="0" rIns="0" bIns="0" rtlCol="0" anchor="ctr"/>
          <a:lstStyle/>
          <a:p>
            <a:pPr indent="0" marL="0">
              <a:buNone/>
            </a:pPr>
            <a:r>
              <a:rPr lang="en-US" sz="2800" b="1" dirty="0">
                <a:solidFill>
                  <a:srgbClr val="16202A"/>
                </a:solidFill>
                <a:latin typeface="Cambria" pitchFamily="34" charset="0"/>
                <a:ea typeface="Cambria" pitchFamily="34" charset="-122"/>
                <a:cs typeface="Cambria" pitchFamily="34" charset="-120"/>
              </a:rPr>
              <a:t>Sistematika pembahasan</a:t>
            </a:r>
            <a:endParaRPr lang="en-US" sz="2800" dirty="0"/>
          </a:p>
        </p:txBody>
      </p:sp>
      <p:sp>
        <p:nvSpPr>
          <p:cNvPr id="4" name="Text 2"/>
          <p:cNvSpPr txBox="1"/>
          <p:nvPr/>
        </p:nvSpPr>
        <p:spPr>
          <a:xfrm>
            <a:off x="566928" y="1170432"/>
            <a:ext cx="11057839" cy="310896"/>
          </a:xfrm>
          <a:prstGeom prst="rect">
            <a:avLst/>
          </a:prstGeom>
          <a:noFill/>
          <a:ln/>
        </p:spPr>
        <p:txBody>
          <a:bodyPr wrap="square" lIns="0" tIns="0" rIns="0" bIns="0" rtlCol="0" anchor="t"/>
          <a:lstStyle/>
          <a:p>
            <a:pPr indent="0" marL="0">
              <a:lnSpc>
                <a:spcPct val="110000"/>
              </a:lnSpc>
              <a:buNone/>
            </a:pPr>
            <a:r>
              <a:rPr lang="en-US" sz="1250" dirty="0">
                <a:solidFill>
                  <a:srgbClr val="6B7684"/>
                </a:solidFill>
                <a:latin typeface="Calibri" pitchFamily="34" charset="0"/>
                <a:ea typeface="Calibri" pitchFamily="34" charset="-122"/>
                <a:cs typeface="Calibri" pitchFamily="34" charset="-120"/>
              </a:rPr>
              <a:t>Kerangka teoretis dibangun lebih dahulu agar analisis kasus memiliki dasar penilaian yang eksplisit.</a:t>
            </a:r>
            <a:endParaRPr lang="en-US" sz="1250" dirty="0"/>
          </a:p>
        </p:txBody>
      </p:sp>
      <p:sp>
        <p:nvSpPr>
          <p:cNvPr id="5" name="Shape 3"/>
          <p:cNvSpPr/>
          <p:nvPr/>
        </p:nvSpPr>
        <p:spPr>
          <a:xfrm>
            <a:off x="566928" y="1719072"/>
            <a:ext cx="5321808" cy="4224528"/>
          </a:xfrm>
          <a:prstGeom prst="roundRect">
            <a:avLst>
              <a:gd name="adj" fmla="val 1948"/>
            </a:avLst>
          </a:prstGeom>
          <a:solidFill>
            <a:srgbClr val="F1F3F5"/>
          </a:solidFill>
          <a:ln w="12700">
            <a:solidFill>
              <a:srgbClr val="F1F3F5"/>
            </a:solidFill>
            <a:prstDash val="solid"/>
          </a:ln>
        </p:spPr>
      </p:sp>
      <p:sp>
        <p:nvSpPr>
          <p:cNvPr id="6" name="Shape 4"/>
          <p:cNvSpPr/>
          <p:nvPr/>
        </p:nvSpPr>
        <p:spPr>
          <a:xfrm>
            <a:off x="6300216" y="1719072"/>
            <a:ext cx="5321808" cy="4224528"/>
          </a:xfrm>
          <a:prstGeom prst="roundRect">
            <a:avLst>
              <a:gd name="adj" fmla="val 1948"/>
            </a:avLst>
          </a:prstGeom>
          <a:solidFill>
            <a:srgbClr val="F1F3F5"/>
          </a:solidFill>
          <a:ln w="12700">
            <a:solidFill>
              <a:srgbClr val="F1F3F5"/>
            </a:solidFill>
            <a:prstDash val="solid"/>
          </a:ln>
        </p:spPr>
      </p:sp>
      <p:sp>
        <p:nvSpPr>
          <p:cNvPr id="7" name="Text 5"/>
          <p:cNvSpPr txBox="1"/>
          <p:nvPr/>
        </p:nvSpPr>
        <p:spPr>
          <a:xfrm>
            <a:off x="877824" y="1938528"/>
            <a:ext cx="4663440" cy="219456"/>
          </a:xfrm>
          <a:prstGeom prst="rect">
            <a:avLst/>
          </a:prstGeom>
          <a:noFill/>
          <a:ln/>
        </p:spPr>
        <p:txBody>
          <a:bodyPr wrap="square" lIns="0" tIns="0" rIns="0" bIns="0" rtlCol="0" anchor="ctr"/>
          <a:lstStyle/>
          <a:p>
            <a:pPr indent="0" marL="0">
              <a:buNone/>
            </a:pPr>
            <a:r>
              <a:rPr lang="en-US" sz="950" b="1" spc="120" kern="0" dirty="0">
                <a:solidFill>
                  <a:srgbClr val="B8542A"/>
                </a:solidFill>
                <a:latin typeface="Calibri" pitchFamily="34" charset="0"/>
                <a:ea typeface="Calibri" pitchFamily="34" charset="-122"/>
                <a:cs typeface="Calibri" pitchFamily="34" charset="-120"/>
              </a:rPr>
              <a:t>BAGIAN SATU</a:t>
            </a:r>
            <a:endParaRPr lang="en-US" sz="950" dirty="0"/>
          </a:p>
        </p:txBody>
      </p:sp>
      <p:sp>
        <p:nvSpPr>
          <p:cNvPr id="8" name="Text 6"/>
          <p:cNvSpPr txBox="1"/>
          <p:nvPr/>
        </p:nvSpPr>
        <p:spPr>
          <a:xfrm>
            <a:off x="6611112" y="1938528"/>
            <a:ext cx="4663440" cy="219456"/>
          </a:xfrm>
          <a:prstGeom prst="rect">
            <a:avLst/>
          </a:prstGeom>
          <a:noFill/>
          <a:ln/>
        </p:spPr>
        <p:txBody>
          <a:bodyPr wrap="square" lIns="0" tIns="0" rIns="0" bIns="0" rtlCol="0" anchor="ctr"/>
          <a:lstStyle/>
          <a:p>
            <a:pPr indent="0" marL="0">
              <a:buNone/>
            </a:pPr>
            <a:r>
              <a:rPr lang="en-US" sz="950" b="1" spc="120" kern="0" dirty="0">
                <a:solidFill>
                  <a:srgbClr val="2E6F63"/>
                </a:solidFill>
                <a:latin typeface="Calibri" pitchFamily="34" charset="0"/>
                <a:ea typeface="Calibri" pitchFamily="34" charset="-122"/>
                <a:cs typeface="Calibri" pitchFamily="34" charset="-120"/>
              </a:rPr>
              <a:t>BAGIAN DUA</a:t>
            </a:r>
            <a:endParaRPr lang="en-US" sz="950" dirty="0"/>
          </a:p>
        </p:txBody>
      </p:sp>
      <p:sp>
        <p:nvSpPr>
          <p:cNvPr id="9" name="Text 7"/>
          <p:cNvSpPr txBox="1"/>
          <p:nvPr/>
        </p:nvSpPr>
        <p:spPr>
          <a:xfrm>
            <a:off x="877824" y="2212848"/>
            <a:ext cx="4663440" cy="274320"/>
          </a:xfrm>
          <a:prstGeom prst="rect">
            <a:avLst/>
          </a:prstGeom>
          <a:noFill/>
          <a:ln/>
        </p:spPr>
        <p:txBody>
          <a:bodyPr wrap="square" lIns="0" tIns="0" rIns="0" bIns="0" rtlCol="0" anchor="ctr"/>
          <a:lstStyle/>
          <a:p>
            <a:pPr indent="0" marL="0">
              <a:buNone/>
            </a:pPr>
            <a:r>
              <a:rPr lang="en-US" sz="1600" b="1" dirty="0">
                <a:solidFill>
                  <a:srgbClr val="16202A"/>
                </a:solidFill>
                <a:latin typeface="Cambria" pitchFamily="34" charset="0"/>
                <a:ea typeface="Cambria" pitchFamily="34" charset="-122"/>
                <a:cs typeface="Cambria" pitchFamily="34" charset="-120"/>
              </a:rPr>
              <a:t>Kerangka penilaian</a:t>
            </a:r>
            <a:endParaRPr lang="en-US" sz="1600" dirty="0"/>
          </a:p>
        </p:txBody>
      </p:sp>
      <p:sp>
        <p:nvSpPr>
          <p:cNvPr id="10" name="Text 8"/>
          <p:cNvSpPr txBox="1"/>
          <p:nvPr/>
        </p:nvSpPr>
        <p:spPr>
          <a:xfrm>
            <a:off x="6611112" y="2212848"/>
            <a:ext cx="4663440" cy="274320"/>
          </a:xfrm>
          <a:prstGeom prst="rect">
            <a:avLst/>
          </a:prstGeom>
          <a:noFill/>
          <a:ln/>
        </p:spPr>
        <p:txBody>
          <a:bodyPr wrap="square" lIns="0" tIns="0" rIns="0" bIns="0" rtlCol="0" anchor="ctr"/>
          <a:lstStyle/>
          <a:p>
            <a:pPr indent="0" marL="0">
              <a:buNone/>
            </a:pPr>
            <a:r>
              <a:rPr lang="en-US" sz="1600" b="1" dirty="0">
                <a:solidFill>
                  <a:srgbClr val="16202A"/>
                </a:solidFill>
                <a:latin typeface="Cambria" pitchFamily="34" charset="0"/>
                <a:ea typeface="Cambria" pitchFamily="34" charset="-122"/>
                <a:cs typeface="Cambria" pitchFamily="34" charset="-120"/>
              </a:rPr>
              <a:t>Hilirisasi nikel Indonesia</a:t>
            </a:r>
            <a:endParaRPr lang="en-US" sz="1600" dirty="0"/>
          </a:p>
        </p:txBody>
      </p:sp>
      <p:sp>
        <p:nvSpPr>
          <p:cNvPr id="11" name="Text 9"/>
          <p:cNvSpPr txBox="1"/>
          <p:nvPr/>
        </p:nvSpPr>
        <p:spPr>
          <a:xfrm>
            <a:off x="877824" y="2688336"/>
            <a:ext cx="402336" cy="274320"/>
          </a:xfrm>
          <a:prstGeom prst="rect">
            <a:avLst/>
          </a:prstGeom>
          <a:noFill/>
          <a:ln/>
        </p:spPr>
        <p:txBody>
          <a:bodyPr wrap="square" lIns="0" tIns="0" rIns="0" bIns="0" rtlCol="0" anchor="ctr"/>
          <a:lstStyle/>
          <a:p>
            <a:pPr indent="0" marL="0">
              <a:buNone/>
            </a:pPr>
            <a:r>
              <a:rPr lang="en-US" sz="1300" b="1" dirty="0">
                <a:solidFill>
                  <a:srgbClr val="B8542A"/>
                </a:solidFill>
                <a:latin typeface="Cambria" pitchFamily="34" charset="0"/>
                <a:ea typeface="Cambria" pitchFamily="34" charset="-122"/>
                <a:cs typeface="Cambria" pitchFamily="34" charset="-120"/>
              </a:rPr>
              <a:t>01</a:t>
            </a:r>
            <a:endParaRPr lang="en-US" sz="1300" dirty="0"/>
          </a:p>
        </p:txBody>
      </p:sp>
      <p:sp>
        <p:nvSpPr>
          <p:cNvPr id="12" name="Text 10"/>
          <p:cNvSpPr txBox="1"/>
          <p:nvPr/>
        </p:nvSpPr>
        <p:spPr>
          <a:xfrm>
            <a:off x="1316736" y="2688336"/>
            <a:ext cx="4297680" cy="274320"/>
          </a:xfrm>
          <a:prstGeom prst="rect">
            <a:avLst/>
          </a:prstGeom>
          <a:noFill/>
          <a:ln/>
        </p:spPr>
        <p:txBody>
          <a:bodyPr wrap="square" lIns="0" tIns="0" rIns="0" bIns="0" rtlCol="0" anchor="ctr"/>
          <a:lstStyle/>
          <a:p>
            <a:pPr indent="0" marL="0">
              <a:buNone/>
            </a:pPr>
            <a:r>
              <a:rPr lang="en-US" sz="1250" dirty="0">
                <a:solidFill>
                  <a:srgbClr val="2C3540"/>
                </a:solidFill>
                <a:latin typeface="Calibri" pitchFamily="34" charset="0"/>
                <a:ea typeface="Calibri" pitchFamily="34" charset="-122"/>
                <a:cs typeface="Calibri" pitchFamily="34" charset="-120"/>
              </a:rPr>
              <a:t>Peran teori etika normatif</a:t>
            </a:r>
            <a:endParaRPr lang="en-US" sz="1250" dirty="0"/>
          </a:p>
        </p:txBody>
      </p:sp>
      <p:sp>
        <p:nvSpPr>
          <p:cNvPr id="13" name="Text 11"/>
          <p:cNvSpPr txBox="1"/>
          <p:nvPr/>
        </p:nvSpPr>
        <p:spPr>
          <a:xfrm>
            <a:off x="877824" y="3200400"/>
            <a:ext cx="402336" cy="274320"/>
          </a:xfrm>
          <a:prstGeom prst="rect">
            <a:avLst/>
          </a:prstGeom>
          <a:noFill/>
          <a:ln/>
        </p:spPr>
        <p:txBody>
          <a:bodyPr wrap="square" lIns="0" tIns="0" rIns="0" bIns="0" rtlCol="0" anchor="ctr"/>
          <a:lstStyle/>
          <a:p>
            <a:pPr indent="0" marL="0">
              <a:buNone/>
            </a:pPr>
            <a:r>
              <a:rPr lang="en-US" sz="1300" b="1" dirty="0">
                <a:solidFill>
                  <a:srgbClr val="B8542A"/>
                </a:solidFill>
                <a:latin typeface="Cambria" pitchFamily="34" charset="0"/>
                <a:ea typeface="Cambria" pitchFamily="34" charset="-122"/>
                <a:cs typeface="Cambria" pitchFamily="34" charset="-120"/>
              </a:rPr>
              <a:t>02</a:t>
            </a:r>
            <a:endParaRPr lang="en-US" sz="1300" dirty="0"/>
          </a:p>
        </p:txBody>
      </p:sp>
      <p:sp>
        <p:nvSpPr>
          <p:cNvPr id="14" name="Text 12"/>
          <p:cNvSpPr txBox="1"/>
          <p:nvPr/>
        </p:nvSpPr>
        <p:spPr>
          <a:xfrm>
            <a:off x="1316736" y="3200400"/>
            <a:ext cx="4297680" cy="274320"/>
          </a:xfrm>
          <a:prstGeom prst="rect">
            <a:avLst/>
          </a:prstGeom>
          <a:noFill/>
          <a:ln/>
        </p:spPr>
        <p:txBody>
          <a:bodyPr wrap="square" lIns="0" tIns="0" rIns="0" bIns="0" rtlCol="0" anchor="ctr"/>
          <a:lstStyle/>
          <a:p>
            <a:pPr indent="0" marL="0">
              <a:buNone/>
            </a:pPr>
            <a:r>
              <a:rPr lang="en-US" sz="1250" dirty="0">
                <a:solidFill>
                  <a:srgbClr val="2C3540"/>
                </a:solidFill>
                <a:latin typeface="Calibri" pitchFamily="34" charset="0"/>
                <a:ea typeface="Calibri" pitchFamily="34" charset="-122"/>
                <a:cs typeface="Calibri" pitchFamily="34" charset="-120"/>
              </a:rPr>
              <a:t>Absolutisme, relativisme, pluralisme</a:t>
            </a:r>
            <a:endParaRPr lang="en-US" sz="1250" dirty="0"/>
          </a:p>
        </p:txBody>
      </p:sp>
      <p:sp>
        <p:nvSpPr>
          <p:cNvPr id="15" name="Text 13"/>
          <p:cNvSpPr txBox="1"/>
          <p:nvPr/>
        </p:nvSpPr>
        <p:spPr>
          <a:xfrm>
            <a:off x="877824" y="3712464"/>
            <a:ext cx="402336" cy="274320"/>
          </a:xfrm>
          <a:prstGeom prst="rect">
            <a:avLst/>
          </a:prstGeom>
          <a:noFill/>
          <a:ln/>
        </p:spPr>
        <p:txBody>
          <a:bodyPr wrap="square" lIns="0" tIns="0" rIns="0" bIns="0" rtlCol="0" anchor="ctr"/>
          <a:lstStyle/>
          <a:p>
            <a:pPr indent="0" marL="0">
              <a:buNone/>
            </a:pPr>
            <a:r>
              <a:rPr lang="en-US" sz="1300" b="1" dirty="0">
                <a:solidFill>
                  <a:srgbClr val="B8542A"/>
                </a:solidFill>
                <a:latin typeface="Cambria" pitchFamily="34" charset="0"/>
                <a:ea typeface="Cambria" pitchFamily="34" charset="-122"/>
                <a:cs typeface="Cambria" pitchFamily="34" charset="-120"/>
              </a:rPr>
              <a:t>03</a:t>
            </a:r>
            <a:endParaRPr lang="en-US" sz="1300" dirty="0"/>
          </a:p>
        </p:txBody>
      </p:sp>
      <p:sp>
        <p:nvSpPr>
          <p:cNvPr id="16" name="Text 14"/>
          <p:cNvSpPr txBox="1"/>
          <p:nvPr/>
        </p:nvSpPr>
        <p:spPr>
          <a:xfrm>
            <a:off x="1316736" y="3712464"/>
            <a:ext cx="4297680" cy="274320"/>
          </a:xfrm>
          <a:prstGeom prst="rect">
            <a:avLst/>
          </a:prstGeom>
          <a:noFill/>
          <a:ln/>
        </p:spPr>
        <p:txBody>
          <a:bodyPr wrap="square" lIns="0" tIns="0" rIns="0" bIns="0" rtlCol="0" anchor="ctr"/>
          <a:lstStyle/>
          <a:p>
            <a:pPr indent="0" marL="0">
              <a:buNone/>
            </a:pPr>
            <a:r>
              <a:rPr lang="en-US" sz="1250" dirty="0">
                <a:solidFill>
                  <a:srgbClr val="2C3540"/>
                </a:solidFill>
                <a:latin typeface="Calibri" pitchFamily="34" charset="0"/>
                <a:ea typeface="Calibri" pitchFamily="34" charset="-122"/>
                <a:cs typeface="Calibri" pitchFamily="34" charset="-120"/>
              </a:rPr>
              <a:t>Klasifikasi sembilan teori</a:t>
            </a:r>
            <a:endParaRPr lang="en-US" sz="1250" dirty="0"/>
          </a:p>
        </p:txBody>
      </p:sp>
      <p:sp>
        <p:nvSpPr>
          <p:cNvPr id="17" name="Text 15"/>
          <p:cNvSpPr txBox="1"/>
          <p:nvPr/>
        </p:nvSpPr>
        <p:spPr>
          <a:xfrm>
            <a:off x="877824" y="4224528"/>
            <a:ext cx="402336" cy="274320"/>
          </a:xfrm>
          <a:prstGeom prst="rect">
            <a:avLst/>
          </a:prstGeom>
          <a:noFill/>
          <a:ln/>
        </p:spPr>
        <p:txBody>
          <a:bodyPr wrap="square" lIns="0" tIns="0" rIns="0" bIns="0" rtlCol="0" anchor="ctr"/>
          <a:lstStyle/>
          <a:p>
            <a:pPr indent="0" marL="0">
              <a:buNone/>
            </a:pPr>
            <a:r>
              <a:rPr lang="en-US" sz="1300" b="1" dirty="0">
                <a:solidFill>
                  <a:srgbClr val="B8542A"/>
                </a:solidFill>
                <a:latin typeface="Cambria" pitchFamily="34" charset="0"/>
                <a:ea typeface="Cambria" pitchFamily="34" charset="-122"/>
                <a:cs typeface="Cambria" pitchFamily="34" charset="-120"/>
              </a:rPr>
              <a:t>04</a:t>
            </a:r>
            <a:endParaRPr lang="en-US" sz="1300" dirty="0"/>
          </a:p>
        </p:txBody>
      </p:sp>
      <p:sp>
        <p:nvSpPr>
          <p:cNvPr id="18" name="Text 16"/>
          <p:cNvSpPr txBox="1"/>
          <p:nvPr/>
        </p:nvSpPr>
        <p:spPr>
          <a:xfrm>
            <a:off x="1316736" y="4224528"/>
            <a:ext cx="4297680" cy="274320"/>
          </a:xfrm>
          <a:prstGeom prst="rect">
            <a:avLst/>
          </a:prstGeom>
          <a:noFill/>
          <a:ln/>
        </p:spPr>
        <p:txBody>
          <a:bodyPr wrap="square" lIns="0" tIns="0" rIns="0" bIns="0" rtlCol="0" anchor="ctr"/>
          <a:lstStyle/>
          <a:p>
            <a:pPr indent="0" marL="0">
              <a:buNone/>
            </a:pPr>
            <a:r>
              <a:rPr lang="en-US" sz="1250" dirty="0">
                <a:solidFill>
                  <a:srgbClr val="2C3540"/>
                </a:solidFill>
                <a:latin typeface="Calibri" pitchFamily="34" charset="0"/>
                <a:ea typeface="Calibri" pitchFamily="34" charset="-122"/>
                <a:cs typeface="Calibri" pitchFamily="34" charset="-120"/>
              </a:rPr>
              <a:t>Lima teori modernis Barat</a:t>
            </a:r>
            <a:endParaRPr lang="en-US" sz="1250" dirty="0"/>
          </a:p>
        </p:txBody>
      </p:sp>
      <p:sp>
        <p:nvSpPr>
          <p:cNvPr id="19" name="Text 17"/>
          <p:cNvSpPr txBox="1"/>
          <p:nvPr/>
        </p:nvSpPr>
        <p:spPr>
          <a:xfrm>
            <a:off x="877824" y="4736592"/>
            <a:ext cx="402336" cy="274320"/>
          </a:xfrm>
          <a:prstGeom prst="rect">
            <a:avLst/>
          </a:prstGeom>
          <a:noFill/>
          <a:ln/>
        </p:spPr>
        <p:txBody>
          <a:bodyPr wrap="square" lIns="0" tIns="0" rIns="0" bIns="0" rtlCol="0" anchor="ctr"/>
          <a:lstStyle/>
          <a:p>
            <a:pPr indent="0" marL="0">
              <a:buNone/>
            </a:pPr>
            <a:r>
              <a:rPr lang="en-US" sz="1300" b="1" dirty="0">
                <a:solidFill>
                  <a:srgbClr val="B8542A"/>
                </a:solidFill>
                <a:latin typeface="Cambria" pitchFamily="34" charset="0"/>
                <a:ea typeface="Cambria" pitchFamily="34" charset="-122"/>
                <a:cs typeface="Cambria" pitchFamily="34" charset="-120"/>
              </a:rPr>
              <a:t>05</a:t>
            </a:r>
            <a:endParaRPr lang="en-US" sz="1300" dirty="0"/>
          </a:p>
        </p:txBody>
      </p:sp>
      <p:sp>
        <p:nvSpPr>
          <p:cNvPr id="20" name="Text 18"/>
          <p:cNvSpPr txBox="1"/>
          <p:nvPr/>
        </p:nvSpPr>
        <p:spPr>
          <a:xfrm>
            <a:off x="1316736" y="4736592"/>
            <a:ext cx="4297680" cy="274320"/>
          </a:xfrm>
          <a:prstGeom prst="rect">
            <a:avLst/>
          </a:prstGeom>
          <a:noFill/>
          <a:ln/>
        </p:spPr>
        <p:txBody>
          <a:bodyPr wrap="square" lIns="0" tIns="0" rIns="0" bIns="0" rtlCol="0" anchor="ctr"/>
          <a:lstStyle/>
          <a:p>
            <a:pPr indent="0" marL="0">
              <a:buNone/>
            </a:pPr>
            <a:r>
              <a:rPr lang="en-US" sz="1250" dirty="0">
                <a:solidFill>
                  <a:srgbClr val="2C3540"/>
                </a:solidFill>
                <a:latin typeface="Calibri" pitchFamily="34" charset="0"/>
                <a:ea typeface="Calibri" pitchFamily="34" charset="-122"/>
                <a:cs typeface="Calibri" pitchFamily="34" charset="-120"/>
              </a:rPr>
              <a:t>Keterbatasan teori modernis</a:t>
            </a:r>
            <a:endParaRPr lang="en-US" sz="1250" dirty="0"/>
          </a:p>
        </p:txBody>
      </p:sp>
      <p:sp>
        <p:nvSpPr>
          <p:cNvPr id="21" name="Text 19"/>
          <p:cNvSpPr txBox="1"/>
          <p:nvPr/>
        </p:nvSpPr>
        <p:spPr>
          <a:xfrm>
            <a:off x="877824" y="5248656"/>
            <a:ext cx="402336" cy="274320"/>
          </a:xfrm>
          <a:prstGeom prst="rect">
            <a:avLst/>
          </a:prstGeom>
          <a:noFill/>
          <a:ln/>
        </p:spPr>
        <p:txBody>
          <a:bodyPr wrap="square" lIns="0" tIns="0" rIns="0" bIns="0" rtlCol="0" anchor="ctr"/>
          <a:lstStyle/>
          <a:p>
            <a:pPr indent="0" marL="0">
              <a:buNone/>
            </a:pPr>
            <a:r>
              <a:rPr lang="en-US" sz="1300" b="1" dirty="0">
                <a:solidFill>
                  <a:srgbClr val="B8542A"/>
                </a:solidFill>
                <a:latin typeface="Cambria" pitchFamily="34" charset="0"/>
                <a:ea typeface="Cambria" pitchFamily="34" charset="-122"/>
                <a:cs typeface="Cambria" pitchFamily="34" charset="-120"/>
              </a:rPr>
              <a:t>06</a:t>
            </a:r>
            <a:endParaRPr lang="en-US" sz="1300" dirty="0"/>
          </a:p>
        </p:txBody>
      </p:sp>
      <p:sp>
        <p:nvSpPr>
          <p:cNvPr id="22" name="Text 20"/>
          <p:cNvSpPr txBox="1"/>
          <p:nvPr/>
        </p:nvSpPr>
        <p:spPr>
          <a:xfrm>
            <a:off x="1316736" y="5248656"/>
            <a:ext cx="4297680" cy="274320"/>
          </a:xfrm>
          <a:prstGeom prst="rect">
            <a:avLst/>
          </a:prstGeom>
          <a:noFill/>
          <a:ln/>
        </p:spPr>
        <p:txBody>
          <a:bodyPr wrap="square" lIns="0" tIns="0" rIns="0" bIns="0" rtlCol="0" anchor="ctr"/>
          <a:lstStyle/>
          <a:p>
            <a:pPr indent="0" marL="0">
              <a:buNone/>
            </a:pPr>
            <a:r>
              <a:rPr lang="en-US" sz="1250" dirty="0">
                <a:solidFill>
                  <a:srgbClr val="2C3540"/>
                </a:solidFill>
                <a:latin typeface="Calibri" pitchFamily="34" charset="0"/>
                <a:ea typeface="Calibri" pitchFamily="34" charset="-122"/>
                <a:cs typeface="Calibri" pitchFamily="34" charset="-120"/>
              </a:rPr>
              <a:t>Empat teori alternatif</a:t>
            </a:r>
            <a:endParaRPr lang="en-US" sz="1250" dirty="0"/>
          </a:p>
        </p:txBody>
      </p:sp>
      <p:sp>
        <p:nvSpPr>
          <p:cNvPr id="23" name="Text 21"/>
          <p:cNvSpPr txBox="1"/>
          <p:nvPr/>
        </p:nvSpPr>
        <p:spPr>
          <a:xfrm>
            <a:off x="6611112" y="2688336"/>
            <a:ext cx="402336" cy="274320"/>
          </a:xfrm>
          <a:prstGeom prst="rect">
            <a:avLst/>
          </a:prstGeom>
          <a:noFill/>
          <a:ln/>
        </p:spPr>
        <p:txBody>
          <a:bodyPr wrap="square" lIns="0" tIns="0" rIns="0" bIns="0" rtlCol="0" anchor="ctr"/>
          <a:lstStyle/>
          <a:p>
            <a:pPr indent="0" marL="0">
              <a:buNone/>
            </a:pPr>
            <a:r>
              <a:rPr lang="en-US" sz="1300" b="1" dirty="0">
                <a:solidFill>
                  <a:srgbClr val="2E6F63"/>
                </a:solidFill>
                <a:latin typeface="Cambria" pitchFamily="34" charset="0"/>
                <a:ea typeface="Cambria" pitchFamily="34" charset="-122"/>
                <a:cs typeface="Cambria" pitchFamily="34" charset="-120"/>
              </a:rPr>
              <a:t>07</a:t>
            </a:r>
            <a:endParaRPr lang="en-US" sz="1300" dirty="0"/>
          </a:p>
        </p:txBody>
      </p:sp>
      <p:sp>
        <p:nvSpPr>
          <p:cNvPr id="24" name="Text 22"/>
          <p:cNvSpPr txBox="1"/>
          <p:nvPr/>
        </p:nvSpPr>
        <p:spPr>
          <a:xfrm>
            <a:off x="7050024" y="2688336"/>
            <a:ext cx="4297680" cy="274320"/>
          </a:xfrm>
          <a:prstGeom prst="rect">
            <a:avLst/>
          </a:prstGeom>
          <a:noFill/>
          <a:ln/>
        </p:spPr>
        <p:txBody>
          <a:bodyPr wrap="square" lIns="0" tIns="0" rIns="0" bIns="0" rtlCol="0" anchor="ctr"/>
          <a:lstStyle/>
          <a:p>
            <a:pPr indent="0" marL="0">
              <a:buNone/>
            </a:pPr>
            <a:r>
              <a:rPr lang="en-US" sz="1250" dirty="0">
                <a:solidFill>
                  <a:srgbClr val="2C3540"/>
                </a:solidFill>
                <a:latin typeface="Calibri" pitchFamily="34" charset="0"/>
                <a:ea typeface="Calibri" pitchFamily="34" charset="-122"/>
                <a:cs typeface="Calibri" pitchFamily="34" charset="-120"/>
              </a:rPr>
              <a:t>Anatomi kebijakan dan sengketanya</a:t>
            </a:r>
            <a:endParaRPr lang="en-US" sz="1250" dirty="0"/>
          </a:p>
        </p:txBody>
      </p:sp>
      <p:sp>
        <p:nvSpPr>
          <p:cNvPr id="25" name="Text 23"/>
          <p:cNvSpPr txBox="1"/>
          <p:nvPr/>
        </p:nvSpPr>
        <p:spPr>
          <a:xfrm>
            <a:off x="6611112" y="3200400"/>
            <a:ext cx="402336" cy="274320"/>
          </a:xfrm>
          <a:prstGeom prst="rect">
            <a:avLst/>
          </a:prstGeom>
          <a:noFill/>
          <a:ln/>
        </p:spPr>
        <p:txBody>
          <a:bodyPr wrap="square" lIns="0" tIns="0" rIns="0" bIns="0" rtlCol="0" anchor="ctr"/>
          <a:lstStyle/>
          <a:p>
            <a:pPr indent="0" marL="0">
              <a:buNone/>
            </a:pPr>
            <a:r>
              <a:rPr lang="en-US" sz="1300" b="1" dirty="0">
                <a:solidFill>
                  <a:srgbClr val="2E6F63"/>
                </a:solidFill>
                <a:latin typeface="Cambria" pitchFamily="34" charset="0"/>
                <a:ea typeface="Cambria" pitchFamily="34" charset="-122"/>
                <a:cs typeface="Cambria" pitchFamily="34" charset="-120"/>
              </a:rPr>
              <a:t>08</a:t>
            </a:r>
            <a:endParaRPr lang="en-US" sz="1300" dirty="0"/>
          </a:p>
        </p:txBody>
      </p:sp>
      <p:sp>
        <p:nvSpPr>
          <p:cNvPr id="26" name="Text 24"/>
          <p:cNvSpPr txBox="1"/>
          <p:nvPr/>
        </p:nvSpPr>
        <p:spPr>
          <a:xfrm>
            <a:off x="7050024" y="3200400"/>
            <a:ext cx="4297680" cy="274320"/>
          </a:xfrm>
          <a:prstGeom prst="rect">
            <a:avLst/>
          </a:prstGeom>
          <a:noFill/>
          <a:ln/>
        </p:spPr>
        <p:txBody>
          <a:bodyPr wrap="square" lIns="0" tIns="0" rIns="0" bIns="0" rtlCol="0" anchor="ctr"/>
          <a:lstStyle/>
          <a:p>
            <a:pPr indent="0" marL="0">
              <a:buNone/>
            </a:pPr>
            <a:r>
              <a:rPr lang="en-US" sz="1250" dirty="0">
                <a:solidFill>
                  <a:srgbClr val="2C3540"/>
                </a:solidFill>
                <a:latin typeface="Calibri" pitchFamily="34" charset="0"/>
                <a:ea typeface="Calibri" pitchFamily="34" charset="-122"/>
                <a:cs typeface="Calibri" pitchFamily="34" charset="-120"/>
              </a:rPr>
              <a:t>Dua narasi atas fakta yang sama</a:t>
            </a:r>
            <a:endParaRPr lang="en-US" sz="1250" dirty="0"/>
          </a:p>
        </p:txBody>
      </p:sp>
      <p:sp>
        <p:nvSpPr>
          <p:cNvPr id="27" name="Text 25"/>
          <p:cNvSpPr txBox="1"/>
          <p:nvPr/>
        </p:nvSpPr>
        <p:spPr>
          <a:xfrm>
            <a:off x="6611112" y="3712464"/>
            <a:ext cx="402336" cy="274320"/>
          </a:xfrm>
          <a:prstGeom prst="rect">
            <a:avLst/>
          </a:prstGeom>
          <a:noFill/>
          <a:ln/>
        </p:spPr>
        <p:txBody>
          <a:bodyPr wrap="square" lIns="0" tIns="0" rIns="0" bIns="0" rtlCol="0" anchor="ctr"/>
          <a:lstStyle/>
          <a:p>
            <a:pPr indent="0" marL="0">
              <a:buNone/>
            </a:pPr>
            <a:r>
              <a:rPr lang="en-US" sz="1300" b="1" dirty="0">
                <a:solidFill>
                  <a:srgbClr val="2E6F63"/>
                </a:solidFill>
                <a:latin typeface="Cambria" pitchFamily="34" charset="0"/>
                <a:ea typeface="Cambria" pitchFamily="34" charset="-122"/>
                <a:cs typeface="Cambria" pitchFamily="34" charset="-120"/>
              </a:rPr>
              <a:t>09</a:t>
            </a:r>
            <a:endParaRPr lang="en-US" sz="1300" dirty="0"/>
          </a:p>
        </p:txBody>
      </p:sp>
      <p:sp>
        <p:nvSpPr>
          <p:cNvPr id="28" name="Text 26"/>
          <p:cNvSpPr txBox="1"/>
          <p:nvPr/>
        </p:nvSpPr>
        <p:spPr>
          <a:xfrm>
            <a:off x="7050024" y="3712464"/>
            <a:ext cx="4297680" cy="274320"/>
          </a:xfrm>
          <a:prstGeom prst="rect">
            <a:avLst/>
          </a:prstGeom>
          <a:noFill/>
          <a:ln/>
        </p:spPr>
        <p:txBody>
          <a:bodyPr wrap="square" lIns="0" tIns="0" rIns="0" bIns="0" rtlCol="0" anchor="ctr"/>
          <a:lstStyle/>
          <a:p>
            <a:pPr indent="0" marL="0">
              <a:buNone/>
            </a:pPr>
            <a:r>
              <a:rPr lang="en-US" sz="1250" dirty="0">
                <a:solidFill>
                  <a:srgbClr val="2C3540"/>
                </a:solidFill>
                <a:latin typeface="Calibri" pitchFamily="34" charset="0"/>
                <a:ea typeface="Calibri" pitchFamily="34" charset="-122"/>
                <a:cs typeface="Calibri" pitchFamily="34" charset="-120"/>
              </a:rPr>
              <a:t>Penilaian lima teori modernis</a:t>
            </a:r>
            <a:endParaRPr lang="en-US" sz="1250" dirty="0"/>
          </a:p>
        </p:txBody>
      </p:sp>
      <p:sp>
        <p:nvSpPr>
          <p:cNvPr id="29" name="Text 27"/>
          <p:cNvSpPr txBox="1"/>
          <p:nvPr/>
        </p:nvSpPr>
        <p:spPr>
          <a:xfrm>
            <a:off x="6611112" y="4224528"/>
            <a:ext cx="402336" cy="274320"/>
          </a:xfrm>
          <a:prstGeom prst="rect">
            <a:avLst/>
          </a:prstGeom>
          <a:noFill/>
          <a:ln/>
        </p:spPr>
        <p:txBody>
          <a:bodyPr wrap="square" lIns="0" tIns="0" rIns="0" bIns="0" rtlCol="0" anchor="ctr"/>
          <a:lstStyle/>
          <a:p>
            <a:pPr indent="0" marL="0">
              <a:buNone/>
            </a:pPr>
            <a:r>
              <a:rPr lang="en-US" sz="1300" b="1" dirty="0">
                <a:solidFill>
                  <a:srgbClr val="2E6F63"/>
                </a:solidFill>
                <a:latin typeface="Cambria" pitchFamily="34" charset="0"/>
                <a:ea typeface="Cambria" pitchFamily="34" charset="-122"/>
                <a:cs typeface="Cambria" pitchFamily="34" charset="-120"/>
              </a:rPr>
              <a:t>10</a:t>
            </a:r>
            <a:endParaRPr lang="en-US" sz="1300" dirty="0"/>
          </a:p>
        </p:txBody>
      </p:sp>
      <p:sp>
        <p:nvSpPr>
          <p:cNvPr id="30" name="Text 28"/>
          <p:cNvSpPr txBox="1"/>
          <p:nvPr/>
        </p:nvSpPr>
        <p:spPr>
          <a:xfrm>
            <a:off x="7050024" y="4224528"/>
            <a:ext cx="4297680" cy="274320"/>
          </a:xfrm>
          <a:prstGeom prst="rect">
            <a:avLst/>
          </a:prstGeom>
          <a:noFill/>
          <a:ln/>
        </p:spPr>
        <p:txBody>
          <a:bodyPr wrap="square" lIns="0" tIns="0" rIns="0" bIns="0" rtlCol="0" anchor="ctr"/>
          <a:lstStyle/>
          <a:p>
            <a:pPr indent="0" marL="0">
              <a:buNone/>
            </a:pPr>
            <a:r>
              <a:rPr lang="en-US" sz="1250" dirty="0">
                <a:solidFill>
                  <a:srgbClr val="2C3540"/>
                </a:solidFill>
                <a:latin typeface="Calibri" pitchFamily="34" charset="0"/>
                <a:ea typeface="Calibri" pitchFamily="34" charset="-122"/>
                <a:cs typeface="Calibri" pitchFamily="34" charset="-120"/>
              </a:rPr>
              <a:t>Penilaian empat teori alternatif</a:t>
            </a:r>
            <a:endParaRPr lang="en-US" sz="1250" dirty="0"/>
          </a:p>
        </p:txBody>
      </p:sp>
      <p:sp>
        <p:nvSpPr>
          <p:cNvPr id="31" name="Text 29"/>
          <p:cNvSpPr txBox="1"/>
          <p:nvPr/>
        </p:nvSpPr>
        <p:spPr>
          <a:xfrm>
            <a:off x="6611112" y="4736592"/>
            <a:ext cx="402336" cy="274320"/>
          </a:xfrm>
          <a:prstGeom prst="rect">
            <a:avLst/>
          </a:prstGeom>
          <a:noFill/>
          <a:ln/>
        </p:spPr>
        <p:txBody>
          <a:bodyPr wrap="square" lIns="0" tIns="0" rIns="0" bIns="0" rtlCol="0" anchor="ctr"/>
          <a:lstStyle/>
          <a:p>
            <a:pPr indent="0" marL="0">
              <a:buNone/>
            </a:pPr>
            <a:r>
              <a:rPr lang="en-US" sz="1300" b="1" dirty="0">
                <a:solidFill>
                  <a:srgbClr val="2E6F63"/>
                </a:solidFill>
                <a:latin typeface="Cambria" pitchFamily="34" charset="0"/>
                <a:ea typeface="Cambria" pitchFamily="34" charset="-122"/>
                <a:cs typeface="Cambria" pitchFamily="34" charset="-120"/>
              </a:rPr>
              <a:t>11</a:t>
            </a:r>
            <a:endParaRPr lang="en-US" sz="1300" dirty="0"/>
          </a:p>
        </p:txBody>
      </p:sp>
      <p:sp>
        <p:nvSpPr>
          <p:cNvPr id="32" name="Text 30"/>
          <p:cNvSpPr txBox="1"/>
          <p:nvPr/>
        </p:nvSpPr>
        <p:spPr>
          <a:xfrm>
            <a:off x="7050024" y="4736592"/>
            <a:ext cx="4297680" cy="274320"/>
          </a:xfrm>
          <a:prstGeom prst="rect">
            <a:avLst/>
          </a:prstGeom>
          <a:noFill/>
          <a:ln/>
        </p:spPr>
        <p:txBody>
          <a:bodyPr wrap="square" lIns="0" tIns="0" rIns="0" bIns="0" rtlCol="0" anchor="ctr"/>
          <a:lstStyle/>
          <a:p>
            <a:pPr indent="0" marL="0">
              <a:buNone/>
            </a:pPr>
            <a:r>
              <a:rPr lang="en-US" sz="1250" dirty="0">
                <a:solidFill>
                  <a:srgbClr val="2C3540"/>
                </a:solidFill>
                <a:latin typeface="Calibri" pitchFamily="34" charset="0"/>
                <a:ea typeface="Calibri" pitchFamily="34" charset="-122"/>
                <a:cs typeface="Calibri" pitchFamily="34" charset="-120"/>
              </a:rPr>
              <a:t>Sintesis penilaian dan evaluasi klaim</a:t>
            </a:r>
            <a:endParaRPr lang="en-US" sz="1250" dirty="0"/>
          </a:p>
        </p:txBody>
      </p:sp>
      <p:sp>
        <p:nvSpPr>
          <p:cNvPr id="33" name="Text 31"/>
          <p:cNvSpPr txBox="1"/>
          <p:nvPr/>
        </p:nvSpPr>
        <p:spPr>
          <a:xfrm>
            <a:off x="6611112" y="5248656"/>
            <a:ext cx="402336" cy="274320"/>
          </a:xfrm>
          <a:prstGeom prst="rect">
            <a:avLst/>
          </a:prstGeom>
          <a:noFill/>
          <a:ln/>
        </p:spPr>
        <p:txBody>
          <a:bodyPr wrap="square" lIns="0" tIns="0" rIns="0" bIns="0" rtlCol="0" anchor="ctr"/>
          <a:lstStyle/>
          <a:p>
            <a:pPr indent="0" marL="0">
              <a:buNone/>
            </a:pPr>
            <a:r>
              <a:rPr lang="en-US" sz="1300" b="1" dirty="0">
                <a:solidFill>
                  <a:srgbClr val="2E6F63"/>
                </a:solidFill>
                <a:latin typeface="Cambria" pitchFamily="34" charset="0"/>
                <a:ea typeface="Cambria" pitchFamily="34" charset="-122"/>
                <a:cs typeface="Cambria" pitchFamily="34" charset="-120"/>
              </a:rPr>
              <a:t>12</a:t>
            </a:r>
            <a:endParaRPr lang="en-US" sz="1300" dirty="0"/>
          </a:p>
        </p:txBody>
      </p:sp>
      <p:sp>
        <p:nvSpPr>
          <p:cNvPr id="34" name="Text 32"/>
          <p:cNvSpPr txBox="1"/>
          <p:nvPr/>
        </p:nvSpPr>
        <p:spPr>
          <a:xfrm>
            <a:off x="7050024" y="5248656"/>
            <a:ext cx="4297680" cy="274320"/>
          </a:xfrm>
          <a:prstGeom prst="rect">
            <a:avLst/>
          </a:prstGeom>
          <a:noFill/>
          <a:ln/>
        </p:spPr>
        <p:txBody>
          <a:bodyPr wrap="square" lIns="0" tIns="0" rIns="0" bIns="0" rtlCol="0" anchor="ctr"/>
          <a:lstStyle/>
          <a:p>
            <a:pPr indent="0" marL="0">
              <a:buNone/>
            </a:pPr>
            <a:r>
              <a:rPr lang="en-US" sz="1250" dirty="0">
                <a:solidFill>
                  <a:srgbClr val="2C3540"/>
                </a:solidFill>
                <a:latin typeface="Calibri" pitchFamily="34" charset="0"/>
                <a:ea typeface="Calibri" pitchFamily="34" charset="-122"/>
                <a:cs typeface="Calibri" pitchFamily="34" charset="-120"/>
              </a:rPr>
              <a:t>Simpulan dan implikasi manajerial</a:t>
            </a:r>
            <a:endParaRPr lang="en-US" sz="1250" dirty="0"/>
          </a:p>
        </p:txBody>
      </p:sp>
      <p:sp>
        <p:nvSpPr>
          <p:cNvPr id="35" name="Text 33"/>
          <p:cNvSpPr txBox="1"/>
          <p:nvPr/>
        </p:nvSpPr>
        <p:spPr>
          <a:xfrm>
            <a:off x="10893247" y="6419088"/>
            <a:ext cx="731520" cy="237744"/>
          </a:xfrm>
          <a:prstGeom prst="rect">
            <a:avLst/>
          </a:prstGeom>
          <a:noFill/>
          <a:ln/>
        </p:spPr>
        <p:txBody>
          <a:bodyPr wrap="square" lIns="0" tIns="0" rIns="0" bIns="0" rtlCol="0" anchor="ctr"/>
          <a:lstStyle/>
          <a:p>
            <a:pPr algn="r" indent="0" marL="0">
              <a:buNone/>
            </a:pPr>
            <a:r>
              <a:rPr lang="en-US" sz="1100" b="1" dirty="0">
                <a:solidFill>
                  <a:srgbClr val="6B7684"/>
                </a:solidFill>
                <a:latin typeface="Cambria" pitchFamily="34" charset="0"/>
                <a:ea typeface="Cambria" pitchFamily="34" charset="-122"/>
                <a:cs typeface="Cambria"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B8542A"/>
                </a:solidFill>
                <a:latin typeface="Calibri" pitchFamily="34" charset="0"/>
                <a:ea typeface="Calibri" pitchFamily="34" charset="-122"/>
                <a:cs typeface="Calibri" pitchFamily="34" charset="-120"/>
              </a:rPr>
              <a:t>01   PERAN TEORI ETIKA NORMATIF</a:t>
            </a:r>
            <a:endParaRPr lang="en-US" sz="1000" dirty="0"/>
          </a:p>
        </p:txBody>
      </p:sp>
      <p:sp>
        <p:nvSpPr>
          <p:cNvPr id="3" name="Text 1"/>
          <p:cNvSpPr txBox="1"/>
          <p:nvPr/>
        </p:nvSpPr>
        <p:spPr>
          <a:xfrm>
            <a:off x="566928" y="585216"/>
            <a:ext cx="11057839" cy="548640"/>
          </a:xfrm>
          <a:prstGeom prst="rect">
            <a:avLst/>
          </a:prstGeom>
          <a:noFill/>
          <a:ln/>
        </p:spPr>
        <p:txBody>
          <a:bodyPr wrap="square" lIns="0" tIns="0" rIns="0" bIns="0" rtlCol="0" anchor="ctr"/>
          <a:lstStyle/>
          <a:p>
            <a:pPr indent="0" marL="0">
              <a:buNone/>
            </a:pPr>
            <a:r>
              <a:rPr lang="en-US" sz="2800" b="1" dirty="0">
                <a:solidFill>
                  <a:srgbClr val="16202A"/>
                </a:solidFill>
                <a:latin typeface="Cambria" pitchFamily="34" charset="0"/>
                <a:ea typeface="Cambria" pitchFamily="34" charset="-122"/>
                <a:cs typeface="Cambria" pitchFamily="34" charset="-120"/>
              </a:rPr>
              <a:t>Mengapa teori normatif diperlukan</a:t>
            </a:r>
            <a:endParaRPr lang="en-US" sz="2800" dirty="0"/>
          </a:p>
        </p:txBody>
      </p:sp>
      <p:sp>
        <p:nvSpPr>
          <p:cNvPr id="4" name="Text 2"/>
          <p:cNvSpPr txBox="1"/>
          <p:nvPr/>
        </p:nvSpPr>
        <p:spPr>
          <a:xfrm>
            <a:off x="566928" y="1170432"/>
            <a:ext cx="11057839" cy="310896"/>
          </a:xfrm>
          <a:prstGeom prst="rect">
            <a:avLst/>
          </a:prstGeom>
          <a:noFill/>
          <a:ln/>
        </p:spPr>
        <p:txBody>
          <a:bodyPr wrap="square" lIns="0" tIns="0" rIns="0" bIns="0" rtlCol="0" anchor="t"/>
          <a:lstStyle/>
          <a:p>
            <a:pPr indent="0" marL="0">
              <a:lnSpc>
                <a:spcPct val="110000"/>
              </a:lnSpc>
              <a:buNone/>
            </a:pPr>
            <a:r>
              <a:rPr lang="en-US" sz="1250" dirty="0">
                <a:solidFill>
                  <a:srgbClr val="6B7684"/>
                </a:solidFill>
                <a:latin typeface="Calibri" pitchFamily="34" charset="0"/>
                <a:ea typeface="Calibri" pitchFamily="34" charset="-122"/>
                <a:cs typeface="Calibri" pitchFamily="34" charset="-120"/>
              </a:rPr>
              <a:t>Dalam ranah personal intuisi memadai. Dalam konteks bisnis, penilaian etis harus dapat dipertahankan di hadapan pemangku kepentingan.</a:t>
            </a:r>
            <a:endParaRPr lang="en-US" sz="1250" dirty="0"/>
          </a:p>
        </p:txBody>
      </p:sp>
      <p:sp>
        <p:nvSpPr>
          <p:cNvPr id="5" name="Shape 3"/>
          <p:cNvSpPr/>
          <p:nvPr/>
        </p:nvSpPr>
        <p:spPr>
          <a:xfrm>
            <a:off x="566928" y="1792224"/>
            <a:ext cx="5120640" cy="2121408"/>
          </a:xfrm>
          <a:prstGeom prst="roundRect">
            <a:avLst>
              <a:gd name="adj" fmla="val 3879"/>
            </a:avLst>
          </a:prstGeom>
          <a:solidFill>
            <a:srgbClr val="16202A"/>
          </a:solidFill>
          <a:ln w="12700">
            <a:solidFill>
              <a:srgbClr val="16202A"/>
            </a:solidFill>
            <a:prstDash val="solid"/>
          </a:ln>
        </p:spPr>
      </p:sp>
      <p:sp>
        <p:nvSpPr>
          <p:cNvPr id="6" name="Text 4"/>
          <p:cNvSpPr txBox="1"/>
          <p:nvPr/>
        </p:nvSpPr>
        <p:spPr>
          <a:xfrm>
            <a:off x="877824" y="2011680"/>
            <a:ext cx="4572000" cy="219456"/>
          </a:xfrm>
          <a:prstGeom prst="rect">
            <a:avLst/>
          </a:prstGeom>
          <a:noFill/>
          <a:ln/>
        </p:spPr>
        <p:txBody>
          <a:bodyPr wrap="square" lIns="0" tIns="0" rIns="0" bIns="0" rtlCol="0" anchor="ctr"/>
          <a:lstStyle/>
          <a:p>
            <a:pPr indent="0" marL="0">
              <a:buNone/>
            </a:pPr>
            <a:r>
              <a:rPr lang="en-US" sz="950" b="1" spc="120" kern="0" dirty="0">
                <a:solidFill>
                  <a:srgbClr val="97A3AE"/>
                </a:solidFill>
                <a:latin typeface="Calibri" pitchFamily="34" charset="0"/>
                <a:ea typeface="Calibri" pitchFamily="34" charset="-122"/>
                <a:cs typeface="Calibri" pitchFamily="34" charset="-120"/>
              </a:rPr>
              <a:t>DEFINISI KONSEP</a:t>
            </a:r>
            <a:endParaRPr lang="en-US" sz="950" dirty="0"/>
          </a:p>
        </p:txBody>
      </p:sp>
      <p:sp>
        <p:nvSpPr>
          <p:cNvPr id="7" name="Text 5"/>
          <p:cNvSpPr txBox="1"/>
          <p:nvPr/>
        </p:nvSpPr>
        <p:spPr>
          <a:xfrm>
            <a:off x="877824" y="2304288"/>
            <a:ext cx="4526280" cy="960120"/>
          </a:xfrm>
          <a:prstGeom prst="rect">
            <a:avLst/>
          </a:prstGeom>
          <a:noFill/>
          <a:ln/>
        </p:spPr>
        <p:txBody>
          <a:bodyPr wrap="square" lIns="0" tIns="0" rIns="0" bIns="0" rtlCol="0" anchor="t"/>
          <a:lstStyle/>
          <a:p>
            <a:pPr indent="0" marL="0">
              <a:lnSpc>
                <a:spcPct val="114000"/>
              </a:lnSpc>
              <a:buNone/>
            </a:pPr>
            <a:r>
              <a:rPr lang="en-US" sz="1650" dirty="0">
                <a:solidFill>
                  <a:srgbClr val="FFFFFF"/>
                </a:solidFill>
                <a:latin typeface="Cambria" pitchFamily="34" charset="0"/>
                <a:ea typeface="Cambria" pitchFamily="34" charset="-122"/>
                <a:cs typeface="Cambria" pitchFamily="34" charset="-120"/>
              </a:rPr>
              <a:t>Teori etika normatif adalah aturan, pedoman, prinsip, dan pendekatan yang menentukan benar dan salah.</a:t>
            </a:r>
            <a:endParaRPr lang="en-US" sz="1650" dirty="0"/>
          </a:p>
        </p:txBody>
      </p:sp>
      <p:sp>
        <p:nvSpPr>
          <p:cNvPr id="8" name="Text 6"/>
          <p:cNvSpPr txBox="1"/>
          <p:nvPr/>
        </p:nvSpPr>
        <p:spPr>
          <a:xfrm>
            <a:off x="877824" y="3419856"/>
            <a:ext cx="4526280" cy="256032"/>
          </a:xfrm>
          <a:prstGeom prst="rect">
            <a:avLst/>
          </a:prstGeom>
          <a:noFill/>
          <a:ln/>
        </p:spPr>
        <p:txBody>
          <a:bodyPr wrap="square" lIns="0" tIns="0" rIns="0" bIns="0" rtlCol="0" anchor="ctr"/>
          <a:lstStyle/>
          <a:p>
            <a:pPr indent="0" marL="0">
              <a:buNone/>
            </a:pPr>
            <a:r>
              <a:rPr lang="en-US" sz="1000" i="1" dirty="0">
                <a:solidFill>
                  <a:srgbClr val="97A3AE"/>
                </a:solidFill>
                <a:latin typeface="Calibri" pitchFamily="34" charset="0"/>
                <a:ea typeface="Calibri" pitchFamily="34" charset="-122"/>
                <a:cs typeface="Calibri" pitchFamily="34" charset="-120"/>
              </a:rPr>
              <a:t>Crane dan Matten (2019: 87)</a:t>
            </a:r>
            <a:endParaRPr lang="en-US" sz="1000" dirty="0"/>
          </a:p>
        </p:txBody>
      </p:sp>
      <p:sp>
        <p:nvSpPr>
          <p:cNvPr id="9" name="Shape 7"/>
          <p:cNvSpPr/>
          <p:nvPr/>
        </p:nvSpPr>
        <p:spPr>
          <a:xfrm>
            <a:off x="566928" y="4096512"/>
            <a:ext cx="5120640" cy="1883664"/>
          </a:xfrm>
          <a:prstGeom prst="roundRect">
            <a:avLst>
              <a:gd name="adj" fmla="val 4369"/>
            </a:avLst>
          </a:prstGeom>
          <a:solidFill>
            <a:srgbClr val="F1F3F5"/>
          </a:solidFill>
          <a:ln w="12700">
            <a:solidFill>
              <a:srgbClr val="F1F3F5"/>
            </a:solidFill>
            <a:prstDash val="solid"/>
          </a:ln>
        </p:spPr>
      </p:sp>
      <p:sp>
        <p:nvSpPr>
          <p:cNvPr id="10" name="Text 8"/>
          <p:cNvSpPr txBox="1"/>
          <p:nvPr/>
        </p:nvSpPr>
        <p:spPr>
          <a:xfrm>
            <a:off x="877824" y="4315968"/>
            <a:ext cx="4572000" cy="219456"/>
          </a:xfrm>
          <a:prstGeom prst="rect">
            <a:avLst/>
          </a:prstGeom>
          <a:noFill/>
          <a:ln/>
        </p:spPr>
        <p:txBody>
          <a:bodyPr wrap="square" lIns="0" tIns="0" rIns="0" bIns="0" rtlCol="0" anchor="ctr"/>
          <a:lstStyle/>
          <a:p>
            <a:pPr indent="0" marL="0">
              <a:buNone/>
            </a:pPr>
            <a:r>
              <a:rPr lang="en-US" sz="950" b="1" spc="120" kern="0" dirty="0">
                <a:solidFill>
                  <a:srgbClr val="B8542A"/>
                </a:solidFill>
                <a:latin typeface="Calibri" pitchFamily="34" charset="0"/>
                <a:ea typeface="Calibri" pitchFamily="34" charset="-122"/>
                <a:cs typeface="Calibri" pitchFamily="34" charset="-120"/>
              </a:rPr>
              <a:t>NORMATIF DAN DESKRIPTIF</a:t>
            </a:r>
            <a:endParaRPr lang="en-US" sz="950" dirty="0"/>
          </a:p>
        </p:txBody>
      </p:sp>
      <p:sp>
        <p:nvSpPr>
          <p:cNvPr id="11" name="Text 9"/>
          <p:cNvSpPr txBox="1"/>
          <p:nvPr/>
        </p:nvSpPr>
        <p:spPr>
          <a:xfrm>
            <a:off x="877824" y="4590288"/>
            <a:ext cx="4526280" cy="1234440"/>
          </a:xfrm>
          <a:prstGeom prst="rect">
            <a:avLst/>
          </a:prstGeom>
          <a:noFill/>
          <a:ln/>
        </p:spPr>
        <p:txBody>
          <a:bodyPr wrap="square" lIns="0" tIns="0" rIns="0" bIns="0" rtlCol="0" anchor="t"/>
          <a:lstStyle/>
          <a:p>
            <a:pPr indent="0" marL="0">
              <a:lnSpc>
                <a:spcPct val="114000"/>
              </a:lnSpc>
              <a:buNone/>
            </a:pPr>
            <a:r>
              <a:rPr lang="en-US" sz="1200" dirty="0">
                <a:solidFill>
                  <a:srgbClr val="2C3540"/>
                </a:solidFill>
                <a:latin typeface="Calibri" pitchFamily="34" charset="0"/>
                <a:ea typeface="Calibri" pitchFamily="34" charset="-122"/>
                <a:cs typeface="Calibri" pitchFamily="34" charset="-120"/>
              </a:rPr>
              <a:t>Normatif menjawab bagaimana kita seharusnya bertindak, dan berlaku bagi semua pelaku yang berakal budi. Deskriptif menjelaskan aturan yang sebenarnya dianut satu kelompok atau masyarakat tertentu, termasuk ajaran agama. Bab 4 mengambil jalur deskriptif itu.</a:t>
            </a:r>
            <a:endParaRPr lang="en-US" sz="1200" dirty="0"/>
          </a:p>
        </p:txBody>
      </p:sp>
      <p:sp>
        <p:nvSpPr>
          <p:cNvPr id="12" name="Shape 10"/>
          <p:cNvSpPr/>
          <p:nvPr/>
        </p:nvSpPr>
        <p:spPr>
          <a:xfrm>
            <a:off x="6099048" y="1792224"/>
            <a:ext cx="5522976" cy="1243584"/>
          </a:xfrm>
          <a:prstGeom prst="roundRect">
            <a:avLst>
              <a:gd name="adj" fmla="val 6618"/>
            </a:avLst>
          </a:prstGeom>
          <a:solidFill>
            <a:srgbClr val="E6EAEE"/>
          </a:solidFill>
          <a:ln w="12700">
            <a:solidFill>
              <a:srgbClr val="E6EAEE"/>
            </a:solidFill>
            <a:prstDash val="solid"/>
          </a:ln>
        </p:spPr>
      </p:sp>
      <p:sp>
        <p:nvSpPr>
          <p:cNvPr id="13" name="Shape 11"/>
          <p:cNvSpPr/>
          <p:nvPr/>
        </p:nvSpPr>
        <p:spPr>
          <a:xfrm>
            <a:off x="6373368" y="2011680"/>
            <a:ext cx="292608" cy="292608"/>
          </a:xfrm>
          <a:prstGeom prst="roundRect">
            <a:avLst>
              <a:gd name="adj" fmla="val 21875"/>
            </a:avLst>
          </a:prstGeom>
          <a:solidFill>
            <a:srgbClr val="B8542A"/>
          </a:solidFill>
          <a:ln w="12700">
            <a:solidFill>
              <a:srgbClr val="B8542A"/>
            </a:solidFill>
            <a:prstDash val="solid"/>
          </a:ln>
        </p:spPr>
      </p:sp>
      <p:sp>
        <p:nvSpPr>
          <p:cNvPr id="14" name="Text 12"/>
          <p:cNvSpPr txBox="1"/>
          <p:nvPr/>
        </p:nvSpPr>
        <p:spPr>
          <a:xfrm>
            <a:off x="6373368" y="201168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5" name="Text 13"/>
          <p:cNvSpPr txBox="1"/>
          <p:nvPr/>
        </p:nvSpPr>
        <p:spPr>
          <a:xfrm>
            <a:off x="6784848" y="1993392"/>
            <a:ext cx="4480560" cy="274320"/>
          </a:xfrm>
          <a:prstGeom prst="rect">
            <a:avLst/>
          </a:prstGeom>
          <a:noFill/>
          <a:ln/>
        </p:spPr>
        <p:txBody>
          <a:bodyPr wrap="square" lIns="0" tIns="0" rIns="0" bIns="0" rtlCol="0" anchor="ctr"/>
          <a:lstStyle/>
          <a:p>
            <a:pPr indent="0" marL="0">
              <a:buNone/>
            </a:pPr>
            <a:r>
              <a:rPr lang="en-US" sz="1450" b="1" dirty="0">
                <a:solidFill>
                  <a:srgbClr val="16202A"/>
                </a:solidFill>
                <a:latin typeface="Cambria" pitchFamily="34" charset="0"/>
                <a:ea typeface="Cambria" pitchFamily="34" charset="-122"/>
                <a:cs typeface="Cambria" pitchFamily="34" charset="-120"/>
              </a:rPr>
              <a:t>Rasionalisasi intuisi moral</a:t>
            </a:r>
            <a:endParaRPr lang="en-US" sz="1450" dirty="0"/>
          </a:p>
        </p:txBody>
      </p:sp>
      <p:sp>
        <p:nvSpPr>
          <p:cNvPr id="16" name="Text 14"/>
          <p:cNvSpPr txBox="1"/>
          <p:nvPr/>
        </p:nvSpPr>
        <p:spPr>
          <a:xfrm>
            <a:off x="6784848" y="2322576"/>
            <a:ext cx="4572000" cy="658368"/>
          </a:xfrm>
          <a:prstGeom prst="rect">
            <a:avLst/>
          </a:prstGeom>
          <a:noFill/>
          <a:ln/>
        </p:spPr>
        <p:txBody>
          <a:bodyPr wrap="square" lIns="0" tIns="0" rIns="0" bIns="0" rtlCol="0" anchor="t"/>
          <a:lstStyle/>
          <a:p>
            <a:pPr indent="0" marL="0">
              <a:lnSpc>
                <a:spcPct val="112000"/>
              </a:lnSpc>
              <a:buNone/>
            </a:pPr>
            <a:r>
              <a:rPr lang="en-US" sz="1150" dirty="0">
                <a:solidFill>
                  <a:srgbClr val="2C3540"/>
                </a:solidFill>
                <a:latin typeface="Calibri" pitchFamily="34" charset="0"/>
                <a:ea typeface="Calibri" pitchFamily="34" charset="-122"/>
                <a:cs typeface="Calibri" pitchFamily="34" charset="-120"/>
              </a:rPr>
              <a:t>Teori etika berfungsi merasionalkan, menjelaskan, dan memahami intuisi moral yang telah dimiliki mengenai benar dan salah.</a:t>
            </a:r>
            <a:endParaRPr lang="en-US" sz="1150" dirty="0"/>
          </a:p>
        </p:txBody>
      </p:sp>
      <p:sp>
        <p:nvSpPr>
          <p:cNvPr id="17" name="Shape 15"/>
          <p:cNvSpPr/>
          <p:nvPr/>
        </p:nvSpPr>
        <p:spPr>
          <a:xfrm>
            <a:off x="6099048" y="3209544"/>
            <a:ext cx="5522976" cy="1243584"/>
          </a:xfrm>
          <a:prstGeom prst="roundRect">
            <a:avLst>
              <a:gd name="adj" fmla="val 6618"/>
            </a:avLst>
          </a:prstGeom>
          <a:solidFill>
            <a:srgbClr val="F1F3F5"/>
          </a:solidFill>
          <a:ln w="12700">
            <a:solidFill>
              <a:srgbClr val="F1F3F5"/>
            </a:solidFill>
            <a:prstDash val="solid"/>
          </a:ln>
        </p:spPr>
      </p:sp>
      <p:sp>
        <p:nvSpPr>
          <p:cNvPr id="18" name="Shape 16"/>
          <p:cNvSpPr/>
          <p:nvPr/>
        </p:nvSpPr>
        <p:spPr>
          <a:xfrm>
            <a:off x="6373368" y="3429000"/>
            <a:ext cx="292608" cy="292608"/>
          </a:xfrm>
          <a:prstGeom prst="roundRect">
            <a:avLst>
              <a:gd name="adj" fmla="val 21875"/>
            </a:avLst>
          </a:prstGeom>
          <a:solidFill>
            <a:srgbClr val="B8542A"/>
          </a:solidFill>
          <a:ln w="12700">
            <a:solidFill>
              <a:srgbClr val="B8542A"/>
            </a:solidFill>
            <a:prstDash val="solid"/>
          </a:ln>
        </p:spPr>
      </p:sp>
      <p:sp>
        <p:nvSpPr>
          <p:cNvPr id="19" name="Text 17"/>
          <p:cNvSpPr txBox="1"/>
          <p:nvPr/>
        </p:nvSpPr>
        <p:spPr>
          <a:xfrm>
            <a:off x="6373368" y="342900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0" name="Text 18"/>
          <p:cNvSpPr txBox="1"/>
          <p:nvPr/>
        </p:nvSpPr>
        <p:spPr>
          <a:xfrm>
            <a:off x="6784848" y="3410712"/>
            <a:ext cx="4480560" cy="274320"/>
          </a:xfrm>
          <a:prstGeom prst="rect">
            <a:avLst/>
          </a:prstGeom>
          <a:noFill/>
          <a:ln/>
        </p:spPr>
        <p:txBody>
          <a:bodyPr wrap="square" lIns="0" tIns="0" rIns="0" bIns="0" rtlCol="0" anchor="ctr"/>
          <a:lstStyle/>
          <a:p>
            <a:pPr indent="0" marL="0">
              <a:buNone/>
            </a:pPr>
            <a:r>
              <a:rPr lang="en-US" sz="1450" b="1" dirty="0">
                <a:solidFill>
                  <a:srgbClr val="16202A"/>
                </a:solidFill>
                <a:latin typeface="Cambria" pitchFamily="34" charset="0"/>
                <a:ea typeface="Cambria" pitchFamily="34" charset="-122"/>
                <a:cs typeface="Cambria" pitchFamily="34" charset="-120"/>
              </a:rPr>
              <a:t>Dasar diskusi rasional</a:t>
            </a:r>
            <a:endParaRPr lang="en-US" sz="1450" dirty="0"/>
          </a:p>
        </p:txBody>
      </p:sp>
      <p:sp>
        <p:nvSpPr>
          <p:cNvPr id="21" name="Text 19"/>
          <p:cNvSpPr txBox="1"/>
          <p:nvPr/>
        </p:nvSpPr>
        <p:spPr>
          <a:xfrm>
            <a:off x="6784848" y="3739896"/>
            <a:ext cx="4572000" cy="658368"/>
          </a:xfrm>
          <a:prstGeom prst="rect">
            <a:avLst/>
          </a:prstGeom>
          <a:noFill/>
          <a:ln/>
        </p:spPr>
        <p:txBody>
          <a:bodyPr wrap="square" lIns="0" tIns="0" rIns="0" bIns="0" rtlCol="0" anchor="t"/>
          <a:lstStyle/>
          <a:p>
            <a:pPr indent="0" marL="0">
              <a:lnSpc>
                <a:spcPct val="112000"/>
              </a:lnSpc>
              <a:buNone/>
            </a:pPr>
            <a:r>
              <a:rPr lang="en-US" sz="1150" dirty="0">
                <a:solidFill>
                  <a:srgbClr val="2C3540"/>
                </a:solidFill>
                <a:latin typeface="Calibri" pitchFamily="34" charset="0"/>
                <a:ea typeface="Calibri" pitchFamily="34" charset="-122"/>
                <a:cs typeface="Calibri" pitchFamily="34" charset="-120"/>
              </a:rPr>
              <a:t>Teori memungkinkan diskursus rasional antarpihak yang berbeda nilai moral, sehingga perbedaan tidak berhenti pada tataran preferensi.</a:t>
            </a:r>
            <a:endParaRPr lang="en-US" sz="1150" dirty="0"/>
          </a:p>
        </p:txBody>
      </p:sp>
      <p:sp>
        <p:nvSpPr>
          <p:cNvPr id="22" name="Shape 20"/>
          <p:cNvSpPr/>
          <p:nvPr/>
        </p:nvSpPr>
        <p:spPr>
          <a:xfrm>
            <a:off x="6099048" y="4626864"/>
            <a:ext cx="5522976" cy="1243584"/>
          </a:xfrm>
          <a:prstGeom prst="roundRect">
            <a:avLst>
              <a:gd name="adj" fmla="val 6618"/>
            </a:avLst>
          </a:prstGeom>
          <a:solidFill>
            <a:srgbClr val="E6EAEE"/>
          </a:solidFill>
          <a:ln w="12700">
            <a:solidFill>
              <a:srgbClr val="E6EAEE"/>
            </a:solidFill>
            <a:prstDash val="solid"/>
          </a:ln>
        </p:spPr>
      </p:sp>
      <p:sp>
        <p:nvSpPr>
          <p:cNvPr id="23" name="Shape 21"/>
          <p:cNvSpPr/>
          <p:nvPr/>
        </p:nvSpPr>
        <p:spPr>
          <a:xfrm>
            <a:off x="6373368" y="4846320"/>
            <a:ext cx="292608" cy="292608"/>
          </a:xfrm>
          <a:prstGeom prst="roundRect">
            <a:avLst>
              <a:gd name="adj" fmla="val 21875"/>
            </a:avLst>
          </a:prstGeom>
          <a:solidFill>
            <a:srgbClr val="B8542A"/>
          </a:solidFill>
          <a:ln w="12700">
            <a:solidFill>
              <a:srgbClr val="B8542A"/>
            </a:solidFill>
            <a:prstDash val="solid"/>
          </a:ln>
        </p:spPr>
      </p:sp>
      <p:sp>
        <p:nvSpPr>
          <p:cNvPr id="24" name="Text 22"/>
          <p:cNvSpPr txBox="1"/>
          <p:nvPr/>
        </p:nvSpPr>
        <p:spPr>
          <a:xfrm>
            <a:off x="6373368" y="4846320"/>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5" name="Text 23"/>
          <p:cNvSpPr txBox="1"/>
          <p:nvPr/>
        </p:nvSpPr>
        <p:spPr>
          <a:xfrm>
            <a:off x="6784848" y="4828032"/>
            <a:ext cx="4480560" cy="274320"/>
          </a:xfrm>
          <a:prstGeom prst="rect">
            <a:avLst/>
          </a:prstGeom>
          <a:noFill/>
          <a:ln/>
        </p:spPr>
        <p:txBody>
          <a:bodyPr wrap="square" lIns="0" tIns="0" rIns="0" bIns="0" rtlCol="0" anchor="ctr"/>
          <a:lstStyle/>
          <a:p>
            <a:pPr indent="0" marL="0">
              <a:buNone/>
            </a:pPr>
            <a:r>
              <a:rPr lang="en-US" sz="1450" b="1" dirty="0">
                <a:solidFill>
                  <a:srgbClr val="16202A"/>
                </a:solidFill>
                <a:latin typeface="Cambria" pitchFamily="34" charset="0"/>
                <a:ea typeface="Cambria" pitchFamily="34" charset="-122"/>
                <a:cs typeface="Cambria" pitchFamily="34" charset="-120"/>
              </a:rPr>
              <a:t>Justifikasi keputusan bisnis</a:t>
            </a:r>
            <a:endParaRPr lang="en-US" sz="1450" dirty="0"/>
          </a:p>
        </p:txBody>
      </p:sp>
      <p:sp>
        <p:nvSpPr>
          <p:cNvPr id="26" name="Text 24"/>
          <p:cNvSpPr txBox="1"/>
          <p:nvPr/>
        </p:nvSpPr>
        <p:spPr>
          <a:xfrm>
            <a:off x="6784848" y="5157216"/>
            <a:ext cx="4572000" cy="658368"/>
          </a:xfrm>
          <a:prstGeom prst="rect">
            <a:avLst/>
          </a:prstGeom>
          <a:noFill/>
          <a:ln/>
        </p:spPr>
        <p:txBody>
          <a:bodyPr wrap="square" lIns="0" tIns="0" rIns="0" bIns="0" rtlCol="0" anchor="t"/>
          <a:lstStyle/>
          <a:p>
            <a:pPr indent="0" marL="0">
              <a:lnSpc>
                <a:spcPct val="112000"/>
              </a:lnSpc>
              <a:buNone/>
            </a:pPr>
            <a:r>
              <a:rPr lang="en-US" sz="1150" dirty="0">
                <a:solidFill>
                  <a:srgbClr val="2C3540"/>
                </a:solidFill>
                <a:latin typeface="Calibri" pitchFamily="34" charset="0"/>
                <a:ea typeface="Calibri" pitchFamily="34" charset="-122"/>
                <a:cs typeface="Calibri" pitchFamily="34" charset="-120"/>
              </a:rPr>
              <a:t>Keputusan bisnis menuntut dasar rasional yang sistematis dan dapat dipertanggungjawabkan kepada pemangku kepentingan.</a:t>
            </a:r>
            <a:endParaRPr lang="en-US" sz="1150" dirty="0"/>
          </a:p>
        </p:txBody>
      </p:sp>
      <p:sp>
        <p:nvSpPr>
          <p:cNvPr id="27" name="Text 25"/>
          <p:cNvSpPr txBox="1"/>
          <p:nvPr/>
        </p:nvSpPr>
        <p:spPr>
          <a:xfrm>
            <a:off x="566928" y="6419088"/>
            <a:ext cx="10143439" cy="237744"/>
          </a:xfrm>
          <a:prstGeom prst="rect">
            <a:avLst/>
          </a:prstGeom>
          <a:noFill/>
          <a:ln/>
        </p:spPr>
        <p:txBody>
          <a:bodyPr wrap="square" lIns="0" tIns="0" rIns="0" bIns="0" rtlCol="0" anchor="ctr"/>
          <a:lstStyle/>
          <a:p>
            <a:pPr indent="0" marL="0">
              <a:buNone/>
            </a:pPr>
            <a:r>
              <a:rPr lang="en-US" sz="900" i="1" dirty="0">
                <a:solidFill>
                  <a:srgbClr val="6B7684"/>
                </a:solidFill>
                <a:latin typeface="Calibri" pitchFamily="34" charset="0"/>
                <a:ea typeface="Calibri" pitchFamily="34" charset="-122"/>
                <a:cs typeface="Calibri" pitchFamily="34" charset="-120"/>
              </a:rPr>
              <a:t>Crane dan Matten (2019), Bab 3, halaman 86 sampai 88.</a:t>
            </a:r>
            <a:endParaRPr lang="en-US" sz="900" dirty="0"/>
          </a:p>
        </p:txBody>
      </p:sp>
      <p:sp>
        <p:nvSpPr>
          <p:cNvPr id="28" name="Text 26"/>
          <p:cNvSpPr txBox="1"/>
          <p:nvPr/>
        </p:nvSpPr>
        <p:spPr>
          <a:xfrm>
            <a:off x="10893247" y="6419088"/>
            <a:ext cx="731520" cy="237744"/>
          </a:xfrm>
          <a:prstGeom prst="rect">
            <a:avLst/>
          </a:prstGeom>
          <a:noFill/>
          <a:ln/>
        </p:spPr>
        <p:txBody>
          <a:bodyPr wrap="square" lIns="0" tIns="0" rIns="0" bIns="0" rtlCol="0" anchor="ctr"/>
          <a:lstStyle/>
          <a:p>
            <a:pPr algn="r" indent="0" marL="0">
              <a:buNone/>
            </a:pPr>
            <a:r>
              <a:rPr lang="en-US" sz="1100" b="1" dirty="0">
                <a:solidFill>
                  <a:srgbClr val="6B7684"/>
                </a:solidFill>
                <a:latin typeface="Cambria" pitchFamily="34" charset="0"/>
                <a:ea typeface="Cambria" pitchFamily="34" charset="-122"/>
                <a:cs typeface="Cambria"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B8542A"/>
                </a:solidFill>
                <a:latin typeface="Calibri" pitchFamily="34" charset="0"/>
                <a:ea typeface="Calibri" pitchFamily="34" charset="-122"/>
                <a:cs typeface="Calibri" pitchFamily="34" charset="-120"/>
              </a:rPr>
              <a:t>02   POSISI DASAR</a:t>
            </a:r>
            <a:endParaRPr lang="en-US" sz="1000" dirty="0"/>
          </a:p>
        </p:txBody>
      </p:sp>
      <p:sp>
        <p:nvSpPr>
          <p:cNvPr id="3" name="Text 1"/>
          <p:cNvSpPr txBox="1"/>
          <p:nvPr/>
        </p:nvSpPr>
        <p:spPr>
          <a:xfrm>
            <a:off x="566928" y="585216"/>
            <a:ext cx="11057839" cy="548640"/>
          </a:xfrm>
          <a:prstGeom prst="rect">
            <a:avLst/>
          </a:prstGeom>
          <a:noFill/>
          <a:ln/>
        </p:spPr>
        <p:txBody>
          <a:bodyPr wrap="square" lIns="0" tIns="0" rIns="0" bIns="0" rtlCol="0" anchor="ctr"/>
          <a:lstStyle/>
          <a:p>
            <a:pPr indent="0" marL="0">
              <a:buNone/>
            </a:pPr>
            <a:r>
              <a:rPr lang="en-US" sz="2800" b="1" dirty="0">
                <a:solidFill>
                  <a:srgbClr val="16202A"/>
                </a:solidFill>
                <a:latin typeface="Cambria" pitchFamily="34" charset="0"/>
                <a:ea typeface="Cambria" pitchFamily="34" charset="-122"/>
                <a:cs typeface="Cambria" pitchFamily="34" charset="-120"/>
              </a:rPr>
              <a:t>Absolutisme, relativisme, dan pluralisme</a:t>
            </a:r>
            <a:endParaRPr lang="en-US" sz="2800" dirty="0"/>
          </a:p>
        </p:txBody>
      </p:sp>
      <p:sp>
        <p:nvSpPr>
          <p:cNvPr id="4" name="Text 2"/>
          <p:cNvSpPr txBox="1"/>
          <p:nvPr/>
        </p:nvSpPr>
        <p:spPr>
          <a:xfrm>
            <a:off x="566928" y="1170432"/>
            <a:ext cx="11057839" cy="310896"/>
          </a:xfrm>
          <a:prstGeom prst="rect">
            <a:avLst/>
          </a:prstGeom>
          <a:noFill/>
          <a:ln/>
        </p:spPr>
        <p:txBody>
          <a:bodyPr wrap="square" lIns="0" tIns="0" rIns="0" bIns="0" rtlCol="0" anchor="t"/>
          <a:lstStyle/>
          <a:p>
            <a:pPr indent="0" marL="0">
              <a:lnSpc>
                <a:spcPct val="110000"/>
              </a:lnSpc>
              <a:buNone/>
            </a:pPr>
            <a:r>
              <a:rPr lang="en-US" sz="1250" dirty="0">
                <a:solidFill>
                  <a:srgbClr val="6B7684"/>
                </a:solidFill>
                <a:latin typeface="Calibri" pitchFamily="34" charset="0"/>
                <a:ea typeface="Calibri" pitchFamily="34" charset="-122"/>
                <a:cs typeface="Calibri" pitchFamily="34" charset="-120"/>
              </a:rPr>
              <a:t>Sebelum menerapkan teori, perlu ditetapkan seberapa luas klaim keberlakuan yang diajukan teori tersebut.</a:t>
            </a:r>
            <a:endParaRPr lang="en-US" sz="1250" dirty="0"/>
          </a:p>
        </p:txBody>
      </p:sp>
      <p:sp>
        <p:nvSpPr>
          <p:cNvPr id="5" name="Shape 3"/>
          <p:cNvSpPr/>
          <p:nvPr/>
        </p:nvSpPr>
        <p:spPr>
          <a:xfrm>
            <a:off x="566928" y="1792224"/>
            <a:ext cx="3442106" cy="3310128"/>
          </a:xfrm>
          <a:prstGeom prst="roundRect">
            <a:avLst>
              <a:gd name="adj" fmla="val 2486"/>
            </a:avLst>
          </a:prstGeom>
          <a:solidFill>
            <a:srgbClr val="F1F3F5"/>
          </a:solidFill>
          <a:ln w="12700">
            <a:solidFill>
              <a:srgbClr val="F1F3F5"/>
            </a:solidFill>
            <a:prstDash val="solid"/>
          </a:ln>
        </p:spPr>
      </p:sp>
      <p:sp>
        <p:nvSpPr>
          <p:cNvPr id="6" name="Text 4"/>
          <p:cNvSpPr txBox="1"/>
          <p:nvPr/>
        </p:nvSpPr>
        <p:spPr>
          <a:xfrm>
            <a:off x="841248" y="1993392"/>
            <a:ext cx="2893466" cy="219456"/>
          </a:xfrm>
          <a:prstGeom prst="rect">
            <a:avLst/>
          </a:prstGeom>
          <a:noFill/>
          <a:ln/>
        </p:spPr>
        <p:txBody>
          <a:bodyPr wrap="square" lIns="0" tIns="0" rIns="0" bIns="0" rtlCol="0" anchor="ctr"/>
          <a:lstStyle/>
          <a:p>
            <a:pPr indent="0" marL="0">
              <a:buNone/>
            </a:pPr>
            <a:r>
              <a:rPr lang="en-US" sz="950" b="1" spc="120" kern="0" dirty="0">
                <a:solidFill>
                  <a:srgbClr val="B8542A"/>
                </a:solidFill>
                <a:latin typeface="Calibri" pitchFamily="34" charset="0"/>
                <a:ea typeface="Calibri" pitchFamily="34" charset="-122"/>
                <a:cs typeface="Calibri" pitchFamily="34" charset="-120"/>
              </a:rPr>
              <a:t>ABSOLUTISME ETIS</a:t>
            </a:r>
            <a:endParaRPr lang="en-US" sz="950" dirty="0"/>
          </a:p>
        </p:txBody>
      </p:sp>
      <p:sp>
        <p:nvSpPr>
          <p:cNvPr id="7" name="Text 5"/>
          <p:cNvSpPr txBox="1"/>
          <p:nvPr/>
        </p:nvSpPr>
        <p:spPr>
          <a:xfrm>
            <a:off x="841248" y="2249424"/>
            <a:ext cx="2893466" cy="713232"/>
          </a:xfrm>
          <a:prstGeom prst="rect">
            <a:avLst/>
          </a:prstGeom>
          <a:noFill/>
          <a:ln/>
        </p:spPr>
        <p:txBody>
          <a:bodyPr wrap="square" lIns="0" tIns="0" rIns="0" bIns="0" rtlCol="0" anchor="t"/>
          <a:lstStyle/>
          <a:p>
            <a:pPr indent="0" marL="0">
              <a:lnSpc>
                <a:spcPct val="108000"/>
              </a:lnSpc>
              <a:buNone/>
            </a:pPr>
            <a:r>
              <a:rPr lang="en-US" sz="1500" b="1" dirty="0">
                <a:solidFill>
                  <a:srgbClr val="16202A"/>
                </a:solidFill>
                <a:latin typeface="Cambria" pitchFamily="34" charset="0"/>
                <a:ea typeface="Cambria" pitchFamily="34" charset="-122"/>
                <a:cs typeface="Cambria" pitchFamily="34" charset="-120"/>
              </a:rPr>
              <a:t>Ada prinsip moral yang universal dan abadi</a:t>
            </a:r>
            <a:endParaRPr lang="en-US" sz="1500" dirty="0"/>
          </a:p>
        </p:txBody>
      </p:sp>
      <p:sp>
        <p:nvSpPr>
          <p:cNvPr id="8" name="Text 6"/>
          <p:cNvSpPr txBox="1"/>
          <p:nvPr/>
        </p:nvSpPr>
        <p:spPr>
          <a:xfrm>
            <a:off x="841248" y="3035808"/>
            <a:ext cx="2893466" cy="1828800"/>
          </a:xfrm>
          <a:prstGeom prst="rect">
            <a:avLst/>
          </a:prstGeom>
          <a:noFill/>
          <a:ln/>
        </p:spPr>
        <p:txBody>
          <a:bodyPr wrap="square" lIns="0" tIns="0" rIns="0" bIns="0" rtlCol="0" anchor="t"/>
          <a:lstStyle/>
          <a:p>
            <a:pPr indent="0" marL="0">
              <a:lnSpc>
                <a:spcPct val="114000"/>
              </a:lnSpc>
              <a:buNone/>
            </a:pPr>
            <a:r>
              <a:rPr lang="en-US" sz="1150" dirty="0">
                <a:solidFill>
                  <a:srgbClr val="2C3540"/>
                </a:solidFill>
                <a:latin typeface="Calibri" pitchFamily="34" charset="0"/>
                <a:ea typeface="Calibri" pitchFamily="34" charset="-122"/>
                <a:cs typeface="Calibri" pitchFamily="34" charset="-120"/>
              </a:rPr>
              <a:t>Benar dan salah adalah kualitas objektif yang bisa ditentukan lewat nalar, terlepas dari keadaan.</a:t>
            </a:r>
            <a:endParaRPr lang="en-US" sz="1150" dirty="0"/>
          </a:p>
          <a:p>
            <a:pPr indent="0" marL="0">
              <a:lnSpc>
                <a:spcPct val="114000"/>
              </a:lnSpc>
              <a:buNone/>
            </a:pPr>
            <a:endParaRPr lang="en-US" sz="1150" dirty="0"/>
          </a:p>
          <a:p>
            <a:pPr indent="0" marL="0">
              <a:lnSpc>
                <a:spcPct val="114000"/>
              </a:lnSpc>
              <a:buNone/>
            </a:pPr>
            <a:r>
              <a:rPr lang="en-US" sz="1150" dirty="0">
                <a:solidFill>
                  <a:srgbClr val="2C3540"/>
                </a:solidFill>
                <a:latin typeface="Calibri" pitchFamily="34" charset="0"/>
                <a:ea typeface="Calibri" pitchFamily="34" charset="-122"/>
                <a:cs typeface="Calibri" pitchFamily="34" charset="-120"/>
              </a:rPr>
              <a:t>Hampir seluruh teori modernis Barat berada pada posisi ini. Keunggulannya terletak pada ketegasan kesimpulan yang dihasilkan.</a:t>
            </a:r>
            <a:endParaRPr lang="en-US" sz="1150" dirty="0"/>
          </a:p>
        </p:txBody>
      </p:sp>
      <p:sp>
        <p:nvSpPr>
          <p:cNvPr id="9" name="Shape 7"/>
          <p:cNvSpPr/>
          <p:nvPr/>
        </p:nvSpPr>
        <p:spPr>
          <a:xfrm>
            <a:off x="4374794" y="1792224"/>
            <a:ext cx="3442106" cy="3310128"/>
          </a:xfrm>
          <a:prstGeom prst="roundRect">
            <a:avLst>
              <a:gd name="adj" fmla="val 2486"/>
            </a:avLst>
          </a:prstGeom>
          <a:solidFill>
            <a:srgbClr val="F1F3F5"/>
          </a:solidFill>
          <a:ln w="12700">
            <a:solidFill>
              <a:srgbClr val="F1F3F5"/>
            </a:solidFill>
            <a:prstDash val="solid"/>
          </a:ln>
        </p:spPr>
      </p:sp>
      <p:sp>
        <p:nvSpPr>
          <p:cNvPr id="10" name="Text 8"/>
          <p:cNvSpPr txBox="1"/>
          <p:nvPr/>
        </p:nvSpPr>
        <p:spPr>
          <a:xfrm>
            <a:off x="4649114" y="1993392"/>
            <a:ext cx="2893466" cy="219456"/>
          </a:xfrm>
          <a:prstGeom prst="rect">
            <a:avLst/>
          </a:prstGeom>
          <a:noFill/>
          <a:ln/>
        </p:spPr>
        <p:txBody>
          <a:bodyPr wrap="square" lIns="0" tIns="0" rIns="0" bIns="0" rtlCol="0" anchor="ctr"/>
          <a:lstStyle/>
          <a:p>
            <a:pPr indent="0" marL="0">
              <a:buNone/>
            </a:pPr>
            <a:r>
              <a:rPr lang="en-US" sz="950" b="1" spc="120" kern="0" dirty="0">
                <a:solidFill>
                  <a:srgbClr val="B8542A"/>
                </a:solidFill>
                <a:latin typeface="Calibri" pitchFamily="34" charset="0"/>
                <a:ea typeface="Calibri" pitchFamily="34" charset="-122"/>
                <a:cs typeface="Calibri" pitchFamily="34" charset="-120"/>
              </a:rPr>
              <a:t>RELATIVISME ETIS</a:t>
            </a:r>
            <a:endParaRPr lang="en-US" sz="950" dirty="0"/>
          </a:p>
        </p:txBody>
      </p:sp>
      <p:sp>
        <p:nvSpPr>
          <p:cNvPr id="11" name="Text 9"/>
          <p:cNvSpPr txBox="1"/>
          <p:nvPr/>
        </p:nvSpPr>
        <p:spPr>
          <a:xfrm>
            <a:off x="4649114" y="2249424"/>
            <a:ext cx="2893466" cy="713232"/>
          </a:xfrm>
          <a:prstGeom prst="rect">
            <a:avLst/>
          </a:prstGeom>
          <a:noFill/>
          <a:ln/>
        </p:spPr>
        <p:txBody>
          <a:bodyPr wrap="square" lIns="0" tIns="0" rIns="0" bIns="0" rtlCol="0" anchor="t"/>
          <a:lstStyle/>
          <a:p>
            <a:pPr indent="0" marL="0">
              <a:lnSpc>
                <a:spcPct val="108000"/>
              </a:lnSpc>
              <a:buNone/>
            </a:pPr>
            <a:r>
              <a:rPr lang="en-US" sz="1500" b="1" dirty="0">
                <a:solidFill>
                  <a:srgbClr val="16202A"/>
                </a:solidFill>
                <a:latin typeface="Cambria" pitchFamily="34" charset="0"/>
                <a:ea typeface="Cambria" pitchFamily="34" charset="-122"/>
                <a:cs typeface="Cambria" pitchFamily="34" charset="-120"/>
              </a:rPr>
              <a:t>Moralitas bergantung konteks dan bersifat subjektif</a:t>
            </a:r>
            <a:endParaRPr lang="en-US" sz="1500" dirty="0"/>
          </a:p>
        </p:txBody>
      </p:sp>
      <p:sp>
        <p:nvSpPr>
          <p:cNvPr id="12" name="Text 10"/>
          <p:cNvSpPr txBox="1"/>
          <p:nvPr/>
        </p:nvSpPr>
        <p:spPr>
          <a:xfrm>
            <a:off x="4649114" y="3035808"/>
            <a:ext cx="2893466" cy="1828800"/>
          </a:xfrm>
          <a:prstGeom prst="rect">
            <a:avLst/>
          </a:prstGeom>
          <a:noFill/>
          <a:ln/>
        </p:spPr>
        <p:txBody>
          <a:bodyPr wrap="square" lIns="0" tIns="0" rIns="0" bIns="0" rtlCol="0" anchor="t"/>
          <a:lstStyle/>
          <a:p>
            <a:pPr indent="0" marL="0">
              <a:lnSpc>
                <a:spcPct val="114000"/>
              </a:lnSpc>
              <a:buNone/>
            </a:pPr>
            <a:r>
              <a:rPr lang="en-US" sz="1150" dirty="0">
                <a:solidFill>
                  <a:srgbClr val="2C3540"/>
                </a:solidFill>
                <a:latin typeface="Calibri" pitchFamily="34" charset="0"/>
                <a:ea typeface="Calibri" pitchFamily="34" charset="-122"/>
                <a:cs typeface="Calibri" pitchFamily="34" charset="-120"/>
              </a:rPr>
              <a:t>Tidak ada benar dan salah universal. Semuanya bergantung pada tradisi, keyakinan, dan praktik pihak yang memutuskan.</a:t>
            </a:r>
            <a:endParaRPr lang="en-US" sz="1150" dirty="0"/>
          </a:p>
          <a:p>
            <a:pPr indent="0" marL="0">
              <a:lnSpc>
                <a:spcPct val="114000"/>
              </a:lnSpc>
              <a:buNone/>
            </a:pPr>
            <a:endParaRPr lang="en-US" sz="1150" dirty="0"/>
          </a:p>
          <a:p>
            <a:pPr indent="0" marL="0">
              <a:lnSpc>
                <a:spcPct val="114000"/>
              </a:lnSpc>
              <a:buNone/>
            </a:pPr>
            <a:r>
              <a:rPr lang="en-US" sz="1150" dirty="0">
                <a:solidFill>
                  <a:srgbClr val="2C3540"/>
                </a:solidFill>
                <a:latin typeface="Calibri" pitchFamily="34" charset="0"/>
                <a:ea typeface="Calibri" pitchFamily="34" charset="-122"/>
                <a:cs typeface="Calibri" pitchFamily="34" charset="-120"/>
              </a:rPr>
              <a:t>Sering muncul pada isu bisnis internasional, ketika perilaku di budaya lain dinilai tidak bisa dihakimi dari luar.</a:t>
            </a:r>
            <a:endParaRPr lang="en-US" sz="1150" dirty="0"/>
          </a:p>
        </p:txBody>
      </p:sp>
      <p:sp>
        <p:nvSpPr>
          <p:cNvPr id="13" name="Shape 11"/>
          <p:cNvSpPr/>
          <p:nvPr/>
        </p:nvSpPr>
        <p:spPr>
          <a:xfrm>
            <a:off x="8182661" y="1792224"/>
            <a:ext cx="3442106" cy="3310128"/>
          </a:xfrm>
          <a:prstGeom prst="roundRect">
            <a:avLst>
              <a:gd name="adj" fmla="val 2486"/>
            </a:avLst>
          </a:prstGeom>
          <a:solidFill>
            <a:srgbClr val="E3EDEA"/>
          </a:solidFill>
          <a:ln w="12700">
            <a:solidFill>
              <a:srgbClr val="E3EDEA"/>
            </a:solidFill>
            <a:prstDash val="solid"/>
          </a:ln>
        </p:spPr>
      </p:sp>
      <p:sp>
        <p:nvSpPr>
          <p:cNvPr id="14" name="Text 12"/>
          <p:cNvSpPr txBox="1"/>
          <p:nvPr/>
        </p:nvSpPr>
        <p:spPr>
          <a:xfrm>
            <a:off x="8456981" y="1993392"/>
            <a:ext cx="2893466" cy="219456"/>
          </a:xfrm>
          <a:prstGeom prst="rect">
            <a:avLst/>
          </a:prstGeom>
          <a:noFill/>
          <a:ln/>
        </p:spPr>
        <p:txBody>
          <a:bodyPr wrap="square" lIns="0" tIns="0" rIns="0" bIns="0" rtlCol="0" anchor="ctr"/>
          <a:lstStyle/>
          <a:p>
            <a:pPr indent="0" marL="0">
              <a:buNone/>
            </a:pPr>
            <a:r>
              <a:rPr lang="en-US" sz="950" b="1" spc="120" kern="0" dirty="0">
                <a:solidFill>
                  <a:srgbClr val="2E6F63"/>
                </a:solidFill>
                <a:latin typeface="Calibri" pitchFamily="34" charset="0"/>
                <a:ea typeface="Calibri" pitchFamily="34" charset="-122"/>
                <a:cs typeface="Calibri" pitchFamily="34" charset="-120"/>
              </a:rPr>
              <a:t>PLURALISME ETIS</a:t>
            </a:r>
            <a:endParaRPr lang="en-US" sz="950" dirty="0"/>
          </a:p>
        </p:txBody>
      </p:sp>
      <p:sp>
        <p:nvSpPr>
          <p:cNvPr id="15" name="Text 13"/>
          <p:cNvSpPr txBox="1"/>
          <p:nvPr/>
        </p:nvSpPr>
        <p:spPr>
          <a:xfrm>
            <a:off x="8456981" y="2249424"/>
            <a:ext cx="2893466" cy="713232"/>
          </a:xfrm>
          <a:prstGeom prst="rect">
            <a:avLst/>
          </a:prstGeom>
          <a:noFill/>
          <a:ln/>
        </p:spPr>
        <p:txBody>
          <a:bodyPr wrap="square" lIns="0" tIns="0" rIns="0" bIns="0" rtlCol="0" anchor="t"/>
          <a:lstStyle/>
          <a:p>
            <a:pPr indent="0" marL="0">
              <a:lnSpc>
                <a:spcPct val="108000"/>
              </a:lnSpc>
              <a:buNone/>
            </a:pPr>
            <a:r>
              <a:rPr lang="en-US" sz="1500" b="1" dirty="0">
                <a:solidFill>
                  <a:srgbClr val="2E6F63"/>
                </a:solidFill>
                <a:latin typeface="Cambria" pitchFamily="34" charset="0"/>
                <a:ea typeface="Cambria" pitchFamily="34" charset="-122"/>
                <a:cs typeface="Cambria" pitchFamily="34" charset="-120"/>
              </a:rPr>
              <a:t>Nilai yang bertentangan dapat sama sahnya</a:t>
            </a:r>
            <a:endParaRPr lang="en-US" sz="1500" dirty="0"/>
          </a:p>
        </p:txBody>
      </p:sp>
      <p:sp>
        <p:nvSpPr>
          <p:cNvPr id="16" name="Text 14"/>
          <p:cNvSpPr txBox="1"/>
          <p:nvPr/>
        </p:nvSpPr>
        <p:spPr>
          <a:xfrm>
            <a:off x="8456981" y="3035808"/>
            <a:ext cx="2893466" cy="1828800"/>
          </a:xfrm>
          <a:prstGeom prst="rect">
            <a:avLst/>
          </a:prstGeom>
          <a:noFill/>
          <a:ln/>
        </p:spPr>
        <p:txBody>
          <a:bodyPr wrap="square" lIns="0" tIns="0" rIns="0" bIns="0" rtlCol="0" anchor="t"/>
          <a:lstStyle/>
          <a:p>
            <a:pPr indent="0" marL="0">
              <a:lnSpc>
                <a:spcPct val="114000"/>
              </a:lnSpc>
              <a:buNone/>
            </a:pPr>
            <a:r>
              <a:rPr lang="en-US" sz="1150" dirty="0">
                <a:solidFill>
                  <a:srgbClr val="2C3540"/>
                </a:solidFill>
                <a:latin typeface="Calibri" pitchFamily="34" charset="0"/>
                <a:ea typeface="Calibri" pitchFamily="34" charset="-122"/>
                <a:cs typeface="Calibri" pitchFamily="34" charset="-120"/>
              </a:rPr>
              <a:t>Posisi yang diambil Crane dan Matten. Pluralisme tidak menyamaratakan seluruh perspektif, tetapi juga tidak mengunggulkan satu perspektif di atas yang lain.</a:t>
            </a:r>
            <a:endParaRPr lang="en-US" sz="1150" dirty="0"/>
          </a:p>
          <a:p>
            <a:pPr indent="0" marL="0">
              <a:lnSpc>
                <a:spcPct val="114000"/>
              </a:lnSpc>
              <a:buNone/>
            </a:pPr>
            <a:endParaRPr lang="en-US" sz="1150" dirty="0"/>
          </a:p>
          <a:p>
            <a:pPr indent="0" marL="0">
              <a:lnSpc>
                <a:spcPct val="114000"/>
              </a:lnSpc>
              <a:buNone/>
            </a:pPr>
            <a:r>
              <a:rPr lang="en-US" sz="1150" dirty="0">
                <a:solidFill>
                  <a:srgbClr val="2C3540"/>
                </a:solidFill>
                <a:latin typeface="Calibri" pitchFamily="34" charset="0"/>
                <a:ea typeface="Calibri" pitchFamily="34" charset="-122"/>
                <a:cs typeface="Calibri" pitchFamily="34" charset="-120"/>
              </a:rPr>
              <a:t>Konflik antarteori bukan kegagalan, melainkan konsekuensi yang harus dikelola.</a:t>
            </a:r>
            <a:endParaRPr lang="en-US" sz="1150" dirty="0"/>
          </a:p>
        </p:txBody>
      </p:sp>
      <p:sp>
        <p:nvSpPr>
          <p:cNvPr id="17" name="Shape 15"/>
          <p:cNvSpPr/>
          <p:nvPr/>
        </p:nvSpPr>
        <p:spPr>
          <a:xfrm>
            <a:off x="566928" y="5413248"/>
            <a:ext cx="11057839" cy="768096"/>
          </a:xfrm>
          <a:prstGeom prst="roundRect">
            <a:avLst>
              <a:gd name="adj" fmla="val 10714"/>
            </a:avLst>
          </a:prstGeom>
          <a:solidFill>
            <a:srgbClr val="E6EAEE"/>
          </a:solidFill>
          <a:ln w="12700">
            <a:solidFill>
              <a:srgbClr val="E6EAEE"/>
            </a:solidFill>
            <a:prstDash val="solid"/>
          </a:ln>
        </p:spPr>
      </p:sp>
      <p:sp>
        <p:nvSpPr>
          <p:cNvPr id="18" name="Text 16"/>
          <p:cNvSpPr txBox="1"/>
          <p:nvPr/>
        </p:nvSpPr>
        <p:spPr>
          <a:xfrm>
            <a:off x="877824" y="5413248"/>
            <a:ext cx="10436047" cy="768096"/>
          </a:xfrm>
          <a:prstGeom prst="rect">
            <a:avLst/>
          </a:prstGeom>
          <a:noFill/>
          <a:ln/>
        </p:spPr>
        <p:txBody>
          <a:bodyPr wrap="square" lIns="0" tIns="0" rIns="0" bIns="0" rtlCol="0" anchor="ctr"/>
          <a:lstStyle/>
          <a:p>
            <a:pPr indent="0" marL="0">
              <a:lnSpc>
                <a:spcPct val="114000"/>
              </a:lnSpc>
              <a:buNone/>
            </a:pPr>
            <a:r>
              <a:rPr lang="en-US" sz="1200" b="1" dirty="0">
                <a:solidFill>
                  <a:srgbClr val="16202A"/>
                </a:solidFill>
                <a:latin typeface="Calibri" pitchFamily="34" charset="0"/>
                <a:ea typeface="Calibri" pitchFamily="34" charset="-122"/>
                <a:cs typeface="Calibri" pitchFamily="34" charset="-120"/>
              </a:rPr>
              <a:t>Catatan kritis.   </a:t>
            </a:r>
            <a:pPr indent="0" marL="0">
              <a:lnSpc>
                <a:spcPct val="114000"/>
              </a:lnSpc>
              <a:buNone/>
            </a:pPr>
            <a:r>
              <a:rPr lang="en-US" sz="1200" dirty="0">
                <a:solidFill>
                  <a:srgbClr val="2C3540"/>
                </a:solidFill>
                <a:latin typeface="Calibri" pitchFamily="34" charset="0"/>
                <a:ea typeface="Calibri" pitchFamily="34" charset="-122"/>
                <a:cs typeface="Calibri" pitchFamily="34" charset="-120"/>
              </a:rPr>
              <a:t>Sen (2000) menilai pluralisme membuka kepekaan terhadap realitas yang berubah, sesuatu yang tidak disediakan oleh teori tunggal. Liu (2018) sebaliknya mengingatkan risiko toleransi berlebih, sebab sebagian praktik dan tradisi memang tidak layak ditoleransi.</a:t>
            </a:r>
            <a:endParaRPr lang="en-US" sz="1200" dirty="0"/>
          </a:p>
        </p:txBody>
      </p:sp>
      <p:sp>
        <p:nvSpPr>
          <p:cNvPr id="19" name="Text 17"/>
          <p:cNvSpPr txBox="1"/>
          <p:nvPr/>
        </p:nvSpPr>
        <p:spPr>
          <a:xfrm>
            <a:off x="566928" y="6419088"/>
            <a:ext cx="10143439" cy="237744"/>
          </a:xfrm>
          <a:prstGeom prst="rect">
            <a:avLst/>
          </a:prstGeom>
          <a:noFill/>
          <a:ln/>
        </p:spPr>
        <p:txBody>
          <a:bodyPr wrap="square" lIns="0" tIns="0" rIns="0" bIns="0" rtlCol="0" anchor="ctr"/>
          <a:lstStyle/>
          <a:p>
            <a:pPr indent="0" marL="0">
              <a:buNone/>
            </a:pPr>
            <a:r>
              <a:rPr lang="en-US" sz="900" i="1" dirty="0">
                <a:solidFill>
                  <a:srgbClr val="6B7684"/>
                </a:solidFill>
                <a:latin typeface="Calibri" pitchFamily="34" charset="0"/>
                <a:ea typeface="Calibri" pitchFamily="34" charset="-122"/>
                <a:cs typeface="Calibri" pitchFamily="34" charset="-120"/>
              </a:rPr>
              <a:t>Crane dan Matten (2019), Bab 3, halaman 87 sampai 88.</a:t>
            </a:r>
            <a:endParaRPr lang="en-US" sz="900" dirty="0"/>
          </a:p>
        </p:txBody>
      </p:sp>
      <p:sp>
        <p:nvSpPr>
          <p:cNvPr id="20" name="Text 18"/>
          <p:cNvSpPr txBox="1"/>
          <p:nvPr/>
        </p:nvSpPr>
        <p:spPr>
          <a:xfrm>
            <a:off x="10893247" y="6419088"/>
            <a:ext cx="731520" cy="237744"/>
          </a:xfrm>
          <a:prstGeom prst="rect">
            <a:avLst/>
          </a:prstGeom>
          <a:noFill/>
          <a:ln/>
        </p:spPr>
        <p:txBody>
          <a:bodyPr wrap="square" lIns="0" tIns="0" rIns="0" bIns="0" rtlCol="0" anchor="ctr"/>
          <a:lstStyle/>
          <a:p>
            <a:pPr algn="r" indent="0" marL="0">
              <a:buNone/>
            </a:pPr>
            <a:r>
              <a:rPr lang="en-US" sz="1100" b="1" dirty="0">
                <a:solidFill>
                  <a:srgbClr val="6B7684"/>
                </a:solidFill>
                <a:latin typeface="Cambria" pitchFamily="34" charset="0"/>
                <a:ea typeface="Cambria" pitchFamily="34" charset="-122"/>
                <a:cs typeface="Cambria"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B8542A"/>
                </a:solidFill>
                <a:latin typeface="Calibri" pitchFamily="34" charset="0"/>
                <a:ea typeface="Calibri" pitchFamily="34" charset="-122"/>
                <a:cs typeface="Calibri" pitchFamily="34" charset="-120"/>
              </a:rPr>
              <a:t>03   KLASIFIKASI TEORI</a:t>
            </a:r>
            <a:endParaRPr lang="en-US" sz="1000" dirty="0"/>
          </a:p>
        </p:txBody>
      </p:sp>
      <p:sp>
        <p:nvSpPr>
          <p:cNvPr id="3" name="Text 1"/>
          <p:cNvSpPr txBox="1"/>
          <p:nvPr/>
        </p:nvSpPr>
        <p:spPr>
          <a:xfrm>
            <a:off x="566928" y="585216"/>
            <a:ext cx="11057839" cy="548640"/>
          </a:xfrm>
          <a:prstGeom prst="rect">
            <a:avLst/>
          </a:prstGeom>
          <a:noFill/>
          <a:ln/>
        </p:spPr>
        <p:txBody>
          <a:bodyPr wrap="square" lIns="0" tIns="0" rIns="0" bIns="0" rtlCol="0" anchor="ctr"/>
          <a:lstStyle/>
          <a:p>
            <a:pPr indent="0" marL="0">
              <a:buNone/>
            </a:pPr>
            <a:r>
              <a:rPr lang="en-US" sz="2800" b="1" dirty="0">
                <a:solidFill>
                  <a:srgbClr val="16202A"/>
                </a:solidFill>
                <a:latin typeface="Cambria" pitchFamily="34" charset="0"/>
                <a:ea typeface="Cambria" pitchFamily="34" charset="-122"/>
                <a:cs typeface="Cambria" pitchFamily="34" charset="-120"/>
              </a:rPr>
              <a:t>Klasifikasi sembilan teori etika normatif</a:t>
            </a:r>
            <a:endParaRPr lang="en-US" sz="2800" dirty="0"/>
          </a:p>
        </p:txBody>
      </p:sp>
      <p:sp>
        <p:nvSpPr>
          <p:cNvPr id="4" name="Text 2"/>
          <p:cNvSpPr txBox="1"/>
          <p:nvPr/>
        </p:nvSpPr>
        <p:spPr>
          <a:xfrm>
            <a:off x="566928" y="1170432"/>
            <a:ext cx="11057839" cy="310896"/>
          </a:xfrm>
          <a:prstGeom prst="rect">
            <a:avLst/>
          </a:prstGeom>
          <a:noFill/>
          <a:ln/>
        </p:spPr>
        <p:txBody>
          <a:bodyPr wrap="square" lIns="0" tIns="0" rIns="0" bIns="0" rtlCol="0" anchor="t"/>
          <a:lstStyle/>
          <a:p>
            <a:pPr indent="0" marL="0">
              <a:lnSpc>
                <a:spcPct val="110000"/>
              </a:lnSpc>
              <a:buNone/>
            </a:pPr>
            <a:r>
              <a:rPr lang="en-US" sz="1250" dirty="0">
                <a:solidFill>
                  <a:srgbClr val="6B7684"/>
                </a:solidFill>
                <a:latin typeface="Calibri" pitchFamily="34" charset="0"/>
                <a:ea typeface="Calibri" pitchFamily="34" charset="-122"/>
                <a:cs typeface="Calibri" pitchFamily="34" charset="-120"/>
              </a:rPr>
              <a:t>Klasifikasi pertama menilai tindakan. Klasifikasi kedua menilai pelaku, relasi, prosedur, dan bahasa.</a:t>
            </a:r>
            <a:endParaRPr lang="en-US" sz="1250" dirty="0"/>
          </a:p>
        </p:txBody>
      </p:sp>
      <p:sp>
        <p:nvSpPr>
          <p:cNvPr id="5" name="Shape 3"/>
          <p:cNvSpPr/>
          <p:nvPr/>
        </p:nvSpPr>
        <p:spPr>
          <a:xfrm>
            <a:off x="566928" y="1792224"/>
            <a:ext cx="6903720" cy="4005072"/>
          </a:xfrm>
          <a:prstGeom prst="roundRect">
            <a:avLst>
              <a:gd name="adj" fmla="val 2055"/>
            </a:avLst>
          </a:prstGeom>
          <a:solidFill>
            <a:srgbClr val="F1F3F5"/>
          </a:solidFill>
          <a:ln w="12700">
            <a:solidFill>
              <a:srgbClr val="F1F3F5"/>
            </a:solidFill>
            <a:prstDash val="solid"/>
          </a:ln>
        </p:spPr>
      </p:sp>
      <p:sp>
        <p:nvSpPr>
          <p:cNvPr id="6" name="Text 4"/>
          <p:cNvSpPr txBox="1"/>
          <p:nvPr/>
        </p:nvSpPr>
        <p:spPr>
          <a:xfrm>
            <a:off x="877824" y="1993392"/>
            <a:ext cx="6309360" cy="219456"/>
          </a:xfrm>
          <a:prstGeom prst="rect">
            <a:avLst/>
          </a:prstGeom>
          <a:noFill/>
          <a:ln/>
        </p:spPr>
        <p:txBody>
          <a:bodyPr wrap="square" lIns="0" tIns="0" rIns="0" bIns="0" rtlCol="0" anchor="ctr"/>
          <a:lstStyle/>
          <a:p>
            <a:pPr indent="0" marL="0">
              <a:buNone/>
            </a:pPr>
            <a:r>
              <a:rPr lang="en-US" sz="950" b="1" spc="120" kern="0" dirty="0">
                <a:solidFill>
                  <a:srgbClr val="B8542A"/>
                </a:solidFill>
                <a:latin typeface="Calibri" pitchFamily="34" charset="0"/>
                <a:ea typeface="Calibri" pitchFamily="34" charset="-122"/>
                <a:cs typeface="Calibri" pitchFamily="34" charset="-120"/>
              </a:rPr>
              <a:t>KLASIFIKASI I   |   TEORI MODERNIS BARAT</a:t>
            </a:r>
            <a:endParaRPr lang="en-US" sz="950" dirty="0"/>
          </a:p>
        </p:txBody>
      </p:sp>
      <p:sp>
        <p:nvSpPr>
          <p:cNvPr id="7" name="Text 5"/>
          <p:cNvSpPr txBox="1"/>
          <p:nvPr/>
        </p:nvSpPr>
        <p:spPr>
          <a:xfrm>
            <a:off x="877824" y="2267712"/>
            <a:ext cx="6309360" cy="603504"/>
          </a:xfrm>
          <a:prstGeom prst="rect">
            <a:avLst/>
          </a:prstGeom>
          <a:noFill/>
          <a:ln/>
        </p:spPr>
        <p:txBody>
          <a:bodyPr wrap="square" lIns="0" tIns="0" rIns="0" bIns="0" rtlCol="0" anchor="t"/>
          <a:lstStyle/>
          <a:p>
            <a:pPr indent="0" marL="0">
              <a:lnSpc>
                <a:spcPct val="110000"/>
              </a:lnSpc>
              <a:buNone/>
            </a:pPr>
            <a:r>
              <a:rPr lang="en-US" sz="1150" dirty="0">
                <a:solidFill>
                  <a:srgbClr val="2C3540"/>
                </a:solidFill>
                <a:latin typeface="Calibri" pitchFamily="34" charset="0"/>
                <a:ea typeface="Calibri" pitchFamily="34" charset="-122"/>
                <a:cs typeface="Calibri" pitchFamily="34" charset="-120"/>
              </a:rPr>
              <a:t>Berakar pada Pencerahan abad ke-18, bersifat absolutis, dan menawarkan aturan yang dapat diterapkan pada situasi apa pun. Keunggulannya terletak pada solusi yang tidak mendua.</a:t>
            </a:r>
            <a:endParaRPr lang="en-US" sz="1150" dirty="0"/>
          </a:p>
        </p:txBody>
      </p:sp>
      <p:sp>
        <p:nvSpPr>
          <p:cNvPr id="8" name="Shape 6"/>
          <p:cNvSpPr/>
          <p:nvPr/>
        </p:nvSpPr>
        <p:spPr>
          <a:xfrm>
            <a:off x="877824" y="2944368"/>
            <a:ext cx="3108960" cy="1627632"/>
          </a:xfrm>
          <a:prstGeom prst="roundRect">
            <a:avLst>
              <a:gd name="adj" fmla="val 5056"/>
            </a:avLst>
          </a:prstGeom>
          <a:solidFill>
            <a:srgbClr val="FFFFFF"/>
          </a:solidFill>
          <a:ln w="12700">
            <a:solidFill>
              <a:srgbClr val="FFFFFF"/>
            </a:solidFill>
            <a:prstDash val="solid"/>
          </a:ln>
        </p:spPr>
      </p:sp>
      <p:sp>
        <p:nvSpPr>
          <p:cNvPr id="9" name="Shape 7"/>
          <p:cNvSpPr/>
          <p:nvPr/>
        </p:nvSpPr>
        <p:spPr>
          <a:xfrm>
            <a:off x="4169664" y="2944368"/>
            <a:ext cx="2990088" cy="1627632"/>
          </a:xfrm>
          <a:prstGeom prst="roundRect">
            <a:avLst>
              <a:gd name="adj" fmla="val 5056"/>
            </a:avLst>
          </a:prstGeom>
          <a:solidFill>
            <a:srgbClr val="FFFFFF"/>
          </a:solidFill>
          <a:ln w="12700">
            <a:solidFill>
              <a:srgbClr val="FFFFFF"/>
            </a:solidFill>
            <a:prstDash val="solid"/>
          </a:ln>
        </p:spPr>
      </p:sp>
      <p:sp>
        <p:nvSpPr>
          <p:cNvPr id="10" name="Text 8"/>
          <p:cNvSpPr txBox="1"/>
          <p:nvPr/>
        </p:nvSpPr>
        <p:spPr>
          <a:xfrm>
            <a:off x="1115568" y="3090672"/>
            <a:ext cx="2743200" cy="256032"/>
          </a:xfrm>
          <a:prstGeom prst="rect">
            <a:avLst/>
          </a:prstGeom>
          <a:noFill/>
          <a:ln/>
        </p:spPr>
        <p:txBody>
          <a:bodyPr wrap="square" lIns="0" tIns="0" rIns="0" bIns="0" rtlCol="0" anchor="ctr"/>
          <a:lstStyle/>
          <a:p>
            <a:pPr indent="0" marL="0">
              <a:buNone/>
            </a:pPr>
            <a:r>
              <a:rPr lang="en-US" sz="1000" b="1" spc="80" kern="0" dirty="0">
                <a:solidFill>
                  <a:srgbClr val="6B7684"/>
                </a:solidFill>
                <a:latin typeface="Calibri" pitchFamily="34" charset="0"/>
                <a:ea typeface="Calibri" pitchFamily="34" charset="-122"/>
                <a:cs typeface="Calibri" pitchFamily="34" charset="-120"/>
              </a:rPr>
              <a:t>Konsekuensialis</a:t>
            </a:r>
            <a:endParaRPr lang="en-US" sz="1000" dirty="0"/>
          </a:p>
        </p:txBody>
      </p:sp>
      <p:sp>
        <p:nvSpPr>
          <p:cNvPr id="11" name="Text 9"/>
          <p:cNvSpPr txBox="1"/>
          <p:nvPr/>
        </p:nvSpPr>
        <p:spPr>
          <a:xfrm>
            <a:off x="1115568" y="3328416"/>
            <a:ext cx="2743200" cy="237744"/>
          </a:xfrm>
          <a:prstGeom prst="rect">
            <a:avLst/>
          </a:prstGeom>
          <a:noFill/>
          <a:ln/>
        </p:spPr>
        <p:txBody>
          <a:bodyPr wrap="square" lIns="0" tIns="0" rIns="0" bIns="0" rtlCol="0" anchor="ctr"/>
          <a:lstStyle/>
          <a:p>
            <a:pPr indent="0" marL="0">
              <a:buNone/>
            </a:pPr>
            <a:r>
              <a:rPr lang="en-US" sz="1050" i="1" dirty="0">
                <a:solidFill>
                  <a:srgbClr val="6B7684"/>
                </a:solidFill>
                <a:latin typeface="Calibri" pitchFamily="34" charset="0"/>
                <a:ea typeface="Calibri" pitchFamily="34" charset="-122"/>
                <a:cs typeface="Calibri" pitchFamily="34" charset="-120"/>
              </a:rPr>
              <a:t>Teleologis, menilai akibat tindakan</a:t>
            </a:r>
            <a:endParaRPr lang="en-US" sz="1050" dirty="0"/>
          </a:p>
        </p:txBody>
      </p:sp>
      <p:sp>
        <p:nvSpPr>
          <p:cNvPr id="12" name="Text 10"/>
          <p:cNvSpPr txBox="1"/>
          <p:nvPr/>
        </p:nvSpPr>
        <p:spPr>
          <a:xfrm>
            <a:off x="4407408" y="3090672"/>
            <a:ext cx="2651760" cy="256032"/>
          </a:xfrm>
          <a:prstGeom prst="rect">
            <a:avLst/>
          </a:prstGeom>
          <a:noFill/>
          <a:ln/>
        </p:spPr>
        <p:txBody>
          <a:bodyPr wrap="square" lIns="0" tIns="0" rIns="0" bIns="0" rtlCol="0" anchor="ctr"/>
          <a:lstStyle/>
          <a:p>
            <a:pPr indent="0" marL="0">
              <a:buNone/>
            </a:pPr>
            <a:r>
              <a:rPr lang="en-US" sz="1000" b="1" spc="80" kern="0" dirty="0">
                <a:solidFill>
                  <a:srgbClr val="6B7684"/>
                </a:solidFill>
                <a:latin typeface="Calibri" pitchFamily="34" charset="0"/>
                <a:ea typeface="Calibri" pitchFamily="34" charset="-122"/>
                <a:cs typeface="Calibri" pitchFamily="34" charset="-120"/>
              </a:rPr>
              <a:t>Berbasis prinsip</a:t>
            </a:r>
            <a:endParaRPr lang="en-US" sz="1000" dirty="0"/>
          </a:p>
        </p:txBody>
      </p:sp>
      <p:sp>
        <p:nvSpPr>
          <p:cNvPr id="13" name="Text 11"/>
          <p:cNvSpPr txBox="1"/>
          <p:nvPr/>
        </p:nvSpPr>
        <p:spPr>
          <a:xfrm>
            <a:off x="4407408" y="3328416"/>
            <a:ext cx="2651760" cy="237744"/>
          </a:xfrm>
          <a:prstGeom prst="rect">
            <a:avLst/>
          </a:prstGeom>
          <a:noFill/>
          <a:ln/>
        </p:spPr>
        <p:txBody>
          <a:bodyPr wrap="square" lIns="0" tIns="0" rIns="0" bIns="0" rtlCol="0" anchor="ctr"/>
          <a:lstStyle/>
          <a:p>
            <a:pPr indent="0" marL="0">
              <a:buNone/>
            </a:pPr>
            <a:r>
              <a:rPr lang="en-US" sz="1050" i="1" dirty="0">
                <a:solidFill>
                  <a:srgbClr val="6B7684"/>
                </a:solidFill>
                <a:latin typeface="Calibri" pitchFamily="34" charset="0"/>
                <a:ea typeface="Calibri" pitchFamily="34" charset="-122"/>
                <a:cs typeface="Calibri" pitchFamily="34" charset="-120"/>
              </a:rPr>
              <a:t>Deontologis, menilai kewajiban</a:t>
            </a:r>
            <a:endParaRPr lang="en-US" sz="1050" dirty="0"/>
          </a:p>
        </p:txBody>
      </p:sp>
      <p:sp>
        <p:nvSpPr>
          <p:cNvPr id="14" name="Shape 12"/>
          <p:cNvSpPr/>
          <p:nvPr/>
        </p:nvSpPr>
        <p:spPr>
          <a:xfrm>
            <a:off x="1115568" y="3657600"/>
            <a:ext cx="237744" cy="237744"/>
          </a:xfrm>
          <a:prstGeom prst="roundRect">
            <a:avLst>
              <a:gd name="adj" fmla="val 26923"/>
            </a:avLst>
          </a:prstGeom>
          <a:solidFill>
            <a:srgbClr val="B8542A"/>
          </a:solidFill>
          <a:ln w="12700">
            <a:solidFill>
              <a:srgbClr val="B8542A"/>
            </a:solidFill>
            <a:prstDash val="solid"/>
          </a:ln>
        </p:spPr>
      </p:sp>
      <p:sp>
        <p:nvSpPr>
          <p:cNvPr id="15" name="Text 13"/>
          <p:cNvSpPr txBox="1"/>
          <p:nvPr/>
        </p:nvSpPr>
        <p:spPr>
          <a:xfrm>
            <a:off x="1115568" y="3657600"/>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6" name="Text 14"/>
          <p:cNvSpPr txBox="1"/>
          <p:nvPr/>
        </p:nvSpPr>
        <p:spPr>
          <a:xfrm>
            <a:off x="1435608" y="3657600"/>
            <a:ext cx="2377440" cy="237744"/>
          </a:xfrm>
          <a:prstGeom prst="rect">
            <a:avLst/>
          </a:prstGeom>
          <a:noFill/>
          <a:ln/>
        </p:spPr>
        <p:txBody>
          <a:bodyPr wrap="square" lIns="0" tIns="0" rIns="0" bIns="0" rtlCol="0" anchor="ctr"/>
          <a:lstStyle/>
          <a:p>
            <a:pPr indent="0" marL="0">
              <a:buNone/>
            </a:pPr>
            <a:r>
              <a:rPr lang="en-US" sz="1150" b="1" dirty="0">
                <a:solidFill>
                  <a:srgbClr val="16202A"/>
                </a:solidFill>
                <a:latin typeface="Calibri" pitchFamily="34" charset="0"/>
                <a:ea typeface="Calibri" pitchFamily="34" charset="-122"/>
                <a:cs typeface="Calibri" pitchFamily="34" charset="-120"/>
              </a:rPr>
              <a:t>Egoism</a:t>
            </a:r>
            <a:endParaRPr lang="en-US" sz="1150" dirty="0"/>
          </a:p>
        </p:txBody>
      </p:sp>
      <p:sp>
        <p:nvSpPr>
          <p:cNvPr id="17" name="Shape 15"/>
          <p:cNvSpPr/>
          <p:nvPr/>
        </p:nvSpPr>
        <p:spPr>
          <a:xfrm>
            <a:off x="1115568" y="3950208"/>
            <a:ext cx="237744" cy="237744"/>
          </a:xfrm>
          <a:prstGeom prst="roundRect">
            <a:avLst>
              <a:gd name="adj" fmla="val 26923"/>
            </a:avLst>
          </a:prstGeom>
          <a:solidFill>
            <a:srgbClr val="B8542A"/>
          </a:solidFill>
          <a:ln w="12700">
            <a:solidFill>
              <a:srgbClr val="B8542A"/>
            </a:solidFill>
            <a:prstDash val="solid"/>
          </a:ln>
        </p:spPr>
      </p:sp>
      <p:sp>
        <p:nvSpPr>
          <p:cNvPr id="18" name="Text 16"/>
          <p:cNvSpPr txBox="1"/>
          <p:nvPr/>
        </p:nvSpPr>
        <p:spPr>
          <a:xfrm>
            <a:off x="1115568" y="3950208"/>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9" name="Text 17"/>
          <p:cNvSpPr txBox="1"/>
          <p:nvPr/>
        </p:nvSpPr>
        <p:spPr>
          <a:xfrm>
            <a:off x="1435608" y="3950208"/>
            <a:ext cx="2377440" cy="237744"/>
          </a:xfrm>
          <a:prstGeom prst="rect">
            <a:avLst/>
          </a:prstGeom>
          <a:noFill/>
          <a:ln/>
        </p:spPr>
        <p:txBody>
          <a:bodyPr wrap="square" lIns="0" tIns="0" rIns="0" bIns="0" rtlCol="0" anchor="ctr"/>
          <a:lstStyle/>
          <a:p>
            <a:pPr indent="0" marL="0">
              <a:buNone/>
            </a:pPr>
            <a:r>
              <a:rPr lang="en-US" sz="1150" b="1" dirty="0">
                <a:solidFill>
                  <a:srgbClr val="16202A"/>
                </a:solidFill>
                <a:latin typeface="Calibri" pitchFamily="34" charset="0"/>
                <a:ea typeface="Calibri" pitchFamily="34" charset="-122"/>
                <a:cs typeface="Calibri" pitchFamily="34" charset="-120"/>
              </a:rPr>
              <a:t>Utilitarianism</a:t>
            </a:r>
            <a:endParaRPr lang="en-US" sz="1150" dirty="0"/>
          </a:p>
        </p:txBody>
      </p:sp>
      <p:sp>
        <p:nvSpPr>
          <p:cNvPr id="20" name="Shape 18"/>
          <p:cNvSpPr/>
          <p:nvPr/>
        </p:nvSpPr>
        <p:spPr>
          <a:xfrm>
            <a:off x="4407408" y="3657600"/>
            <a:ext cx="237744" cy="237744"/>
          </a:xfrm>
          <a:prstGeom prst="roundRect">
            <a:avLst>
              <a:gd name="adj" fmla="val 26923"/>
            </a:avLst>
          </a:prstGeom>
          <a:solidFill>
            <a:srgbClr val="B8542A"/>
          </a:solidFill>
          <a:ln w="12700">
            <a:solidFill>
              <a:srgbClr val="B8542A"/>
            </a:solidFill>
            <a:prstDash val="solid"/>
          </a:ln>
        </p:spPr>
      </p:sp>
      <p:sp>
        <p:nvSpPr>
          <p:cNvPr id="21" name="Text 19"/>
          <p:cNvSpPr txBox="1"/>
          <p:nvPr/>
        </p:nvSpPr>
        <p:spPr>
          <a:xfrm>
            <a:off x="4407408" y="3657600"/>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2" name="Text 20"/>
          <p:cNvSpPr txBox="1"/>
          <p:nvPr/>
        </p:nvSpPr>
        <p:spPr>
          <a:xfrm>
            <a:off x="4727448" y="3657600"/>
            <a:ext cx="2377440" cy="237744"/>
          </a:xfrm>
          <a:prstGeom prst="rect">
            <a:avLst/>
          </a:prstGeom>
          <a:noFill/>
          <a:ln/>
        </p:spPr>
        <p:txBody>
          <a:bodyPr wrap="square" lIns="0" tIns="0" rIns="0" bIns="0" rtlCol="0" anchor="ctr"/>
          <a:lstStyle/>
          <a:p>
            <a:pPr indent="0" marL="0">
              <a:buNone/>
            </a:pPr>
            <a:r>
              <a:rPr lang="en-US" sz="1150" b="1" dirty="0">
                <a:solidFill>
                  <a:srgbClr val="16202A"/>
                </a:solidFill>
                <a:latin typeface="Calibri" pitchFamily="34" charset="0"/>
                <a:ea typeface="Calibri" pitchFamily="34" charset="-122"/>
                <a:cs typeface="Calibri" pitchFamily="34" charset="-120"/>
              </a:rPr>
              <a:t>Ethics of duty</a:t>
            </a:r>
            <a:endParaRPr lang="en-US" sz="1150" dirty="0"/>
          </a:p>
        </p:txBody>
      </p:sp>
      <p:sp>
        <p:nvSpPr>
          <p:cNvPr id="23" name="Shape 21"/>
          <p:cNvSpPr/>
          <p:nvPr/>
        </p:nvSpPr>
        <p:spPr>
          <a:xfrm>
            <a:off x="4407408" y="3950208"/>
            <a:ext cx="237744" cy="237744"/>
          </a:xfrm>
          <a:prstGeom prst="roundRect">
            <a:avLst>
              <a:gd name="adj" fmla="val 26923"/>
            </a:avLst>
          </a:prstGeom>
          <a:solidFill>
            <a:srgbClr val="B8542A"/>
          </a:solidFill>
          <a:ln w="12700">
            <a:solidFill>
              <a:srgbClr val="B8542A"/>
            </a:solidFill>
            <a:prstDash val="solid"/>
          </a:ln>
        </p:spPr>
      </p:sp>
      <p:sp>
        <p:nvSpPr>
          <p:cNvPr id="24" name="Text 22"/>
          <p:cNvSpPr txBox="1"/>
          <p:nvPr/>
        </p:nvSpPr>
        <p:spPr>
          <a:xfrm>
            <a:off x="4407408" y="3950208"/>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5" name="Text 23"/>
          <p:cNvSpPr txBox="1"/>
          <p:nvPr/>
        </p:nvSpPr>
        <p:spPr>
          <a:xfrm>
            <a:off x="4727448" y="3950208"/>
            <a:ext cx="2377440" cy="237744"/>
          </a:xfrm>
          <a:prstGeom prst="rect">
            <a:avLst/>
          </a:prstGeom>
          <a:noFill/>
          <a:ln/>
        </p:spPr>
        <p:txBody>
          <a:bodyPr wrap="square" lIns="0" tIns="0" rIns="0" bIns="0" rtlCol="0" anchor="ctr"/>
          <a:lstStyle/>
          <a:p>
            <a:pPr indent="0" marL="0">
              <a:buNone/>
            </a:pPr>
            <a:r>
              <a:rPr lang="en-US" sz="1150" b="1" dirty="0">
                <a:solidFill>
                  <a:srgbClr val="16202A"/>
                </a:solidFill>
                <a:latin typeface="Calibri" pitchFamily="34" charset="0"/>
                <a:ea typeface="Calibri" pitchFamily="34" charset="-122"/>
                <a:cs typeface="Calibri" pitchFamily="34" charset="-120"/>
              </a:rPr>
              <a:t>Ethics of rights</a:t>
            </a:r>
            <a:endParaRPr lang="en-US" sz="1150" dirty="0"/>
          </a:p>
        </p:txBody>
      </p:sp>
      <p:sp>
        <p:nvSpPr>
          <p:cNvPr id="26" name="Shape 24"/>
          <p:cNvSpPr/>
          <p:nvPr/>
        </p:nvSpPr>
        <p:spPr>
          <a:xfrm>
            <a:off x="4407408" y="4242816"/>
            <a:ext cx="237744" cy="237744"/>
          </a:xfrm>
          <a:prstGeom prst="roundRect">
            <a:avLst>
              <a:gd name="adj" fmla="val 26923"/>
            </a:avLst>
          </a:prstGeom>
          <a:solidFill>
            <a:srgbClr val="B8542A"/>
          </a:solidFill>
          <a:ln w="12700">
            <a:solidFill>
              <a:srgbClr val="B8542A"/>
            </a:solidFill>
            <a:prstDash val="solid"/>
          </a:ln>
        </p:spPr>
      </p:sp>
      <p:sp>
        <p:nvSpPr>
          <p:cNvPr id="27" name="Text 25"/>
          <p:cNvSpPr txBox="1"/>
          <p:nvPr/>
        </p:nvSpPr>
        <p:spPr>
          <a:xfrm>
            <a:off x="4407408" y="4242816"/>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8" name="Text 26"/>
          <p:cNvSpPr txBox="1"/>
          <p:nvPr/>
        </p:nvSpPr>
        <p:spPr>
          <a:xfrm>
            <a:off x="4727448" y="4242816"/>
            <a:ext cx="2377440" cy="237744"/>
          </a:xfrm>
          <a:prstGeom prst="rect">
            <a:avLst/>
          </a:prstGeom>
          <a:noFill/>
          <a:ln/>
        </p:spPr>
        <p:txBody>
          <a:bodyPr wrap="square" lIns="0" tIns="0" rIns="0" bIns="0" rtlCol="0" anchor="ctr"/>
          <a:lstStyle/>
          <a:p>
            <a:pPr indent="0" marL="0">
              <a:buNone/>
            </a:pPr>
            <a:r>
              <a:rPr lang="en-US" sz="1150" b="1" dirty="0">
                <a:solidFill>
                  <a:srgbClr val="16202A"/>
                </a:solidFill>
                <a:latin typeface="Calibri" pitchFamily="34" charset="0"/>
                <a:ea typeface="Calibri" pitchFamily="34" charset="-122"/>
                <a:cs typeface="Calibri" pitchFamily="34" charset="-120"/>
              </a:rPr>
              <a:t>Justice dan social contract</a:t>
            </a:r>
            <a:endParaRPr lang="en-US" sz="1150" dirty="0"/>
          </a:p>
        </p:txBody>
      </p:sp>
      <p:sp>
        <p:nvSpPr>
          <p:cNvPr id="29" name="Text 27"/>
          <p:cNvSpPr txBox="1"/>
          <p:nvPr/>
        </p:nvSpPr>
        <p:spPr>
          <a:xfrm>
            <a:off x="877824" y="4700016"/>
            <a:ext cx="6309360" cy="960120"/>
          </a:xfrm>
          <a:prstGeom prst="rect">
            <a:avLst/>
          </a:prstGeom>
          <a:noFill/>
          <a:ln/>
        </p:spPr>
        <p:txBody>
          <a:bodyPr wrap="square" lIns="0" tIns="0" rIns="0" bIns="0" rtlCol="0" anchor="t"/>
          <a:lstStyle/>
          <a:p>
            <a:pPr indent="0" marL="0">
              <a:lnSpc>
                <a:spcPct val="114000"/>
              </a:lnSpc>
              <a:buNone/>
            </a:pPr>
            <a:r>
              <a:rPr lang="en-US" sz="1150" dirty="0">
                <a:solidFill>
                  <a:srgbClr val="2C3540"/>
                </a:solidFill>
                <a:latin typeface="Calibri" pitchFamily="34" charset="0"/>
                <a:ea typeface="Calibri" pitchFamily="34" charset="-122"/>
                <a:cs typeface="Calibri" pitchFamily="34" charset="-120"/>
              </a:rPr>
              <a:t>Seluruh teori ini bersifat normatif karena berangkat dari asumsi tentang hakikat dunia dan hakikat manusia. Penerimaan atas kesimpulannya bergantung pada penerimaan atas asumsi tersebut.</a:t>
            </a:r>
            <a:endParaRPr lang="en-US" sz="1150" dirty="0"/>
          </a:p>
        </p:txBody>
      </p:sp>
      <p:sp>
        <p:nvSpPr>
          <p:cNvPr id="30" name="Shape 28"/>
          <p:cNvSpPr/>
          <p:nvPr/>
        </p:nvSpPr>
        <p:spPr>
          <a:xfrm>
            <a:off x="7836408" y="1792224"/>
            <a:ext cx="3785616" cy="4005072"/>
          </a:xfrm>
          <a:prstGeom prst="roundRect">
            <a:avLst>
              <a:gd name="adj" fmla="val 2174"/>
            </a:avLst>
          </a:prstGeom>
          <a:solidFill>
            <a:srgbClr val="16202A"/>
          </a:solidFill>
          <a:ln w="12700">
            <a:solidFill>
              <a:srgbClr val="16202A"/>
            </a:solidFill>
            <a:prstDash val="solid"/>
          </a:ln>
        </p:spPr>
      </p:sp>
      <p:sp>
        <p:nvSpPr>
          <p:cNvPr id="31" name="Text 29"/>
          <p:cNvSpPr txBox="1"/>
          <p:nvPr/>
        </p:nvSpPr>
        <p:spPr>
          <a:xfrm>
            <a:off x="8147304" y="1993392"/>
            <a:ext cx="3200400" cy="219456"/>
          </a:xfrm>
          <a:prstGeom prst="rect">
            <a:avLst/>
          </a:prstGeom>
          <a:noFill/>
          <a:ln/>
        </p:spPr>
        <p:txBody>
          <a:bodyPr wrap="square" lIns="0" tIns="0" rIns="0" bIns="0" rtlCol="0" anchor="ctr"/>
          <a:lstStyle/>
          <a:p>
            <a:pPr indent="0" marL="0">
              <a:buNone/>
            </a:pPr>
            <a:r>
              <a:rPr lang="en-US" sz="950" b="1" spc="120" kern="0" dirty="0">
                <a:solidFill>
                  <a:srgbClr val="97A3AE"/>
                </a:solidFill>
                <a:latin typeface="Calibri" pitchFamily="34" charset="0"/>
                <a:ea typeface="Calibri" pitchFamily="34" charset="-122"/>
                <a:cs typeface="Calibri" pitchFamily="34" charset="-120"/>
              </a:rPr>
              <a:t>KLASIFIKASI II   |   TEORI ALTERNATIF</a:t>
            </a:r>
            <a:endParaRPr lang="en-US" sz="950" dirty="0"/>
          </a:p>
        </p:txBody>
      </p:sp>
      <p:sp>
        <p:nvSpPr>
          <p:cNvPr id="32" name="Text 30"/>
          <p:cNvSpPr txBox="1"/>
          <p:nvPr/>
        </p:nvSpPr>
        <p:spPr>
          <a:xfrm>
            <a:off x="8147304" y="2249424"/>
            <a:ext cx="3200400"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Teori kontemporer</a:t>
            </a:r>
            <a:endParaRPr lang="en-US" sz="1600" dirty="0"/>
          </a:p>
        </p:txBody>
      </p:sp>
      <p:sp>
        <p:nvSpPr>
          <p:cNvPr id="33" name="Text 31"/>
          <p:cNvSpPr txBox="1"/>
          <p:nvPr/>
        </p:nvSpPr>
        <p:spPr>
          <a:xfrm>
            <a:off x="8147304" y="2596896"/>
            <a:ext cx="3200400" cy="841248"/>
          </a:xfrm>
          <a:prstGeom prst="rect">
            <a:avLst/>
          </a:prstGeom>
          <a:noFill/>
          <a:ln/>
        </p:spPr>
        <p:txBody>
          <a:bodyPr wrap="square" lIns="0" tIns="0" rIns="0" bIns="0" rtlCol="0" anchor="t"/>
          <a:lstStyle/>
          <a:p>
            <a:pPr indent="0" marL="0">
              <a:lnSpc>
                <a:spcPct val="114000"/>
              </a:lnSpc>
              <a:buNone/>
            </a:pPr>
            <a:r>
              <a:rPr lang="en-US" sz="1150" dirty="0">
                <a:solidFill>
                  <a:srgbClr val="C6CFD8"/>
                </a:solidFill>
                <a:latin typeface="Calibri" pitchFamily="34" charset="0"/>
                <a:ea typeface="Calibri" pitchFamily="34" charset="-122"/>
                <a:cs typeface="Calibri" pitchFamily="34" charset="-120"/>
              </a:rPr>
              <a:t>Cenderung relativis. Lahir dari keberatan atas klasifikasi pertama, dan menyoroti dimensi yang tidak tertangkap oleh aturan universal.</a:t>
            </a:r>
            <a:endParaRPr lang="en-US" sz="1150" dirty="0"/>
          </a:p>
        </p:txBody>
      </p:sp>
      <p:sp>
        <p:nvSpPr>
          <p:cNvPr id="34" name="Shape 32"/>
          <p:cNvSpPr/>
          <p:nvPr/>
        </p:nvSpPr>
        <p:spPr>
          <a:xfrm>
            <a:off x="8147304" y="3529584"/>
            <a:ext cx="274320" cy="274320"/>
          </a:xfrm>
          <a:prstGeom prst="roundRect">
            <a:avLst>
              <a:gd name="adj" fmla="val 23333"/>
            </a:avLst>
          </a:prstGeom>
          <a:solidFill>
            <a:srgbClr val="2E6F63"/>
          </a:solidFill>
          <a:ln w="12700">
            <a:solidFill>
              <a:srgbClr val="2E6F63"/>
            </a:solidFill>
            <a:prstDash val="solid"/>
          </a:ln>
        </p:spPr>
      </p:sp>
      <p:sp>
        <p:nvSpPr>
          <p:cNvPr id="35" name="Text 33"/>
          <p:cNvSpPr txBox="1"/>
          <p:nvPr/>
        </p:nvSpPr>
        <p:spPr>
          <a:xfrm>
            <a:off x="8147304" y="3529584"/>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6" name="Text 34"/>
          <p:cNvSpPr txBox="1"/>
          <p:nvPr/>
        </p:nvSpPr>
        <p:spPr>
          <a:xfrm>
            <a:off x="8503920" y="3511296"/>
            <a:ext cx="283464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Virtue ethics</a:t>
            </a:r>
            <a:endParaRPr lang="en-US" sz="1250" dirty="0"/>
          </a:p>
        </p:txBody>
      </p:sp>
      <p:sp>
        <p:nvSpPr>
          <p:cNvPr id="37" name="Text 35"/>
          <p:cNvSpPr txBox="1"/>
          <p:nvPr/>
        </p:nvSpPr>
        <p:spPr>
          <a:xfrm>
            <a:off x="8503920" y="3749040"/>
            <a:ext cx="2834640" cy="219456"/>
          </a:xfrm>
          <a:prstGeom prst="rect">
            <a:avLst/>
          </a:prstGeom>
          <a:noFill/>
          <a:ln/>
        </p:spPr>
        <p:txBody>
          <a:bodyPr wrap="square" lIns="0" tIns="0" rIns="0" bIns="0" rtlCol="0" anchor="ctr"/>
          <a:lstStyle/>
          <a:p>
            <a:pPr indent="0" marL="0">
              <a:buNone/>
            </a:pPr>
            <a:r>
              <a:rPr lang="en-US" sz="1050" i="1" dirty="0">
                <a:solidFill>
                  <a:srgbClr val="97A3AE"/>
                </a:solidFill>
                <a:latin typeface="Calibri" pitchFamily="34" charset="0"/>
                <a:ea typeface="Calibri" pitchFamily="34" charset="-122"/>
                <a:cs typeface="Calibri" pitchFamily="34" charset="-120"/>
              </a:rPr>
              <a:t>Karakter pelaku</a:t>
            </a:r>
            <a:endParaRPr lang="en-US" sz="1050" dirty="0"/>
          </a:p>
        </p:txBody>
      </p:sp>
      <p:sp>
        <p:nvSpPr>
          <p:cNvPr id="38" name="Shape 36"/>
          <p:cNvSpPr/>
          <p:nvPr/>
        </p:nvSpPr>
        <p:spPr>
          <a:xfrm>
            <a:off x="8147304" y="4078224"/>
            <a:ext cx="274320" cy="274320"/>
          </a:xfrm>
          <a:prstGeom prst="roundRect">
            <a:avLst>
              <a:gd name="adj" fmla="val 23333"/>
            </a:avLst>
          </a:prstGeom>
          <a:solidFill>
            <a:srgbClr val="2E6F63"/>
          </a:solidFill>
          <a:ln w="12700">
            <a:solidFill>
              <a:srgbClr val="2E6F63"/>
            </a:solidFill>
            <a:prstDash val="solid"/>
          </a:ln>
        </p:spPr>
      </p:sp>
      <p:sp>
        <p:nvSpPr>
          <p:cNvPr id="39" name="Text 37"/>
          <p:cNvSpPr txBox="1"/>
          <p:nvPr/>
        </p:nvSpPr>
        <p:spPr>
          <a:xfrm>
            <a:off x="8147304" y="4078224"/>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7</a:t>
            </a:r>
            <a:endParaRPr lang="en-US" sz="1300" dirty="0"/>
          </a:p>
        </p:txBody>
      </p:sp>
      <p:sp>
        <p:nvSpPr>
          <p:cNvPr id="40" name="Text 38"/>
          <p:cNvSpPr txBox="1"/>
          <p:nvPr/>
        </p:nvSpPr>
        <p:spPr>
          <a:xfrm>
            <a:off x="8503920" y="4059936"/>
            <a:ext cx="283464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Ethic of care</a:t>
            </a:r>
            <a:endParaRPr lang="en-US" sz="1250" dirty="0"/>
          </a:p>
        </p:txBody>
      </p:sp>
      <p:sp>
        <p:nvSpPr>
          <p:cNvPr id="41" name="Text 39"/>
          <p:cNvSpPr txBox="1"/>
          <p:nvPr/>
        </p:nvSpPr>
        <p:spPr>
          <a:xfrm>
            <a:off x="8503920" y="4297680"/>
            <a:ext cx="2834640" cy="219456"/>
          </a:xfrm>
          <a:prstGeom prst="rect">
            <a:avLst/>
          </a:prstGeom>
          <a:noFill/>
          <a:ln/>
        </p:spPr>
        <p:txBody>
          <a:bodyPr wrap="square" lIns="0" tIns="0" rIns="0" bIns="0" rtlCol="0" anchor="ctr"/>
          <a:lstStyle/>
          <a:p>
            <a:pPr indent="0" marL="0">
              <a:buNone/>
            </a:pPr>
            <a:r>
              <a:rPr lang="en-US" sz="1050" i="1" dirty="0">
                <a:solidFill>
                  <a:srgbClr val="97A3AE"/>
                </a:solidFill>
                <a:latin typeface="Calibri" pitchFamily="34" charset="0"/>
                <a:ea typeface="Calibri" pitchFamily="34" charset="-122"/>
                <a:cs typeface="Calibri" pitchFamily="34" charset="-120"/>
              </a:rPr>
              <a:t>Relasi dan tanggung jawab</a:t>
            </a:r>
            <a:endParaRPr lang="en-US" sz="1050" dirty="0"/>
          </a:p>
        </p:txBody>
      </p:sp>
      <p:sp>
        <p:nvSpPr>
          <p:cNvPr id="42" name="Shape 40"/>
          <p:cNvSpPr/>
          <p:nvPr/>
        </p:nvSpPr>
        <p:spPr>
          <a:xfrm>
            <a:off x="8147304" y="4626864"/>
            <a:ext cx="274320" cy="274320"/>
          </a:xfrm>
          <a:prstGeom prst="roundRect">
            <a:avLst>
              <a:gd name="adj" fmla="val 23333"/>
            </a:avLst>
          </a:prstGeom>
          <a:solidFill>
            <a:srgbClr val="2E6F63"/>
          </a:solidFill>
          <a:ln w="12700">
            <a:solidFill>
              <a:srgbClr val="2E6F63"/>
            </a:solidFill>
            <a:prstDash val="solid"/>
          </a:ln>
        </p:spPr>
      </p:sp>
      <p:sp>
        <p:nvSpPr>
          <p:cNvPr id="43" name="Text 41"/>
          <p:cNvSpPr txBox="1"/>
          <p:nvPr/>
        </p:nvSpPr>
        <p:spPr>
          <a:xfrm>
            <a:off x="8147304" y="4626864"/>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8</a:t>
            </a:r>
            <a:endParaRPr lang="en-US" sz="1300" dirty="0"/>
          </a:p>
        </p:txBody>
      </p:sp>
      <p:sp>
        <p:nvSpPr>
          <p:cNvPr id="44" name="Text 42"/>
          <p:cNvSpPr txBox="1"/>
          <p:nvPr/>
        </p:nvSpPr>
        <p:spPr>
          <a:xfrm>
            <a:off x="8503920" y="4608576"/>
            <a:ext cx="283464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Discourse ethics</a:t>
            </a:r>
            <a:endParaRPr lang="en-US" sz="1250" dirty="0"/>
          </a:p>
        </p:txBody>
      </p:sp>
      <p:sp>
        <p:nvSpPr>
          <p:cNvPr id="45" name="Text 43"/>
          <p:cNvSpPr txBox="1"/>
          <p:nvPr/>
        </p:nvSpPr>
        <p:spPr>
          <a:xfrm>
            <a:off x="8503920" y="4846320"/>
            <a:ext cx="2834640" cy="219456"/>
          </a:xfrm>
          <a:prstGeom prst="rect">
            <a:avLst/>
          </a:prstGeom>
          <a:noFill/>
          <a:ln/>
        </p:spPr>
        <p:txBody>
          <a:bodyPr wrap="square" lIns="0" tIns="0" rIns="0" bIns="0" rtlCol="0" anchor="ctr"/>
          <a:lstStyle/>
          <a:p>
            <a:pPr indent="0" marL="0">
              <a:buNone/>
            </a:pPr>
            <a:r>
              <a:rPr lang="en-US" sz="1050" i="1" dirty="0">
                <a:solidFill>
                  <a:srgbClr val="97A3AE"/>
                </a:solidFill>
                <a:latin typeface="Calibri" pitchFamily="34" charset="0"/>
                <a:ea typeface="Calibri" pitchFamily="34" charset="-122"/>
                <a:cs typeface="Calibri" pitchFamily="34" charset="-120"/>
              </a:rPr>
              <a:t>Prosedur perumusan norma</a:t>
            </a:r>
            <a:endParaRPr lang="en-US" sz="1050" dirty="0"/>
          </a:p>
        </p:txBody>
      </p:sp>
      <p:sp>
        <p:nvSpPr>
          <p:cNvPr id="46" name="Shape 44"/>
          <p:cNvSpPr/>
          <p:nvPr/>
        </p:nvSpPr>
        <p:spPr>
          <a:xfrm>
            <a:off x="8147304" y="5175504"/>
            <a:ext cx="274320" cy="274320"/>
          </a:xfrm>
          <a:prstGeom prst="roundRect">
            <a:avLst>
              <a:gd name="adj" fmla="val 23333"/>
            </a:avLst>
          </a:prstGeom>
          <a:solidFill>
            <a:srgbClr val="2E6F63"/>
          </a:solidFill>
          <a:ln w="12700">
            <a:solidFill>
              <a:srgbClr val="2E6F63"/>
            </a:solidFill>
            <a:prstDash val="solid"/>
          </a:ln>
        </p:spPr>
      </p:sp>
      <p:sp>
        <p:nvSpPr>
          <p:cNvPr id="47" name="Text 45"/>
          <p:cNvSpPr txBox="1"/>
          <p:nvPr/>
        </p:nvSpPr>
        <p:spPr>
          <a:xfrm>
            <a:off x="8147304" y="5175504"/>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9</a:t>
            </a:r>
            <a:endParaRPr lang="en-US" sz="1300" dirty="0"/>
          </a:p>
        </p:txBody>
      </p:sp>
      <p:sp>
        <p:nvSpPr>
          <p:cNvPr id="48" name="Text 46"/>
          <p:cNvSpPr txBox="1"/>
          <p:nvPr/>
        </p:nvSpPr>
        <p:spPr>
          <a:xfrm>
            <a:off x="8503920" y="5157216"/>
            <a:ext cx="283464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Postmodern ethics</a:t>
            </a:r>
            <a:endParaRPr lang="en-US" sz="1250" dirty="0"/>
          </a:p>
        </p:txBody>
      </p:sp>
      <p:sp>
        <p:nvSpPr>
          <p:cNvPr id="49" name="Text 47"/>
          <p:cNvSpPr txBox="1"/>
          <p:nvPr/>
        </p:nvSpPr>
        <p:spPr>
          <a:xfrm>
            <a:off x="8503920" y="5394960"/>
            <a:ext cx="2834640" cy="219456"/>
          </a:xfrm>
          <a:prstGeom prst="rect">
            <a:avLst/>
          </a:prstGeom>
          <a:noFill/>
          <a:ln/>
        </p:spPr>
        <p:txBody>
          <a:bodyPr wrap="square" lIns="0" tIns="0" rIns="0" bIns="0" rtlCol="0" anchor="ctr"/>
          <a:lstStyle/>
          <a:p>
            <a:pPr indent="0" marL="0">
              <a:buNone/>
            </a:pPr>
            <a:r>
              <a:rPr lang="en-US" sz="1050" i="1" dirty="0">
                <a:solidFill>
                  <a:srgbClr val="97A3AE"/>
                </a:solidFill>
                <a:latin typeface="Calibri" pitchFamily="34" charset="0"/>
                <a:ea typeface="Calibri" pitchFamily="34" charset="-122"/>
                <a:cs typeface="Calibri" pitchFamily="34" charset="-120"/>
              </a:rPr>
              <a:t>Bahasa dan dorongan moral</a:t>
            </a:r>
            <a:endParaRPr lang="en-US" sz="1050" dirty="0"/>
          </a:p>
        </p:txBody>
      </p:sp>
      <p:sp>
        <p:nvSpPr>
          <p:cNvPr id="50" name="Text 48"/>
          <p:cNvSpPr txBox="1"/>
          <p:nvPr/>
        </p:nvSpPr>
        <p:spPr>
          <a:xfrm>
            <a:off x="566928" y="6419088"/>
            <a:ext cx="10143439" cy="237744"/>
          </a:xfrm>
          <a:prstGeom prst="rect">
            <a:avLst/>
          </a:prstGeom>
          <a:noFill/>
          <a:ln/>
        </p:spPr>
        <p:txBody>
          <a:bodyPr wrap="square" lIns="0" tIns="0" rIns="0" bIns="0" rtlCol="0" anchor="ctr"/>
          <a:lstStyle/>
          <a:p>
            <a:pPr indent="0" marL="0">
              <a:buNone/>
            </a:pPr>
            <a:r>
              <a:rPr lang="en-US" sz="900" i="1" dirty="0">
                <a:solidFill>
                  <a:srgbClr val="6B7684"/>
                </a:solidFill>
                <a:latin typeface="Calibri" pitchFamily="34" charset="0"/>
                <a:ea typeface="Calibri" pitchFamily="34" charset="-122"/>
                <a:cs typeface="Calibri" pitchFamily="34" charset="-120"/>
              </a:rPr>
              <a:t>Crane dan Matten (2019), Tabel 3.1 dan Tabel 3.5.</a:t>
            </a:r>
            <a:endParaRPr lang="en-US" sz="900" dirty="0"/>
          </a:p>
        </p:txBody>
      </p:sp>
      <p:sp>
        <p:nvSpPr>
          <p:cNvPr id="51" name="Text 49"/>
          <p:cNvSpPr txBox="1"/>
          <p:nvPr/>
        </p:nvSpPr>
        <p:spPr>
          <a:xfrm>
            <a:off x="10893247" y="6419088"/>
            <a:ext cx="731520" cy="237744"/>
          </a:xfrm>
          <a:prstGeom prst="rect">
            <a:avLst/>
          </a:prstGeom>
          <a:noFill/>
          <a:ln/>
        </p:spPr>
        <p:txBody>
          <a:bodyPr wrap="square" lIns="0" tIns="0" rIns="0" bIns="0" rtlCol="0" anchor="ctr"/>
          <a:lstStyle/>
          <a:p>
            <a:pPr algn="r" indent="0" marL="0">
              <a:buNone/>
            </a:pPr>
            <a:r>
              <a:rPr lang="en-US" sz="1100" b="1" dirty="0">
                <a:solidFill>
                  <a:srgbClr val="6B7684"/>
                </a:solidFill>
                <a:latin typeface="Cambria" pitchFamily="34" charset="0"/>
                <a:ea typeface="Cambria" pitchFamily="34" charset="-122"/>
                <a:cs typeface="Cambria"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B8542A"/>
                </a:solidFill>
                <a:latin typeface="Calibri" pitchFamily="34" charset="0"/>
                <a:ea typeface="Calibri" pitchFamily="34" charset="-122"/>
                <a:cs typeface="Calibri" pitchFamily="34" charset="-120"/>
              </a:rPr>
              <a:t>04   TEORI MODERNIS BARAT   |   KONSEKUENSIALIS</a:t>
            </a:r>
            <a:endParaRPr lang="en-US" sz="1000" dirty="0"/>
          </a:p>
        </p:txBody>
      </p:sp>
      <p:sp>
        <p:nvSpPr>
          <p:cNvPr id="3" name="Text 1"/>
          <p:cNvSpPr txBox="1"/>
          <p:nvPr/>
        </p:nvSpPr>
        <p:spPr>
          <a:xfrm>
            <a:off x="566928" y="585216"/>
            <a:ext cx="11057839" cy="548640"/>
          </a:xfrm>
          <a:prstGeom prst="rect">
            <a:avLst/>
          </a:prstGeom>
          <a:noFill/>
          <a:ln/>
        </p:spPr>
        <p:txBody>
          <a:bodyPr wrap="square" lIns="0" tIns="0" rIns="0" bIns="0" rtlCol="0" anchor="ctr"/>
          <a:lstStyle/>
          <a:p>
            <a:pPr indent="0" marL="0">
              <a:buNone/>
            </a:pPr>
            <a:r>
              <a:rPr lang="en-US" sz="2800" b="1" dirty="0">
                <a:solidFill>
                  <a:srgbClr val="16202A"/>
                </a:solidFill>
                <a:latin typeface="Cambria" pitchFamily="34" charset="0"/>
                <a:ea typeface="Cambria" pitchFamily="34" charset="-122"/>
                <a:cs typeface="Cambria" pitchFamily="34" charset="-120"/>
              </a:rPr>
              <a:t>Etika kepentingan diri: ethical egoism</a:t>
            </a:r>
            <a:endParaRPr lang="en-US" sz="2800" dirty="0"/>
          </a:p>
        </p:txBody>
      </p:sp>
      <p:sp>
        <p:nvSpPr>
          <p:cNvPr id="4" name="Text 2"/>
          <p:cNvSpPr txBox="1"/>
          <p:nvPr/>
        </p:nvSpPr>
        <p:spPr>
          <a:xfrm>
            <a:off x="566928" y="1170432"/>
            <a:ext cx="11057839" cy="310896"/>
          </a:xfrm>
          <a:prstGeom prst="rect">
            <a:avLst/>
          </a:prstGeom>
          <a:noFill/>
          <a:ln/>
        </p:spPr>
        <p:txBody>
          <a:bodyPr wrap="square" lIns="0" tIns="0" rIns="0" bIns="0" rtlCol="0" anchor="t"/>
          <a:lstStyle/>
          <a:p>
            <a:pPr indent="0" marL="0">
              <a:lnSpc>
                <a:spcPct val="110000"/>
              </a:lnSpc>
              <a:buNone/>
            </a:pPr>
            <a:r>
              <a:rPr lang="en-US" sz="1250" dirty="0">
                <a:solidFill>
                  <a:srgbClr val="6B7684"/>
                </a:solidFill>
                <a:latin typeface="Calibri" pitchFamily="34" charset="0"/>
                <a:ea typeface="Calibri" pitchFamily="34" charset="-122"/>
                <a:cs typeface="Calibri" pitchFamily="34" charset="-120"/>
              </a:rPr>
              <a:t>Teori tertua sekaligus paling diperdebatkan. Sebagian penulis bahkan menolak mengategorikannya sebagai teori moral.</a:t>
            </a:r>
            <a:endParaRPr lang="en-US" sz="1250" dirty="0"/>
          </a:p>
        </p:txBody>
      </p:sp>
      <p:sp>
        <p:nvSpPr>
          <p:cNvPr id="5" name="Shape 3"/>
          <p:cNvSpPr/>
          <p:nvPr/>
        </p:nvSpPr>
        <p:spPr>
          <a:xfrm>
            <a:off x="566928" y="1792224"/>
            <a:ext cx="5120640" cy="1499616"/>
          </a:xfrm>
          <a:prstGeom prst="roundRect">
            <a:avLst>
              <a:gd name="adj" fmla="val 5488"/>
            </a:avLst>
          </a:prstGeom>
          <a:solidFill>
            <a:srgbClr val="16202A"/>
          </a:solidFill>
          <a:ln w="12700">
            <a:solidFill>
              <a:srgbClr val="16202A"/>
            </a:solidFill>
            <a:prstDash val="solid"/>
          </a:ln>
        </p:spPr>
      </p:sp>
      <p:sp>
        <p:nvSpPr>
          <p:cNvPr id="6" name="Shape 4"/>
          <p:cNvSpPr/>
          <p:nvPr/>
        </p:nvSpPr>
        <p:spPr>
          <a:xfrm>
            <a:off x="877824" y="1975104"/>
            <a:ext cx="365760" cy="365760"/>
          </a:xfrm>
          <a:prstGeom prst="roundRect">
            <a:avLst>
              <a:gd name="adj" fmla="val 17500"/>
            </a:avLst>
          </a:prstGeom>
          <a:solidFill>
            <a:srgbClr val="B8542A"/>
          </a:solidFill>
          <a:ln w="12700">
            <a:solidFill>
              <a:srgbClr val="B8542A"/>
            </a:solidFill>
            <a:prstDash val="solid"/>
          </a:ln>
        </p:spPr>
      </p:sp>
      <p:sp>
        <p:nvSpPr>
          <p:cNvPr id="7" name="Text 5"/>
          <p:cNvSpPr txBox="1"/>
          <p:nvPr/>
        </p:nvSpPr>
        <p:spPr>
          <a:xfrm>
            <a:off x="877824" y="19751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txBox="1"/>
          <p:nvPr/>
        </p:nvSpPr>
        <p:spPr>
          <a:xfrm>
            <a:off x="1335024" y="1975104"/>
            <a:ext cx="411480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Ethical egoism</a:t>
            </a:r>
            <a:endParaRPr lang="en-US" sz="1700" dirty="0"/>
          </a:p>
        </p:txBody>
      </p:sp>
      <p:sp>
        <p:nvSpPr>
          <p:cNvPr id="9" name="Text 7"/>
          <p:cNvSpPr txBox="1"/>
          <p:nvPr/>
        </p:nvSpPr>
        <p:spPr>
          <a:xfrm>
            <a:off x="877824" y="2395728"/>
            <a:ext cx="4526280" cy="804672"/>
          </a:xfrm>
          <a:prstGeom prst="rect">
            <a:avLst/>
          </a:prstGeom>
          <a:noFill/>
          <a:ln/>
        </p:spPr>
        <p:txBody>
          <a:bodyPr wrap="square" lIns="0" tIns="0" rIns="0" bIns="0" rtlCol="0" anchor="t"/>
          <a:lstStyle/>
          <a:p>
            <a:pPr indent="0" marL="0">
              <a:lnSpc>
                <a:spcPct val="114000"/>
              </a:lnSpc>
              <a:buNone/>
            </a:pPr>
            <a:r>
              <a:rPr lang="en-US" sz="1200" i="1" dirty="0">
                <a:solidFill>
                  <a:srgbClr val="D5DDE4"/>
                </a:solidFill>
                <a:latin typeface="Calibri" pitchFamily="34" charset="0"/>
                <a:ea typeface="Calibri" pitchFamily="34" charset="-122"/>
                <a:cs typeface="Calibri" pitchFamily="34" charset="-120"/>
              </a:rPr>
              <a:t>Sebuah tindakan benar secara moral jika dalam situasi tersebut semua pengambil keputusan secara bebas memilih mengejar keinginan jangka pendek atau kepentingan jangka panjangnya.</a:t>
            </a:r>
            <a:endParaRPr lang="en-US" sz="1200" dirty="0"/>
          </a:p>
        </p:txBody>
      </p:sp>
      <p:sp>
        <p:nvSpPr>
          <p:cNvPr id="10" name="Shape 8"/>
          <p:cNvSpPr/>
          <p:nvPr/>
        </p:nvSpPr>
        <p:spPr>
          <a:xfrm>
            <a:off x="566928" y="3566160"/>
            <a:ext cx="5120640" cy="2414016"/>
          </a:xfrm>
          <a:prstGeom prst="roundRect">
            <a:avLst>
              <a:gd name="adj" fmla="val 3409"/>
            </a:avLst>
          </a:prstGeom>
          <a:solidFill>
            <a:srgbClr val="F1F3F5"/>
          </a:solidFill>
          <a:ln w="12700">
            <a:solidFill>
              <a:srgbClr val="F1F3F5"/>
            </a:solidFill>
            <a:prstDash val="solid"/>
          </a:ln>
        </p:spPr>
      </p:sp>
      <p:sp>
        <p:nvSpPr>
          <p:cNvPr id="11" name="Text 9"/>
          <p:cNvSpPr txBox="1"/>
          <p:nvPr/>
        </p:nvSpPr>
        <p:spPr>
          <a:xfrm>
            <a:off x="877824" y="3767328"/>
            <a:ext cx="4572000" cy="219456"/>
          </a:xfrm>
          <a:prstGeom prst="rect">
            <a:avLst/>
          </a:prstGeom>
          <a:noFill/>
          <a:ln/>
        </p:spPr>
        <p:txBody>
          <a:bodyPr wrap="square" lIns="0" tIns="0" rIns="0" bIns="0" rtlCol="0" anchor="ctr"/>
          <a:lstStyle/>
          <a:p>
            <a:pPr indent="0" marL="0">
              <a:buNone/>
            </a:pPr>
            <a:r>
              <a:rPr lang="en-US" sz="950" b="1" spc="120" kern="0" dirty="0">
                <a:solidFill>
                  <a:srgbClr val="B8542A"/>
                </a:solidFill>
                <a:latin typeface="Calibri" pitchFamily="34" charset="0"/>
                <a:ea typeface="Calibri" pitchFamily="34" charset="-122"/>
                <a:cs typeface="Calibri" pitchFamily="34" charset="-120"/>
              </a:rPr>
              <a:t>PEMBEDAAN KONSEPTUAL</a:t>
            </a:r>
            <a:endParaRPr lang="en-US" sz="950" dirty="0"/>
          </a:p>
        </p:txBody>
      </p:sp>
      <p:sp>
        <p:nvSpPr>
          <p:cNvPr id="12" name="Text 10"/>
          <p:cNvSpPr txBox="1"/>
          <p:nvPr/>
        </p:nvSpPr>
        <p:spPr>
          <a:xfrm>
            <a:off x="877824" y="4041648"/>
            <a:ext cx="4526280" cy="1828800"/>
          </a:xfrm>
          <a:prstGeom prst="rect">
            <a:avLst/>
          </a:prstGeom>
          <a:noFill/>
          <a:ln/>
        </p:spPr>
        <p:txBody>
          <a:bodyPr wrap="square" lIns="0" tIns="0" rIns="0" bIns="0" rtlCol="0" anchor="t"/>
          <a:lstStyle/>
          <a:p>
            <a:pPr indent="0" marL="0">
              <a:lnSpc>
                <a:spcPct val="116000"/>
              </a:lnSpc>
              <a:buNone/>
            </a:pPr>
            <a:r>
              <a:rPr lang="en-US" sz="1150" dirty="0">
                <a:solidFill>
                  <a:srgbClr val="2C3540"/>
                </a:solidFill>
                <a:latin typeface="Calibri" pitchFamily="34" charset="0"/>
                <a:ea typeface="Calibri" pitchFamily="34" charset="-122"/>
                <a:cs typeface="Calibri" pitchFamily="34" charset="-120"/>
              </a:rPr>
              <a:t>Egoisme berbeda dari keserakahan. Pelaku egois masih dapat tergerak oleh rasa iba, sedangkan pelaku serakah tidak peka pada kepentingan pihak lain.</a:t>
            </a:r>
            <a:endParaRPr lang="en-US" sz="1150" dirty="0"/>
          </a:p>
          <a:p>
            <a:pPr indent="0" marL="0">
              <a:lnSpc>
                <a:spcPct val="116000"/>
              </a:lnSpc>
              <a:buNone/>
            </a:pPr>
            <a:endParaRPr lang="en-US" sz="1150" dirty="0"/>
          </a:p>
          <a:p>
            <a:pPr indent="0" marL="0">
              <a:lnSpc>
                <a:spcPct val="116000"/>
              </a:lnSpc>
              <a:buNone/>
            </a:pPr>
            <a:r>
              <a:rPr lang="en-US" sz="1150" dirty="0">
                <a:solidFill>
                  <a:srgbClr val="2C3540"/>
                </a:solidFill>
                <a:latin typeface="Calibri" pitchFamily="34" charset="0"/>
                <a:ea typeface="Calibri" pitchFamily="34" charset="-122"/>
                <a:cs typeface="Calibri" pitchFamily="34" charset="-120"/>
              </a:rPr>
              <a:t>Egoisme berbasis kepentingan jangka panjang lebih kuat daripada egoisme berbasis keinginan, sebab hanya yang pertama mampu membedakan kualitas pilihan hidup seseorang.</a:t>
            </a:r>
            <a:endParaRPr lang="en-US" sz="1150" dirty="0"/>
          </a:p>
        </p:txBody>
      </p:sp>
      <p:sp>
        <p:nvSpPr>
          <p:cNvPr id="13" name="Shape 11"/>
          <p:cNvSpPr/>
          <p:nvPr/>
        </p:nvSpPr>
        <p:spPr>
          <a:xfrm>
            <a:off x="6099048" y="1792224"/>
            <a:ext cx="5522976" cy="1188720"/>
          </a:xfrm>
          <a:prstGeom prst="roundRect">
            <a:avLst>
              <a:gd name="adj" fmla="val 6923"/>
            </a:avLst>
          </a:prstGeom>
          <a:solidFill>
            <a:srgbClr val="E6EAEE"/>
          </a:solidFill>
          <a:ln w="12700">
            <a:solidFill>
              <a:srgbClr val="E6EAEE"/>
            </a:solidFill>
            <a:prstDash val="solid"/>
          </a:ln>
        </p:spPr>
      </p:sp>
      <p:sp>
        <p:nvSpPr>
          <p:cNvPr id="14" name="Text 12"/>
          <p:cNvSpPr txBox="1"/>
          <p:nvPr/>
        </p:nvSpPr>
        <p:spPr>
          <a:xfrm>
            <a:off x="6409944" y="1938528"/>
            <a:ext cx="4937760" cy="274320"/>
          </a:xfrm>
          <a:prstGeom prst="rect">
            <a:avLst/>
          </a:prstGeom>
          <a:noFill/>
          <a:ln/>
        </p:spPr>
        <p:txBody>
          <a:bodyPr wrap="square" lIns="0" tIns="0" rIns="0" bIns="0" rtlCol="0" anchor="ctr"/>
          <a:lstStyle/>
          <a:p>
            <a:pPr indent="0" marL="0">
              <a:buNone/>
            </a:pPr>
            <a:r>
              <a:rPr lang="en-US" sz="1450" b="1" dirty="0">
                <a:solidFill>
                  <a:srgbClr val="16202A"/>
                </a:solidFill>
                <a:latin typeface="Cambria" pitchFamily="34" charset="0"/>
                <a:ea typeface="Cambria" pitchFamily="34" charset="-122"/>
                <a:cs typeface="Cambria" pitchFamily="34" charset="-120"/>
              </a:rPr>
              <a:t>Tokoh dan karya utama</a:t>
            </a:r>
            <a:endParaRPr lang="en-US" sz="1450" dirty="0"/>
          </a:p>
        </p:txBody>
      </p:sp>
      <p:sp>
        <p:nvSpPr>
          <p:cNvPr id="15" name="Text 13"/>
          <p:cNvSpPr txBox="1"/>
          <p:nvPr/>
        </p:nvSpPr>
        <p:spPr>
          <a:xfrm>
            <a:off x="6409944" y="2267712"/>
            <a:ext cx="4937760" cy="585216"/>
          </a:xfrm>
          <a:prstGeom prst="rect">
            <a:avLst/>
          </a:prstGeom>
          <a:noFill/>
          <a:ln/>
        </p:spPr>
        <p:txBody>
          <a:bodyPr wrap="square" lIns="0" tIns="0" rIns="0" bIns="0" rtlCol="0" anchor="t"/>
          <a:lstStyle/>
          <a:p>
            <a:pPr indent="0" marL="0">
              <a:lnSpc>
                <a:spcPct val="112000"/>
              </a:lnSpc>
              <a:buNone/>
            </a:pPr>
            <a:r>
              <a:rPr lang="en-US" sz="1150" dirty="0">
                <a:solidFill>
                  <a:srgbClr val="2C3540"/>
                </a:solidFill>
                <a:latin typeface="Calibri" pitchFamily="34" charset="0"/>
                <a:ea typeface="Calibri" pitchFamily="34" charset="-122"/>
                <a:cs typeface="Calibri" pitchFamily="34" charset="-120"/>
              </a:rPr>
              <a:t>Thomas Hobbes dalam Leviathan, yang menyebut keadaan alamiah sebagai perang semua melawan semua, dan Ayn Rand dalam The Virtue of Selfishness.</a:t>
            </a:r>
            <a:endParaRPr lang="en-US" sz="1150" dirty="0"/>
          </a:p>
        </p:txBody>
      </p:sp>
      <p:sp>
        <p:nvSpPr>
          <p:cNvPr id="16" name="Shape 14"/>
          <p:cNvSpPr/>
          <p:nvPr/>
        </p:nvSpPr>
        <p:spPr>
          <a:xfrm>
            <a:off x="6099048" y="3291840"/>
            <a:ext cx="5522976" cy="1188720"/>
          </a:xfrm>
          <a:prstGeom prst="roundRect">
            <a:avLst>
              <a:gd name="adj" fmla="val 6923"/>
            </a:avLst>
          </a:prstGeom>
          <a:solidFill>
            <a:srgbClr val="F1F3F5"/>
          </a:solidFill>
          <a:ln w="12700">
            <a:solidFill>
              <a:srgbClr val="F1F3F5"/>
            </a:solidFill>
            <a:prstDash val="solid"/>
          </a:ln>
        </p:spPr>
      </p:sp>
      <p:sp>
        <p:nvSpPr>
          <p:cNvPr id="17" name="Text 15"/>
          <p:cNvSpPr txBox="1"/>
          <p:nvPr/>
        </p:nvSpPr>
        <p:spPr>
          <a:xfrm>
            <a:off x="6409944" y="3438144"/>
            <a:ext cx="4937760" cy="274320"/>
          </a:xfrm>
          <a:prstGeom prst="rect">
            <a:avLst/>
          </a:prstGeom>
          <a:noFill/>
          <a:ln/>
        </p:spPr>
        <p:txBody>
          <a:bodyPr wrap="square" lIns="0" tIns="0" rIns="0" bIns="0" rtlCol="0" anchor="ctr"/>
          <a:lstStyle/>
          <a:p>
            <a:pPr indent="0" marL="0">
              <a:buNone/>
            </a:pPr>
            <a:r>
              <a:rPr lang="en-US" sz="1450" b="1" dirty="0">
                <a:solidFill>
                  <a:srgbClr val="16202A"/>
                </a:solidFill>
                <a:latin typeface="Cambria" pitchFamily="34" charset="0"/>
                <a:ea typeface="Cambria" pitchFamily="34" charset="-122"/>
                <a:cs typeface="Cambria" pitchFamily="34" charset="-120"/>
              </a:rPr>
              <a:t>Enlightened egoism</a:t>
            </a:r>
            <a:endParaRPr lang="en-US" sz="1450" dirty="0"/>
          </a:p>
        </p:txBody>
      </p:sp>
      <p:sp>
        <p:nvSpPr>
          <p:cNvPr id="18" name="Text 16"/>
          <p:cNvSpPr txBox="1"/>
          <p:nvPr/>
        </p:nvSpPr>
        <p:spPr>
          <a:xfrm>
            <a:off x="6409944" y="3767328"/>
            <a:ext cx="4937760" cy="585216"/>
          </a:xfrm>
          <a:prstGeom prst="rect">
            <a:avLst/>
          </a:prstGeom>
          <a:noFill/>
          <a:ln/>
        </p:spPr>
        <p:txBody>
          <a:bodyPr wrap="square" lIns="0" tIns="0" rIns="0" bIns="0" rtlCol="0" anchor="t"/>
          <a:lstStyle/>
          <a:p>
            <a:pPr indent="0" marL="0">
              <a:lnSpc>
                <a:spcPct val="112000"/>
              </a:lnSpc>
              <a:buNone/>
            </a:pPr>
            <a:r>
              <a:rPr lang="en-US" sz="1150" dirty="0">
                <a:solidFill>
                  <a:srgbClr val="2C3540"/>
                </a:solidFill>
                <a:latin typeface="Calibri" pitchFamily="34" charset="0"/>
                <a:ea typeface="Calibri" pitchFamily="34" charset="-122"/>
                <a:cs typeface="Calibri" pitchFamily="34" charset="-120"/>
              </a:rPr>
              <a:t>Perusahaan menyokong sekolah atau layanan kesehatan setempat bukan atas dasar altruisme, melainkan karena perbaikan lingkungan sosial menguntungkan retensi tenaga kerjanya.</a:t>
            </a:r>
            <a:endParaRPr lang="en-US" sz="1150" dirty="0"/>
          </a:p>
        </p:txBody>
      </p:sp>
      <p:sp>
        <p:nvSpPr>
          <p:cNvPr id="19" name="Shape 17"/>
          <p:cNvSpPr/>
          <p:nvPr/>
        </p:nvSpPr>
        <p:spPr>
          <a:xfrm>
            <a:off x="6099048" y="4791456"/>
            <a:ext cx="5522976" cy="1188720"/>
          </a:xfrm>
          <a:prstGeom prst="roundRect">
            <a:avLst>
              <a:gd name="adj" fmla="val 6923"/>
            </a:avLst>
          </a:prstGeom>
          <a:solidFill>
            <a:srgbClr val="E6EAEE"/>
          </a:solidFill>
          <a:ln w="12700">
            <a:solidFill>
              <a:srgbClr val="E6EAEE"/>
            </a:solidFill>
            <a:prstDash val="solid"/>
          </a:ln>
        </p:spPr>
      </p:sp>
      <p:sp>
        <p:nvSpPr>
          <p:cNvPr id="20" name="Text 18"/>
          <p:cNvSpPr txBox="1"/>
          <p:nvPr/>
        </p:nvSpPr>
        <p:spPr>
          <a:xfrm>
            <a:off x="6409944" y="4937760"/>
            <a:ext cx="4937760" cy="274320"/>
          </a:xfrm>
          <a:prstGeom prst="rect">
            <a:avLst/>
          </a:prstGeom>
          <a:noFill/>
          <a:ln/>
        </p:spPr>
        <p:txBody>
          <a:bodyPr wrap="square" lIns="0" tIns="0" rIns="0" bIns="0" rtlCol="0" anchor="ctr"/>
          <a:lstStyle/>
          <a:p>
            <a:pPr indent="0" marL="0">
              <a:buNone/>
            </a:pPr>
            <a:r>
              <a:rPr lang="en-US" sz="1450" b="1" dirty="0">
                <a:solidFill>
                  <a:srgbClr val="16202A"/>
                </a:solidFill>
                <a:latin typeface="Cambria" pitchFamily="34" charset="0"/>
                <a:ea typeface="Cambria" pitchFamily="34" charset="-122"/>
                <a:cs typeface="Cambria" pitchFamily="34" charset="-120"/>
              </a:rPr>
              <a:t>Keterbatasan teori</a:t>
            </a:r>
            <a:endParaRPr lang="en-US" sz="1450" dirty="0"/>
          </a:p>
        </p:txBody>
      </p:sp>
      <p:sp>
        <p:nvSpPr>
          <p:cNvPr id="21" name="Text 19"/>
          <p:cNvSpPr txBox="1"/>
          <p:nvPr/>
        </p:nvSpPr>
        <p:spPr>
          <a:xfrm>
            <a:off x="6409944" y="5266944"/>
            <a:ext cx="4937760" cy="585216"/>
          </a:xfrm>
          <a:prstGeom prst="rect">
            <a:avLst/>
          </a:prstGeom>
          <a:noFill/>
          <a:ln/>
        </p:spPr>
        <p:txBody>
          <a:bodyPr wrap="square" lIns="0" tIns="0" rIns="0" bIns="0" rtlCol="0" anchor="t"/>
          <a:lstStyle/>
          <a:p>
            <a:pPr indent="0" marL="0">
              <a:lnSpc>
                <a:spcPct val="112000"/>
              </a:lnSpc>
              <a:buNone/>
            </a:pPr>
            <a:r>
              <a:rPr lang="en-US" sz="1150" dirty="0">
                <a:solidFill>
                  <a:srgbClr val="2C3540"/>
                </a:solidFill>
                <a:latin typeface="Calibri" pitchFamily="34" charset="0"/>
                <a:ea typeface="Calibri" pitchFamily="34" charset="-122"/>
                <a:cs typeface="Calibri" pitchFamily="34" charset="-120"/>
              </a:rPr>
              <a:t>Teori ini hanya berlaku bila pasar mencegah satu pelaku egois merugikan pelaku lain. Ia gugur pada kegagalan pasar dan pada isu keberlanjutan, sebab korban penipisan sumber daya adalah generasi mendatang.</a:t>
            </a:r>
            <a:endParaRPr lang="en-US" sz="1150" dirty="0"/>
          </a:p>
        </p:txBody>
      </p:sp>
      <p:sp>
        <p:nvSpPr>
          <p:cNvPr id="22" name="Text 20"/>
          <p:cNvSpPr txBox="1"/>
          <p:nvPr/>
        </p:nvSpPr>
        <p:spPr>
          <a:xfrm>
            <a:off x="566928" y="6419088"/>
            <a:ext cx="10143439" cy="237744"/>
          </a:xfrm>
          <a:prstGeom prst="rect">
            <a:avLst/>
          </a:prstGeom>
          <a:noFill/>
          <a:ln/>
        </p:spPr>
        <p:txBody>
          <a:bodyPr wrap="square" lIns="0" tIns="0" rIns="0" bIns="0" rtlCol="0" anchor="ctr"/>
          <a:lstStyle/>
          <a:p>
            <a:pPr indent="0" marL="0">
              <a:buNone/>
            </a:pPr>
            <a:r>
              <a:rPr lang="en-US" sz="900" i="1" dirty="0">
                <a:solidFill>
                  <a:srgbClr val="6B7684"/>
                </a:solidFill>
                <a:latin typeface="Calibri" pitchFamily="34" charset="0"/>
                <a:ea typeface="Calibri" pitchFamily="34" charset="-122"/>
                <a:cs typeface="Calibri" pitchFamily="34" charset="-120"/>
              </a:rPr>
              <a:t>Crane dan Matten (2019), Bab 3, halaman 93 sampai 96.</a:t>
            </a:r>
            <a:endParaRPr lang="en-US" sz="900" dirty="0"/>
          </a:p>
        </p:txBody>
      </p:sp>
      <p:sp>
        <p:nvSpPr>
          <p:cNvPr id="23" name="Text 21"/>
          <p:cNvSpPr txBox="1"/>
          <p:nvPr/>
        </p:nvSpPr>
        <p:spPr>
          <a:xfrm>
            <a:off x="10893247" y="6419088"/>
            <a:ext cx="731520" cy="237744"/>
          </a:xfrm>
          <a:prstGeom prst="rect">
            <a:avLst/>
          </a:prstGeom>
          <a:noFill/>
          <a:ln/>
        </p:spPr>
        <p:txBody>
          <a:bodyPr wrap="square" lIns="0" tIns="0" rIns="0" bIns="0" rtlCol="0" anchor="ctr"/>
          <a:lstStyle/>
          <a:p>
            <a:pPr algn="r" indent="0" marL="0">
              <a:buNone/>
            </a:pPr>
            <a:r>
              <a:rPr lang="en-US" sz="1100" b="1" dirty="0">
                <a:solidFill>
                  <a:srgbClr val="6B7684"/>
                </a:solidFill>
                <a:latin typeface="Cambria" pitchFamily="34" charset="0"/>
                <a:ea typeface="Cambria" pitchFamily="34" charset="-122"/>
                <a:cs typeface="Cambria"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B8542A"/>
                </a:solidFill>
                <a:latin typeface="Calibri" pitchFamily="34" charset="0"/>
                <a:ea typeface="Calibri" pitchFamily="34" charset="-122"/>
                <a:cs typeface="Calibri" pitchFamily="34" charset="-120"/>
              </a:rPr>
              <a:t>04   TEORI MODERNIS BARAT   |   KONSEKUENSIALIS</a:t>
            </a:r>
            <a:endParaRPr lang="en-US" sz="1000" dirty="0"/>
          </a:p>
        </p:txBody>
      </p:sp>
      <p:sp>
        <p:nvSpPr>
          <p:cNvPr id="3" name="Text 1"/>
          <p:cNvSpPr txBox="1"/>
          <p:nvPr/>
        </p:nvSpPr>
        <p:spPr>
          <a:xfrm>
            <a:off x="566928" y="585216"/>
            <a:ext cx="11057839" cy="548640"/>
          </a:xfrm>
          <a:prstGeom prst="rect">
            <a:avLst/>
          </a:prstGeom>
          <a:noFill/>
          <a:ln/>
        </p:spPr>
        <p:txBody>
          <a:bodyPr wrap="square" lIns="0" tIns="0" rIns="0" bIns="0" rtlCol="0" anchor="ctr"/>
          <a:lstStyle/>
          <a:p>
            <a:pPr indent="0" marL="0">
              <a:buNone/>
            </a:pPr>
            <a:r>
              <a:rPr lang="en-US" sz="2800" b="1" dirty="0">
                <a:solidFill>
                  <a:srgbClr val="16202A"/>
                </a:solidFill>
                <a:latin typeface="Cambria" pitchFamily="34" charset="0"/>
                <a:ea typeface="Cambria" pitchFamily="34" charset="-122"/>
                <a:cs typeface="Cambria" pitchFamily="34" charset="-120"/>
              </a:rPr>
              <a:t>Etika hasil: utilitarianism</a:t>
            </a:r>
            <a:endParaRPr lang="en-US" sz="2800" dirty="0"/>
          </a:p>
        </p:txBody>
      </p:sp>
      <p:sp>
        <p:nvSpPr>
          <p:cNvPr id="4" name="Text 2"/>
          <p:cNvSpPr txBox="1"/>
          <p:nvPr/>
        </p:nvSpPr>
        <p:spPr>
          <a:xfrm>
            <a:off x="566928" y="1170432"/>
            <a:ext cx="11057839" cy="310896"/>
          </a:xfrm>
          <a:prstGeom prst="rect">
            <a:avLst/>
          </a:prstGeom>
          <a:noFill/>
          <a:ln/>
        </p:spPr>
        <p:txBody>
          <a:bodyPr wrap="square" lIns="0" tIns="0" rIns="0" bIns="0" rtlCol="0" anchor="t"/>
          <a:lstStyle/>
          <a:p>
            <a:pPr indent="0" marL="0">
              <a:lnSpc>
                <a:spcPct val="110000"/>
              </a:lnSpc>
              <a:buNone/>
            </a:pPr>
            <a:r>
              <a:rPr lang="en-US" sz="1250" dirty="0">
                <a:solidFill>
                  <a:srgbClr val="6B7684"/>
                </a:solidFill>
                <a:latin typeface="Calibri" pitchFamily="34" charset="0"/>
                <a:ea typeface="Calibri" pitchFamily="34" charset="-122"/>
                <a:cs typeface="Calibri" pitchFamily="34" charset="-120"/>
              </a:rPr>
              <a:t>Teori yang paling lazim diterapkan dalam bisnis karena kompatibel dengan metodologi kuantitatif ekonomi.</a:t>
            </a:r>
            <a:endParaRPr lang="en-US" sz="1250" dirty="0"/>
          </a:p>
        </p:txBody>
      </p:sp>
      <p:sp>
        <p:nvSpPr>
          <p:cNvPr id="5" name="Shape 3"/>
          <p:cNvSpPr/>
          <p:nvPr/>
        </p:nvSpPr>
        <p:spPr>
          <a:xfrm>
            <a:off x="566928" y="1792224"/>
            <a:ext cx="6903720" cy="1371600"/>
          </a:xfrm>
          <a:prstGeom prst="roundRect">
            <a:avLst>
              <a:gd name="adj" fmla="val 6000"/>
            </a:avLst>
          </a:prstGeom>
          <a:solidFill>
            <a:srgbClr val="16202A"/>
          </a:solidFill>
          <a:ln w="12700">
            <a:solidFill>
              <a:srgbClr val="16202A"/>
            </a:solidFill>
            <a:prstDash val="solid"/>
          </a:ln>
        </p:spPr>
      </p:sp>
      <p:sp>
        <p:nvSpPr>
          <p:cNvPr id="6" name="Shape 4"/>
          <p:cNvSpPr/>
          <p:nvPr/>
        </p:nvSpPr>
        <p:spPr>
          <a:xfrm>
            <a:off x="877824" y="1975104"/>
            <a:ext cx="365760" cy="365760"/>
          </a:xfrm>
          <a:prstGeom prst="roundRect">
            <a:avLst>
              <a:gd name="adj" fmla="val 17500"/>
            </a:avLst>
          </a:prstGeom>
          <a:solidFill>
            <a:srgbClr val="B8542A"/>
          </a:solidFill>
          <a:ln w="12700">
            <a:solidFill>
              <a:srgbClr val="B8542A"/>
            </a:solidFill>
            <a:prstDash val="solid"/>
          </a:ln>
        </p:spPr>
      </p:sp>
      <p:sp>
        <p:nvSpPr>
          <p:cNvPr id="7" name="Text 5"/>
          <p:cNvSpPr txBox="1"/>
          <p:nvPr/>
        </p:nvSpPr>
        <p:spPr>
          <a:xfrm>
            <a:off x="877824" y="19751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8" name="Text 6"/>
          <p:cNvSpPr txBox="1"/>
          <p:nvPr/>
        </p:nvSpPr>
        <p:spPr>
          <a:xfrm>
            <a:off x="1335024" y="1975104"/>
            <a:ext cx="411480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Utilitarianism</a:t>
            </a:r>
            <a:endParaRPr lang="en-US" sz="1700" dirty="0"/>
          </a:p>
        </p:txBody>
      </p:sp>
      <p:sp>
        <p:nvSpPr>
          <p:cNvPr id="9" name="Text 7"/>
          <p:cNvSpPr txBox="1"/>
          <p:nvPr/>
        </p:nvSpPr>
        <p:spPr>
          <a:xfrm>
            <a:off x="877824" y="2395728"/>
            <a:ext cx="6309360" cy="658368"/>
          </a:xfrm>
          <a:prstGeom prst="rect">
            <a:avLst/>
          </a:prstGeom>
          <a:noFill/>
          <a:ln/>
        </p:spPr>
        <p:txBody>
          <a:bodyPr wrap="square" lIns="0" tIns="0" rIns="0" bIns="0" rtlCol="0" anchor="t"/>
          <a:lstStyle/>
          <a:p>
            <a:pPr indent="0" marL="0">
              <a:lnSpc>
                <a:spcPct val="114000"/>
              </a:lnSpc>
              <a:buNone/>
            </a:pPr>
            <a:r>
              <a:rPr lang="en-US" sz="1200" i="1" dirty="0">
                <a:solidFill>
                  <a:srgbClr val="D5DDE4"/>
                </a:solidFill>
                <a:latin typeface="Calibri" pitchFamily="34" charset="0"/>
                <a:ea typeface="Calibri" pitchFamily="34" charset="-122"/>
                <a:cs typeface="Calibri" pitchFamily="34" charset="-120"/>
              </a:rPr>
              <a:t>Sebuah tindakan benar secara moral jika menghasilkan kebaikan terbesar bagi jumlah orang terbesar yang terkena dampaknya. Inilah greatest happiness principle dari Jeremy Bentham dan John Stuart Mill.</a:t>
            </a:r>
            <a:endParaRPr lang="en-US" sz="1200" dirty="0"/>
          </a:p>
        </p:txBody>
      </p:sp>
      <p:sp>
        <p:nvSpPr>
          <p:cNvPr id="10" name="Shape 8"/>
          <p:cNvSpPr/>
          <p:nvPr/>
        </p:nvSpPr>
        <p:spPr>
          <a:xfrm>
            <a:off x="566928" y="3310128"/>
            <a:ext cx="1650492" cy="1024128"/>
          </a:xfrm>
          <a:prstGeom prst="roundRect">
            <a:avLst>
              <a:gd name="adj" fmla="val 8036"/>
            </a:avLst>
          </a:prstGeom>
          <a:solidFill>
            <a:srgbClr val="E6EAEE"/>
          </a:solidFill>
          <a:ln w="12700">
            <a:solidFill>
              <a:srgbClr val="E6EAEE"/>
            </a:solidFill>
            <a:prstDash val="solid"/>
          </a:ln>
        </p:spPr>
      </p:sp>
      <p:sp>
        <p:nvSpPr>
          <p:cNvPr id="11" name="Text 9"/>
          <p:cNvSpPr txBox="1"/>
          <p:nvPr/>
        </p:nvSpPr>
        <p:spPr>
          <a:xfrm>
            <a:off x="676656" y="3438144"/>
            <a:ext cx="1431036" cy="256032"/>
          </a:xfrm>
          <a:prstGeom prst="rect">
            <a:avLst/>
          </a:prstGeom>
          <a:noFill/>
          <a:ln/>
        </p:spPr>
        <p:txBody>
          <a:bodyPr wrap="square" lIns="0" tIns="0" rIns="0" bIns="0" rtlCol="0" anchor="ctr"/>
          <a:lstStyle/>
          <a:p>
            <a:pPr indent="0" marL="0">
              <a:buNone/>
            </a:pPr>
            <a:r>
              <a:rPr lang="en-US" sz="1050" b="1" dirty="0">
                <a:solidFill>
                  <a:srgbClr val="B8542A"/>
                </a:solidFill>
                <a:latin typeface="Cambria" pitchFamily="34" charset="0"/>
                <a:ea typeface="Cambria" pitchFamily="34" charset="-122"/>
                <a:cs typeface="Cambria" pitchFamily="34" charset="-120"/>
              </a:rPr>
              <a:t>Consequentialism</a:t>
            </a:r>
            <a:endParaRPr lang="en-US" sz="1050" dirty="0"/>
          </a:p>
        </p:txBody>
      </p:sp>
      <p:sp>
        <p:nvSpPr>
          <p:cNvPr id="12" name="Text 10"/>
          <p:cNvSpPr txBox="1"/>
          <p:nvPr/>
        </p:nvSpPr>
        <p:spPr>
          <a:xfrm>
            <a:off x="676656" y="3694176"/>
            <a:ext cx="1431036" cy="548640"/>
          </a:xfrm>
          <a:prstGeom prst="rect">
            <a:avLst/>
          </a:prstGeom>
          <a:noFill/>
          <a:ln/>
        </p:spPr>
        <p:txBody>
          <a:bodyPr wrap="square" lIns="0" tIns="0" rIns="0" bIns="0" rtlCol="0" anchor="t"/>
          <a:lstStyle/>
          <a:p>
            <a:pPr indent="0" marL="0">
              <a:lnSpc>
                <a:spcPct val="110000"/>
              </a:lnSpc>
              <a:buNone/>
            </a:pPr>
            <a:r>
              <a:rPr lang="en-US" sz="1050" dirty="0">
                <a:solidFill>
                  <a:srgbClr val="2C3540"/>
                </a:solidFill>
                <a:latin typeface="Calibri" pitchFamily="34" charset="0"/>
                <a:ea typeface="Calibri" pitchFamily="34" charset="-122"/>
                <a:cs typeface="Calibri" pitchFamily="34" charset="-120"/>
              </a:rPr>
              <a:t>Objek penilaiannya akibat</a:t>
            </a:r>
            <a:endParaRPr lang="en-US" sz="1050" dirty="0"/>
          </a:p>
        </p:txBody>
      </p:sp>
      <p:sp>
        <p:nvSpPr>
          <p:cNvPr id="13" name="Shape 11"/>
          <p:cNvSpPr/>
          <p:nvPr/>
        </p:nvSpPr>
        <p:spPr>
          <a:xfrm>
            <a:off x="2318004" y="3310128"/>
            <a:ext cx="1650492" cy="1024128"/>
          </a:xfrm>
          <a:prstGeom prst="roundRect">
            <a:avLst>
              <a:gd name="adj" fmla="val 8036"/>
            </a:avLst>
          </a:prstGeom>
          <a:solidFill>
            <a:srgbClr val="E6EAEE"/>
          </a:solidFill>
          <a:ln w="12700">
            <a:solidFill>
              <a:srgbClr val="E6EAEE"/>
            </a:solidFill>
            <a:prstDash val="solid"/>
          </a:ln>
        </p:spPr>
      </p:sp>
      <p:sp>
        <p:nvSpPr>
          <p:cNvPr id="14" name="Text 12"/>
          <p:cNvSpPr txBox="1"/>
          <p:nvPr/>
        </p:nvSpPr>
        <p:spPr>
          <a:xfrm>
            <a:off x="2427732" y="3438144"/>
            <a:ext cx="1431036" cy="256032"/>
          </a:xfrm>
          <a:prstGeom prst="rect">
            <a:avLst/>
          </a:prstGeom>
          <a:noFill/>
          <a:ln/>
        </p:spPr>
        <p:txBody>
          <a:bodyPr wrap="square" lIns="0" tIns="0" rIns="0" bIns="0" rtlCol="0" anchor="ctr"/>
          <a:lstStyle/>
          <a:p>
            <a:pPr indent="0" marL="0">
              <a:buNone/>
            </a:pPr>
            <a:r>
              <a:rPr lang="en-US" sz="1050" b="1" dirty="0">
                <a:solidFill>
                  <a:srgbClr val="B8542A"/>
                </a:solidFill>
                <a:latin typeface="Cambria" pitchFamily="34" charset="0"/>
                <a:ea typeface="Cambria" pitchFamily="34" charset="-122"/>
                <a:cs typeface="Cambria" pitchFamily="34" charset="-120"/>
              </a:rPr>
              <a:t>Hedonism</a:t>
            </a:r>
            <a:endParaRPr lang="en-US" sz="1050" dirty="0"/>
          </a:p>
        </p:txBody>
      </p:sp>
      <p:sp>
        <p:nvSpPr>
          <p:cNvPr id="15" name="Text 13"/>
          <p:cNvSpPr txBox="1"/>
          <p:nvPr/>
        </p:nvSpPr>
        <p:spPr>
          <a:xfrm>
            <a:off x="2427732" y="3694176"/>
            <a:ext cx="1431036" cy="548640"/>
          </a:xfrm>
          <a:prstGeom prst="rect">
            <a:avLst/>
          </a:prstGeom>
          <a:noFill/>
          <a:ln/>
        </p:spPr>
        <p:txBody>
          <a:bodyPr wrap="square" lIns="0" tIns="0" rIns="0" bIns="0" rtlCol="0" anchor="t"/>
          <a:lstStyle/>
          <a:p>
            <a:pPr indent="0" marL="0">
              <a:lnSpc>
                <a:spcPct val="110000"/>
              </a:lnSpc>
              <a:buNone/>
            </a:pPr>
            <a:r>
              <a:rPr lang="en-US" sz="1050" dirty="0">
                <a:solidFill>
                  <a:srgbClr val="2C3540"/>
                </a:solidFill>
                <a:latin typeface="Calibri" pitchFamily="34" charset="0"/>
                <a:ea typeface="Calibri" pitchFamily="34" charset="-122"/>
                <a:cs typeface="Calibri" pitchFamily="34" charset="-120"/>
              </a:rPr>
              <a:t>Utilitas sebagai pleasure dikurangi pain</a:t>
            </a:r>
            <a:endParaRPr lang="en-US" sz="1050" dirty="0"/>
          </a:p>
        </p:txBody>
      </p:sp>
      <p:sp>
        <p:nvSpPr>
          <p:cNvPr id="16" name="Shape 14"/>
          <p:cNvSpPr/>
          <p:nvPr/>
        </p:nvSpPr>
        <p:spPr>
          <a:xfrm>
            <a:off x="4069080" y="3310128"/>
            <a:ext cx="1650492" cy="1024128"/>
          </a:xfrm>
          <a:prstGeom prst="roundRect">
            <a:avLst>
              <a:gd name="adj" fmla="val 8036"/>
            </a:avLst>
          </a:prstGeom>
          <a:solidFill>
            <a:srgbClr val="E6EAEE"/>
          </a:solidFill>
          <a:ln w="12700">
            <a:solidFill>
              <a:srgbClr val="E6EAEE"/>
            </a:solidFill>
            <a:prstDash val="solid"/>
          </a:ln>
        </p:spPr>
      </p:sp>
      <p:sp>
        <p:nvSpPr>
          <p:cNvPr id="17" name="Text 15"/>
          <p:cNvSpPr txBox="1"/>
          <p:nvPr/>
        </p:nvSpPr>
        <p:spPr>
          <a:xfrm>
            <a:off x="4178808" y="3438144"/>
            <a:ext cx="1431036" cy="256032"/>
          </a:xfrm>
          <a:prstGeom prst="rect">
            <a:avLst/>
          </a:prstGeom>
          <a:noFill/>
          <a:ln/>
        </p:spPr>
        <p:txBody>
          <a:bodyPr wrap="square" lIns="0" tIns="0" rIns="0" bIns="0" rtlCol="0" anchor="ctr"/>
          <a:lstStyle/>
          <a:p>
            <a:pPr indent="0" marL="0">
              <a:buNone/>
            </a:pPr>
            <a:r>
              <a:rPr lang="en-US" sz="1050" b="1" dirty="0">
                <a:solidFill>
                  <a:srgbClr val="B8542A"/>
                </a:solidFill>
                <a:latin typeface="Cambria" pitchFamily="34" charset="0"/>
                <a:ea typeface="Cambria" pitchFamily="34" charset="-122"/>
                <a:cs typeface="Cambria" pitchFamily="34" charset="-120"/>
              </a:rPr>
              <a:t>Maximalism</a:t>
            </a:r>
            <a:endParaRPr lang="en-US" sz="1050" dirty="0"/>
          </a:p>
        </p:txBody>
      </p:sp>
      <p:sp>
        <p:nvSpPr>
          <p:cNvPr id="18" name="Text 16"/>
          <p:cNvSpPr txBox="1"/>
          <p:nvPr/>
        </p:nvSpPr>
        <p:spPr>
          <a:xfrm>
            <a:off x="4178808" y="3694176"/>
            <a:ext cx="1431036" cy="548640"/>
          </a:xfrm>
          <a:prstGeom prst="rect">
            <a:avLst/>
          </a:prstGeom>
          <a:noFill/>
          <a:ln/>
        </p:spPr>
        <p:txBody>
          <a:bodyPr wrap="square" lIns="0" tIns="0" rIns="0" bIns="0" rtlCol="0" anchor="t"/>
          <a:lstStyle/>
          <a:p>
            <a:pPr indent="0" marL="0">
              <a:lnSpc>
                <a:spcPct val="110000"/>
              </a:lnSpc>
              <a:buNone/>
            </a:pPr>
            <a:r>
              <a:rPr lang="en-US" sz="1050" dirty="0">
                <a:solidFill>
                  <a:srgbClr val="2C3540"/>
                </a:solidFill>
                <a:latin typeface="Calibri" pitchFamily="34" charset="0"/>
                <a:ea typeface="Calibri" pitchFamily="34" charset="-122"/>
                <a:cs typeface="Calibri" pitchFamily="34" charset="-120"/>
              </a:rPr>
              <a:t>Jumlah terbesar, bukan sekadar baik</a:t>
            </a:r>
            <a:endParaRPr lang="en-US" sz="1050" dirty="0"/>
          </a:p>
        </p:txBody>
      </p:sp>
      <p:sp>
        <p:nvSpPr>
          <p:cNvPr id="19" name="Shape 17"/>
          <p:cNvSpPr/>
          <p:nvPr/>
        </p:nvSpPr>
        <p:spPr>
          <a:xfrm>
            <a:off x="5820156" y="3310128"/>
            <a:ext cx="1650492" cy="1024128"/>
          </a:xfrm>
          <a:prstGeom prst="roundRect">
            <a:avLst>
              <a:gd name="adj" fmla="val 8036"/>
            </a:avLst>
          </a:prstGeom>
          <a:solidFill>
            <a:srgbClr val="E6EAEE"/>
          </a:solidFill>
          <a:ln w="12700">
            <a:solidFill>
              <a:srgbClr val="E6EAEE"/>
            </a:solidFill>
            <a:prstDash val="solid"/>
          </a:ln>
        </p:spPr>
      </p:sp>
      <p:sp>
        <p:nvSpPr>
          <p:cNvPr id="20" name="Text 18"/>
          <p:cNvSpPr txBox="1"/>
          <p:nvPr/>
        </p:nvSpPr>
        <p:spPr>
          <a:xfrm>
            <a:off x="5929884" y="3438144"/>
            <a:ext cx="1431036" cy="256032"/>
          </a:xfrm>
          <a:prstGeom prst="rect">
            <a:avLst/>
          </a:prstGeom>
          <a:noFill/>
          <a:ln/>
        </p:spPr>
        <p:txBody>
          <a:bodyPr wrap="square" lIns="0" tIns="0" rIns="0" bIns="0" rtlCol="0" anchor="ctr"/>
          <a:lstStyle/>
          <a:p>
            <a:pPr indent="0" marL="0">
              <a:buNone/>
            </a:pPr>
            <a:r>
              <a:rPr lang="en-US" sz="1050" b="1" dirty="0">
                <a:solidFill>
                  <a:srgbClr val="B8542A"/>
                </a:solidFill>
                <a:latin typeface="Cambria" pitchFamily="34" charset="0"/>
                <a:ea typeface="Cambria" pitchFamily="34" charset="-122"/>
                <a:cs typeface="Cambria" pitchFamily="34" charset="-120"/>
              </a:rPr>
              <a:t>Universalism</a:t>
            </a:r>
            <a:endParaRPr lang="en-US" sz="1050" dirty="0"/>
          </a:p>
        </p:txBody>
      </p:sp>
      <p:sp>
        <p:nvSpPr>
          <p:cNvPr id="21" name="Text 19"/>
          <p:cNvSpPr txBox="1"/>
          <p:nvPr/>
        </p:nvSpPr>
        <p:spPr>
          <a:xfrm>
            <a:off x="5929884" y="3694176"/>
            <a:ext cx="1431036" cy="548640"/>
          </a:xfrm>
          <a:prstGeom prst="rect">
            <a:avLst/>
          </a:prstGeom>
          <a:noFill/>
          <a:ln/>
        </p:spPr>
        <p:txBody>
          <a:bodyPr wrap="square" lIns="0" tIns="0" rIns="0" bIns="0" rtlCol="0" anchor="t"/>
          <a:lstStyle/>
          <a:p>
            <a:pPr indent="0" marL="0">
              <a:lnSpc>
                <a:spcPct val="110000"/>
              </a:lnSpc>
              <a:buNone/>
            </a:pPr>
            <a:r>
              <a:rPr lang="en-US" sz="1050" dirty="0">
                <a:solidFill>
                  <a:srgbClr val="2C3540"/>
                </a:solidFill>
                <a:latin typeface="Calibri" pitchFamily="34" charset="0"/>
                <a:ea typeface="Calibri" pitchFamily="34" charset="-122"/>
                <a:cs typeface="Calibri" pitchFamily="34" charset="-120"/>
              </a:rPr>
              <a:t>Akibat bagi semua pihak dihitung</a:t>
            </a:r>
            <a:endParaRPr lang="en-US" sz="1050" dirty="0"/>
          </a:p>
        </p:txBody>
      </p:sp>
      <p:sp>
        <p:nvSpPr>
          <p:cNvPr id="22" name="Shape 20"/>
          <p:cNvSpPr/>
          <p:nvPr/>
        </p:nvSpPr>
        <p:spPr>
          <a:xfrm>
            <a:off x="566928" y="4517136"/>
            <a:ext cx="3401568" cy="1463040"/>
          </a:xfrm>
          <a:prstGeom prst="roundRect">
            <a:avLst>
              <a:gd name="adj" fmla="val 5625"/>
            </a:avLst>
          </a:prstGeom>
          <a:solidFill>
            <a:srgbClr val="F1F3F5"/>
          </a:solidFill>
          <a:ln w="12700">
            <a:solidFill>
              <a:srgbClr val="F1F3F5"/>
            </a:solidFill>
            <a:prstDash val="solid"/>
          </a:ln>
        </p:spPr>
      </p:sp>
      <p:sp>
        <p:nvSpPr>
          <p:cNvPr id="23" name="Text 21"/>
          <p:cNvSpPr txBox="1"/>
          <p:nvPr/>
        </p:nvSpPr>
        <p:spPr>
          <a:xfrm>
            <a:off x="804672" y="4681728"/>
            <a:ext cx="2926080" cy="219456"/>
          </a:xfrm>
          <a:prstGeom prst="rect">
            <a:avLst/>
          </a:prstGeom>
          <a:noFill/>
          <a:ln/>
        </p:spPr>
        <p:txBody>
          <a:bodyPr wrap="square" lIns="0" tIns="0" rIns="0" bIns="0" rtlCol="0" anchor="ctr"/>
          <a:lstStyle/>
          <a:p>
            <a:pPr indent="0" marL="0">
              <a:buNone/>
            </a:pPr>
            <a:r>
              <a:rPr lang="en-US" sz="950" b="1" spc="120" kern="0" dirty="0">
                <a:solidFill>
                  <a:srgbClr val="B8542A"/>
                </a:solidFill>
                <a:latin typeface="Calibri" pitchFamily="34" charset="0"/>
                <a:ea typeface="Calibri" pitchFamily="34" charset="-122"/>
                <a:cs typeface="Calibri" pitchFamily="34" charset="-120"/>
              </a:rPr>
              <a:t>ACT UTILITARIANISM</a:t>
            </a:r>
            <a:endParaRPr lang="en-US" sz="950" dirty="0"/>
          </a:p>
        </p:txBody>
      </p:sp>
      <p:sp>
        <p:nvSpPr>
          <p:cNvPr id="24" name="Text 22"/>
          <p:cNvSpPr txBox="1"/>
          <p:nvPr/>
        </p:nvSpPr>
        <p:spPr>
          <a:xfrm>
            <a:off x="804672" y="4937760"/>
            <a:ext cx="2926080" cy="914400"/>
          </a:xfrm>
          <a:prstGeom prst="rect">
            <a:avLst/>
          </a:prstGeom>
          <a:noFill/>
          <a:ln/>
        </p:spPr>
        <p:txBody>
          <a:bodyPr wrap="square" lIns="0" tIns="0" rIns="0" bIns="0" rtlCol="0" anchor="t"/>
          <a:lstStyle/>
          <a:p>
            <a:pPr indent="0" marL="0">
              <a:lnSpc>
                <a:spcPct val="112000"/>
              </a:lnSpc>
              <a:buNone/>
            </a:pPr>
            <a:r>
              <a:rPr lang="en-US" sz="1150" dirty="0">
                <a:solidFill>
                  <a:srgbClr val="2C3540"/>
                </a:solidFill>
                <a:latin typeface="Calibri" pitchFamily="34" charset="0"/>
                <a:ea typeface="Calibri" pitchFamily="34" charset="-122"/>
                <a:cs typeface="Calibri" pitchFamily="34" charset="-120"/>
              </a:rPr>
              <a:t>Menilai satu tindakan tunggal berdasar jumlah pleasure dan pain yang ditimbulkannya dalam situasi itu saja.</a:t>
            </a:r>
            <a:endParaRPr lang="en-US" sz="1150" dirty="0"/>
          </a:p>
        </p:txBody>
      </p:sp>
      <p:sp>
        <p:nvSpPr>
          <p:cNvPr id="25" name="Shape 23"/>
          <p:cNvSpPr/>
          <p:nvPr/>
        </p:nvSpPr>
        <p:spPr>
          <a:xfrm>
            <a:off x="4069080" y="4517136"/>
            <a:ext cx="3401568" cy="1463040"/>
          </a:xfrm>
          <a:prstGeom prst="roundRect">
            <a:avLst>
              <a:gd name="adj" fmla="val 5625"/>
            </a:avLst>
          </a:prstGeom>
          <a:solidFill>
            <a:srgbClr val="F1F3F5"/>
          </a:solidFill>
          <a:ln w="12700">
            <a:solidFill>
              <a:srgbClr val="F1F3F5"/>
            </a:solidFill>
            <a:prstDash val="solid"/>
          </a:ln>
        </p:spPr>
      </p:sp>
      <p:sp>
        <p:nvSpPr>
          <p:cNvPr id="26" name="Text 24"/>
          <p:cNvSpPr txBox="1"/>
          <p:nvPr/>
        </p:nvSpPr>
        <p:spPr>
          <a:xfrm>
            <a:off x="4306824" y="4681728"/>
            <a:ext cx="2926080" cy="219456"/>
          </a:xfrm>
          <a:prstGeom prst="rect">
            <a:avLst/>
          </a:prstGeom>
          <a:noFill/>
          <a:ln/>
        </p:spPr>
        <p:txBody>
          <a:bodyPr wrap="square" lIns="0" tIns="0" rIns="0" bIns="0" rtlCol="0" anchor="ctr"/>
          <a:lstStyle/>
          <a:p>
            <a:pPr indent="0" marL="0">
              <a:buNone/>
            </a:pPr>
            <a:r>
              <a:rPr lang="en-US" sz="950" b="1" spc="120" kern="0" dirty="0">
                <a:solidFill>
                  <a:srgbClr val="B8542A"/>
                </a:solidFill>
                <a:latin typeface="Calibri" pitchFamily="34" charset="0"/>
                <a:ea typeface="Calibri" pitchFamily="34" charset="-122"/>
                <a:cs typeface="Calibri" pitchFamily="34" charset="-120"/>
              </a:rPr>
              <a:t>RULE UTILITARIANISM</a:t>
            </a:r>
            <a:endParaRPr lang="en-US" sz="950" dirty="0"/>
          </a:p>
        </p:txBody>
      </p:sp>
      <p:sp>
        <p:nvSpPr>
          <p:cNvPr id="27" name="Text 25"/>
          <p:cNvSpPr txBox="1"/>
          <p:nvPr/>
        </p:nvSpPr>
        <p:spPr>
          <a:xfrm>
            <a:off x="4306824" y="4937760"/>
            <a:ext cx="2926080" cy="914400"/>
          </a:xfrm>
          <a:prstGeom prst="rect">
            <a:avLst/>
          </a:prstGeom>
          <a:noFill/>
          <a:ln/>
        </p:spPr>
        <p:txBody>
          <a:bodyPr wrap="square" lIns="0" tIns="0" rIns="0" bIns="0" rtlCol="0" anchor="t"/>
          <a:lstStyle/>
          <a:p>
            <a:pPr indent="0" marL="0">
              <a:lnSpc>
                <a:spcPct val="110000"/>
              </a:lnSpc>
              <a:buNone/>
            </a:pPr>
            <a:r>
              <a:rPr lang="en-US" sz="1100" dirty="0">
                <a:solidFill>
                  <a:srgbClr val="2C3540"/>
                </a:solidFill>
                <a:latin typeface="Calibri" pitchFamily="34" charset="0"/>
                <a:ea typeface="Calibri" pitchFamily="34" charset="-122"/>
                <a:cs typeface="Calibri" pitchFamily="34" charset="-120"/>
              </a:rPr>
              <a:t>Menilai kelas tindakan, dan bertanya apakah prinsip di baliknya menghasilkan lebih banyak pleasure daripada pain bagi masyarakat dalam jangka panjang.</a:t>
            </a:r>
            <a:endParaRPr lang="en-US" sz="1100" dirty="0"/>
          </a:p>
        </p:txBody>
      </p:sp>
      <p:sp>
        <p:nvSpPr>
          <p:cNvPr id="28" name="Shape 26"/>
          <p:cNvSpPr/>
          <p:nvPr/>
        </p:nvSpPr>
        <p:spPr>
          <a:xfrm>
            <a:off x="7836408" y="1792224"/>
            <a:ext cx="3785616" cy="4187952"/>
          </a:xfrm>
          <a:prstGeom prst="roundRect">
            <a:avLst>
              <a:gd name="adj" fmla="val 2174"/>
            </a:avLst>
          </a:prstGeom>
          <a:solidFill>
            <a:srgbClr val="E6EAEE"/>
          </a:solidFill>
          <a:ln w="12700">
            <a:solidFill>
              <a:srgbClr val="E6EAEE"/>
            </a:solidFill>
            <a:prstDash val="solid"/>
          </a:ln>
        </p:spPr>
      </p:sp>
      <p:sp>
        <p:nvSpPr>
          <p:cNvPr id="29" name="Text 27"/>
          <p:cNvSpPr txBox="1"/>
          <p:nvPr/>
        </p:nvSpPr>
        <p:spPr>
          <a:xfrm>
            <a:off x="8147304" y="1993392"/>
            <a:ext cx="3200400" cy="219456"/>
          </a:xfrm>
          <a:prstGeom prst="rect">
            <a:avLst/>
          </a:prstGeom>
          <a:noFill/>
          <a:ln/>
        </p:spPr>
        <p:txBody>
          <a:bodyPr wrap="square" lIns="0" tIns="0" rIns="0" bIns="0" rtlCol="0" anchor="ctr"/>
          <a:lstStyle/>
          <a:p>
            <a:pPr indent="0" marL="0">
              <a:buNone/>
            </a:pPr>
            <a:r>
              <a:rPr lang="en-US" sz="950" b="1" spc="120" kern="0" dirty="0">
                <a:solidFill>
                  <a:srgbClr val="B8542A"/>
                </a:solidFill>
                <a:latin typeface="Calibri" pitchFamily="34" charset="0"/>
                <a:ea typeface="Calibri" pitchFamily="34" charset="-122"/>
                <a:cs typeface="Calibri" pitchFamily="34" charset="-120"/>
              </a:rPr>
              <a:t>EMPAT KEBERATAN UTAMA</a:t>
            </a:r>
            <a:endParaRPr lang="en-US" sz="950" dirty="0"/>
          </a:p>
        </p:txBody>
      </p:sp>
      <p:sp>
        <p:nvSpPr>
          <p:cNvPr id="30" name="Text 28"/>
          <p:cNvSpPr txBox="1"/>
          <p:nvPr/>
        </p:nvSpPr>
        <p:spPr>
          <a:xfrm>
            <a:off x="8147304" y="2322576"/>
            <a:ext cx="3200400" cy="237744"/>
          </a:xfrm>
          <a:prstGeom prst="rect">
            <a:avLst/>
          </a:prstGeom>
          <a:noFill/>
          <a:ln/>
        </p:spPr>
        <p:txBody>
          <a:bodyPr wrap="square" lIns="0" tIns="0" rIns="0" bIns="0" rtlCol="0" anchor="ctr"/>
          <a:lstStyle/>
          <a:p>
            <a:pPr indent="0" marL="0">
              <a:buNone/>
            </a:pPr>
            <a:r>
              <a:rPr lang="en-US" sz="1300" b="1" dirty="0">
                <a:solidFill>
                  <a:srgbClr val="16202A"/>
                </a:solidFill>
                <a:latin typeface="Cambria" pitchFamily="34" charset="0"/>
                <a:ea typeface="Cambria" pitchFamily="34" charset="-122"/>
                <a:cs typeface="Cambria" pitchFamily="34" charset="-120"/>
              </a:rPr>
              <a:t>Subjektivitas</a:t>
            </a:r>
            <a:endParaRPr lang="en-US" sz="1300" dirty="0"/>
          </a:p>
        </p:txBody>
      </p:sp>
      <p:sp>
        <p:nvSpPr>
          <p:cNvPr id="31" name="Text 29"/>
          <p:cNvSpPr txBox="1"/>
          <p:nvPr/>
        </p:nvSpPr>
        <p:spPr>
          <a:xfrm>
            <a:off x="8147304" y="2560320"/>
            <a:ext cx="3200400" cy="548640"/>
          </a:xfrm>
          <a:prstGeom prst="rect">
            <a:avLst/>
          </a:prstGeom>
          <a:noFill/>
          <a:ln/>
        </p:spPr>
        <p:txBody>
          <a:bodyPr wrap="square" lIns="0" tIns="0" rIns="0" bIns="0" rtlCol="0" anchor="t"/>
          <a:lstStyle/>
          <a:p>
            <a:pPr indent="0" marL="0">
              <a:lnSpc>
                <a:spcPct val="110000"/>
              </a:lnSpc>
              <a:buNone/>
            </a:pPr>
            <a:r>
              <a:rPr lang="en-US" sz="1050" dirty="0">
                <a:solidFill>
                  <a:srgbClr val="2C3540"/>
                </a:solidFill>
                <a:latin typeface="Calibri" pitchFamily="34" charset="0"/>
                <a:ea typeface="Calibri" pitchFamily="34" charset="-122"/>
                <a:cs typeface="Calibri" pitchFamily="34" charset="-120"/>
              </a:rPr>
              <a:t>Penilaian pleasure dan pain bergantung pada pihak yang menghitung dan pada cakupan yang diperhitungkan.</a:t>
            </a:r>
            <a:endParaRPr lang="en-US" sz="1050" dirty="0"/>
          </a:p>
        </p:txBody>
      </p:sp>
      <p:sp>
        <p:nvSpPr>
          <p:cNvPr id="32" name="Text 30"/>
          <p:cNvSpPr txBox="1"/>
          <p:nvPr/>
        </p:nvSpPr>
        <p:spPr>
          <a:xfrm>
            <a:off x="8147304" y="3218688"/>
            <a:ext cx="3200400" cy="237744"/>
          </a:xfrm>
          <a:prstGeom prst="rect">
            <a:avLst/>
          </a:prstGeom>
          <a:noFill/>
          <a:ln/>
        </p:spPr>
        <p:txBody>
          <a:bodyPr wrap="square" lIns="0" tIns="0" rIns="0" bIns="0" rtlCol="0" anchor="ctr"/>
          <a:lstStyle/>
          <a:p>
            <a:pPr indent="0" marL="0">
              <a:buNone/>
            </a:pPr>
            <a:r>
              <a:rPr lang="en-US" sz="1300" b="1" dirty="0">
                <a:solidFill>
                  <a:srgbClr val="16202A"/>
                </a:solidFill>
                <a:latin typeface="Cambria" pitchFamily="34" charset="0"/>
                <a:ea typeface="Cambria" pitchFamily="34" charset="-122"/>
                <a:cs typeface="Cambria" pitchFamily="34" charset="-120"/>
              </a:rPr>
              <a:t>Pembobotan setara</a:t>
            </a:r>
            <a:endParaRPr lang="en-US" sz="1300" dirty="0"/>
          </a:p>
        </p:txBody>
      </p:sp>
      <p:sp>
        <p:nvSpPr>
          <p:cNvPr id="33" name="Text 31"/>
          <p:cNvSpPr txBox="1"/>
          <p:nvPr/>
        </p:nvSpPr>
        <p:spPr>
          <a:xfrm>
            <a:off x="8147304" y="3456432"/>
            <a:ext cx="3200400" cy="548640"/>
          </a:xfrm>
          <a:prstGeom prst="rect">
            <a:avLst/>
          </a:prstGeom>
          <a:noFill/>
          <a:ln/>
        </p:spPr>
        <p:txBody>
          <a:bodyPr wrap="square" lIns="0" tIns="0" rIns="0" bIns="0" rtlCol="0" anchor="t"/>
          <a:lstStyle/>
          <a:p>
            <a:pPr indent="0" marL="0">
              <a:lnSpc>
                <a:spcPct val="110000"/>
              </a:lnSpc>
              <a:buNone/>
            </a:pPr>
            <a:r>
              <a:rPr lang="en-US" sz="1050" dirty="0">
                <a:solidFill>
                  <a:srgbClr val="2C3540"/>
                </a:solidFill>
                <a:latin typeface="Calibri" pitchFamily="34" charset="0"/>
                <a:ea typeface="Calibri" pitchFamily="34" charset="-122"/>
                <a:cs typeface="Calibri" pitchFamily="34" charset="-120"/>
              </a:rPr>
              <a:t>Kepentingan pelaku dan pihak terdekatnya harus diberi bobot sama dengan pihak jauh di rantai pasok.</a:t>
            </a:r>
            <a:endParaRPr lang="en-US" sz="1050" dirty="0"/>
          </a:p>
        </p:txBody>
      </p:sp>
      <p:sp>
        <p:nvSpPr>
          <p:cNvPr id="34" name="Text 32"/>
          <p:cNvSpPr txBox="1"/>
          <p:nvPr/>
        </p:nvSpPr>
        <p:spPr>
          <a:xfrm>
            <a:off x="8147304" y="4114800"/>
            <a:ext cx="3200400" cy="237744"/>
          </a:xfrm>
          <a:prstGeom prst="rect">
            <a:avLst/>
          </a:prstGeom>
          <a:noFill/>
          <a:ln/>
        </p:spPr>
        <p:txBody>
          <a:bodyPr wrap="square" lIns="0" tIns="0" rIns="0" bIns="0" rtlCol="0" anchor="ctr"/>
          <a:lstStyle/>
          <a:p>
            <a:pPr indent="0" marL="0">
              <a:buNone/>
            </a:pPr>
            <a:r>
              <a:rPr lang="en-US" sz="1300" b="1" dirty="0">
                <a:solidFill>
                  <a:srgbClr val="16202A"/>
                </a:solidFill>
                <a:latin typeface="Cambria" pitchFamily="34" charset="0"/>
                <a:ea typeface="Cambria" pitchFamily="34" charset="-122"/>
                <a:cs typeface="Cambria" pitchFamily="34" charset="-120"/>
              </a:rPr>
              <a:t>Kuantifikasi</a:t>
            </a:r>
            <a:endParaRPr lang="en-US" sz="1300" dirty="0"/>
          </a:p>
        </p:txBody>
      </p:sp>
      <p:sp>
        <p:nvSpPr>
          <p:cNvPr id="35" name="Text 33"/>
          <p:cNvSpPr txBox="1"/>
          <p:nvPr/>
        </p:nvSpPr>
        <p:spPr>
          <a:xfrm>
            <a:off x="8147304" y="4352544"/>
            <a:ext cx="3200400" cy="548640"/>
          </a:xfrm>
          <a:prstGeom prst="rect">
            <a:avLst/>
          </a:prstGeom>
          <a:noFill/>
          <a:ln/>
        </p:spPr>
        <p:txBody>
          <a:bodyPr wrap="square" lIns="0" tIns="0" rIns="0" bIns="0" rtlCol="0" anchor="t"/>
          <a:lstStyle/>
          <a:p>
            <a:pPr indent="0" marL="0">
              <a:lnSpc>
                <a:spcPct val="110000"/>
              </a:lnSpc>
              <a:buNone/>
            </a:pPr>
            <a:r>
              <a:rPr lang="en-US" sz="1050" dirty="0">
                <a:solidFill>
                  <a:srgbClr val="2C3540"/>
                </a:solidFill>
                <a:latin typeface="Calibri" pitchFamily="34" charset="0"/>
                <a:ea typeface="Calibri" pitchFamily="34" charset="-122"/>
                <a:cs typeface="Calibri" pitchFamily="34" charset="-120"/>
              </a:rPr>
              <a:t>Hal yang bernilai intrinsik sulit dinilai secara moneter, misalnya pengalaman masa kanak-kanak.</a:t>
            </a:r>
            <a:endParaRPr lang="en-US" sz="1050" dirty="0"/>
          </a:p>
        </p:txBody>
      </p:sp>
      <p:sp>
        <p:nvSpPr>
          <p:cNvPr id="36" name="Text 34"/>
          <p:cNvSpPr txBox="1"/>
          <p:nvPr/>
        </p:nvSpPr>
        <p:spPr>
          <a:xfrm>
            <a:off x="8147304" y="5010912"/>
            <a:ext cx="3200400" cy="237744"/>
          </a:xfrm>
          <a:prstGeom prst="rect">
            <a:avLst/>
          </a:prstGeom>
          <a:noFill/>
          <a:ln/>
        </p:spPr>
        <p:txBody>
          <a:bodyPr wrap="square" lIns="0" tIns="0" rIns="0" bIns="0" rtlCol="0" anchor="ctr"/>
          <a:lstStyle/>
          <a:p>
            <a:pPr indent="0" marL="0">
              <a:buNone/>
            </a:pPr>
            <a:r>
              <a:rPr lang="en-US" sz="1300" b="1" dirty="0">
                <a:solidFill>
                  <a:srgbClr val="16202A"/>
                </a:solidFill>
                <a:latin typeface="Cambria" pitchFamily="34" charset="0"/>
                <a:ea typeface="Cambria" pitchFamily="34" charset="-122"/>
                <a:cs typeface="Cambria" pitchFamily="34" charset="-120"/>
              </a:rPr>
              <a:t>Distribusi utilitas</a:t>
            </a:r>
            <a:endParaRPr lang="en-US" sz="1300" dirty="0"/>
          </a:p>
        </p:txBody>
      </p:sp>
      <p:sp>
        <p:nvSpPr>
          <p:cNvPr id="37" name="Text 35"/>
          <p:cNvSpPr txBox="1"/>
          <p:nvPr/>
        </p:nvSpPr>
        <p:spPr>
          <a:xfrm>
            <a:off x="8147304" y="5248656"/>
            <a:ext cx="3200400" cy="548640"/>
          </a:xfrm>
          <a:prstGeom prst="rect">
            <a:avLst/>
          </a:prstGeom>
          <a:noFill/>
          <a:ln/>
        </p:spPr>
        <p:txBody>
          <a:bodyPr wrap="square" lIns="0" tIns="0" rIns="0" bIns="0" rtlCol="0" anchor="t"/>
          <a:lstStyle/>
          <a:p>
            <a:pPr indent="0" marL="0">
              <a:lnSpc>
                <a:spcPct val="110000"/>
              </a:lnSpc>
              <a:buNone/>
            </a:pPr>
            <a:r>
              <a:rPr lang="en-US" sz="1050" dirty="0">
                <a:solidFill>
                  <a:srgbClr val="2C3540"/>
                </a:solidFill>
                <a:latin typeface="Calibri" pitchFamily="34" charset="0"/>
                <a:ea typeface="Calibri" pitchFamily="34" charset="-122"/>
                <a:cs typeface="Calibri" pitchFamily="34" charset="-120"/>
              </a:rPr>
              <a:t>Pengejaran kebaikan terbesar bagi jumlah terbesar mengabaikan minoritas dan generasi mendatang.</a:t>
            </a:r>
            <a:endParaRPr lang="en-US" sz="1050" dirty="0"/>
          </a:p>
        </p:txBody>
      </p:sp>
      <p:sp>
        <p:nvSpPr>
          <p:cNvPr id="38" name="Text 36"/>
          <p:cNvSpPr txBox="1"/>
          <p:nvPr/>
        </p:nvSpPr>
        <p:spPr>
          <a:xfrm>
            <a:off x="566928" y="6419088"/>
            <a:ext cx="10143439" cy="237744"/>
          </a:xfrm>
          <a:prstGeom prst="rect">
            <a:avLst/>
          </a:prstGeom>
          <a:noFill/>
          <a:ln/>
        </p:spPr>
        <p:txBody>
          <a:bodyPr wrap="square" lIns="0" tIns="0" rIns="0" bIns="0" rtlCol="0" anchor="ctr"/>
          <a:lstStyle/>
          <a:p>
            <a:pPr indent="0" marL="0">
              <a:buNone/>
            </a:pPr>
            <a:r>
              <a:rPr lang="en-US" sz="900" i="1" dirty="0">
                <a:solidFill>
                  <a:srgbClr val="6B7684"/>
                </a:solidFill>
                <a:latin typeface="Calibri" pitchFamily="34" charset="0"/>
                <a:ea typeface="Calibri" pitchFamily="34" charset="-122"/>
                <a:cs typeface="Calibri" pitchFamily="34" charset="-120"/>
              </a:rPr>
              <a:t>Crane dan Matten (2019), Tabel 3.2, halaman 96 sampai 100.</a:t>
            </a:r>
            <a:endParaRPr lang="en-US" sz="900" dirty="0"/>
          </a:p>
        </p:txBody>
      </p:sp>
      <p:sp>
        <p:nvSpPr>
          <p:cNvPr id="39" name="Text 37"/>
          <p:cNvSpPr txBox="1"/>
          <p:nvPr/>
        </p:nvSpPr>
        <p:spPr>
          <a:xfrm>
            <a:off x="10893247" y="6419088"/>
            <a:ext cx="731520" cy="237744"/>
          </a:xfrm>
          <a:prstGeom prst="rect">
            <a:avLst/>
          </a:prstGeom>
          <a:noFill/>
          <a:ln/>
        </p:spPr>
        <p:txBody>
          <a:bodyPr wrap="square" lIns="0" tIns="0" rIns="0" bIns="0" rtlCol="0" anchor="ctr"/>
          <a:lstStyle/>
          <a:p>
            <a:pPr algn="r" indent="0" marL="0">
              <a:buNone/>
            </a:pPr>
            <a:r>
              <a:rPr lang="en-US" sz="1100" b="1" dirty="0">
                <a:solidFill>
                  <a:srgbClr val="6B7684"/>
                </a:solidFill>
                <a:latin typeface="Cambria" pitchFamily="34" charset="0"/>
                <a:ea typeface="Cambria" pitchFamily="34" charset="-122"/>
                <a:cs typeface="Cambria"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B8542A"/>
                </a:solidFill>
                <a:latin typeface="Calibri" pitchFamily="34" charset="0"/>
                <a:ea typeface="Calibri" pitchFamily="34" charset="-122"/>
                <a:cs typeface="Calibri" pitchFamily="34" charset="-120"/>
              </a:rPr>
              <a:t>04   TEORI MODERNIS BARAT   |   BERBASIS PRINSIP</a:t>
            </a:r>
            <a:endParaRPr lang="en-US" sz="1000" dirty="0"/>
          </a:p>
        </p:txBody>
      </p:sp>
      <p:sp>
        <p:nvSpPr>
          <p:cNvPr id="3" name="Text 1"/>
          <p:cNvSpPr txBox="1"/>
          <p:nvPr/>
        </p:nvSpPr>
        <p:spPr>
          <a:xfrm>
            <a:off x="566928" y="585216"/>
            <a:ext cx="11057839" cy="548640"/>
          </a:xfrm>
          <a:prstGeom prst="rect">
            <a:avLst/>
          </a:prstGeom>
          <a:noFill/>
          <a:ln/>
        </p:spPr>
        <p:txBody>
          <a:bodyPr wrap="square" lIns="0" tIns="0" rIns="0" bIns="0" rtlCol="0" anchor="ctr"/>
          <a:lstStyle/>
          <a:p>
            <a:pPr indent="0" marL="0">
              <a:buNone/>
            </a:pPr>
            <a:r>
              <a:rPr lang="en-US" sz="2800" b="1" dirty="0">
                <a:solidFill>
                  <a:srgbClr val="16202A"/>
                </a:solidFill>
                <a:latin typeface="Cambria" pitchFamily="34" charset="0"/>
                <a:ea typeface="Cambria" pitchFamily="34" charset="-122"/>
                <a:cs typeface="Cambria" pitchFamily="34" charset="-120"/>
              </a:rPr>
              <a:t>Etika kewajiban: Immanuel Kant</a:t>
            </a:r>
            <a:endParaRPr lang="en-US" sz="2800" dirty="0"/>
          </a:p>
        </p:txBody>
      </p:sp>
      <p:sp>
        <p:nvSpPr>
          <p:cNvPr id="4" name="Text 2"/>
          <p:cNvSpPr txBox="1"/>
          <p:nvPr/>
        </p:nvSpPr>
        <p:spPr>
          <a:xfrm>
            <a:off x="566928" y="1170432"/>
            <a:ext cx="11057839" cy="310896"/>
          </a:xfrm>
          <a:prstGeom prst="rect">
            <a:avLst/>
          </a:prstGeom>
          <a:noFill/>
          <a:ln/>
        </p:spPr>
        <p:txBody>
          <a:bodyPr wrap="square" lIns="0" tIns="0" rIns="0" bIns="0" rtlCol="0" anchor="t"/>
          <a:lstStyle/>
          <a:p>
            <a:pPr indent="0" marL="0">
              <a:lnSpc>
                <a:spcPct val="110000"/>
              </a:lnSpc>
              <a:buNone/>
            </a:pPr>
            <a:r>
              <a:rPr lang="en-US" sz="1250" dirty="0">
                <a:solidFill>
                  <a:srgbClr val="6B7684"/>
                </a:solidFill>
                <a:latin typeface="Calibri" pitchFamily="34" charset="0"/>
                <a:ea typeface="Calibri" pitchFamily="34" charset="-122"/>
                <a:cs typeface="Calibri" pitchFamily="34" charset="-120"/>
              </a:rPr>
              <a:t>Yang dinilai bukan akibat, melainkan prinsip di balik tindakan dan motivasi pelakunya.</a:t>
            </a:r>
            <a:endParaRPr lang="en-US" sz="1250" dirty="0"/>
          </a:p>
        </p:txBody>
      </p:sp>
      <p:sp>
        <p:nvSpPr>
          <p:cNvPr id="5" name="Shape 3"/>
          <p:cNvSpPr/>
          <p:nvPr/>
        </p:nvSpPr>
        <p:spPr>
          <a:xfrm>
            <a:off x="566928" y="1792224"/>
            <a:ext cx="5120640" cy="2487168"/>
          </a:xfrm>
          <a:prstGeom prst="roundRect">
            <a:avLst>
              <a:gd name="adj" fmla="val 3309"/>
            </a:avLst>
          </a:prstGeom>
          <a:solidFill>
            <a:srgbClr val="16202A"/>
          </a:solidFill>
          <a:ln w="12700">
            <a:solidFill>
              <a:srgbClr val="16202A"/>
            </a:solidFill>
            <a:prstDash val="solid"/>
          </a:ln>
        </p:spPr>
      </p:sp>
      <p:sp>
        <p:nvSpPr>
          <p:cNvPr id="6" name="Shape 4"/>
          <p:cNvSpPr/>
          <p:nvPr/>
        </p:nvSpPr>
        <p:spPr>
          <a:xfrm>
            <a:off x="877824" y="1975104"/>
            <a:ext cx="365760" cy="365760"/>
          </a:xfrm>
          <a:prstGeom prst="roundRect">
            <a:avLst>
              <a:gd name="adj" fmla="val 17500"/>
            </a:avLst>
          </a:prstGeom>
          <a:solidFill>
            <a:srgbClr val="B8542A"/>
          </a:solidFill>
          <a:ln w="12700">
            <a:solidFill>
              <a:srgbClr val="B8542A"/>
            </a:solidFill>
            <a:prstDash val="solid"/>
          </a:ln>
        </p:spPr>
      </p:sp>
      <p:sp>
        <p:nvSpPr>
          <p:cNvPr id="7" name="Text 5"/>
          <p:cNvSpPr txBox="1"/>
          <p:nvPr/>
        </p:nvSpPr>
        <p:spPr>
          <a:xfrm>
            <a:off x="877824" y="19751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8" name="Text 6"/>
          <p:cNvSpPr txBox="1"/>
          <p:nvPr/>
        </p:nvSpPr>
        <p:spPr>
          <a:xfrm>
            <a:off x="1335024" y="1975104"/>
            <a:ext cx="411480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Ethics of duty</a:t>
            </a:r>
            <a:endParaRPr lang="en-US" sz="1700" dirty="0"/>
          </a:p>
        </p:txBody>
      </p:sp>
      <p:sp>
        <p:nvSpPr>
          <p:cNvPr id="9" name="Text 7"/>
          <p:cNvSpPr txBox="1"/>
          <p:nvPr/>
        </p:nvSpPr>
        <p:spPr>
          <a:xfrm>
            <a:off x="877824" y="2395728"/>
            <a:ext cx="4526280" cy="749808"/>
          </a:xfrm>
          <a:prstGeom prst="rect">
            <a:avLst/>
          </a:prstGeom>
          <a:noFill/>
          <a:ln/>
        </p:spPr>
        <p:txBody>
          <a:bodyPr wrap="square" lIns="0" tIns="0" rIns="0" bIns="0" rtlCol="0" anchor="t"/>
          <a:lstStyle/>
          <a:p>
            <a:pPr indent="0" marL="0">
              <a:lnSpc>
                <a:spcPct val="114000"/>
              </a:lnSpc>
              <a:buNone/>
            </a:pPr>
            <a:r>
              <a:rPr lang="en-US" sz="1200" i="1" dirty="0">
                <a:solidFill>
                  <a:srgbClr val="D5DDE4"/>
                </a:solidFill>
                <a:latin typeface="Calibri" pitchFamily="34" charset="0"/>
                <a:ea typeface="Calibri" pitchFamily="34" charset="-122"/>
                <a:cs typeface="Calibri" pitchFamily="34" charset="-120"/>
              </a:rPr>
              <a:t>Kewajiban yang abstrak dan tidak berubah, dirumuskan lewat aturan moral a priori yang dideduksi secara rasional, dan berlaku pada semua persoalan etis yang relevan.</a:t>
            </a:r>
            <a:endParaRPr lang="en-US" sz="1200" dirty="0"/>
          </a:p>
        </p:txBody>
      </p:sp>
      <p:sp>
        <p:nvSpPr>
          <p:cNvPr id="10" name="Text 8"/>
          <p:cNvSpPr txBox="1"/>
          <p:nvPr/>
        </p:nvSpPr>
        <p:spPr>
          <a:xfrm>
            <a:off x="877824" y="3200400"/>
            <a:ext cx="4526280" cy="219456"/>
          </a:xfrm>
          <a:prstGeom prst="rect">
            <a:avLst/>
          </a:prstGeom>
          <a:noFill/>
          <a:ln/>
        </p:spPr>
        <p:txBody>
          <a:bodyPr wrap="square" lIns="0" tIns="0" rIns="0" bIns="0" rtlCol="0" anchor="ctr"/>
          <a:lstStyle/>
          <a:p>
            <a:pPr indent="0" marL="0">
              <a:buNone/>
            </a:pPr>
            <a:r>
              <a:rPr lang="en-US" sz="950" b="1" spc="120" kern="0" dirty="0">
                <a:solidFill>
                  <a:srgbClr val="B8542A"/>
                </a:solidFill>
                <a:latin typeface="Calibri" pitchFamily="34" charset="0"/>
                <a:ea typeface="Calibri" pitchFamily="34" charset="-122"/>
                <a:cs typeface="Calibri" pitchFamily="34" charset="-120"/>
              </a:rPr>
              <a:t>CATEGORICAL IMPERATIVE</a:t>
            </a:r>
            <a:endParaRPr lang="en-US" sz="950" dirty="0"/>
          </a:p>
        </p:txBody>
      </p:sp>
      <p:sp>
        <p:nvSpPr>
          <p:cNvPr id="11" name="Text 9"/>
          <p:cNvSpPr txBox="1"/>
          <p:nvPr/>
        </p:nvSpPr>
        <p:spPr>
          <a:xfrm>
            <a:off x="877824" y="3474720"/>
            <a:ext cx="4526280" cy="658368"/>
          </a:xfrm>
          <a:prstGeom prst="rect">
            <a:avLst/>
          </a:prstGeom>
          <a:noFill/>
          <a:ln/>
        </p:spPr>
        <p:txBody>
          <a:bodyPr wrap="square" lIns="0" tIns="0" rIns="0" bIns="0" rtlCol="0" anchor="t"/>
          <a:lstStyle/>
          <a:p>
            <a:pPr indent="0" marL="0">
              <a:lnSpc>
                <a:spcPct val="110000"/>
              </a:lnSpc>
              <a:buNone/>
            </a:pPr>
            <a:r>
              <a:rPr lang="en-US" sz="1350" dirty="0">
                <a:solidFill>
                  <a:srgbClr val="FFFFFF"/>
                </a:solidFill>
                <a:latin typeface="Cambria" pitchFamily="34" charset="0"/>
                <a:ea typeface="Cambria" pitchFamily="34" charset="-122"/>
                <a:cs typeface="Cambria" pitchFamily="34" charset="-120"/>
              </a:rPr>
              <a:t>Bertindaklah hanya menurut maksim yang sekaligus dapat Anda kehendaki menjadi hukum universal.</a:t>
            </a:r>
            <a:endParaRPr lang="en-US" sz="1350" dirty="0"/>
          </a:p>
        </p:txBody>
      </p:sp>
      <p:sp>
        <p:nvSpPr>
          <p:cNvPr id="12" name="Shape 10"/>
          <p:cNvSpPr/>
          <p:nvPr/>
        </p:nvSpPr>
        <p:spPr>
          <a:xfrm>
            <a:off x="566928" y="4553712"/>
            <a:ext cx="5120640" cy="1426464"/>
          </a:xfrm>
          <a:prstGeom prst="roundRect">
            <a:avLst>
              <a:gd name="adj" fmla="val 5769"/>
            </a:avLst>
          </a:prstGeom>
          <a:solidFill>
            <a:srgbClr val="E3EDEA"/>
          </a:solidFill>
          <a:ln w="12700">
            <a:solidFill>
              <a:srgbClr val="E3EDEA"/>
            </a:solidFill>
            <a:prstDash val="solid"/>
          </a:ln>
        </p:spPr>
      </p:sp>
      <p:sp>
        <p:nvSpPr>
          <p:cNvPr id="13" name="Text 11"/>
          <p:cNvSpPr txBox="1"/>
          <p:nvPr/>
        </p:nvSpPr>
        <p:spPr>
          <a:xfrm>
            <a:off x="877824" y="4718304"/>
            <a:ext cx="4572000" cy="219456"/>
          </a:xfrm>
          <a:prstGeom prst="rect">
            <a:avLst/>
          </a:prstGeom>
          <a:noFill/>
          <a:ln/>
        </p:spPr>
        <p:txBody>
          <a:bodyPr wrap="square" lIns="0" tIns="0" rIns="0" bIns="0" rtlCol="0" anchor="ctr"/>
          <a:lstStyle/>
          <a:p>
            <a:pPr indent="0" marL="0">
              <a:buNone/>
            </a:pPr>
            <a:r>
              <a:rPr lang="en-US" sz="950" b="1" spc="120" kern="0" dirty="0">
                <a:solidFill>
                  <a:srgbClr val="2E6F63"/>
                </a:solidFill>
                <a:latin typeface="Calibri" pitchFamily="34" charset="0"/>
                <a:ea typeface="Calibri" pitchFamily="34" charset="-122"/>
                <a:cs typeface="Calibri" pitchFamily="34" charset="-120"/>
              </a:rPr>
              <a:t>RELEVANSI BAGI BISNIS</a:t>
            </a:r>
            <a:endParaRPr lang="en-US" sz="950" dirty="0"/>
          </a:p>
        </p:txBody>
      </p:sp>
      <p:sp>
        <p:nvSpPr>
          <p:cNvPr id="14" name="Text 12"/>
          <p:cNvSpPr txBox="1"/>
          <p:nvPr/>
        </p:nvSpPr>
        <p:spPr>
          <a:xfrm>
            <a:off x="877824" y="4974336"/>
            <a:ext cx="4526280" cy="914400"/>
          </a:xfrm>
          <a:prstGeom prst="rect">
            <a:avLst/>
          </a:prstGeom>
          <a:noFill/>
          <a:ln/>
        </p:spPr>
        <p:txBody>
          <a:bodyPr wrap="square" lIns="0" tIns="0" rIns="0" bIns="0" rtlCol="0" anchor="t"/>
          <a:lstStyle/>
          <a:p>
            <a:pPr indent="0" marL="0">
              <a:lnSpc>
                <a:spcPct val="114000"/>
              </a:lnSpc>
              <a:buNone/>
            </a:pPr>
            <a:r>
              <a:rPr lang="en-US" sz="1150" dirty="0">
                <a:solidFill>
                  <a:srgbClr val="2C3540"/>
                </a:solidFill>
                <a:latin typeface="Calibri" pitchFamily="34" charset="0"/>
                <a:ea typeface="Calibri" pitchFamily="34" charset="-122"/>
                <a:cs typeface="Calibri" pitchFamily="34" charset="-120"/>
              </a:rPr>
              <a:t>Evan dan Freeman (1993) menunjukkan bahwa dasar etis stakeholder theory berasal dari Kant. Supaya karyawan, komunitas, dan pemasok tidak diperlakukan semata sebagai faktor produksi, perusahaan wajib memberi mereka pengaruh atas keputusan.</a:t>
            </a:r>
            <a:endParaRPr lang="en-US" sz="1150" dirty="0"/>
          </a:p>
        </p:txBody>
      </p:sp>
      <p:sp>
        <p:nvSpPr>
          <p:cNvPr id="15" name="Shape 13"/>
          <p:cNvSpPr/>
          <p:nvPr/>
        </p:nvSpPr>
        <p:spPr>
          <a:xfrm>
            <a:off x="6099048" y="1792224"/>
            <a:ext cx="5522976" cy="1298448"/>
          </a:xfrm>
          <a:prstGeom prst="roundRect">
            <a:avLst>
              <a:gd name="adj" fmla="val 6338"/>
            </a:avLst>
          </a:prstGeom>
          <a:solidFill>
            <a:srgbClr val="F1F3F5"/>
          </a:solidFill>
          <a:ln w="12700">
            <a:solidFill>
              <a:srgbClr val="F1F3F5"/>
            </a:solidFill>
            <a:prstDash val="solid"/>
          </a:ln>
        </p:spPr>
      </p:sp>
      <p:sp>
        <p:nvSpPr>
          <p:cNvPr id="16" name="Text 14"/>
          <p:cNvSpPr txBox="1"/>
          <p:nvPr/>
        </p:nvSpPr>
        <p:spPr>
          <a:xfrm>
            <a:off x="6409944" y="1956816"/>
            <a:ext cx="4937760" cy="274320"/>
          </a:xfrm>
          <a:prstGeom prst="rect">
            <a:avLst/>
          </a:prstGeom>
          <a:noFill/>
          <a:ln/>
        </p:spPr>
        <p:txBody>
          <a:bodyPr wrap="square" lIns="0" tIns="0" rIns="0" bIns="0" rtlCol="0" anchor="ctr"/>
          <a:lstStyle/>
          <a:p>
            <a:pPr indent="0" marL="0">
              <a:buNone/>
            </a:pPr>
            <a:r>
              <a:rPr lang="en-US" sz="1400" b="1" dirty="0">
                <a:solidFill>
                  <a:srgbClr val="16202A"/>
                </a:solidFill>
                <a:latin typeface="Cambria" pitchFamily="34" charset="0"/>
                <a:ea typeface="Cambria" pitchFamily="34" charset="-122"/>
                <a:cs typeface="Cambria" pitchFamily="34" charset="-120"/>
              </a:rPr>
              <a:t>Formulasi satu: universal acceptability</a:t>
            </a:r>
            <a:endParaRPr lang="en-US" sz="1400" dirty="0"/>
          </a:p>
        </p:txBody>
      </p:sp>
      <p:sp>
        <p:nvSpPr>
          <p:cNvPr id="17" name="Text 15"/>
          <p:cNvSpPr txBox="1"/>
          <p:nvPr/>
        </p:nvSpPr>
        <p:spPr>
          <a:xfrm>
            <a:off x="6409944" y="2267712"/>
            <a:ext cx="4937760" cy="749808"/>
          </a:xfrm>
          <a:prstGeom prst="rect">
            <a:avLst/>
          </a:prstGeom>
          <a:noFill/>
          <a:ln/>
        </p:spPr>
        <p:txBody>
          <a:bodyPr wrap="square" lIns="0" tIns="0" rIns="0" bIns="0" rtlCol="0" anchor="t"/>
          <a:lstStyle/>
          <a:p>
            <a:pPr indent="0" marL="0">
              <a:lnSpc>
                <a:spcPct val="112000"/>
              </a:lnSpc>
              <a:buNone/>
            </a:pPr>
            <a:r>
              <a:rPr lang="en-US" sz="1150" dirty="0">
                <a:solidFill>
                  <a:srgbClr val="2C3540"/>
                </a:solidFill>
                <a:latin typeface="Calibri" pitchFamily="34" charset="0"/>
                <a:ea typeface="Calibri" pitchFamily="34" charset="-122"/>
                <a:cs typeface="Calibri" pitchFamily="34" charset="-120"/>
              </a:rPr>
              <a:t>Terima sebuah hukum moral hanya bila semua makhluk berakal budi juga bisa menerimanya. Mengingkari utang tidak lolos, sebab bila menjadi kelaziman tidak akan ada lagi yang meminjamkan uang.</a:t>
            </a:r>
            <a:endParaRPr lang="en-US" sz="1150" dirty="0"/>
          </a:p>
        </p:txBody>
      </p:sp>
      <p:sp>
        <p:nvSpPr>
          <p:cNvPr id="18" name="Shape 16"/>
          <p:cNvSpPr/>
          <p:nvPr/>
        </p:nvSpPr>
        <p:spPr>
          <a:xfrm>
            <a:off x="6099048" y="3255264"/>
            <a:ext cx="5522976" cy="1298448"/>
          </a:xfrm>
          <a:prstGeom prst="roundRect">
            <a:avLst>
              <a:gd name="adj" fmla="val 6338"/>
            </a:avLst>
          </a:prstGeom>
          <a:solidFill>
            <a:srgbClr val="F1F3F5"/>
          </a:solidFill>
          <a:ln w="12700">
            <a:solidFill>
              <a:srgbClr val="F1F3F5"/>
            </a:solidFill>
            <a:prstDash val="solid"/>
          </a:ln>
        </p:spPr>
      </p:sp>
      <p:sp>
        <p:nvSpPr>
          <p:cNvPr id="19" name="Text 17"/>
          <p:cNvSpPr txBox="1"/>
          <p:nvPr/>
        </p:nvSpPr>
        <p:spPr>
          <a:xfrm>
            <a:off x="6409944" y="3419856"/>
            <a:ext cx="4937760" cy="274320"/>
          </a:xfrm>
          <a:prstGeom prst="rect">
            <a:avLst/>
          </a:prstGeom>
          <a:noFill/>
          <a:ln/>
        </p:spPr>
        <p:txBody>
          <a:bodyPr wrap="square" lIns="0" tIns="0" rIns="0" bIns="0" rtlCol="0" anchor="ctr"/>
          <a:lstStyle/>
          <a:p>
            <a:pPr indent="0" marL="0">
              <a:buNone/>
            </a:pPr>
            <a:r>
              <a:rPr lang="en-US" sz="1400" b="1" dirty="0">
                <a:solidFill>
                  <a:srgbClr val="16202A"/>
                </a:solidFill>
                <a:latin typeface="Cambria" pitchFamily="34" charset="0"/>
                <a:ea typeface="Cambria" pitchFamily="34" charset="-122"/>
                <a:cs typeface="Cambria" pitchFamily="34" charset="-120"/>
              </a:rPr>
              <a:t>Formulasi dua: respect for persons</a:t>
            </a:r>
            <a:endParaRPr lang="en-US" sz="1400" dirty="0"/>
          </a:p>
        </p:txBody>
      </p:sp>
      <p:sp>
        <p:nvSpPr>
          <p:cNvPr id="20" name="Text 18"/>
          <p:cNvSpPr txBox="1"/>
          <p:nvPr/>
        </p:nvSpPr>
        <p:spPr>
          <a:xfrm>
            <a:off x="6409944" y="3730752"/>
            <a:ext cx="4937760" cy="749808"/>
          </a:xfrm>
          <a:prstGeom prst="rect">
            <a:avLst/>
          </a:prstGeom>
          <a:noFill/>
          <a:ln/>
        </p:spPr>
        <p:txBody>
          <a:bodyPr wrap="square" lIns="0" tIns="0" rIns="0" bIns="0" rtlCol="0" anchor="t"/>
          <a:lstStyle/>
          <a:p>
            <a:pPr indent="0" marL="0">
              <a:lnSpc>
                <a:spcPct val="112000"/>
              </a:lnSpc>
              <a:buNone/>
            </a:pPr>
            <a:r>
              <a:rPr lang="en-US" sz="1150" dirty="0">
                <a:solidFill>
                  <a:srgbClr val="2C3540"/>
                </a:solidFill>
                <a:latin typeface="Calibri" pitchFamily="34" charset="0"/>
                <a:ea typeface="Calibri" pitchFamily="34" charset="-122"/>
                <a:cs typeface="Calibri" pitchFamily="34" charset="-120"/>
              </a:rPr>
              <a:t>Perlakukan manusia sebagai tujuan, jangan pernah sekadar sebagai sarana. Bisnis memang memakai orang, tetapi tidak boleh melupakan kesehatan, pendidikan, dan pilihan hidup mereka sendiri.</a:t>
            </a:r>
            <a:endParaRPr lang="en-US" sz="1150" dirty="0"/>
          </a:p>
        </p:txBody>
      </p:sp>
      <p:sp>
        <p:nvSpPr>
          <p:cNvPr id="21" name="Shape 19"/>
          <p:cNvSpPr/>
          <p:nvPr/>
        </p:nvSpPr>
        <p:spPr>
          <a:xfrm>
            <a:off x="6099048" y="4718304"/>
            <a:ext cx="5522976" cy="1261872"/>
          </a:xfrm>
          <a:prstGeom prst="roundRect">
            <a:avLst>
              <a:gd name="adj" fmla="val 6522"/>
            </a:avLst>
          </a:prstGeom>
          <a:solidFill>
            <a:srgbClr val="E6EAEE"/>
          </a:solidFill>
          <a:ln w="12700">
            <a:solidFill>
              <a:srgbClr val="E6EAEE"/>
            </a:solidFill>
            <a:prstDash val="solid"/>
          </a:ln>
        </p:spPr>
      </p:sp>
      <p:sp>
        <p:nvSpPr>
          <p:cNvPr id="22" name="Text 20"/>
          <p:cNvSpPr txBox="1"/>
          <p:nvPr/>
        </p:nvSpPr>
        <p:spPr>
          <a:xfrm>
            <a:off x="6409944" y="4882896"/>
            <a:ext cx="4937760" cy="219456"/>
          </a:xfrm>
          <a:prstGeom prst="rect">
            <a:avLst/>
          </a:prstGeom>
          <a:noFill/>
          <a:ln/>
        </p:spPr>
        <p:txBody>
          <a:bodyPr wrap="square" lIns="0" tIns="0" rIns="0" bIns="0" rtlCol="0" anchor="ctr"/>
          <a:lstStyle/>
          <a:p>
            <a:pPr indent="0" marL="0">
              <a:buNone/>
            </a:pPr>
            <a:r>
              <a:rPr lang="en-US" sz="950" b="1" spc="120" kern="0" dirty="0">
                <a:solidFill>
                  <a:srgbClr val="B8542A"/>
                </a:solidFill>
                <a:latin typeface="Calibri" pitchFamily="34" charset="0"/>
                <a:ea typeface="Calibri" pitchFamily="34" charset="-122"/>
                <a:cs typeface="Calibri" pitchFamily="34" charset="-120"/>
              </a:rPr>
              <a:t>TIGA KEBERATAN</a:t>
            </a:r>
            <a:endParaRPr lang="en-US" sz="950" dirty="0"/>
          </a:p>
        </p:txBody>
      </p:sp>
      <p:sp>
        <p:nvSpPr>
          <p:cNvPr id="23" name="Text 21"/>
          <p:cNvSpPr txBox="1"/>
          <p:nvPr/>
        </p:nvSpPr>
        <p:spPr>
          <a:xfrm>
            <a:off x="6409944" y="5138928"/>
            <a:ext cx="4937760" cy="749808"/>
          </a:xfrm>
          <a:prstGeom prst="rect">
            <a:avLst/>
          </a:prstGeom>
          <a:noFill/>
          <a:ln/>
        </p:spPr>
        <p:txBody>
          <a:bodyPr wrap="square" lIns="0" tIns="0" rIns="0" bIns="0" rtlCol="0" anchor="t"/>
          <a:lstStyle/>
          <a:p>
            <a:pPr indent="0" marL="0">
              <a:lnSpc>
                <a:spcPct val="112000"/>
              </a:lnSpc>
              <a:buNone/>
            </a:pPr>
            <a:r>
              <a:rPr lang="en-US" sz="1150" dirty="0">
                <a:solidFill>
                  <a:srgbClr val="2C3540"/>
                </a:solidFill>
                <a:latin typeface="Calibri" pitchFamily="34" charset="0"/>
                <a:ea typeface="Calibri" pitchFamily="34" charset="-122"/>
                <a:cs typeface="Calibri" pitchFamily="34" charset="-120"/>
              </a:rPr>
              <a:t>Pertama, kriteria motivasinya terlalu sempit: perawat yang menemani pasien sekarat atas dasar iba tidak dinilai bermoral. Kedua, akibat diabaikan sepenuhnya. Ketiga, asumsi rasionalitas penuh bersifat idealistis.</a:t>
            </a:r>
            <a:endParaRPr lang="en-US" sz="1150" dirty="0"/>
          </a:p>
        </p:txBody>
      </p:sp>
      <p:sp>
        <p:nvSpPr>
          <p:cNvPr id="24" name="Text 22"/>
          <p:cNvSpPr txBox="1"/>
          <p:nvPr/>
        </p:nvSpPr>
        <p:spPr>
          <a:xfrm>
            <a:off x="566928" y="6419088"/>
            <a:ext cx="10143439" cy="237744"/>
          </a:xfrm>
          <a:prstGeom prst="rect">
            <a:avLst/>
          </a:prstGeom>
          <a:noFill/>
          <a:ln/>
        </p:spPr>
        <p:txBody>
          <a:bodyPr wrap="square" lIns="0" tIns="0" rIns="0" bIns="0" rtlCol="0" anchor="ctr"/>
          <a:lstStyle/>
          <a:p>
            <a:pPr indent="0" marL="0">
              <a:buNone/>
            </a:pPr>
            <a:r>
              <a:rPr lang="en-US" sz="900" i="1" dirty="0">
                <a:solidFill>
                  <a:srgbClr val="6B7684"/>
                </a:solidFill>
                <a:latin typeface="Calibri" pitchFamily="34" charset="0"/>
                <a:ea typeface="Calibri" pitchFamily="34" charset="-122"/>
                <a:cs typeface="Calibri" pitchFamily="34" charset="-120"/>
              </a:rPr>
              <a:t>Crane dan Matten (2019), Tabel 3.4, halaman 100 sampai 103.</a:t>
            </a:r>
            <a:endParaRPr lang="en-US" sz="900" dirty="0"/>
          </a:p>
        </p:txBody>
      </p:sp>
      <p:sp>
        <p:nvSpPr>
          <p:cNvPr id="25" name="Text 23"/>
          <p:cNvSpPr txBox="1"/>
          <p:nvPr/>
        </p:nvSpPr>
        <p:spPr>
          <a:xfrm>
            <a:off x="10893247" y="6419088"/>
            <a:ext cx="731520" cy="237744"/>
          </a:xfrm>
          <a:prstGeom prst="rect">
            <a:avLst/>
          </a:prstGeom>
          <a:noFill/>
          <a:ln/>
        </p:spPr>
        <p:txBody>
          <a:bodyPr wrap="square" lIns="0" tIns="0" rIns="0" bIns="0" rtlCol="0" anchor="ctr"/>
          <a:lstStyle/>
          <a:p>
            <a:pPr algn="r" indent="0" marL="0">
              <a:buNone/>
            </a:pPr>
            <a:r>
              <a:rPr lang="en-US" sz="1100" b="1" dirty="0">
                <a:solidFill>
                  <a:srgbClr val="6B7684"/>
                </a:solidFill>
                <a:latin typeface="Cambria" pitchFamily="34" charset="0"/>
                <a:ea typeface="Cambria" pitchFamily="34" charset="-122"/>
                <a:cs typeface="Cambria"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B8542A"/>
                </a:solidFill>
                <a:latin typeface="Calibri" pitchFamily="34" charset="0"/>
                <a:ea typeface="Calibri" pitchFamily="34" charset="-122"/>
                <a:cs typeface="Calibri" pitchFamily="34" charset="-120"/>
              </a:rPr>
              <a:t>04   TEORI MODERNIS BARAT   |   BERBASIS PRINSIP</a:t>
            </a:r>
            <a:endParaRPr lang="en-US" sz="1000" dirty="0"/>
          </a:p>
        </p:txBody>
      </p:sp>
      <p:sp>
        <p:nvSpPr>
          <p:cNvPr id="3" name="Text 1"/>
          <p:cNvSpPr txBox="1"/>
          <p:nvPr/>
        </p:nvSpPr>
        <p:spPr>
          <a:xfrm>
            <a:off x="566928" y="585216"/>
            <a:ext cx="11057839" cy="548640"/>
          </a:xfrm>
          <a:prstGeom prst="rect">
            <a:avLst/>
          </a:prstGeom>
          <a:noFill/>
          <a:ln/>
        </p:spPr>
        <p:txBody>
          <a:bodyPr wrap="square" lIns="0" tIns="0" rIns="0" bIns="0" rtlCol="0" anchor="ctr"/>
          <a:lstStyle/>
          <a:p>
            <a:pPr indent="0" marL="0">
              <a:buNone/>
            </a:pPr>
            <a:r>
              <a:rPr lang="en-US" sz="2800" b="1" dirty="0">
                <a:solidFill>
                  <a:srgbClr val="16202A"/>
                </a:solidFill>
                <a:latin typeface="Cambria" pitchFamily="34" charset="0"/>
                <a:ea typeface="Cambria" pitchFamily="34" charset="-122"/>
                <a:cs typeface="Cambria" pitchFamily="34" charset="-120"/>
              </a:rPr>
              <a:t>Etika hak dan hak asasi manusia</a:t>
            </a:r>
            <a:endParaRPr lang="en-US" sz="2800" dirty="0"/>
          </a:p>
        </p:txBody>
      </p:sp>
      <p:sp>
        <p:nvSpPr>
          <p:cNvPr id="4" name="Text 2"/>
          <p:cNvSpPr txBox="1"/>
          <p:nvPr/>
        </p:nvSpPr>
        <p:spPr>
          <a:xfrm>
            <a:off x="566928" y="1170432"/>
            <a:ext cx="11057839" cy="310896"/>
          </a:xfrm>
          <a:prstGeom prst="rect">
            <a:avLst/>
          </a:prstGeom>
          <a:noFill/>
          <a:ln/>
        </p:spPr>
        <p:txBody>
          <a:bodyPr wrap="square" lIns="0" tIns="0" rIns="0" bIns="0" rtlCol="0" anchor="t"/>
          <a:lstStyle/>
          <a:p>
            <a:pPr indent="0" marL="0">
              <a:lnSpc>
                <a:spcPct val="110000"/>
              </a:lnSpc>
              <a:buNone/>
            </a:pPr>
            <a:r>
              <a:rPr lang="en-US" sz="1250" dirty="0">
                <a:solidFill>
                  <a:srgbClr val="6B7684"/>
                </a:solidFill>
                <a:latin typeface="Calibri" pitchFamily="34" charset="0"/>
                <a:ea typeface="Calibri" pitchFamily="34" charset="-122"/>
                <a:cs typeface="Calibri" pitchFamily="34" charset="-120"/>
              </a:rPr>
              <a:t>Pendekatan yang paling banyak dipakai secara praktis, karena sudah melembaga dalam instrumen internasional.</a:t>
            </a:r>
            <a:endParaRPr lang="en-US" sz="1250" dirty="0"/>
          </a:p>
        </p:txBody>
      </p:sp>
      <p:sp>
        <p:nvSpPr>
          <p:cNvPr id="5" name="Shape 3"/>
          <p:cNvSpPr/>
          <p:nvPr/>
        </p:nvSpPr>
        <p:spPr>
          <a:xfrm>
            <a:off x="566928" y="1792224"/>
            <a:ext cx="5120640" cy="1499616"/>
          </a:xfrm>
          <a:prstGeom prst="roundRect">
            <a:avLst>
              <a:gd name="adj" fmla="val 5488"/>
            </a:avLst>
          </a:prstGeom>
          <a:solidFill>
            <a:srgbClr val="16202A"/>
          </a:solidFill>
          <a:ln w="12700">
            <a:solidFill>
              <a:srgbClr val="16202A"/>
            </a:solidFill>
            <a:prstDash val="solid"/>
          </a:ln>
        </p:spPr>
      </p:sp>
      <p:sp>
        <p:nvSpPr>
          <p:cNvPr id="6" name="Shape 4"/>
          <p:cNvSpPr/>
          <p:nvPr/>
        </p:nvSpPr>
        <p:spPr>
          <a:xfrm>
            <a:off x="877824" y="1975104"/>
            <a:ext cx="365760" cy="365760"/>
          </a:xfrm>
          <a:prstGeom prst="roundRect">
            <a:avLst>
              <a:gd name="adj" fmla="val 17500"/>
            </a:avLst>
          </a:prstGeom>
          <a:solidFill>
            <a:srgbClr val="B8542A"/>
          </a:solidFill>
          <a:ln w="12700">
            <a:solidFill>
              <a:srgbClr val="B8542A"/>
            </a:solidFill>
            <a:prstDash val="solid"/>
          </a:ln>
        </p:spPr>
      </p:sp>
      <p:sp>
        <p:nvSpPr>
          <p:cNvPr id="7" name="Text 5"/>
          <p:cNvSpPr txBox="1"/>
          <p:nvPr/>
        </p:nvSpPr>
        <p:spPr>
          <a:xfrm>
            <a:off x="877824" y="19751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8" name="Text 6"/>
          <p:cNvSpPr txBox="1"/>
          <p:nvPr/>
        </p:nvSpPr>
        <p:spPr>
          <a:xfrm>
            <a:off x="1335024" y="1975104"/>
            <a:ext cx="411480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Human rights</a:t>
            </a:r>
            <a:endParaRPr lang="en-US" sz="1700" dirty="0"/>
          </a:p>
        </p:txBody>
      </p:sp>
      <p:sp>
        <p:nvSpPr>
          <p:cNvPr id="9" name="Text 7"/>
          <p:cNvSpPr txBox="1"/>
          <p:nvPr/>
        </p:nvSpPr>
        <p:spPr>
          <a:xfrm>
            <a:off x="877824" y="2395728"/>
            <a:ext cx="4526280" cy="749808"/>
          </a:xfrm>
          <a:prstGeom prst="rect">
            <a:avLst/>
          </a:prstGeom>
          <a:noFill/>
          <a:ln/>
        </p:spPr>
        <p:txBody>
          <a:bodyPr wrap="square" lIns="0" tIns="0" rIns="0" bIns="0" rtlCol="0" anchor="t"/>
          <a:lstStyle/>
          <a:p>
            <a:pPr indent="0" marL="0">
              <a:lnSpc>
                <a:spcPct val="114000"/>
              </a:lnSpc>
              <a:buNone/>
            </a:pPr>
            <a:r>
              <a:rPr lang="en-US" sz="1200" i="1" dirty="0">
                <a:solidFill>
                  <a:srgbClr val="D5DDE4"/>
                </a:solidFill>
                <a:latin typeface="Calibri" pitchFamily="34" charset="0"/>
                <a:ea typeface="Calibri" pitchFamily="34" charset="-122"/>
                <a:cs typeface="Calibri" pitchFamily="34" charset="-120"/>
              </a:rPr>
              <a:t>Hak dasar yang melekat, tidak dapat dicabut, dan tidak bersyarat, yang dimiliki semua manusia tanpa kecuali.</a:t>
            </a:r>
            <a:endParaRPr lang="en-US" sz="1200" dirty="0"/>
          </a:p>
        </p:txBody>
      </p:sp>
      <p:sp>
        <p:nvSpPr>
          <p:cNvPr id="10" name="Shape 8"/>
          <p:cNvSpPr/>
          <p:nvPr/>
        </p:nvSpPr>
        <p:spPr>
          <a:xfrm>
            <a:off x="566928" y="3566160"/>
            <a:ext cx="5120640" cy="2414016"/>
          </a:xfrm>
          <a:prstGeom prst="roundRect">
            <a:avLst>
              <a:gd name="adj" fmla="val 3409"/>
            </a:avLst>
          </a:prstGeom>
          <a:solidFill>
            <a:srgbClr val="F1F3F5"/>
          </a:solidFill>
          <a:ln w="12700">
            <a:solidFill>
              <a:srgbClr val="F1F3F5"/>
            </a:solidFill>
            <a:prstDash val="solid"/>
          </a:ln>
        </p:spPr>
      </p:sp>
      <p:sp>
        <p:nvSpPr>
          <p:cNvPr id="11" name="Text 9"/>
          <p:cNvSpPr txBox="1"/>
          <p:nvPr/>
        </p:nvSpPr>
        <p:spPr>
          <a:xfrm>
            <a:off x="877824" y="3767328"/>
            <a:ext cx="4572000" cy="219456"/>
          </a:xfrm>
          <a:prstGeom prst="rect">
            <a:avLst/>
          </a:prstGeom>
          <a:noFill/>
          <a:ln/>
        </p:spPr>
        <p:txBody>
          <a:bodyPr wrap="square" lIns="0" tIns="0" rIns="0" bIns="0" rtlCol="0" anchor="ctr"/>
          <a:lstStyle/>
          <a:p>
            <a:pPr indent="0" marL="0">
              <a:buNone/>
            </a:pPr>
            <a:r>
              <a:rPr lang="en-US" sz="950" b="1" spc="120" kern="0" dirty="0">
                <a:solidFill>
                  <a:srgbClr val="B8542A"/>
                </a:solidFill>
                <a:latin typeface="Calibri" pitchFamily="34" charset="0"/>
                <a:ea typeface="Calibri" pitchFamily="34" charset="-122"/>
                <a:cs typeface="Calibri" pitchFamily="34" charset="-120"/>
              </a:rPr>
              <a:t>KORELASI HAK DAN KEWAJIBAN</a:t>
            </a:r>
            <a:endParaRPr lang="en-US" sz="950" dirty="0"/>
          </a:p>
        </p:txBody>
      </p:sp>
      <p:sp>
        <p:nvSpPr>
          <p:cNvPr id="12" name="Text 10"/>
          <p:cNvSpPr txBox="1"/>
          <p:nvPr/>
        </p:nvSpPr>
        <p:spPr>
          <a:xfrm>
            <a:off x="877824" y="4041648"/>
            <a:ext cx="4526280" cy="1828800"/>
          </a:xfrm>
          <a:prstGeom prst="rect">
            <a:avLst/>
          </a:prstGeom>
          <a:noFill/>
          <a:ln/>
        </p:spPr>
        <p:txBody>
          <a:bodyPr wrap="square" lIns="0" tIns="0" rIns="0" bIns="0" rtlCol="0" anchor="t"/>
          <a:lstStyle/>
          <a:p>
            <a:pPr indent="0" marL="0">
              <a:lnSpc>
                <a:spcPct val="116000"/>
              </a:lnSpc>
              <a:buNone/>
            </a:pPr>
            <a:r>
              <a:rPr lang="en-US" sz="1150" dirty="0">
                <a:solidFill>
                  <a:srgbClr val="2C3540"/>
                </a:solidFill>
                <a:latin typeface="Calibri" pitchFamily="34" charset="0"/>
                <a:ea typeface="Calibri" pitchFamily="34" charset="-122"/>
                <a:cs typeface="Calibri" pitchFamily="34" charset="-120"/>
              </a:rPr>
              <a:t>John Locke merumuskan natural rights atas hidup, kebebasan, dan milik, yang kemudian meluas ke kebebasan berpendapat, hati nurani, persetujuan, privasi, dan proses hukum yang adil.</a:t>
            </a:r>
            <a:endParaRPr lang="en-US" sz="1150" dirty="0"/>
          </a:p>
          <a:p>
            <a:pPr indent="0" marL="0">
              <a:lnSpc>
                <a:spcPct val="116000"/>
              </a:lnSpc>
              <a:buNone/>
            </a:pPr>
            <a:endParaRPr lang="en-US" sz="1150" dirty="0"/>
          </a:p>
          <a:p>
            <a:pPr indent="0" marL="0">
              <a:lnSpc>
                <a:spcPct val="116000"/>
              </a:lnSpc>
              <a:buNone/>
            </a:pPr>
            <a:r>
              <a:rPr lang="en-US" sz="1150" dirty="0">
                <a:solidFill>
                  <a:srgbClr val="2C3540"/>
                </a:solidFill>
                <a:latin typeface="Calibri" pitchFamily="34" charset="0"/>
                <a:ea typeface="Calibri" pitchFamily="34" charset="-122"/>
                <a:cs typeface="Calibri" pitchFamily="34" charset="-120"/>
              </a:rPr>
              <a:t>Hak seseorang menimbulkan kewajiban pada pihak lain. Hak atas privasi mewajibkan pihak lain menahan diri dari pengumpulan informasi pribadi tanpa persetujuan.</a:t>
            </a:r>
            <a:endParaRPr lang="en-US" sz="1150" dirty="0"/>
          </a:p>
        </p:txBody>
      </p:sp>
      <p:sp>
        <p:nvSpPr>
          <p:cNvPr id="13" name="Shape 11"/>
          <p:cNvSpPr/>
          <p:nvPr/>
        </p:nvSpPr>
        <p:spPr>
          <a:xfrm>
            <a:off x="6099048" y="1792224"/>
            <a:ext cx="5522976" cy="1938528"/>
          </a:xfrm>
          <a:prstGeom prst="roundRect">
            <a:avLst>
              <a:gd name="adj" fmla="val 4245"/>
            </a:avLst>
          </a:prstGeom>
          <a:solidFill>
            <a:srgbClr val="16202A"/>
          </a:solidFill>
          <a:ln w="12700">
            <a:solidFill>
              <a:srgbClr val="16202A"/>
            </a:solidFill>
            <a:prstDash val="solid"/>
          </a:ln>
        </p:spPr>
      </p:sp>
      <p:sp>
        <p:nvSpPr>
          <p:cNvPr id="14" name="Text 12"/>
          <p:cNvSpPr txBox="1"/>
          <p:nvPr/>
        </p:nvSpPr>
        <p:spPr>
          <a:xfrm>
            <a:off x="6409944" y="1975104"/>
            <a:ext cx="4937760" cy="219456"/>
          </a:xfrm>
          <a:prstGeom prst="rect">
            <a:avLst/>
          </a:prstGeom>
          <a:noFill/>
          <a:ln/>
        </p:spPr>
        <p:txBody>
          <a:bodyPr wrap="square" lIns="0" tIns="0" rIns="0" bIns="0" rtlCol="0" anchor="ctr"/>
          <a:lstStyle/>
          <a:p>
            <a:pPr indent="0" marL="0">
              <a:buNone/>
            </a:pPr>
            <a:r>
              <a:rPr lang="en-US" sz="950" b="1" spc="120" kern="0" dirty="0">
                <a:solidFill>
                  <a:srgbClr val="97A3AE"/>
                </a:solidFill>
                <a:latin typeface="Calibri" pitchFamily="34" charset="0"/>
                <a:ea typeface="Calibri" pitchFamily="34" charset="-122"/>
                <a:cs typeface="Calibri" pitchFamily="34" charset="-120"/>
              </a:rPr>
              <a:t>UN GUIDING PRINCIPLES 2011   |   RUGGIE PRINCIPLES</a:t>
            </a:r>
            <a:endParaRPr lang="en-US" sz="950" dirty="0"/>
          </a:p>
        </p:txBody>
      </p:sp>
      <p:sp>
        <p:nvSpPr>
          <p:cNvPr id="15" name="Text 13"/>
          <p:cNvSpPr txBox="1"/>
          <p:nvPr/>
        </p:nvSpPr>
        <p:spPr>
          <a:xfrm>
            <a:off x="6409944" y="2286000"/>
            <a:ext cx="1097280" cy="292608"/>
          </a:xfrm>
          <a:prstGeom prst="rect">
            <a:avLst/>
          </a:prstGeom>
          <a:noFill/>
          <a:ln/>
        </p:spPr>
        <p:txBody>
          <a:bodyPr wrap="square" lIns="0" tIns="0" rIns="0" bIns="0" rtlCol="0" anchor="ctr"/>
          <a:lstStyle/>
          <a:p>
            <a:pPr indent="0" marL="0">
              <a:buNone/>
            </a:pPr>
            <a:r>
              <a:rPr lang="en-US" sz="950" b="1" spc="80" kern="0" dirty="0">
                <a:solidFill>
                  <a:srgbClr val="97A3AE"/>
                </a:solidFill>
                <a:latin typeface="Calibri" pitchFamily="34" charset="0"/>
                <a:ea typeface="Calibri" pitchFamily="34" charset="-122"/>
                <a:cs typeface="Calibri" pitchFamily="34" charset="-120"/>
              </a:rPr>
              <a:t>NEGARA</a:t>
            </a:r>
            <a:endParaRPr lang="en-US" sz="950" dirty="0"/>
          </a:p>
        </p:txBody>
      </p:sp>
      <p:sp>
        <p:nvSpPr>
          <p:cNvPr id="16" name="Text 14"/>
          <p:cNvSpPr txBox="1"/>
          <p:nvPr/>
        </p:nvSpPr>
        <p:spPr>
          <a:xfrm>
            <a:off x="7534656" y="2286000"/>
            <a:ext cx="1051560" cy="292608"/>
          </a:xfrm>
          <a:prstGeom prst="rect">
            <a:avLst/>
          </a:prstGeom>
          <a:noFill/>
          <a:ln/>
        </p:spPr>
        <p:txBody>
          <a:bodyPr wrap="square" lIns="0" tIns="0" rIns="0" bIns="0" rtlCol="0" anchor="ctr"/>
          <a:lstStyle/>
          <a:p>
            <a:pPr indent="0" marL="0">
              <a:buNone/>
            </a:pPr>
            <a:r>
              <a:rPr lang="en-US" sz="1400" b="1" dirty="0">
                <a:solidFill>
                  <a:srgbClr val="B8542A"/>
                </a:solidFill>
                <a:latin typeface="Cambria" pitchFamily="34" charset="0"/>
                <a:ea typeface="Cambria" pitchFamily="34" charset="-122"/>
                <a:cs typeface="Cambria" pitchFamily="34" charset="-120"/>
              </a:rPr>
              <a:t>protect</a:t>
            </a:r>
            <a:endParaRPr lang="en-US" sz="1400" dirty="0"/>
          </a:p>
        </p:txBody>
      </p:sp>
      <p:sp>
        <p:nvSpPr>
          <p:cNvPr id="17" name="Text 15"/>
          <p:cNvSpPr txBox="1"/>
          <p:nvPr/>
        </p:nvSpPr>
        <p:spPr>
          <a:xfrm>
            <a:off x="8613648" y="2286000"/>
            <a:ext cx="2734056" cy="292608"/>
          </a:xfrm>
          <a:prstGeom prst="rect">
            <a:avLst/>
          </a:prstGeom>
          <a:noFill/>
          <a:ln/>
        </p:spPr>
        <p:txBody>
          <a:bodyPr wrap="square" lIns="0" tIns="0" rIns="0" bIns="0" rtlCol="0" anchor="ctr"/>
          <a:lstStyle/>
          <a:p>
            <a:pPr indent="0" marL="0">
              <a:buNone/>
            </a:pPr>
            <a:r>
              <a:rPr lang="en-US" sz="1100" dirty="0">
                <a:solidFill>
                  <a:srgbClr val="D5DDE4"/>
                </a:solidFill>
                <a:latin typeface="Calibri" pitchFamily="34" charset="0"/>
                <a:ea typeface="Calibri" pitchFamily="34" charset="-122"/>
                <a:cs typeface="Calibri" pitchFamily="34" charset="-120"/>
              </a:rPr>
              <a:t>kewajiban melindungi hak asasi</a:t>
            </a:r>
            <a:endParaRPr lang="en-US" sz="1100" dirty="0"/>
          </a:p>
        </p:txBody>
      </p:sp>
      <p:sp>
        <p:nvSpPr>
          <p:cNvPr id="18" name="Text 16"/>
          <p:cNvSpPr txBox="1"/>
          <p:nvPr/>
        </p:nvSpPr>
        <p:spPr>
          <a:xfrm>
            <a:off x="6409944" y="2743200"/>
            <a:ext cx="1097280" cy="292608"/>
          </a:xfrm>
          <a:prstGeom prst="rect">
            <a:avLst/>
          </a:prstGeom>
          <a:noFill/>
          <a:ln/>
        </p:spPr>
        <p:txBody>
          <a:bodyPr wrap="square" lIns="0" tIns="0" rIns="0" bIns="0" rtlCol="0" anchor="ctr"/>
          <a:lstStyle/>
          <a:p>
            <a:pPr indent="0" marL="0">
              <a:buNone/>
            </a:pPr>
            <a:r>
              <a:rPr lang="en-US" sz="950" b="1" spc="80" kern="0" dirty="0">
                <a:solidFill>
                  <a:srgbClr val="97A3AE"/>
                </a:solidFill>
                <a:latin typeface="Calibri" pitchFamily="34" charset="0"/>
                <a:ea typeface="Calibri" pitchFamily="34" charset="-122"/>
                <a:cs typeface="Calibri" pitchFamily="34" charset="-120"/>
              </a:rPr>
              <a:t>BISNIS</a:t>
            </a:r>
            <a:endParaRPr lang="en-US" sz="950" dirty="0"/>
          </a:p>
        </p:txBody>
      </p:sp>
      <p:sp>
        <p:nvSpPr>
          <p:cNvPr id="19" name="Text 17"/>
          <p:cNvSpPr txBox="1"/>
          <p:nvPr/>
        </p:nvSpPr>
        <p:spPr>
          <a:xfrm>
            <a:off x="7534656" y="2743200"/>
            <a:ext cx="1051560" cy="292608"/>
          </a:xfrm>
          <a:prstGeom prst="rect">
            <a:avLst/>
          </a:prstGeom>
          <a:noFill/>
          <a:ln/>
        </p:spPr>
        <p:txBody>
          <a:bodyPr wrap="square" lIns="0" tIns="0" rIns="0" bIns="0" rtlCol="0" anchor="ctr"/>
          <a:lstStyle/>
          <a:p>
            <a:pPr indent="0" marL="0">
              <a:buNone/>
            </a:pPr>
            <a:r>
              <a:rPr lang="en-US" sz="1400" b="1" dirty="0">
                <a:solidFill>
                  <a:srgbClr val="B8542A"/>
                </a:solidFill>
                <a:latin typeface="Cambria" pitchFamily="34" charset="0"/>
                <a:ea typeface="Cambria" pitchFamily="34" charset="-122"/>
                <a:cs typeface="Cambria" pitchFamily="34" charset="-120"/>
              </a:rPr>
              <a:t>respect</a:t>
            </a:r>
            <a:endParaRPr lang="en-US" sz="1400" dirty="0"/>
          </a:p>
        </p:txBody>
      </p:sp>
      <p:sp>
        <p:nvSpPr>
          <p:cNvPr id="20" name="Text 18"/>
          <p:cNvSpPr txBox="1"/>
          <p:nvPr/>
        </p:nvSpPr>
        <p:spPr>
          <a:xfrm>
            <a:off x="8613648" y="2743200"/>
            <a:ext cx="2734056" cy="292608"/>
          </a:xfrm>
          <a:prstGeom prst="rect">
            <a:avLst/>
          </a:prstGeom>
          <a:noFill/>
          <a:ln/>
        </p:spPr>
        <p:txBody>
          <a:bodyPr wrap="square" lIns="0" tIns="0" rIns="0" bIns="0" rtlCol="0" anchor="ctr"/>
          <a:lstStyle/>
          <a:p>
            <a:pPr indent="0" marL="0">
              <a:buNone/>
            </a:pPr>
            <a:r>
              <a:rPr lang="en-US" sz="1100" dirty="0">
                <a:solidFill>
                  <a:srgbClr val="D5DDE4"/>
                </a:solidFill>
                <a:latin typeface="Calibri" pitchFamily="34" charset="0"/>
                <a:ea typeface="Calibri" pitchFamily="34" charset="-122"/>
                <a:cs typeface="Calibri" pitchFamily="34" charset="-120"/>
              </a:rPr>
              <a:t>tanggung jawab menghormati hak asasi</a:t>
            </a:r>
            <a:endParaRPr lang="en-US" sz="1100" dirty="0"/>
          </a:p>
        </p:txBody>
      </p:sp>
      <p:sp>
        <p:nvSpPr>
          <p:cNvPr id="21" name="Text 19"/>
          <p:cNvSpPr txBox="1"/>
          <p:nvPr/>
        </p:nvSpPr>
        <p:spPr>
          <a:xfrm>
            <a:off x="6409944" y="3200400"/>
            <a:ext cx="1097280" cy="292608"/>
          </a:xfrm>
          <a:prstGeom prst="rect">
            <a:avLst/>
          </a:prstGeom>
          <a:noFill/>
          <a:ln/>
        </p:spPr>
        <p:txBody>
          <a:bodyPr wrap="square" lIns="0" tIns="0" rIns="0" bIns="0" rtlCol="0" anchor="ctr"/>
          <a:lstStyle/>
          <a:p>
            <a:pPr indent="0" marL="0">
              <a:buNone/>
            </a:pPr>
            <a:r>
              <a:rPr lang="en-US" sz="950" b="1" spc="80" kern="0" dirty="0">
                <a:solidFill>
                  <a:srgbClr val="97A3AE"/>
                </a:solidFill>
                <a:latin typeface="Calibri" pitchFamily="34" charset="0"/>
                <a:ea typeface="Calibri" pitchFamily="34" charset="-122"/>
                <a:cs typeface="Calibri" pitchFamily="34" charset="-120"/>
              </a:rPr>
              <a:t>PERADILAN</a:t>
            </a:r>
            <a:endParaRPr lang="en-US" sz="950" dirty="0"/>
          </a:p>
        </p:txBody>
      </p:sp>
      <p:sp>
        <p:nvSpPr>
          <p:cNvPr id="22" name="Text 20"/>
          <p:cNvSpPr txBox="1"/>
          <p:nvPr/>
        </p:nvSpPr>
        <p:spPr>
          <a:xfrm>
            <a:off x="7534656" y="3200400"/>
            <a:ext cx="1051560" cy="292608"/>
          </a:xfrm>
          <a:prstGeom prst="rect">
            <a:avLst/>
          </a:prstGeom>
          <a:noFill/>
          <a:ln/>
        </p:spPr>
        <p:txBody>
          <a:bodyPr wrap="square" lIns="0" tIns="0" rIns="0" bIns="0" rtlCol="0" anchor="ctr"/>
          <a:lstStyle/>
          <a:p>
            <a:pPr indent="0" marL="0">
              <a:buNone/>
            </a:pPr>
            <a:r>
              <a:rPr lang="en-US" sz="1400" b="1" dirty="0">
                <a:solidFill>
                  <a:srgbClr val="B8542A"/>
                </a:solidFill>
                <a:latin typeface="Cambria" pitchFamily="34" charset="0"/>
                <a:ea typeface="Cambria" pitchFamily="34" charset="-122"/>
                <a:cs typeface="Cambria" pitchFamily="34" charset="-120"/>
              </a:rPr>
              <a:t>remedy</a:t>
            </a:r>
            <a:endParaRPr lang="en-US" sz="1400" dirty="0"/>
          </a:p>
        </p:txBody>
      </p:sp>
      <p:sp>
        <p:nvSpPr>
          <p:cNvPr id="23" name="Text 21"/>
          <p:cNvSpPr txBox="1"/>
          <p:nvPr/>
        </p:nvSpPr>
        <p:spPr>
          <a:xfrm>
            <a:off x="8613648" y="3200400"/>
            <a:ext cx="2734056" cy="292608"/>
          </a:xfrm>
          <a:prstGeom prst="rect">
            <a:avLst/>
          </a:prstGeom>
          <a:noFill/>
          <a:ln/>
        </p:spPr>
        <p:txBody>
          <a:bodyPr wrap="square" lIns="0" tIns="0" rIns="0" bIns="0" rtlCol="0" anchor="ctr"/>
          <a:lstStyle/>
          <a:p>
            <a:pPr indent="0" marL="0">
              <a:buNone/>
            </a:pPr>
            <a:r>
              <a:rPr lang="en-US" sz="1100" dirty="0">
                <a:solidFill>
                  <a:srgbClr val="D5DDE4"/>
                </a:solidFill>
                <a:latin typeface="Calibri" pitchFamily="34" charset="0"/>
                <a:ea typeface="Calibri" pitchFamily="34" charset="-122"/>
                <a:cs typeface="Calibri" pitchFamily="34" charset="-120"/>
              </a:rPr>
              <a:t>akses pemulihan bagi korban</a:t>
            </a:r>
            <a:endParaRPr lang="en-US" sz="1100" dirty="0"/>
          </a:p>
        </p:txBody>
      </p:sp>
      <p:sp>
        <p:nvSpPr>
          <p:cNvPr id="24" name="Shape 22"/>
          <p:cNvSpPr/>
          <p:nvPr/>
        </p:nvSpPr>
        <p:spPr>
          <a:xfrm>
            <a:off x="6099048" y="4005072"/>
            <a:ext cx="5522976" cy="950976"/>
          </a:xfrm>
          <a:prstGeom prst="roundRect">
            <a:avLst>
              <a:gd name="adj" fmla="val 8654"/>
            </a:avLst>
          </a:prstGeom>
          <a:solidFill>
            <a:srgbClr val="F6EAE3"/>
          </a:solidFill>
          <a:ln w="12700">
            <a:solidFill>
              <a:srgbClr val="F6EAE3"/>
            </a:solidFill>
            <a:prstDash val="solid"/>
          </a:ln>
        </p:spPr>
      </p:sp>
      <p:sp>
        <p:nvSpPr>
          <p:cNvPr id="25" name="Text 23"/>
          <p:cNvSpPr txBox="1"/>
          <p:nvPr/>
        </p:nvSpPr>
        <p:spPr>
          <a:xfrm>
            <a:off x="6409944" y="4151376"/>
            <a:ext cx="4937760" cy="694944"/>
          </a:xfrm>
          <a:prstGeom prst="rect">
            <a:avLst/>
          </a:prstGeom>
          <a:noFill/>
          <a:ln/>
        </p:spPr>
        <p:txBody>
          <a:bodyPr wrap="square" lIns="0" tIns="0" rIns="0" bIns="0" rtlCol="0" anchor="t"/>
          <a:lstStyle/>
          <a:p>
            <a:pPr indent="0" marL="0">
              <a:lnSpc>
                <a:spcPct val="112000"/>
              </a:lnSpc>
              <a:buNone/>
            </a:pPr>
            <a:r>
              <a:rPr lang="en-US" sz="1150" dirty="0">
                <a:solidFill>
                  <a:srgbClr val="7A3A1C"/>
                </a:solidFill>
                <a:latin typeface="Calibri" pitchFamily="34" charset="0"/>
                <a:ea typeface="Calibri" pitchFamily="34" charset="-122"/>
                <a:cs typeface="Calibri" pitchFamily="34" charset="-120"/>
              </a:rPr>
              <a:t>Cakupan tanggung jawab: perusahaan wajib mencegah dan meredakan dampak buruk yang terkait langsung melalui relasi bisnisnya, sekalipun ia tidak ikut menyebabkannya. Pemasok termasuk di dalamnya.</a:t>
            </a:r>
            <a:endParaRPr lang="en-US" sz="1150" dirty="0"/>
          </a:p>
        </p:txBody>
      </p:sp>
      <p:sp>
        <p:nvSpPr>
          <p:cNvPr id="26" name="Shape 24"/>
          <p:cNvSpPr/>
          <p:nvPr/>
        </p:nvSpPr>
        <p:spPr>
          <a:xfrm>
            <a:off x="6099048" y="5230368"/>
            <a:ext cx="5522976" cy="749808"/>
          </a:xfrm>
          <a:prstGeom prst="roundRect">
            <a:avLst>
              <a:gd name="adj" fmla="val 10976"/>
            </a:avLst>
          </a:prstGeom>
          <a:solidFill>
            <a:srgbClr val="E6EAEE"/>
          </a:solidFill>
          <a:ln w="12700">
            <a:solidFill>
              <a:srgbClr val="E6EAEE"/>
            </a:solidFill>
            <a:prstDash val="solid"/>
          </a:ln>
        </p:spPr>
      </p:sp>
      <p:sp>
        <p:nvSpPr>
          <p:cNvPr id="27" name="Text 25"/>
          <p:cNvSpPr txBox="1"/>
          <p:nvPr/>
        </p:nvSpPr>
        <p:spPr>
          <a:xfrm>
            <a:off x="6409944" y="5376672"/>
            <a:ext cx="4937760" cy="219456"/>
          </a:xfrm>
          <a:prstGeom prst="rect">
            <a:avLst/>
          </a:prstGeom>
          <a:noFill/>
          <a:ln/>
        </p:spPr>
        <p:txBody>
          <a:bodyPr wrap="square" lIns="0" tIns="0" rIns="0" bIns="0" rtlCol="0" anchor="ctr"/>
          <a:lstStyle/>
          <a:p>
            <a:pPr indent="0" marL="0">
              <a:buNone/>
            </a:pPr>
            <a:r>
              <a:rPr lang="en-US" sz="950" b="1" spc="120" kern="0" dirty="0">
                <a:solidFill>
                  <a:srgbClr val="B8542A"/>
                </a:solidFill>
                <a:latin typeface="Calibri" pitchFamily="34" charset="0"/>
                <a:ea typeface="Calibri" pitchFamily="34" charset="-122"/>
                <a:cs typeface="Calibri" pitchFamily="34" charset="-120"/>
              </a:rPr>
              <a:t>PASAL YANG PALING RELEVAN BAGI BISNIS</a:t>
            </a:r>
            <a:endParaRPr lang="en-US" sz="950" dirty="0"/>
          </a:p>
        </p:txBody>
      </p:sp>
      <p:sp>
        <p:nvSpPr>
          <p:cNvPr id="28" name="Text 26"/>
          <p:cNvSpPr txBox="1"/>
          <p:nvPr/>
        </p:nvSpPr>
        <p:spPr>
          <a:xfrm>
            <a:off x="6409944" y="5614416"/>
            <a:ext cx="4937760" cy="329184"/>
          </a:xfrm>
          <a:prstGeom prst="rect">
            <a:avLst/>
          </a:prstGeom>
          <a:noFill/>
          <a:ln/>
        </p:spPr>
        <p:txBody>
          <a:bodyPr wrap="square" lIns="0" tIns="0" rIns="0" bIns="0" rtlCol="0" anchor="t"/>
          <a:lstStyle/>
          <a:p>
            <a:pPr indent="0" marL="0">
              <a:lnSpc>
                <a:spcPct val="110000"/>
              </a:lnSpc>
              <a:buNone/>
            </a:pPr>
            <a:r>
              <a:rPr lang="en-US" sz="1100" dirty="0">
                <a:solidFill>
                  <a:srgbClr val="2C3540"/>
                </a:solidFill>
                <a:latin typeface="Calibri" pitchFamily="34" charset="0"/>
                <a:ea typeface="Calibri" pitchFamily="34" charset="-122"/>
                <a:cs typeface="Calibri" pitchFamily="34" charset="-120"/>
              </a:rPr>
              <a:t>Pasal 12 privasi pekerja dan konsumen, Pasal 20 kebebasan berserikat, dan Pasal 23 kondisi kerja yang adil serta upah yang layak.</a:t>
            </a:r>
            <a:endParaRPr lang="en-US" sz="1100" dirty="0"/>
          </a:p>
        </p:txBody>
      </p:sp>
      <p:sp>
        <p:nvSpPr>
          <p:cNvPr id="29" name="Text 27"/>
          <p:cNvSpPr txBox="1"/>
          <p:nvPr/>
        </p:nvSpPr>
        <p:spPr>
          <a:xfrm>
            <a:off x="566928" y="6419088"/>
            <a:ext cx="10143439" cy="237744"/>
          </a:xfrm>
          <a:prstGeom prst="rect">
            <a:avLst/>
          </a:prstGeom>
          <a:noFill/>
          <a:ln/>
        </p:spPr>
        <p:txBody>
          <a:bodyPr wrap="square" lIns="0" tIns="0" rIns="0" bIns="0" rtlCol="0" anchor="ctr"/>
          <a:lstStyle/>
          <a:p>
            <a:pPr indent="0" marL="0">
              <a:buNone/>
            </a:pPr>
            <a:r>
              <a:rPr lang="en-US" sz="900" i="1" dirty="0">
                <a:solidFill>
                  <a:srgbClr val="6B7684"/>
                </a:solidFill>
                <a:latin typeface="Calibri" pitchFamily="34" charset="0"/>
                <a:ea typeface="Calibri" pitchFamily="34" charset="-122"/>
                <a:cs typeface="Calibri" pitchFamily="34" charset="-120"/>
              </a:rPr>
              <a:t>Crane dan Matten (2019), halaman 103 sampai 107. Universal Declaration of Human Rights (1948) dan UN Global Compact prinsip 1 dan 2.</a:t>
            </a:r>
            <a:endParaRPr lang="en-US" sz="900" dirty="0"/>
          </a:p>
        </p:txBody>
      </p:sp>
      <p:sp>
        <p:nvSpPr>
          <p:cNvPr id="30" name="Text 28"/>
          <p:cNvSpPr txBox="1"/>
          <p:nvPr/>
        </p:nvSpPr>
        <p:spPr>
          <a:xfrm>
            <a:off x="10893247" y="6419088"/>
            <a:ext cx="731520" cy="237744"/>
          </a:xfrm>
          <a:prstGeom prst="rect">
            <a:avLst/>
          </a:prstGeom>
          <a:noFill/>
          <a:ln/>
        </p:spPr>
        <p:txBody>
          <a:bodyPr wrap="square" lIns="0" tIns="0" rIns="0" bIns="0" rtlCol="0" anchor="ctr"/>
          <a:lstStyle/>
          <a:p>
            <a:pPr algn="r" indent="0" marL="0">
              <a:buNone/>
            </a:pPr>
            <a:r>
              <a:rPr lang="en-US" sz="1100" b="1" dirty="0">
                <a:solidFill>
                  <a:srgbClr val="6B7684"/>
                </a:solidFill>
                <a:latin typeface="Cambria" pitchFamily="34" charset="0"/>
                <a:ea typeface="Cambria" pitchFamily="34" charset="-122"/>
                <a:cs typeface="Cambria"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B8542A"/>
                </a:solidFill>
                <a:latin typeface="Calibri" pitchFamily="34" charset="0"/>
                <a:ea typeface="Calibri" pitchFamily="34" charset="-122"/>
                <a:cs typeface="Calibri" pitchFamily="34" charset="-120"/>
              </a:rPr>
              <a:t>04   TEORI MODERNIS BARAT   |   BERBASIS PRINSIP</a:t>
            </a:r>
            <a:endParaRPr lang="en-US" sz="1000" dirty="0"/>
          </a:p>
        </p:txBody>
      </p:sp>
      <p:sp>
        <p:nvSpPr>
          <p:cNvPr id="3" name="Text 1"/>
          <p:cNvSpPr txBox="1"/>
          <p:nvPr/>
        </p:nvSpPr>
        <p:spPr>
          <a:xfrm>
            <a:off x="566928" y="585216"/>
            <a:ext cx="11057839" cy="548640"/>
          </a:xfrm>
          <a:prstGeom prst="rect">
            <a:avLst/>
          </a:prstGeom>
          <a:noFill/>
          <a:ln/>
        </p:spPr>
        <p:txBody>
          <a:bodyPr wrap="square" lIns="0" tIns="0" rIns="0" bIns="0" rtlCol="0" anchor="ctr"/>
          <a:lstStyle/>
          <a:p>
            <a:pPr indent="0" marL="0">
              <a:buNone/>
            </a:pPr>
            <a:r>
              <a:rPr lang="en-US" sz="2800" b="1" dirty="0">
                <a:solidFill>
                  <a:srgbClr val="16202A"/>
                </a:solidFill>
                <a:latin typeface="Cambria" pitchFamily="34" charset="0"/>
                <a:ea typeface="Cambria" pitchFamily="34" charset="-122"/>
                <a:cs typeface="Cambria" pitchFamily="34" charset="-120"/>
              </a:rPr>
              <a:t>Keadilan: Rawls dan kontrak sosial</a:t>
            </a:r>
            <a:endParaRPr lang="en-US" sz="2800" dirty="0"/>
          </a:p>
        </p:txBody>
      </p:sp>
      <p:sp>
        <p:nvSpPr>
          <p:cNvPr id="4" name="Text 2"/>
          <p:cNvSpPr txBox="1"/>
          <p:nvPr/>
        </p:nvSpPr>
        <p:spPr>
          <a:xfrm>
            <a:off x="566928" y="1170432"/>
            <a:ext cx="11057839" cy="310896"/>
          </a:xfrm>
          <a:prstGeom prst="rect">
            <a:avLst/>
          </a:prstGeom>
          <a:noFill/>
          <a:ln/>
        </p:spPr>
        <p:txBody>
          <a:bodyPr wrap="square" lIns="0" tIns="0" rIns="0" bIns="0" rtlCol="0" anchor="t"/>
          <a:lstStyle/>
          <a:p>
            <a:pPr indent="0" marL="0">
              <a:lnSpc>
                <a:spcPct val="110000"/>
              </a:lnSpc>
              <a:buNone/>
            </a:pPr>
            <a:r>
              <a:rPr lang="en-US" sz="1250" dirty="0">
                <a:solidFill>
                  <a:srgbClr val="6B7684"/>
                </a:solidFill>
                <a:latin typeface="Calibri" pitchFamily="34" charset="0"/>
                <a:ea typeface="Calibri" pitchFamily="34" charset="-122"/>
                <a:cs typeface="Calibri" pitchFamily="34" charset="-120"/>
              </a:rPr>
              <a:t>Pertanyaannya bergeser dari benar atau salah menjadi susunan seperti apa yang layak disepakati bersama.</a:t>
            </a:r>
            <a:endParaRPr lang="en-US" sz="1250" dirty="0"/>
          </a:p>
        </p:txBody>
      </p:sp>
      <p:sp>
        <p:nvSpPr>
          <p:cNvPr id="5" name="Shape 3"/>
          <p:cNvSpPr/>
          <p:nvPr/>
        </p:nvSpPr>
        <p:spPr>
          <a:xfrm>
            <a:off x="566928" y="1792224"/>
            <a:ext cx="5120640" cy="2487168"/>
          </a:xfrm>
          <a:prstGeom prst="roundRect">
            <a:avLst>
              <a:gd name="adj" fmla="val 3309"/>
            </a:avLst>
          </a:prstGeom>
          <a:solidFill>
            <a:srgbClr val="16202A"/>
          </a:solidFill>
          <a:ln w="12700">
            <a:solidFill>
              <a:srgbClr val="16202A"/>
            </a:solidFill>
            <a:prstDash val="solid"/>
          </a:ln>
        </p:spPr>
      </p:sp>
      <p:sp>
        <p:nvSpPr>
          <p:cNvPr id="6" name="Shape 4"/>
          <p:cNvSpPr/>
          <p:nvPr/>
        </p:nvSpPr>
        <p:spPr>
          <a:xfrm>
            <a:off x="877824" y="1975104"/>
            <a:ext cx="365760" cy="365760"/>
          </a:xfrm>
          <a:prstGeom prst="roundRect">
            <a:avLst>
              <a:gd name="adj" fmla="val 17500"/>
            </a:avLst>
          </a:prstGeom>
          <a:solidFill>
            <a:srgbClr val="B8542A"/>
          </a:solidFill>
          <a:ln w="12700">
            <a:solidFill>
              <a:srgbClr val="B8542A"/>
            </a:solidFill>
            <a:prstDash val="solid"/>
          </a:ln>
        </p:spPr>
      </p:sp>
      <p:sp>
        <p:nvSpPr>
          <p:cNvPr id="7" name="Text 5"/>
          <p:cNvSpPr txBox="1"/>
          <p:nvPr/>
        </p:nvSpPr>
        <p:spPr>
          <a:xfrm>
            <a:off x="877824" y="19751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8" name="Text 6"/>
          <p:cNvSpPr txBox="1"/>
          <p:nvPr/>
        </p:nvSpPr>
        <p:spPr>
          <a:xfrm>
            <a:off x="1335024" y="1975104"/>
            <a:ext cx="411480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Justice</a:t>
            </a:r>
            <a:endParaRPr lang="en-US" sz="1700" dirty="0"/>
          </a:p>
        </p:txBody>
      </p:sp>
      <p:sp>
        <p:nvSpPr>
          <p:cNvPr id="9" name="Text 7"/>
          <p:cNvSpPr txBox="1"/>
          <p:nvPr/>
        </p:nvSpPr>
        <p:spPr>
          <a:xfrm>
            <a:off x="877824" y="2395728"/>
            <a:ext cx="4526280" cy="603504"/>
          </a:xfrm>
          <a:prstGeom prst="rect">
            <a:avLst/>
          </a:prstGeom>
          <a:noFill/>
          <a:ln/>
        </p:spPr>
        <p:txBody>
          <a:bodyPr wrap="square" lIns="0" tIns="0" rIns="0" bIns="0" rtlCol="0" anchor="t"/>
          <a:lstStyle/>
          <a:p>
            <a:pPr indent="0" marL="0">
              <a:lnSpc>
                <a:spcPct val="114000"/>
              </a:lnSpc>
              <a:buNone/>
            </a:pPr>
            <a:r>
              <a:rPr lang="en-US" sz="1200" i="1" dirty="0">
                <a:solidFill>
                  <a:srgbClr val="D5DDE4"/>
                </a:solidFill>
                <a:latin typeface="Calibri" pitchFamily="34" charset="0"/>
                <a:ea typeface="Calibri" pitchFamily="34" charset="-122"/>
                <a:cs typeface="Calibri" pitchFamily="34" charset="-120"/>
              </a:rPr>
              <a:t>Perlakuan yang adil terhadap setiap orang dalam satu situasi, sehingga semua pihak memperoleh apa yang memang menjadi haknya.</a:t>
            </a:r>
            <a:endParaRPr lang="en-US" sz="1200" dirty="0"/>
          </a:p>
        </p:txBody>
      </p:sp>
      <p:sp>
        <p:nvSpPr>
          <p:cNvPr id="10" name="Text 8"/>
          <p:cNvSpPr txBox="1"/>
          <p:nvPr/>
        </p:nvSpPr>
        <p:spPr>
          <a:xfrm>
            <a:off x="877824" y="3072384"/>
            <a:ext cx="4526280" cy="219456"/>
          </a:xfrm>
          <a:prstGeom prst="rect">
            <a:avLst/>
          </a:prstGeom>
          <a:noFill/>
          <a:ln/>
        </p:spPr>
        <p:txBody>
          <a:bodyPr wrap="square" lIns="0" tIns="0" rIns="0" bIns="0" rtlCol="0" anchor="ctr"/>
          <a:lstStyle/>
          <a:p>
            <a:pPr indent="0" marL="0">
              <a:buNone/>
            </a:pPr>
            <a:r>
              <a:rPr lang="en-US" sz="950" b="1" spc="120" kern="0" dirty="0">
                <a:solidFill>
                  <a:srgbClr val="B8542A"/>
                </a:solidFill>
                <a:latin typeface="Calibri" pitchFamily="34" charset="0"/>
                <a:ea typeface="Calibri" pitchFamily="34" charset="-122"/>
                <a:cs typeface="Calibri" pitchFamily="34" charset="-120"/>
              </a:rPr>
              <a:t>VEIL OF IGNORANCE</a:t>
            </a:r>
            <a:endParaRPr lang="en-US" sz="950" dirty="0"/>
          </a:p>
        </p:txBody>
      </p:sp>
      <p:sp>
        <p:nvSpPr>
          <p:cNvPr id="11" name="Text 9"/>
          <p:cNvSpPr txBox="1"/>
          <p:nvPr/>
        </p:nvSpPr>
        <p:spPr>
          <a:xfrm>
            <a:off x="877824" y="3346704"/>
            <a:ext cx="4526280" cy="786384"/>
          </a:xfrm>
          <a:prstGeom prst="rect">
            <a:avLst/>
          </a:prstGeom>
          <a:noFill/>
          <a:ln/>
        </p:spPr>
        <p:txBody>
          <a:bodyPr wrap="square" lIns="0" tIns="0" rIns="0" bIns="0" rtlCol="0" anchor="t"/>
          <a:lstStyle/>
          <a:p>
            <a:pPr indent="0" marL="0">
              <a:lnSpc>
                <a:spcPct val="110000"/>
              </a:lnSpc>
              <a:buNone/>
            </a:pPr>
            <a:r>
              <a:rPr lang="en-US" sz="1350" dirty="0">
                <a:solidFill>
                  <a:srgbClr val="FFFFFF"/>
                </a:solidFill>
                <a:latin typeface="Cambria" pitchFamily="34" charset="0"/>
                <a:ea typeface="Cambria" pitchFamily="34" charset="-122"/>
                <a:cs typeface="Cambria" pitchFamily="34" charset="-120"/>
              </a:rPr>
              <a:t>Susunan apa yang akan Anda pilih bila Anda belum tahu posisi yang akan Anda tempati di dalamnya?</a:t>
            </a:r>
            <a:endParaRPr lang="en-US" sz="1350" dirty="0"/>
          </a:p>
        </p:txBody>
      </p:sp>
      <p:sp>
        <p:nvSpPr>
          <p:cNvPr id="12" name="Shape 10"/>
          <p:cNvSpPr/>
          <p:nvPr/>
        </p:nvSpPr>
        <p:spPr>
          <a:xfrm>
            <a:off x="566928" y="4553712"/>
            <a:ext cx="2487168" cy="1426464"/>
          </a:xfrm>
          <a:prstGeom prst="roundRect">
            <a:avLst>
              <a:gd name="adj" fmla="val 5769"/>
            </a:avLst>
          </a:prstGeom>
          <a:solidFill>
            <a:srgbClr val="F1F3F5"/>
          </a:solidFill>
          <a:ln w="12700">
            <a:solidFill>
              <a:srgbClr val="F1F3F5"/>
            </a:solidFill>
            <a:prstDash val="solid"/>
          </a:ln>
        </p:spPr>
      </p:sp>
      <p:sp>
        <p:nvSpPr>
          <p:cNvPr id="13" name="Text 11"/>
          <p:cNvSpPr txBox="1"/>
          <p:nvPr/>
        </p:nvSpPr>
        <p:spPr>
          <a:xfrm>
            <a:off x="804672" y="4718304"/>
            <a:ext cx="2011680" cy="219456"/>
          </a:xfrm>
          <a:prstGeom prst="rect">
            <a:avLst/>
          </a:prstGeom>
          <a:noFill/>
          <a:ln/>
        </p:spPr>
        <p:txBody>
          <a:bodyPr wrap="square" lIns="0" tIns="0" rIns="0" bIns="0" rtlCol="0" anchor="ctr"/>
          <a:lstStyle/>
          <a:p>
            <a:pPr indent="0" marL="0">
              <a:buNone/>
            </a:pPr>
            <a:r>
              <a:rPr lang="en-US" sz="950" b="1" spc="120" kern="0" dirty="0">
                <a:solidFill>
                  <a:srgbClr val="B8542A"/>
                </a:solidFill>
                <a:latin typeface="Calibri" pitchFamily="34" charset="0"/>
                <a:ea typeface="Calibri" pitchFamily="34" charset="-122"/>
                <a:cs typeface="Calibri" pitchFamily="34" charset="-120"/>
              </a:rPr>
              <a:t>PROSEDURAL</a:t>
            </a:r>
            <a:endParaRPr lang="en-US" sz="950" dirty="0"/>
          </a:p>
        </p:txBody>
      </p:sp>
      <p:sp>
        <p:nvSpPr>
          <p:cNvPr id="14" name="Text 12"/>
          <p:cNvSpPr txBox="1"/>
          <p:nvPr/>
        </p:nvSpPr>
        <p:spPr>
          <a:xfrm>
            <a:off x="804672" y="4974336"/>
            <a:ext cx="2048256" cy="914400"/>
          </a:xfrm>
          <a:prstGeom prst="rect">
            <a:avLst/>
          </a:prstGeom>
          <a:noFill/>
          <a:ln/>
        </p:spPr>
        <p:txBody>
          <a:bodyPr wrap="square" lIns="0" tIns="0" rIns="0" bIns="0" rtlCol="0" anchor="t"/>
          <a:lstStyle/>
          <a:p>
            <a:pPr indent="0" marL="0">
              <a:lnSpc>
                <a:spcPct val="112000"/>
              </a:lnSpc>
              <a:buNone/>
            </a:pPr>
            <a:r>
              <a:rPr lang="en-US" sz="1150" dirty="0">
                <a:solidFill>
                  <a:srgbClr val="2C3540"/>
                </a:solidFill>
                <a:latin typeface="Calibri" pitchFamily="34" charset="0"/>
                <a:ea typeface="Calibri" pitchFamily="34" charset="-122"/>
                <a:cs typeface="Calibri" pitchFamily="34" charset="-120"/>
              </a:rPr>
              <a:t>Keadilan pada prosesnya. Siapa yang berhak turut memutuskan dan melalui mekanisme apa.</a:t>
            </a:r>
            <a:endParaRPr lang="en-US" sz="1150" dirty="0"/>
          </a:p>
        </p:txBody>
      </p:sp>
      <p:sp>
        <p:nvSpPr>
          <p:cNvPr id="15" name="Shape 13"/>
          <p:cNvSpPr/>
          <p:nvPr/>
        </p:nvSpPr>
        <p:spPr>
          <a:xfrm>
            <a:off x="3200400" y="4553712"/>
            <a:ext cx="2487168" cy="1426464"/>
          </a:xfrm>
          <a:prstGeom prst="roundRect">
            <a:avLst>
              <a:gd name="adj" fmla="val 5769"/>
            </a:avLst>
          </a:prstGeom>
          <a:solidFill>
            <a:srgbClr val="F1F3F5"/>
          </a:solidFill>
          <a:ln w="12700">
            <a:solidFill>
              <a:srgbClr val="F1F3F5"/>
            </a:solidFill>
            <a:prstDash val="solid"/>
          </a:ln>
        </p:spPr>
      </p:sp>
      <p:sp>
        <p:nvSpPr>
          <p:cNvPr id="16" name="Text 14"/>
          <p:cNvSpPr txBox="1"/>
          <p:nvPr/>
        </p:nvSpPr>
        <p:spPr>
          <a:xfrm>
            <a:off x="3438144" y="4718304"/>
            <a:ext cx="2011680" cy="219456"/>
          </a:xfrm>
          <a:prstGeom prst="rect">
            <a:avLst/>
          </a:prstGeom>
          <a:noFill/>
          <a:ln/>
        </p:spPr>
        <p:txBody>
          <a:bodyPr wrap="square" lIns="0" tIns="0" rIns="0" bIns="0" rtlCol="0" anchor="ctr"/>
          <a:lstStyle/>
          <a:p>
            <a:pPr indent="0" marL="0">
              <a:buNone/>
            </a:pPr>
            <a:r>
              <a:rPr lang="en-US" sz="950" b="1" spc="120" kern="0" dirty="0">
                <a:solidFill>
                  <a:srgbClr val="B8542A"/>
                </a:solidFill>
                <a:latin typeface="Calibri" pitchFamily="34" charset="0"/>
                <a:ea typeface="Calibri" pitchFamily="34" charset="-122"/>
                <a:cs typeface="Calibri" pitchFamily="34" charset="-120"/>
              </a:rPr>
              <a:t>DISTRIBUTIF</a:t>
            </a:r>
            <a:endParaRPr lang="en-US" sz="950" dirty="0"/>
          </a:p>
        </p:txBody>
      </p:sp>
      <p:sp>
        <p:nvSpPr>
          <p:cNvPr id="17" name="Text 15"/>
          <p:cNvSpPr txBox="1"/>
          <p:nvPr/>
        </p:nvSpPr>
        <p:spPr>
          <a:xfrm>
            <a:off x="3438144" y="4974336"/>
            <a:ext cx="2048256" cy="914400"/>
          </a:xfrm>
          <a:prstGeom prst="rect">
            <a:avLst/>
          </a:prstGeom>
          <a:noFill/>
          <a:ln/>
        </p:spPr>
        <p:txBody>
          <a:bodyPr wrap="square" lIns="0" tIns="0" rIns="0" bIns="0" rtlCol="0" anchor="t"/>
          <a:lstStyle/>
          <a:p>
            <a:pPr indent="0" marL="0">
              <a:lnSpc>
                <a:spcPct val="112000"/>
              </a:lnSpc>
              <a:buNone/>
            </a:pPr>
            <a:r>
              <a:rPr lang="en-US" sz="1150" dirty="0">
                <a:solidFill>
                  <a:srgbClr val="2C3540"/>
                </a:solidFill>
                <a:latin typeface="Calibri" pitchFamily="34" charset="0"/>
                <a:ea typeface="Calibri" pitchFamily="34" charset="-122"/>
                <a:cs typeface="Calibri" pitchFamily="34" charset="-120"/>
              </a:rPr>
              <a:t>Keadilan pada hasilnya. Ke mana manfaat mengalir dan siapa yang menanggung bebannya.</a:t>
            </a:r>
            <a:endParaRPr lang="en-US" sz="1150" dirty="0"/>
          </a:p>
        </p:txBody>
      </p:sp>
      <p:sp>
        <p:nvSpPr>
          <p:cNvPr id="18" name="Shape 16"/>
          <p:cNvSpPr/>
          <p:nvPr/>
        </p:nvSpPr>
        <p:spPr>
          <a:xfrm>
            <a:off x="6099048" y="1792224"/>
            <a:ext cx="5522976" cy="2615184"/>
          </a:xfrm>
          <a:prstGeom prst="roundRect">
            <a:avLst>
              <a:gd name="adj" fmla="val 3147"/>
            </a:avLst>
          </a:prstGeom>
          <a:solidFill>
            <a:srgbClr val="F1F3F5"/>
          </a:solidFill>
          <a:ln w="12700">
            <a:solidFill>
              <a:srgbClr val="F1F3F5"/>
            </a:solidFill>
            <a:prstDash val="solid"/>
          </a:ln>
        </p:spPr>
      </p:sp>
      <p:sp>
        <p:nvSpPr>
          <p:cNvPr id="19" name="Text 17"/>
          <p:cNvSpPr txBox="1"/>
          <p:nvPr/>
        </p:nvSpPr>
        <p:spPr>
          <a:xfrm>
            <a:off x="6409944" y="1975104"/>
            <a:ext cx="4937760" cy="219456"/>
          </a:xfrm>
          <a:prstGeom prst="rect">
            <a:avLst/>
          </a:prstGeom>
          <a:noFill/>
          <a:ln/>
        </p:spPr>
        <p:txBody>
          <a:bodyPr wrap="square" lIns="0" tIns="0" rIns="0" bIns="0" rtlCol="0" anchor="ctr"/>
          <a:lstStyle/>
          <a:p>
            <a:pPr indent="0" marL="0">
              <a:buNone/>
            </a:pPr>
            <a:r>
              <a:rPr lang="en-US" sz="950" b="1" spc="120" kern="0" dirty="0">
                <a:solidFill>
                  <a:srgbClr val="B8542A"/>
                </a:solidFill>
                <a:latin typeface="Calibri" pitchFamily="34" charset="0"/>
                <a:ea typeface="Calibri" pitchFamily="34" charset="-122"/>
                <a:cs typeface="Calibri" pitchFamily="34" charset="-120"/>
              </a:rPr>
              <a:t>DUA PRINSIP KEADILAN JOHN RAWLS</a:t>
            </a:r>
            <a:endParaRPr lang="en-US" sz="950" dirty="0"/>
          </a:p>
        </p:txBody>
      </p:sp>
      <p:sp>
        <p:nvSpPr>
          <p:cNvPr id="20" name="Shape 18"/>
          <p:cNvSpPr/>
          <p:nvPr/>
        </p:nvSpPr>
        <p:spPr>
          <a:xfrm>
            <a:off x="6409944" y="2304288"/>
            <a:ext cx="292608" cy="292608"/>
          </a:xfrm>
          <a:prstGeom prst="roundRect">
            <a:avLst>
              <a:gd name="adj" fmla="val 21875"/>
            </a:avLst>
          </a:prstGeom>
          <a:solidFill>
            <a:srgbClr val="B8542A"/>
          </a:solidFill>
          <a:ln w="12700">
            <a:solidFill>
              <a:srgbClr val="B8542A"/>
            </a:solidFill>
            <a:prstDash val="solid"/>
          </a:ln>
        </p:spPr>
      </p:sp>
      <p:sp>
        <p:nvSpPr>
          <p:cNvPr id="21" name="Text 19"/>
          <p:cNvSpPr txBox="1"/>
          <p:nvPr/>
        </p:nvSpPr>
        <p:spPr>
          <a:xfrm>
            <a:off x="6409944" y="230428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22" name="Text 20"/>
          <p:cNvSpPr txBox="1"/>
          <p:nvPr/>
        </p:nvSpPr>
        <p:spPr>
          <a:xfrm>
            <a:off x="6784848" y="2286000"/>
            <a:ext cx="4572000" cy="256032"/>
          </a:xfrm>
          <a:prstGeom prst="rect">
            <a:avLst/>
          </a:prstGeom>
          <a:noFill/>
          <a:ln/>
        </p:spPr>
        <p:txBody>
          <a:bodyPr wrap="square" lIns="0" tIns="0" rIns="0" bIns="0" rtlCol="0" anchor="ctr"/>
          <a:lstStyle/>
          <a:p>
            <a:pPr indent="0" marL="0">
              <a:buNone/>
            </a:pPr>
            <a:r>
              <a:rPr lang="en-US" sz="1350" b="1" dirty="0">
                <a:solidFill>
                  <a:srgbClr val="16202A"/>
                </a:solidFill>
                <a:latin typeface="Cambria" pitchFamily="34" charset="0"/>
                <a:ea typeface="Cambria" pitchFamily="34" charset="-122"/>
                <a:cs typeface="Cambria" pitchFamily="34" charset="-120"/>
              </a:rPr>
              <a:t>Prinsip kebebasan</a:t>
            </a:r>
            <a:endParaRPr lang="en-US" sz="1350" dirty="0"/>
          </a:p>
        </p:txBody>
      </p:sp>
      <p:sp>
        <p:nvSpPr>
          <p:cNvPr id="23" name="Text 21"/>
          <p:cNvSpPr txBox="1"/>
          <p:nvPr/>
        </p:nvSpPr>
        <p:spPr>
          <a:xfrm>
            <a:off x="6784848" y="2578608"/>
            <a:ext cx="4572000" cy="457200"/>
          </a:xfrm>
          <a:prstGeom prst="rect">
            <a:avLst/>
          </a:prstGeom>
          <a:noFill/>
          <a:ln/>
        </p:spPr>
        <p:txBody>
          <a:bodyPr wrap="square" lIns="0" tIns="0" rIns="0" bIns="0" rtlCol="0" anchor="t"/>
          <a:lstStyle/>
          <a:p>
            <a:pPr indent="0" marL="0">
              <a:lnSpc>
                <a:spcPct val="110000"/>
              </a:lnSpc>
              <a:buNone/>
            </a:pPr>
            <a:r>
              <a:rPr lang="en-US" sz="1150" dirty="0">
                <a:solidFill>
                  <a:srgbClr val="2C3540"/>
                </a:solidFill>
                <a:latin typeface="Calibri" pitchFamily="34" charset="0"/>
                <a:ea typeface="Calibri" pitchFamily="34" charset="-122"/>
                <a:cs typeface="Calibri" pitchFamily="34" charset="-120"/>
              </a:rPr>
              <a:t>Setiap orang berhak atas kebebasan dasar seluas mungkin yang tetap sejalan dengan kebebasan serupa bagi orang lain.</a:t>
            </a:r>
            <a:endParaRPr lang="en-US" sz="1150" dirty="0"/>
          </a:p>
        </p:txBody>
      </p:sp>
      <p:sp>
        <p:nvSpPr>
          <p:cNvPr id="24" name="Shape 22"/>
          <p:cNvSpPr/>
          <p:nvPr/>
        </p:nvSpPr>
        <p:spPr>
          <a:xfrm>
            <a:off x="6409944" y="3182112"/>
            <a:ext cx="292608" cy="292608"/>
          </a:xfrm>
          <a:prstGeom prst="roundRect">
            <a:avLst>
              <a:gd name="adj" fmla="val 21875"/>
            </a:avLst>
          </a:prstGeom>
          <a:solidFill>
            <a:srgbClr val="B8542A"/>
          </a:solidFill>
          <a:ln w="12700">
            <a:solidFill>
              <a:srgbClr val="B8542A"/>
            </a:solidFill>
            <a:prstDash val="solid"/>
          </a:ln>
        </p:spPr>
      </p:sp>
      <p:sp>
        <p:nvSpPr>
          <p:cNvPr id="25" name="Text 23"/>
          <p:cNvSpPr txBox="1"/>
          <p:nvPr/>
        </p:nvSpPr>
        <p:spPr>
          <a:xfrm>
            <a:off x="6409944" y="318211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6" name="Text 24"/>
          <p:cNvSpPr txBox="1"/>
          <p:nvPr/>
        </p:nvSpPr>
        <p:spPr>
          <a:xfrm>
            <a:off x="6784848" y="3163824"/>
            <a:ext cx="4572000" cy="256032"/>
          </a:xfrm>
          <a:prstGeom prst="rect">
            <a:avLst/>
          </a:prstGeom>
          <a:noFill/>
          <a:ln/>
        </p:spPr>
        <p:txBody>
          <a:bodyPr wrap="square" lIns="0" tIns="0" rIns="0" bIns="0" rtlCol="0" anchor="ctr"/>
          <a:lstStyle/>
          <a:p>
            <a:pPr indent="0" marL="0">
              <a:buNone/>
            </a:pPr>
            <a:r>
              <a:rPr lang="en-US" sz="1350" b="1" dirty="0">
                <a:solidFill>
                  <a:srgbClr val="16202A"/>
                </a:solidFill>
                <a:latin typeface="Cambria" pitchFamily="34" charset="0"/>
                <a:ea typeface="Cambria" pitchFamily="34" charset="-122"/>
                <a:cs typeface="Cambria" pitchFamily="34" charset="-120"/>
              </a:rPr>
              <a:t>Prinsip perbedaan</a:t>
            </a:r>
            <a:endParaRPr lang="en-US" sz="1350" dirty="0"/>
          </a:p>
        </p:txBody>
      </p:sp>
      <p:sp>
        <p:nvSpPr>
          <p:cNvPr id="27" name="Text 25"/>
          <p:cNvSpPr txBox="1"/>
          <p:nvPr/>
        </p:nvSpPr>
        <p:spPr>
          <a:xfrm>
            <a:off x="6784848" y="3456432"/>
            <a:ext cx="4572000" cy="859536"/>
          </a:xfrm>
          <a:prstGeom prst="rect">
            <a:avLst/>
          </a:prstGeom>
          <a:noFill/>
          <a:ln/>
        </p:spPr>
        <p:txBody>
          <a:bodyPr wrap="square" lIns="0" tIns="0" rIns="0" bIns="0" rtlCol="0" anchor="t"/>
          <a:lstStyle/>
          <a:p>
            <a:pPr indent="0" marL="0">
              <a:lnSpc>
                <a:spcPct val="110000"/>
              </a:lnSpc>
              <a:buNone/>
            </a:pPr>
            <a:r>
              <a:rPr lang="en-US" sz="1150" dirty="0">
                <a:solidFill>
                  <a:srgbClr val="2C3540"/>
                </a:solidFill>
                <a:latin typeface="Calibri" pitchFamily="34" charset="0"/>
                <a:ea typeface="Calibri" pitchFamily="34" charset="-122"/>
                <a:cs typeface="Calibri" pitchFamily="34" charset="-120"/>
              </a:rPr>
              <a:t>Ketimpangan hanya dibenarkan bila posisi yang menghasilkannya terbuka bagi semua dalam kesetaraan kesempatan yang adil, dan bila ketimpangan itu paling menguntungkan pihak yang paling tidak diuntungkan.</a:t>
            </a:r>
            <a:endParaRPr lang="en-US" sz="1150" dirty="0"/>
          </a:p>
        </p:txBody>
      </p:sp>
      <p:sp>
        <p:nvSpPr>
          <p:cNvPr id="28" name="Shape 26"/>
          <p:cNvSpPr/>
          <p:nvPr/>
        </p:nvSpPr>
        <p:spPr>
          <a:xfrm>
            <a:off x="6099048" y="4572000"/>
            <a:ext cx="5522976" cy="1408176"/>
          </a:xfrm>
          <a:prstGeom prst="roundRect">
            <a:avLst>
              <a:gd name="adj" fmla="val 5844"/>
            </a:avLst>
          </a:prstGeom>
          <a:solidFill>
            <a:srgbClr val="E6EAEE"/>
          </a:solidFill>
          <a:ln w="12700">
            <a:solidFill>
              <a:srgbClr val="E6EAEE"/>
            </a:solidFill>
            <a:prstDash val="solid"/>
          </a:ln>
        </p:spPr>
      </p:sp>
      <p:sp>
        <p:nvSpPr>
          <p:cNvPr id="29" name="Text 27"/>
          <p:cNvSpPr txBox="1"/>
          <p:nvPr/>
        </p:nvSpPr>
        <p:spPr>
          <a:xfrm>
            <a:off x="6409944" y="4736592"/>
            <a:ext cx="4937760" cy="219456"/>
          </a:xfrm>
          <a:prstGeom prst="rect">
            <a:avLst/>
          </a:prstGeom>
          <a:noFill/>
          <a:ln/>
        </p:spPr>
        <p:txBody>
          <a:bodyPr wrap="square" lIns="0" tIns="0" rIns="0" bIns="0" rtlCol="0" anchor="ctr"/>
          <a:lstStyle/>
          <a:p>
            <a:pPr indent="0" marL="0">
              <a:buNone/>
            </a:pPr>
            <a:r>
              <a:rPr lang="en-US" sz="950" b="1" spc="120" kern="0" dirty="0">
                <a:solidFill>
                  <a:srgbClr val="B8542A"/>
                </a:solidFill>
                <a:latin typeface="Calibri" pitchFamily="34" charset="0"/>
                <a:ea typeface="Calibri" pitchFamily="34" charset="-122"/>
                <a:cs typeface="Calibri" pitchFamily="34" charset="-120"/>
              </a:rPr>
              <a:t>TEORI KONTRAK SOSIAL</a:t>
            </a:r>
            <a:endParaRPr lang="en-US" sz="950" dirty="0"/>
          </a:p>
        </p:txBody>
      </p:sp>
      <p:sp>
        <p:nvSpPr>
          <p:cNvPr id="30" name="Text 28"/>
          <p:cNvSpPr txBox="1"/>
          <p:nvPr/>
        </p:nvSpPr>
        <p:spPr>
          <a:xfrm>
            <a:off x="6409944" y="4992624"/>
            <a:ext cx="4937760" cy="877824"/>
          </a:xfrm>
          <a:prstGeom prst="rect">
            <a:avLst/>
          </a:prstGeom>
          <a:noFill/>
          <a:ln/>
        </p:spPr>
        <p:txBody>
          <a:bodyPr wrap="square" lIns="0" tIns="0" rIns="0" bIns="0" rtlCol="0" anchor="t"/>
          <a:lstStyle/>
          <a:p>
            <a:pPr indent="0" marL="0">
              <a:lnSpc>
                <a:spcPct val="112000"/>
              </a:lnSpc>
              <a:buNone/>
            </a:pPr>
            <a:r>
              <a:rPr lang="en-US" sz="1150" dirty="0">
                <a:solidFill>
                  <a:srgbClr val="2C3540"/>
                </a:solidFill>
                <a:latin typeface="Calibri" pitchFamily="34" charset="0"/>
                <a:ea typeface="Calibri" pitchFamily="34" charset="-122"/>
                <a:cs typeface="Calibri" pitchFamily="34" charset="-120"/>
              </a:rPr>
              <a:t>Berakar pada Hobbes, Locke, dan Rousseau. Versi bisnisnya adalah Integrative Social Contracts Theory dari Donaldson dan Dunfee, yang memadukan hypernorms yang berlaku universal dengan kontrak mikro tingkat komunitas di dalam ruang yang mereka sebut moral free space.</a:t>
            </a:r>
            <a:endParaRPr lang="en-US" sz="1150" dirty="0"/>
          </a:p>
        </p:txBody>
      </p:sp>
      <p:sp>
        <p:nvSpPr>
          <p:cNvPr id="31" name="Text 29"/>
          <p:cNvSpPr txBox="1"/>
          <p:nvPr/>
        </p:nvSpPr>
        <p:spPr>
          <a:xfrm>
            <a:off x="566928" y="6419088"/>
            <a:ext cx="10143439" cy="237744"/>
          </a:xfrm>
          <a:prstGeom prst="rect">
            <a:avLst/>
          </a:prstGeom>
          <a:noFill/>
          <a:ln/>
        </p:spPr>
        <p:txBody>
          <a:bodyPr wrap="square" lIns="0" tIns="0" rIns="0" bIns="0" rtlCol="0" anchor="ctr"/>
          <a:lstStyle/>
          <a:p>
            <a:pPr indent="0" marL="0">
              <a:buNone/>
            </a:pPr>
            <a:r>
              <a:rPr lang="en-US" sz="900" i="1" dirty="0">
                <a:solidFill>
                  <a:srgbClr val="6B7684"/>
                </a:solidFill>
                <a:latin typeface="Calibri" pitchFamily="34" charset="0"/>
                <a:ea typeface="Calibri" pitchFamily="34" charset="-122"/>
                <a:cs typeface="Calibri" pitchFamily="34" charset="-120"/>
              </a:rPr>
              <a:t>Crane dan Matten (2019), halaman 108 sampai 113. Rawls, A Theory of Justice (1971).</a:t>
            </a:r>
            <a:endParaRPr lang="en-US" sz="900" dirty="0"/>
          </a:p>
        </p:txBody>
      </p:sp>
      <p:sp>
        <p:nvSpPr>
          <p:cNvPr id="32" name="Text 30"/>
          <p:cNvSpPr txBox="1"/>
          <p:nvPr/>
        </p:nvSpPr>
        <p:spPr>
          <a:xfrm>
            <a:off x="10893247" y="6419088"/>
            <a:ext cx="731520" cy="237744"/>
          </a:xfrm>
          <a:prstGeom prst="rect">
            <a:avLst/>
          </a:prstGeom>
          <a:noFill/>
          <a:ln/>
        </p:spPr>
        <p:txBody>
          <a:bodyPr wrap="square" lIns="0" tIns="0" rIns="0" bIns="0" rtlCol="0" anchor="ctr"/>
          <a:lstStyle/>
          <a:p>
            <a:pPr algn="r" indent="0" marL="0">
              <a:buNone/>
            </a:pPr>
            <a:r>
              <a:rPr lang="en-US" sz="1100" b="1" dirty="0">
                <a:solidFill>
                  <a:srgbClr val="6B7684"/>
                </a:solidFill>
                <a:latin typeface="Cambria" pitchFamily="34" charset="0"/>
                <a:ea typeface="Cambria" pitchFamily="34" charset="-122"/>
                <a:cs typeface="Cambria"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B8542A"/>
                </a:solidFill>
                <a:latin typeface="Calibri" pitchFamily="34" charset="0"/>
                <a:ea typeface="Calibri" pitchFamily="34" charset="-122"/>
                <a:cs typeface="Calibri" pitchFamily="34" charset="-120"/>
              </a:rPr>
              <a:t>05   EVALUASI KRITIS</a:t>
            </a:r>
            <a:endParaRPr lang="en-US" sz="1000" dirty="0"/>
          </a:p>
        </p:txBody>
      </p:sp>
      <p:sp>
        <p:nvSpPr>
          <p:cNvPr id="3" name="Text 1"/>
          <p:cNvSpPr txBox="1"/>
          <p:nvPr/>
        </p:nvSpPr>
        <p:spPr>
          <a:xfrm>
            <a:off x="566928" y="585216"/>
            <a:ext cx="11057839" cy="548640"/>
          </a:xfrm>
          <a:prstGeom prst="rect">
            <a:avLst/>
          </a:prstGeom>
          <a:noFill/>
          <a:ln/>
        </p:spPr>
        <p:txBody>
          <a:bodyPr wrap="square" lIns="0" tIns="0" rIns="0" bIns="0" rtlCol="0" anchor="ctr"/>
          <a:lstStyle/>
          <a:p>
            <a:pPr indent="0" marL="0">
              <a:buNone/>
            </a:pPr>
            <a:r>
              <a:rPr lang="en-US" sz="2800" b="1" dirty="0">
                <a:solidFill>
                  <a:srgbClr val="16202A"/>
                </a:solidFill>
                <a:latin typeface="Cambria" pitchFamily="34" charset="0"/>
                <a:ea typeface="Cambria" pitchFamily="34" charset="-122"/>
                <a:cs typeface="Cambria" pitchFamily="34" charset="-120"/>
              </a:rPr>
              <a:t>Enam keterbatasan teori modernis Barat</a:t>
            </a:r>
            <a:endParaRPr lang="en-US" sz="2800" dirty="0"/>
          </a:p>
        </p:txBody>
      </p:sp>
      <p:sp>
        <p:nvSpPr>
          <p:cNvPr id="4" name="Text 2"/>
          <p:cNvSpPr txBox="1"/>
          <p:nvPr/>
        </p:nvSpPr>
        <p:spPr>
          <a:xfrm>
            <a:off x="566928" y="1170432"/>
            <a:ext cx="11057839" cy="310896"/>
          </a:xfrm>
          <a:prstGeom prst="rect">
            <a:avLst/>
          </a:prstGeom>
          <a:noFill/>
          <a:ln/>
        </p:spPr>
        <p:txBody>
          <a:bodyPr wrap="square" lIns="0" tIns="0" rIns="0" bIns="0" rtlCol="0" anchor="t"/>
          <a:lstStyle/>
          <a:p>
            <a:pPr indent="0" marL="0">
              <a:lnSpc>
                <a:spcPct val="110000"/>
              </a:lnSpc>
              <a:buNone/>
            </a:pPr>
            <a:r>
              <a:rPr lang="en-US" sz="1250" dirty="0">
                <a:solidFill>
                  <a:srgbClr val="6B7684"/>
                </a:solidFill>
                <a:latin typeface="Calibri" pitchFamily="34" charset="0"/>
                <a:ea typeface="Calibri" pitchFamily="34" charset="-122"/>
                <a:cs typeface="Calibri" pitchFamily="34" charset="-120"/>
              </a:rPr>
              <a:t>Keberatan ini menjadi dasar kemunculan empat teori alternatif yang dibahas berikutnya.</a:t>
            </a:r>
            <a:endParaRPr lang="en-US" sz="1250" dirty="0"/>
          </a:p>
        </p:txBody>
      </p:sp>
      <p:sp>
        <p:nvSpPr>
          <p:cNvPr id="5" name="Shape 3"/>
          <p:cNvSpPr/>
          <p:nvPr/>
        </p:nvSpPr>
        <p:spPr>
          <a:xfrm>
            <a:off x="566928" y="1773936"/>
            <a:ext cx="3442106" cy="1847088"/>
          </a:xfrm>
          <a:prstGeom prst="roundRect">
            <a:avLst>
              <a:gd name="adj" fmla="val 4455"/>
            </a:avLst>
          </a:prstGeom>
          <a:solidFill>
            <a:srgbClr val="F1F3F5"/>
          </a:solidFill>
          <a:ln w="12700">
            <a:solidFill>
              <a:srgbClr val="F1F3F5"/>
            </a:solidFill>
            <a:prstDash val="solid"/>
          </a:ln>
        </p:spPr>
      </p:sp>
      <p:sp>
        <p:nvSpPr>
          <p:cNvPr id="6" name="Shape 4"/>
          <p:cNvSpPr/>
          <p:nvPr/>
        </p:nvSpPr>
        <p:spPr>
          <a:xfrm>
            <a:off x="841248" y="1975104"/>
            <a:ext cx="292608" cy="292608"/>
          </a:xfrm>
          <a:prstGeom prst="roundRect">
            <a:avLst>
              <a:gd name="adj" fmla="val 21875"/>
            </a:avLst>
          </a:prstGeom>
          <a:solidFill>
            <a:srgbClr val="16202A"/>
          </a:solidFill>
          <a:ln w="12700">
            <a:solidFill>
              <a:srgbClr val="16202A"/>
            </a:solidFill>
            <a:prstDash val="solid"/>
          </a:ln>
        </p:spPr>
      </p:sp>
      <p:sp>
        <p:nvSpPr>
          <p:cNvPr id="7" name="Text 5"/>
          <p:cNvSpPr txBox="1"/>
          <p:nvPr/>
        </p:nvSpPr>
        <p:spPr>
          <a:xfrm>
            <a:off x="841248" y="197510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txBox="1"/>
          <p:nvPr/>
        </p:nvSpPr>
        <p:spPr>
          <a:xfrm>
            <a:off x="841248" y="2359152"/>
            <a:ext cx="2893466" cy="475488"/>
          </a:xfrm>
          <a:prstGeom prst="rect">
            <a:avLst/>
          </a:prstGeom>
          <a:noFill/>
          <a:ln/>
        </p:spPr>
        <p:txBody>
          <a:bodyPr wrap="square" lIns="0" tIns="0" rIns="0" bIns="0" rtlCol="0" anchor="t"/>
          <a:lstStyle/>
          <a:p>
            <a:pPr indent="0" marL="0">
              <a:lnSpc>
                <a:spcPct val="105000"/>
              </a:lnSpc>
              <a:buNone/>
            </a:pPr>
            <a:r>
              <a:rPr lang="en-US" sz="1500" b="1" dirty="0">
                <a:solidFill>
                  <a:srgbClr val="16202A"/>
                </a:solidFill>
                <a:latin typeface="Cambria" pitchFamily="34" charset="0"/>
                <a:ea typeface="Cambria" pitchFamily="34" charset="-122"/>
                <a:cs typeface="Cambria" pitchFamily="34" charset="-120"/>
              </a:rPr>
              <a:t>Abstraksi berlebih</a:t>
            </a:r>
            <a:endParaRPr lang="en-US" sz="1500" dirty="0"/>
          </a:p>
        </p:txBody>
      </p:sp>
      <p:sp>
        <p:nvSpPr>
          <p:cNvPr id="9" name="Text 7"/>
          <p:cNvSpPr txBox="1"/>
          <p:nvPr/>
        </p:nvSpPr>
        <p:spPr>
          <a:xfrm>
            <a:off x="841248" y="2871216"/>
            <a:ext cx="2893466" cy="676656"/>
          </a:xfrm>
          <a:prstGeom prst="rect">
            <a:avLst/>
          </a:prstGeom>
          <a:noFill/>
          <a:ln/>
        </p:spPr>
        <p:txBody>
          <a:bodyPr wrap="square" lIns="0" tIns="0" rIns="0" bIns="0" rtlCol="0" anchor="t"/>
          <a:lstStyle/>
          <a:p>
            <a:pPr indent="0" marL="0">
              <a:lnSpc>
                <a:spcPct val="112000"/>
              </a:lnSpc>
              <a:buNone/>
            </a:pPr>
            <a:r>
              <a:rPr lang="en-US" sz="1150" dirty="0">
                <a:solidFill>
                  <a:srgbClr val="2C3540"/>
                </a:solidFill>
                <a:latin typeface="Calibri" pitchFamily="34" charset="0"/>
                <a:ea typeface="Calibri" pitchFamily="34" charset="-122"/>
                <a:cs typeface="Calibri" pitchFamily="34" charset="-120"/>
              </a:rPr>
              <a:t>Prinsipnya beroperasi pada tataran yang jauh dari persoalan konkret yang dihadapi manajer.</a:t>
            </a:r>
            <a:endParaRPr lang="en-US" sz="1150" dirty="0"/>
          </a:p>
        </p:txBody>
      </p:sp>
      <p:sp>
        <p:nvSpPr>
          <p:cNvPr id="10" name="Shape 8"/>
          <p:cNvSpPr/>
          <p:nvPr/>
        </p:nvSpPr>
        <p:spPr>
          <a:xfrm>
            <a:off x="4374794" y="1773936"/>
            <a:ext cx="3442106" cy="1847088"/>
          </a:xfrm>
          <a:prstGeom prst="roundRect">
            <a:avLst>
              <a:gd name="adj" fmla="val 4455"/>
            </a:avLst>
          </a:prstGeom>
          <a:solidFill>
            <a:srgbClr val="F1F3F5"/>
          </a:solidFill>
          <a:ln w="12700">
            <a:solidFill>
              <a:srgbClr val="F1F3F5"/>
            </a:solidFill>
            <a:prstDash val="solid"/>
          </a:ln>
        </p:spPr>
      </p:sp>
      <p:sp>
        <p:nvSpPr>
          <p:cNvPr id="11" name="Shape 9"/>
          <p:cNvSpPr/>
          <p:nvPr/>
        </p:nvSpPr>
        <p:spPr>
          <a:xfrm>
            <a:off x="4649114" y="1975104"/>
            <a:ext cx="292608" cy="292608"/>
          </a:xfrm>
          <a:prstGeom prst="roundRect">
            <a:avLst>
              <a:gd name="adj" fmla="val 21875"/>
            </a:avLst>
          </a:prstGeom>
          <a:solidFill>
            <a:srgbClr val="16202A"/>
          </a:solidFill>
          <a:ln w="12700">
            <a:solidFill>
              <a:srgbClr val="16202A"/>
            </a:solidFill>
            <a:prstDash val="solid"/>
          </a:ln>
        </p:spPr>
      </p:sp>
      <p:sp>
        <p:nvSpPr>
          <p:cNvPr id="12" name="Text 10"/>
          <p:cNvSpPr txBox="1"/>
          <p:nvPr/>
        </p:nvSpPr>
        <p:spPr>
          <a:xfrm>
            <a:off x="4649114" y="197510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4649114" y="2359152"/>
            <a:ext cx="2893466" cy="475488"/>
          </a:xfrm>
          <a:prstGeom prst="rect">
            <a:avLst/>
          </a:prstGeom>
          <a:noFill/>
          <a:ln/>
        </p:spPr>
        <p:txBody>
          <a:bodyPr wrap="square" lIns="0" tIns="0" rIns="0" bIns="0" rtlCol="0" anchor="t"/>
          <a:lstStyle/>
          <a:p>
            <a:pPr indent="0" marL="0">
              <a:lnSpc>
                <a:spcPct val="105000"/>
              </a:lnSpc>
              <a:buNone/>
            </a:pPr>
            <a:r>
              <a:rPr lang="en-US" sz="1500" b="1" dirty="0">
                <a:solidFill>
                  <a:srgbClr val="16202A"/>
                </a:solidFill>
                <a:latin typeface="Cambria" pitchFamily="34" charset="0"/>
                <a:ea typeface="Cambria" pitchFamily="34" charset="-122"/>
                <a:cs typeface="Cambria" pitchFamily="34" charset="-120"/>
              </a:rPr>
              <a:t>Reduksionisme</a:t>
            </a:r>
            <a:endParaRPr lang="en-US" sz="1500" dirty="0"/>
          </a:p>
        </p:txBody>
      </p:sp>
      <p:sp>
        <p:nvSpPr>
          <p:cNvPr id="14" name="Text 12"/>
          <p:cNvSpPr txBox="1"/>
          <p:nvPr/>
        </p:nvSpPr>
        <p:spPr>
          <a:xfrm>
            <a:off x="4649114" y="2871216"/>
            <a:ext cx="2893466" cy="676656"/>
          </a:xfrm>
          <a:prstGeom prst="rect">
            <a:avLst/>
          </a:prstGeom>
          <a:noFill/>
          <a:ln/>
        </p:spPr>
        <p:txBody>
          <a:bodyPr wrap="square" lIns="0" tIns="0" rIns="0" bIns="0" rtlCol="0" anchor="t"/>
          <a:lstStyle/>
          <a:p>
            <a:pPr indent="0" marL="0">
              <a:lnSpc>
                <a:spcPct val="112000"/>
              </a:lnSpc>
              <a:buNone/>
            </a:pPr>
            <a:r>
              <a:rPr lang="en-US" sz="1150" dirty="0">
                <a:solidFill>
                  <a:srgbClr val="2C3540"/>
                </a:solidFill>
                <a:latin typeface="Calibri" pitchFamily="34" charset="0"/>
                <a:ea typeface="Calibri" pitchFamily="34" charset="-122"/>
                <a:cs typeface="Calibri" pitchFamily="34" charset="-120"/>
              </a:rPr>
              <a:t>Setiap teori menonjolkan satu dimensi moralitas dan memperlakukannya sebagai keseluruhan.</a:t>
            </a:r>
            <a:endParaRPr lang="en-US" sz="1150" dirty="0"/>
          </a:p>
        </p:txBody>
      </p:sp>
      <p:sp>
        <p:nvSpPr>
          <p:cNvPr id="15" name="Shape 13"/>
          <p:cNvSpPr/>
          <p:nvPr/>
        </p:nvSpPr>
        <p:spPr>
          <a:xfrm>
            <a:off x="8182661" y="1773936"/>
            <a:ext cx="3442106" cy="1847088"/>
          </a:xfrm>
          <a:prstGeom prst="roundRect">
            <a:avLst>
              <a:gd name="adj" fmla="val 4455"/>
            </a:avLst>
          </a:prstGeom>
          <a:solidFill>
            <a:srgbClr val="F1F3F5"/>
          </a:solidFill>
          <a:ln w="12700">
            <a:solidFill>
              <a:srgbClr val="F1F3F5"/>
            </a:solidFill>
            <a:prstDash val="solid"/>
          </a:ln>
        </p:spPr>
      </p:sp>
      <p:sp>
        <p:nvSpPr>
          <p:cNvPr id="16" name="Shape 14"/>
          <p:cNvSpPr/>
          <p:nvPr/>
        </p:nvSpPr>
        <p:spPr>
          <a:xfrm>
            <a:off x="8456981" y="1975104"/>
            <a:ext cx="292608" cy="292608"/>
          </a:xfrm>
          <a:prstGeom prst="roundRect">
            <a:avLst>
              <a:gd name="adj" fmla="val 21875"/>
            </a:avLst>
          </a:prstGeom>
          <a:solidFill>
            <a:srgbClr val="16202A"/>
          </a:solidFill>
          <a:ln w="12700">
            <a:solidFill>
              <a:srgbClr val="16202A"/>
            </a:solidFill>
            <a:prstDash val="solid"/>
          </a:ln>
        </p:spPr>
      </p:sp>
      <p:sp>
        <p:nvSpPr>
          <p:cNvPr id="17" name="Text 15"/>
          <p:cNvSpPr txBox="1"/>
          <p:nvPr/>
        </p:nvSpPr>
        <p:spPr>
          <a:xfrm>
            <a:off x="8456981" y="197510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txBox="1"/>
          <p:nvPr/>
        </p:nvSpPr>
        <p:spPr>
          <a:xfrm>
            <a:off x="8456981" y="2359152"/>
            <a:ext cx="2893466" cy="475488"/>
          </a:xfrm>
          <a:prstGeom prst="rect">
            <a:avLst/>
          </a:prstGeom>
          <a:noFill/>
          <a:ln/>
        </p:spPr>
        <p:txBody>
          <a:bodyPr wrap="square" lIns="0" tIns="0" rIns="0" bIns="0" rtlCol="0" anchor="t"/>
          <a:lstStyle/>
          <a:p>
            <a:pPr indent="0" marL="0">
              <a:lnSpc>
                <a:spcPct val="105000"/>
              </a:lnSpc>
              <a:buNone/>
            </a:pPr>
            <a:r>
              <a:rPr lang="en-US" sz="1500" b="1" dirty="0">
                <a:solidFill>
                  <a:srgbClr val="16202A"/>
                </a:solidFill>
                <a:latin typeface="Cambria" pitchFamily="34" charset="0"/>
                <a:ea typeface="Cambria" pitchFamily="34" charset="-122"/>
                <a:cs typeface="Cambria" pitchFamily="34" charset="-120"/>
              </a:rPr>
              <a:t>Objektivisme elitis</a:t>
            </a:r>
            <a:endParaRPr lang="en-US" sz="1500" dirty="0"/>
          </a:p>
        </p:txBody>
      </p:sp>
      <p:sp>
        <p:nvSpPr>
          <p:cNvPr id="19" name="Text 17"/>
          <p:cNvSpPr txBox="1"/>
          <p:nvPr/>
        </p:nvSpPr>
        <p:spPr>
          <a:xfrm>
            <a:off x="8456981" y="2871216"/>
            <a:ext cx="2893466" cy="676656"/>
          </a:xfrm>
          <a:prstGeom prst="rect">
            <a:avLst/>
          </a:prstGeom>
          <a:noFill/>
          <a:ln/>
        </p:spPr>
        <p:txBody>
          <a:bodyPr wrap="square" lIns="0" tIns="0" rIns="0" bIns="0" rtlCol="0" anchor="t"/>
          <a:lstStyle/>
          <a:p>
            <a:pPr indent="0" marL="0">
              <a:lnSpc>
                <a:spcPct val="112000"/>
              </a:lnSpc>
              <a:buNone/>
            </a:pPr>
            <a:r>
              <a:rPr lang="en-US" sz="1150" dirty="0">
                <a:solidFill>
                  <a:srgbClr val="2C3540"/>
                </a:solidFill>
                <a:latin typeface="Calibri" pitchFamily="34" charset="0"/>
                <a:ea typeface="Calibri" pitchFamily="34" charset="-122"/>
                <a:cs typeface="Calibri" pitchFamily="34" charset="-120"/>
              </a:rPr>
              <a:t>Kebenaran moral ditentukan melalui deduksi ahli, bukan melalui pengalaman pihak yang terlibat.</a:t>
            </a:r>
            <a:endParaRPr lang="en-US" sz="1150" dirty="0"/>
          </a:p>
        </p:txBody>
      </p:sp>
      <p:sp>
        <p:nvSpPr>
          <p:cNvPr id="20" name="Shape 18"/>
          <p:cNvSpPr/>
          <p:nvPr/>
        </p:nvSpPr>
        <p:spPr>
          <a:xfrm>
            <a:off x="566928" y="3767328"/>
            <a:ext cx="3442106" cy="1847088"/>
          </a:xfrm>
          <a:prstGeom prst="roundRect">
            <a:avLst>
              <a:gd name="adj" fmla="val 4455"/>
            </a:avLst>
          </a:prstGeom>
          <a:solidFill>
            <a:srgbClr val="E6EAEE"/>
          </a:solidFill>
          <a:ln w="12700">
            <a:solidFill>
              <a:srgbClr val="E6EAEE"/>
            </a:solidFill>
            <a:prstDash val="solid"/>
          </a:ln>
        </p:spPr>
      </p:sp>
      <p:sp>
        <p:nvSpPr>
          <p:cNvPr id="21" name="Shape 19"/>
          <p:cNvSpPr/>
          <p:nvPr/>
        </p:nvSpPr>
        <p:spPr>
          <a:xfrm>
            <a:off x="841248" y="3968496"/>
            <a:ext cx="292608" cy="292608"/>
          </a:xfrm>
          <a:prstGeom prst="roundRect">
            <a:avLst>
              <a:gd name="adj" fmla="val 21875"/>
            </a:avLst>
          </a:prstGeom>
          <a:solidFill>
            <a:srgbClr val="16202A"/>
          </a:solidFill>
          <a:ln w="12700">
            <a:solidFill>
              <a:srgbClr val="16202A"/>
            </a:solidFill>
            <a:prstDash val="solid"/>
          </a:ln>
        </p:spPr>
      </p:sp>
      <p:sp>
        <p:nvSpPr>
          <p:cNvPr id="22" name="Text 20"/>
          <p:cNvSpPr txBox="1"/>
          <p:nvPr/>
        </p:nvSpPr>
        <p:spPr>
          <a:xfrm>
            <a:off x="841248" y="39684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1"/>
          <p:cNvSpPr txBox="1"/>
          <p:nvPr/>
        </p:nvSpPr>
        <p:spPr>
          <a:xfrm>
            <a:off x="841248" y="4352544"/>
            <a:ext cx="2893466" cy="475488"/>
          </a:xfrm>
          <a:prstGeom prst="rect">
            <a:avLst/>
          </a:prstGeom>
          <a:noFill/>
          <a:ln/>
        </p:spPr>
        <p:txBody>
          <a:bodyPr wrap="square" lIns="0" tIns="0" rIns="0" bIns="0" rtlCol="0" anchor="t"/>
          <a:lstStyle/>
          <a:p>
            <a:pPr indent="0" marL="0">
              <a:lnSpc>
                <a:spcPct val="105000"/>
              </a:lnSpc>
              <a:buNone/>
            </a:pPr>
            <a:r>
              <a:rPr lang="en-US" sz="1500" b="1" dirty="0">
                <a:solidFill>
                  <a:srgbClr val="16202A"/>
                </a:solidFill>
                <a:latin typeface="Cambria" pitchFamily="34" charset="0"/>
                <a:ea typeface="Cambria" pitchFamily="34" charset="-122"/>
                <a:cs typeface="Cambria" pitchFamily="34" charset="-120"/>
              </a:rPr>
              <a:t>Impersonalitas</a:t>
            </a:r>
            <a:endParaRPr lang="en-US" sz="1500" dirty="0"/>
          </a:p>
        </p:txBody>
      </p:sp>
      <p:sp>
        <p:nvSpPr>
          <p:cNvPr id="24" name="Text 22"/>
          <p:cNvSpPr txBox="1"/>
          <p:nvPr/>
        </p:nvSpPr>
        <p:spPr>
          <a:xfrm>
            <a:off x="841248" y="4864608"/>
            <a:ext cx="2893466" cy="676656"/>
          </a:xfrm>
          <a:prstGeom prst="rect">
            <a:avLst/>
          </a:prstGeom>
          <a:noFill/>
          <a:ln/>
        </p:spPr>
        <p:txBody>
          <a:bodyPr wrap="square" lIns="0" tIns="0" rIns="0" bIns="0" rtlCol="0" anchor="t"/>
          <a:lstStyle/>
          <a:p>
            <a:pPr indent="0" marL="0">
              <a:lnSpc>
                <a:spcPct val="112000"/>
              </a:lnSpc>
              <a:buNone/>
            </a:pPr>
            <a:r>
              <a:rPr lang="en-US" sz="1150" dirty="0">
                <a:solidFill>
                  <a:srgbClr val="2C3540"/>
                </a:solidFill>
                <a:latin typeface="Calibri" pitchFamily="34" charset="0"/>
                <a:ea typeface="Calibri" pitchFamily="34" charset="-122"/>
                <a:cs typeface="Calibri" pitchFamily="34" charset="-120"/>
              </a:rPr>
              <a:t>Ikatan personal dan tanggung jawab pada pihak tertentu diposisikan sebagai pengganggu penilaian.</a:t>
            </a:r>
            <a:endParaRPr lang="en-US" sz="1150" dirty="0"/>
          </a:p>
        </p:txBody>
      </p:sp>
      <p:sp>
        <p:nvSpPr>
          <p:cNvPr id="25" name="Shape 23"/>
          <p:cNvSpPr/>
          <p:nvPr/>
        </p:nvSpPr>
        <p:spPr>
          <a:xfrm>
            <a:off x="4374794" y="3767328"/>
            <a:ext cx="3442106" cy="1847088"/>
          </a:xfrm>
          <a:prstGeom prst="roundRect">
            <a:avLst>
              <a:gd name="adj" fmla="val 4455"/>
            </a:avLst>
          </a:prstGeom>
          <a:solidFill>
            <a:srgbClr val="E6EAEE"/>
          </a:solidFill>
          <a:ln w="12700">
            <a:solidFill>
              <a:srgbClr val="E6EAEE"/>
            </a:solidFill>
            <a:prstDash val="solid"/>
          </a:ln>
        </p:spPr>
      </p:sp>
      <p:sp>
        <p:nvSpPr>
          <p:cNvPr id="26" name="Shape 24"/>
          <p:cNvSpPr/>
          <p:nvPr/>
        </p:nvSpPr>
        <p:spPr>
          <a:xfrm>
            <a:off x="4649114" y="3968496"/>
            <a:ext cx="292608" cy="292608"/>
          </a:xfrm>
          <a:prstGeom prst="roundRect">
            <a:avLst>
              <a:gd name="adj" fmla="val 21875"/>
            </a:avLst>
          </a:prstGeom>
          <a:solidFill>
            <a:srgbClr val="16202A"/>
          </a:solidFill>
          <a:ln w="12700">
            <a:solidFill>
              <a:srgbClr val="16202A"/>
            </a:solidFill>
            <a:prstDash val="solid"/>
          </a:ln>
        </p:spPr>
      </p:sp>
      <p:sp>
        <p:nvSpPr>
          <p:cNvPr id="27" name="Text 25"/>
          <p:cNvSpPr txBox="1"/>
          <p:nvPr/>
        </p:nvSpPr>
        <p:spPr>
          <a:xfrm>
            <a:off x="4649114" y="39684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8" name="Text 26"/>
          <p:cNvSpPr txBox="1"/>
          <p:nvPr/>
        </p:nvSpPr>
        <p:spPr>
          <a:xfrm>
            <a:off x="4649114" y="4352544"/>
            <a:ext cx="2893466" cy="475488"/>
          </a:xfrm>
          <a:prstGeom prst="rect">
            <a:avLst/>
          </a:prstGeom>
          <a:noFill/>
          <a:ln/>
        </p:spPr>
        <p:txBody>
          <a:bodyPr wrap="square" lIns="0" tIns="0" rIns="0" bIns="0" rtlCol="0" anchor="t"/>
          <a:lstStyle/>
          <a:p>
            <a:pPr indent="0" marL="0">
              <a:lnSpc>
                <a:spcPct val="105000"/>
              </a:lnSpc>
              <a:buNone/>
            </a:pPr>
            <a:r>
              <a:rPr lang="en-US" sz="1500" b="1" dirty="0">
                <a:solidFill>
                  <a:srgbClr val="16202A"/>
                </a:solidFill>
                <a:latin typeface="Cambria" pitchFamily="34" charset="0"/>
                <a:ea typeface="Cambria" pitchFamily="34" charset="-122"/>
                <a:cs typeface="Cambria" pitchFamily="34" charset="-120"/>
              </a:rPr>
              <a:t>Rasionalisme terkodifikasi</a:t>
            </a:r>
            <a:endParaRPr lang="en-US" sz="1500" dirty="0"/>
          </a:p>
        </p:txBody>
      </p:sp>
      <p:sp>
        <p:nvSpPr>
          <p:cNvPr id="29" name="Text 27"/>
          <p:cNvSpPr txBox="1"/>
          <p:nvPr/>
        </p:nvSpPr>
        <p:spPr>
          <a:xfrm>
            <a:off x="4649114" y="4864608"/>
            <a:ext cx="2893466" cy="676656"/>
          </a:xfrm>
          <a:prstGeom prst="rect">
            <a:avLst/>
          </a:prstGeom>
          <a:noFill/>
          <a:ln/>
        </p:spPr>
        <p:txBody>
          <a:bodyPr wrap="square" lIns="0" tIns="0" rIns="0" bIns="0" rtlCol="0" anchor="t"/>
          <a:lstStyle/>
          <a:p>
            <a:pPr indent="0" marL="0">
              <a:lnSpc>
                <a:spcPct val="112000"/>
              </a:lnSpc>
              <a:buNone/>
            </a:pPr>
            <a:r>
              <a:rPr lang="en-US" sz="1150" dirty="0">
                <a:solidFill>
                  <a:srgbClr val="2C3540"/>
                </a:solidFill>
                <a:latin typeface="Calibri" pitchFamily="34" charset="0"/>
                <a:ea typeface="Calibri" pitchFamily="34" charset="-122"/>
                <a:cs typeface="Calibri" pitchFamily="34" charset="-120"/>
              </a:rPr>
              <a:t>Peran perasaan, empati, dan dorongan moral diabaikan dalam perumusan penilaian etis.</a:t>
            </a:r>
            <a:endParaRPr lang="en-US" sz="1150" dirty="0"/>
          </a:p>
        </p:txBody>
      </p:sp>
      <p:sp>
        <p:nvSpPr>
          <p:cNvPr id="30" name="Shape 28"/>
          <p:cNvSpPr/>
          <p:nvPr/>
        </p:nvSpPr>
        <p:spPr>
          <a:xfrm>
            <a:off x="8182661" y="3767328"/>
            <a:ext cx="3442106" cy="1847088"/>
          </a:xfrm>
          <a:prstGeom prst="roundRect">
            <a:avLst>
              <a:gd name="adj" fmla="val 4455"/>
            </a:avLst>
          </a:prstGeom>
          <a:solidFill>
            <a:srgbClr val="E6EAEE"/>
          </a:solidFill>
          <a:ln w="12700">
            <a:solidFill>
              <a:srgbClr val="E6EAEE"/>
            </a:solidFill>
            <a:prstDash val="solid"/>
          </a:ln>
        </p:spPr>
      </p:sp>
      <p:sp>
        <p:nvSpPr>
          <p:cNvPr id="31" name="Shape 29"/>
          <p:cNvSpPr/>
          <p:nvPr/>
        </p:nvSpPr>
        <p:spPr>
          <a:xfrm>
            <a:off x="8456981" y="3968496"/>
            <a:ext cx="292608" cy="292608"/>
          </a:xfrm>
          <a:prstGeom prst="roundRect">
            <a:avLst>
              <a:gd name="adj" fmla="val 21875"/>
            </a:avLst>
          </a:prstGeom>
          <a:solidFill>
            <a:srgbClr val="16202A"/>
          </a:solidFill>
          <a:ln w="12700">
            <a:solidFill>
              <a:srgbClr val="16202A"/>
            </a:solidFill>
            <a:prstDash val="solid"/>
          </a:ln>
        </p:spPr>
      </p:sp>
      <p:sp>
        <p:nvSpPr>
          <p:cNvPr id="32" name="Text 30"/>
          <p:cNvSpPr txBox="1"/>
          <p:nvPr/>
        </p:nvSpPr>
        <p:spPr>
          <a:xfrm>
            <a:off x="8456981" y="39684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3" name="Text 31"/>
          <p:cNvSpPr txBox="1"/>
          <p:nvPr/>
        </p:nvSpPr>
        <p:spPr>
          <a:xfrm>
            <a:off x="8456981" y="4352544"/>
            <a:ext cx="2893466" cy="475488"/>
          </a:xfrm>
          <a:prstGeom prst="rect">
            <a:avLst/>
          </a:prstGeom>
          <a:noFill/>
          <a:ln/>
        </p:spPr>
        <p:txBody>
          <a:bodyPr wrap="square" lIns="0" tIns="0" rIns="0" bIns="0" rtlCol="0" anchor="t"/>
          <a:lstStyle/>
          <a:p>
            <a:pPr indent="0" marL="0">
              <a:lnSpc>
                <a:spcPct val="105000"/>
              </a:lnSpc>
              <a:buNone/>
            </a:pPr>
            <a:r>
              <a:rPr lang="en-US" sz="1500" b="1" dirty="0">
                <a:solidFill>
                  <a:srgbClr val="16202A"/>
                </a:solidFill>
                <a:latin typeface="Cambria" pitchFamily="34" charset="0"/>
                <a:ea typeface="Cambria" pitchFamily="34" charset="-122"/>
                <a:cs typeface="Cambria" pitchFamily="34" charset="-120"/>
              </a:rPr>
              <a:t>Imperialisme kultural</a:t>
            </a:r>
            <a:endParaRPr lang="en-US" sz="1500" dirty="0"/>
          </a:p>
        </p:txBody>
      </p:sp>
      <p:sp>
        <p:nvSpPr>
          <p:cNvPr id="34" name="Text 32"/>
          <p:cNvSpPr txBox="1"/>
          <p:nvPr/>
        </p:nvSpPr>
        <p:spPr>
          <a:xfrm>
            <a:off x="8456981" y="4864608"/>
            <a:ext cx="2893466" cy="676656"/>
          </a:xfrm>
          <a:prstGeom prst="rect">
            <a:avLst/>
          </a:prstGeom>
          <a:noFill/>
          <a:ln/>
        </p:spPr>
        <p:txBody>
          <a:bodyPr wrap="square" lIns="0" tIns="0" rIns="0" bIns="0" rtlCol="0" anchor="t"/>
          <a:lstStyle/>
          <a:p>
            <a:pPr indent="0" marL="0">
              <a:lnSpc>
                <a:spcPct val="112000"/>
              </a:lnSpc>
              <a:buNone/>
            </a:pPr>
            <a:r>
              <a:rPr lang="en-US" sz="1150" dirty="0">
                <a:solidFill>
                  <a:srgbClr val="2C3540"/>
                </a:solidFill>
                <a:latin typeface="Calibri" pitchFamily="34" charset="0"/>
                <a:ea typeface="Calibri" pitchFamily="34" charset="-122"/>
                <a:cs typeface="Calibri" pitchFamily="34" charset="-120"/>
              </a:rPr>
              <a:t>Pengalaman dan tradisi intelektual Barat diposisikan sebagai ukuran yang berlaku universal.</a:t>
            </a:r>
            <a:endParaRPr lang="en-US" sz="1150" dirty="0"/>
          </a:p>
        </p:txBody>
      </p:sp>
      <p:sp>
        <p:nvSpPr>
          <p:cNvPr id="35" name="Shape 33"/>
          <p:cNvSpPr/>
          <p:nvPr/>
        </p:nvSpPr>
        <p:spPr>
          <a:xfrm>
            <a:off x="566928" y="5815584"/>
            <a:ext cx="11057839" cy="502920"/>
          </a:xfrm>
          <a:prstGeom prst="roundRect">
            <a:avLst>
              <a:gd name="adj" fmla="val 16364"/>
            </a:avLst>
          </a:prstGeom>
          <a:solidFill>
            <a:srgbClr val="E3EDEA"/>
          </a:solidFill>
          <a:ln w="12700">
            <a:solidFill>
              <a:srgbClr val="E3EDEA"/>
            </a:solidFill>
            <a:prstDash val="solid"/>
          </a:ln>
        </p:spPr>
      </p:sp>
      <p:sp>
        <p:nvSpPr>
          <p:cNvPr id="36" name="Text 34"/>
          <p:cNvSpPr txBox="1"/>
          <p:nvPr/>
        </p:nvSpPr>
        <p:spPr>
          <a:xfrm>
            <a:off x="877824" y="5815584"/>
            <a:ext cx="10436047" cy="502920"/>
          </a:xfrm>
          <a:prstGeom prst="rect">
            <a:avLst/>
          </a:prstGeom>
          <a:noFill/>
          <a:ln/>
        </p:spPr>
        <p:txBody>
          <a:bodyPr wrap="square" lIns="0" tIns="0" rIns="0" bIns="0" rtlCol="0" anchor="ctr"/>
          <a:lstStyle/>
          <a:p>
            <a:pPr indent="0" marL="0">
              <a:buNone/>
            </a:pPr>
            <a:r>
              <a:rPr lang="en-US" sz="1150" i="1" dirty="0">
                <a:solidFill>
                  <a:srgbClr val="1F4F46"/>
                </a:solidFill>
                <a:latin typeface="Calibri" pitchFamily="34" charset="0"/>
                <a:ea typeface="Calibri" pitchFamily="34" charset="-122"/>
                <a:cs typeface="Calibri" pitchFamily="34" charset="-120"/>
              </a:rPr>
              <a:t>Teori alternatif tidak menggantikan teori modernis, melainkan menambahkan dimensi penilaian yang belum tercakup: karakter pelaku, relasi antarpihak, prosedur perumusan norma, dan pilihan istilah.</a:t>
            </a:r>
            <a:endParaRPr lang="en-US" sz="1150" dirty="0"/>
          </a:p>
        </p:txBody>
      </p:sp>
      <p:sp>
        <p:nvSpPr>
          <p:cNvPr id="37" name="Text 35"/>
          <p:cNvSpPr txBox="1"/>
          <p:nvPr/>
        </p:nvSpPr>
        <p:spPr>
          <a:xfrm>
            <a:off x="10893247" y="6419088"/>
            <a:ext cx="731520" cy="237744"/>
          </a:xfrm>
          <a:prstGeom prst="rect">
            <a:avLst/>
          </a:prstGeom>
          <a:noFill/>
          <a:ln/>
        </p:spPr>
        <p:txBody>
          <a:bodyPr wrap="square" lIns="0" tIns="0" rIns="0" bIns="0" rtlCol="0" anchor="ctr"/>
          <a:lstStyle/>
          <a:p>
            <a:pPr algn="r" indent="0" marL="0">
              <a:buNone/>
            </a:pPr>
            <a:r>
              <a:rPr lang="en-US" sz="1100" b="1" dirty="0">
                <a:solidFill>
                  <a:srgbClr val="6B7684"/>
                </a:solidFill>
                <a:latin typeface="Cambria" pitchFamily="34" charset="0"/>
                <a:ea typeface="Cambria" pitchFamily="34" charset="-122"/>
                <a:cs typeface="Cambria"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B8542A"/>
                </a:solidFill>
                <a:latin typeface="Calibri" pitchFamily="34" charset="0"/>
                <a:ea typeface="Calibri" pitchFamily="34" charset="-122"/>
                <a:cs typeface="Calibri" pitchFamily="34" charset="-120"/>
              </a:rPr>
              <a:t>06   TEORI ALTERNATIF</a:t>
            </a:r>
            <a:endParaRPr lang="en-US" sz="1000" dirty="0"/>
          </a:p>
        </p:txBody>
      </p:sp>
      <p:sp>
        <p:nvSpPr>
          <p:cNvPr id="3" name="Text 1"/>
          <p:cNvSpPr txBox="1"/>
          <p:nvPr/>
        </p:nvSpPr>
        <p:spPr>
          <a:xfrm>
            <a:off x="566928" y="585216"/>
            <a:ext cx="11057839" cy="548640"/>
          </a:xfrm>
          <a:prstGeom prst="rect">
            <a:avLst/>
          </a:prstGeom>
          <a:noFill/>
          <a:ln/>
        </p:spPr>
        <p:txBody>
          <a:bodyPr wrap="square" lIns="0" tIns="0" rIns="0" bIns="0" rtlCol="0" anchor="ctr"/>
          <a:lstStyle/>
          <a:p>
            <a:pPr indent="0" marL="0">
              <a:buNone/>
            </a:pPr>
            <a:r>
              <a:rPr lang="en-US" sz="2800" b="1" dirty="0">
                <a:solidFill>
                  <a:srgbClr val="16202A"/>
                </a:solidFill>
                <a:latin typeface="Cambria" pitchFamily="34" charset="0"/>
                <a:ea typeface="Cambria" pitchFamily="34" charset="-122"/>
                <a:cs typeface="Cambria" pitchFamily="34" charset="-120"/>
              </a:rPr>
              <a:t>Virtue ethics dan ethic of care</a:t>
            </a:r>
            <a:endParaRPr lang="en-US" sz="2800" dirty="0"/>
          </a:p>
        </p:txBody>
      </p:sp>
      <p:sp>
        <p:nvSpPr>
          <p:cNvPr id="4" name="Text 2"/>
          <p:cNvSpPr txBox="1"/>
          <p:nvPr/>
        </p:nvSpPr>
        <p:spPr>
          <a:xfrm>
            <a:off x="566928" y="1170432"/>
            <a:ext cx="11057839" cy="310896"/>
          </a:xfrm>
          <a:prstGeom prst="rect">
            <a:avLst/>
          </a:prstGeom>
          <a:noFill/>
          <a:ln/>
        </p:spPr>
        <p:txBody>
          <a:bodyPr wrap="square" lIns="0" tIns="0" rIns="0" bIns="0" rtlCol="0" anchor="t"/>
          <a:lstStyle/>
          <a:p>
            <a:pPr indent="0" marL="0">
              <a:lnSpc>
                <a:spcPct val="110000"/>
              </a:lnSpc>
              <a:buNone/>
            </a:pPr>
            <a:r>
              <a:rPr lang="en-US" sz="1250" dirty="0">
                <a:solidFill>
                  <a:srgbClr val="6B7684"/>
                </a:solidFill>
                <a:latin typeface="Calibri" pitchFamily="34" charset="0"/>
                <a:ea typeface="Calibri" pitchFamily="34" charset="-122"/>
                <a:cs typeface="Calibri" pitchFamily="34" charset="-120"/>
              </a:rPr>
              <a:t>Objek penilaian bergeser dari tindakan ke karakter pelaku dan ke relasi antarpihak yang terlibat.</a:t>
            </a:r>
            <a:endParaRPr lang="en-US" sz="1250" dirty="0"/>
          </a:p>
        </p:txBody>
      </p:sp>
      <p:sp>
        <p:nvSpPr>
          <p:cNvPr id="5" name="Shape 3"/>
          <p:cNvSpPr/>
          <p:nvPr/>
        </p:nvSpPr>
        <p:spPr>
          <a:xfrm>
            <a:off x="566928" y="1792224"/>
            <a:ext cx="5321808" cy="4334256"/>
          </a:xfrm>
          <a:prstGeom prst="roundRect">
            <a:avLst>
              <a:gd name="adj" fmla="val 1899"/>
            </a:avLst>
          </a:prstGeom>
          <a:solidFill>
            <a:srgbClr val="F1F3F5"/>
          </a:solidFill>
          <a:ln w="12700">
            <a:solidFill>
              <a:srgbClr val="F1F3F5"/>
            </a:solidFill>
            <a:prstDash val="solid"/>
          </a:ln>
        </p:spPr>
      </p:sp>
      <p:sp>
        <p:nvSpPr>
          <p:cNvPr id="6" name="Shape 4"/>
          <p:cNvSpPr/>
          <p:nvPr/>
        </p:nvSpPr>
        <p:spPr>
          <a:xfrm>
            <a:off x="877824" y="1993392"/>
            <a:ext cx="365760" cy="365760"/>
          </a:xfrm>
          <a:prstGeom prst="roundRect">
            <a:avLst>
              <a:gd name="adj" fmla="val 17500"/>
            </a:avLst>
          </a:prstGeom>
          <a:solidFill>
            <a:srgbClr val="2E6F63"/>
          </a:solidFill>
          <a:ln w="12700">
            <a:solidFill>
              <a:srgbClr val="2E6F63"/>
            </a:solidFill>
            <a:prstDash val="solid"/>
          </a:ln>
        </p:spPr>
      </p:sp>
      <p:sp>
        <p:nvSpPr>
          <p:cNvPr id="7" name="Text 5"/>
          <p:cNvSpPr txBox="1"/>
          <p:nvPr/>
        </p:nvSpPr>
        <p:spPr>
          <a:xfrm>
            <a:off x="877824" y="19933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8" name="Text 6"/>
          <p:cNvSpPr txBox="1"/>
          <p:nvPr/>
        </p:nvSpPr>
        <p:spPr>
          <a:xfrm>
            <a:off x="1335024" y="1993392"/>
            <a:ext cx="4206240" cy="365760"/>
          </a:xfrm>
          <a:prstGeom prst="rect">
            <a:avLst/>
          </a:prstGeom>
          <a:noFill/>
          <a:ln/>
        </p:spPr>
        <p:txBody>
          <a:bodyPr wrap="square" lIns="0" tIns="0" rIns="0" bIns="0" rtlCol="0" anchor="ctr"/>
          <a:lstStyle/>
          <a:p>
            <a:pPr indent="0" marL="0">
              <a:buNone/>
            </a:pPr>
            <a:r>
              <a:rPr lang="en-US" sz="1800" b="1" dirty="0">
                <a:solidFill>
                  <a:srgbClr val="16202A"/>
                </a:solidFill>
                <a:latin typeface="Cambria" pitchFamily="34" charset="0"/>
                <a:ea typeface="Cambria" pitchFamily="34" charset="-122"/>
                <a:cs typeface="Cambria" pitchFamily="34" charset="-120"/>
              </a:rPr>
              <a:t>Virtue ethics</a:t>
            </a:r>
            <a:endParaRPr lang="en-US" sz="1800" dirty="0"/>
          </a:p>
        </p:txBody>
      </p:sp>
      <p:sp>
        <p:nvSpPr>
          <p:cNvPr id="9" name="Text 7"/>
          <p:cNvSpPr txBox="1"/>
          <p:nvPr/>
        </p:nvSpPr>
        <p:spPr>
          <a:xfrm>
            <a:off x="877824" y="2450592"/>
            <a:ext cx="4700016" cy="512064"/>
          </a:xfrm>
          <a:prstGeom prst="rect">
            <a:avLst/>
          </a:prstGeom>
          <a:noFill/>
          <a:ln/>
        </p:spPr>
        <p:txBody>
          <a:bodyPr wrap="square" lIns="0" tIns="0" rIns="0" bIns="0" rtlCol="0" anchor="t"/>
          <a:lstStyle/>
          <a:p>
            <a:pPr indent="0" marL="0">
              <a:lnSpc>
                <a:spcPct val="110000"/>
              </a:lnSpc>
              <a:buNone/>
            </a:pPr>
            <a:r>
              <a:rPr lang="en-US" sz="1350" i="1" dirty="0">
                <a:solidFill>
                  <a:srgbClr val="2E6F63"/>
                </a:solidFill>
                <a:latin typeface="Cambria" pitchFamily="34" charset="0"/>
                <a:ea typeface="Cambria" pitchFamily="34" charset="-122"/>
                <a:cs typeface="Cambria" pitchFamily="34" charset="-120"/>
              </a:rPr>
              <a:t>Pelaku seperti apa yang layak disebut baik pada posisi ini?</a:t>
            </a:r>
            <a:endParaRPr lang="en-US" sz="1350" dirty="0"/>
          </a:p>
        </p:txBody>
      </p:sp>
      <p:sp>
        <p:nvSpPr>
          <p:cNvPr id="10" name="Text 8"/>
          <p:cNvSpPr txBox="1"/>
          <p:nvPr/>
        </p:nvSpPr>
        <p:spPr>
          <a:xfrm>
            <a:off x="877824" y="3017520"/>
            <a:ext cx="4700016" cy="420624"/>
          </a:xfrm>
          <a:prstGeom prst="rect">
            <a:avLst/>
          </a:prstGeom>
          <a:noFill/>
          <a:ln/>
        </p:spPr>
        <p:txBody>
          <a:bodyPr wrap="square" lIns="0" tIns="0" rIns="0" bIns="0" rtlCol="0" anchor="t"/>
          <a:lstStyle/>
          <a:p>
            <a:pPr indent="0" marL="0">
              <a:lnSpc>
                <a:spcPct val="110000"/>
              </a:lnSpc>
              <a:buNone/>
            </a:pPr>
            <a:r>
              <a:rPr lang="en-US" sz="1050" dirty="0">
                <a:solidFill>
                  <a:srgbClr val="6B7684"/>
                </a:solidFill>
                <a:latin typeface="Calibri" pitchFamily="34" charset="0"/>
                <a:ea typeface="Calibri" pitchFamily="34" charset="-122"/>
                <a:cs typeface="Calibri" pitchFamily="34" charset="-120"/>
              </a:rPr>
              <a:t>Aristoteles dalam Nicomachean Ethics, Alasdair MacIntyre dalam After Virtue, dan Robert Solomon dalam Ethics and Excellence.</a:t>
            </a:r>
            <a:endParaRPr lang="en-US" sz="1050" dirty="0"/>
          </a:p>
        </p:txBody>
      </p:sp>
      <p:sp>
        <p:nvSpPr>
          <p:cNvPr id="11" name="Text 9"/>
          <p:cNvSpPr txBox="1"/>
          <p:nvPr/>
        </p:nvSpPr>
        <p:spPr>
          <a:xfrm>
            <a:off x="877824" y="3511296"/>
            <a:ext cx="4700016" cy="237744"/>
          </a:xfrm>
          <a:prstGeom prst="rect">
            <a:avLst/>
          </a:prstGeom>
          <a:noFill/>
          <a:ln/>
        </p:spPr>
        <p:txBody>
          <a:bodyPr wrap="square" lIns="0" tIns="0" rIns="0" bIns="0" rtlCol="0" anchor="ctr"/>
          <a:lstStyle/>
          <a:p>
            <a:pPr indent="0" marL="0">
              <a:buNone/>
            </a:pPr>
            <a:r>
              <a:rPr lang="en-US" sz="950" b="1" spc="110" kern="0" dirty="0">
                <a:solidFill>
                  <a:srgbClr val="2E6F63"/>
                </a:solidFill>
                <a:latin typeface="Calibri" pitchFamily="34" charset="0"/>
                <a:ea typeface="Calibri" pitchFamily="34" charset="-122"/>
                <a:cs typeface="Calibri" pitchFamily="34" charset="-120"/>
              </a:rPr>
              <a:t>GAGASAN INTI</a:t>
            </a:r>
            <a:endParaRPr lang="en-US" sz="950" dirty="0"/>
          </a:p>
        </p:txBody>
      </p:sp>
      <p:sp>
        <p:nvSpPr>
          <p:cNvPr id="12" name="Text 10"/>
          <p:cNvSpPr txBox="1"/>
          <p:nvPr/>
        </p:nvSpPr>
        <p:spPr>
          <a:xfrm>
            <a:off x="877824" y="3749040"/>
            <a:ext cx="4700016" cy="603504"/>
          </a:xfrm>
          <a:prstGeom prst="rect">
            <a:avLst/>
          </a:prstGeom>
          <a:noFill/>
          <a:ln/>
        </p:spPr>
        <p:txBody>
          <a:bodyPr wrap="square" lIns="0" tIns="0" rIns="0" bIns="0" rtlCol="0" anchor="t"/>
          <a:lstStyle/>
          <a:p>
            <a:pPr indent="0" marL="0">
              <a:lnSpc>
                <a:spcPct val="112000"/>
              </a:lnSpc>
              <a:buNone/>
            </a:pPr>
            <a:r>
              <a:rPr lang="en-US" sz="1150" dirty="0">
                <a:solidFill>
                  <a:srgbClr val="2C3540"/>
                </a:solidFill>
                <a:latin typeface="Calibri" pitchFamily="34" charset="0"/>
                <a:ea typeface="Calibri" pitchFamily="34" charset="-122"/>
                <a:cs typeface="Calibri" pitchFamily="34" charset="-120"/>
              </a:rPr>
              <a:t>Moralitas tidak lahir dari aturan, melainkan dari karakter yang dibentuk lewat pembiasaan. Tujuannya eudaimonia, yaitu hidup yang baik dan berkembang penuh.</a:t>
            </a:r>
            <a:endParaRPr lang="en-US" sz="1150" dirty="0"/>
          </a:p>
        </p:txBody>
      </p:sp>
      <p:sp>
        <p:nvSpPr>
          <p:cNvPr id="13" name="Text 11"/>
          <p:cNvSpPr txBox="1"/>
          <p:nvPr/>
        </p:nvSpPr>
        <p:spPr>
          <a:xfrm>
            <a:off x="877824" y="4407408"/>
            <a:ext cx="4700016" cy="237744"/>
          </a:xfrm>
          <a:prstGeom prst="rect">
            <a:avLst/>
          </a:prstGeom>
          <a:noFill/>
          <a:ln/>
        </p:spPr>
        <p:txBody>
          <a:bodyPr wrap="square" lIns="0" tIns="0" rIns="0" bIns="0" rtlCol="0" anchor="ctr"/>
          <a:lstStyle/>
          <a:p>
            <a:pPr indent="0" marL="0">
              <a:buNone/>
            </a:pPr>
            <a:r>
              <a:rPr lang="en-US" sz="950" b="1" spc="110" kern="0" dirty="0">
                <a:solidFill>
                  <a:srgbClr val="2E6F63"/>
                </a:solidFill>
                <a:latin typeface="Calibri" pitchFamily="34" charset="0"/>
                <a:ea typeface="Calibri" pitchFamily="34" charset="-122"/>
                <a:cs typeface="Calibri" pitchFamily="34" charset="-120"/>
              </a:rPr>
              <a:t>PENERAPAN DALAM BISNIS</a:t>
            </a:r>
            <a:endParaRPr lang="en-US" sz="950" dirty="0"/>
          </a:p>
        </p:txBody>
      </p:sp>
      <p:sp>
        <p:nvSpPr>
          <p:cNvPr id="14" name="Text 12"/>
          <p:cNvSpPr txBox="1"/>
          <p:nvPr/>
        </p:nvSpPr>
        <p:spPr>
          <a:xfrm>
            <a:off x="877824" y="4645152"/>
            <a:ext cx="4700016" cy="603504"/>
          </a:xfrm>
          <a:prstGeom prst="rect">
            <a:avLst/>
          </a:prstGeom>
          <a:noFill/>
          <a:ln/>
        </p:spPr>
        <p:txBody>
          <a:bodyPr wrap="square" lIns="0" tIns="0" rIns="0" bIns="0" rtlCol="0" anchor="t"/>
          <a:lstStyle/>
          <a:p>
            <a:pPr indent="0" marL="0">
              <a:lnSpc>
                <a:spcPct val="112000"/>
              </a:lnSpc>
              <a:buNone/>
            </a:pPr>
            <a:r>
              <a:rPr lang="en-US" sz="1150" dirty="0">
                <a:solidFill>
                  <a:srgbClr val="2C3540"/>
                </a:solidFill>
                <a:latin typeface="Calibri" pitchFamily="34" charset="0"/>
                <a:ea typeface="Calibri" pitchFamily="34" charset="-122"/>
                <a:cs typeface="Calibri" pitchFamily="34" charset="-120"/>
              </a:rPr>
              <a:t>Solomon menempatkan perusahaan sebagai komunitas praktik, dengan keutamaan berupa kejujuran, keadilan, kepercayaan, dan ketangguhan.</a:t>
            </a:r>
            <a:endParaRPr lang="en-US" sz="1150" dirty="0"/>
          </a:p>
        </p:txBody>
      </p:sp>
      <p:sp>
        <p:nvSpPr>
          <p:cNvPr id="15" name="Text 13"/>
          <p:cNvSpPr txBox="1"/>
          <p:nvPr/>
        </p:nvSpPr>
        <p:spPr>
          <a:xfrm>
            <a:off x="877824" y="5303520"/>
            <a:ext cx="4700016" cy="237744"/>
          </a:xfrm>
          <a:prstGeom prst="rect">
            <a:avLst/>
          </a:prstGeom>
          <a:noFill/>
          <a:ln/>
        </p:spPr>
        <p:txBody>
          <a:bodyPr wrap="square" lIns="0" tIns="0" rIns="0" bIns="0" rtlCol="0" anchor="ctr"/>
          <a:lstStyle/>
          <a:p>
            <a:pPr indent="0" marL="0">
              <a:buNone/>
            </a:pPr>
            <a:r>
              <a:rPr lang="en-US" sz="950" b="1" spc="110" kern="0" dirty="0">
                <a:solidFill>
                  <a:srgbClr val="2E6F63"/>
                </a:solidFill>
                <a:latin typeface="Calibri" pitchFamily="34" charset="0"/>
                <a:ea typeface="Calibri" pitchFamily="34" charset="-122"/>
                <a:cs typeface="Calibri" pitchFamily="34" charset="-120"/>
              </a:rPr>
              <a:t>KETERBATASAN</a:t>
            </a:r>
            <a:endParaRPr lang="en-US" sz="950" dirty="0"/>
          </a:p>
        </p:txBody>
      </p:sp>
      <p:sp>
        <p:nvSpPr>
          <p:cNvPr id="16" name="Text 14"/>
          <p:cNvSpPr txBox="1"/>
          <p:nvPr/>
        </p:nvSpPr>
        <p:spPr>
          <a:xfrm>
            <a:off x="877824" y="5541264"/>
            <a:ext cx="4700016" cy="603504"/>
          </a:xfrm>
          <a:prstGeom prst="rect">
            <a:avLst/>
          </a:prstGeom>
          <a:noFill/>
          <a:ln/>
        </p:spPr>
        <p:txBody>
          <a:bodyPr wrap="square" lIns="0" tIns="0" rIns="0" bIns="0" rtlCol="0" anchor="t"/>
          <a:lstStyle/>
          <a:p>
            <a:pPr indent="0" marL="0">
              <a:lnSpc>
                <a:spcPct val="112000"/>
              </a:lnSpc>
              <a:buNone/>
            </a:pPr>
            <a:r>
              <a:rPr lang="en-US" sz="1150" dirty="0">
                <a:solidFill>
                  <a:srgbClr val="2C3540"/>
                </a:solidFill>
                <a:latin typeface="Calibri" pitchFamily="34" charset="0"/>
                <a:ea typeface="Calibri" pitchFamily="34" charset="-122"/>
                <a:cs typeface="Calibri" pitchFamily="34" charset="-120"/>
              </a:rPr>
              <a:t>Keutamaan selalu ditentukan komunitas tertentu, sehingga sulit dijadikan ukuran yang berlaku lintas budaya dan lintas industri.</a:t>
            </a:r>
            <a:endParaRPr lang="en-US" sz="1150" dirty="0"/>
          </a:p>
        </p:txBody>
      </p:sp>
      <p:sp>
        <p:nvSpPr>
          <p:cNvPr id="17" name="Shape 15"/>
          <p:cNvSpPr/>
          <p:nvPr/>
        </p:nvSpPr>
        <p:spPr>
          <a:xfrm>
            <a:off x="6300216" y="1792224"/>
            <a:ext cx="5321808" cy="4334256"/>
          </a:xfrm>
          <a:prstGeom prst="roundRect">
            <a:avLst>
              <a:gd name="adj" fmla="val 1899"/>
            </a:avLst>
          </a:prstGeom>
          <a:solidFill>
            <a:srgbClr val="16202A"/>
          </a:solidFill>
          <a:ln w="12700">
            <a:solidFill>
              <a:srgbClr val="16202A"/>
            </a:solidFill>
            <a:prstDash val="solid"/>
          </a:ln>
        </p:spPr>
      </p:sp>
      <p:sp>
        <p:nvSpPr>
          <p:cNvPr id="18" name="Shape 16"/>
          <p:cNvSpPr/>
          <p:nvPr/>
        </p:nvSpPr>
        <p:spPr>
          <a:xfrm>
            <a:off x="6611112" y="1993392"/>
            <a:ext cx="365760" cy="365760"/>
          </a:xfrm>
          <a:prstGeom prst="roundRect">
            <a:avLst>
              <a:gd name="adj" fmla="val 17500"/>
            </a:avLst>
          </a:prstGeom>
          <a:solidFill>
            <a:srgbClr val="2E6F63"/>
          </a:solidFill>
          <a:ln w="12700">
            <a:solidFill>
              <a:srgbClr val="2E6F63"/>
            </a:solidFill>
            <a:prstDash val="solid"/>
          </a:ln>
        </p:spPr>
      </p:sp>
      <p:sp>
        <p:nvSpPr>
          <p:cNvPr id="19" name="Text 17"/>
          <p:cNvSpPr txBox="1"/>
          <p:nvPr/>
        </p:nvSpPr>
        <p:spPr>
          <a:xfrm>
            <a:off x="6611112" y="19933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7</a:t>
            </a:r>
            <a:endParaRPr lang="en-US" sz="1300" dirty="0"/>
          </a:p>
        </p:txBody>
      </p:sp>
      <p:sp>
        <p:nvSpPr>
          <p:cNvPr id="20" name="Text 18"/>
          <p:cNvSpPr txBox="1"/>
          <p:nvPr/>
        </p:nvSpPr>
        <p:spPr>
          <a:xfrm>
            <a:off x="7068312" y="1993392"/>
            <a:ext cx="420624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Ethic of care</a:t>
            </a:r>
            <a:endParaRPr lang="en-US" sz="1800" dirty="0"/>
          </a:p>
        </p:txBody>
      </p:sp>
      <p:sp>
        <p:nvSpPr>
          <p:cNvPr id="21" name="Text 19"/>
          <p:cNvSpPr txBox="1"/>
          <p:nvPr/>
        </p:nvSpPr>
        <p:spPr>
          <a:xfrm>
            <a:off x="6611112" y="2450592"/>
            <a:ext cx="4700016" cy="512064"/>
          </a:xfrm>
          <a:prstGeom prst="rect">
            <a:avLst/>
          </a:prstGeom>
          <a:noFill/>
          <a:ln/>
        </p:spPr>
        <p:txBody>
          <a:bodyPr wrap="square" lIns="0" tIns="0" rIns="0" bIns="0" rtlCol="0" anchor="t"/>
          <a:lstStyle/>
          <a:p>
            <a:pPr indent="0" marL="0">
              <a:lnSpc>
                <a:spcPct val="110000"/>
              </a:lnSpc>
              <a:buNone/>
            </a:pPr>
            <a:r>
              <a:rPr lang="en-US" sz="1350" i="1" dirty="0">
                <a:solidFill>
                  <a:srgbClr val="D5DDE4"/>
                </a:solidFill>
                <a:latin typeface="Cambria" pitchFamily="34" charset="0"/>
                <a:ea typeface="Cambria" pitchFamily="34" charset="-122"/>
                <a:cs typeface="Cambria" pitchFamily="34" charset="-120"/>
              </a:rPr>
              <a:t>Solusi mana yang memelihara relasi dengan pihak terdampak?</a:t>
            </a:r>
            <a:endParaRPr lang="en-US" sz="1350" dirty="0"/>
          </a:p>
        </p:txBody>
      </p:sp>
      <p:sp>
        <p:nvSpPr>
          <p:cNvPr id="22" name="Text 20"/>
          <p:cNvSpPr txBox="1"/>
          <p:nvPr/>
        </p:nvSpPr>
        <p:spPr>
          <a:xfrm>
            <a:off x="6611112" y="3017520"/>
            <a:ext cx="4700016" cy="420624"/>
          </a:xfrm>
          <a:prstGeom prst="rect">
            <a:avLst/>
          </a:prstGeom>
          <a:noFill/>
          <a:ln/>
        </p:spPr>
        <p:txBody>
          <a:bodyPr wrap="square" lIns="0" tIns="0" rIns="0" bIns="0" rtlCol="0" anchor="t"/>
          <a:lstStyle/>
          <a:p>
            <a:pPr indent="0" marL="0">
              <a:lnSpc>
                <a:spcPct val="110000"/>
              </a:lnSpc>
              <a:buNone/>
            </a:pPr>
            <a:r>
              <a:rPr lang="en-US" sz="1050" dirty="0">
                <a:solidFill>
                  <a:srgbClr val="97A3AE"/>
                </a:solidFill>
                <a:latin typeface="Calibri" pitchFamily="34" charset="0"/>
                <a:ea typeface="Calibri" pitchFamily="34" charset="-122"/>
                <a:cs typeface="Calibri" pitchFamily="34" charset="-120"/>
              </a:rPr>
              <a:t>Carol Gilligan dalam In a Different Voice dan Nel Noddings dalam Caring. Berakar pada etika feminis.</a:t>
            </a:r>
            <a:endParaRPr lang="en-US" sz="1050" dirty="0"/>
          </a:p>
        </p:txBody>
      </p:sp>
      <p:sp>
        <p:nvSpPr>
          <p:cNvPr id="23" name="Text 21"/>
          <p:cNvSpPr txBox="1"/>
          <p:nvPr/>
        </p:nvSpPr>
        <p:spPr>
          <a:xfrm>
            <a:off x="6611112" y="3511296"/>
            <a:ext cx="4700016" cy="237744"/>
          </a:xfrm>
          <a:prstGeom prst="rect">
            <a:avLst/>
          </a:prstGeom>
          <a:noFill/>
          <a:ln/>
        </p:spPr>
        <p:txBody>
          <a:bodyPr wrap="square" lIns="0" tIns="0" rIns="0" bIns="0" rtlCol="0" anchor="ctr"/>
          <a:lstStyle/>
          <a:p>
            <a:pPr indent="0" marL="0">
              <a:buNone/>
            </a:pPr>
            <a:r>
              <a:rPr lang="en-US" sz="950" b="1" spc="110" kern="0" dirty="0">
                <a:solidFill>
                  <a:srgbClr val="E3EDEA"/>
                </a:solidFill>
                <a:latin typeface="Calibri" pitchFamily="34" charset="0"/>
                <a:ea typeface="Calibri" pitchFamily="34" charset="-122"/>
                <a:cs typeface="Calibri" pitchFamily="34" charset="-120"/>
              </a:rPr>
              <a:t>GAGASAN INTI</a:t>
            </a:r>
            <a:endParaRPr lang="en-US" sz="950" dirty="0"/>
          </a:p>
        </p:txBody>
      </p:sp>
      <p:sp>
        <p:nvSpPr>
          <p:cNvPr id="24" name="Text 22"/>
          <p:cNvSpPr txBox="1"/>
          <p:nvPr/>
        </p:nvSpPr>
        <p:spPr>
          <a:xfrm>
            <a:off x="6611112" y="3749040"/>
            <a:ext cx="4700016" cy="603504"/>
          </a:xfrm>
          <a:prstGeom prst="rect">
            <a:avLst/>
          </a:prstGeom>
          <a:noFill/>
          <a:ln/>
        </p:spPr>
        <p:txBody>
          <a:bodyPr wrap="square" lIns="0" tIns="0" rIns="0" bIns="0" rtlCol="0" anchor="t"/>
          <a:lstStyle/>
          <a:p>
            <a:pPr indent="0" marL="0">
              <a:lnSpc>
                <a:spcPct val="112000"/>
              </a:lnSpc>
              <a:buNone/>
            </a:pPr>
            <a:r>
              <a:rPr lang="en-US" sz="1150" dirty="0">
                <a:solidFill>
                  <a:srgbClr val="D5DDE4"/>
                </a:solidFill>
                <a:latin typeface="Calibri" pitchFamily="34" charset="0"/>
                <a:ea typeface="Calibri" pitchFamily="34" charset="-122"/>
                <a:cs typeface="Calibri" pitchFamily="34" charset="-120"/>
              </a:rPr>
              <a:t>Manusia dipahami sebagai makhluk yang saling bergantung dan terjalin dalam relasi, bukan sebagai individu rasional yang terpisah.</a:t>
            </a:r>
            <a:endParaRPr lang="en-US" sz="1150" dirty="0"/>
          </a:p>
        </p:txBody>
      </p:sp>
      <p:sp>
        <p:nvSpPr>
          <p:cNvPr id="25" name="Text 23"/>
          <p:cNvSpPr txBox="1"/>
          <p:nvPr/>
        </p:nvSpPr>
        <p:spPr>
          <a:xfrm>
            <a:off x="6611112" y="4407408"/>
            <a:ext cx="4700016" cy="237744"/>
          </a:xfrm>
          <a:prstGeom prst="rect">
            <a:avLst/>
          </a:prstGeom>
          <a:noFill/>
          <a:ln/>
        </p:spPr>
        <p:txBody>
          <a:bodyPr wrap="square" lIns="0" tIns="0" rIns="0" bIns="0" rtlCol="0" anchor="ctr"/>
          <a:lstStyle/>
          <a:p>
            <a:pPr indent="0" marL="0">
              <a:buNone/>
            </a:pPr>
            <a:r>
              <a:rPr lang="en-US" sz="950" b="1" spc="110" kern="0" dirty="0">
                <a:solidFill>
                  <a:srgbClr val="E3EDEA"/>
                </a:solidFill>
                <a:latin typeface="Calibri" pitchFamily="34" charset="0"/>
                <a:ea typeface="Calibri" pitchFamily="34" charset="-122"/>
                <a:cs typeface="Calibri" pitchFamily="34" charset="-120"/>
              </a:rPr>
              <a:t>TUNTUTAN NORMATIF</a:t>
            </a:r>
            <a:endParaRPr lang="en-US" sz="950" dirty="0"/>
          </a:p>
        </p:txBody>
      </p:sp>
      <p:sp>
        <p:nvSpPr>
          <p:cNvPr id="26" name="Text 24"/>
          <p:cNvSpPr txBox="1"/>
          <p:nvPr/>
        </p:nvSpPr>
        <p:spPr>
          <a:xfrm>
            <a:off x="6611112" y="4645152"/>
            <a:ext cx="4700016" cy="603504"/>
          </a:xfrm>
          <a:prstGeom prst="rect">
            <a:avLst/>
          </a:prstGeom>
          <a:noFill/>
          <a:ln/>
        </p:spPr>
        <p:txBody>
          <a:bodyPr wrap="square" lIns="0" tIns="0" rIns="0" bIns="0" rtlCol="0" anchor="t"/>
          <a:lstStyle/>
          <a:p>
            <a:pPr indent="0" marL="0">
              <a:lnSpc>
                <a:spcPct val="112000"/>
              </a:lnSpc>
              <a:buNone/>
            </a:pPr>
            <a:r>
              <a:rPr lang="en-US" sz="1150" dirty="0">
                <a:solidFill>
                  <a:srgbClr val="D5DDE4"/>
                </a:solidFill>
                <a:latin typeface="Calibri" pitchFamily="34" charset="0"/>
                <a:ea typeface="Calibri" pitchFamily="34" charset="-122"/>
                <a:cs typeface="Calibri" pitchFamily="34" charset="-120"/>
              </a:rPr>
              <a:t>Empati, keselarasan, menghindari kerugian, dan tanggung jawab konkret pada orang tertentu, bukan penerapan aturan yang seragam.</a:t>
            </a:r>
            <a:endParaRPr lang="en-US" sz="1150" dirty="0"/>
          </a:p>
        </p:txBody>
      </p:sp>
      <p:sp>
        <p:nvSpPr>
          <p:cNvPr id="27" name="Text 25"/>
          <p:cNvSpPr txBox="1"/>
          <p:nvPr/>
        </p:nvSpPr>
        <p:spPr>
          <a:xfrm>
            <a:off x="6611112" y="5303520"/>
            <a:ext cx="4700016" cy="237744"/>
          </a:xfrm>
          <a:prstGeom prst="rect">
            <a:avLst/>
          </a:prstGeom>
          <a:noFill/>
          <a:ln/>
        </p:spPr>
        <p:txBody>
          <a:bodyPr wrap="square" lIns="0" tIns="0" rIns="0" bIns="0" rtlCol="0" anchor="ctr"/>
          <a:lstStyle/>
          <a:p>
            <a:pPr indent="0" marL="0">
              <a:buNone/>
            </a:pPr>
            <a:r>
              <a:rPr lang="en-US" sz="950" b="1" spc="110" kern="0" dirty="0">
                <a:solidFill>
                  <a:srgbClr val="E3EDEA"/>
                </a:solidFill>
                <a:latin typeface="Calibri" pitchFamily="34" charset="0"/>
                <a:ea typeface="Calibri" pitchFamily="34" charset="-122"/>
                <a:cs typeface="Calibri" pitchFamily="34" charset="-120"/>
              </a:rPr>
              <a:t>KETERBATASAN</a:t>
            </a:r>
            <a:endParaRPr lang="en-US" sz="950" dirty="0"/>
          </a:p>
        </p:txBody>
      </p:sp>
      <p:sp>
        <p:nvSpPr>
          <p:cNvPr id="28" name="Text 26"/>
          <p:cNvSpPr txBox="1"/>
          <p:nvPr/>
        </p:nvSpPr>
        <p:spPr>
          <a:xfrm>
            <a:off x="6611112" y="5541264"/>
            <a:ext cx="4700016" cy="603504"/>
          </a:xfrm>
          <a:prstGeom prst="rect">
            <a:avLst/>
          </a:prstGeom>
          <a:noFill/>
          <a:ln/>
        </p:spPr>
        <p:txBody>
          <a:bodyPr wrap="square" lIns="0" tIns="0" rIns="0" bIns="0" rtlCol="0" anchor="t"/>
          <a:lstStyle/>
          <a:p>
            <a:pPr indent="0" marL="0">
              <a:lnSpc>
                <a:spcPct val="112000"/>
              </a:lnSpc>
              <a:buNone/>
            </a:pPr>
            <a:r>
              <a:rPr lang="en-US" sz="1150" dirty="0">
                <a:solidFill>
                  <a:srgbClr val="D5DDE4"/>
                </a:solidFill>
                <a:latin typeface="Calibri" pitchFamily="34" charset="0"/>
                <a:ea typeface="Calibri" pitchFamily="34" charset="-122"/>
                <a:cs typeface="Calibri" pitchFamily="34" charset="-120"/>
              </a:rPr>
              <a:t>Prioritas pada pihak terdekat berisiko mengabaikan pihak jauh, dan kriteria kepedulian sulit diaudit secara seragam.</a:t>
            </a:r>
            <a:endParaRPr lang="en-US" sz="1150" dirty="0"/>
          </a:p>
        </p:txBody>
      </p:sp>
      <p:sp>
        <p:nvSpPr>
          <p:cNvPr id="29" name="Text 27"/>
          <p:cNvSpPr txBox="1"/>
          <p:nvPr/>
        </p:nvSpPr>
        <p:spPr>
          <a:xfrm>
            <a:off x="566928" y="6419088"/>
            <a:ext cx="10143439" cy="237744"/>
          </a:xfrm>
          <a:prstGeom prst="rect">
            <a:avLst/>
          </a:prstGeom>
          <a:noFill/>
          <a:ln/>
        </p:spPr>
        <p:txBody>
          <a:bodyPr wrap="square" lIns="0" tIns="0" rIns="0" bIns="0" rtlCol="0" anchor="ctr"/>
          <a:lstStyle/>
          <a:p>
            <a:pPr indent="0" marL="0">
              <a:buNone/>
            </a:pPr>
            <a:r>
              <a:rPr lang="en-US" sz="900" i="1" dirty="0">
                <a:solidFill>
                  <a:srgbClr val="6B7684"/>
                </a:solidFill>
                <a:latin typeface="Calibri" pitchFamily="34" charset="0"/>
                <a:ea typeface="Calibri" pitchFamily="34" charset="-122"/>
                <a:cs typeface="Calibri" pitchFamily="34" charset="-120"/>
              </a:rPr>
              <a:t>Crane dan Matten (2019), Tabel 3.5, halaman 114 sampai 121.</a:t>
            </a:r>
            <a:endParaRPr lang="en-US" sz="900" dirty="0"/>
          </a:p>
        </p:txBody>
      </p:sp>
      <p:sp>
        <p:nvSpPr>
          <p:cNvPr id="30" name="Text 28"/>
          <p:cNvSpPr txBox="1"/>
          <p:nvPr/>
        </p:nvSpPr>
        <p:spPr>
          <a:xfrm>
            <a:off x="10893247" y="6419088"/>
            <a:ext cx="731520" cy="237744"/>
          </a:xfrm>
          <a:prstGeom prst="rect">
            <a:avLst/>
          </a:prstGeom>
          <a:noFill/>
          <a:ln/>
        </p:spPr>
        <p:txBody>
          <a:bodyPr wrap="square" lIns="0" tIns="0" rIns="0" bIns="0" rtlCol="0" anchor="ctr"/>
          <a:lstStyle/>
          <a:p>
            <a:pPr algn="r" indent="0" marL="0">
              <a:buNone/>
            </a:pPr>
            <a:r>
              <a:rPr lang="en-US" sz="1100" b="1" dirty="0">
                <a:solidFill>
                  <a:srgbClr val="6B7684"/>
                </a:solidFill>
                <a:latin typeface="Cambria" pitchFamily="34" charset="0"/>
                <a:ea typeface="Cambria" pitchFamily="34" charset="-122"/>
                <a:cs typeface="Cambria"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B8542A"/>
                </a:solidFill>
                <a:latin typeface="Calibri" pitchFamily="34" charset="0"/>
                <a:ea typeface="Calibri" pitchFamily="34" charset="-122"/>
                <a:cs typeface="Calibri" pitchFamily="34" charset="-120"/>
              </a:rPr>
              <a:t>06   TEORI ALTERNATIF</a:t>
            </a:r>
            <a:endParaRPr lang="en-US" sz="1000" dirty="0"/>
          </a:p>
        </p:txBody>
      </p:sp>
      <p:sp>
        <p:nvSpPr>
          <p:cNvPr id="3" name="Text 1"/>
          <p:cNvSpPr txBox="1"/>
          <p:nvPr/>
        </p:nvSpPr>
        <p:spPr>
          <a:xfrm>
            <a:off x="566928" y="585216"/>
            <a:ext cx="11057839" cy="548640"/>
          </a:xfrm>
          <a:prstGeom prst="rect">
            <a:avLst/>
          </a:prstGeom>
          <a:noFill/>
          <a:ln/>
        </p:spPr>
        <p:txBody>
          <a:bodyPr wrap="square" lIns="0" tIns="0" rIns="0" bIns="0" rtlCol="0" anchor="ctr"/>
          <a:lstStyle/>
          <a:p>
            <a:pPr indent="0" marL="0">
              <a:buNone/>
            </a:pPr>
            <a:r>
              <a:rPr lang="en-US" sz="2800" b="1" dirty="0">
                <a:solidFill>
                  <a:srgbClr val="16202A"/>
                </a:solidFill>
                <a:latin typeface="Cambria" pitchFamily="34" charset="0"/>
                <a:ea typeface="Cambria" pitchFamily="34" charset="-122"/>
                <a:cs typeface="Cambria" pitchFamily="34" charset="-120"/>
              </a:rPr>
              <a:t>Discourse ethics dan postmodern ethics</a:t>
            </a:r>
            <a:endParaRPr lang="en-US" sz="2800" dirty="0"/>
          </a:p>
        </p:txBody>
      </p:sp>
      <p:sp>
        <p:nvSpPr>
          <p:cNvPr id="4" name="Text 2"/>
          <p:cNvSpPr txBox="1"/>
          <p:nvPr/>
        </p:nvSpPr>
        <p:spPr>
          <a:xfrm>
            <a:off x="566928" y="1170432"/>
            <a:ext cx="11057839" cy="310896"/>
          </a:xfrm>
          <a:prstGeom prst="rect">
            <a:avLst/>
          </a:prstGeom>
          <a:noFill/>
          <a:ln/>
        </p:spPr>
        <p:txBody>
          <a:bodyPr wrap="square" lIns="0" tIns="0" rIns="0" bIns="0" rtlCol="0" anchor="t"/>
          <a:lstStyle/>
          <a:p>
            <a:pPr indent="0" marL="0">
              <a:lnSpc>
                <a:spcPct val="110000"/>
              </a:lnSpc>
              <a:buNone/>
            </a:pPr>
            <a:r>
              <a:rPr lang="en-US" sz="1250" dirty="0">
                <a:solidFill>
                  <a:srgbClr val="6B7684"/>
                </a:solidFill>
                <a:latin typeface="Calibri" pitchFamily="34" charset="0"/>
                <a:ea typeface="Calibri" pitchFamily="34" charset="-122"/>
                <a:cs typeface="Calibri" pitchFamily="34" charset="-120"/>
              </a:rPr>
              <a:t>Objek penilaian bergeser ke prosedur perumusan norma dan ke bahasa yang dipakai untuk membenarkannya.</a:t>
            </a:r>
            <a:endParaRPr lang="en-US" sz="1250" dirty="0"/>
          </a:p>
        </p:txBody>
      </p:sp>
      <p:sp>
        <p:nvSpPr>
          <p:cNvPr id="5" name="Shape 3"/>
          <p:cNvSpPr/>
          <p:nvPr/>
        </p:nvSpPr>
        <p:spPr>
          <a:xfrm>
            <a:off x="566928" y="1792224"/>
            <a:ext cx="5321808" cy="4334256"/>
          </a:xfrm>
          <a:prstGeom prst="roundRect">
            <a:avLst>
              <a:gd name="adj" fmla="val 1899"/>
            </a:avLst>
          </a:prstGeom>
          <a:solidFill>
            <a:srgbClr val="F1F3F5"/>
          </a:solidFill>
          <a:ln w="12700">
            <a:solidFill>
              <a:srgbClr val="F1F3F5"/>
            </a:solidFill>
            <a:prstDash val="solid"/>
          </a:ln>
        </p:spPr>
      </p:sp>
      <p:sp>
        <p:nvSpPr>
          <p:cNvPr id="6" name="Shape 4"/>
          <p:cNvSpPr/>
          <p:nvPr/>
        </p:nvSpPr>
        <p:spPr>
          <a:xfrm>
            <a:off x="877824" y="1993392"/>
            <a:ext cx="365760" cy="365760"/>
          </a:xfrm>
          <a:prstGeom prst="roundRect">
            <a:avLst>
              <a:gd name="adj" fmla="val 17500"/>
            </a:avLst>
          </a:prstGeom>
          <a:solidFill>
            <a:srgbClr val="2E6F63"/>
          </a:solidFill>
          <a:ln w="12700">
            <a:solidFill>
              <a:srgbClr val="2E6F63"/>
            </a:solidFill>
            <a:prstDash val="solid"/>
          </a:ln>
        </p:spPr>
      </p:sp>
      <p:sp>
        <p:nvSpPr>
          <p:cNvPr id="7" name="Text 5"/>
          <p:cNvSpPr txBox="1"/>
          <p:nvPr/>
        </p:nvSpPr>
        <p:spPr>
          <a:xfrm>
            <a:off x="877824" y="19933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8</a:t>
            </a:r>
            <a:endParaRPr lang="en-US" sz="1300" dirty="0"/>
          </a:p>
        </p:txBody>
      </p:sp>
      <p:sp>
        <p:nvSpPr>
          <p:cNvPr id="8" name="Text 6"/>
          <p:cNvSpPr txBox="1"/>
          <p:nvPr/>
        </p:nvSpPr>
        <p:spPr>
          <a:xfrm>
            <a:off x="1335024" y="1993392"/>
            <a:ext cx="4206240" cy="365760"/>
          </a:xfrm>
          <a:prstGeom prst="rect">
            <a:avLst/>
          </a:prstGeom>
          <a:noFill/>
          <a:ln/>
        </p:spPr>
        <p:txBody>
          <a:bodyPr wrap="square" lIns="0" tIns="0" rIns="0" bIns="0" rtlCol="0" anchor="ctr"/>
          <a:lstStyle/>
          <a:p>
            <a:pPr indent="0" marL="0">
              <a:buNone/>
            </a:pPr>
            <a:r>
              <a:rPr lang="en-US" sz="1800" b="1" dirty="0">
                <a:solidFill>
                  <a:srgbClr val="16202A"/>
                </a:solidFill>
                <a:latin typeface="Cambria" pitchFamily="34" charset="0"/>
                <a:ea typeface="Cambria" pitchFamily="34" charset="-122"/>
                <a:cs typeface="Cambria" pitchFamily="34" charset="-120"/>
              </a:rPr>
              <a:t>Discourse ethics</a:t>
            </a:r>
            <a:endParaRPr lang="en-US" sz="1800" dirty="0"/>
          </a:p>
        </p:txBody>
      </p:sp>
      <p:sp>
        <p:nvSpPr>
          <p:cNvPr id="9" name="Text 7"/>
          <p:cNvSpPr txBox="1"/>
          <p:nvPr/>
        </p:nvSpPr>
        <p:spPr>
          <a:xfrm>
            <a:off x="877824" y="2450592"/>
            <a:ext cx="4700016" cy="512064"/>
          </a:xfrm>
          <a:prstGeom prst="rect">
            <a:avLst/>
          </a:prstGeom>
          <a:noFill/>
          <a:ln/>
        </p:spPr>
        <p:txBody>
          <a:bodyPr wrap="square" lIns="0" tIns="0" rIns="0" bIns="0" rtlCol="0" anchor="t"/>
          <a:lstStyle/>
          <a:p>
            <a:pPr indent="0" marL="0">
              <a:lnSpc>
                <a:spcPct val="110000"/>
              </a:lnSpc>
              <a:buNone/>
            </a:pPr>
            <a:r>
              <a:rPr lang="en-US" sz="1350" i="1" dirty="0">
                <a:solidFill>
                  <a:srgbClr val="2E6F63"/>
                </a:solidFill>
                <a:latin typeface="Cambria" pitchFamily="34" charset="0"/>
                <a:ea typeface="Cambria" pitchFamily="34" charset="-122"/>
                <a:cs typeface="Cambria" pitchFamily="34" charset="-120"/>
              </a:rPr>
              <a:t>Norma apa yang bisa lahir dari deliberasi yang terbuka?</a:t>
            </a:r>
            <a:endParaRPr lang="en-US" sz="1350" dirty="0"/>
          </a:p>
        </p:txBody>
      </p:sp>
      <p:sp>
        <p:nvSpPr>
          <p:cNvPr id="10" name="Text 8"/>
          <p:cNvSpPr txBox="1"/>
          <p:nvPr/>
        </p:nvSpPr>
        <p:spPr>
          <a:xfrm>
            <a:off x="877824" y="3017520"/>
            <a:ext cx="4700016" cy="420624"/>
          </a:xfrm>
          <a:prstGeom prst="rect">
            <a:avLst/>
          </a:prstGeom>
          <a:noFill/>
          <a:ln/>
        </p:spPr>
        <p:txBody>
          <a:bodyPr wrap="square" lIns="0" tIns="0" rIns="0" bIns="0" rtlCol="0" anchor="t"/>
          <a:lstStyle/>
          <a:p>
            <a:pPr indent="0" marL="0">
              <a:lnSpc>
                <a:spcPct val="110000"/>
              </a:lnSpc>
              <a:buNone/>
            </a:pPr>
            <a:r>
              <a:rPr lang="en-US" sz="1050" dirty="0">
                <a:solidFill>
                  <a:srgbClr val="6B7684"/>
                </a:solidFill>
                <a:latin typeface="Calibri" pitchFamily="34" charset="0"/>
                <a:ea typeface="Calibri" pitchFamily="34" charset="-122"/>
                <a:cs typeface="Calibri" pitchFamily="34" charset="-120"/>
              </a:rPr>
              <a:t>Jurgen Habermas dalam Moral Consciousness and Communicative Action, bersama Karl Otto Apel.</a:t>
            </a:r>
            <a:endParaRPr lang="en-US" sz="1050" dirty="0"/>
          </a:p>
        </p:txBody>
      </p:sp>
      <p:sp>
        <p:nvSpPr>
          <p:cNvPr id="11" name="Text 9"/>
          <p:cNvSpPr txBox="1"/>
          <p:nvPr/>
        </p:nvSpPr>
        <p:spPr>
          <a:xfrm>
            <a:off x="877824" y="3511296"/>
            <a:ext cx="4700016" cy="237744"/>
          </a:xfrm>
          <a:prstGeom prst="rect">
            <a:avLst/>
          </a:prstGeom>
          <a:noFill/>
          <a:ln/>
        </p:spPr>
        <p:txBody>
          <a:bodyPr wrap="square" lIns="0" tIns="0" rIns="0" bIns="0" rtlCol="0" anchor="ctr"/>
          <a:lstStyle/>
          <a:p>
            <a:pPr indent="0" marL="0">
              <a:buNone/>
            </a:pPr>
            <a:r>
              <a:rPr lang="en-US" sz="950" b="1" spc="110" kern="0" dirty="0">
                <a:solidFill>
                  <a:srgbClr val="2E6F63"/>
                </a:solidFill>
                <a:latin typeface="Calibri" pitchFamily="34" charset="0"/>
                <a:ea typeface="Calibri" pitchFamily="34" charset="-122"/>
                <a:cs typeface="Calibri" pitchFamily="34" charset="-120"/>
              </a:rPr>
              <a:t>GAGASAN INTI</a:t>
            </a:r>
            <a:endParaRPr lang="en-US" sz="950" dirty="0"/>
          </a:p>
        </p:txBody>
      </p:sp>
      <p:sp>
        <p:nvSpPr>
          <p:cNvPr id="12" name="Text 10"/>
          <p:cNvSpPr txBox="1"/>
          <p:nvPr/>
        </p:nvSpPr>
        <p:spPr>
          <a:xfrm>
            <a:off x="877824" y="3749040"/>
            <a:ext cx="4700016" cy="603504"/>
          </a:xfrm>
          <a:prstGeom prst="rect">
            <a:avLst/>
          </a:prstGeom>
          <a:noFill/>
          <a:ln/>
        </p:spPr>
        <p:txBody>
          <a:bodyPr wrap="square" lIns="0" tIns="0" rIns="0" bIns="0" rtlCol="0" anchor="t"/>
          <a:lstStyle/>
          <a:p>
            <a:pPr indent="0" marL="0">
              <a:lnSpc>
                <a:spcPct val="112000"/>
              </a:lnSpc>
              <a:buNone/>
            </a:pPr>
            <a:r>
              <a:rPr lang="en-US" sz="1150" dirty="0">
                <a:solidFill>
                  <a:srgbClr val="2C3540"/>
                </a:solidFill>
                <a:latin typeface="Calibri" pitchFamily="34" charset="0"/>
                <a:ea typeface="Calibri" pitchFamily="34" charset="-122"/>
                <a:cs typeface="Calibri" pitchFamily="34" charset="-120"/>
              </a:rPr>
              <a:t>Norma tidak ditetapkan filsuf dari luar, melainkan dihasilkan oleh dialog rasional di antara semua pihak yang terkena dampaknya.</a:t>
            </a:r>
            <a:endParaRPr lang="en-US" sz="1150" dirty="0"/>
          </a:p>
        </p:txBody>
      </p:sp>
      <p:sp>
        <p:nvSpPr>
          <p:cNvPr id="13" name="Text 11"/>
          <p:cNvSpPr txBox="1"/>
          <p:nvPr/>
        </p:nvSpPr>
        <p:spPr>
          <a:xfrm>
            <a:off x="877824" y="4407408"/>
            <a:ext cx="4700016" cy="237744"/>
          </a:xfrm>
          <a:prstGeom prst="rect">
            <a:avLst/>
          </a:prstGeom>
          <a:noFill/>
          <a:ln/>
        </p:spPr>
        <p:txBody>
          <a:bodyPr wrap="square" lIns="0" tIns="0" rIns="0" bIns="0" rtlCol="0" anchor="ctr"/>
          <a:lstStyle/>
          <a:p>
            <a:pPr indent="0" marL="0">
              <a:buNone/>
            </a:pPr>
            <a:r>
              <a:rPr lang="en-US" sz="950" b="1" spc="110" kern="0" dirty="0">
                <a:solidFill>
                  <a:srgbClr val="2E6F63"/>
                </a:solidFill>
                <a:latin typeface="Calibri" pitchFamily="34" charset="0"/>
                <a:ea typeface="Calibri" pitchFamily="34" charset="-122"/>
                <a:cs typeface="Calibri" pitchFamily="34" charset="-120"/>
              </a:rPr>
              <a:t>SYARAT IDEAL SPEECH SITUATION</a:t>
            </a:r>
            <a:endParaRPr lang="en-US" sz="950" dirty="0"/>
          </a:p>
        </p:txBody>
      </p:sp>
      <p:sp>
        <p:nvSpPr>
          <p:cNvPr id="14" name="Text 12"/>
          <p:cNvSpPr txBox="1"/>
          <p:nvPr/>
        </p:nvSpPr>
        <p:spPr>
          <a:xfrm>
            <a:off x="877824" y="4645152"/>
            <a:ext cx="4700016" cy="603504"/>
          </a:xfrm>
          <a:prstGeom prst="rect">
            <a:avLst/>
          </a:prstGeom>
          <a:noFill/>
          <a:ln/>
        </p:spPr>
        <p:txBody>
          <a:bodyPr wrap="square" lIns="0" tIns="0" rIns="0" bIns="0" rtlCol="0" anchor="t"/>
          <a:lstStyle/>
          <a:p>
            <a:pPr indent="0" marL="0">
              <a:lnSpc>
                <a:spcPct val="112000"/>
              </a:lnSpc>
              <a:buNone/>
            </a:pPr>
            <a:r>
              <a:rPr lang="en-US" sz="1150" dirty="0">
                <a:solidFill>
                  <a:srgbClr val="2C3540"/>
                </a:solidFill>
                <a:latin typeface="Calibri" pitchFamily="34" charset="0"/>
                <a:ea typeface="Calibri" pitchFamily="34" charset="-122"/>
                <a:cs typeface="Calibri" pitchFamily="34" charset="-120"/>
              </a:rPr>
              <a:t>Semua pihak terdampak boleh ikut, bebas dari paksaan, dan argumen dinilai dari kekuatannya sendiri, bukan dari kekuasaan pengusulnya.</a:t>
            </a:r>
            <a:endParaRPr lang="en-US" sz="1150" dirty="0"/>
          </a:p>
        </p:txBody>
      </p:sp>
      <p:sp>
        <p:nvSpPr>
          <p:cNvPr id="15" name="Text 13"/>
          <p:cNvSpPr txBox="1"/>
          <p:nvPr/>
        </p:nvSpPr>
        <p:spPr>
          <a:xfrm>
            <a:off x="877824" y="5303520"/>
            <a:ext cx="4700016" cy="237744"/>
          </a:xfrm>
          <a:prstGeom prst="rect">
            <a:avLst/>
          </a:prstGeom>
          <a:noFill/>
          <a:ln/>
        </p:spPr>
        <p:txBody>
          <a:bodyPr wrap="square" lIns="0" tIns="0" rIns="0" bIns="0" rtlCol="0" anchor="ctr"/>
          <a:lstStyle/>
          <a:p>
            <a:pPr indent="0" marL="0">
              <a:buNone/>
            </a:pPr>
            <a:r>
              <a:rPr lang="en-US" sz="950" b="1" spc="110" kern="0" dirty="0">
                <a:solidFill>
                  <a:srgbClr val="2E6F63"/>
                </a:solidFill>
                <a:latin typeface="Calibri" pitchFamily="34" charset="0"/>
                <a:ea typeface="Calibri" pitchFamily="34" charset="-122"/>
                <a:cs typeface="Calibri" pitchFamily="34" charset="-120"/>
              </a:rPr>
              <a:t>ORIENTASI</a:t>
            </a:r>
            <a:endParaRPr lang="en-US" sz="950" dirty="0"/>
          </a:p>
        </p:txBody>
      </p:sp>
      <p:sp>
        <p:nvSpPr>
          <p:cNvPr id="16" name="Text 14"/>
          <p:cNvSpPr txBox="1"/>
          <p:nvPr/>
        </p:nvSpPr>
        <p:spPr>
          <a:xfrm>
            <a:off x="877824" y="5541264"/>
            <a:ext cx="4700016" cy="603504"/>
          </a:xfrm>
          <a:prstGeom prst="rect">
            <a:avLst/>
          </a:prstGeom>
          <a:noFill/>
          <a:ln/>
        </p:spPr>
        <p:txBody>
          <a:bodyPr wrap="square" lIns="0" tIns="0" rIns="0" bIns="0" rtlCol="0" anchor="t"/>
          <a:lstStyle/>
          <a:p>
            <a:pPr indent="0" marL="0">
              <a:lnSpc>
                <a:spcPct val="112000"/>
              </a:lnSpc>
              <a:buNone/>
            </a:pPr>
            <a:r>
              <a:rPr lang="en-US" sz="1150" dirty="0">
                <a:solidFill>
                  <a:srgbClr val="2C3540"/>
                </a:solidFill>
                <a:latin typeface="Calibri" pitchFamily="34" charset="0"/>
                <a:ea typeface="Calibri" pitchFamily="34" charset="-122"/>
                <a:cs typeface="Calibri" pitchFamily="34" charset="-120"/>
              </a:rPr>
              <a:t>Penyelesaian konflik secara damai, bukan pembuktian satu kebenaran tunggal. Prosedur yang cacat cukup untuk membatalkan hasilnya.</a:t>
            </a:r>
            <a:endParaRPr lang="en-US" sz="1150" dirty="0"/>
          </a:p>
        </p:txBody>
      </p:sp>
      <p:sp>
        <p:nvSpPr>
          <p:cNvPr id="17" name="Shape 15"/>
          <p:cNvSpPr/>
          <p:nvPr/>
        </p:nvSpPr>
        <p:spPr>
          <a:xfrm>
            <a:off x="6300216" y="1792224"/>
            <a:ext cx="5321808" cy="4334256"/>
          </a:xfrm>
          <a:prstGeom prst="roundRect">
            <a:avLst>
              <a:gd name="adj" fmla="val 1899"/>
            </a:avLst>
          </a:prstGeom>
          <a:solidFill>
            <a:srgbClr val="16202A"/>
          </a:solidFill>
          <a:ln w="12700">
            <a:solidFill>
              <a:srgbClr val="16202A"/>
            </a:solidFill>
            <a:prstDash val="solid"/>
          </a:ln>
        </p:spPr>
      </p:sp>
      <p:sp>
        <p:nvSpPr>
          <p:cNvPr id="18" name="Shape 16"/>
          <p:cNvSpPr/>
          <p:nvPr/>
        </p:nvSpPr>
        <p:spPr>
          <a:xfrm>
            <a:off x="6611112" y="1993392"/>
            <a:ext cx="365760" cy="365760"/>
          </a:xfrm>
          <a:prstGeom prst="roundRect">
            <a:avLst>
              <a:gd name="adj" fmla="val 17500"/>
            </a:avLst>
          </a:prstGeom>
          <a:solidFill>
            <a:srgbClr val="2E6F63"/>
          </a:solidFill>
          <a:ln w="12700">
            <a:solidFill>
              <a:srgbClr val="2E6F63"/>
            </a:solidFill>
            <a:prstDash val="solid"/>
          </a:ln>
        </p:spPr>
      </p:sp>
      <p:sp>
        <p:nvSpPr>
          <p:cNvPr id="19" name="Text 17"/>
          <p:cNvSpPr txBox="1"/>
          <p:nvPr/>
        </p:nvSpPr>
        <p:spPr>
          <a:xfrm>
            <a:off x="6611112" y="19933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9</a:t>
            </a:r>
            <a:endParaRPr lang="en-US" sz="1300" dirty="0"/>
          </a:p>
        </p:txBody>
      </p:sp>
      <p:sp>
        <p:nvSpPr>
          <p:cNvPr id="20" name="Text 18"/>
          <p:cNvSpPr txBox="1"/>
          <p:nvPr/>
        </p:nvSpPr>
        <p:spPr>
          <a:xfrm>
            <a:off x="7068312" y="1993392"/>
            <a:ext cx="420624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Postmodern ethics</a:t>
            </a:r>
            <a:endParaRPr lang="en-US" sz="1800" dirty="0"/>
          </a:p>
        </p:txBody>
      </p:sp>
      <p:sp>
        <p:nvSpPr>
          <p:cNvPr id="21" name="Text 19"/>
          <p:cNvSpPr txBox="1"/>
          <p:nvPr/>
        </p:nvSpPr>
        <p:spPr>
          <a:xfrm>
            <a:off x="6611112" y="2450592"/>
            <a:ext cx="4700016" cy="512064"/>
          </a:xfrm>
          <a:prstGeom prst="rect">
            <a:avLst/>
          </a:prstGeom>
          <a:noFill/>
          <a:ln/>
        </p:spPr>
        <p:txBody>
          <a:bodyPr wrap="square" lIns="0" tIns="0" rIns="0" bIns="0" rtlCol="0" anchor="t"/>
          <a:lstStyle/>
          <a:p>
            <a:pPr indent="0" marL="0">
              <a:lnSpc>
                <a:spcPct val="110000"/>
              </a:lnSpc>
              <a:buNone/>
            </a:pPr>
            <a:r>
              <a:rPr lang="en-US" sz="1350" i="1" dirty="0">
                <a:solidFill>
                  <a:srgbClr val="D5DDE4"/>
                </a:solidFill>
                <a:latin typeface="Cambria" pitchFamily="34" charset="0"/>
                <a:ea typeface="Cambria" pitchFamily="34" charset="-122"/>
                <a:cs typeface="Cambria" pitchFamily="34" charset="-120"/>
              </a:rPr>
              <a:t>Kepentingan siapa yang dilayani oleh pilihan istilah?</a:t>
            </a:r>
            <a:endParaRPr lang="en-US" sz="1350" dirty="0"/>
          </a:p>
        </p:txBody>
      </p:sp>
      <p:sp>
        <p:nvSpPr>
          <p:cNvPr id="22" name="Text 20"/>
          <p:cNvSpPr txBox="1"/>
          <p:nvPr/>
        </p:nvSpPr>
        <p:spPr>
          <a:xfrm>
            <a:off x="6611112" y="3017520"/>
            <a:ext cx="4700016" cy="420624"/>
          </a:xfrm>
          <a:prstGeom prst="rect">
            <a:avLst/>
          </a:prstGeom>
          <a:noFill/>
          <a:ln/>
        </p:spPr>
        <p:txBody>
          <a:bodyPr wrap="square" lIns="0" tIns="0" rIns="0" bIns="0" rtlCol="0" anchor="t"/>
          <a:lstStyle/>
          <a:p>
            <a:pPr indent="0" marL="0">
              <a:lnSpc>
                <a:spcPct val="110000"/>
              </a:lnSpc>
              <a:buNone/>
            </a:pPr>
            <a:r>
              <a:rPr lang="en-US" sz="1050" dirty="0">
                <a:solidFill>
                  <a:srgbClr val="97A3AE"/>
                </a:solidFill>
                <a:latin typeface="Calibri" pitchFamily="34" charset="0"/>
                <a:ea typeface="Calibri" pitchFamily="34" charset="-122"/>
                <a:cs typeface="Calibri" pitchFamily="34" charset="-120"/>
              </a:rPr>
              <a:t>Zygmunt Bauman dalam Postmodern Ethics, dengan latar pemikiran Derrida dan Lyotard.</a:t>
            </a:r>
            <a:endParaRPr lang="en-US" sz="1050" dirty="0"/>
          </a:p>
        </p:txBody>
      </p:sp>
      <p:sp>
        <p:nvSpPr>
          <p:cNvPr id="23" name="Text 21"/>
          <p:cNvSpPr txBox="1"/>
          <p:nvPr/>
        </p:nvSpPr>
        <p:spPr>
          <a:xfrm>
            <a:off x="6611112" y="3511296"/>
            <a:ext cx="4700016" cy="237744"/>
          </a:xfrm>
          <a:prstGeom prst="rect">
            <a:avLst/>
          </a:prstGeom>
          <a:noFill/>
          <a:ln/>
        </p:spPr>
        <p:txBody>
          <a:bodyPr wrap="square" lIns="0" tIns="0" rIns="0" bIns="0" rtlCol="0" anchor="ctr"/>
          <a:lstStyle/>
          <a:p>
            <a:pPr indent="0" marL="0">
              <a:buNone/>
            </a:pPr>
            <a:r>
              <a:rPr lang="en-US" sz="950" b="1" spc="110" kern="0" dirty="0">
                <a:solidFill>
                  <a:srgbClr val="E3EDEA"/>
                </a:solidFill>
                <a:latin typeface="Calibri" pitchFamily="34" charset="0"/>
                <a:ea typeface="Calibri" pitchFamily="34" charset="-122"/>
                <a:cs typeface="Calibri" pitchFamily="34" charset="-120"/>
              </a:rPr>
              <a:t>GAGASAN INTI</a:t>
            </a:r>
            <a:endParaRPr lang="en-US" sz="950" dirty="0"/>
          </a:p>
        </p:txBody>
      </p:sp>
      <p:sp>
        <p:nvSpPr>
          <p:cNvPr id="24" name="Text 22"/>
          <p:cNvSpPr txBox="1"/>
          <p:nvPr/>
        </p:nvSpPr>
        <p:spPr>
          <a:xfrm>
            <a:off x="6611112" y="3749040"/>
            <a:ext cx="4700016" cy="603504"/>
          </a:xfrm>
          <a:prstGeom prst="rect">
            <a:avLst/>
          </a:prstGeom>
          <a:noFill/>
          <a:ln/>
        </p:spPr>
        <p:txBody>
          <a:bodyPr wrap="square" lIns="0" tIns="0" rIns="0" bIns="0" rtlCol="0" anchor="t"/>
          <a:lstStyle/>
          <a:p>
            <a:pPr indent="0" marL="0">
              <a:lnSpc>
                <a:spcPct val="112000"/>
              </a:lnSpc>
              <a:buNone/>
            </a:pPr>
            <a:r>
              <a:rPr lang="en-US" sz="1150" dirty="0">
                <a:solidFill>
                  <a:srgbClr val="D5DDE4"/>
                </a:solidFill>
                <a:latin typeface="Calibri" pitchFamily="34" charset="0"/>
                <a:ea typeface="Calibri" pitchFamily="34" charset="-122"/>
                <a:cs typeface="Calibri" pitchFamily="34" charset="-120"/>
              </a:rPr>
              <a:t>Dorongan moral dan perasaan didahulukan atas perhitungan rasional. Tindakan etis kerap digerakkan oleh intuisi, bukan kalkulasi.</a:t>
            </a:r>
            <a:endParaRPr lang="en-US" sz="1150" dirty="0"/>
          </a:p>
        </p:txBody>
      </p:sp>
      <p:sp>
        <p:nvSpPr>
          <p:cNvPr id="25" name="Text 23"/>
          <p:cNvSpPr txBox="1"/>
          <p:nvPr/>
        </p:nvSpPr>
        <p:spPr>
          <a:xfrm>
            <a:off x="6611112" y="4407408"/>
            <a:ext cx="4700016" cy="237744"/>
          </a:xfrm>
          <a:prstGeom prst="rect">
            <a:avLst/>
          </a:prstGeom>
          <a:noFill/>
          <a:ln/>
        </p:spPr>
        <p:txBody>
          <a:bodyPr wrap="square" lIns="0" tIns="0" rIns="0" bIns="0" rtlCol="0" anchor="ctr"/>
          <a:lstStyle/>
          <a:p>
            <a:pPr indent="0" marL="0">
              <a:buNone/>
            </a:pPr>
            <a:r>
              <a:rPr lang="en-US" sz="950" b="1" spc="110" kern="0" dirty="0">
                <a:solidFill>
                  <a:srgbClr val="E3EDEA"/>
                </a:solidFill>
                <a:latin typeface="Calibri" pitchFamily="34" charset="0"/>
                <a:ea typeface="Calibri" pitchFamily="34" charset="-122"/>
                <a:cs typeface="Calibri" pitchFamily="34" charset="-120"/>
              </a:rPr>
              <a:t>KRITIK TERHADAP ORGANISASI</a:t>
            </a:r>
            <a:endParaRPr lang="en-US" sz="950" dirty="0"/>
          </a:p>
        </p:txBody>
      </p:sp>
      <p:sp>
        <p:nvSpPr>
          <p:cNvPr id="26" name="Text 24"/>
          <p:cNvSpPr txBox="1"/>
          <p:nvPr/>
        </p:nvSpPr>
        <p:spPr>
          <a:xfrm>
            <a:off x="6611112" y="4645152"/>
            <a:ext cx="4700016" cy="603504"/>
          </a:xfrm>
          <a:prstGeom prst="rect">
            <a:avLst/>
          </a:prstGeom>
          <a:noFill/>
          <a:ln/>
        </p:spPr>
        <p:txBody>
          <a:bodyPr wrap="square" lIns="0" tIns="0" rIns="0" bIns="0" rtlCol="0" anchor="t"/>
          <a:lstStyle/>
          <a:p>
            <a:pPr indent="0" marL="0">
              <a:lnSpc>
                <a:spcPct val="112000"/>
              </a:lnSpc>
              <a:buNone/>
            </a:pPr>
            <a:r>
              <a:rPr lang="en-US" sz="1150" dirty="0">
                <a:solidFill>
                  <a:srgbClr val="D5DDE4"/>
                </a:solidFill>
                <a:latin typeface="Calibri" pitchFamily="34" charset="0"/>
                <a:ea typeface="Calibri" pitchFamily="34" charset="-122"/>
                <a:cs typeface="Calibri" pitchFamily="34" charset="-120"/>
              </a:rPr>
              <a:t>Prosedur, pembagian tugas, dan jarak birokratis menciptakan jarak moral yang menumpulkan dorongan itu.</a:t>
            </a:r>
            <a:endParaRPr lang="en-US" sz="1150" dirty="0"/>
          </a:p>
        </p:txBody>
      </p:sp>
      <p:sp>
        <p:nvSpPr>
          <p:cNvPr id="27" name="Text 25"/>
          <p:cNvSpPr txBox="1"/>
          <p:nvPr/>
        </p:nvSpPr>
        <p:spPr>
          <a:xfrm>
            <a:off x="6611112" y="5303520"/>
            <a:ext cx="4700016" cy="237744"/>
          </a:xfrm>
          <a:prstGeom prst="rect">
            <a:avLst/>
          </a:prstGeom>
          <a:noFill/>
          <a:ln/>
        </p:spPr>
        <p:txBody>
          <a:bodyPr wrap="square" lIns="0" tIns="0" rIns="0" bIns="0" rtlCol="0" anchor="ctr"/>
          <a:lstStyle/>
          <a:p>
            <a:pPr indent="0" marL="0">
              <a:buNone/>
            </a:pPr>
            <a:r>
              <a:rPr lang="en-US" sz="950" b="1" spc="110" kern="0" dirty="0">
                <a:solidFill>
                  <a:srgbClr val="E3EDEA"/>
                </a:solidFill>
                <a:latin typeface="Calibri" pitchFamily="34" charset="0"/>
                <a:ea typeface="Calibri" pitchFamily="34" charset="-122"/>
                <a:cs typeface="Calibri" pitchFamily="34" charset="-120"/>
              </a:rPr>
              <a:t>IMPLIKASI SIKAP</a:t>
            </a:r>
            <a:endParaRPr lang="en-US" sz="950" dirty="0"/>
          </a:p>
        </p:txBody>
      </p:sp>
      <p:sp>
        <p:nvSpPr>
          <p:cNvPr id="28" name="Text 26"/>
          <p:cNvSpPr txBox="1"/>
          <p:nvPr/>
        </p:nvSpPr>
        <p:spPr>
          <a:xfrm>
            <a:off x="6611112" y="5541264"/>
            <a:ext cx="4700016" cy="603504"/>
          </a:xfrm>
          <a:prstGeom prst="rect">
            <a:avLst/>
          </a:prstGeom>
          <a:noFill/>
          <a:ln/>
        </p:spPr>
        <p:txBody>
          <a:bodyPr wrap="square" lIns="0" tIns="0" rIns="0" bIns="0" rtlCol="0" anchor="t"/>
          <a:lstStyle/>
          <a:p>
            <a:pPr indent="0" marL="0">
              <a:lnSpc>
                <a:spcPct val="112000"/>
              </a:lnSpc>
              <a:buNone/>
            </a:pPr>
            <a:r>
              <a:rPr lang="en-US" sz="1150" dirty="0">
                <a:solidFill>
                  <a:srgbClr val="D5DDE4"/>
                </a:solidFill>
                <a:latin typeface="Calibri" pitchFamily="34" charset="0"/>
                <a:ea typeface="Calibri" pitchFamily="34" charset="-122"/>
                <a:cs typeface="Calibri" pitchFamily="34" charset="-120"/>
              </a:rPr>
              <a:t>Mempertanyakan bahasa dan asumsi yang telah dianggap wajar, lalu bertindak pada skala lokal tempat akibatnya dirasakan.</a:t>
            </a:r>
            <a:endParaRPr lang="en-US" sz="1150" dirty="0"/>
          </a:p>
        </p:txBody>
      </p:sp>
      <p:sp>
        <p:nvSpPr>
          <p:cNvPr id="29" name="Text 27"/>
          <p:cNvSpPr txBox="1"/>
          <p:nvPr/>
        </p:nvSpPr>
        <p:spPr>
          <a:xfrm>
            <a:off x="566928" y="6419088"/>
            <a:ext cx="10143439" cy="237744"/>
          </a:xfrm>
          <a:prstGeom prst="rect">
            <a:avLst/>
          </a:prstGeom>
          <a:noFill/>
          <a:ln/>
        </p:spPr>
        <p:txBody>
          <a:bodyPr wrap="square" lIns="0" tIns="0" rIns="0" bIns="0" rtlCol="0" anchor="ctr"/>
          <a:lstStyle/>
          <a:p>
            <a:pPr indent="0" marL="0">
              <a:buNone/>
            </a:pPr>
            <a:r>
              <a:rPr lang="en-US" sz="900" i="1" dirty="0">
                <a:solidFill>
                  <a:srgbClr val="6B7684"/>
                </a:solidFill>
                <a:latin typeface="Calibri" pitchFamily="34" charset="0"/>
                <a:ea typeface="Calibri" pitchFamily="34" charset="-122"/>
                <a:cs typeface="Calibri" pitchFamily="34" charset="-120"/>
              </a:rPr>
              <a:t>Crane dan Matten (2019), Tabel 3.5, halaman 121 sampai 125.</a:t>
            </a:r>
            <a:endParaRPr lang="en-US" sz="900" dirty="0"/>
          </a:p>
        </p:txBody>
      </p:sp>
      <p:sp>
        <p:nvSpPr>
          <p:cNvPr id="30" name="Text 28"/>
          <p:cNvSpPr txBox="1"/>
          <p:nvPr/>
        </p:nvSpPr>
        <p:spPr>
          <a:xfrm>
            <a:off x="10893247" y="6419088"/>
            <a:ext cx="731520" cy="237744"/>
          </a:xfrm>
          <a:prstGeom prst="rect">
            <a:avLst/>
          </a:prstGeom>
          <a:noFill/>
          <a:ln/>
        </p:spPr>
        <p:txBody>
          <a:bodyPr wrap="square" lIns="0" tIns="0" rIns="0" bIns="0" rtlCol="0" anchor="ctr"/>
          <a:lstStyle/>
          <a:p>
            <a:pPr algn="r" indent="0" marL="0">
              <a:buNone/>
            </a:pPr>
            <a:r>
              <a:rPr lang="en-US" sz="1100" b="1" dirty="0">
                <a:solidFill>
                  <a:srgbClr val="6B7684"/>
                </a:solidFill>
                <a:latin typeface="Cambria" pitchFamily="34" charset="0"/>
                <a:ea typeface="Cambria" pitchFamily="34" charset="-122"/>
                <a:cs typeface="Cambria"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B8542A"/>
                </a:solidFill>
                <a:latin typeface="Calibri" pitchFamily="34" charset="0"/>
                <a:ea typeface="Calibri" pitchFamily="34" charset="-122"/>
                <a:cs typeface="Calibri" pitchFamily="34" charset="-120"/>
              </a:rPr>
              <a:t>07   SINTESIS KERANGKA</a:t>
            </a:r>
            <a:endParaRPr lang="en-US" sz="1000" dirty="0"/>
          </a:p>
        </p:txBody>
      </p:sp>
      <p:sp>
        <p:nvSpPr>
          <p:cNvPr id="3" name="Text 1"/>
          <p:cNvSpPr txBox="1"/>
          <p:nvPr/>
        </p:nvSpPr>
        <p:spPr>
          <a:xfrm>
            <a:off x="566928" y="585216"/>
            <a:ext cx="11057839" cy="548640"/>
          </a:xfrm>
          <a:prstGeom prst="rect">
            <a:avLst/>
          </a:prstGeom>
          <a:noFill/>
          <a:ln/>
        </p:spPr>
        <p:txBody>
          <a:bodyPr wrap="square" lIns="0" tIns="0" rIns="0" bIns="0" rtlCol="0" anchor="ctr"/>
          <a:lstStyle/>
          <a:p>
            <a:pPr indent="0" marL="0">
              <a:buNone/>
            </a:pPr>
            <a:r>
              <a:rPr lang="en-US" sz="2800" b="1" dirty="0">
                <a:solidFill>
                  <a:srgbClr val="16202A"/>
                </a:solidFill>
                <a:latin typeface="Cambria" pitchFamily="34" charset="0"/>
                <a:ea typeface="Cambria" pitchFamily="34" charset="-122"/>
                <a:cs typeface="Cambria" pitchFamily="34" charset="-120"/>
              </a:rPr>
              <a:t>Sembilan pertanyaan penilaian</a:t>
            </a:r>
            <a:endParaRPr lang="en-US" sz="2800" dirty="0"/>
          </a:p>
        </p:txBody>
      </p:sp>
      <p:sp>
        <p:nvSpPr>
          <p:cNvPr id="4" name="Text 2"/>
          <p:cNvSpPr txBox="1"/>
          <p:nvPr/>
        </p:nvSpPr>
        <p:spPr>
          <a:xfrm>
            <a:off x="566928" y="1170432"/>
            <a:ext cx="11057839" cy="310896"/>
          </a:xfrm>
          <a:prstGeom prst="rect">
            <a:avLst/>
          </a:prstGeom>
          <a:noFill/>
          <a:ln/>
        </p:spPr>
        <p:txBody>
          <a:bodyPr wrap="square" lIns="0" tIns="0" rIns="0" bIns="0" rtlCol="0" anchor="t"/>
          <a:lstStyle/>
          <a:p>
            <a:pPr indent="0" marL="0">
              <a:lnSpc>
                <a:spcPct val="110000"/>
              </a:lnSpc>
              <a:buNone/>
            </a:pPr>
            <a:r>
              <a:rPr lang="en-US" sz="1250" dirty="0">
                <a:solidFill>
                  <a:srgbClr val="6B7684"/>
                </a:solidFill>
                <a:latin typeface="Calibri" pitchFamily="34" charset="0"/>
                <a:ea typeface="Calibri" pitchFamily="34" charset="-122"/>
                <a:cs typeface="Calibri" pitchFamily="34" charset="-120"/>
              </a:rPr>
              <a:t>Tidak ada teori yang memberikan jawaban lengkap. Yang dicari bukan jawaban tunggal, melainkan pertimbangan yang paling kuat menanggung beban argumen.</a:t>
            </a:r>
            <a:endParaRPr lang="en-US" sz="1250" dirty="0"/>
          </a:p>
        </p:txBody>
      </p:sp>
      <p:sp>
        <p:nvSpPr>
          <p:cNvPr id="5" name="Shape 3"/>
          <p:cNvSpPr/>
          <p:nvPr/>
        </p:nvSpPr>
        <p:spPr>
          <a:xfrm>
            <a:off x="566928" y="1773936"/>
            <a:ext cx="5323180" cy="804672"/>
          </a:xfrm>
          <a:prstGeom prst="roundRect">
            <a:avLst>
              <a:gd name="adj" fmla="val 10227"/>
            </a:avLst>
          </a:prstGeom>
          <a:solidFill>
            <a:srgbClr val="F1F3F5"/>
          </a:solidFill>
          <a:ln w="12700">
            <a:solidFill>
              <a:srgbClr val="F1F3F5"/>
            </a:solidFill>
            <a:prstDash val="solid"/>
          </a:ln>
        </p:spPr>
      </p:sp>
      <p:sp>
        <p:nvSpPr>
          <p:cNvPr id="6" name="Shape 4"/>
          <p:cNvSpPr/>
          <p:nvPr/>
        </p:nvSpPr>
        <p:spPr>
          <a:xfrm>
            <a:off x="804672" y="1947672"/>
            <a:ext cx="274320" cy="274320"/>
          </a:xfrm>
          <a:prstGeom prst="roundRect">
            <a:avLst>
              <a:gd name="adj" fmla="val 23333"/>
            </a:avLst>
          </a:prstGeom>
          <a:solidFill>
            <a:srgbClr val="B8542A"/>
          </a:solidFill>
          <a:ln w="12700">
            <a:solidFill>
              <a:srgbClr val="B8542A"/>
            </a:solidFill>
            <a:prstDash val="solid"/>
          </a:ln>
        </p:spPr>
      </p:sp>
      <p:sp>
        <p:nvSpPr>
          <p:cNvPr id="7" name="Text 5"/>
          <p:cNvSpPr txBox="1"/>
          <p:nvPr/>
        </p:nvSpPr>
        <p:spPr>
          <a:xfrm>
            <a:off x="804672" y="1947672"/>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txBox="1"/>
          <p:nvPr/>
        </p:nvSpPr>
        <p:spPr>
          <a:xfrm>
            <a:off x="1161288" y="1883664"/>
            <a:ext cx="4454500" cy="256032"/>
          </a:xfrm>
          <a:prstGeom prst="rect">
            <a:avLst/>
          </a:prstGeom>
          <a:noFill/>
          <a:ln/>
        </p:spPr>
        <p:txBody>
          <a:bodyPr wrap="square" lIns="0" tIns="0" rIns="0" bIns="0" rtlCol="0" anchor="ctr"/>
          <a:lstStyle/>
          <a:p>
            <a:pPr indent="0" marL="0">
              <a:buNone/>
            </a:pPr>
            <a:r>
              <a:rPr lang="en-US" sz="1350" b="1" dirty="0">
                <a:solidFill>
                  <a:srgbClr val="16202A"/>
                </a:solidFill>
                <a:latin typeface="Cambria" pitchFamily="34" charset="0"/>
                <a:ea typeface="Cambria" pitchFamily="34" charset="-122"/>
                <a:cs typeface="Cambria" pitchFamily="34" charset="-120"/>
              </a:rPr>
              <a:t>Egoism</a:t>
            </a:r>
            <a:endParaRPr lang="en-US" sz="1350" dirty="0"/>
          </a:p>
        </p:txBody>
      </p:sp>
      <p:sp>
        <p:nvSpPr>
          <p:cNvPr id="9" name="Text 7"/>
          <p:cNvSpPr txBox="1"/>
          <p:nvPr/>
        </p:nvSpPr>
        <p:spPr>
          <a:xfrm>
            <a:off x="1161288" y="2139696"/>
            <a:ext cx="4454500" cy="365760"/>
          </a:xfrm>
          <a:prstGeom prst="rect">
            <a:avLst/>
          </a:prstGeom>
          <a:noFill/>
          <a:ln/>
        </p:spPr>
        <p:txBody>
          <a:bodyPr wrap="square" lIns="0" tIns="0" rIns="0" bIns="0" rtlCol="0" anchor="t"/>
          <a:lstStyle/>
          <a:p>
            <a:pPr indent="0" marL="0">
              <a:lnSpc>
                <a:spcPct val="108000"/>
              </a:lnSpc>
              <a:buNone/>
            </a:pPr>
            <a:r>
              <a:rPr lang="en-US" sz="1100" dirty="0">
                <a:solidFill>
                  <a:srgbClr val="2C3540"/>
                </a:solidFill>
                <a:latin typeface="Calibri" pitchFamily="34" charset="0"/>
                <a:ea typeface="Calibri" pitchFamily="34" charset="-122"/>
                <a:cs typeface="Calibri" pitchFamily="34" charset="-120"/>
              </a:rPr>
              <a:t>Apakah semua pihak bebas mengejar kepentingan jangka panjangnya, dan sudahkah biaya tertunda dihitung?</a:t>
            </a:r>
            <a:endParaRPr lang="en-US" sz="1100" dirty="0"/>
          </a:p>
        </p:txBody>
      </p:sp>
      <p:sp>
        <p:nvSpPr>
          <p:cNvPr id="10" name="Shape 8"/>
          <p:cNvSpPr/>
          <p:nvPr/>
        </p:nvSpPr>
        <p:spPr>
          <a:xfrm>
            <a:off x="566928" y="2670048"/>
            <a:ext cx="5323180" cy="804672"/>
          </a:xfrm>
          <a:prstGeom prst="roundRect">
            <a:avLst>
              <a:gd name="adj" fmla="val 10227"/>
            </a:avLst>
          </a:prstGeom>
          <a:solidFill>
            <a:srgbClr val="E6EAEE"/>
          </a:solidFill>
          <a:ln w="12700">
            <a:solidFill>
              <a:srgbClr val="E6EAEE"/>
            </a:solidFill>
            <a:prstDash val="solid"/>
          </a:ln>
        </p:spPr>
      </p:sp>
      <p:sp>
        <p:nvSpPr>
          <p:cNvPr id="11" name="Shape 9"/>
          <p:cNvSpPr/>
          <p:nvPr/>
        </p:nvSpPr>
        <p:spPr>
          <a:xfrm>
            <a:off x="804672" y="2843784"/>
            <a:ext cx="274320" cy="274320"/>
          </a:xfrm>
          <a:prstGeom prst="roundRect">
            <a:avLst>
              <a:gd name="adj" fmla="val 23333"/>
            </a:avLst>
          </a:prstGeom>
          <a:solidFill>
            <a:srgbClr val="B8542A"/>
          </a:solidFill>
          <a:ln w="12700">
            <a:solidFill>
              <a:srgbClr val="B8542A"/>
            </a:solidFill>
            <a:prstDash val="solid"/>
          </a:ln>
        </p:spPr>
      </p:sp>
      <p:sp>
        <p:nvSpPr>
          <p:cNvPr id="12" name="Text 10"/>
          <p:cNvSpPr txBox="1"/>
          <p:nvPr/>
        </p:nvSpPr>
        <p:spPr>
          <a:xfrm>
            <a:off x="804672" y="2843784"/>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1161288" y="2779776"/>
            <a:ext cx="4454500" cy="256032"/>
          </a:xfrm>
          <a:prstGeom prst="rect">
            <a:avLst/>
          </a:prstGeom>
          <a:noFill/>
          <a:ln/>
        </p:spPr>
        <p:txBody>
          <a:bodyPr wrap="square" lIns="0" tIns="0" rIns="0" bIns="0" rtlCol="0" anchor="ctr"/>
          <a:lstStyle/>
          <a:p>
            <a:pPr indent="0" marL="0">
              <a:buNone/>
            </a:pPr>
            <a:r>
              <a:rPr lang="en-US" sz="1350" b="1" dirty="0">
                <a:solidFill>
                  <a:srgbClr val="16202A"/>
                </a:solidFill>
                <a:latin typeface="Cambria" pitchFamily="34" charset="0"/>
                <a:ea typeface="Cambria" pitchFamily="34" charset="-122"/>
                <a:cs typeface="Cambria" pitchFamily="34" charset="-120"/>
              </a:rPr>
              <a:t>Utilitarianism</a:t>
            </a:r>
            <a:endParaRPr lang="en-US" sz="1350" dirty="0"/>
          </a:p>
        </p:txBody>
      </p:sp>
      <p:sp>
        <p:nvSpPr>
          <p:cNvPr id="14" name="Text 12"/>
          <p:cNvSpPr txBox="1"/>
          <p:nvPr/>
        </p:nvSpPr>
        <p:spPr>
          <a:xfrm>
            <a:off x="1161288" y="3035808"/>
            <a:ext cx="4454500" cy="365760"/>
          </a:xfrm>
          <a:prstGeom prst="rect">
            <a:avLst/>
          </a:prstGeom>
          <a:noFill/>
          <a:ln/>
        </p:spPr>
        <p:txBody>
          <a:bodyPr wrap="square" lIns="0" tIns="0" rIns="0" bIns="0" rtlCol="0" anchor="t"/>
          <a:lstStyle/>
          <a:p>
            <a:pPr indent="0" marL="0">
              <a:lnSpc>
                <a:spcPct val="108000"/>
              </a:lnSpc>
              <a:buNone/>
            </a:pPr>
            <a:r>
              <a:rPr lang="en-US" sz="1100" dirty="0">
                <a:solidFill>
                  <a:srgbClr val="2C3540"/>
                </a:solidFill>
                <a:latin typeface="Calibri" pitchFamily="34" charset="0"/>
                <a:ea typeface="Calibri" pitchFamily="34" charset="-122"/>
                <a:cs typeface="Calibri" pitchFamily="34" charset="-120"/>
              </a:rPr>
              <a:t>Bila seluruh akibat diagregasi, apakah hasilnya positif, dan apakah act dan rule sejalan?</a:t>
            </a:r>
            <a:endParaRPr lang="en-US" sz="1100" dirty="0"/>
          </a:p>
        </p:txBody>
      </p:sp>
      <p:sp>
        <p:nvSpPr>
          <p:cNvPr id="15" name="Shape 13"/>
          <p:cNvSpPr/>
          <p:nvPr/>
        </p:nvSpPr>
        <p:spPr>
          <a:xfrm>
            <a:off x="566928" y="3566160"/>
            <a:ext cx="5323180" cy="804672"/>
          </a:xfrm>
          <a:prstGeom prst="roundRect">
            <a:avLst>
              <a:gd name="adj" fmla="val 10227"/>
            </a:avLst>
          </a:prstGeom>
          <a:solidFill>
            <a:srgbClr val="F1F3F5"/>
          </a:solidFill>
          <a:ln w="12700">
            <a:solidFill>
              <a:srgbClr val="F1F3F5"/>
            </a:solidFill>
            <a:prstDash val="solid"/>
          </a:ln>
        </p:spPr>
      </p:sp>
      <p:sp>
        <p:nvSpPr>
          <p:cNvPr id="16" name="Shape 14"/>
          <p:cNvSpPr/>
          <p:nvPr/>
        </p:nvSpPr>
        <p:spPr>
          <a:xfrm>
            <a:off x="804672" y="3739896"/>
            <a:ext cx="274320" cy="274320"/>
          </a:xfrm>
          <a:prstGeom prst="roundRect">
            <a:avLst>
              <a:gd name="adj" fmla="val 23333"/>
            </a:avLst>
          </a:prstGeom>
          <a:solidFill>
            <a:srgbClr val="B8542A"/>
          </a:solidFill>
          <a:ln w="12700">
            <a:solidFill>
              <a:srgbClr val="B8542A"/>
            </a:solidFill>
            <a:prstDash val="solid"/>
          </a:ln>
        </p:spPr>
      </p:sp>
      <p:sp>
        <p:nvSpPr>
          <p:cNvPr id="17" name="Text 15"/>
          <p:cNvSpPr txBox="1"/>
          <p:nvPr/>
        </p:nvSpPr>
        <p:spPr>
          <a:xfrm>
            <a:off x="804672" y="3739896"/>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txBox="1"/>
          <p:nvPr/>
        </p:nvSpPr>
        <p:spPr>
          <a:xfrm>
            <a:off x="1161288" y="3675888"/>
            <a:ext cx="4454500" cy="256032"/>
          </a:xfrm>
          <a:prstGeom prst="rect">
            <a:avLst/>
          </a:prstGeom>
          <a:noFill/>
          <a:ln/>
        </p:spPr>
        <p:txBody>
          <a:bodyPr wrap="square" lIns="0" tIns="0" rIns="0" bIns="0" rtlCol="0" anchor="ctr"/>
          <a:lstStyle/>
          <a:p>
            <a:pPr indent="0" marL="0">
              <a:buNone/>
            </a:pPr>
            <a:r>
              <a:rPr lang="en-US" sz="1350" b="1" dirty="0">
                <a:solidFill>
                  <a:srgbClr val="16202A"/>
                </a:solidFill>
                <a:latin typeface="Cambria" pitchFamily="34" charset="0"/>
                <a:ea typeface="Cambria" pitchFamily="34" charset="-122"/>
                <a:cs typeface="Cambria" pitchFamily="34" charset="-120"/>
              </a:rPr>
              <a:t>Ethics of duty</a:t>
            </a:r>
            <a:endParaRPr lang="en-US" sz="1350" dirty="0"/>
          </a:p>
        </p:txBody>
      </p:sp>
      <p:sp>
        <p:nvSpPr>
          <p:cNvPr id="19" name="Text 17"/>
          <p:cNvSpPr txBox="1"/>
          <p:nvPr/>
        </p:nvSpPr>
        <p:spPr>
          <a:xfrm>
            <a:off x="1161288" y="3931920"/>
            <a:ext cx="4454500" cy="365760"/>
          </a:xfrm>
          <a:prstGeom prst="rect">
            <a:avLst/>
          </a:prstGeom>
          <a:noFill/>
          <a:ln/>
        </p:spPr>
        <p:txBody>
          <a:bodyPr wrap="square" lIns="0" tIns="0" rIns="0" bIns="0" rtlCol="0" anchor="t"/>
          <a:lstStyle/>
          <a:p>
            <a:pPr indent="0" marL="0">
              <a:lnSpc>
                <a:spcPct val="108000"/>
              </a:lnSpc>
              <a:buNone/>
            </a:pPr>
            <a:r>
              <a:rPr lang="en-US" sz="1100" dirty="0">
                <a:solidFill>
                  <a:srgbClr val="2C3540"/>
                </a:solidFill>
                <a:latin typeface="Calibri" pitchFamily="34" charset="0"/>
                <a:ea typeface="Calibri" pitchFamily="34" charset="-122"/>
                <a:cs typeface="Calibri" pitchFamily="34" charset="-120"/>
              </a:rPr>
              <a:t>Dapatkah maksim tindakan ini diuniversalkan, dan adakah pihak yang diperlakukan sekadar sarana?</a:t>
            </a:r>
            <a:endParaRPr lang="en-US" sz="1100" dirty="0"/>
          </a:p>
        </p:txBody>
      </p:sp>
      <p:sp>
        <p:nvSpPr>
          <p:cNvPr id="20" name="Shape 18"/>
          <p:cNvSpPr/>
          <p:nvPr/>
        </p:nvSpPr>
        <p:spPr>
          <a:xfrm>
            <a:off x="566928" y="4462272"/>
            <a:ext cx="5323180" cy="804672"/>
          </a:xfrm>
          <a:prstGeom prst="roundRect">
            <a:avLst>
              <a:gd name="adj" fmla="val 10227"/>
            </a:avLst>
          </a:prstGeom>
          <a:solidFill>
            <a:srgbClr val="E6EAEE"/>
          </a:solidFill>
          <a:ln w="12700">
            <a:solidFill>
              <a:srgbClr val="E6EAEE"/>
            </a:solidFill>
            <a:prstDash val="solid"/>
          </a:ln>
        </p:spPr>
      </p:sp>
      <p:sp>
        <p:nvSpPr>
          <p:cNvPr id="21" name="Shape 19"/>
          <p:cNvSpPr/>
          <p:nvPr/>
        </p:nvSpPr>
        <p:spPr>
          <a:xfrm>
            <a:off x="804672" y="4636008"/>
            <a:ext cx="274320" cy="274320"/>
          </a:xfrm>
          <a:prstGeom prst="roundRect">
            <a:avLst>
              <a:gd name="adj" fmla="val 23333"/>
            </a:avLst>
          </a:prstGeom>
          <a:solidFill>
            <a:srgbClr val="B8542A"/>
          </a:solidFill>
          <a:ln w="12700">
            <a:solidFill>
              <a:srgbClr val="B8542A"/>
            </a:solidFill>
            <a:prstDash val="solid"/>
          </a:ln>
        </p:spPr>
      </p:sp>
      <p:sp>
        <p:nvSpPr>
          <p:cNvPr id="22" name="Text 20"/>
          <p:cNvSpPr txBox="1"/>
          <p:nvPr/>
        </p:nvSpPr>
        <p:spPr>
          <a:xfrm>
            <a:off x="804672" y="4636008"/>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1"/>
          <p:cNvSpPr txBox="1"/>
          <p:nvPr/>
        </p:nvSpPr>
        <p:spPr>
          <a:xfrm>
            <a:off x="1161288" y="4572000"/>
            <a:ext cx="4454500" cy="256032"/>
          </a:xfrm>
          <a:prstGeom prst="rect">
            <a:avLst/>
          </a:prstGeom>
          <a:noFill/>
          <a:ln/>
        </p:spPr>
        <p:txBody>
          <a:bodyPr wrap="square" lIns="0" tIns="0" rIns="0" bIns="0" rtlCol="0" anchor="ctr"/>
          <a:lstStyle/>
          <a:p>
            <a:pPr indent="0" marL="0">
              <a:buNone/>
            </a:pPr>
            <a:r>
              <a:rPr lang="en-US" sz="1350" b="1" dirty="0">
                <a:solidFill>
                  <a:srgbClr val="16202A"/>
                </a:solidFill>
                <a:latin typeface="Cambria" pitchFamily="34" charset="0"/>
                <a:ea typeface="Cambria" pitchFamily="34" charset="-122"/>
                <a:cs typeface="Cambria" pitchFamily="34" charset="-120"/>
              </a:rPr>
              <a:t>Ethics of rights</a:t>
            </a:r>
            <a:endParaRPr lang="en-US" sz="1350" dirty="0"/>
          </a:p>
        </p:txBody>
      </p:sp>
      <p:sp>
        <p:nvSpPr>
          <p:cNvPr id="24" name="Text 22"/>
          <p:cNvSpPr txBox="1"/>
          <p:nvPr/>
        </p:nvSpPr>
        <p:spPr>
          <a:xfrm>
            <a:off x="1161288" y="4828032"/>
            <a:ext cx="4454500" cy="365760"/>
          </a:xfrm>
          <a:prstGeom prst="rect">
            <a:avLst/>
          </a:prstGeom>
          <a:noFill/>
          <a:ln/>
        </p:spPr>
        <p:txBody>
          <a:bodyPr wrap="square" lIns="0" tIns="0" rIns="0" bIns="0" rtlCol="0" anchor="t"/>
          <a:lstStyle/>
          <a:p>
            <a:pPr indent="0" marL="0">
              <a:lnSpc>
                <a:spcPct val="108000"/>
              </a:lnSpc>
              <a:buNone/>
            </a:pPr>
            <a:r>
              <a:rPr lang="en-US" sz="1100" dirty="0">
                <a:solidFill>
                  <a:srgbClr val="2C3540"/>
                </a:solidFill>
                <a:latin typeface="Calibri" pitchFamily="34" charset="0"/>
                <a:ea typeface="Calibri" pitchFamily="34" charset="-122"/>
                <a:cs typeface="Calibri" pitchFamily="34" charset="-120"/>
              </a:rPr>
              <a:t>Hak siapa yang terpenuhi, hak siapa yang terlanggar, dan sampai mana relasi bisnisnya menjangkau?</a:t>
            </a:r>
            <a:endParaRPr lang="en-US" sz="1100" dirty="0"/>
          </a:p>
        </p:txBody>
      </p:sp>
      <p:sp>
        <p:nvSpPr>
          <p:cNvPr id="25" name="Shape 23"/>
          <p:cNvSpPr/>
          <p:nvPr/>
        </p:nvSpPr>
        <p:spPr>
          <a:xfrm>
            <a:off x="566928" y="5358384"/>
            <a:ext cx="5323180" cy="804672"/>
          </a:xfrm>
          <a:prstGeom prst="roundRect">
            <a:avLst>
              <a:gd name="adj" fmla="val 10227"/>
            </a:avLst>
          </a:prstGeom>
          <a:solidFill>
            <a:srgbClr val="F1F3F5"/>
          </a:solidFill>
          <a:ln w="12700">
            <a:solidFill>
              <a:srgbClr val="F1F3F5"/>
            </a:solidFill>
            <a:prstDash val="solid"/>
          </a:ln>
        </p:spPr>
      </p:sp>
      <p:sp>
        <p:nvSpPr>
          <p:cNvPr id="26" name="Shape 24"/>
          <p:cNvSpPr/>
          <p:nvPr/>
        </p:nvSpPr>
        <p:spPr>
          <a:xfrm>
            <a:off x="804672" y="5532120"/>
            <a:ext cx="274320" cy="274320"/>
          </a:xfrm>
          <a:prstGeom prst="roundRect">
            <a:avLst>
              <a:gd name="adj" fmla="val 23333"/>
            </a:avLst>
          </a:prstGeom>
          <a:solidFill>
            <a:srgbClr val="B8542A"/>
          </a:solidFill>
          <a:ln w="12700">
            <a:solidFill>
              <a:srgbClr val="B8542A"/>
            </a:solidFill>
            <a:prstDash val="solid"/>
          </a:ln>
        </p:spPr>
      </p:sp>
      <p:sp>
        <p:nvSpPr>
          <p:cNvPr id="27" name="Text 25"/>
          <p:cNvSpPr txBox="1"/>
          <p:nvPr/>
        </p:nvSpPr>
        <p:spPr>
          <a:xfrm>
            <a:off x="804672" y="553212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8" name="Text 26"/>
          <p:cNvSpPr txBox="1"/>
          <p:nvPr/>
        </p:nvSpPr>
        <p:spPr>
          <a:xfrm>
            <a:off x="1161288" y="5468112"/>
            <a:ext cx="4454500" cy="256032"/>
          </a:xfrm>
          <a:prstGeom prst="rect">
            <a:avLst/>
          </a:prstGeom>
          <a:noFill/>
          <a:ln/>
        </p:spPr>
        <p:txBody>
          <a:bodyPr wrap="square" lIns="0" tIns="0" rIns="0" bIns="0" rtlCol="0" anchor="ctr"/>
          <a:lstStyle/>
          <a:p>
            <a:pPr indent="0" marL="0">
              <a:buNone/>
            </a:pPr>
            <a:r>
              <a:rPr lang="en-US" sz="1350" b="1" dirty="0">
                <a:solidFill>
                  <a:srgbClr val="16202A"/>
                </a:solidFill>
                <a:latin typeface="Cambria" pitchFamily="34" charset="0"/>
                <a:ea typeface="Cambria" pitchFamily="34" charset="-122"/>
                <a:cs typeface="Cambria" pitchFamily="34" charset="-120"/>
              </a:rPr>
              <a:t>Justice</a:t>
            </a:r>
            <a:endParaRPr lang="en-US" sz="1350" dirty="0"/>
          </a:p>
        </p:txBody>
      </p:sp>
      <p:sp>
        <p:nvSpPr>
          <p:cNvPr id="29" name="Text 27"/>
          <p:cNvSpPr txBox="1"/>
          <p:nvPr/>
        </p:nvSpPr>
        <p:spPr>
          <a:xfrm>
            <a:off x="1161288" y="5724144"/>
            <a:ext cx="4454500" cy="365760"/>
          </a:xfrm>
          <a:prstGeom prst="rect">
            <a:avLst/>
          </a:prstGeom>
          <a:noFill/>
          <a:ln/>
        </p:spPr>
        <p:txBody>
          <a:bodyPr wrap="square" lIns="0" tIns="0" rIns="0" bIns="0" rtlCol="0" anchor="t"/>
          <a:lstStyle/>
          <a:p>
            <a:pPr indent="0" marL="0">
              <a:lnSpc>
                <a:spcPct val="108000"/>
              </a:lnSpc>
              <a:buNone/>
            </a:pPr>
            <a:r>
              <a:rPr lang="en-US" sz="1100" dirty="0">
                <a:solidFill>
                  <a:srgbClr val="2C3540"/>
                </a:solidFill>
                <a:latin typeface="Calibri" pitchFamily="34" charset="0"/>
                <a:ea typeface="Calibri" pitchFamily="34" charset="-122"/>
                <a:cs typeface="Calibri" pitchFamily="34" charset="-120"/>
              </a:rPr>
              <a:t>Susunan apa yang akan dipilih orang yang belum tahu posisi yang akan ditempatinya?</a:t>
            </a:r>
            <a:endParaRPr lang="en-US" sz="1100" dirty="0"/>
          </a:p>
        </p:txBody>
      </p:sp>
      <p:sp>
        <p:nvSpPr>
          <p:cNvPr id="30" name="Shape 28"/>
          <p:cNvSpPr/>
          <p:nvPr/>
        </p:nvSpPr>
        <p:spPr>
          <a:xfrm>
            <a:off x="6301588" y="1773936"/>
            <a:ext cx="5323180" cy="804672"/>
          </a:xfrm>
          <a:prstGeom prst="roundRect">
            <a:avLst>
              <a:gd name="adj" fmla="val 10227"/>
            </a:avLst>
          </a:prstGeom>
          <a:solidFill>
            <a:srgbClr val="E6EAEE"/>
          </a:solidFill>
          <a:ln w="12700">
            <a:solidFill>
              <a:srgbClr val="E6EAEE"/>
            </a:solidFill>
            <a:prstDash val="solid"/>
          </a:ln>
        </p:spPr>
      </p:sp>
      <p:sp>
        <p:nvSpPr>
          <p:cNvPr id="31" name="Shape 29"/>
          <p:cNvSpPr/>
          <p:nvPr/>
        </p:nvSpPr>
        <p:spPr>
          <a:xfrm>
            <a:off x="6539332" y="1947672"/>
            <a:ext cx="274320" cy="274320"/>
          </a:xfrm>
          <a:prstGeom prst="roundRect">
            <a:avLst>
              <a:gd name="adj" fmla="val 23333"/>
            </a:avLst>
          </a:prstGeom>
          <a:solidFill>
            <a:srgbClr val="2E6F63"/>
          </a:solidFill>
          <a:ln w="12700">
            <a:solidFill>
              <a:srgbClr val="2E6F63"/>
            </a:solidFill>
            <a:prstDash val="solid"/>
          </a:ln>
        </p:spPr>
      </p:sp>
      <p:sp>
        <p:nvSpPr>
          <p:cNvPr id="32" name="Text 30"/>
          <p:cNvSpPr txBox="1"/>
          <p:nvPr/>
        </p:nvSpPr>
        <p:spPr>
          <a:xfrm>
            <a:off x="6539332" y="1947672"/>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3" name="Text 31"/>
          <p:cNvSpPr txBox="1"/>
          <p:nvPr/>
        </p:nvSpPr>
        <p:spPr>
          <a:xfrm>
            <a:off x="6895948" y="1883664"/>
            <a:ext cx="4454500" cy="256032"/>
          </a:xfrm>
          <a:prstGeom prst="rect">
            <a:avLst/>
          </a:prstGeom>
          <a:noFill/>
          <a:ln/>
        </p:spPr>
        <p:txBody>
          <a:bodyPr wrap="square" lIns="0" tIns="0" rIns="0" bIns="0" rtlCol="0" anchor="ctr"/>
          <a:lstStyle/>
          <a:p>
            <a:pPr indent="0" marL="0">
              <a:buNone/>
            </a:pPr>
            <a:r>
              <a:rPr lang="en-US" sz="1350" b="1" dirty="0">
                <a:solidFill>
                  <a:srgbClr val="16202A"/>
                </a:solidFill>
                <a:latin typeface="Cambria" pitchFamily="34" charset="0"/>
                <a:ea typeface="Cambria" pitchFamily="34" charset="-122"/>
                <a:cs typeface="Cambria" pitchFamily="34" charset="-120"/>
              </a:rPr>
              <a:t>Virtue ethics</a:t>
            </a:r>
            <a:endParaRPr lang="en-US" sz="1350" dirty="0"/>
          </a:p>
        </p:txBody>
      </p:sp>
      <p:sp>
        <p:nvSpPr>
          <p:cNvPr id="34" name="Text 32"/>
          <p:cNvSpPr txBox="1"/>
          <p:nvPr/>
        </p:nvSpPr>
        <p:spPr>
          <a:xfrm>
            <a:off x="6895948" y="2139696"/>
            <a:ext cx="4454500" cy="365760"/>
          </a:xfrm>
          <a:prstGeom prst="rect">
            <a:avLst/>
          </a:prstGeom>
          <a:noFill/>
          <a:ln/>
        </p:spPr>
        <p:txBody>
          <a:bodyPr wrap="square" lIns="0" tIns="0" rIns="0" bIns="0" rtlCol="0" anchor="t"/>
          <a:lstStyle/>
          <a:p>
            <a:pPr indent="0" marL="0">
              <a:lnSpc>
                <a:spcPct val="108000"/>
              </a:lnSpc>
              <a:buNone/>
            </a:pPr>
            <a:r>
              <a:rPr lang="en-US" sz="1100" dirty="0">
                <a:solidFill>
                  <a:srgbClr val="2C3540"/>
                </a:solidFill>
                <a:latin typeface="Calibri" pitchFamily="34" charset="0"/>
                <a:ea typeface="Calibri" pitchFamily="34" charset="-122"/>
                <a:cs typeface="Calibri" pitchFamily="34" charset="-120"/>
              </a:rPr>
              <a:t>Bagaimana pelaku berkarakter baik bertindak di posisi ini, dan diukur terhadap standar yang mana?</a:t>
            </a:r>
            <a:endParaRPr lang="en-US" sz="1100" dirty="0"/>
          </a:p>
        </p:txBody>
      </p:sp>
      <p:sp>
        <p:nvSpPr>
          <p:cNvPr id="35" name="Shape 33"/>
          <p:cNvSpPr/>
          <p:nvPr/>
        </p:nvSpPr>
        <p:spPr>
          <a:xfrm>
            <a:off x="6301588" y="2670048"/>
            <a:ext cx="5323180" cy="804672"/>
          </a:xfrm>
          <a:prstGeom prst="roundRect">
            <a:avLst>
              <a:gd name="adj" fmla="val 10227"/>
            </a:avLst>
          </a:prstGeom>
          <a:solidFill>
            <a:srgbClr val="F1F3F5"/>
          </a:solidFill>
          <a:ln w="12700">
            <a:solidFill>
              <a:srgbClr val="F1F3F5"/>
            </a:solidFill>
            <a:prstDash val="solid"/>
          </a:ln>
        </p:spPr>
      </p:sp>
      <p:sp>
        <p:nvSpPr>
          <p:cNvPr id="36" name="Shape 34"/>
          <p:cNvSpPr/>
          <p:nvPr/>
        </p:nvSpPr>
        <p:spPr>
          <a:xfrm>
            <a:off x="6539332" y="2843784"/>
            <a:ext cx="274320" cy="274320"/>
          </a:xfrm>
          <a:prstGeom prst="roundRect">
            <a:avLst>
              <a:gd name="adj" fmla="val 23333"/>
            </a:avLst>
          </a:prstGeom>
          <a:solidFill>
            <a:srgbClr val="2E6F63"/>
          </a:solidFill>
          <a:ln w="12700">
            <a:solidFill>
              <a:srgbClr val="2E6F63"/>
            </a:solidFill>
            <a:prstDash val="solid"/>
          </a:ln>
        </p:spPr>
      </p:sp>
      <p:sp>
        <p:nvSpPr>
          <p:cNvPr id="37" name="Text 35"/>
          <p:cNvSpPr txBox="1"/>
          <p:nvPr/>
        </p:nvSpPr>
        <p:spPr>
          <a:xfrm>
            <a:off x="6539332" y="2843784"/>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7</a:t>
            </a:r>
            <a:endParaRPr lang="en-US" sz="1300" dirty="0"/>
          </a:p>
        </p:txBody>
      </p:sp>
      <p:sp>
        <p:nvSpPr>
          <p:cNvPr id="38" name="Text 36"/>
          <p:cNvSpPr txBox="1"/>
          <p:nvPr/>
        </p:nvSpPr>
        <p:spPr>
          <a:xfrm>
            <a:off x="6895948" y="2779776"/>
            <a:ext cx="4454500" cy="256032"/>
          </a:xfrm>
          <a:prstGeom prst="rect">
            <a:avLst/>
          </a:prstGeom>
          <a:noFill/>
          <a:ln/>
        </p:spPr>
        <p:txBody>
          <a:bodyPr wrap="square" lIns="0" tIns="0" rIns="0" bIns="0" rtlCol="0" anchor="ctr"/>
          <a:lstStyle/>
          <a:p>
            <a:pPr indent="0" marL="0">
              <a:buNone/>
            </a:pPr>
            <a:r>
              <a:rPr lang="en-US" sz="1350" b="1" dirty="0">
                <a:solidFill>
                  <a:srgbClr val="16202A"/>
                </a:solidFill>
                <a:latin typeface="Cambria" pitchFamily="34" charset="0"/>
                <a:ea typeface="Cambria" pitchFamily="34" charset="-122"/>
                <a:cs typeface="Cambria" pitchFamily="34" charset="-120"/>
              </a:rPr>
              <a:t>Ethic of care</a:t>
            </a:r>
            <a:endParaRPr lang="en-US" sz="1350" dirty="0"/>
          </a:p>
        </p:txBody>
      </p:sp>
      <p:sp>
        <p:nvSpPr>
          <p:cNvPr id="39" name="Text 37"/>
          <p:cNvSpPr txBox="1"/>
          <p:nvPr/>
        </p:nvSpPr>
        <p:spPr>
          <a:xfrm>
            <a:off x="6895948" y="3035808"/>
            <a:ext cx="4454500" cy="365760"/>
          </a:xfrm>
          <a:prstGeom prst="rect">
            <a:avLst/>
          </a:prstGeom>
          <a:noFill/>
          <a:ln/>
        </p:spPr>
        <p:txBody>
          <a:bodyPr wrap="square" lIns="0" tIns="0" rIns="0" bIns="0" rtlCol="0" anchor="t"/>
          <a:lstStyle/>
          <a:p>
            <a:pPr indent="0" marL="0">
              <a:lnSpc>
                <a:spcPct val="108000"/>
              </a:lnSpc>
              <a:buNone/>
            </a:pPr>
            <a:r>
              <a:rPr lang="en-US" sz="1100" dirty="0">
                <a:solidFill>
                  <a:srgbClr val="2C3540"/>
                </a:solidFill>
                <a:latin typeface="Calibri" pitchFamily="34" charset="0"/>
                <a:ea typeface="Calibri" pitchFamily="34" charset="-122"/>
                <a:cs typeface="Calibri" pitchFamily="34" charset="-120"/>
              </a:rPr>
              <a:t>Solusi mana yang memelihara relasi dengan pihak terdampak, bukan sekadar mengganti kerugiannya?</a:t>
            </a:r>
            <a:endParaRPr lang="en-US" sz="1100" dirty="0"/>
          </a:p>
        </p:txBody>
      </p:sp>
      <p:sp>
        <p:nvSpPr>
          <p:cNvPr id="40" name="Shape 38"/>
          <p:cNvSpPr/>
          <p:nvPr/>
        </p:nvSpPr>
        <p:spPr>
          <a:xfrm>
            <a:off x="6301588" y="3566160"/>
            <a:ext cx="5323180" cy="804672"/>
          </a:xfrm>
          <a:prstGeom prst="roundRect">
            <a:avLst>
              <a:gd name="adj" fmla="val 10227"/>
            </a:avLst>
          </a:prstGeom>
          <a:solidFill>
            <a:srgbClr val="E6EAEE"/>
          </a:solidFill>
          <a:ln w="12700">
            <a:solidFill>
              <a:srgbClr val="E6EAEE"/>
            </a:solidFill>
            <a:prstDash val="solid"/>
          </a:ln>
        </p:spPr>
      </p:sp>
      <p:sp>
        <p:nvSpPr>
          <p:cNvPr id="41" name="Shape 39"/>
          <p:cNvSpPr/>
          <p:nvPr/>
        </p:nvSpPr>
        <p:spPr>
          <a:xfrm>
            <a:off x="6539332" y="3739896"/>
            <a:ext cx="274320" cy="274320"/>
          </a:xfrm>
          <a:prstGeom prst="roundRect">
            <a:avLst>
              <a:gd name="adj" fmla="val 23333"/>
            </a:avLst>
          </a:prstGeom>
          <a:solidFill>
            <a:srgbClr val="2E6F63"/>
          </a:solidFill>
          <a:ln w="12700">
            <a:solidFill>
              <a:srgbClr val="2E6F63"/>
            </a:solidFill>
            <a:prstDash val="solid"/>
          </a:ln>
        </p:spPr>
      </p:sp>
      <p:sp>
        <p:nvSpPr>
          <p:cNvPr id="42" name="Text 40"/>
          <p:cNvSpPr txBox="1"/>
          <p:nvPr/>
        </p:nvSpPr>
        <p:spPr>
          <a:xfrm>
            <a:off x="6539332" y="3739896"/>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8</a:t>
            </a:r>
            <a:endParaRPr lang="en-US" sz="1300" dirty="0"/>
          </a:p>
        </p:txBody>
      </p:sp>
      <p:sp>
        <p:nvSpPr>
          <p:cNvPr id="43" name="Text 41"/>
          <p:cNvSpPr txBox="1"/>
          <p:nvPr/>
        </p:nvSpPr>
        <p:spPr>
          <a:xfrm>
            <a:off x="6895948" y="3675888"/>
            <a:ext cx="4454500" cy="256032"/>
          </a:xfrm>
          <a:prstGeom prst="rect">
            <a:avLst/>
          </a:prstGeom>
          <a:noFill/>
          <a:ln/>
        </p:spPr>
        <p:txBody>
          <a:bodyPr wrap="square" lIns="0" tIns="0" rIns="0" bIns="0" rtlCol="0" anchor="ctr"/>
          <a:lstStyle/>
          <a:p>
            <a:pPr indent="0" marL="0">
              <a:buNone/>
            </a:pPr>
            <a:r>
              <a:rPr lang="en-US" sz="1350" b="1" dirty="0">
                <a:solidFill>
                  <a:srgbClr val="16202A"/>
                </a:solidFill>
                <a:latin typeface="Cambria" pitchFamily="34" charset="0"/>
                <a:ea typeface="Cambria" pitchFamily="34" charset="-122"/>
                <a:cs typeface="Cambria" pitchFamily="34" charset="-120"/>
              </a:rPr>
              <a:t>Discourse ethics</a:t>
            </a:r>
            <a:endParaRPr lang="en-US" sz="1350" dirty="0"/>
          </a:p>
        </p:txBody>
      </p:sp>
      <p:sp>
        <p:nvSpPr>
          <p:cNvPr id="44" name="Text 42"/>
          <p:cNvSpPr txBox="1"/>
          <p:nvPr/>
        </p:nvSpPr>
        <p:spPr>
          <a:xfrm>
            <a:off x="6895948" y="3931920"/>
            <a:ext cx="4454500" cy="365760"/>
          </a:xfrm>
          <a:prstGeom prst="rect">
            <a:avLst/>
          </a:prstGeom>
          <a:noFill/>
          <a:ln/>
        </p:spPr>
        <p:txBody>
          <a:bodyPr wrap="square" lIns="0" tIns="0" rIns="0" bIns="0" rtlCol="0" anchor="t"/>
          <a:lstStyle/>
          <a:p>
            <a:pPr indent="0" marL="0">
              <a:lnSpc>
                <a:spcPct val="108000"/>
              </a:lnSpc>
              <a:buNone/>
            </a:pPr>
            <a:r>
              <a:rPr lang="en-US" sz="1100" dirty="0">
                <a:solidFill>
                  <a:srgbClr val="2C3540"/>
                </a:solidFill>
                <a:latin typeface="Calibri" pitchFamily="34" charset="0"/>
                <a:ea typeface="Calibri" pitchFamily="34" charset="-122"/>
                <a:cs typeface="Calibri" pitchFamily="34" charset="-120"/>
              </a:rPr>
              <a:t>Siapa yang hadir dan siapa yang absen ketika norma dan izinnya dirumuskan?</a:t>
            </a:r>
            <a:endParaRPr lang="en-US" sz="1100" dirty="0"/>
          </a:p>
        </p:txBody>
      </p:sp>
      <p:sp>
        <p:nvSpPr>
          <p:cNvPr id="45" name="Shape 43"/>
          <p:cNvSpPr/>
          <p:nvPr/>
        </p:nvSpPr>
        <p:spPr>
          <a:xfrm>
            <a:off x="6301588" y="4462272"/>
            <a:ext cx="5323180" cy="804672"/>
          </a:xfrm>
          <a:prstGeom prst="roundRect">
            <a:avLst>
              <a:gd name="adj" fmla="val 10227"/>
            </a:avLst>
          </a:prstGeom>
          <a:solidFill>
            <a:srgbClr val="F1F3F5"/>
          </a:solidFill>
          <a:ln w="12700">
            <a:solidFill>
              <a:srgbClr val="F1F3F5"/>
            </a:solidFill>
            <a:prstDash val="solid"/>
          </a:ln>
        </p:spPr>
      </p:sp>
      <p:sp>
        <p:nvSpPr>
          <p:cNvPr id="46" name="Shape 44"/>
          <p:cNvSpPr/>
          <p:nvPr/>
        </p:nvSpPr>
        <p:spPr>
          <a:xfrm>
            <a:off x="6539332" y="4636008"/>
            <a:ext cx="274320" cy="274320"/>
          </a:xfrm>
          <a:prstGeom prst="roundRect">
            <a:avLst>
              <a:gd name="adj" fmla="val 23333"/>
            </a:avLst>
          </a:prstGeom>
          <a:solidFill>
            <a:srgbClr val="2E6F63"/>
          </a:solidFill>
          <a:ln w="12700">
            <a:solidFill>
              <a:srgbClr val="2E6F63"/>
            </a:solidFill>
            <a:prstDash val="solid"/>
          </a:ln>
        </p:spPr>
      </p:sp>
      <p:sp>
        <p:nvSpPr>
          <p:cNvPr id="47" name="Text 45"/>
          <p:cNvSpPr txBox="1"/>
          <p:nvPr/>
        </p:nvSpPr>
        <p:spPr>
          <a:xfrm>
            <a:off x="6539332" y="4636008"/>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9</a:t>
            </a:r>
            <a:endParaRPr lang="en-US" sz="1300" dirty="0"/>
          </a:p>
        </p:txBody>
      </p:sp>
      <p:sp>
        <p:nvSpPr>
          <p:cNvPr id="48" name="Text 46"/>
          <p:cNvSpPr txBox="1"/>
          <p:nvPr/>
        </p:nvSpPr>
        <p:spPr>
          <a:xfrm>
            <a:off x="6895948" y="4572000"/>
            <a:ext cx="4454500" cy="256032"/>
          </a:xfrm>
          <a:prstGeom prst="rect">
            <a:avLst/>
          </a:prstGeom>
          <a:noFill/>
          <a:ln/>
        </p:spPr>
        <p:txBody>
          <a:bodyPr wrap="square" lIns="0" tIns="0" rIns="0" bIns="0" rtlCol="0" anchor="ctr"/>
          <a:lstStyle/>
          <a:p>
            <a:pPr indent="0" marL="0">
              <a:buNone/>
            </a:pPr>
            <a:r>
              <a:rPr lang="en-US" sz="1350" b="1" dirty="0">
                <a:solidFill>
                  <a:srgbClr val="16202A"/>
                </a:solidFill>
                <a:latin typeface="Cambria" pitchFamily="34" charset="0"/>
                <a:ea typeface="Cambria" pitchFamily="34" charset="-122"/>
                <a:cs typeface="Cambria" pitchFamily="34" charset="-120"/>
              </a:rPr>
              <a:t>Postmodern ethics</a:t>
            </a:r>
            <a:endParaRPr lang="en-US" sz="1350" dirty="0"/>
          </a:p>
        </p:txBody>
      </p:sp>
      <p:sp>
        <p:nvSpPr>
          <p:cNvPr id="49" name="Text 47"/>
          <p:cNvSpPr txBox="1"/>
          <p:nvPr/>
        </p:nvSpPr>
        <p:spPr>
          <a:xfrm>
            <a:off x="6895948" y="4828032"/>
            <a:ext cx="4454500" cy="365760"/>
          </a:xfrm>
          <a:prstGeom prst="rect">
            <a:avLst/>
          </a:prstGeom>
          <a:noFill/>
          <a:ln/>
        </p:spPr>
        <p:txBody>
          <a:bodyPr wrap="square" lIns="0" tIns="0" rIns="0" bIns="0" rtlCol="0" anchor="t"/>
          <a:lstStyle/>
          <a:p>
            <a:pPr indent="0" marL="0">
              <a:lnSpc>
                <a:spcPct val="108000"/>
              </a:lnSpc>
              <a:buNone/>
            </a:pPr>
            <a:r>
              <a:rPr lang="en-US" sz="1100" dirty="0">
                <a:solidFill>
                  <a:srgbClr val="2C3540"/>
                </a:solidFill>
                <a:latin typeface="Calibri" pitchFamily="34" charset="0"/>
                <a:ea typeface="Calibri" pitchFamily="34" charset="-122"/>
                <a:cs typeface="Calibri" pitchFamily="34" charset="-120"/>
              </a:rPr>
              <a:t>Kepentingan siapa yang dilayani oleh istilah yang dipakai menamai kebijakan ini?</a:t>
            </a:r>
            <a:endParaRPr lang="en-US" sz="1100" dirty="0"/>
          </a:p>
        </p:txBody>
      </p:sp>
      <p:sp>
        <p:nvSpPr>
          <p:cNvPr id="50" name="Shape 48"/>
          <p:cNvSpPr/>
          <p:nvPr/>
        </p:nvSpPr>
        <p:spPr>
          <a:xfrm>
            <a:off x="6301588" y="5358384"/>
            <a:ext cx="5323180" cy="804672"/>
          </a:xfrm>
          <a:prstGeom prst="roundRect">
            <a:avLst>
              <a:gd name="adj" fmla="val 10227"/>
            </a:avLst>
          </a:prstGeom>
          <a:solidFill>
            <a:srgbClr val="16202A"/>
          </a:solidFill>
          <a:ln w="12700">
            <a:solidFill>
              <a:srgbClr val="16202A"/>
            </a:solidFill>
            <a:prstDash val="solid"/>
          </a:ln>
        </p:spPr>
      </p:sp>
      <p:sp>
        <p:nvSpPr>
          <p:cNvPr id="51" name="Text 49"/>
          <p:cNvSpPr txBox="1"/>
          <p:nvPr/>
        </p:nvSpPr>
        <p:spPr>
          <a:xfrm>
            <a:off x="6612484" y="5358384"/>
            <a:ext cx="4701388" cy="804672"/>
          </a:xfrm>
          <a:prstGeom prst="rect">
            <a:avLst/>
          </a:prstGeom>
          <a:noFill/>
          <a:ln/>
        </p:spPr>
        <p:txBody>
          <a:bodyPr wrap="square" lIns="0" tIns="0" rIns="0" bIns="0" rtlCol="0" anchor="ctr"/>
          <a:lstStyle/>
          <a:p>
            <a:pPr indent="0" marL="0">
              <a:lnSpc>
                <a:spcPct val="114000"/>
              </a:lnSpc>
              <a:buNone/>
            </a:pPr>
            <a:r>
              <a:rPr lang="en-US" sz="1150" i="1" dirty="0">
                <a:solidFill>
                  <a:srgbClr val="D5DDE4"/>
                </a:solidFill>
                <a:latin typeface="Calibri" pitchFamily="34" charset="0"/>
                <a:ea typeface="Calibri" pitchFamily="34" charset="-122"/>
                <a:cs typeface="Calibri" pitchFamily="34" charset="-120"/>
              </a:rPr>
              <a:t>Pendekatan pluralis yang dianjurkan Bab 3 menghasilkan sembilan penilaian atas rangkaian fakta yang identik, untuk kemudian dilihat arah konvergensinya.</a:t>
            </a:r>
            <a:endParaRPr lang="en-US" sz="1150" dirty="0"/>
          </a:p>
        </p:txBody>
      </p:sp>
      <p:sp>
        <p:nvSpPr>
          <p:cNvPr id="52" name="Text 50"/>
          <p:cNvSpPr txBox="1"/>
          <p:nvPr/>
        </p:nvSpPr>
        <p:spPr>
          <a:xfrm>
            <a:off x="10893247" y="6419088"/>
            <a:ext cx="731520" cy="237744"/>
          </a:xfrm>
          <a:prstGeom prst="rect">
            <a:avLst/>
          </a:prstGeom>
          <a:noFill/>
          <a:ln/>
        </p:spPr>
        <p:txBody>
          <a:bodyPr wrap="square" lIns="0" tIns="0" rIns="0" bIns="0" rtlCol="0" anchor="ctr"/>
          <a:lstStyle/>
          <a:p>
            <a:pPr algn="r" indent="0" marL="0">
              <a:buNone/>
            </a:pPr>
            <a:r>
              <a:rPr lang="en-US" sz="1100" b="1" dirty="0">
                <a:solidFill>
                  <a:srgbClr val="6B7684"/>
                </a:solidFill>
                <a:latin typeface="Cambria" pitchFamily="34" charset="0"/>
                <a:ea typeface="Cambria" pitchFamily="34" charset="-122"/>
                <a:cs typeface="Cambria"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7A3AE"/>
                </a:solidFill>
                <a:latin typeface="Calibri" pitchFamily="34" charset="0"/>
                <a:ea typeface="Calibri" pitchFamily="34" charset="-122"/>
                <a:cs typeface="Calibri" pitchFamily="34" charset="-120"/>
              </a:rPr>
              <a:t>BAGIAN DUA   |   STUDI KASUS INDONESIA</a:t>
            </a:r>
            <a:endParaRPr lang="en-US" sz="1000" dirty="0"/>
          </a:p>
        </p:txBody>
      </p:sp>
      <p:sp>
        <p:nvSpPr>
          <p:cNvPr id="3" name="Text 1"/>
          <p:cNvSpPr txBox="1"/>
          <p:nvPr/>
        </p:nvSpPr>
        <p:spPr>
          <a:xfrm>
            <a:off x="566928" y="585216"/>
            <a:ext cx="11057839"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Anatomi kebijakan hilirisasi nikel</a:t>
            </a:r>
            <a:endParaRPr lang="en-US" sz="2800" dirty="0"/>
          </a:p>
        </p:txBody>
      </p:sp>
      <p:sp>
        <p:nvSpPr>
          <p:cNvPr id="4" name="Text 2"/>
          <p:cNvSpPr txBox="1"/>
          <p:nvPr/>
        </p:nvSpPr>
        <p:spPr>
          <a:xfrm>
            <a:off x="566928" y="1170432"/>
            <a:ext cx="11057839" cy="310896"/>
          </a:xfrm>
          <a:prstGeom prst="rect">
            <a:avLst/>
          </a:prstGeom>
          <a:noFill/>
          <a:ln/>
        </p:spPr>
        <p:txBody>
          <a:bodyPr wrap="square" lIns="0" tIns="0" rIns="0" bIns="0" rtlCol="0" anchor="t"/>
          <a:lstStyle/>
          <a:p>
            <a:pPr indent="0" marL="0">
              <a:lnSpc>
                <a:spcPct val="110000"/>
              </a:lnSpc>
              <a:buNone/>
            </a:pPr>
            <a:r>
              <a:rPr lang="en-US" sz="1250" dirty="0">
                <a:solidFill>
                  <a:srgbClr val="97A3AE"/>
                </a:solidFill>
                <a:latin typeface="Calibri" pitchFamily="34" charset="0"/>
                <a:ea typeface="Calibri" pitchFamily="34" charset="-122"/>
                <a:cs typeface="Calibri" pitchFamily="34" charset="-120"/>
              </a:rPr>
              <a:t>Satu instrumen regulasi yang mengubah struktur industri nikel nasional sekaligus menimbulkan sengketa di dua arah.</a:t>
            </a:r>
            <a:endParaRPr lang="en-US" sz="1250" dirty="0"/>
          </a:p>
        </p:txBody>
      </p:sp>
      <p:sp>
        <p:nvSpPr>
          <p:cNvPr id="5" name="Shape 3"/>
          <p:cNvSpPr/>
          <p:nvPr/>
        </p:nvSpPr>
        <p:spPr>
          <a:xfrm>
            <a:off x="566928" y="1792224"/>
            <a:ext cx="3442106" cy="1700784"/>
          </a:xfrm>
          <a:prstGeom prst="roundRect">
            <a:avLst>
              <a:gd name="adj" fmla="val 4839"/>
            </a:avLst>
          </a:prstGeom>
          <a:solidFill>
            <a:srgbClr val="22303D"/>
          </a:solidFill>
          <a:ln w="12700">
            <a:solidFill>
              <a:srgbClr val="22303D"/>
            </a:solidFill>
            <a:prstDash val="solid"/>
          </a:ln>
        </p:spPr>
      </p:sp>
      <p:sp>
        <p:nvSpPr>
          <p:cNvPr id="6" name="Shape 4"/>
          <p:cNvSpPr/>
          <p:nvPr/>
        </p:nvSpPr>
        <p:spPr>
          <a:xfrm>
            <a:off x="841248" y="1993392"/>
            <a:ext cx="292608" cy="292608"/>
          </a:xfrm>
          <a:prstGeom prst="roundRect">
            <a:avLst>
              <a:gd name="adj" fmla="val 21875"/>
            </a:avLst>
          </a:prstGeom>
          <a:solidFill>
            <a:srgbClr val="B8542A"/>
          </a:solidFill>
          <a:ln w="12700">
            <a:solidFill>
              <a:srgbClr val="B8542A"/>
            </a:solidFill>
            <a:prstDash val="solid"/>
          </a:ln>
        </p:spPr>
      </p:sp>
      <p:sp>
        <p:nvSpPr>
          <p:cNvPr id="7" name="Text 5"/>
          <p:cNvSpPr txBox="1"/>
          <p:nvPr/>
        </p:nvSpPr>
        <p:spPr>
          <a:xfrm>
            <a:off x="841248" y="199339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txBox="1"/>
          <p:nvPr/>
        </p:nvSpPr>
        <p:spPr>
          <a:xfrm>
            <a:off x="1225296" y="1993392"/>
            <a:ext cx="2527706" cy="292608"/>
          </a:xfrm>
          <a:prstGeom prst="rect">
            <a:avLst/>
          </a:prstGeom>
          <a:noFill/>
          <a:ln/>
        </p:spPr>
        <p:txBody>
          <a:bodyPr wrap="square" lIns="0" tIns="0" rIns="0" bIns="0" rtlCol="0" anchor="ctr"/>
          <a:lstStyle/>
          <a:p>
            <a:pPr indent="0" marL="0">
              <a:buNone/>
            </a:pPr>
            <a:r>
              <a:rPr lang="en-US" sz="1000" b="1" spc="130" kern="0" dirty="0">
                <a:solidFill>
                  <a:srgbClr val="B8542A"/>
                </a:solidFill>
                <a:latin typeface="Calibri" pitchFamily="34" charset="0"/>
                <a:ea typeface="Calibri" pitchFamily="34" charset="-122"/>
                <a:cs typeface="Calibri" pitchFamily="34" charset="-120"/>
              </a:rPr>
              <a:t>INSTRUMEN</a:t>
            </a:r>
            <a:endParaRPr lang="en-US" sz="1000" dirty="0"/>
          </a:p>
        </p:txBody>
      </p:sp>
      <p:sp>
        <p:nvSpPr>
          <p:cNvPr id="9" name="Text 7"/>
          <p:cNvSpPr txBox="1"/>
          <p:nvPr/>
        </p:nvSpPr>
        <p:spPr>
          <a:xfrm>
            <a:off x="841248" y="2414016"/>
            <a:ext cx="2893466" cy="914400"/>
          </a:xfrm>
          <a:prstGeom prst="rect">
            <a:avLst/>
          </a:prstGeom>
          <a:noFill/>
          <a:ln/>
        </p:spPr>
        <p:txBody>
          <a:bodyPr wrap="square" lIns="0" tIns="0" rIns="0" bIns="0" rtlCol="0" anchor="t"/>
          <a:lstStyle/>
          <a:p>
            <a:pPr indent="0" marL="0">
              <a:lnSpc>
                <a:spcPct val="114000"/>
              </a:lnSpc>
              <a:buNone/>
            </a:pPr>
            <a:r>
              <a:rPr lang="en-US" sz="1150" dirty="0">
                <a:solidFill>
                  <a:srgbClr val="D5DDE4"/>
                </a:solidFill>
                <a:latin typeface="Calibri" pitchFamily="34" charset="0"/>
                <a:ea typeface="Calibri" pitchFamily="34" charset="-122"/>
                <a:cs typeface="Calibri" pitchFamily="34" charset="-120"/>
              </a:rPr>
              <a:t>Peraturan Menteri ESDM Nomor 11 Tahun 2019 melarang ekspor bijih nikel dan berlaku efektif 1 Januari 2020, lebih awal dari jadwal semula.</a:t>
            </a:r>
            <a:endParaRPr lang="en-US" sz="1150" dirty="0"/>
          </a:p>
        </p:txBody>
      </p:sp>
      <p:sp>
        <p:nvSpPr>
          <p:cNvPr id="10" name="Shape 8"/>
          <p:cNvSpPr/>
          <p:nvPr/>
        </p:nvSpPr>
        <p:spPr>
          <a:xfrm>
            <a:off x="4374794" y="1792224"/>
            <a:ext cx="3442106" cy="1700784"/>
          </a:xfrm>
          <a:prstGeom prst="roundRect">
            <a:avLst>
              <a:gd name="adj" fmla="val 4839"/>
            </a:avLst>
          </a:prstGeom>
          <a:solidFill>
            <a:srgbClr val="22303D"/>
          </a:solidFill>
          <a:ln w="12700">
            <a:solidFill>
              <a:srgbClr val="22303D"/>
            </a:solidFill>
            <a:prstDash val="solid"/>
          </a:ln>
        </p:spPr>
      </p:sp>
      <p:sp>
        <p:nvSpPr>
          <p:cNvPr id="11" name="Shape 9"/>
          <p:cNvSpPr/>
          <p:nvPr/>
        </p:nvSpPr>
        <p:spPr>
          <a:xfrm>
            <a:off x="4649114" y="1993392"/>
            <a:ext cx="292608" cy="292608"/>
          </a:xfrm>
          <a:prstGeom prst="roundRect">
            <a:avLst>
              <a:gd name="adj" fmla="val 21875"/>
            </a:avLst>
          </a:prstGeom>
          <a:solidFill>
            <a:srgbClr val="B8542A"/>
          </a:solidFill>
          <a:ln w="12700">
            <a:solidFill>
              <a:srgbClr val="B8542A"/>
            </a:solidFill>
            <a:prstDash val="solid"/>
          </a:ln>
        </p:spPr>
      </p:sp>
      <p:sp>
        <p:nvSpPr>
          <p:cNvPr id="12" name="Text 10"/>
          <p:cNvSpPr txBox="1"/>
          <p:nvPr/>
        </p:nvSpPr>
        <p:spPr>
          <a:xfrm>
            <a:off x="4649114" y="199339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5033162" y="1993392"/>
            <a:ext cx="2527706" cy="292608"/>
          </a:xfrm>
          <a:prstGeom prst="rect">
            <a:avLst/>
          </a:prstGeom>
          <a:noFill/>
          <a:ln/>
        </p:spPr>
        <p:txBody>
          <a:bodyPr wrap="square" lIns="0" tIns="0" rIns="0" bIns="0" rtlCol="0" anchor="ctr"/>
          <a:lstStyle/>
          <a:p>
            <a:pPr indent="0" marL="0">
              <a:buNone/>
            </a:pPr>
            <a:r>
              <a:rPr lang="en-US" sz="1000" b="1" spc="130" kern="0" dirty="0">
                <a:solidFill>
                  <a:srgbClr val="B8542A"/>
                </a:solidFill>
                <a:latin typeface="Calibri" pitchFamily="34" charset="0"/>
                <a:ea typeface="Calibri" pitchFamily="34" charset="-122"/>
                <a:cs typeface="Calibri" pitchFamily="34" charset="-120"/>
              </a:rPr>
              <a:t>MEKANISME</a:t>
            </a:r>
            <a:endParaRPr lang="en-US" sz="1000" dirty="0"/>
          </a:p>
        </p:txBody>
      </p:sp>
      <p:sp>
        <p:nvSpPr>
          <p:cNvPr id="14" name="Text 12"/>
          <p:cNvSpPr txBox="1"/>
          <p:nvPr/>
        </p:nvSpPr>
        <p:spPr>
          <a:xfrm>
            <a:off x="4649114" y="2414016"/>
            <a:ext cx="2893466" cy="914400"/>
          </a:xfrm>
          <a:prstGeom prst="rect">
            <a:avLst/>
          </a:prstGeom>
          <a:noFill/>
          <a:ln/>
        </p:spPr>
        <p:txBody>
          <a:bodyPr wrap="square" lIns="0" tIns="0" rIns="0" bIns="0" rtlCol="0" anchor="t"/>
          <a:lstStyle/>
          <a:p>
            <a:pPr indent="0" marL="0">
              <a:lnSpc>
                <a:spcPct val="114000"/>
              </a:lnSpc>
              <a:buNone/>
            </a:pPr>
            <a:r>
              <a:rPr lang="en-US" sz="1150" dirty="0">
                <a:solidFill>
                  <a:srgbClr val="D5DDE4"/>
                </a:solidFill>
                <a:latin typeface="Calibri" pitchFamily="34" charset="0"/>
                <a:ea typeface="Calibri" pitchFamily="34" charset="-122"/>
                <a:cs typeface="Calibri" pitchFamily="34" charset="-120"/>
              </a:rPr>
              <a:t>Bijih wajib diolah di dalam negeri dan kepemilikan smelter menjadi syarat, sehingga modal pengolahan mengalir ke kawasan industri terpadu Morowali dan Weda Bay.</a:t>
            </a:r>
            <a:endParaRPr lang="en-US" sz="1150" dirty="0"/>
          </a:p>
        </p:txBody>
      </p:sp>
      <p:sp>
        <p:nvSpPr>
          <p:cNvPr id="15" name="Shape 13"/>
          <p:cNvSpPr/>
          <p:nvPr/>
        </p:nvSpPr>
        <p:spPr>
          <a:xfrm>
            <a:off x="8182661" y="1792224"/>
            <a:ext cx="3442106" cy="1700784"/>
          </a:xfrm>
          <a:prstGeom prst="roundRect">
            <a:avLst>
              <a:gd name="adj" fmla="val 4839"/>
            </a:avLst>
          </a:prstGeom>
          <a:solidFill>
            <a:srgbClr val="22303D"/>
          </a:solidFill>
          <a:ln w="12700">
            <a:solidFill>
              <a:srgbClr val="22303D"/>
            </a:solidFill>
            <a:prstDash val="solid"/>
          </a:ln>
        </p:spPr>
      </p:sp>
      <p:sp>
        <p:nvSpPr>
          <p:cNvPr id="16" name="Shape 14"/>
          <p:cNvSpPr/>
          <p:nvPr/>
        </p:nvSpPr>
        <p:spPr>
          <a:xfrm>
            <a:off x="8456981" y="1993392"/>
            <a:ext cx="292608" cy="292608"/>
          </a:xfrm>
          <a:prstGeom prst="roundRect">
            <a:avLst>
              <a:gd name="adj" fmla="val 21875"/>
            </a:avLst>
          </a:prstGeom>
          <a:solidFill>
            <a:srgbClr val="B8542A"/>
          </a:solidFill>
          <a:ln w="12700">
            <a:solidFill>
              <a:srgbClr val="B8542A"/>
            </a:solidFill>
            <a:prstDash val="solid"/>
          </a:ln>
        </p:spPr>
      </p:sp>
      <p:sp>
        <p:nvSpPr>
          <p:cNvPr id="17" name="Text 15"/>
          <p:cNvSpPr txBox="1"/>
          <p:nvPr/>
        </p:nvSpPr>
        <p:spPr>
          <a:xfrm>
            <a:off x="8456981" y="199339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txBox="1"/>
          <p:nvPr/>
        </p:nvSpPr>
        <p:spPr>
          <a:xfrm>
            <a:off x="8841029" y="1993392"/>
            <a:ext cx="2527706" cy="292608"/>
          </a:xfrm>
          <a:prstGeom prst="rect">
            <a:avLst/>
          </a:prstGeom>
          <a:noFill/>
          <a:ln/>
        </p:spPr>
        <p:txBody>
          <a:bodyPr wrap="square" lIns="0" tIns="0" rIns="0" bIns="0" rtlCol="0" anchor="ctr"/>
          <a:lstStyle/>
          <a:p>
            <a:pPr indent="0" marL="0">
              <a:buNone/>
            </a:pPr>
            <a:r>
              <a:rPr lang="en-US" sz="1000" b="1" spc="130" kern="0" dirty="0">
                <a:solidFill>
                  <a:srgbClr val="B8542A"/>
                </a:solidFill>
                <a:latin typeface="Calibri" pitchFamily="34" charset="0"/>
                <a:ea typeface="Calibri" pitchFamily="34" charset="-122"/>
                <a:cs typeface="Calibri" pitchFamily="34" charset="-120"/>
              </a:rPr>
              <a:t>SENGKETA</a:t>
            </a:r>
            <a:endParaRPr lang="en-US" sz="1000" dirty="0"/>
          </a:p>
        </p:txBody>
      </p:sp>
      <p:sp>
        <p:nvSpPr>
          <p:cNvPr id="19" name="Text 17"/>
          <p:cNvSpPr txBox="1"/>
          <p:nvPr/>
        </p:nvSpPr>
        <p:spPr>
          <a:xfrm>
            <a:off x="8456981" y="2414016"/>
            <a:ext cx="2893466" cy="914400"/>
          </a:xfrm>
          <a:prstGeom prst="rect">
            <a:avLst/>
          </a:prstGeom>
          <a:noFill/>
          <a:ln/>
        </p:spPr>
        <p:txBody>
          <a:bodyPr wrap="square" lIns="0" tIns="0" rIns="0" bIns="0" rtlCol="0" anchor="t"/>
          <a:lstStyle/>
          <a:p>
            <a:pPr indent="0" marL="0">
              <a:lnSpc>
                <a:spcPct val="114000"/>
              </a:lnSpc>
              <a:buNone/>
            </a:pPr>
            <a:r>
              <a:rPr lang="en-US" sz="1150" dirty="0">
                <a:solidFill>
                  <a:srgbClr val="D5DDE4"/>
                </a:solidFill>
                <a:latin typeface="Calibri" pitchFamily="34" charset="0"/>
                <a:ea typeface="Calibri" pitchFamily="34" charset="-122"/>
                <a:cs typeface="Calibri" pitchFamily="34" charset="-120"/>
              </a:rPr>
              <a:t>Panel WTO memutus kebijakan ini melanggar aturan perdagangan pada November 2022. Bandingnya menggantung karena Badan Banding tidak berfungsi.</a:t>
            </a:r>
            <a:endParaRPr lang="en-US" sz="1150" dirty="0"/>
          </a:p>
        </p:txBody>
      </p:sp>
      <p:sp>
        <p:nvSpPr>
          <p:cNvPr id="20" name="Text 18"/>
          <p:cNvSpPr txBox="1"/>
          <p:nvPr/>
        </p:nvSpPr>
        <p:spPr>
          <a:xfrm>
            <a:off x="566928" y="3749040"/>
            <a:ext cx="3657600" cy="237744"/>
          </a:xfrm>
          <a:prstGeom prst="rect">
            <a:avLst/>
          </a:prstGeom>
          <a:noFill/>
          <a:ln/>
        </p:spPr>
        <p:txBody>
          <a:bodyPr wrap="square" lIns="0" tIns="0" rIns="0" bIns="0" rtlCol="0" anchor="ctr"/>
          <a:lstStyle/>
          <a:p>
            <a:pPr indent="0" marL="0">
              <a:buNone/>
            </a:pPr>
            <a:r>
              <a:rPr lang="en-US" sz="1000" b="1" spc="130" kern="0" dirty="0">
                <a:solidFill>
                  <a:srgbClr val="97A3AE"/>
                </a:solidFill>
                <a:latin typeface="Calibri" pitchFamily="34" charset="0"/>
                <a:ea typeface="Calibri" pitchFamily="34" charset="-122"/>
                <a:cs typeface="Calibri" pitchFamily="34" charset="-120"/>
              </a:rPr>
              <a:t>KRONOLOGI</a:t>
            </a:r>
            <a:endParaRPr lang="en-US" sz="1000" dirty="0"/>
          </a:p>
        </p:txBody>
      </p:sp>
      <p:sp>
        <p:nvSpPr>
          <p:cNvPr id="21" name="Shape 19"/>
          <p:cNvSpPr/>
          <p:nvPr/>
        </p:nvSpPr>
        <p:spPr>
          <a:xfrm>
            <a:off x="566928" y="4059936"/>
            <a:ext cx="2101840" cy="1207008"/>
          </a:xfrm>
          <a:prstGeom prst="roundRect">
            <a:avLst>
              <a:gd name="adj" fmla="val 6818"/>
            </a:avLst>
          </a:prstGeom>
          <a:solidFill>
            <a:srgbClr val="22303D"/>
          </a:solidFill>
          <a:ln w="12700">
            <a:solidFill>
              <a:srgbClr val="22303D"/>
            </a:solidFill>
            <a:prstDash val="solid"/>
          </a:ln>
        </p:spPr>
      </p:sp>
      <p:sp>
        <p:nvSpPr>
          <p:cNvPr id="22" name="Text 20"/>
          <p:cNvSpPr txBox="1"/>
          <p:nvPr/>
        </p:nvSpPr>
        <p:spPr>
          <a:xfrm>
            <a:off x="768096" y="4187952"/>
            <a:ext cx="1699504" cy="347472"/>
          </a:xfrm>
          <a:prstGeom prst="rect">
            <a:avLst/>
          </a:prstGeom>
          <a:noFill/>
          <a:ln/>
        </p:spPr>
        <p:txBody>
          <a:bodyPr wrap="square" lIns="0" tIns="0" rIns="0" bIns="0" rtlCol="0" anchor="ctr"/>
          <a:lstStyle/>
          <a:p>
            <a:pPr indent="0" marL="0">
              <a:buNone/>
            </a:pPr>
            <a:r>
              <a:rPr lang="en-US" sz="2000" b="1" dirty="0">
                <a:solidFill>
                  <a:srgbClr val="B8542A"/>
                </a:solidFill>
                <a:latin typeface="Cambria" pitchFamily="34" charset="0"/>
                <a:ea typeface="Cambria" pitchFamily="34" charset="-122"/>
                <a:cs typeface="Cambria" pitchFamily="34" charset="-120"/>
              </a:rPr>
              <a:t>2014</a:t>
            </a:r>
            <a:endParaRPr lang="en-US" sz="2000" dirty="0"/>
          </a:p>
        </p:txBody>
      </p:sp>
      <p:sp>
        <p:nvSpPr>
          <p:cNvPr id="23" name="Text 21"/>
          <p:cNvSpPr txBox="1"/>
          <p:nvPr/>
        </p:nvSpPr>
        <p:spPr>
          <a:xfrm>
            <a:off x="768096" y="4553712"/>
            <a:ext cx="1699504" cy="621792"/>
          </a:xfrm>
          <a:prstGeom prst="rect">
            <a:avLst/>
          </a:prstGeom>
          <a:noFill/>
          <a:ln/>
        </p:spPr>
        <p:txBody>
          <a:bodyPr wrap="square" lIns="0" tIns="0" rIns="0" bIns="0" rtlCol="0" anchor="t"/>
          <a:lstStyle/>
          <a:p>
            <a:pPr indent="0" marL="0">
              <a:lnSpc>
                <a:spcPct val="110000"/>
              </a:lnSpc>
              <a:buNone/>
            </a:pPr>
            <a:r>
              <a:rPr lang="en-US" sz="1000" dirty="0">
                <a:solidFill>
                  <a:srgbClr val="C6CFD8"/>
                </a:solidFill>
                <a:latin typeface="Calibri" pitchFamily="34" charset="0"/>
                <a:ea typeface="Calibri" pitchFamily="34" charset="-122"/>
                <a:cs typeface="Calibri" pitchFamily="34" charset="-120"/>
              </a:rPr>
              <a:t>Larangan ekspor bijih diberlakukan, lalu direlaksasi bagi kadar rendah</a:t>
            </a:r>
            <a:endParaRPr lang="en-US" sz="1000" dirty="0"/>
          </a:p>
        </p:txBody>
      </p:sp>
      <p:sp>
        <p:nvSpPr>
          <p:cNvPr id="24" name="Shape 22"/>
          <p:cNvSpPr/>
          <p:nvPr/>
        </p:nvSpPr>
        <p:spPr>
          <a:xfrm>
            <a:off x="2805928" y="4059936"/>
            <a:ext cx="2101840" cy="1207008"/>
          </a:xfrm>
          <a:prstGeom prst="roundRect">
            <a:avLst>
              <a:gd name="adj" fmla="val 6818"/>
            </a:avLst>
          </a:prstGeom>
          <a:solidFill>
            <a:srgbClr val="22303D"/>
          </a:solidFill>
          <a:ln w="12700">
            <a:solidFill>
              <a:srgbClr val="22303D"/>
            </a:solidFill>
            <a:prstDash val="solid"/>
          </a:ln>
        </p:spPr>
      </p:sp>
      <p:sp>
        <p:nvSpPr>
          <p:cNvPr id="25" name="Text 23"/>
          <p:cNvSpPr txBox="1"/>
          <p:nvPr/>
        </p:nvSpPr>
        <p:spPr>
          <a:xfrm>
            <a:off x="3007096" y="4187952"/>
            <a:ext cx="1699504" cy="347472"/>
          </a:xfrm>
          <a:prstGeom prst="rect">
            <a:avLst/>
          </a:prstGeom>
          <a:noFill/>
          <a:ln/>
        </p:spPr>
        <p:txBody>
          <a:bodyPr wrap="square" lIns="0" tIns="0" rIns="0" bIns="0" rtlCol="0" anchor="ctr"/>
          <a:lstStyle/>
          <a:p>
            <a:pPr indent="0" marL="0">
              <a:buNone/>
            </a:pPr>
            <a:r>
              <a:rPr lang="en-US" sz="2000" b="1" dirty="0">
                <a:solidFill>
                  <a:srgbClr val="B8542A"/>
                </a:solidFill>
                <a:latin typeface="Cambria" pitchFamily="34" charset="0"/>
                <a:ea typeface="Cambria" pitchFamily="34" charset="-122"/>
                <a:cs typeface="Cambria" pitchFamily="34" charset="-120"/>
              </a:rPr>
              <a:t>2019</a:t>
            </a:r>
            <a:endParaRPr lang="en-US" sz="2000" dirty="0"/>
          </a:p>
        </p:txBody>
      </p:sp>
      <p:sp>
        <p:nvSpPr>
          <p:cNvPr id="26" name="Text 24"/>
          <p:cNvSpPr txBox="1"/>
          <p:nvPr/>
        </p:nvSpPr>
        <p:spPr>
          <a:xfrm>
            <a:off x="3007096" y="4553712"/>
            <a:ext cx="1699504" cy="621792"/>
          </a:xfrm>
          <a:prstGeom prst="rect">
            <a:avLst/>
          </a:prstGeom>
          <a:noFill/>
          <a:ln/>
        </p:spPr>
        <p:txBody>
          <a:bodyPr wrap="square" lIns="0" tIns="0" rIns="0" bIns="0" rtlCol="0" anchor="t"/>
          <a:lstStyle/>
          <a:p>
            <a:pPr indent="0" marL="0">
              <a:lnSpc>
                <a:spcPct val="110000"/>
              </a:lnSpc>
              <a:buNone/>
            </a:pPr>
            <a:r>
              <a:rPr lang="en-US" sz="1000" dirty="0">
                <a:solidFill>
                  <a:srgbClr val="C6CFD8"/>
                </a:solidFill>
                <a:latin typeface="Calibri" pitchFamily="34" charset="0"/>
                <a:ea typeface="Calibri" pitchFamily="34" charset="-122"/>
                <a:cs typeface="Calibri" pitchFamily="34" charset="-120"/>
              </a:rPr>
              <a:t>Larangan ditegakkan kembali lewat Permen ESDM Nomor 11</a:t>
            </a:r>
            <a:endParaRPr lang="en-US" sz="1000" dirty="0"/>
          </a:p>
        </p:txBody>
      </p:sp>
      <p:sp>
        <p:nvSpPr>
          <p:cNvPr id="27" name="Shape 25"/>
          <p:cNvSpPr/>
          <p:nvPr/>
        </p:nvSpPr>
        <p:spPr>
          <a:xfrm>
            <a:off x="5044928" y="4059936"/>
            <a:ext cx="2101840" cy="1207008"/>
          </a:xfrm>
          <a:prstGeom prst="roundRect">
            <a:avLst>
              <a:gd name="adj" fmla="val 6818"/>
            </a:avLst>
          </a:prstGeom>
          <a:solidFill>
            <a:srgbClr val="22303D"/>
          </a:solidFill>
          <a:ln w="12700">
            <a:solidFill>
              <a:srgbClr val="22303D"/>
            </a:solidFill>
            <a:prstDash val="solid"/>
          </a:ln>
        </p:spPr>
      </p:sp>
      <p:sp>
        <p:nvSpPr>
          <p:cNvPr id="28" name="Text 26"/>
          <p:cNvSpPr txBox="1"/>
          <p:nvPr/>
        </p:nvSpPr>
        <p:spPr>
          <a:xfrm>
            <a:off x="5246096" y="4187952"/>
            <a:ext cx="1699504" cy="347472"/>
          </a:xfrm>
          <a:prstGeom prst="rect">
            <a:avLst/>
          </a:prstGeom>
          <a:noFill/>
          <a:ln/>
        </p:spPr>
        <p:txBody>
          <a:bodyPr wrap="square" lIns="0" tIns="0" rIns="0" bIns="0" rtlCol="0" anchor="ctr"/>
          <a:lstStyle/>
          <a:p>
            <a:pPr indent="0" marL="0">
              <a:buNone/>
            </a:pPr>
            <a:r>
              <a:rPr lang="en-US" sz="2000" b="1" dirty="0">
                <a:solidFill>
                  <a:srgbClr val="B8542A"/>
                </a:solidFill>
                <a:latin typeface="Cambria" pitchFamily="34" charset="0"/>
                <a:ea typeface="Cambria" pitchFamily="34" charset="-122"/>
                <a:cs typeface="Cambria" pitchFamily="34" charset="-120"/>
              </a:rPr>
              <a:t>2020</a:t>
            </a:r>
            <a:endParaRPr lang="en-US" sz="2000" dirty="0"/>
          </a:p>
        </p:txBody>
      </p:sp>
      <p:sp>
        <p:nvSpPr>
          <p:cNvPr id="29" name="Text 27"/>
          <p:cNvSpPr txBox="1"/>
          <p:nvPr/>
        </p:nvSpPr>
        <p:spPr>
          <a:xfrm>
            <a:off x="5246096" y="4553712"/>
            <a:ext cx="1699504" cy="621792"/>
          </a:xfrm>
          <a:prstGeom prst="rect">
            <a:avLst/>
          </a:prstGeom>
          <a:noFill/>
          <a:ln/>
        </p:spPr>
        <p:txBody>
          <a:bodyPr wrap="square" lIns="0" tIns="0" rIns="0" bIns="0" rtlCol="0" anchor="t"/>
          <a:lstStyle/>
          <a:p>
            <a:pPr indent="0" marL="0">
              <a:lnSpc>
                <a:spcPct val="110000"/>
              </a:lnSpc>
              <a:buNone/>
            </a:pPr>
            <a:r>
              <a:rPr lang="en-US" sz="1000" dirty="0">
                <a:solidFill>
                  <a:srgbClr val="C6CFD8"/>
                </a:solidFill>
                <a:latin typeface="Calibri" pitchFamily="34" charset="0"/>
                <a:ea typeface="Calibri" pitchFamily="34" charset="-122"/>
                <a:cs typeface="Calibri" pitchFamily="34" charset="-120"/>
              </a:rPr>
              <a:t>Larangan berlaku efektif dan arus modal smelter masuk</a:t>
            </a:r>
            <a:endParaRPr lang="en-US" sz="1000" dirty="0"/>
          </a:p>
        </p:txBody>
      </p:sp>
      <p:sp>
        <p:nvSpPr>
          <p:cNvPr id="30" name="Shape 28"/>
          <p:cNvSpPr/>
          <p:nvPr/>
        </p:nvSpPr>
        <p:spPr>
          <a:xfrm>
            <a:off x="7283928" y="4059936"/>
            <a:ext cx="2101840" cy="1207008"/>
          </a:xfrm>
          <a:prstGeom prst="roundRect">
            <a:avLst>
              <a:gd name="adj" fmla="val 6818"/>
            </a:avLst>
          </a:prstGeom>
          <a:solidFill>
            <a:srgbClr val="22303D"/>
          </a:solidFill>
          <a:ln w="12700">
            <a:solidFill>
              <a:srgbClr val="22303D"/>
            </a:solidFill>
            <a:prstDash val="solid"/>
          </a:ln>
        </p:spPr>
      </p:sp>
      <p:sp>
        <p:nvSpPr>
          <p:cNvPr id="31" name="Text 29"/>
          <p:cNvSpPr txBox="1"/>
          <p:nvPr/>
        </p:nvSpPr>
        <p:spPr>
          <a:xfrm>
            <a:off x="7485096" y="4187952"/>
            <a:ext cx="1699504" cy="347472"/>
          </a:xfrm>
          <a:prstGeom prst="rect">
            <a:avLst/>
          </a:prstGeom>
          <a:noFill/>
          <a:ln/>
        </p:spPr>
        <p:txBody>
          <a:bodyPr wrap="square" lIns="0" tIns="0" rIns="0" bIns="0" rtlCol="0" anchor="ctr"/>
          <a:lstStyle/>
          <a:p>
            <a:pPr indent="0" marL="0">
              <a:buNone/>
            </a:pPr>
            <a:r>
              <a:rPr lang="en-US" sz="2000" b="1" dirty="0">
                <a:solidFill>
                  <a:srgbClr val="B8542A"/>
                </a:solidFill>
                <a:latin typeface="Cambria" pitchFamily="34" charset="0"/>
                <a:ea typeface="Cambria" pitchFamily="34" charset="-122"/>
                <a:cs typeface="Cambria" pitchFamily="34" charset="-120"/>
              </a:rPr>
              <a:t>2022</a:t>
            </a:r>
            <a:endParaRPr lang="en-US" sz="2000" dirty="0"/>
          </a:p>
        </p:txBody>
      </p:sp>
      <p:sp>
        <p:nvSpPr>
          <p:cNvPr id="32" name="Text 30"/>
          <p:cNvSpPr txBox="1"/>
          <p:nvPr/>
        </p:nvSpPr>
        <p:spPr>
          <a:xfrm>
            <a:off x="7485096" y="4553712"/>
            <a:ext cx="1699504" cy="621792"/>
          </a:xfrm>
          <a:prstGeom prst="rect">
            <a:avLst/>
          </a:prstGeom>
          <a:noFill/>
          <a:ln/>
        </p:spPr>
        <p:txBody>
          <a:bodyPr wrap="square" lIns="0" tIns="0" rIns="0" bIns="0" rtlCol="0" anchor="t"/>
          <a:lstStyle/>
          <a:p>
            <a:pPr indent="0" marL="0">
              <a:lnSpc>
                <a:spcPct val="110000"/>
              </a:lnSpc>
              <a:buNone/>
            </a:pPr>
            <a:r>
              <a:rPr lang="en-US" sz="1000" dirty="0">
                <a:solidFill>
                  <a:srgbClr val="C6CFD8"/>
                </a:solidFill>
                <a:latin typeface="Calibri" pitchFamily="34" charset="0"/>
                <a:ea typeface="Calibri" pitchFamily="34" charset="-122"/>
                <a:cs typeface="Calibri" pitchFamily="34" charset="-120"/>
              </a:rPr>
              <a:t>Panel WTO memenangkan gugatan Uni Eropa</a:t>
            </a:r>
            <a:endParaRPr lang="en-US" sz="1000" dirty="0"/>
          </a:p>
        </p:txBody>
      </p:sp>
      <p:sp>
        <p:nvSpPr>
          <p:cNvPr id="33" name="Shape 31"/>
          <p:cNvSpPr/>
          <p:nvPr/>
        </p:nvSpPr>
        <p:spPr>
          <a:xfrm>
            <a:off x="9522927" y="4059936"/>
            <a:ext cx="2101840" cy="1207008"/>
          </a:xfrm>
          <a:prstGeom prst="roundRect">
            <a:avLst>
              <a:gd name="adj" fmla="val 6818"/>
            </a:avLst>
          </a:prstGeom>
          <a:solidFill>
            <a:srgbClr val="22303D"/>
          </a:solidFill>
          <a:ln w="12700">
            <a:solidFill>
              <a:srgbClr val="22303D"/>
            </a:solidFill>
            <a:prstDash val="solid"/>
          </a:ln>
        </p:spPr>
      </p:sp>
      <p:sp>
        <p:nvSpPr>
          <p:cNvPr id="34" name="Text 32"/>
          <p:cNvSpPr txBox="1"/>
          <p:nvPr/>
        </p:nvSpPr>
        <p:spPr>
          <a:xfrm>
            <a:off x="9724095" y="4187952"/>
            <a:ext cx="1699504" cy="347472"/>
          </a:xfrm>
          <a:prstGeom prst="rect">
            <a:avLst/>
          </a:prstGeom>
          <a:noFill/>
          <a:ln/>
        </p:spPr>
        <p:txBody>
          <a:bodyPr wrap="square" lIns="0" tIns="0" rIns="0" bIns="0" rtlCol="0" anchor="ctr"/>
          <a:lstStyle/>
          <a:p>
            <a:pPr indent="0" marL="0">
              <a:buNone/>
            </a:pPr>
            <a:r>
              <a:rPr lang="en-US" sz="2000" b="1" dirty="0">
                <a:solidFill>
                  <a:srgbClr val="B8542A"/>
                </a:solidFill>
                <a:latin typeface="Cambria" pitchFamily="34" charset="0"/>
                <a:ea typeface="Cambria" pitchFamily="34" charset="-122"/>
                <a:cs typeface="Cambria" pitchFamily="34" charset="-120"/>
              </a:rPr>
              <a:t>2025</a:t>
            </a:r>
            <a:endParaRPr lang="en-US" sz="2000" dirty="0"/>
          </a:p>
        </p:txBody>
      </p:sp>
      <p:sp>
        <p:nvSpPr>
          <p:cNvPr id="35" name="Text 33"/>
          <p:cNvSpPr txBox="1"/>
          <p:nvPr/>
        </p:nvSpPr>
        <p:spPr>
          <a:xfrm>
            <a:off x="9724095" y="4553712"/>
            <a:ext cx="1699504" cy="621792"/>
          </a:xfrm>
          <a:prstGeom prst="rect">
            <a:avLst/>
          </a:prstGeom>
          <a:noFill/>
          <a:ln/>
        </p:spPr>
        <p:txBody>
          <a:bodyPr wrap="square" lIns="0" tIns="0" rIns="0" bIns="0" rtlCol="0" anchor="t"/>
          <a:lstStyle/>
          <a:p>
            <a:pPr indent="0" marL="0">
              <a:lnSpc>
                <a:spcPct val="110000"/>
              </a:lnSpc>
              <a:buNone/>
            </a:pPr>
            <a:r>
              <a:rPr lang="en-US" sz="1000" dirty="0">
                <a:solidFill>
                  <a:srgbClr val="C6CFD8"/>
                </a:solidFill>
                <a:latin typeface="Calibri" pitchFamily="34" charset="0"/>
                <a:ea typeface="Calibri" pitchFamily="34" charset="-122"/>
                <a:cs typeface="Calibri" pitchFamily="34" charset="-120"/>
              </a:rPr>
              <a:t>Ekspor produk nikel olahan mencapai 40 miliar dolar Amerika</a:t>
            </a:r>
            <a:endParaRPr lang="en-US" sz="1000" dirty="0"/>
          </a:p>
        </p:txBody>
      </p:sp>
      <p:sp>
        <p:nvSpPr>
          <p:cNvPr id="36" name="Shape 34"/>
          <p:cNvSpPr/>
          <p:nvPr/>
        </p:nvSpPr>
        <p:spPr>
          <a:xfrm>
            <a:off x="566928" y="5468112"/>
            <a:ext cx="11057839" cy="658368"/>
          </a:xfrm>
          <a:prstGeom prst="roundRect">
            <a:avLst>
              <a:gd name="adj" fmla="val 12500"/>
            </a:avLst>
          </a:prstGeom>
          <a:solidFill>
            <a:srgbClr val="B8542A"/>
          </a:solidFill>
          <a:ln w="12700">
            <a:solidFill>
              <a:srgbClr val="B8542A"/>
            </a:solidFill>
            <a:prstDash val="solid"/>
          </a:ln>
        </p:spPr>
      </p:sp>
      <p:sp>
        <p:nvSpPr>
          <p:cNvPr id="37" name="Text 35"/>
          <p:cNvSpPr txBox="1"/>
          <p:nvPr/>
        </p:nvSpPr>
        <p:spPr>
          <a:xfrm>
            <a:off x="877824" y="5468112"/>
            <a:ext cx="10436047" cy="658368"/>
          </a:xfrm>
          <a:prstGeom prst="rect">
            <a:avLst/>
          </a:prstGeom>
          <a:noFill/>
          <a:ln/>
        </p:spPr>
        <p:txBody>
          <a:bodyPr wrap="square" lIns="0" tIns="0" rIns="0" bIns="0" rtlCol="0" anchor="ctr"/>
          <a:lstStyle/>
          <a:p>
            <a:pPr indent="0" marL="0">
              <a:lnSpc>
                <a:spcPct val="114000"/>
              </a:lnSpc>
              <a:buNone/>
            </a:pPr>
            <a:r>
              <a:rPr lang="en-US" sz="1200" i="1" dirty="0">
                <a:solidFill>
                  <a:srgbClr val="FFFFFF"/>
                </a:solidFill>
                <a:latin typeface="Calibri" pitchFamily="34" charset="0"/>
                <a:ea typeface="Calibri" pitchFamily="34" charset="-122"/>
                <a:cs typeface="Calibri" pitchFamily="34" charset="-120"/>
              </a:rPr>
              <a:t>Kasus ini dipilih karena strukturnya khas: manfaatnya besar, terukur, dan terkonsentrasi, sedangkan bebannya tersebar, tertunda, dan sulit dikuantifikasi. Persoalan dengan struktur demikian tidak dapat diselesaikan melalui kriteria penilaian tunggal.</a:t>
            </a:r>
            <a:endParaRPr lang="en-US" sz="1200" dirty="0"/>
          </a:p>
        </p:txBody>
      </p:sp>
      <p:sp>
        <p:nvSpPr>
          <p:cNvPr id="38" name="Text 36"/>
          <p:cNvSpPr txBox="1"/>
          <p:nvPr/>
        </p:nvSpPr>
        <p:spPr>
          <a:xfrm>
            <a:off x="566928" y="6419088"/>
            <a:ext cx="10143439" cy="237744"/>
          </a:xfrm>
          <a:prstGeom prst="rect">
            <a:avLst/>
          </a:prstGeom>
          <a:noFill/>
          <a:ln/>
        </p:spPr>
        <p:txBody>
          <a:bodyPr wrap="square" lIns="0" tIns="0" rIns="0" bIns="0" rtlCol="0" anchor="ctr"/>
          <a:lstStyle/>
          <a:p>
            <a:pPr indent="0" marL="0">
              <a:buNone/>
            </a:pPr>
            <a:r>
              <a:rPr lang="en-US" sz="900" i="1" dirty="0">
                <a:solidFill>
                  <a:srgbClr val="97A3AE"/>
                </a:solidFill>
                <a:latin typeface="Calibri" pitchFamily="34" charset="0"/>
                <a:ea typeface="Calibri" pitchFamily="34" charset="-122"/>
                <a:cs typeface="Calibri" pitchFamily="34" charset="-120"/>
              </a:rPr>
              <a:t>Data ditelusuri Agustus 2026 dari pengelola kawasan IMIP dan IWIP, Badan Pusat Statistik, Kementerian Perindustrian, dan dokumen putusan panel WTO.</a:t>
            </a:r>
            <a:endParaRPr lang="en-US" sz="900" dirty="0"/>
          </a:p>
        </p:txBody>
      </p:sp>
      <p:sp>
        <p:nvSpPr>
          <p:cNvPr id="39" name="Text 37"/>
          <p:cNvSpPr txBox="1"/>
          <p:nvPr/>
        </p:nvSpPr>
        <p:spPr>
          <a:xfrm>
            <a:off x="10893247" y="6419088"/>
            <a:ext cx="731520" cy="237744"/>
          </a:xfrm>
          <a:prstGeom prst="rect">
            <a:avLst/>
          </a:prstGeom>
          <a:noFill/>
          <a:ln/>
        </p:spPr>
        <p:txBody>
          <a:bodyPr wrap="square" lIns="0" tIns="0" rIns="0" bIns="0" rtlCol="0" anchor="ctr"/>
          <a:lstStyle/>
          <a:p>
            <a:pPr algn="r" indent="0" marL="0">
              <a:buNone/>
            </a:pPr>
            <a:r>
              <a:rPr lang="en-US" sz="1100" b="1" dirty="0">
                <a:solidFill>
                  <a:srgbClr val="97A3AE"/>
                </a:solidFill>
                <a:latin typeface="Cambria" pitchFamily="34" charset="0"/>
                <a:ea typeface="Cambria" pitchFamily="34" charset="-122"/>
                <a:cs typeface="Cambria"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B8542A"/>
                </a:solidFill>
                <a:latin typeface="Calibri" pitchFamily="34" charset="0"/>
                <a:ea typeface="Calibri" pitchFamily="34" charset="-122"/>
                <a:cs typeface="Calibri" pitchFamily="34" charset="-120"/>
              </a:rPr>
              <a:t>08   FAKTA</a:t>
            </a:r>
            <a:endParaRPr lang="en-US" sz="1000" dirty="0"/>
          </a:p>
        </p:txBody>
      </p:sp>
      <p:sp>
        <p:nvSpPr>
          <p:cNvPr id="3" name="Text 1"/>
          <p:cNvSpPr txBox="1"/>
          <p:nvPr/>
        </p:nvSpPr>
        <p:spPr>
          <a:xfrm>
            <a:off x="566928" y="585216"/>
            <a:ext cx="11057839" cy="548640"/>
          </a:xfrm>
          <a:prstGeom prst="rect">
            <a:avLst/>
          </a:prstGeom>
          <a:noFill/>
          <a:ln/>
        </p:spPr>
        <p:txBody>
          <a:bodyPr wrap="square" lIns="0" tIns="0" rIns="0" bIns="0" rtlCol="0" anchor="ctr"/>
          <a:lstStyle/>
          <a:p>
            <a:pPr indent="0" marL="0">
              <a:buNone/>
            </a:pPr>
            <a:r>
              <a:rPr lang="en-US" sz="2800" b="1" dirty="0">
                <a:solidFill>
                  <a:srgbClr val="16202A"/>
                </a:solidFill>
                <a:latin typeface="Cambria" pitchFamily="34" charset="0"/>
                <a:ea typeface="Cambria" pitchFamily="34" charset="-122"/>
                <a:cs typeface="Cambria" pitchFamily="34" charset="-120"/>
              </a:rPr>
              <a:t>Dua narasi atas fakta yang sama</a:t>
            </a:r>
            <a:endParaRPr lang="en-US" sz="2800" dirty="0"/>
          </a:p>
        </p:txBody>
      </p:sp>
      <p:sp>
        <p:nvSpPr>
          <p:cNvPr id="4" name="Text 2"/>
          <p:cNvSpPr txBox="1"/>
          <p:nvPr/>
        </p:nvSpPr>
        <p:spPr>
          <a:xfrm>
            <a:off x="566928" y="1170432"/>
            <a:ext cx="11057839" cy="310896"/>
          </a:xfrm>
          <a:prstGeom prst="rect">
            <a:avLst/>
          </a:prstGeom>
          <a:noFill/>
          <a:ln/>
        </p:spPr>
        <p:txBody>
          <a:bodyPr wrap="square" lIns="0" tIns="0" rIns="0" bIns="0" rtlCol="0" anchor="t"/>
          <a:lstStyle/>
          <a:p>
            <a:pPr indent="0" marL="0">
              <a:lnSpc>
                <a:spcPct val="110000"/>
              </a:lnSpc>
              <a:buNone/>
            </a:pPr>
            <a:r>
              <a:rPr lang="en-US" sz="1250" dirty="0">
                <a:solidFill>
                  <a:srgbClr val="6B7684"/>
                </a:solidFill>
                <a:latin typeface="Calibri" pitchFamily="34" charset="0"/>
                <a:ea typeface="Calibri" pitchFamily="34" charset="-122"/>
                <a:cs typeface="Calibri" pitchFamily="34" charset="-120"/>
              </a:rPr>
              <a:t>Kedua kolom bersandar pada data resmi yang sama sahnya. Yang disengketakan bukan faktanya, melainkan kriteria penilaian yang dipakai.</a:t>
            </a:r>
            <a:endParaRPr lang="en-US" sz="1250" dirty="0"/>
          </a:p>
        </p:txBody>
      </p:sp>
      <p:sp>
        <p:nvSpPr>
          <p:cNvPr id="5" name="Shape 3"/>
          <p:cNvSpPr/>
          <p:nvPr/>
        </p:nvSpPr>
        <p:spPr>
          <a:xfrm>
            <a:off x="566928" y="1773936"/>
            <a:ext cx="5321808" cy="3767328"/>
          </a:xfrm>
          <a:prstGeom prst="roundRect">
            <a:avLst>
              <a:gd name="adj" fmla="val 2184"/>
            </a:avLst>
          </a:prstGeom>
          <a:solidFill>
            <a:srgbClr val="F1F3F5"/>
          </a:solidFill>
          <a:ln w="12700">
            <a:solidFill>
              <a:srgbClr val="F1F3F5"/>
            </a:solidFill>
            <a:prstDash val="solid"/>
          </a:ln>
        </p:spPr>
      </p:sp>
      <p:sp>
        <p:nvSpPr>
          <p:cNvPr id="6" name="Shape 4"/>
          <p:cNvSpPr/>
          <p:nvPr/>
        </p:nvSpPr>
        <p:spPr>
          <a:xfrm>
            <a:off x="6300216" y="1773936"/>
            <a:ext cx="5321808" cy="3767328"/>
          </a:xfrm>
          <a:prstGeom prst="roundRect">
            <a:avLst>
              <a:gd name="adj" fmla="val 2184"/>
            </a:avLst>
          </a:prstGeom>
          <a:solidFill>
            <a:srgbClr val="16202A"/>
          </a:solidFill>
          <a:ln w="12700">
            <a:solidFill>
              <a:srgbClr val="16202A"/>
            </a:solidFill>
            <a:prstDash val="solid"/>
          </a:ln>
        </p:spPr>
      </p:sp>
      <p:sp>
        <p:nvSpPr>
          <p:cNvPr id="7" name="Text 5"/>
          <p:cNvSpPr txBox="1"/>
          <p:nvPr/>
        </p:nvSpPr>
        <p:spPr>
          <a:xfrm>
            <a:off x="877824" y="1956816"/>
            <a:ext cx="4754880" cy="219456"/>
          </a:xfrm>
          <a:prstGeom prst="rect">
            <a:avLst/>
          </a:prstGeom>
          <a:noFill/>
          <a:ln/>
        </p:spPr>
        <p:txBody>
          <a:bodyPr wrap="square" lIns="0" tIns="0" rIns="0" bIns="0" rtlCol="0" anchor="ctr"/>
          <a:lstStyle/>
          <a:p>
            <a:pPr indent="0" marL="0">
              <a:buNone/>
            </a:pPr>
            <a:r>
              <a:rPr lang="en-US" sz="950" b="1" spc="120" kern="0" dirty="0">
                <a:solidFill>
                  <a:srgbClr val="B8542A"/>
                </a:solidFill>
                <a:latin typeface="Calibri" pitchFamily="34" charset="0"/>
                <a:ea typeface="Calibri" pitchFamily="34" charset="-122"/>
                <a:cs typeface="Calibri" pitchFamily="34" charset="-120"/>
              </a:rPr>
              <a:t>PENDUKUNG   |   HILIRISASI BERDAULAT</a:t>
            </a:r>
            <a:endParaRPr lang="en-US" sz="950" dirty="0"/>
          </a:p>
        </p:txBody>
      </p:sp>
      <p:sp>
        <p:nvSpPr>
          <p:cNvPr id="8" name="Text 6"/>
          <p:cNvSpPr txBox="1"/>
          <p:nvPr/>
        </p:nvSpPr>
        <p:spPr>
          <a:xfrm>
            <a:off x="6611112" y="1956816"/>
            <a:ext cx="4754880" cy="219456"/>
          </a:xfrm>
          <a:prstGeom prst="rect">
            <a:avLst/>
          </a:prstGeom>
          <a:noFill/>
          <a:ln/>
        </p:spPr>
        <p:txBody>
          <a:bodyPr wrap="square" lIns="0" tIns="0" rIns="0" bIns="0" rtlCol="0" anchor="ctr"/>
          <a:lstStyle/>
          <a:p>
            <a:pPr indent="0" marL="0">
              <a:buNone/>
            </a:pPr>
            <a:r>
              <a:rPr lang="en-US" sz="950" b="1" spc="120" kern="0" dirty="0">
                <a:solidFill>
                  <a:srgbClr val="E8A87C"/>
                </a:solidFill>
                <a:latin typeface="Calibri" pitchFamily="34" charset="0"/>
                <a:ea typeface="Calibri" pitchFamily="34" charset="-122"/>
                <a:cs typeface="Calibri" pitchFamily="34" charset="-120"/>
              </a:rPr>
              <a:t>PENENTANG   |   EKSTRAKSI BERBIAYA SOSIAL</a:t>
            </a:r>
            <a:endParaRPr lang="en-US" sz="950" dirty="0"/>
          </a:p>
        </p:txBody>
      </p:sp>
      <p:sp>
        <p:nvSpPr>
          <p:cNvPr id="9" name="Text 7"/>
          <p:cNvSpPr txBox="1"/>
          <p:nvPr/>
        </p:nvSpPr>
        <p:spPr>
          <a:xfrm>
            <a:off x="877824" y="2267712"/>
            <a:ext cx="4754880" cy="310896"/>
          </a:xfrm>
          <a:prstGeom prst="rect">
            <a:avLst/>
          </a:prstGeom>
          <a:noFill/>
          <a:ln/>
        </p:spPr>
        <p:txBody>
          <a:bodyPr wrap="square" lIns="0" tIns="0" rIns="0" bIns="0" rtlCol="0" anchor="ctr"/>
          <a:lstStyle/>
          <a:p>
            <a:pPr indent="0" marL="0">
              <a:buNone/>
            </a:pPr>
            <a:r>
              <a:rPr lang="en-US" sz="1800" b="1" dirty="0">
                <a:solidFill>
                  <a:srgbClr val="16202A"/>
                </a:solidFill>
                <a:latin typeface="Cambria" pitchFamily="34" charset="0"/>
                <a:ea typeface="Cambria" pitchFamily="34" charset="-122"/>
                <a:cs typeface="Cambria" pitchFamily="34" charset="-120"/>
              </a:rPr>
              <a:t>40 miliar dolar</a:t>
            </a:r>
            <a:endParaRPr lang="en-US" sz="1800" dirty="0"/>
          </a:p>
        </p:txBody>
      </p:sp>
      <p:sp>
        <p:nvSpPr>
          <p:cNvPr id="10" name="Text 8"/>
          <p:cNvSpPr txBox="1"/>
          <p:nvPr/>
        </p:nvSpPr>
        <p:spPr>
          <a:xfrm>
            <a:off x="877824" y="2578608"/>
            <a:ext cx="4754880" cy="438912"/>
          </a:xfrm>
          <a:prstGeom prst="rect">
            <a:avLst/>
          </a:prstGeom>
          <a:noFill/>
          <a:ln/>
        </p:spPr>
        <p:txBody>
          <a:bodyPr wrap="square" lIns="0" tIns="0" rIns="0" bIns="0" rtlCol="0" anchor="t"/>
          <a:lstStyle/>
          <a:p>
            <a:pPr indent="0" marL="0">
              <a:lnSpc>
                <a:spcPct val="110000"/>
              </a:lnSpc>
              <a:buNone/>
            </a:pPr>
            <a:r>
              <a:rPr lang="en-US" sz="1100" dirty="0">
                <a:solidFill>
                  <a:srgbClr val="2C3540"/>
                </a:solidFill>
                <a:latin typeface="Calibri" pitchFamily="34" charset="0"/>
                <a:ea typeface="Calibri" pitchFamily="34" charset="-122"/>
                <a:cs typeface="Calibri" pitchFamily="34" charset="-120"/>
              </a:rPr>
              <a:t>Nilai ekspor produk nikel olahan pada 2025, naik dari 3 miliar dolar pada 2020</a:t>
            </a:r>
            <a:endParaRPr lang="en-US" sz="1100" dirty="0"/>
          </a:p>
        </p:txBody>
      </p:sp>
      <p:sp>
        <p:nvSpPr>
          <p:cNvPr id="11" name="Text 9"/>
          <p:cNvSpPr txBox="1"/>
          <p:nvPr/>
        </p:nvSpPr>
        <p:spPr>
          <a:xfrm>
            <a:off x="877824" y="3072384"/>
            <a:ext cx="4754880" cy="310896"/>
          </a:xfrm>
          <a:prstGeom prst="rect">
            <a:avLst/>
          </a:prstGeom>
          <a:noFill/>
          <a:ln/>
        </p:spPr>
        <p:txBody>
          <a:bodyPr wrap="square" lIns="0" tIns="0" rIns="0" bIns="0" rtlCol="0" anchor="ctr"/>
          <a:lstStyle/>
          <a:p>
            <a:pPr indent="0" marL="0">
              <a:buNone/>
            </a:pPr>
            <a:r>
              <a:rPr lang="en-US" sz="1800" b="1" dirty="0">
                <a:solidFill>
                  <a:srgbClr val="16202A"/>
                </a:solidFill>
                <a:latin typeface="Cambria" pitchFamily="34" charset="0"/>
                <a:ea typeface="Cambria" pitchFamily="34" charset="-122"/>
                <a:cs typeface="Cambria" pitchFamily="34" charset="-120"/>
              </a:rPr>
              <a:t>41,5 miliar dolar</a:t>
            </a:r>
            <a:endParaRPr lang="en-US" sz="1800" dirty="0"/>
          </a:p>
        </p:txBody>
      </p:sp>
      <p:sp>
        <p:nvSpPr>
          <p:cNvPr id="12" name="Text 10"/>
          <p:cNvSpPr txBox="1"/>
          <p:nvPr/>
        </p:nvSpPr>
        <p:spPr>
          <a:xfrm>
            <a:off x="877824" y="3383280"/>
            <a:ext cx="4754880" cy="438912"/>
          </a:xfrm>
          <a:prstGeom prst="rect">
            <a:avLst/>
          </a:prstGeom>
          <a:noFill/>
          <a:ln/>
        </p:spPr>
        <p:txBody>
          <a:bodyPr wrap="square" lIns="0" tIns="0" rIns="0" bIns="0" rtlCol="0" anchor="t"/>
          <a:lstStyle/>
          <a:p>
            <a:pPr indent="0" marL="0">
              <a:lnSpc>
                <a:spcPct val="110000"/>
              </a:lnSpc>
              <a:buNone/>
            </a:pPr>
            <a:r>
              <a:rPr lang="en-US" sz="1100" dirty="0">
                <a:solidFill>
                  <a:srgbClr val="2C3540"/>
                </a:solidFill>
                <a:latin typeface="Calibri" pitchFamily="34" charset="0"/>
                <a:ea typeface="Calibri" pitchFamily="34" charset="-122"/>
                <a:cs typeface="Calibri" pitchFamily="34" charset="-120"/>
              </a:rPr>
              <a:t>Investasi terkumpul di kawasan IMIP Morowali sampai Desember 2025</a:t>
            </a:r>
            <a:endParaRPr lang="en-US" sz="1100" dirty="0"/>
          </a:p>
        </p:txBody>
      </p:sp>
      <p:sp>
        <p:nvSpPr>
          <p:cNvPr id="13" name="Text 11"/>
          <p:cNvSpPr txBox="1"/>
          <p:nvPr/>
        </p:nvSpPr>
        <p:spPr>
          <a:xfrm>
            <a:off x="877824" y="3877056"/>
            <a:ext cx="4754880" cy="310896"/>
          </a:xfrm>
          <a:prstGeom prst="rect">
            <a:avLst/>
          </a:prstGeom>
          <a:noFill/>
          <a:ln/>
        </p:spPr>
        <p:txBody>
          <a:bodyPr wrap="square" lIns="0" tIns="0" rIns="0" bIns="0" rtlCol="0" anchor="ctr"/>
          <a:lstStyle/>
          <a:p>
            <a:pPr indent="0" marL="0">
              <a:buNone/>
            </a:pPr>
            <a:r>
              <a:rPr lang="en-US" sz="1800" b="1" dirty="0">
                <a:solidFill>
                  <a:srgbClr val="16202A"/>
                </a:solidFill>
                <a:latin typeface="Cambria" pitchFamily="34" charset="0"/>
                <a:ea typeface="Cambria" pitchFamily="34" charset="-122"/>
                <a:cs typeface="Cambria" pitchFamily="34" charset="-120"/>
              </a:rPr>
              <a:t>166 ribu pekerja</a:t>
            </a:r>
            <a:endParaRPr lang="en-US" sz="1800" dirty="0"/>
          </a:p>
        </p:txBody>
      </p:sp>
      <p:sp>
        <p:nvSpPr>
          <p:cNvPr id="14" name="Text 12"/>
          <p:cNvSpPr txBox="1"/>
          <p:nvPr/>
        </p:nvSpPr>
        <p:spPr>
          <a:xfrm>
            <a:off x="877824" y="4187952"/>
            <a:ext cx="4754880" cy="438912"/>
          </a:xfrm>
          <a:prstGeom prst="rect">
            <a:avLst/>
          </a:prstGeom>
          <a:noFill/>
          <a:ln/>
        </p:spPr>
        <p:txBody>
          <a:bodyPr wrap="square" lIns="0" tIns="0" rIns="0" bIns="0" rtlCol="0" anchor="t"/>
          <a:lstStyle/>
          <a:p>
            <a:pPr indent="0" marL="0">
              <a:lnSpc>
                <a:spcPct val="110000"/>
              </a:lnSpc>
              <a:buNone/>
            </a:pPr>
            <a:r>
              <a:rPr lang="en-US" sz="1100" dirty="0">
                <a:solidFill>
                  <a:srgbClr val="2C3540"/>
                </a:solidFill>
                <a:latin typeface="Calibri" pitchFamily="34" charset="0"/>
                <a:ea typeface="Calibri" pitchFamily="34" charset="-122"/>
                <a:cs typeface="Calibri" pitchFamily="34" charset="-120"/>
              </a:rPr>
              <a:t>Terserap di IMIP dan IWIP, dari 35.952 orang pada 2020 di Morowali saja</a:t>
            </a:r>
            <a:endParaRPr lang="en-US" sz="1100" dirty="0"/>
          </a:p>
        </p:txBody>
      </p:sp>
      <p:sp>
        <p:nvSpPr>
          <p:cNvPr id="15" name="Text 13"/>
          <p:cNvSpPr txBox="1"/>
          <p:nvPr/>
        </p:nvSpPr>
        <p:spPr>
          <a:xfrm>
            <a:off x="877824" y="4681728"/>
            <a:ext cx="4754880" cy="310896"/>
          </a:xfrm>
          <a:prstGeom prst="rect">
            <a:avLst/>
          </a:prstGeom>
          <a:noFill/>
          <a:ln/>
        </p:spPr>
        <p:txBody>
          <a:bodyPr wrap="square" lIns="0" tIns="0" rIns="0" bIns="0" rtlCol="0" anchor="ctr"/>
          <a:lstStyle/>
          <a:p>
            <a:pPr indent="0" marL="0">
              <a:buNone/>
            </a:pPr>
            <a:r>
              <a:rPr lang="en-US" sz="1800" b="1" dirty="0">
                <a:solidFill>
                  <a:srgbClr val="16202A"/>
                </a:solidFill>
                <a:latin typeface="Cambria" pitchFamily="34" charset="0"/>
                <a:ea typeface="Cambria" pitchFamily="34" charset="-122"/>
                <a:cs typeface="Cambria" pitchFamily="34" charset="-120"/>
              </a:rPr>
              <a:t>Pemasok terbesar</a:t>
            </a:r>
            <a:endParaRPr lang="en-US" sz="1800" dirty="0"/>
          </a:p>
        </p:txBody>
      </p:sp>
      <p:sp>
        <p:nvSpPr>
          <p:cNvPr id="16" name="Text 14"/>
          <p:cNvSpPr txBox="1"/>
          <p:nvPr/>
        </p:nvSpPr>
        <p:spPr>
          <a:xfrm>
            <a:off x="877824" y="4992624"/>
            <a:ext cx="4754880" cy="438912"/>
          </a:xfrm>
          <a:prstGeom prst="rect">
            <a:avLst/>
          </a:prstGeom>
          <a:noFill/>
          <a:ln/>
        </p:spPr>
        <p:txBody>
          <a:bodyPr wrap="square" lIns="0" tIns="0" rIns="0" bIns="0" rtlCol="0" anchor="t"/>
          <a:lstStyle/>
          <a:p>
            <a:pPr indent="0" marL="0">
              <a:lnSpc>
                <a:spcPct val="110000"/>
              </a:lnSpc>
              <a:buNone/>
            </a:pPr>
            <a:r>
              <a:rPr lang="en-US" sz="1100" dirty="0">
                <a:solidFill>
                  <a:srgbClr val="2C3540"/>
                </a:solidFill>
                <a:latin typeface="Calibri" pitchFamily="34" charset="0"/>
                <a:ea typeface="Calibri" pitchFamily="34" charset="-122"/>
                <a:cs typeface="Calibri" pitchFamily="34" charset="-120"/>
              </a:rPr>
              <a:t>Indonesia menjadi simpul utama rantai pasok baterai kendaraan listrik dunia</a:t>
            </a:r>
            <a:endParaRPr lang="en-US" sz="1100" dirty="0"/>
          </a:p>
        </p:txBody>
      </p:sp>
      <p:sp>
        <p:nvSpPr>
          <p:cNvPr id="17" name="Text 15"/>
          <p:cNvSpPr txBox="1"/>
          <p:nvPr/>
        </p:nvSpPr>
        <p:spPr>
          <a:xfrm>
            <a:off x="6611112" y="2267712"/>
            <a:ext cx="4754880" cy="310896"/>
          </a:xfrm>
          <a:prstGeom prst="rect">
            <a:avLst/>
          </a:prstGeom>
          <a:noFill/>
          <a:ln/>
        </p:spPr>
        <p:txBody>
          <a:bodyPr wrap="square" lIns="0" tIns="0" rIns="0" bIns="0" rtlCol="0" anchor="ctr"/>
          <a:lstStyle/>
          <a:p>
            <a:pPr indent="0" marL="0">
              <a:buNone/>
            </a:pPr>
            <a:r>
              <a:rPr lang="en-US" sz="1800" b="1" dirty="0">
                <a:solidFill>
                  <a:srgbClr val="E8A87C"/>
                </a:solidFill>
                <a:latin typeface="Cambria" pitchFamily="34" charset="0"/>
                <a:ea typeface="Cambria" pitchFamily="34" charset="-122"/>
                <a:cs typeface="Cambria" pitchFamily="34" charset="-120"/>
              </a:rPr>
              <a:t>3 sampai 3,6 juta</a:t>
            </a:r>
            <a:endParaRPr lang="en-US" sz="1800" dirty="0"/>
          </a:p>
        </p:txBody>
      </p:sp>
      <p:sp>
        <p:nvSpPr>
          <p:cNvPr id="18" name="Text 16"/>
          <p:cNvSpPr txBox="1"/>
          <p:nvPr/>
        </p:nvSpPr>
        <p:spPr>
          <a:xfrm>
            <a:off x="6611112" y="2578608"/>
            <a:ext cx="4754880" cy="438912"/>
          </a:xfrm>
          <a:prstGeom prst="rect">
            <a:avLst/>
          </a:prstGeom>
          <a:noFill/>
          <a:ln/>
        </p:spPr>
        <p:txBody>
          <a:bodyPr wrap="square" lIns="0" tIns="0" rIns="0" bIns="0" rtlCol="0" anchor="t"/>
          <a:lstStyle/>
          <a:p>
            <a:pPr indent="0" marL="0">
              <a:lnSpc>
                <a:spcPct val="110000"/>
              </a:lnSpc>
              <a:buNone/>
            </a:pPr>
            <a:r>
              <a:rPr lang="en-US" sz="1100" dirty="0">
                <a:solidFill>
                  <a:srgbClr val="C6CFD8"/>
                </a:solidFill>
                <a:latin typeface="Calibri" pitchFamily="34" charset="0"/>
                <a:ea typeface="Calibri" pitchFamily="34" charset="-122"/>
                <a:cs typeface="Calibri" pitchFamily="34" charset="-120"/>
              </a:rPr>
              <a:t>Upah pokok per bulan, di bawah upah minimum Morowali 2025 sebesar 3,7 juta, dengan biaya hidup sekitar 7,5 juta</a:t>
            </a:r>
            <a:endParaRPr lang="en-US" sz="1100" dirty="0"/>
          </a:p>
        </p:txBody>
      </p:sp>
      <p:sp>
        <p:nvSpPr>
          <p:cNvPr id="19" name="Text 17"/>
          <p:cNvSpPr txBox="1"/>
          <p:nvPr/>
        </p:nvSpPr>
        <p:spPr>
          <a:xfrm>
            <a:off x="6611112" y="3072384"/>
            <a:ext cx="4754880" cy="310896"/>
          </a:xfrm>
          <a:prstGeom prst="rect">
            <a:avLst/>
          </a:prstGeom>
          <a:noFill/>
          <a:ln/>
        </p:spPr>
        <p:txBody>
          <a:bodyPr wrap="square" lIns="0" tIns="0" rIns="0" bIns="0" rtlCol="0" anchor="ctr"/>
          <a:lstStyle/>
          <a:p>
            <a:pPr indent="0" marL="0">
              <a:buNone/>
            </a:pPr>
            <a:r>
              <a:rPr lang="en-US" sz="1800" b="1" dirty="0">
                <a:solidFill>
                  <a:srgbClr val="E8A87C"/>
                </a:solidFill>
                <a:latin typeface="Cambria" pitchFamily="34" charset="0"/>
                <a:ea typeface="Cambria" pitchFamily="34" charset="-122"/>
                <a:cs typeface="Cambria" pitchFamily="34" charset="-120"/>
              </a:rPr>
              <a:t>107 pekerja meninggal</a:t>
            </a:r>
            <a:endParaRPr lang="en-US" sz="1800" dirty="0"/>
          </a:p>
        </p:txBody>
      </p:sp>
      <p:sp>
        <p:nvSpPr>
          <p:cNvPr id="20" name="Text 18"/>
          <p:cNvSpPr txBox="1"/>
          <p:nvPr/>
        </p:nvSpPr>
        <p:spPr>
          <a:xfrm>
            <a:off x="6611112" y="3383280"/>
            <a:ext cx="4754880" cy="438912"/>
          </a:xfrm>
          <a:prstGeom prst="rect">
            <a:avLst/>
          </a:prstGeom>
          <a:noFill/>
          <a:ln/>
        </p:spPr>
        <p:txBody>
          <a:bodyPr wrap="square" lIns="0" tIns="0" rIns="0" bIns="0" rtlCol="0" anchor="t"/>
          <a:lstStyle/>
          <a:p>
            <a:pPr indent="0" marL="0">
              <a:lnSpc>
                <a:spcPct val="110000"/>
              </a:lnSpc>
              <a:buNone/>
            </a:pPr>
            <a:r>
              <a:rPr lang="en-US" sz="1100" dirty="0">
                <a:solidFill>
                  <a:srgbClr val="C6CFD8"/>
                </a:solidFill>
                <a:latin typeface="Calibri" pitchFamily="34" charset="0"/>
                <a:ea typeface="Calibri" pitchFamily="34" charset="-122"/>
                <a:cs typeface="Calibri" pitchFamily="34" charset="-120"/>
              </a:rPr>
              <a:t>Beserta 155 pekerja luka pada 104 kecelakaan smelter nikel sepanjang 2019 sampai 2025</a:t>
            </a:r>
            <a:endParaRPr lang="en-US" sz="1100" dirty="0"/>
          </a:p>
        </p:txBody>
      </p:sp>
      <p:sp>
        <p:nvSpPr>
          <p:cNvPr id="21" name="Text 19"/>
          <p:cNvSpPr txBox="1"/>
          <p:nvPr/>
        </p:nvSpPr>
        <p:spPr>
          <a:xfrm>
            <a:off x="6611112" y="3877056"/>
            <a:ext cx="4754880" cy="310896"/>
          </a:xfrm>
          <a:prstGeom prst="rect">
            <a:avLst/>
          </a:prstGeom>
          <a:noFill/>
          <a:ln/>
        </p:spPr>
        <p:txBody>
          <a:bodyPr wrap="square" lIns="0" tIns="0" rIns="0" bIns="0" rtlCol="0" anchor="ctr"/>
          <a:lstStyle/>
          <a:p>
            <a:pPr indent="0" marL="0">
              <a:buNone/>
            </a:pPr>
            <a:r>
              <a:rPr lang="en-US" sz="1800" b="1" dirty="0">
                <a:solidFill>
                  <a:srgbClr val="E8A87C"/>
                </a:solidFill>
                <a:latin typeface="Cambria" pitchFamily="34" charset="0"/>
                <a:ea typeface="Cambria" pitchFamily="34" charset="-122"/>
                <a:cs typeface="Cambria" pitchFamily="34" charset="-120"/>
              </a:rPr>
              <a:t>163 ribu hektare</a:t>
            </a:r>
            <a:endParaRPr lang="en-US" sz="1800" dirty="0"/>
          </a:p>
        </p:txBody>
      </p:sp>
      <p:sp>
        <p:nvSpPr>
          <p:cNvPr id="22" name="Text 20"/>
          <p:cNvSpPr txBox="1"/>
          <p:nvPr/>
        </p:nvSpPr>
        <p:spPr>
          <a:xfrm>
            <a:off x="6611112" y="4187952"/>
            <a:ext cx="4754880" cy="438912"/>
          </a:xfrm>
          <a:prstGeom prst="rect">
            <a:avLst/>
          </a:prstGeom>
          <a:noFill/>
          <a:ln/>
        </p:spPr>
        <p:txBody>
          <a:bodyPr wrap="square" lIns="0" tIns="0" rIns="0" bIns="0" rtlCol="0" anchor="t"/>
          <a:lstStyle/>
          <a:p>
            <a:pPr indent="0" marL="0">
              <a:lnSpc>
                <a:spcPct val="110000"/>
              </a:lnSpc>
              <a:buNone/>
            </a:pPr>
            <a:r>
              <a:rPr lang="en-US" sz="1100" dirty="0">
                <a:solidFill>
                  <a:srgbClr val="C6CFD8"/>
                </a:solidFill>
                <a:latin typeface="Calibri" pitchFamily="34" charset="0"/>
                <a:ea typeface="Calibri" pitchFamily="34" charset="-122"/>
                <a:cs typeface="Calibri" pitchFamily="34" charset="-120"/>
              </a:rPr>
              <a:t>Tutupan pohon hilang di Halmahera, sementara industri nikel memegang 76 persen PLTU captive nasional</a:t>
            </a:r>
            <a:endParaRPr lang="en-US" sz="1100" dirty="0"/>
          </a:p>
        </p:txBody>
      </p:sp>
      <p:sp>
        <p:nvSpPr>
          <p:cNvPr id="23" name="Text 21"/>
          <p:cNvSpPr txBox="1"/>
          <p:nvPr/>
        </p:nvSpPr>
        <p:spPr>
          <a:xfrm>
            <a:off x="6611112" y="4681728"/>
            <a:ext cx="4754880" cy="310896"/>
          </a:xfrm>
          <a:prstGeom prst="rect">
            <a:avLst/>
          </a:prstGeom>
          <a:noFill/>
          <a:ln/>
        </p:spPr>
        <p:txBody>
          <a:bodyPr wrap="square" lIns="0" tIns="0" rIns="0" bIns="0" rtlCol="0" anchor="ctr"/>
          <a:lstStyle/>
          <a:p>
            <a:pPr indent="0" marL="0">
              <a:buNone/>
            </a:pPr>
            <a:r>
              <a:rPr lang="en-US" sz="1800" b="1" dirty="0">
                <a:solidFill>
                  <a:srgbClr val="E8A87C"/>
                </a:solidFill>
                <a:latin typeface="Cambria" pitchFamily="34" charset="0"/>
                <a:ea typeface="Cambria" pitchFamily="34" charset="-122"/>
                <a:cs typeface="Cambria" pitchFamily="34" charset="-120"/>
              </a:rPr>
              <a:t>4,35 persen</a:t>
            </a:r>
            <a:endParaRPr lang="en-US" sz="1800" dirty="0"/>
          </a:p>
        </p:txBody>
      </p:sp>
      <p:sp>
        <p:nvSpPr>
          <p:cNvPr id="24" name="Text 22"/>
          <p:cNvSpPr txBox="1"/>
          <p:nvPr/>
        </p:nvSpPr>
        <p:spPr>
          <a:xfrm>
            <a:off x="6611112" y="4992624"/>
            <a:ext cx="4754880" cy="438912"/>
          </a:xfrm>
          <a:prstGeom prst="rect">
            <a:avLst/>
          </a:prstGeom>
          <a:noFill/>
          <a:ln/>
        </p:spPr>
        <p:txBody>
          <a:bodyPr wrap="square" lIns="0" tIns="0" rIns="0" bIns="0" rtlCol="0" anchor="t"/>
          <a:lstStyle/>
          <a:p>
            <a:pPr indent="0" marL="0">
              <a:lnSpc>
                <a:spcPct val="110000"/>
              </a:lnSpc>
              <a:buNone/>
            </a:pPr>
            <a:r>
              <a:rPr lang="en-US" sz="1100" dirty="0">
                <a:solidFill>
                  <a:srgbClr val="C6CFD8"/>
                </a:solidFill>
                <a:latin typeface="Calibri" pitchFamily="34" charset="0"/>
                <a:ea typeface="Calibri" pitchFamily="34" charset="-122"/>
                <a:cs typeface="Calibri" pitchFamily="34" charset="-120"/>
              </a:rPr>
              <a:t>Nilai tambah yang tinggal di Morowali, yang kemiskinannya 12,58 persen dan di atas rata-rata provinsi</a:t>
            </a:r>
            <a:endParaRPr lang="en-US" sz="1100" dirty="0"/>
          </a:p>
        </p:txBody>
      </p:sp>
      <p:sp>
        <p:nvSpPr>
          <p:cNvPr id="25" name="Shape 23"/>
          <p:cNvSpPr/>
          <p:nvPr/>
        </p:nvSpPr>
        <p:spPr>
          <a:xfrm>
            <a:off x="566928" y="5779008"/>
            <a:ext cx="11057839" cy="475488"/>
          </a:xfrm>
          <a:prstGeom prst="roundRect">
            <a:avLst>
              <a:gd name="adj" fmla="val 17308"/>
            </a:avLst>
          </a:prstGeom>
          <a:solidFill>
            <a:srgbClr val="E6EAEE"/>
          </a:solidFill>
          <a:ln w="12700">
            <a:solidFill>
              <a:srgbClr val="E6EAEE"/>
            </a:solidFill>
            <a:prstDash val="solid"/>
          </a:ln>
        </p:spPr>
      </p:sp>
      <p:sp>
        <p:nvSpPr>
          <p:cNvPr id="26" name="Text 24"/>
          <p:cNvSpPr txBox="1"/>
          <p:nvPr/>
        </p:nvSpPr>
        <p:spPr>
          <a:xfrm>
            <a:off x="877824" y="5779008"/>
            <a:ext cx="10436047" cy="475488"/>
          </a:xfrm>
          <a:prstGeom prst="rect">
            <a:avLst/>
          </a:prstGeom>
          <a:noFill/>
          <a:ln/>
        </p:spPr>
        <p:txBody>
          <a:bodyPr wrap="square" lIns="0" tIns="0" rIns="0" bIns="0" rtlCol="0" anchor="ctr"/>
          <a:lstStyle/>
          <a:p>
            <a:pPr indent="0" marL="0">
              <a:buNone/>
            </a:pPr>
            <a:r>
              <a:rPr lang="en-US" sz="1100" dirty="0">
                <a:solidFill>
                  <a:srgbClr val="2C3540"/>
                </a:solidFill>
                <a:latin typeface="Calibri" pitchFamily="34" charset="0"/>
                <a:ea typeface="Calibri" pitchFamily="34" charset="-122"/>
                <a:cs typeface="Calibri" pitchFamily="34" charset="-120"/>
              </a:rPr>
              <a:t>Beban yang tidak masuk neraca ekspor: sungai Ake Jira tidak lagi layak dipakai warga, kadar amonia di Kobe 0,3752 terhadap ambang 0,1 miligram per liter, dan 40 persen wilayah adat O Hongana Manyawa sudah berizin tambang.</a:t>
            </a:r>
            <a:endParaRPr lang="en-US" sz="1100" dirty="0"/>
          </a:p>
        </p:txBody>
      </p:sp>
      <p:sp>
        <p:nvSpPr>
          <p:cNvPr id="27" name="Text 25"/>
          <p:cNvSpPr txBox="1"/>
          <p:nvPr/>
        </p:nvSpPr>
        <p:spPr>
          <a:xfrm>
            <a:off x="10893247" y="6419088"/>
            <a:ext cx="731520" cy="237744"/>
          </a:xfrm>
          <a:prstGeom prst="rect">
            <a:avLst/>
          </a:prstGeom>
          <a:noFill/>
          <a:ln/>
        </p:spPr>
        <p:txBody>
          <a:bodyPr wrap="square" lIns="0" tIns="0" rIns="0" bIns="0" rtlCol="0" anchor="ctr"/>
          <a:lstStyle/>
          <a:p>
            <a:pPr algn="r" indent="0" marL="0">
              <a:buNone/>
            </a:pPr>
            <a:r>
              <a:rPr lang="en-US" sz="1100" b="1" dirty="0">
                <a:solidFill>
                  <a:srgbClr val="6B7684"/>
                </a:solidFill>
                <a:latin typeface="Cambria" pitchFamily="34" charset="0"/>
                <a:ea typeface="Cambria" pitchFamily="34" charset="-122"/>
                <a:cs typeface="Cambria"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B8542A"/>
                </a:solidFill>
                <a:latin typeface="Calibri" pitchFamily="34" charset="0"/>
                <a:ea typeface="Calibri" pitchFamily="34" charset="-122"/>
                <a:cs typeface="Calibri" pitchFamily="34" charset="-120"/>
              </a:rPr>
              <a:t>09   PENERAPAN</a:t>
            </a:r>
            <a:endParaRPr lang="en-US" sz="1000" dirty="0"/>
          </a:p>
        </p:txBody>
      </p:sp>
      <p:sp>
        <p:nvSpPr>
          <p:cNvPr id="3" name="Text 1"/>
          <p:cNvSpPr txBox="1"/>
          <p:nvPr/>
        </p:nvSpPr>
        <p:spPr>
          <a:xfrm>
            <a:off x="566928" y="585216"/>
            <a:ext cx="11057839" cy="548640"/>
          </a:xfrm>
          <a:prstGeom prst="rect">
            <a:avLst/>
          </a:prstGeom>
          <a:noFill/>
          <a:ln/>
        </p:spPr>
        <p:txBody>
          <a:bodyPr wrap="square" lIns="0" tIns="0" rIns="0" bIns="0" rtlCol="0" anchor="ctr"/>
          <a:lstStyle/>
          <a:p>
            <a:pPr indent="0" marL="0">
              <a:buNone/>
            </a:pPr>
            <a:r>
              <a:rPr lang="en-US" sz="2800" b="1" dirty="0">
                <a:solidFill>
                  <a:srgbClr val="16202A"/>
                </a:solidFill>
                <a:latin typeface="Cambria" pitchFamily="34" charset="0"/>
                <a:ea typeface="Cambria" pitchFamily="34" charset="-122"/>
                <a:cs typeface="Cambria" pitchFamily="34" charset="-120"/>
              </a:rPr>
              <a:t>Penilaian berdasarkan lima teori modernis</a:t>
            </a:r>
            <a:endParaRPr lang="en-US" sz="2800" dirty="0"/>
          </a:p>
        </p:txBody>
      </p:sp>
      <p:sp>
        <p:nvSpPr>
          <p:cNvPr id="4" name="Text 2"/>
          <p:cNvSpPr txBox="1"/>
          <p:nvPr/>
        </p:nvSpPr>
        <p:spPr>
          <a:xfrm>
            <a:off x="566928" y="1170432"/>
            <a:ext cx="11057839" cy="310896"/>
          </a:xfrm>
          <a:prstGeom prst="rect">
            <a:avLst/>
          </a:prstGeom>
          <a:noFill/>
          <a:ln/>
        </p:spPr>
        <p:txBody>
          <a:bodyPr wrap="square" lIns="0" tIns="0" rIns="0" bIns="0" rtlCol="0" anchor="t"/>
          <a:lstStyle/>
          <a:p>
            <a:pPr indent="0" marL="0">
              <a:lnSpc>
                <a:spcPct val="110000"/>
              </a:lnSpc>
              <a:buNone/>
            </a:pPr>
            <a:r>
              <a:rPr lang="en-US" sz="1250" dirty="0">
                <a:solidFill>
                  <a:srgbClr val="6B7684"/>
                </a:solidFill>
                <a:latin typeface="Calibri" pitchFamily="34" charset="0"/>
                <a:ea typeface="Calibri" pitchFamily="34" charset="-122"/>
                <a:cs typeface="Calibri" pitchFamily="34" charset="-120"/>
              </a:rPr>
              <a:t>Penilaian berbasis akibat dan berbasis prinsip menghasilkan kesimpulan yang tidak seragam.</a:t>
            </a:r>
            <a:endParaRPr lang="en-US" sz="1250" dirty="0"/>
          </a:p>
        </p:txBody>
      </p:sp>
      <p:sp>
        <p:nvSpPr>
          <p:cNvPr id="5" name="Shape 3"/>
          <p:cNvSpPr/>
          <p:nvPr/>
        </p:nvSpPr>
        <p:spPr>
          <a:xfrm>
            <a:off x="566928" y="1773936"/>
            <a:ext cx="11057839" cy="804672"/>
          </a:xfrm>
          <a:prstGeom prst="roundRect">
            <a:avLst>
              <a:gd name="adj" fmla="val 10227"/>
            </a:avLst>
          </a:prstGeom>
          <a:solidFill>
            <a:srgbClr val="F1F3F5"/>
          </a:solidFill>
          <a:ln w="12700">
            <a:solidFill>
              <a:srgbClr val="F1F3F5"/>
            </a:solidFill>
            <a:prstDash val="solid"/>
          </a:ln>
        </p:spPr>
      </p:sp>
      <p:sp>
        <p:nvSpPr>
          <p:cNvPr id="6" name="Shape 4"/>
          <p:cNvSpPr/>
          <p:nvPr/>
        </p:nvSpPr>
        <p:spPr>
          <a:xfrm>
            <a:off x="822960" y="1947672"/>
            <a:ext cx="274320" cy="274320"/>
          </a:xfrm>
          <a:prstGeom prst="roundRect">
            <a:avLst>
              <a:gd name="adj" fmla="val 23333"/>
            </a:avLst>
          </a:prstGeom>
          <a:solidFill>
            <a:srgbClr val="B8542A"/>
          </a:solidFill>
          <a:ln w="12700">
            <a:solidFill>
              <a:srgbClr val="B8542A"/>
            </a:solidFill>
            <a:prstDash val="solid"/>
          </a:ln>
        </p:spPr>
      </p:sp>
      <p:sp>
        <p:nvSpPr>
          <p:cNvPr id="7" name="Text 5"/>
          <p:cNvSpPr txBox="1"/>
          <p:nvPr/>
        </p:nvSpPr>
        <p:spPr>
          <a:xfrm>
            <a:off x="822960" y="1947672"/>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txBox="1"/>
          <p:nvPr/>
        </p:nvSpPr>
        <p:spPr>
          <a:xfrm>
            <a:off x="1188720" y="1883664"/>
            <a:ext cx="1828800" cy="256032"/>
          </a:xfrm>
          <a:prstGeom prst="rect">
            <a:avLst/>
          </a:prstGeom>
          <a:noFill/>
          <a:ln/>
        </p:spPr>
        <p:txBody>
          <a:bodyPr wrap="square" lIns="0" tIns="0" rIns="0" bIns="0" rtlCol="0" anchor="ctr"/>
          <a:lstStyle/>
          <a:p>
            <a:pPr indent="0" marL="0">
              <a:buNone/>
            </a:pPr>
            <a:r>
              <a:rPr lang="en-US" sz="1400" b="1" dirty="0">
                <a:solidFill>
                  <a:srgbClr val="16202A"/>
                </a:solidFill>
                <a:latin typeface="Cambria" pitchFamily="34" charset="0"/>
                <a:ea typeface="Cambria" pitchFamily="34" charset="-122"/>
                <a:cs typeface="Cambria" pitchFamily="34" charset="-120"/>
              </a:rPr>
              <a:t>Egoism</a:t>
            </a:r>
            <a:endParaRPr lang="en-US" sz="1400" dirty="0"/>
          </a:p>
        </p:txBody>
      </p:sp>
      <p:sp>
        <p:nvSpPr>
          <p:cNvPr id="9" name="Shape 7"/>
          <p:cNvSpPr/>
          <p:nvPr/>
        </p:nvSpPr>
        <p:spPr>
          <a:xfrm>
            <a:off x="1188720" y="2176272"/>
            <a:ext cx="1572768" cy="274320"/>
          </a:xfrm>
          <a:prstGeom prst="roundRect">
            <a:avLst>
              <a:gd name="adj" fmla="val 50000"/>
            </a:avLst>
          </a:prstGeom>
          <a:solidFill>
            <a:srgbClr val="6B7684"/>
          </a:solidFill>
          <a:ln w="12700">
            <a:solidFill>
              <a:srgbClr val="6B7684"/>
            </a:solidFill>
            <a:prstDash val="solid"/>
          </a:ln>
        </p:spPr>
      </p:sp>
      <p:sp>
        <p:nvSpPr>
          <p:cNvPr id="10" name="Text 8"/>
          <p:cNvSpPr txBox="1"/>
          <p:nvPr/>
        </p:nvSpPr>
        <p:spPr>
          <a:xfrm>
            <a:off x="1188720" y="2176272"/>
            <a:ext cx="1572768" cy="274320"/>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Calibri" pitchFamily="34" charset="0"/>
                <a:ea typeface="Calibri" pitchFamily="34" charset="-122"/>
                <a:cs typeface="Calibri" pitchFamily="34" charset="-120"/>
              </a:rPr>
              <a:t>NETRAL</a:t>
            </a:r>
            <a:endParaRPr lang="en-US" sz="900" dirty="0"/>
          </a:p>
        </p:txBody>
      </p:sp>
      <p:sp>
        <p:nvSpPr>
          <p:cNvPr id="11" name="Text 9"/>
          <p:cNvSpPr txBox="1"/>
          <p:nvPr/>
        </p:nvSpPr>
        <p:spPr>
          <a:xfrm>
            <a:off x="3182112" y="1865376"/>
            <a:ext cx="8131759" cy="621792"/>
          </a:xfrm>
          <a:prstGeom prst="rect">
            <a:avLst/>
          </a:prstGeom>
          <a:noFill/>
          <a:ln/>
        </p:spPr>
        <p:txBody>
          <a:bodyPr wrap="square" lIns="0" tIns="0" rIns="0" bIns="0" rtlCol="0" anchor="ctr"/>
          <a:lstStyle/>
          <a:p>
            <a:pPr indent="0" marL="0">
              <a:lnSpc>
                <a:spcPct val="110000"/>
              </a:lnSpc>
              <a:buNone/>
            </a:pPr>
            <a:r>
              <a:rPr lang="en-US" sz="1100" dirty="0">
                <a:solidFill>
                  <a:srgbClr val="2C3540"/>
                </a:solidFill>
                <a:latin typeface="Calibri" pitchFamily="34" charset="0"/>
                <a:ea typeface="Calibri" pitchFamily="34" charset="-122"/>
                <a:cs typeface="Calibri" pitchFamily="34" charset="-120"/>
              </a:rPr>
              <a:t>Pada horizon pendek jelas melayani kepentingan Indonesia. Pada horizon panjang, biaya kesehatan warga, pemulihan sungai, dan pensiun dini pembangkit batu bara belum diinternalisasi. Kepentingan diri yang dihitung cermat justru menuntut biaya tertunda itu masuk sejak awal.</a:t>
            </a:r>
            <a:endParaRPr lang="en-US" sz="1100" dirty="0"/>
          </a:p>
        </p:txBody>
      </p:sp>
      <p:sp>
        <p:nvSpPr>
          <p:cNvPr id="12" name="Shape 10"/>
          <p:cNvSpPr/>
          <p:nvPr/>
        </p:nvSpPr>
        <p:spPr>
          <a:xfrm>
            <a:off x="566928" y="2670048"/>
            <a:ext cx="11057839" cy="804672"/>
          </a:xfrm>
          <a:prstGeom prst="roundRect">
            <a:avLst>
              <a:gd name="adj" fmla="val 10227"/>
            </a:avLst>
          </a:prstGeom>
          <a:solidFill>
            <a:srgbClr val="E6EAEE"/>
          </a:solidFill>
          <a:ln w="12700">
            <a:solidFill>
              <a:srgbClr val="E6EAEE"/>
            </a:solidFill>
            <a:prstDash val="solid"/>
          </a:ln>
        </p:spPr>
      </p:sp>
      <p:sp>
        <p:nvSpPr>
          <p:cNvPr id="13" name="Shape 11"/>
          <p:cNvSpPr/>
          <p:nvPr/>
        </p:nvSpPr>
        <p:spPr>
          <a:xfrm>
            <a:off x="822960" y="2843784"/>
            <a:ext cx="274320" cy="274320"/>
          </a:xfrm>
          <a:prstGeom prst="roundRect">
            <a:avLst>
              <a:gd name="adj" fmla="val 23333"/>
            </a:avLst>
          </a:prstGeom>
          <a:solidFill>
            <a:srgbClr val="B8542A"/>
          </a:solidFill>
          <a:ln w="12700">
            <a:solidFill>
              <a:srgbClr val="B8542A"/>
            </a:solidFill>
            <a:prstDash val="solid"/>
          </a:ln>
        </p:spPr>
      </p:sp>
      <p:sp>
        <p:nvSpPr>
          <p:cNvPr id="14" name="Text 12"/>
          <p:cNvSpPr txBox="1"/>
          <p:nvPr/>
        </p:nvSpPr>
        <p:spPr>
          <a:xfrm>
            <a:off x="822960" y="2843784"/>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5" name="Text 13"/>
          <p:cNvSpPr txBox="1"/>
          <p:nvPr/>
        </p:nvSpPr>
        <p:spPr>
          <a:xfrm>
            <a:off x="1188720" y="2779776"/>
            <a:ext cx="1828800" cy="256032"/>
          </a:xfrm>
          <a:prstGeom prst="rect">
            <a:avLst/>
          </a:prstGeom>
          <a:noFill/>
          <a:ln/>
        </p:spPr>
        <p:txBody>
          <a:bodyPr wrap="square" lIns="0" tIns="0" rIns="0" bIns="0" rtlCol="0" anchor="ctr"/>
          <a:lstStyle/>
          <a:p>
            <a:pPr indent="0" marL="0">
              <a:buNone/>
            </a:pPr>
            <a:r>
              <a:rPr lang="en-US" sz="1400" b="1" dirty="0">
                <a:solidFill>
                  <a:srgbClr val="16202A"/>
                </a:solidFill>
                <a:latin typeface="Cambria" pitchFamily="34" charset="0"/>
                <a:ea typeface="Cambria" pitchFamily="34" charset="-122"/>
                <a:cs typeface="Cambria" pitchFamily="34" charset="-120"/>
              </a:rPr>
              <a:t>Utilitarianism</a:t>
            </a:r>
            <a:endParaRPr lang="en-US" sz="1400" dirty="0"/>
          </a:p>
        </p:txBody>
      </p:sp>
      <p:sp>
        <p:nvSpPr>
          <p:cNvPr id="16" name="Shape 14"/>
          <p:cNvSpPr/>
          <p:nvPr/>
        </p:nvSpPr>
        <p:spPr>
          <a:xfrm>
            <a:off x="1188720" y="3072384"/>
            <a:ext cx="1572768" cy="274320"/>
          </a:xfrm>
          <a:prstGeom prst="roundRect">
            <a:avLst>
              <a:gd name="adj" fmla="val 50000"/>
            </a:avLst>
          </a:prstGeom>
          <a:solidFill>
            <a:srgbClr val="9A7420"/>
          </a:solidFill>
          <a:ln w="12700">
            <a:solidFill>
              <a:srgbClr val="9A7420"/>
            </a:solidFill>
            <a:prstDash val="solid"/>
          </a:ln>
        </p:spPr>
      </p:sp>
      <p:sp>
        <p:nvSpPr>
          <p:cNvPr id="17" name="Text 15"/>
          <p:cNvSpPr txBox="1"/>
          <p:nvPr/>
        </p:nvSpPr>
        <p:spPr>
          <a:xfrm>
            <a:off x="1188720" y="3072384"/>
            <a:ext cx="1572768" cy="274320"/>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Calibri" pitchFamily="34" charset="0"/>
                <a:ea typeface="Calibri" pitchFamily="34" charset="-122"/>
                <a:cs typeface="Calibri" pitchFamily="34" charset="-120"/>
              </a:rPr>
              <a:t>AMBIVALEN</a:t>
            </a:r>
            <a:endParaRPr lang="en-US" sz="900" dirty="0"/>
          </a:p>
        </p:txBody>
      </p:sp>
      <p:sp>
        <p:nvSpPr>
          <p:cNvPr id="18" name="Text 16"/>
          <p:cNvSpPr txBox="1"/>
          <p:nvPr/>
        </p:nvSpPr>
        <p:spPr>
          <a:xfrm>
            <a:off x="3182112" y="2761488"/>
            <a:ext cx="8131759" cy="621792"/>
          </a:xfrm>
          <a:prstGeom prst="rect">
            <a:avLst/>
          </a:prstGeom>
          <a:noFill/>
          <a:ln/>
        </p:spPr>
        <p:txBody>
          <a:bodyPr wrap="square" lIns="0" tIns="0" rIns="0" bIns="0" rtlCol="0" anchor="ctr"/>
          <a:lstStyle/>
          <a:p>
            <a:pPr indent="0" marL="0">
              <a:lnSpc>
                <a:spcPct val="110000"/>
              </a:lnSpc>
              <a:buNone/>
            </a:pPr>
            <a:r>
              <a:rPr lang="en-US" sz="1100" dirty="0">
                <a:solidFill>
                  <a:srgbClr val="2C3540"/>
                </a:solidFill>
                <a:latin typeface="Calibri" pitchFamily="34" charset="0"/>
                <a:ea typeface="Calibri" pitchFamily="34" charset="-122"/>
                <a:cs typeface="Calibri" pitchFamily="34" charset="-120"/>
              </a:rPr>
              <a:t>Act utilitarianism cenderung mendukung, sebab manfaat 166 ribu lapangan kerja nyata dan terukur sedangkan kerugiannya tersebar. Rule utilitarianism menolak, sebab bila setiap negara pemilik cadangan menempuh pengolahan bertenaga batu bara, tambahan emisinya membatalkan manfaat transisi energi yang justru menjadi pembenar kebijakan ini.</a:t>
            </a:r>
            <a:endParaRPr lang="en-US" sz="1100" dirty="0"/>
          </a:p>
        </p:txBody>
      </p:sp>
      <p:sp>
        <p:nvSpPr>
          <p:cNvPr id="19" name="Shape 17"/>
          <p:cNvSpPr/>
          <p:nvPr/>
        </p:nvSpPr>
        <p:spPr>
          <a:xfrm>
            <a:off x="566928" y="3566160"/>
            <a:ext cx="11057839" cy="804672"/>
          </a:xfrm>
          <a:prstGeom prst="roundRect">
            <a:avLst>
              <a:gd name="adj" fmla="val 10227"/>
            </a:avLst>
          </a:prstGeom>
          <a:solidFill>
            <a:srgbClr val="F1F3F5"/>
          </a:solidFill>
          <a:ln w="12700">
            <a:solidFill>
              <a:srgbClr val="F1F3F5"/>
            </a:solidFill>
            <a:prstDash val="solid"/>
          </a:ln>
        </p:spPr>
      </p:sp>
      <p:sp>
        <p:nvSpPr>
          <p:cNvPr id="20" name="Shape 18"/>
          <p:cNvSpPr/>
          <p:nvPr/>
        </p:nvSpPr>
        <p:spPr>
          <a:xfrm>
            <a:off x="822960" y="3739896"/>
            <a:ext cx="274320" cy="274320"/>
          </a:xfrm>
          <a:prstGeom prst="roundRect">
            <a:avLst>
              <a:gd name="adj" fmla="val 23333"/>
            </a:avLst>
          </a:prstGeom>
          <a:solidFill>
            <a:srgbClr val="B8542A"/>
          </a:solidFill>
          <a:ln w="12700">
            <a:solidFill>
              <a:srgbClr val="B8542A"/>
            </a:solidFill>
            <a:prstDash val="solid"/>
          </a:ln>
        </p:spPr>
      </p:sp>
      <p:sp>
        <p:nvSpPr>
          <p:cNvPr id="21" name="Text 19"/>
          <p:cNvSpPr txBox="1"/>
          <p:nvPr/>
        </p:nvSpPr>
        <p:spPr>
          <a:xfrm>
            <a:off x="822960" y="3739896"/>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2" name="Text 20"/>
          <p:cNvSpPr txBox="1"/>
          <p:nvPr/>
        </p:nvSpPr>
        <p:spPr>
          <a:xfrm>
            <a:off x="1188720" y="3675888"/>
            <a:ext cx="1828800" cy="256032"/>
          </a:xfrm>
          <a:prstGeom prst="rect">
            <a:avLst/>
          </a:prstGeom>
          <a:noFill/>
          <a:ln/>
        </p:spPr>
        <p:txBody>
          <a:bodyPr wrap="square" lIns="0" tIns="0" rIns="0" bIns="0" rtlCol="0" anchor="ctr"/>
          <a:lstStyle/>
          <a:p>
            <a:pPr indent="0" marL="0">
              <a:buNone/>
            </a:pPr>
            <a:r>
              <a:rPr lang="en-US" sz="1400" b="1" dirty="0">
                <a:solidFill>
                  <a:srgbClr val="16202A"/>
                </a:solidFill>
                <a:latin typeface="Cambria" pitchFamily="34" charset="0"/>
                <a:ea typeface="Cambria" pitchFamily="34" charset="-122"/>
                <a:cs typeface="Cambria" pitchFamily="34" charset="-120"/>
              </a:rPr>
              <a:t>Ethics of duty</a:t>
            </a:r>
            <a:endParaRPr lang="en-US" sz="1400" dirty="0"/>
          </a:p>
        </p:txBody>
      </p:sp>
      <p:sp>
        <p:nvSpPr>
          <p:cNvPr id="23" name="Shape 21"/>
          <p:cNvSpPr/>
          <p:nvPr/>
        </p:nvSpPr>
        <p:spPr>
          <a:xfrm>
            <a:off x="1188720" y="3968496"/>
            <a:ext cx="1572768" cy="274320"/>
          </a:xfrm>
          <a:prstGeom prst="roundRect">
            <a:avLst>
              <a:gd name="adj" fmla="val 50000"/>
            </a:avLst>
          </a:prstGeom>
          <a:solidFill>
            <a:srgbClr val="B8542A"/>
          </a:solidFill>
          <a:ln w="12700">
            <a:solidFill>
              <a:srgbClr val="B8542A"/>
            </a:solidFill>
            <a:prstDash val="solid"/>
          </a:ln>
        </p:spPr>
      </p:sp>
      <p:sp>
        <p:nvSpPr>
          <p:cNvPr id="24" name="Text 22"/>
          <p:cNvSpPr txBox="1"/>
          <p:nvPr/>
        </p:nvSpPr>
        <p:spPr>
          <a:xfrm>
            <a:off x="1188720" y="3968496"/>
            <a:ext cx="1572768" cy="274320"/>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Calibri" pitchFamily="34" charset="0"/>
                <a:ea typeface="Calibri" pitchFamily="34" charset="-122"/>
                <a:cs typeface="Calibri" pitchFamily="34" charset="-120"/>
              </a:rPr>
              <a:t>MENOLAK</a:t>
            </a:r>
            <a:endParaRPr lang="en-US" sz="900" dirty="0"/>
          </a:p>
        </p:txBody>
      </p:sp>
      <p:sp>
        <p:nvSpPr>
          <p:cNvPr id="25" name="Text 23"/>
          <p:cNvSpPr txBox="1"/>
          <p:nvPr/>
        </p:nvSpPr>
        <p:spPr>
          <a:xfrm>
            <a:off x="3182112" y="3657600"/>
            <a:ext cx="8131759" cy="621792"/>
          </a:xfrm>
          <a:prstGeom prst="rect">
            <a:avLst/>
          </a:prstGeom>
          <a:noFill/>
          <a:ln/>
        </p:spPr>
        <p:txBody>
          <a:bodyPr wrap="square" lIns="0" tIns="0" rIns="0" bIns="0" rtlCol="0" anchor="ctr"/>
          <a:lstStyle/>
          <a:p>
            <a:pPr indent="0" marL="0">
              <a:lnSpc>
                <a:spcPct val="110000"/>
              </a:lnSpc>
              <a:buNone/>
            </a:pPr>
            <a:r>
              <a:rPr lang="en-US" sz="1100" dirty="0">
                <a:solidFill>
                  <a:srgbClr val="2C3540"/>
                </a:solidFill>
                <a:latin typeface="Calibri" pitchFamily="34" charset="0"/>
                <a:ea typeface="Calibri" pitchFamily="34" charset="-122"/>
                <a:cs typeface="Calibri" pitchFamily="34" charset="-120"/>
              </a:rPr>
              <a:t>Maksimnya berbunyi: pengolahan boleh dipercepat sambil menunda standar upah, keselamatan, dan lingkungan. Diuniversalkan, standar itu kehilangan daya ikat. Formulasi kedua juga gagal, sebab upah di bawah minimum dan lembur sampai 13 jam menjadikan pekerja sarana semata.</a:t>
            </a:r>
            <a:endParaRPr lang="en-US" sz="1100" dirty="0"/>
          </a:p>
        </p:txBody>
      </p:sp>
      <p:sp>
        <p:nvSpPr>
          <p:cNvPr id="26" name="Shape 24"/>
          <p:cNvSpPr/>
          <p:nvPr/>
        </p:nvSpPr>
        <p:spPr>
          <a:xfrm>
            <a:off x="566928" y="4462272"/>
            <a:ext cx="11057839" cy="804672"/>
          </a:xfrm>
          <a:prstGeom prst="roundRect">
            <a:avLst>
              <a:gd name="adj" fmla="val 10227"/>
            </a:avLst>
          </a:prstGeom>
          <a:solidFill>
            <a:srgbClr val="E6EAEE"/>
          </a:solidFill>
          <a:ln w="12700">
            <a:solidFill>
              <a:srgbClr val="E6EAEE"/>
            </a:solidFill>
            <a:prstDash val="solid"/>
          </a:ln>
        </p:spPr>
      </p:sp>
      <p:sp>
        <p:nvSpPr>
          <p:cNvPr id="27" name="Shape 25"/>
          <p:cNvSpPr/>
          <p:nvPr/>
        </p:nvSpPr>
        <p:spPr>
          <a:xfrm>
            <a:off x="822960" y="4636008"/>
            <a:ext cx="274320" cy="274320"/>
          </a:xfrm>
          <a:prstGeom prst="roundRect">
            <a:avLst>
              <a:gd name="adj" fmla="val 23333"/>
            </a:avLst>
          </a:prstGeom>
          <a:solidFill>
            <a:srgbClr val="B8542A"/>
          </a:solidFill>
          <a:ln w="12700">
            <a:solidFill>
              <a:srgbClr val="B8542A"/>
            </a:solidFill>
            <a:prstDash val="solid"/>
          </a:ln>
        </p:spPr>
      </p:sp>
      <p:sp>
        <p:nvSpPr>
          <p:cNvPr id="28" name="Text 26"/>
          <p:cNvSpPr txBox="1"/>
          <p:nvPr/>
        </p:nvSpPr>
        <p:spPr>
          <a:xfrm>
            <a:off x="822960" y="4636008"/>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9" name="Text 27"/>
          <p:cNvSpPr txBox="1"/>
          <p:nvPr/>
        </p:nvSpPr>
        <p:spPr>
          <a:xfrm>
            <a:off x="1188720" y="4572000"/>
            <a:ext cx="1828800" cy="256032"/>
          </a:xfrm>
          <a:prstGeom prst="rect">
            <a:avLst/>
          </a:prstGeom>
          <a:noFill/>
          <a:ln/>
        </p:spPr>
        <p:txBody>
          <a:bodyPr wrap="square" lIns="0" tIns="0" rIns="0" bIns="0" rtlCol="0" anchor="ctr"/>
          <a:lstStyle/>
          <a:p>
            <a:pPr indent="0" marL="0">
              <a:buNone/>
            </a:pPr>
            <a:r>
              <a:rPr lang="en-US" sz="1400" b="1" dirty="0">
                <a:solidFill>
                  <a:srgbClr val="16202A"/>
                </a:solidFill>
                <a:latin typeface="Cambria" pitchFamily="34" charset="0"/>
                <a:ea typeface="Cambria" pitchFamily="34" charset="-122"/>
                <a:cs typeface="Cambria" pitchFamily="34" charset="-120"/>
              </a:rPr>
              <a:t>Ethics of rights</a:t>
            </a:r>
            <a:endParaRPr lang="en-US" sz="1400" dirty="0"/>
          </a:p>
        </p:txBody>
      </p:sp>
      <p:sp>
        <p:nvSpPr>
          <p:cNvPr id="30" name="Shape 28"/>
          <p:cNvSpPr/>
          <p:nvPr/>
        </p:nvSpPr>
        <p:spPr>
          <a:xfrm>
            <a:off x="1188720" y="4864608"/>
            <a:ext cx="1572768" cy="274320"/>
          </a:xfrm>
          <a:prstGeom prst="roundRect">
            <a:avLst>
              <a:gd name="adj" fmla="val 50000"/>
            </a:avLst>
          </a:prstGeom>
          <a:solidFill>
            <a:srgbClr val="9A7420"/>
          </a:solidFill>
          <a:ln w="12700">
            <a:solidFill>
              <a:srgbClr val="9A7420"/>
            </a:solidFill>
            <a:prstDash val="solid"/>
          </a:ln>
        </p:spPr>
      </p:sp>
      <p:sp>
        <p:nvSpPr>
          <p:cNvPr id="31" name="Text 29"/>
          <p:cNvSpPr txBox="1"/>
          <p:nvPr/>
        </p:nvSpPr>
        <p:spPr>
          <a:xfrm>
            <a:off x="1188720" y="4864608"/>
            <a:ext cx="1572768" cy="274320"/>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Calibri" pitchFamily="34" charset="0"/>
                <a:ea typeface="Calibri" pitchFamily="34" charset="-122"/>
                <a:cs typeface="Calibri" pitchFamily="34" charset="-120"/>
              </a:rPr>
              <a:t>BERSYARAT</a:t>
            </a:r>
            <a:endParaRPr lang="en-US" sz="900" dirty="0"/>
          </a:p>
        </p:txBody>
      </p:sp>
      <p:sp>
        <p:nvSpPr>
          <p:cNvPr id="32" name="Text 30"/>
          <p:cNvSpPr txBox="1"/>
          <p:nvPr/>
        </p:nvSpPr>
        <p:spPr>
          <a:xfrm>
            <a:off x="3182112" y="4553712"/>
            <a:ext cx="8131759" cy="621792"/>
          </a:xfrm>
          <a:prstGeom prst="rect">
            <a:avLst/>
          </a:prstGeom>
          <a:noFill/>
          <a:ln/>
        </p:spPr>
        <p:txBody>
          <a:bodyPr wrap="square" lIns="0" tIns="0" rIns="0" bIns="0" rtlCol="0" anchor="ctr"/>
          <a:lstStyle/>
          <a:p>
            <a:pPr indent="0" marL="0">
              <a:lnSpc>
                <a:spcPct val="110000"/>
              </a:lnSpc>
              <a:buNone/>
            </a:pPr>
            <a:r>
              <a:rPr lang="en-US" sz="1100" dirty="0">
                <a:solidFill>
                  <a:srgbClr val="2C3540"/>
                </a:solidFill>
                <a:latin typeface="Calibri" pitchFamily="34" charset="0"/>
                <a:ea typeface="Calibri" pitchFamily="34" charset="-122"/>
                <a:cs typeface="Calibri" pitchFamily="34" charset="-120"/>
              </a:rPr>
              <a:t>Hak atas pekerjaan terpenuhi bagi 166 ribu pekerja, dan sampai titik itu kebijakan ini dapat dipertahankan. Namun hak atas kondisi kerja yang adil, kesehatan, air bersih, dan tanah leluhur terlanggar bersamaan. UNGP menuntut penghormatan pada seluruh relasi bisnis, termasuk pemasok.</a:t>
            </a:r>
            <a:endParaRPr lang="en-US" sz="1100" dirty="0"/>
          </a:p>
        </p:txBody>
      </p:sp>
      <p:sp>
        <p:nvSpPr>
          <p:cNvPr id="33" name="Shape 31"/>
          <p:cNvSpPr/>
          <p:nvPr/>
        </p:nvSpPr>
        <p:spPr>
          <a:xfrm>
            <a:off x="566928" y="5358384"/>
            <a:ext cx="11057839" cy="804672"/>
          </a:xfrm>
          <a:prstGeom prst="roundRect">
            <a:avLst>
              <a:gd name="adj" fmla="val 10227"/>
            </a:avLst>
          </a:prstGeom>
          <a:solidFill>
            <a:srgbClr val="F1F3F5"/>
          </a:solidFill>
          <a:ln w="12700">
            <a:solidFill>
              <a:srgbClr val="F1F3F5"/>
            </a:solidFill>
            <a:prstDash val="solid"/>
          </a:ln>
        </p:spPr>
      </p:sp>
      <p:sp>
        <p:nvSpPr>
          <p:cNvPr id="34" name="Shape 32"/>
          <p:cNvSpPr/>
          <p:nvPr/>
        </p:nvSpPr>
        <p:spPr>
          <a:xfrm>
            <a:off x="822960" y="5532120"/>
            <a:ext cx="274320" cy="274320"/>
          </a:xfrm>
          <a:prstGeom prst="roundRect">
            <a:avLst>
              <a:gd name="adj" fmla="val 23333"/>
            </a:avLst>
          </a:prstGeom>
          <a:solidFill>
            <a:srgbClr val="B8542A"/>
          </a:solidFill>
          <a:ln w="12700">
            <a:solidFill>
              <a:srgbClr val="B8542A"/>
            </a:solidFill>
            <a:prstDash val="solid"/>
          </a:ln>
        </p:spPr>
      </p:sp>
      <p:sp>
        <p:nvSpPr>
          <p:cNvPr id="35" name="Text 33"/>
          <p:cNvSpPr txBox="1"/>
          <p:nvPr/>
        </p:nvSpPr>
        <p:spPr>
          <a:xfrm>
            <a:off x="822960" y="553212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36" name="Text 34"/>
          <p:cNvSpPr txBox="1"/>
          <p:nvPr/>
        </p:nvSpPr>
        <p:spPr>
          <a:xfrm>
            <a:off x="1188720" y="5468112"/>
            <a:ext cx="1828800" cy="256032"/>
          </a:xfrm>
          <a:prstGeom prst="rect">
            <a:avLst/>
          </a:prstGeom>
          <a:noFill/>
          <a:ln/>
        </p:spPr>
        <p:txBody>
          <a:bodyPr wrap="square" lIns="0" tIns="0" rIns="0" bIns="0" rtlCol="0" anchor="ctr"/>
          <a:lstStyle/>
          <a:p>
            <a:pPr indent="0" marL="0">
              <a:buNone/>
            </a:pPr>
            <a:r>
              <a:rPr lang="en-US" sz="1400" b="1" dirty="0">
                <a:solidFill>
                  <a:srgbClr val="16202A"/>
                </a:solidFill>
                <a:latin typeface="Cambria" pitchFamily="34" charset="0"/>
                <a:ea typeface="Cambria" pitchFamily="34" charset="-122"/>
                <a:cs typeface="Cambria" pitchFamily="34" charset="-120"/>
              </a:rPr>
              <a:t>Justice</a:t>
            </a:r>
            <a:endParaRPr lang="en-US" sz="1400" dirty="0"/>
          </a:p>
        </p:txBody>
      </p:sp>
      <p:sp>
        <p:nvSpPr>
          <p:cNvPr id="37" name="Shape 35"/>
          <p:cNvSpPr/>
          <p:nvPr/>
        </p:nvSpPr>
        <p:spPr>
          <a:xfrm>
            <a:off x="1188720" y="5760720"/>
            <a:ext cx="1572768" cy="274320"/>
          </a:xfrm>
          <a:prstGeom prst="roundRect">
            <a:avLst>
              <a:gd name="adj" fmla="val 50000"/>
            </a:avLst>
          </a:prstGeom>
          <a:solidFill>
            <a:srgbClr val="B8542A"/>
          </a:solidFill>
          <a:ln w="12700">
            <a:solidFill>
              <a:srgbClr val="B8542A"/>
            </a:solidFill>
            <a:prstDash val="solid"/>
          </a:ln>
        </p:spPr>
      </p:sp>
      <p:sp>
        <p:nvSpPr>
          <p:cNvPr id="38" name="Text 36"/>
          <p:cNvSpPr txBox="1"/>
          <p:nvPr/>
        </p:nvSpPr>
        <p:spPr>
          <a:xfrm>
            <a:off x="1188720" y="5760720"/>
            <a:ext cx="1572768" cy="274320"/>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Calibri" pitchFamily="34" charset="0"/>
                <a:ea typeface="Calibri" pitchFamily="34" charset="-122"/>
                <a:cs typeface="Calibri" pitchFamily="34" charset="-120"/>
              </a:rPr>
              <a:t>MENOLAK</a:t>
            </a:r>
            <a:endParaRPr lang="en-US" sz="900" dirty="0"/>
          </a:p>
        </p:txBody>
      </p:sp>
      <p:sp>
        <p:nvSpPr>
          <p:cNvPr id="39" name="Text 37"/>
          <p:cNvSpPr txBox="1"/>
          <p:nvPr/>
        </p:nvSpPr>
        <p:spPr>
          <a:xfrm>
            <a:off x="3182112" y="5449824"/>
            <a:ext cx="8131759" cy="621792"/>
          </a:xfrm>
          <a:prstGeom prst="rect">
            <a:avLst/>
          </a:prstGeom>
          <a:noFill/>
          <a:ln/>
        </p:spPr>
        <p:txBody>
          <a:bodyPr wrap="square" lIns="0" tIns="0" rIns="0" bIns="0" rtlCol="0" anchor="ctr"/>
          <a:lstStyle/>
          <a:p>
            <a:pPr indent="0" marL="0">
              <a:lnSpc>
                <a:spcPct val="110000"/>
              </a:lnSpc>
              <a:buNone/>
            </a:pPr>
            <a:r>
              <a:rPr lang="en-US" sz="1100" dirty="0">
                <a:solidFill>
                  <a:srgbClr val="2C3540"/>
                </a:solidFill>
                <a:latin typeface="Calibri" pitchFamily="34" charset="0"/>
                <a:ea typeface="Calibri" pitchFamily="34" charset="-122"/>
                <a:cs typeface="Calibri" pitchFamily="34" charset="-120"/>
              </a:rPr>
              <a:t>Manfaat mengalir ke penerimaan nasional dan pemodal, sedangkan beban terkonsentrasi pada pekerja kawasan, warga hilir sungai, dan masyarakat adat. Kabupaten penghasil justru lebih miskin daripada rata-rata provinsinya dan hanya 4,35 persen nilai tambah tinggal di daerah.</a:t>
            </a:r>
            <a:endParaRPr lang="en-US" sz="1100" dirty="0"/>
          </a:p>
        </p:txBody>
      </p:sp>
      <p:sp>
        <p:nvSpPr>
          <p:cNvPr id="40" name="Text 38"/>
          <p:cNvSpPr txBox="1"/>
          <p:nvPr/>
        </p:nvSpPr>
        <p:spPr>
          <a:xfrm>
            <a:off x="566928" y="6419088"/>
            <a:ext cx="10143439" cy="237744"/>
          </a:xfrm>
          <a:prstGeom prst="rect">
            <a:avLst/>
          </a:prstGeom>
          <a:noFill/>
          <a:ln/>
        </p:spPr>
        <p:txBody>
          <a:bodyPr wrap="square" lIns="0" tIns="0" rIns="0" bIns="0" rtlCol="0" anchor="ctr"/>
          <a:lstStyle/>
          <a:p>
            <a:pPr indent="0" marL="0">
              <a:buNone/>
            </a:pPr>
            <a:r>
              <a:rPr lang="en-US" sz="900" i="1" dirty="0">
                <a:solidFill>
                  <a:srgbClr val="6B7684"/>
                </a:solidFill>
                <a:latin typeface="Calibri" pitchFamily="34" charset="0"/>
                <a:ea typeface="Calibri" pitchFamily="34" charset="-122"/>
                <a:cs typeface="Calibri" pitchFamily="34" charset="-120"/>
              </a:rPr>
              <a:t>Dua teori dalam klasifikasi yang sama menghasilkan kesimpulan berbeda, dan pembedanya terletak pada unit analisis: tindakan tunggal atau kelas tindakan.</a:t>
            </a:r>
            <a:endParaRPr lang="en-US" sz="900" dirty="0"/>
          </a:p>
        </p:txBody>
      </p:sp>
      <p:sp>
        <p:nvSpPr>
          <p:cNvPr id="41" name="Text 39"/>
          <p:cNvSpPr txBox="1"/>
          <p:nvPr/>
        </p:nvSpPr>
        <p:spPr>
          <a:xfrm>
            <a:off x="10893247" y="6419088"/>
            <a:ext cx="731520" cy="237744"/>
          </a:xfrm>
          <a:prstGeom prst="rect">
            <a:avLst/>
          </a:prstGeom>
          <a:noFill/>
          <a:ln/>
        </p:spPr>
        <p:txBody>
          <a:bodyPr wrap="square" lIns="0" tIns="0" rIns="0" bIns="0" rtlCol="0" anchor="ctr"/>
          <a:lstStyle/>
          <a:p>
            <a:pPr algn="r" indent="0" marL="0">
              <a:buNone/>
            </a:pPr>
            <a:r>
              <a:rPr lang="en-US" sz="1100" b="1" dirty="0">
                <a:solidFill>
                  <a:srgbClr val="6B7684"/>
                </a:solidFill>
                <a:latin typeface="Cambria" pitchFamily="34" charset="0"/>
                <a:ea typeface="Cambria" pitchFamily="34" charset="-122"/>
                <a:cs typeface="Cambria"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B8542A"/>
                </a:solidFill>
                <a:latin typeface="Calibri" pitchFamily="34" charset="0"/>
                <a:ea typeface="Calibri" pitchFamily="34" charset="-122"/>
                <a:cs typeface="Calibri" pitchFamily="34" charset="-120"/>
              </a:rPr>
              <a:t>10   PENERAPAN</a:t>
            </a:r>
            <a:endParaRPr lang="en-US" sz="1000" dirty="0"/>
          </a:p>
        </p:txBody>
      </p:sp>
      <p:sp>
        <p:nvSpPr>
          <p:cNvPr id="3" name="Text 1"/>
          <p:cNvSpPr txBox="1"/>
          <p:nvPr/>
        </p:nvSpPr>
        <p:spPr>
          <a:xfrm>
            <a:off x="566928" y="585216"/>
            <a:ext cx="11057839" cy="548640"/>
          </a:xfrm>
          <a:prstGeom prst="rect">
            <a:avLst/>
          </a:prstGeom>
          <a:noFill/>
          <a:ln/>
        </p:spPr>
        <p:txBody>
          <a:bodyPr wrap="square" lIns="0" tIns="0" rIns="0" bIns="0" rtlCol="0" anchor="ctr"/>
          <a:lstStyle/>
          <a:p>
            <a:pPr indent="0" marL="0">
              <a:buNone/>
            </a:pPr>
            <a:r>
              <a:rPr lang="en-US" sz="2800" b="1" dirty="0">
                <a:solidFill>
                  <a:srgbClr val="16202A"/>
                </a:solidFill>
                <a:latin typeface="Cambria" pitchFamily="34" charset="0"/>
                <a:ea typeface="Cambria" pitchFamily="34" charset="-122"/>
                <a:cs typeface="Cambria" pitchFamily="34" charset="-120"/>
              </a:rPr>
              <a:t>Penilaian berdasarkan empat teori alternatif</a:t>
            </a:r>
            <a:endParaRPr lang="en-US" sz="2800" dirty="0"/>
          </a:p>
        </p:txBody>
      </p:sp>
      <p:sp>
        <p:nvSpPr>
          <p:cNvPr id="4" name="Text 2"/>
          <p:cNvSpPr txBox="1"/>
          <p:nvPr/>
        </p:nvSpPr>
        <p:spPr>
          <a:xfrm>
            <a:off x="566928" y="1170432"/>
            <a:ext cx="11057839" cy="310896"/>
          </a:xfrm>
          <a:prstGeom prst="rect">
            <a:avLst/>
          </a:prstGeom>
          <a:noFill/>
          <a:ln/>
        </p:spPr>
        <p:txBody>
          <a:bodyPr wrap="square" lIns="0" tIns="0" rIns="0" bIns="0" rtlCol="0" anchor="t"/>
          <a:lstStyle/>
          <a:p>
            <a:pPr indent="0" marL="0">
              <a:lnSpc>
                <a:spcPct val="110000"/>
              </a:lnSpc>
              <a:buNone/>
            </a:pPr>
            <a:r>
              <a:rPr lang="en-US" sz="1250" dirty="0">
                <a:solidFill>
                  <a:srgbClr val="6B7684"/>
                </a:solidFill>
                <a:latin typeface="Calibri" pitchFamily="34" charset="0"/>
                <a:ea typeface="Calibri" pitchFamily="34" charset="-122"/>
                <a:cs typeface="Calibri" pitchFamily="34" charset="-120"/>
              </a:rPr>
              <a:t>Penilaian bergeser ke karakter pelaku, relasi, prosedur, dan bahasa, tanpa mengubah rangkaian faktanya.</a:t>
            </a:r>
            <a:endParaRPr lang="en-US" sz="1250" dirty="0"/>
          </a:p>
        </p:txBody>
      </p:sp>
      <p:sp>
        <p:nvSpPr>
          <p:cNvPr id="5" name="Shape 3"/>
          <p:cNvSpPr/>
          <p:nvPr/>
        </p:nvSpPr>
        <p:spPr>
          <a:xfrm>
            <a:off x="566928" y="1792224"/>
            <a:ext cx="5323180" cy="2103120"/>
          </a:xfrm>
          <a:prstGeom prst="roundRect">
            <a:avLst>
              <a:gd name="adj" fmla="val 3913"/>
            </a:avLst>
          </a:prstGeom>
          <a:solidFill>
            <a:srgbClr val="F1F3F5"/>
          </a:solidFill>
          <a:ln w="12700">
            <a:solidFill>
              <a:srgbClr val="F1F3F5"/>
            </a:solidFill>
            <a:prstDash val="solid"/>
          </a:ln>
        </p:spPr>
      </p:sp>
      <p:sp>
        <p:nvSpPr>
          <p:cNvPr id="6" name="Shape 4"/>
          <p:cNvSpPr/>
          <p:nvPr/>
        </p:nvSpPr>
        <p:spPr>
          <a:xfrm>
            <a:off x="841248" y="1993392"/>
            <a:ext cx="310896" cy="310896"/>
          </a:xfrm>
          <a:prstGeom prst="roundRect">
            <a:avLst>
              <a:gd name="adj" fmla="val 20588"/>
            </a:avLst>
          </a:prstGeom>
          <a:solidFill>
            <a:srgbClr val="2E6F63"/>
          </a:solidFill>
          <a:ln w="12700">
            <a:solidFill>
              <a:srgbClr val="2E6F63"/>
            </a:solidFill>
            <a:prstDash val="solid"/>
          </a:ln>
        </p:spPr>
      </p:sp>
      <p:sp>
        <p:nvSpPr>
          <p:cNvPr id="7" name="Text 5"/>
          <p:cNvSpPr txBox="1"/>
          <p:nvPr/>
        </p:nvSpPr>
        <p:spPr>
          <a:xfrm>
            <a:off x="841248" y="19933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8" name="Text 6"/>
          <p:cNvSpPr txBox="1"/>
          <p:nvPr/>
        </p:nvSpPr>
        <p:spPr>
          <a:xfrm>
            <a:off x="1243584" y="1975104"/>
            <a:ext cx="2651760" cy="310896"/>
          </a:xfrm>
          <a:prstGeom prst="rect">
            <a:avLst/>
          </a:prstGeom>
          <a:noFill/>
          <a:ln/>
        </p:spPr>
        <p:txBody>
          <a:bodyPr wrap="square" lIns="0" tIns="0" rIns="0" bIns="0" rtlCol="0" anchor="ctr"/>
          <a:lstStyle/>
          <a:p>
            <a:pPr indent="0" marL="0">
              <a:buNone/>
            </a:pPr>
            <a:r>
              <a:rPr lang="en-US" sz="1550" b="1" dirty="0">
                <a:solidFill>
                  <a:srgbClr val="16202A"/>
                </a:solidFill>
                <a:latin typeface="Cambria" pitchFamily="34" charset="0"/>
                <a:ea typeface="Cambria" pitchFamily="34" charset="-122"/>
                <a:cs typeface="Cambria" pitchFamily="34" charset="-120"/>
              </a:rPr>
              <a:t>Virtue ethics</a:t>
            </a:r>
            <a:endParaRPr lang="en-US" sz="1550" dirty="0"/>
          </a:p>
        </p:txBody>
      </p:sp>
      <p:sp>
        <p:nvSpPr>
          <p:cNvPr id="9" name="Shape 7"/>
          <p:cNvSpPr/>
          <p:nvPr/>
        </p:nvSpPr>
        <p:spPr>
          <a:xfrm>
            <a:off x="3915004" y="2011680"/>
            <a:ext cx="1700784" cy="274320"/>
          </a:xfrm>
          <a:prstGeom prst="roundRect">
            <a:avLst>
              <a:gd name="adj" fmla="val 50000"/>
            </a:avLst>
          </a:prstGeom>
          <a:solidFill>
            <a:srgbClr val="B8542A"/>
          </a:solidFill>
          <a:ln w="12700">
            <a:solidFill>
              <a:srgbClr val="B8542A"/>
            </a:solidFill>
            <a:prstDash val="solid"/>
          </a:ln>
        </p:spPr>
      </p:sp>
      <p:sp>
        <p:nvSpPr>
          <p:cNvPr id="10" name="Text 8"/>
          <p:cNvSpPr txBox="1"/>
          <p:nvPr/>
        </p:nvSpPr>
        <p:spPr>
          <a:xfrm>
            <a:off x="3915004" y="2011680"/>
            <a:ext cx="1700784" cy="274320"/>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Calibri" pitchFamily="34" charset="0"/>
                <a:ea typeface="Calibri" pitchFamily="34" charset="-122"/>
                <a:cs typeface="Calibri" pitchFamily="34" charset="-120"/>
              </a:rPr>
              <a:t>MENOLAK PEMBANDING</a:t>
            </a:r>
            <a:endParaRPr lang="en-US" sz="900" dirty="0"/>
          </a:p>
        </p:txBody>
      </p:sp>
      <p:sp>
        <p:nvSpPr>
          <p:cNvPr id="11" name="Text 9"/>
          <p:cNvSpPr txBox="1"/>
          <p:nvPr/>
        </p:nvSpPr>
        <p:spPr>
          <a:xfrm>
            <a:off x="841248" y="2377440"/>
            <a:ext cx="4774540" cy="292608"/>
          </a:xfrm>
          <a:prstGeom prst="rect">
            <a:avLst/>
          </a:prstGeom>
          <a:noFill/>
          <a:ln/>
        </p:spPr>
        <p:txBody>
          <a:bodyPr wrap="square" lIns="0" tIns="0" rIns="0" bIns="0" rtlCol="0" anchor="ctr"/>
          <a:lstStyle/>
          <a:p>
            <a:pPr indent="0" marL="0">
              <a:buNone/>
            </a:pPr>
            <a:r>
              <a:rPr lang="en-US" sz="1200" i="1" dirty="0">
                <a:solidFill>
                  <a:srgbClr val="2E6F63"/>
                </a:solidFill>
                <a:latin typeface="Cambria" pitchFamily="34" charset="0"/>
                <a:ea typeface="Cambria" pitchFamily="34" charset="-122"/>
                <a:cs typeface="Cambria" pitchFamily="34" charset="-120"/>
              </a:rPr>
              <a:t>Standar pembanding mana yang seharusnya dipakai?</a:t>
            </a:r>
            <a:endParaRPr lang="en-US" sz="1200" dirty="0"/>
          </a:p>
        </p:txBody>
      </p:sp>
      <p:sp>
        <p:nvSpPr>
          <p:cNvPr id="12" name="Text 10"/>
          <p:cNvSpPr txBox="1"/>
          <p:nvPr/>
        </p:nvSpPr>
        <p:spPr>
          <a:xfrm>
            <a:off x="841248" y="2724912"/>
            <a:ext cx="4774540" cy="1024128"/>
          </a:xfrm>
          <a:prstGeom prst="rect">
            <a:avLst/>
          </a:prstGeom>
          <a:noFill/>
          <a:ln/>
        </p:spPr>
        <p:txBody>
          <a:bodyPr wrap="square" lIns="0" tIns="0" rIns="0" bIns="0" rtlCol="0" anchor="t"/>
          <a:lstStyle/>
          <a:p>
            <a:pPr indent="0" marL="0">
              <a:lnSpc>
                <a:spcPct val="114000"/>
              </a:lnSpc>
              <a:buNone/>
            </a:pPr>
            <a:r>
              <a:rPr lang="en-US" sz="1150" dirty="0">
                <a:solidFill>
                  <a:srgbClr val="2C3540"/>
                </a:solidFill>
                <a:latin typeface="Calibri" pitchFamily="34" charset="0"/>
                <a:ea typeface="Calibri" pitchFamily="34" charset="-122"/>
                <a:cs typeface="Calibri" pitchFamily="34" charset="-120"/>
              </a:rPr>
              <a:t>Pembandingnya selama ini adalah keadaan sebelum hilirisasi, bukan standar industri terbaik yang tersedia hari ini. Aktor berkarakter baik mengukur diri pada standar tertinggi yang dapat dicapai, bukan pada titik berangkatnya sendiri.</a:t>
            </a:r>
            <a:endParaRPr lang="en-US" sz="1150" dirty="0"/>
          </a:p>
        </p:txBody>
      </p:sp>
      <p:sp>
        <p:nvSpPr>
          <p:cNvPr id="13" name="Shape 11"/>
          <p:cNvSpPr/>
          <p:nvPr/>
        </p:nvSpPr>
        <p:spPr>
          <a:xfrm>
            <a:off x="6301588" y="1792224"/>
            <a:ext cx="5323180" cy="2103120"/>
          </a:xfrm>
          <a:prstGeom prst="roundRect">
            <a:avLst>
              <a:gd name="adj" fmla="val 3913"/>
            </a:avLst>
          </a:prstGeom>
          <a:solidFill>
            <a:srgbClr val="F1F3F5"/>
          </a:solidFill>
          <a:ln w="12700">
            <a:solidFill>
              <a:srgbClr val="F1F3F5"/>
            </a:solidFill>
            <a:prstDash val="solid"/>
          </a:ln>
        </p:spPr>
      </p:sp>
      <p:sp>
        <p:nvSpPr>
          <p:cNvPr id="14" name="Shape 12"/>
          <p:cNvSpPr/>
          <p:nvPr/>
        </p:nvSpPr>
        <p:spPr>
          <a:xfrm>
            <a:off x="6575908" y="1993392"/>
            <a:ext cx="310896" cy="310896"/>
          </a:xfrm>
          <a:prstGeom prst="roundRect">
            <a:avLst>
              <a:gd name="adj" fmla="val 20588"/>
            </a:avLst>
          </a:prstGeom>
          <a:solidFill>
            <a:srgbClr val="2E6F63"/>
          </a:solidFill>
          <a:ln w="12700">
            <a:solidFill>
              <a:srgbClr val="2E6F63"/>
            </a:solidFill>
            <a:prstDash val="solid"/>
          </a:ln>
        </p:spPr>
      </p:sp>
      <p:sp>
        <p:nvSpPr>
          <p:cNvPr id="15" name="Text 13"/>
          <p:cNvSpPr txBox="1"/>
          <p:nvPr/>
        </p:nvSpPr>
        <p:spPr>
          <a:xfrm>
            <a:off x="6575908" y="19933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7</a:t>
            </a:r>
            <a:endParaRPr lang="en-US" sz="1300" dirty="0"/>
          </a:p>
        </p:txBody>
      </p:sp>
      <p:sp>
        <p:nvSpPr>
          <p:cNvPr id="16" name="Text 14"/>
          <p:cNvSpPr txBox="1"/>
          <p:nvPr/>
        </p:nvSpPr>
        <p:spPr>
          <a:xfrm>
            <a:off x="6978244" y="1975104"/>
            <a:ext cx="2651760" cy="310896"/>
          </a:xfrm>
          <a:prstGeom prst="rect">
            <a:avLst/>
          </a:prstGeom>
          <a:noFill/>
          <a:ln/>
        </p:spPr>
        <p:txBody>
          <a:bodyPr wrap="square" lIns="0" tIns="0" rIns="0" bIns="0" rtlCol="0" anchor="ctr"/>
          <a:lstStyle/>
          <a:p>
            <a:pPr indent="0" marL="0">
              <a:buNone/>
            </a:pPr>
            <a:r>
              <a:rPr lang="en-US" sz="1550" b="1" dirty="0">
                <a:solidFill>
                  <a:srgbClr val="16202A"/>
                </a:solidFill>
                <a:latin typeface="Cambria" pitchFamily="34" charset="0"/>
                <a:ea typeface="Cambria" pitchFamily="34" charset="-122"/>
                <a:cs typeface="Cambria" pitchFamily="34" charset="-120"/>
              </a:rPr>
              <a:t>Ethic of care</a:t>
            </a:r>
            <a:endParaRPr lang="en-US" sz="1550" dirty="0"/>
          </a:p>
        </p:txBody>
      </p:sp>
      <p:sp>
        <p:nvSpPr>
          <p:cNvPr id="17" name="Shape 15"/>
          <p:cNvSpPr/>
          <p:nvPr/>
        </p:nvSpPr>
        <p:spPr>
          <a:xfrm>
            <a:off x="9649663" y="2011680"/>
            <a:ext cx="1700784" cy="274320"/>
          </a:xfrm>
          <a:prstGeom prst="roundRect">
            <a:avLst>
              <a:gd name="adj" fmla="val 50000"/>
            </a:avLst>
          </a:prstGeom>
          <a:solidFill>
            <a:srgbClr val="9A7420"/>
          </a:solidFill>
          <a:ln w="12700">
            <a:solidFill>
              <a:srgbClr val="9A7420"/>
            </a:solidFill>
            <a:prstDash val="solid"/>
          </a:ln>
        </p:spPr>
      </p:sp>
      <p:sp>
        <p:nvSpPr>
          <p:cNvPr id="18" name="Text 16"/>
          <p:cNvSpPr txBox="1"/>
          <p:nvPr/>
        </p:nvSpPr>
        <p:spPr>
          <a:xfrm>
            <a:off x="9649663" y="2011680"/>
            <a:ext cx="1700784" cy="274320"/>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Calibri" pitchFamily="34" charset="0"/>
                <a:ea typeface="Calibri" pitchFamily="34" charset="-122"/>
                <a:cs typeface="Calibri" pitchFamily="34" charset="-120"/>
              </a:rPr>
              <a:t>MENUNTUT PEMULIHAN</a:t>
            </a:r>
            <a:endParaRPr lang="en-US" sz="900" dirty="0"/>
          </a:p>
        </p:txBody>
      </p:sp>
      <p:sp>
        <p:nvSpPr>
          <p:cNvPr id="19" name="Text 17"/>
          <p:cNvSpPr txBox="1"/>
          <p:nvPr/>
        </p:nvSpPr>
        <p:spPr>
          <a:xfrm>
            <a:off x="6575908" y="2377440"/>
            <a:ext cx="4774540" cy="292608"/>
          </a:xfrm>
          <a:prstGeom prst="rect">
            <a:avLst/>
          </a:prstGeom>
          <a:noFill/>
          <a:ln/>
        </p:spPr>
        <p:txBody>
          <a:bodyPr wrap="square" lIns="0" tIns="0" rIns="0" bIns="0" rtlCol="0" anchor="ctr"/>
          <a:lstStyle/>
          <a:p>
            <a:pPr indent="0" marL="0">
              <a:buNone/>
            </a:pPr>
            <a:r>
              <a:rPr lang="en-US" sz="1200" i="1" dirty="0">
                <a:solidFill>
                  <a:srgbClr val="2E6F63"/>
                </a:solidFill>
                <a:latin typeface="Cambria" pitchFamily="34" charset="0"/>
                <a:ea typeface="Cambria" pitchFamily="34" charset="-122"/>
                <a:cs typeface="Cambria" pitchFamily="34" charset="-120"/>
              </a:rPr>
              <a:t>Sejauh mana relasi dengan pihak terdampak dipelihara?</a:t>
            </a:r>
            <a:endParaRPr lang="en-US" sz="1200" dirty="0"/>
          </a:p>
        </p:txBody>
      </p:sp>
      <p:sp>
        <p:nvSpPr>
          <p:cNvPr id="20" name="Text 18"/>
          <p:cNvSpPr txBox="1"/>
          <p:nvPr/>
        </p:nvSpPr>
        <p:spPr>
          <a:xfrm>
            <a:off x="6575908" y="2724912"/>
            <a:ext cx="4774540" cy="1024128"/>
          </a:xfrm>
          <a:prstGeom prst="rect">
            <a:avLst/>
          </a:prstGeom>
          <a:noFill/>
          <a:ln/>
        </p:spPr>
        <p:txBody>
          <a:bodyPr wrap="square" lIns="0" tIns="0" rIns="0" bIns="0" rtlCol="0" anchor="t"/>
          <a:lstStyle/>
          <a:p>
            <a:pPr indent="0" marL="0">
              <a:lnSpc>
                <a:spcPct val="114000"/>
              </a:lnSpc>
              <a:buNone/>
            </a:pPr>
            <a:r>
              <a:rPr lang="en-US" sz="1150" dirty="0">
                <a:solidFill>
                  <a:srgbClr val="2C3540"/>
                </a:solidFill>
                <a:latin typeface="Calibri" pitchFamily="34" charset="0"/>
                <a:ea typeface="Calibri" pitchFamily="34" charset="-122"/>
                <a:cs typeface="Calibri" pitchFamily="34" charset="-120"/>
              </a:rPr>
              <a:t>Warga hilir sungai dan sekitar 300 sampai 500 jiwa O Hongana Manyawa adalah pihak yang berelasi, bukan variabel biaya dalam neraca. Yang dituntut pemulihan sungai dan wilayah lindung, bukan penghentian mendadak yang mencabut penghidupan pekerja.</a:t>
            </a:r>
            <a:endParaRPr lang="en-US" sz="1150" dirty="0"/>
          </a:p>
        </p:txBody>
      </p:sp>
      <p:sp>
        <p:nvSpPr>
          <p:cNvPr id="21" name="Shape 19"/>
          <p:cNvSpPr/>
          <p:nvPr/>
        </p:nvSpPr>
        <p:spPr>
          <a:xfrm>
            <a:off x="566928" y="4059936"/>
            <a:ext cx="5323180" cy="2103120"/>
          </a:xfrm>
          <a:prstGeom prst="roundRect">
            <a:avLst>
              <a:gd name="adj" fmla="val 3913"/>
            </a:avLst>
          </a:prstGeom>
          <a:solidFill>
            <a:srgbClr val="E6EAEE"/>
          </a:solidFill>
          <a:ln w="12700">
            <a:solidFill>
              <a:srgbClr val="E6EAEE"/>
            </a:solidFill>
            <a:prstDash val="solid"/>
          </a:ln>
        </p:spPr>
      </p:sp>
      <p:sp>
        <p:nvSpPr>
          <p:cNvPr id="22" name="Shape 20"/>
          <p:cNvSpPr/>
          <p:nvPr/>
        </p:nvSpPr>
        <p:spPr>
          <a:xfrm>
            <a:off x="841248" y="4261104"/>
            <a:ext cx="310896" cy="310896"/>
          </a:xfrm>
          <a:prstGeom prst="roundRect">
            <a:avLst>
              <a:gd name="adj" fmla="val 20588"/>
            </a:avLst>
          </a:prstGeom>
          <a:solidFill>
            <a:srgbClr val="2E6F63"/>
          </a:solidFill>
          <a:ln w="12700">
            <a:solidFill>
              <a:srgbClr val="2E6F63"/>
            </a:solidFill>
            <a:prstDash val="solid"/>
          </a:ln>
        </p:spPr>
      </p:sp>
      <p:sp>
        <p:nvSpPr>
          <p:cNvPr id="23" name="Text 21"/>
          <p:cNvSpPr txBox="1"/>
          <p:nvPr/>
        </p:nvSpPr>
        <p:spPr>
          <a:xfrm>
            <a:off x="841248" y="426110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8</a:t>
            </a:r>
            <a:endParaRPr lang="en-US" sz="1300" dirty="0"/>
          </a:p>
        </p:txBody>
      </p:sp>
      <p:sp>
        <p:nvSpPr>
          <p:cNvPr id="24" name="Text 22"/>
          <p:cNvSpPr txBox="1"/>
          <p:nvPr/>
        </p:nvSpPr>
        <p:spPr>
          <a:xfrm>
            <a:off x="1243584" y="4242816"/>
            <a:ext cx="2651760" cy="310896"/>
          </a:xfrm>
          <a:prstGeom prst="rect">
            <a:avLst/>
          </a:prstGeom>
          <a:noFill/>
          <a:ln/>
        </p:spPr>
        <p:txBody>
          <a:bodyPr wrap="square" lIns="0" tIns="0" rIns="0" bIns="0" rtlCol="0" anchor="ctr"/>
          <a:lstStyle/>
          <a:p>
            <a:pPr indent="0" marL="0">
              <a:buNone/>
            </a:pPr>
            <a:r>
              <a:rPr lang="en-US" sz="1550" b="1" dirty="0">
                <a:solidFill>
                  <a:srgbClr val="16202A"/>
                </a:solidFill>
                <a:latin typeface="Cambria" pitchFamily="34" charset="0"/>
                <a:ea typeface="Cambria" pitchFamily="34" charset="-122"/>
                <a:cs typeface="Cambria" pitchFamily="34" charset="-120"/>
              </a:rPr>
              <a:t>Discourse ethics</a:t>
            </a:r>
            <a:endParaRPr lang="en-US" sz="1550" dirty="0"/>
          </a:p>
        </p:txBody>
      </p:sp>
      <p:sp>
        <p:nvSpPr>
          <p:cNvPr id="25" name="Shape 23"/>
          <p:cNvSpPr/>
          <p:nvPr/>
        </p:nvSpPr>
        <p:spPr>
          <a:xfrm>
            <a:off x="3915004" y="4279392"/>
            <a:ext cx="1700784" cy="274320"/>
          </a:xfrm>
          <a:prstGeom prst="roundRect">
            <a:avLst>
              <a:gd name="adj" fmla="val 50000"/>
            </a:avLst>
          </a:prstGeom>
          <a:solidFill>
            <a:srgbClr val="B8542A"/>
          </a:solidFill>
          <a:ln w="12700">
            <a:solidFill>
              <a:srgbClr val="B8542A"/>
            </a:solidFill>
            <a:prstDash val="solid"/>
          </a:ln>
        </p:spPr>
      </p:sp>
      <p:sp>
        <p:nvSpPr>
          <p:cNvPr id="26" name="Text 24"/>
          <p:cNvSpPr txBox="1"/>
          <p:nvPr/>
        </p:nvSpPr>
        <p:spPr>
          <a:xfrm>
            <a:off x="3915004" y="4279392"/>
            <a:ext cx="1700784" cy="274320"/>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Calibri" pitchFamily="34" charset="0"/>
                <a:ea typeface="Calibri" pitchFamily="34" charset="-122"/>
                <a:cs typeface="Calibri" pitchFamily="34" charset="-120"/>
              </a:rPr>
              <a:t>MENOLAK PROSEDUR</a:t>
            </a:r>
            <a:endParaRPr lang="en-US" sz="900" dirty="0"/>
          </a:p>
        </p:txBody>
      </p:sp>
      <p:sp>
        <p:nvSpPr>
          <p:cNvPr id="27" name="Text 25"/>
          <p:cNvSpPr txBox="1"/>
          <p:nvPr/>
        </p:nvSpPr>
        <p:spPr>
          <a:xfrm>
            <a:off x="841248" y="4645152"/>
            <a:ext cx="4774540" cy="292608"/>
          </a:xfrm>
          <a:prstGeom prst="rect">
            <a:avLst/>
          </a:prstGeom>
          <a:noFill/>
          <a:ln/>
        </p:spPr>
        <p:txBody>
          <a:bodyPr wrap="square" lIns="0" tIns="0" rIns="0" bIns="0" rtlCol="0" anchor="ctr"/>
          <a:lstStyle/>
          <a:p>
            <a:pPr indent="0" marL="0">
              <a:buNone/>
            </a:pPr>
            <a:r>
              <a:rPr lang="en-US" sz="1200" i="1" dirty="0">
                <a:solidFill>
                  <a:srgbClr val="2E6F63"/>
                </a:solidFill>
                <a:latin typeface="Cambria" pitchFamily="34" charset="0"/>
                <a:ea typeface="Cambria" pitchFamily="34" charset="-122"/>
                <a:cs typeface="Cambria" pitchFamily="34" charset="-120"/>
              </a:rPr>
              <a:t>Siapa yang hadir dan siapa yang absen dalam perumusan?</a:t>
            </a:r>
            <a:endParaRPr lang="en-US" sz="1200" dirty="0"/>
          </a:p>
        </p:txBody>
      </p:sp>
      <p:sp>
        <p:nvSpPr>
          <p:cNvPr id="28" name="Text 26"/>
          <p:cNvSpPr txBox="1"/>
          <p:nvPr/>
        </p:nvSpPr>
        <p:spPr>
          <a:xfrm>
            <a:off x="841248" y="4992624"/>
            <a:ext cx="4774540" cy="1024128"/>
          </a:xfrm>
          <a:prstGeom prst="rect">
            <a:avLst/>
          </a:prstGeom>
          <a:noFill/>
          <a:ln/>
        </p:spPr>
        <p:txBody>
          <a:bodyPr wrap="square" lIns="0" tIns="0" rIns="0" bIns="0" rtlCol="0" anchor="t"/>
          <a:lstStyle/>
          <a:p>
            <a:pPr indent="0" marL="0">
              <a:lnSpc>
                <a:spcPct val="114000"/>
              </a:lnSpc>
              <a:buNone/>
            </a:pPr>
            <a:r>
              <a:rPr lang="en-US" sz="1150" dirty="0">
                <a:solidFill>
                  <a:srgbClr val="2C3540"/>
                </a:solidFill>
                <a:latin typeface="Calibri" pitchFamily="34" charset="0"/>
                <a:ea typeface="Calibri" pitchFamily="34" charset="-122"/>
                <a:cs typeface="Calibri" pitchFamily="34" charset="-120"/>
              </a:rPr>
              <a:t>Warga terdampak bukan pihak dalam perumusan kebijakan maupun perizinan kawasan. Syarat keterlibatan setara dan bebas paksaan tidak terpenuhi sejak awal, dan cacat prosedur sudah cukup untuk membatalkan keabsahan hasilnya.</a:t>
            </a:r>
            <a:endParaRPr lang="en-US" sz="1150" dirty="0"/>
          </a:p>
        </p:txBody>
      </p:sp>
      <p:sp>
        <p:nvSpPr>
          <p:cNvPr id="29" name="Shape 27"/>
          <p:cNvSpPr/>
          <p:nvPr/>
        </p:nvSpPr>
        <p:spPr>
          <a:xfrm>
            <a:off x="6301588" y="4059936"/>
            <a:ext cx="5323180" cy="2103120"/>
          </a:xfrm>
          <a:prstGeom prst="roundRect">
            <a:avLst>
              <a:gd name="adj" fmla="val 3913"/>
            </a:avLst>
          </a:prstGeom>
          <a:solidFill>
            <a:srgbClr val="E6EAEE"/>
          </a:solidFill>
          <a:ln w="12700">
            <a:solidFill>
              <a:srgbClr val="E6EAEE"/>
            </a:solidFill>
            <a:prstDash val="solid"/>
          </a:ln>
        </p:spPr>
      </p:sp>
      <p:sp>
        <p:nvSpPr>
          <p:cNvPr id="30" name="Shape 28"/>
          <p:cNvSpPr/>
          <p:nvPr/>
        </p:nvSpPr>
        <p:spPr>
          <a:xfrm>
            <a:off x="6575908" y="4261104"/>
            <a:ext cx="310896" cy="310896"/>
          </a:xfrm>
          <a:prstGeom prst="roundRect">
            <a:avLst>
              <a:gd name="adj" fmla="val 20588"/>
            </a:avLst>
          </a:prstGeom>
          <a:solidFill>
            <a:srgbClr val="2E6F63"/>
          </a:solidFill>
          <a:ln w="12700">
            <a:solidFill>
              <a:srgbClr val="2E6F63"/>
            </a:solidFill>
            <a:prstDash val="solid"/>
          </a:ln>
        </p:spPr>
      </p:sp>
      <p:sp>
        <p:nvSpPr>
          <p:cNvPr id="31" name="Text 29"/>
          <p:cNvSpPr txBox="1"/>
          <p:nvPr/>
        </p:nvSpPr>
        <p:spPr>
          <a:xfrm>
            <a:off x="6575908" y="426110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9</a:t>
            </a:r>
            <a:endParaRPr lang="en-US" sz="1300" dirty="0"/>
          </a:p>
        </p:txBody>
      </p:sp>
      <p:sp>
        <p:nvSpPr>
          <p:cNvPr id="32" name="Text 30"/>
          <p:cNvSpPr txBox="1"/>
          <p:nvPr/>
        </p:nvSpPr>
        <p:spPr>
          <a:xfrm>
            <a:off x="6978244" y="4242816"/>
            <a:ext cx="2651760" cy="310896"/>
          </a:xfrm>
          <a:prstGeom prst="rect">
            <a:avLst/>
          </a:prstGeom>
          <a:noFill/>
          <a:ln/>
        </p:spPr>
        <p:txBody>
          <a:bodyPr wrap="square" lIns="0" tIns="0" rIns="0" bIns="0" rtlCol="0" anchor="ctr"/>
          <a:lstStyle/>
          <a:p>
            <a:pPr indent="0" marL="0">
              <a:buNone/>
            </a:pPr>
            <a:r>
              <a:rPr lang="en-US" sz="1550" b="1" dirty="0">
                <a:solidFill>
                  <a:srgbClr val="16202A"/>
                </a:solidFill>
                <a:latin typeface="Cambria" pitchFamily="34" charset="0"/>
                <a:ea typeface="Cambria" pitchFamily="34" charset="-122"/>
                <a:cs typeface="Cambria" pitchFamily="34" charset="-120"/>
              </a:rPr>
              <a:t>Postmodern ethics</a:t>
            </a:r>
            <a:endParaRPr lang="en-US" sz="1550" dirty="0"/>
          </a:p>
        </p:txBody>
      </p:sp>
      <p:sp>
        <p:nvSpPr>
          <p:cNvPr id="33" name="Shape 31"/>
          <p:cNvSpPr/>
          <p:nvPr/>
        </p:nvSpPr>
        <p:spPr>
          <a:xfrm>
            <a:off x="9649663" y="4279392"/>
            <a:ext cx="1700784" cy="274320"/>
          </a:xfrm>
          <a:prstGeom prst="roundRect">
            <a:avLst>
              <a:gd name="adj" fmla="val 50000"/>
            </a:avLst>
          </a:prstGeom>
          <a:solidFill>
            <a:srgbClr val="6B7684"/>
          </a:solidFill>
          <a:ln w="12700">
            <a:solidFill>
              <a:srgbClr val="6B7684"/>
            </a:solidFill>
            <a:prstDash val="solid"/>
          </a:ln>
        </p:spPr>
      </p:sp>
      <p:sp>
        <p:nvSpPr>
          <p:cNvPr id="34" name="Text 32"/>
          <p:cNvSpPr txBox="1"/>
          <p:nvPr/>
        </p:nvSpPr>
        <p:spPr>
          <a:xfrm>
            <a:off x="9649663" y="4279392"/>
            <a:ext cx="1700784" cy="274320"/>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Calibri" pitchFamily="34" charset="0"/>
                <a:ea typeface="Calibri" pitchFamily="34" charset="-122"/>
                <a:cs typeface="Calibri" pitchFamily="34" charset="-120"/>
              </a:rPr>
              <a:t>RELATIVISTIK</a:t>
            </a:r>
            <a:endParaRPr lang="en-US" sz="900" dirty="0"/>
          </a:p>
        </p:txBody>
      </p:sp>
      <p:sp>
        <p:nvSpPr>
          <p:cNvPr id="35" name="Text 33"/>
          <p:cNvSpPr txBox="1"/>
          <p:nvPr/>
        </p:nvSpPr>
        <p:spPr>
          <a:xfrm>
            <a:off x="6575908" y="4645152"/>
            <a:ext cx="4774540" cy="292608"/>
          </a:xfrm>
          <a:prstGeom prst="rect">
            <a:avLst/>
          </a:prstGeom>
          <a:noFill/>
          <a:ln/>
        </p:spPr>
        <p:txBody>
          <a:bodyPr wrap="square" lIns="0" tIns="0" rIns="0" bIns="0" rtlCol="0" anchor="ctr"/>
          <a:lstStyle/>
          <a:p>
            <a:pPr indent="0" marL="0">
              <a:buNone/>
            </a:pPr>
            <a:r>
              <a:rPr lang="en-US" sz="1200" i="1" dirty="0">
                <a:solidFill>
                  <a:srgbClr val="2E6F63"/>
                </a:solidFill>
                <a:latin typeface="Cambria" pitchFamily="34" charset="0"/>
                <a:ea typeface="Cambria" pitchFamily="34" charset="-122"/>
                <a:cs typeface="Cambria" pitchFamily="34" charset="-120"/>
              </a:rPr>
              <a:t>Kepentingan siapa yang dilayani oleh pilihan istilah?</a:t>
            </a:r>
            <a:endParaRPr lang="en-US" sz="1200" dirty="0"/>
          </a:p>
        </p:txBody>
      </p:sp>
      <p:sp>
        <p:nvSpPr>
          <p:cNvPr id="36" name="Text 34"/>
          <p:cNvSpPr txBox="1"/>
          <p:nvPr/>
        </p:nvSpPr>
        <p:spPr>
          <a:xfrm>
            <a:off x="6575908" y="4992624"/>
            <a:ext cx="4774540" cy="1024128"/>
          </a:xfrm>
          <a:prstGeom prst="rect">
            <a:avLst/>
          </a:prstGeom>
          <a:noFill/>
          <a:ln/>
        </p:spPr>
        <p:txBody>
          <a:bodyPr wrap="square" lIns="0" tIns="0" rIns="0" bIns="0" rtlCol="0" anchor="t"/>
          <a:lstStyle/>
          <a:p>
            <a:pPr indent="0" marL="0">
              <a:lnSpc>
                <a:spcPct val="114000"/>
              </a:lnSpc>
              <a:buNone/>
            </a:pPr>
            <a:r>
              <a:rPr lang="en-US" sz="1150" dirty="0">
                <a:solidFill>
                  <a:srgbClr val="2C3540"/>
                </a:solidFill>
                <a:latin typeface="Calibri" pitchFamily="34" charset="0"/>
                <a:ea typeface="Calibri" pitchFamily="34" charset="-122"/>
                <a:cs typeface="Calibri" pitchFamily="34" charset="-120"/>
              </a:rPr>
              <a:t>Hilirisasi berkonotasi kemajuan, ekstraksi berkonotasi pengurasan, dan keduanya menamai peristiwa yang sama. Istilah nikel hijau dipakai bagi pengolahan yang listriknya bertumpu pada batu bara, sehingga ia mendahului penilaian atas fakta.</a:t>
            </a:r>
            <a:endParaRPr lang="en-US" sz="1150" dirty="0"/>
          </a:p>
        </p:txBody>
      </p:sp>
      <p:sp>
        <p:nvSpPr>
          <p:cNvPr id="37" name="Text 35"/>
          <p:cNvSpPr txBox="1"/>
          <p:nvPr/>
        </p:nvSpPr>
        <p:spPr>
          <a:xfrm>
            <a:off x="566928" y="6419088"/>
            <a:ext cx="10143439" cy="237744"/>
          </a:xfrm>
          <a:prstGeom prst="rect">
            <a:avLst/>
          </a:prstGeom>
          <a:noFill/>
          <a:ln/>
        </p:spPr>
        <p:txBody>
          <a:bodyPr wrap="square" lIns="0" tIns="0" rIns="0" bIns="0" rtlCol="0" anchor="ctr"/>
          <a:lstStyle/>
          <a:p>
            <a:pPr indent="0" marL="0">
              <a:buNone/>
            </a:pPr>
            <a:r>
              <a:rPr lang="en-US" sz="900" i="1" dirty="0">
                <a:solidFill>
                  <a:srgbClr val="6B7684"/>
                </a:solidFill>
                <a:latin typeface="Calibri" pitchFamily="34" charset="0"/>
                <a:ea typeface="Calibri" pitchFamily="34" charset="-122"/>
                <a:cs typeface="Calibri" pitchFamily="34" charset="-120"/>
              </a:rPr>
              <a:t>Keempat teori ini menyoroti dimensi yang luput dari lima teori sebelumnya: pembanding, relasi, keterwakilan, dan pilihan istilah.</a:t>
            </a:r>
            <a:endParaRPr lang="en-US" sz="900" dirty="0"/>
          </a:p>
        </p:txBody>
      </p:sp>
      <p:sp>
        <p:nvSpPr>
          <p:cNvPr id="38" name="Text 36"/>
          <p:cNvSpPr txBox="1"/>
          <p:nvPr/>
        </p:nvSpPr>
        <p:spPr>
          <a:xfrm>
            <a:off x="10893247" y="6419088"/>
            <a:ext cx="731520" cy="237744"/>
          </a:xfrm>
          <a:prstGeom prst="rect">
            <a:avLst/>
          </a:prstGeom>
          <a:noFill/>
          <a:ln/>
        </p:spPr>
        <p:txBody>
          <a:bodyPr wrap="square" lIns="0" tIns="0" rIns="0" bIns="0" rtlCol="0" anchor="ctr"/>
          <a:lstStyle/>
          <a:p>
            <a:pPr algn="r" indent="0" marL="0">
              <a:buNone/>
            </a:pPr>
            <a:r>
              <a:rPr lang="en-US" sz="1100" b="1" dirty="0">
                <a:solidFill>
                  <a:srgbClr val="6B7684"/>
                </a:solidFill>
                <a:latin typeface="Cambria" pitchFamily="34" charset="0"/>
                <a:ea typeface="Cambria" pitchFamily="34" charset="-122"/>
                <a:cs typeface="Cambria"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B8542A"/>
                </a:solidFill>
                <a:latin typeface="Calibri" pitchFamily="34" charset="0"/>
                <a:ea typeface="Calibri" pitchFamily="34" charset="-122"/>
                <a:cs typeface="Calibri" pitchFamily="34" charset="-120"/>
              </a:rPr>
              <a:t>11   SINTESIS</a:t>
            </a:r>
            <a:endParaRPr lang="en-US" sz="1000" dirty="0"/>
          </a:p>
        </p:txBody>
      </p:sp>
      <p:sp>
        <p:nvSpPr>
          <p:cNvPr id="3" name="Text 1"/>
          <p:cNvSpPr txBox="1"/>
          <p:nvPr/>
        </p:nvSpPr>
        <p:spPr>
          <a:xfrm>
            <a:off x="566928" y="585216"/>
            <a:ext cx="11057839" cy="548640"/>
          </a:xfrm>
          <a:prstGeom prst="rect">
            <a:avLst/>
          </a:prstGeom>
          <a:noFill/>
          <a:ln/>
        </p:spPr>
        <p:txBody>
          <a:bodyPr wrap="square" lIns="0" tIns="0" rIns="0" bIns="0" rtlCol="0" anchor="ctr"/>
          <a:lstStyle/>
          <a:p>
            <a:pPr indent="0" marL="0">
              <a:buNone/>
            </a:pPr>
            <a:r>
              <a:rPr lang="en-US" sz="2800" b="1" dirty="0">
                <a:solidFill>
                  <a:srgbClr val="16202A"/>
                </a:solidFill>
                <a:latin typeface="Cambria" pitchFamily="34" charset="0"/>
                <a:ea typeface="Cambria" pitchFamily="34" charset="-122"/>
                <a:cs typeface="Cambria" pitchFamily="34" charset="-120"/>
              </a:rPr>
              <a:t>Sintesis penilaian dan evaluasi klaim</a:t>
            </a:r>
            <a:endParaRPr lang="en-US" sz="2800" dirty="0"/>
          </a:p>
        </p:txBody>
      </p:sp>
      <p:sp>
        <p:nvSpPr>
          <p:cNvPr id="4" name="Text 2"/>
          <p:cNvSpPr txBox="1"/>
          <p:nvPr/>
        </p:nvSpPr>
        <p:spPr>
          <a:xfrm>
            <a:off x="566928" y="1170432"/>
            <a:ext cx="11057839" cy="310896"/>
          </a:xfrm>
          <a:prstGeom prst="rect">
            <a:avLst/>
          </a:prstGeom>
          <a:noFill/>
          <a:ln/>
        </p:spPr>
        <p:txBody>
          <a:bodyPr wrap="square" lIns="0" tIns="0" rIns="0" bIns="0" rtlCol="0" anchor="t"/>
          <a:lstStyle/>
          <a:p>
            <a:pPr indent="0" marL="0">
              <a:lnSpc>
                <a:spcPct val="110000"/>
              </a:lnSpc>
              <a:buNone/>
            </a:pPr>
            <a:r>
              <a:rPr lang="en-US" sz="1250" dirty="0">
                <a:solidFill>
                  <a:srgbClr val="6B7684"/>
                </a:solidFill>
                <a:latin typeface="Calibri" pitchFamily="34" charset="0"/>
                <a:ea typeface="Calibri" pitchFamily="34" charset="-122"/>
                <a:cs typeface="Calibri" pitchFamily="34" charset="-120"/>
              </a:rPr>
              <a:t>Tidak satu pun dari sembilan teori memberikan dukungan tanpa syarat.</a:t>
            </a:r>
            <a:endParaRPr lang="en-US" sz="1250" dirty="0"/>
          </a:p>
        </p:txBody>
      </p:sp>
      <p:sp>
        <p:nvSpPr>
          <p:cNvPr id="5" name="Shape 3"/>
          <p:cNvSpPr/>
          <p:nvPr/>
        </p:nvSpPr>
        <p:spPr>
          <a:xfrm>
            <a:off x="566928" y="1773936"/>
            <a:ext cx="5120640" cy="4462272"/>
          </a:xfrm>
          <a:prstGeom prst="roundRect">
            <a:avLst>
              <a:gd name="adj" fmla="val 1844"/>
            </a:avLst>
          </a:prstGeom>
          <a:solidFill>
            <a:srgbClr val="F1F3F5"/>
          </a:solidFill>
          <a:ln w="12700">
            <a:solidFill>
              <a:srgbClr val="F1F3F5"/>
            </a:solidFill>
            <a:prstDash val="solid"/>
          </a:ln>
        </p:spPr>
      </p:sp>
      <p:sp>
        <p:nvSpPr>
          <p:cNvPr id="6" name="Text 4"/>
          <p:cNvSpPr txBox="1"/>
          <p:nvPr/>
        </p:nvSpPr>
        <p:spPr>
          <a:xfrm>
            <a:off x="877824" y="1975104"/>
            <a:ext cx="4572000" cy="219456"/>
          </a:xfrm>
          <a:prstGeom prst="rect">
            <a:avLst/>
          </a:prstGeom>
          <a:noFill/>
          <a:ln/>
        </p:spPr>
        <p:txBody>
          <a:bodyPr wrap="square" lIns="0" tIns="0" rIns="0" bIns="0" rtlCol="0" anchor="ctr"/>
          <a:lstStyle/>
          <a:p>
            <a:pPr indent="0" marL="0">
              <a:buNone/>
            </a:pPr>
            <a:r>
              <a:rPr lang="en-US" sz="950" b="1" spc="120" kern="0" dirty="0">
                <a:solidFill>
                  <a:srgbClr val="B8542A"/>
                </a:solidFill>
                <a:latin typeface="Calibri" pitchFamily="34" charset="0"/>
                <a:ea typeface="Calibri" pitchFamily="34" charset="-122"/>
                <a:cs typeface="Calibri" pitchFamily="34" charset="-120"/>
              </a:rPr>
              <a:t>SEMBILAN PENILAIAN</a:t>
            </a:r>
            <a:endParaRPr lang="en-US" sz="950" dirty="0"/>
          </a:p>
        </p:txBody>
      </p:sp>
      <p:sp>
        <p:nvSpPr>
          <p:cNvPr id="7" name="Shape 5"/>
          <p:cNvSpPr/>
          <p:nvPr/>
        </p:nvSpPr>
        <p:spPr>
          <a:xfrm>
            <a:off x="877824" y="2331720"/>
            <a:ext cx="237744" cy="237744"/>
          </a:xfrm>
          <a:prstGeom prst="roundRect">
            <a:avLst>
              <a:gd name="adj" fmla="val 26923"/>
            </a:avLst>
          </a:prstGeom>
          <a:solidFill>
            <a:srgbClr val="B8542A"/>
          </a:solidFill>
          <a:ln w="12700">
            <a:solidFill>
              <a:srgbClr val="B8542A"/>
            </a:solidFill>
            <a:prstDash val="solid"/>
          </a:ln>
        </p:spPr>
      </p:sp>
      <p:sp>
        <p:nvSpPr>
          <p:cNvPr id="8" name="Text 6"/>
          <p:cNvSpPr txBox="1"/>
          <p:nvPr/>
        </p:nvSpPr>
        <p:spPr>
          <a:xfrm>
            <a:off x="877824" y="2331720"/>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9" name="Text 7"/>
          <p:cNvSpPr txBox="1"/>
          <p:nvPr/>
        </p:nvSpPr>
        <p:spPr>
          <a:xfrm>
            <a:off x="1197864" y="2304288"/>
            <a:ext cx="2286000" cy="292608"/>
          </a:xfrm>
          <a:prstGeom prst="rect">
            <a:avLst/>
          </a:prstGeom>
          <a:noFill/>
          <a:ln/>
        </p:spPr>
        <p:txBody>
          <a:bodyPr wrap="square" lIns="0" tIns="0" rIns="0" bIns="0" rtlCol="0" anchor="ctr"/>
          <a:lstStyle/>
          <a:p>
            <a:pPr indent="0" marL="0">
              <a:buNone/>
            </a:pPr>
            <a:r>
              <a:rPr lang="en-US" sz="1200" b="1" dirty="0">
                <a:solidFill>
                  <a:srgbClr val="16202A"/>
                </a:solidFill>
                <a:latin typeface="Calibri" pitchFamily="34" charset="0"/>
                <a:ea typeface="Calibri" pitchFamily="34" charset="-122"/>
                <a:cs typeface="Calibri" pitchFamily="34" charset="-120"/>
              </a:rPr>
              <a:t>Egoism</a:t>
            </a:r>
            <a:endParaRPr lang="en-US" sz="1200" dirty="0"/>
          </a:p>
        </p:txBody>
      </p:sp>
      <p:sp>
        <p:nvSpPr>
          <p:cNvPr id="10" name="Text 8"/>
          <p:cNvSpPr txBox="1"/>
          <p:nvPr/>
        </p:nvSpPr>
        <p:spPr>
          <a:xfrm>
            <a:off x="3529584" y="2304288"/>
            <a:ext cx="1874520" cy="292608"/>
          </a:xfrm>
          <a:prstGeom prst="rect">
            <a:avLst/>
          </a:prstGeom>
          <a:noFill/>
          <a:ln/>
        </p:spPr>
        <p:txBody>
          <a:bodyPr wrap="square" lIns="0" tIns="0" rIns="0" bIns="0" rtlCol="0" anchor="ctr"/>
          <a:lstStyle/>
          <a:p>
            <a:pPr algn="r" indent="0" marL="0">
              <a:buNone/>
            </a:pPr>
            <a:r>
              <a:rPr lang="en-US" sz="1150" b="1" dirty="0">
                <a:solidFill>
                  <a:srgbClr val="6B7684"/>
                </a:solidFill>
                <a:latin typeface="Calibri" pitchFamily="34" charset="0"/>
                <a:ea typeface="Calibri" pitchFamily="34" charset="-122"/>
                <a:cs typeface="Calibri" pitchFamily="34" charset="-120"/>
              </a:rPr>
              <a:t>Netral</a:t>
            </a:r>
            <a:endParaRPr lang="en-US" sz="1150" dirty="0"/>
          </a:p>
        </p:txBody>
      </p:sp>
      <p:sp>
        <p:nvSpPr>
          <p:cNvPr id="11" name="Shape 9"/>
          <p:cNvSpPr/>
          <p:nvPr/>
        </p:nvSpPr>
        <p:spPr>
          <a:xfrm>
            <a:off x="877824" y="2697480"/>
            <a:ext cx="237744" cy="237744"/>
          </a:xfrm>
          <a:prstGeom prst="roundRect">
            <a:avLst>
              <a:gd name="adj" fmla="val 26923"/>
            </a:avLst>
          </a:prstGeom>
          <a:solidFill>
            <a:srgbClr val="B8542A"/>
          </a:solidFill>
          <a:ln w="12700">
            <a:solidFill>
              <a:srgbClr val="B8542A"/>
            </a:solidFill>
            <a:prstDash val="solid"/>
          </a:ln>
        </p:spPr>
      </p:sp>
      <p:sp>
        <p:nvSpPr>
          <p:cNvPr id="12" name="Text 10"/>
          <p:cNvSpPr txBox="1"/>
          <p:nvPr/>
        </p:nvSpPr>
        <p:spPr>
          <a:xfrm>
            <a:off x="877824" y="2697480"/>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1197864" y="2670048"/>
            <a:ext cx="2286000" cy="292608"/>
          </a:xfrm>
          <a:prstGeom prst="rect">
            <a:avLst/>
          </a:prstGeom>
          <a:noFill/>
          <a:ln/>
        </p:spPr>
        <p:txBody>
          <a:bodyPr wrap="square" lIns="0" tIns="0" rIns="0" bIns="0" rtlCol="0" anchor="ctr"/>
          <a:lstStyle/>
          <a:p>
            <a:pPr indent="0" marL="0">
              <a:buNone/>
            </a:pPr>
            <a:r>
              <a:rPr lang="en-US" sz="1200" b="1" dirty="0">
                <a:solidFill>
                  <a:srgbClr val="16202A"/>
                </a:solidFill>
                <a:latin typeface="Calibri" pitchFamily="34" charset="0"/>
                <a:ea typeface="Calibri" pitchFamily="34" charset="-122"/>
                <a:cs typeface="Calibri" pitchFamily="34" charset="-120"/>
              </a:rPr>
              <a:t>Utilitarianism</a:t>
            </a:r>
            <a:endParaRPr lang="en-US" sz="1200" dirty="0"/>
          </a:p>
        </p:txBody>
      </p:sp>
      <p:sp>
        <p:nvSpPr>
          <p:cNvPr id="14" name="Text 12"/>
          <p:cNvSpPr txBox="1"/>
          <p:nvPr/>
        </p:nvSpPr>
        <p:spPr>
          <a:xfrm>
            <a:off x="3529584" y="2670048"/>
            <a:ext cx="1874520" cy="292608"/>
          </a:xfrm>
          <a:prstGeom prst="rect">
            <a:avLst/>
          </a:prstGeom>
          <a:noFill/>
          <a:ln/>
        </p:spPr>
        <p:txBody>
          <a:bodyPr wrap="square" lIns="0" tIns="0" rIns="0" bIns="0" rtlCol="0" anchor="ctr"/>
          <a:lstStyle/>
          <a:p>
            <a:pPr algn="r" indent="0" marL="0">
              <a:buNone/>
            </a:pPr>
            <a:r>
              <a:rPr lang="en-US" sz="1150" b="1" dirty="0">
                <a:solidFill>
                  <a:srgbClr val="9A7420"/>
                </a:solidFill>
                <a:latin typeface="Calibri" pitchFamily="34" charset="0"/>
                <a:ea typeface="Calibri" pitchFamily="34" charset="-122"/>
                <a:cs typeface="Calibri" pitchFamily="34" charset="-120"/>
              </a:rPr>
              <a:t>Ambivalen</a:t>
            </a:r>
            <a:endParaRPr lang="en-US" sz="1150" dirty="0"/>
          </a:p>
        </p:txBody>
      </p:sp>
      <p:sp>
        <p:nvSpPr>
          <p:cNvPr id="15" name="Shape 13"/>
          <p:cNvSpPr/>
          <p:nvPr/>
        </p:nvSpPr>
        <p:spPr>
          <a:xfrm>
            <a:off x="877824" y="3063240"/>
            <a:ext cx="237744" cy="237744"/>
          </a:xfrm>
          <a:prstGeom prst="roundRect">
            <a:avLst>
              <a:gd name="adj" fmla="val 26923"/>
            </a:avLst>
          </a:prstGeom>
          <a:solidFill>
            <a:srgbClr val="B8542A"/>
          </a:solidFill>
          <a:ln w="12700">
            <a:solidFill>
              <a:srgbClr val="B8542A"/>
            </a:solidFill>
            <a:prstDash val="solid"/>
          </a:ln>
        </p:spPr>
      </p:sp>
      <p:sp>
        <p:nvSpPr>
          <p:cNvPr id="16" name="Text 14"/>
          <p:cNvSpPr txBox="1"/>
          <p:nvPr/>
        </p:nvSpPr>
        <p:spPr>
          <a:xfrm>
            <a:off x="877824" y="3063240"/>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7" name="Text 15"/>
          <p:cNvSpPr txBox="1"/>
          <p:nvPr/>
        </p:nvSpPr>
        <p:spPr>
          <a:xfrm>
            <a:off x="1197864" y="3035808"/>
            <a:ext cx="2286000" cy="292608"/>
          </a:xfrm>
          <a:prstGeom prst="rect">
            <a:avLst/>
          </a:prstGeom>
          <a:noFill/>
          <a:ln/>
        </p:spPr>
        <p:txBody>
          <a:bodyPr wrap="square" lIns="0" tIns="0" rIns="0" bIns="0" rtlCol="0" anchor="ctr"/>
          <a:lstStyle/>
          <a:p>
            <a:pPr indent="0" marL="0">
              <a:buNone/>
            </a:pPr>
            <a:r>
              <a:rPr lang="en-US" sz="1200" b="1" dirty="0">
                <a:solidFill>
                  <a:srgbClr val="16202A"/>
                </a:solidFill>
                <a:latin typeface="Calibri" pitchFamily="34" charset="0"/>
                <a:ea typeface="Calibri" pitchFamily="34" charset="-122"/>
                <a:cs typeface="Calibri" pitchFamily="34" charset="-120"/>
              </a:rPr>
              <a:t>Ethics of duty</a:t>
            </a:r>
            <a:endParaRPr lang="en-US" sz="1200" dirty="0"/>
          </a:p>
        </p:txBody>
      </p:sp>
      <p:sp>
        <p:nvSpPr>
          <p:cNvPr id="18" name="Text 16"/>
          <p:cNvSpPr txBox="1"/>
          <p:nvPr/>
        </p:nvSpPr>
        <p:spPr>
          <a:xfrm>
            <a:off x="3529584" y="3035808"/>
            <a:ext cx="1874520" cy="292608"/>
          </a:xfrm>
          <a:prstGeom prst="rect">
            <a:avLst/>
          </a:prstGeom>
          <a:noFill/>
          <a:ln/>
        </p:spPr>
        <p:txBody>
          <a:bodyPr wrap="square" lIns="0" tIns="0" rIns="0" bIns="0" rtlCol="0" anchor="ctr"/>
          <a:lstStyle/>
          <a:p>
            <a:pPr algn="r" indent="0" marL="0">
              <a:buNone/>
            </a:pPr>
            <a:r>
              <a:rPr lang="en-US" sz="1150" b="1" dirty="0">
                <a:solidFill>
                  <a:srgbClr val="B8542A"/>
                </a:solidFill>
                <a:latin typeface="Calibri" pitchFamily="34" charset="0"/>
                <a:ea typeface="Calibri" pitchFamily="34" charset="-122"/>
                <a:cs typeface="Calibri" pitchFamily="34" charset="-120"/>
              </a:rPr>
              <a:t>Menolak</a:t>
            </a:r>
            <a:endParaRPr lang="en-US" sz="1150" dirty="0"/>
          </a:p>
        </p:txBody>
      </p:sp>
      <p:sp>
        <p:nvSpPr>
          <p:cNvPr id="19" name="Shape 17"/>
          <p:cNvSpPr/>
          <p:nvPr/>
        </p:nvSpPr>
        <p:spPr>
          <a:xfrm>
            <a:off x="877824" y="3429000"/>
            <a:ext cx="237744" cy="237744"/>
          </a:xfrm>
          <a:prstGeom prst="roundRect">
            <a:avLst>
              <a:gd name="adj" fmla="val 26923"/>
            </a:avLst>
          </a:prstGeom>
          <a:solidFill>
            <a:srgbClr val="B8542A"/>
          </a:solidFill>
          <a:ln w="12700">
            <a:solidFill>
              <a:srgbClr val="B8542A"/>
            </a:solidFill>
            <a:prstDash val="solid"/>
          </a:ln>
        </p:spPr>
      </p:sp>
      <p:sp>
        <p:nvSpPr>
          <p:cNvPr id="20" name="Text 18"/>
          <p:cNvSpPr txBox="1"/>
          <p:nvPr/>
        </p:nvSpPr>
        <p:spPr>
          <a:xfrm>
            <a:off x="877824" y="3429000"/>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1" name="Text 19"/>
          <p:cNvSpPr txBox="1"/>
          <p:nvPr/>
        </p:nvSpPr>
        <p:spPr>
          <a:xfrm>
            <a:off x="1197864" y="3401568"/>
            <a:ext cx="2286000" cy="292608"/>
          </a:xfrm>
          <a:prstGeom prst="rect">
            <a:avLst/>
          </a:prstGeom>
          <a:noFill/>
          <a:ln/>
        </p:spPr>
        <p:txBody>
          <a:bodyPr wrap="square" lIns="0" tIns="0" rIns="0" bIns="0" rtlCol="0" anchor="ctr"/>
          <a:lstStyle/>
          <a:p>
            <a:pPr indent="0" marL="0">
              <a:buNone/>
            </a:pPr>
            <a:r>
              <a:rPr lang="en-US" sz="1200" b="1" dirty="0">
                <a:solidFill>
                  <a:srgbClr val="16202A"/>
                </a:solidFill>
                <a:latin typeface="Calibri" pitchFamily="34" charset="0"/>
                <a:ea typeface="Calibri" pitchFamily="34" charset="-122"/>
                <a:cs typeface="Calibri" pitchFamily="34" charset="-120"/>
              </a:rPr>
              <a:t>Ethics of rights</a:t>
            </a:r>
            <a:endParaRPr lang="en-US" sz="1200" dirty="0"/>
          </a:p>
        </p:txBody>
      </p:sp>
      <p:sp>
        <p:nvSpPr>
          <p:cNvPr id="22" name="Text 20"/>
          <p:cNvSpPr txBox="1"/>
          <p:nvPr/>
        </p:nvSpPr>
        <p:spPr>
          <a:xfrm>
            <a:off x="3529584" y="3401568"/>
            <a:ext cx="1874520" cy="292608"/>
          </a:xfrm>
          <a:prstGeom prst="rect">
            <a:avLst/>
          </a:prstGeom>
          <a:noFill/>
          <a:ln/>
        </p:spPr>
        <p:txBody>
          <a:bodyPr wrap="square" lIns="0" tIns="0" rIns="0" bIns="0" rtlCol="0" anchor="ctr"/>
          <a:lstStyle/>
          <a:p>
            <a:pPr algn="r" indent="0" marL="0">
              <a:buNone/>
            </a:pPr>
            <a:r>
              <a:rPr lang="en-US" sz="1150" b="1" dirty="0">
                <a:solidFill>
                  <a:srgbClr val="9A7420"/>
                </a:solidFill>
                <a:latin typeface="Calibri" pitchFamily="34" charset="0"/>
                <a:ea typeface="Calibri" pitchFamily="34" charset="-122"/>
                <a:cs typeface="Calibri" pitchFamily="34" charset="-120"/>
              </a:rPr>
              <a:t>Bersyarat</a:t>
            </a:r>
            <a:endParaRPr lang="en-US" sz="1150" dirty="0"/>
          </a:p>
        </p:txBody>
      </p:sp>
      <p:sp>
        <p:nvSpPr>
          <p:cNvPr id="23" name="Shape 21"/>
          <p:cNvSpPr/>
          <p:nvPr/>
        </p:nvSpPr>
        <p:spPr>
          <a:xfrm>
            <a:off x="877824" y="3794760"/>
            <a:ext cx="237744" cy="237744"/>
          </a:xfrm>
          <a:prstGeom prst="roundRect">
            <a:avLst>
              <a:gd name="adj" fmla="val 26923"/>
            </a:avLst>
          </a:prstGeom>
          <a:solidFill>
            <a:srgbClr val="B8542A"/>
          </a:solidFill>
          <a:ln w="12700">
            <a:solidFill>
              <a:srgbClr val="B8542A"/>
            </a:solidFill>
            <a:prstDash val="solid"/>
          </a:ln>
        </p:spPr>
      </p:sp>
      <p:sp>
        <p:nvSpPr>
          <p:cNvPr id="24" name="Text 22"/>
          <p:cNvSpPr txBox="1"/>
          <p:nvPr/>
        </p:nvSpPr>
        <p:spPr>
          <a:xfrm>
            <a:off x="877824" y="3794760"/>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5" name="Text 23"/>
          <p:cNvSpPr txBox="1"/>
          <p:nvPr/>
        </p:nvSpPr>
        <p:spPr>
          <a:xfrm>
            <a:off x="1197864" y="3767328"/>
            <a:ext cx="2286000" cy="292608"/>
          </a:xfrm>
          <a:prstGeom prst="rect">
            <a:avLst/>
          </a:prstGeom>
          <a:noFill/>
          <a:ln/>
        </p:spPr>
        <p:txBody>
          <a:bodyPr wrap="square" lIns="0" tIns="0" rIns="0" bIns="0" rtlCol="0" anchor="ctr"/>
          <a:lstStyle/>
          <a:p>
            <a:pPr indent="0" marL="0">
              <a:buNone/>
            </a:pPr>
            <a:r>
              <a:rPr lang="en-US" sz="1200" b="1" dirty="0">
                <a:solidFill>
                  <a:srgbClr val="16202A"/>
                </a:solidFill>
                <a:latin typeface="Calibri" pitchFamily="34" charset="0"/>
                <a:ea typeface="Calibri" pitchFamily="34" charset="-122"/>
                <a:cs typeface="Calibri" pitchFamily="34" charset="-120"/>
              </a:rPr>
              <a:t>Justice</a:t>
            </a:r>
            <a:endParaRPr lang="en-US" sz="1200" dirty="0"/>
          </a:p>
        </p:txBody>
      </p:sp>
      <p:sp>
        <p:nvSpPr>
          <p:cNvPr id="26" name="Text 24"/>
          <p:cNvSpPr txBox="1"/>
          <p:nvPr/>
        </p:nvSpPr>
        <p:spPr>
          <a:xfrm>
            <a:off x="3529584" y="3767328"/>
            <a:ext cx="1874520" cy="292608"/>
          </a:xfrm>
          <a:prstGeom prst="rect">
            <a:avLst/>
          </a:prstGeom>
          <a:noFill/>
          <a:ln/>
        </p:spPr>
        <p:txBody>
          <a:bodyPr wrap="square" lIns="0" tIns="0" rIns="0" bIns="0" rtlCol="0" anchor="ctr"/>
          <a:lstStyle/>
          <a:p>
            <a:pPr algn="r" indent="0" marL="0">
              <a:buNone/>
            </a:pPr>
            <a:r>
              <a:rPr lang="en-US" sz="1150" b="1" dirty="0">
                <a:solidFill>
                  <a:srgbClr val="B8542A"/>
                </a:solidFill>
                <a:latin typeface="Calibri" pitchFamily="34" charset="0"/>
                <a:ea typeface="Calibri" pitchFamily="34" charset="-122"/>
                <a:cs typeface="Calibri" pitchFamily="34" charset="-120"/>
              </a:rPr>
              <a:t>Menolak</a:t>
            </a:r>
            <a:endParaRPr lang="en-US" sz="1150" dirty="0"/>
          </a:p>
        </p:txBody>
      </p:sp>
      <p:sp>
        <p:nvSpPr>
          <p:cNvPr id="27" name="Shape 25"/>
          <p:cNvSpPr/>
          <p:nvPr/>
        </p:nvSpPr>
        <p:spPr>
          <a:xfrm>
            <a:off x="877824" y="4160520"/>
            <a:ext cx="237744" cy="237744"/>
          </a:xfrm>
          <a:prstGeom prst="roundRect">
            <a:avLst>
              <a:gd name="adj" fmla="val 26923"/>
            </a:avLst>
          </a:prstGeom>
          <a:solidFill>
            <a:srgbClr val="2E6F63"/>
          </a:solidFill>
          <a:ln w="12700">
            <a:solidFill>
              <a:srgbClr val="2E6F63"/>
            </a:solidFill>
            <a:prstDash val="solid"/>
          </a:ln>
        </p:spPr>
      </p:sp>
      <p:sp>
        <p:nvSpPr>
          <p:cNvPr id="28" name="Text 26"/>
          <p:cNvSpPr txBox="1"/>
          <p:nvPr/>
        </p:nvSpPr>
        <p:spPr>
          <a:xfrm>
            <a:off x="877824" y="4160520"/>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29" name="Text 27"/>
          <p:cNvSpPr txBox="1"/>
          <p:nvPr/>
        </p:nvSpPr>
        <p:spPr>
          <a:xfrm>
            <a:off x="1197864" y="4133088"/>
            <a:ext cx="2286000" cy="292608"/>
          </a:xfrm>
          <a:prstGeom prst="rect">
            <a:avLst/>
          </a:prstGeom>
          <a:noFill/>
          <a:ln/>
        </p:spPr>
        <p:txBody>
          <a:bodyPr wrap="square" lIns="0" tIns="0" rIns="0" bIns="0" rtlCol="0" anchor="ctr"/>
          <a:lstStyle/>
          <a:p>
            <a:pPr indent="0" marL="0">
              <a:buNone/>
            </a:pPr>
            <a:r>
              <a:rPr lang="en-US" sz="1200" b="1" dirty="0">
                <a:solidFill>
                  <a:srgbClr val="16202A"/>
                </a:solidFill>
                <a:latin typeface="Calibri" pitchFamily="34" charset="0"/>
                <a:ea typeface="Calibri" pitchFamily="34" charset="-122"/>
                <a:cs typeface="Calibri" pitchFamily="34" charset="-120"/>
              </a:rPr>
              <a:t>Virtue ethics</a:t>
            </a:r>
            <a:endParaRPr lang="en-US" sz="1200" dirty="0"/>
          </a:p>
        </p:txBody>
      </p:sp>
      <p:sp>
        <p:nvSpPr>
          <p:cNvPr id="30" name="Text 28"/>
          <p:cNvSpPr txBox="1"/>
          <p:nvPr/>
        </p:nvSpPr>
        <p:spPr>
          <a:xfrm>
            <a:off x="3529584" y="4133088"/>
            <a:ext cx="1874520" cy="292608"/>
          </a:xfrm>
          <a:prstGeom prst="rect">
            <a:avLst/>
          </a:prstGeom>
          <a:noFill/>
          <a:ln/>
        </p:spPr>
        <p:txBody>
          <a:bodyPr wrap="square" lIns="0" tIns="0" rIns="0" bIns="0" rtlCol="0" anchor="ctr"/>
          <a:lstStyle/>
          <a:p>
            <a:pPr algn="r" indent="0" marL="0">
              <a:buNone/>
            </a:pPr>
            <a:r>
              <a:rPr lang="en-US" sz="1150" b="1" dirty="0">
                <a:solidFill>
                  <a:srgbClr val="B8542A"/>
                </a:solidFill>
                <a:latin typeface="Calibri" pitchFamily="34" charset="0"/>
                <a:ea typeface="Calibri" pitchFamily="34" charset="-122"/>
                <a:cs typeface="Calibri" pitchFamily="34" charset="-120"/>
              </a:rPr>
              <a:t>Menolak pembanding</a:t>
            </a:r>
            <a:endParaRPr lang="en-US" sz="1150" dirty="0"/>
          </a:p>
        </p:txBody>
      </p:sp>
      <p:sp>
        <p:nvSpPr>
          <p:cNvPr id="31" name="Shape 29"/>
          <p:cNvSpPr/>
          <p:nvPr/>
        </p:nvSpPr>
        <p:spPr>
          <a:xfrm>
            <a:off x="877824" y="4526280"/>
            <a:ext cx="237744" cy="237744"/>
          </a:xfrm>
          <a:prstGeom prst="roundRect">
            <a:avLst>
              <a:gd name="adj" fmla="val 26923"/>
            </a:avLst>
          </a:prstGeom>
          <a:solidFill>
            <a:srgbClr val="2E6F63"/>
          </a:solidFill>
          <a:ln w="12700">
            <a:solidFill>
              <a:srgbClr val="2E6F63"/>
            </a:solidFill>
            <a:prstDash val="solid"/>
          </a:ln>
        </p:spPr>
      </p:sp>
      <p:sp>
        <p:nvSpPr>
          <p:cNvPr id="32" name="Text 30"/>
          <p:cNvSpPr txBox="1"/>
          <p:nvPr/>
        </p:nvSpPr>
        <p:spPr>
          <a:xfrm>
            <a:off x="877824" y="4526280"/>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7</a:t>
            </a:r>
            <a:endParaRPr lang="en-US" sz="1300" dirty="0"/>
          </a:p>
        </p:txBody>
      </p:sp>
      <p:sp>
        <p:nvSpPr>
          <p:cNvPr id="33" name="Text 31"/>
          <p:cNvSpPr txBox="1"/>
          <p:nvPr/>
        </p:nvSpPr>
        <p:spPr>
          <a:xfrm>
            <a:off x="1197864" y="4498848"/>
            <a:ext cx="2286000" cy="292608"/>
          </a:xfrm>
          <a:prstGeom prst="rect">
            <a:avLst/>
          </a:prstGeom>
          <a:noFill/>
          <a:ln/>
        </p:spPr>
        <p:txBody>
          <a:bodyPr wrap="square" lIns="0" tIns="0" rIns="0" bIns="0" rtlCol="0" anchor="ctr"/>
          <a:lstStyle/>
          <a:p>
            <a:pPr indent="0" marL="0">
              <a:buNone/>
            </a:pPr>
            <a:r>
              <a:rPr lang="en-US" sz="1200" b="1" dirty="0">
                <a:solidFill>
                  <a:srgbClr val="16202A"/>
                </a:solidFill>
                <a:latin typeface="Calibri" pitchFamily="34" charset="0"/>
                <a:ea typeface="Calibri" pitchFamily="34" charset="-122"/>
                <a:cs typeface="Calibri" pitchFamily="34" charset="-120"/>
              </a:rPr>
              <a:t>Ethic of care</a:t>
            </a:r>
            <a:endParaRPr lang="en-US" sz="1200" dirty="0"/>
          </a:p>
        </p:txBody>
      </p:sp>
      <p:sp>
        <p:nvSpPr>
          <p:cNvPr id="34" name="Text 32"/>
          <p:cNvSpPr txBox="1"/>
          <p:nvPr/>
        </p:nvSpPr>
        <p:spPr>
          <a:xfrm>
            <a:off x="3529584" y="4498848"/>
            <a:ext cx="1874520" cy="292608"/>
          </a:xfrm>
          <a:prstGeom prst="rect">
            <a:avLst/>
          </a:prstGeom>
          <a:noFill/>
          <a:ln/>
        </p:spPr>
        <p:txBody>
          <a:bodyPr wrap="square" lIns="0" tIns="0" rIns="0" bIns="0" rtlCol="0" anchor="ctr"/>
          <a:lstStyle/>
          <a:p>
            <a:pPr algn="r" indent="0" marL="0">
              <a:buNone/>
            </a:pPr>
            <a:r>
              <a:rPr lang="en-US" sz="1150" b="1" dirty="0">
                <a:solidFill>
                  <a:srgbClr val="9A7420"/>
                </a:solidFill>
                <a:latin typeface="Calibri" pitchFamily="34" charset="0"/>
                <a:ea typeface="Calibri" pitchFamily="34" charset="-122"/>
                <a:cs typeface="Calibri" pitchFamily="34" charset="-120"/>
              </a:rPr>
              <a:t>Menuntut pemulihan</a:t>
            </a:r>
            <a:endParaRPr lang="en-US" sz="1150" dirty="0"/>
          </a:p>
        </p:txBody>
      </p:sp>
      <p:sp>
        <p:nvSpPr>
          <p:cNvPr id="35" name="Shape 33"/>
          <p:cNvSpPr/>
          <p:nvPr/>
        </p:nvSpPr>
        <p:spPr>
          <a:xfrm>
            <a:off x="877824" y="4892040"/>
            <a:ext cx="237744" cy="237744"/>
          </a:xfrm>
          <a:prstGeom prst="roundRect">
            <a:avLst>
              <a:gd name="adj" fmla="val 26923"/>
            </a:avLst>
          </a:prstGeom>
          <a:solidFill>
            <a:srgbClr val="2E6F63"/>
          </a:solidFill>
          <a:ln w="12700">
            <a:solidFill>
              <a:srgbClr val="2E6F63"/>
            </a:solidFill>
            <a:prstDash val="solid"/>
          </a:ln>
        </p:spPr>
      </p:sp>
      <p:sp>
        <p:nvSpPr>
          <p:cNvPr id="36" name="Text 34"/>
          <p:cNvSpPr txBox="1"/>
          <p:nvPr/>
        </p:nvSpPr>
        <p:spPr>
          <a:xfrm>
            <a:off x="877824" y="4892040"/>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8</a:t>
            </a:r>
            <a:endParaRPr lang="en-US" sz="1300" dirty="0"/>
          </a:p>
        </p:txBody>
      </p:sp>
      <p:sp>
        <p:nvSpPr>
          <p:cNvPr id="37" name="Text 35"/>
          <p:cNvSpPr txBox="1"/>
          <p:nvPr/>
        </p:nvSpPr>
        <p:spPr>
          <a:xfrm>
            <a:off x="1197864" y="4864608"/>
            <a:ext cx="2286000" cy="292608"/>
          </a:xfrm>
          <a:prstGeom prst="rect">
            <a:avLst/>
          </a:prstGeom>
          <a:noFill/>
          <a:ln/>
        </p:spPr>
        <p:txBody>
          <a:bodyPr wrap="square" lIns="0" tIns="0" rIns="0" bIns="0" rtlCol="0" anchor="ctr"/>
          <a:lstStyle/>
          <a:p>
            <a:pPr indent="0" marL="0">
              <a:buNone/>
            </a:pPr>
            <a:r>
              <a:rPr lang="en-US" sz="1200" b="1" dirty="0">
                <a:solidFill>
                  <a:srgbClr val="16202A"/>
                </a:solidFill>
                <a:latin typeface="Calibri" pitchFamily="34" charset="0"/>
                <a:ea typeface="Calibri" pitchFamily="34" charset="-122"/>
                <a:cs typeface="Calibri" pitchFamily="34" charset="-120"/>
              </a:rPr>
              <a:t>Discourse ethics</a:t>
            </a:r>
            <a:endParaRPr lang="en-US" sz="1200" dirty="0"/>
          </a:p>
        </p:txBody>
      </p:sp>
      <p:sp>
        <p:nvSpPr>
          <p:cNvPr id="38" name="Text 36"/>
          <p:cNvSpPr txBox="1"/>
          <p:nvPr/>
        </p:nvSpPr>
        <p:spPr>
          <a:xfrm>
            <a:off x="3529584" y="4864608"/>
            <a:ext cx="1874520" cy="292608"/>
          </a:xfrm>
          <a:prstGeom prst="rect">
            <a:avLst/>
          </a:prstGeom>
          <a:noFill/>
          <a:ln/>
        </p:spPr>
        <p:txBody>
          <a:bodyPr wrap="square" lIns="0" tIns="0" rIns="0" bIns="0" rtlCol="0" anchor="ctr"/>
          <a:lstStyle/>
          <a:p>
            <a:pPr algn="r" indent="0" marL="0">
              <a:buNone/>
            </a:pPr>
            <a:r>
              <a:rPr lang="en-US" sz="1150" b="1" dirty="0">
                <a:solidFill>
                  <a:srgbClr val="B8542A"/>
                </a:solidFill>
                <a:latin typeface="Calibri" pitchFamily="34" charset="0"/>
                <a:ea typeface="Calibri" pitchFamily="34" charset="-122"/>
                <a:cs typeface="Calibri" pitchFamily="34" charset="-120"/>
              </a:rPr>
              <a:t>Menolak prosedur</a:t>
            </a:r>
            <a:endParaRPr lang="en-US" sz="1150" dirty="0"/>
          </a:p>
        </p:txBody>
      </p:sp>
      <p:sp>
        <p:nvSpPr>
          <p:cNvPr id="39" name="Shape 37"/>
          <p:cNvSpPr/>
          <p:nvPr/>
        </p:nvSpPr>
        <p:spPr>
          <a:xfrm>
            <a:off x="877824" y="5257800"/>
            <a:ext cx="237744" cy="237744"/>
          </a:xfrm>
          <a:prstGeom prst="roundRect">
            <a:avLst>
              <a:gd name="adj" fmla="val 26923"/>
            </a:avLst>
          </a:prstGeom>
          <a:solidFill>
            <a:srgbClr val="2E6F63"/>
          </a:solidFill>
          <a:ln w="12700">
            <a:solidFill>
              <a:srgbClr val="2E6F63"/>
            </a:solidFill>
            <a:prstDash val="solid"/>
          </a:ln>
        </p:spPr>
      </p:sp>
      <p:sp>
        <p:nvSpPr>
          <p:cNvPr id="40" name="Text 38"/>
          <p:cNvSpPr txBox="1"/>
          <p:nvPr/>
        </p:nvSpPr>
        <p:spPr>
          <a:xfrm>
            <a:off x="877824" y="5257800"/>
            <a:ext cx="237744"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9</a:t>
            </a:r>
            <a:endParaRPr lang="en-US" sz="1300" dirty="0"/>
          </a:p>
        </p:txBody>
      </p:sp>
      <p:sp>
        <p:nvSpPr>
          <p:cNvPr id="41" name="Text 39"/>
          <p:cNvSpPr txBox="1"/>
          <p:nvPr/>
        </p:nvSpPr>
        <p:spPr>
          <a:xfrm>
            <a:off x="1197864" y="5230368"/>
            <a:ext cx="2286000" cy="292608"/>
          </a:xfrm>
          <a:prstGeom prst="rect">
            <a:avLst/>
          </a:prstGeom>
          <a:noFill/>
          <a:ln/>
        </p:spPr>
        <p:txBody>
          <a:bodyPr wrap="square" lIns="0" tIns="0" rIns="0" bIns="0" rtlCol="0" anchor="ctr"/>
          <a:lstStyle/>
          <a:p>
            <a:pPr indent="0" marL="0">
              <a:buNone/>
            </a:pPr>
            <a:r>
              <a:rPr lang="en-US" sz="1200" b="1" dirty="0">
                <a:solidFill>
                  <a:srgbClr val="16202A"/>
                </a:solidFill>
                <a:latin typeface="Calibri" pitchFamily="34" charset="0"/>
                <a:ea typeface="Calibri" pitchFamily="34" charset="-122"/>
                <a:cs typeface="Calibri" pitchFamily="34" charset="-120"/>
              </a:rPr>
              <a:t>Postmodern ethics</a:t>
            </a:r>
            <a:endParaRPr lang="en-US" sz="1200" dirty="0"/>
          </a:p>
        </p:txBody>
      </p:sp>
      <p:sp>
        <p:nvSpPr>
          <p:cNvPr id="42" name="Text 40"/>
          <p:cNvSpPr txBox="1"/>
          <p:nvPr/>
        </p:nvSpPr>
        <p:spPr>
          <a:xfrm>
            <a:off x="3529584" y="5230368"/>
            <a:ext cx="1874520" cy="292608"/>
          </a:xfrm>
          <a:prstGeom prst="rect">
            <a:avLst/>
          </a:prstGeom>
          <a:noFill/>
          <a:ln/>
        </p:spPr>
        <p:txBody>
          <a:bodyPr wrap="square" lIns="0" tIns="0" rIns="0" bIns="0" rtlCol="0" anchor="ctr"/>
          <a:lstStyle/>
          <a:p>
            <a:pPr algn="r" indent="0" marL="0">
              <a:buNone/>
            </a:pPr>
            <a:r>
              <a:rPr lang="en-US" sz="1150" b="1" dirty="0">
                <a:solidFill>
                  <a:srgbClr val="6B7684"/>
                </a:solidFill>
                <a:latin typeface="Calibri" pitchFamily="34" charset="0"/>
                <a:ea typeface="Calibri" pitchFamily="34" charset="-122"/>
                <a:cs typeface="Calibri" pitchFamily="34" charset="-120"/>
              </a:rPr>
              <a:t>Relativistik</a:t>
            </a:r>
            <a:endParaRPr lang="en-US" sz="1150" dirty="0"/>
          </a:p>
        </p:txBody>
      </p:sp>
      <p:sp>
        <p:nvSpPr>
          <p:cNvPr id="43" name="Shape 41"/>
          <p:cNvSpPr/>
          <p:nvPr/>
        </p:nvSpPr>
        <p:spPr>
          <a:xfrm>
            <a:off x="877824" y="5614416"/>
            <a:ext cx="4526280" cy="457200"/>
          </a:xfrm>
          <a:prstGeom prst="roundRect">
            <a:avLst>
              <a:gd name="adj" fmla="val 18000"/>
            </a:avLst>
          </a:prstGeom>
          <a:solidFill>
            <a:srgbClr val="16202A"/>
          </a:solidFill>
          <a:ln w="12700">
            <a:solidFill>
              <a:srgbClr val="16202A"/>
            </a:solidFill>
            <a:prstDash val="solid"/>
          </a:ln>
        </p:spPr>
      </p:sp>
      <p:sp>
        <p:nvSpPr>
          <p:cNvPr id="44" name="Text 42"/>
          <p:cNvSpPr txBox="1"/>
          <p:nvPr/>
        </p:nvSpPr>
        <p:spPr>
          <a:xfrm>
            <a:off x="1078992" y="5614416"/>
            <a:ext cx="4123944" cy="457200"/>
          </a:xfrm>
          <a:prstGeom prst="rect">
            <a:avLst/>
          </a:prstGeom>
          <a:noFill/>
          <a:ln/>
        </p:spPr>
        <p:txBody>
          <a:bodyPr wrap="square" lIns="0" tIns="0" rIns="0" bIns="0" rtlCol="0" anchor="ctr"/>
          <a:lstStyle/>
          <a:p>
            <a:pPr indent="0" marL="0">
              <a:buNone/>
            </a:pPr>
            <a:r>
              <a:rPr lang="en-US" sz="1050" dirty="0">
                <a:solidFill>
                  <a:srgbClr val="D5DDE4"/>
                </a:solidFill>
                <a:latin typeface="Calibri" pitchFamily="34" charset="0"/>
                <a:ea typeface="Calibri" pitchFamily="34" charset="-122"/>
                <a:cs typeface="Calibri" pitchFamily="34" charset="-120"/>
              </a:rPr>
              <a:t>Enam menolak, satu bersyarat, satu ambivalen, dan satu netral karena mengakui keterbatasan teorinya sendiri.</a:t>
            </a:r>
            <a:endParaRPr lang="en-US" sz="1050" dirty="0"/>
          </a:p>
        </p:txBody>
      </p:sp>
      <p:sp>
        <p:nvSpPr>
          <p:cNvPr id="45" name="Text 43"/>
          <p:cNvSpPr txBox="1"/>
          <p:nvPr/>
        </p:nvSpPr>
        <p:spPr>
          <a:xfrm>
            <a:off x="6099048" y="1975104"/>
            <a:ext cx="5486400" cy="219456"/>
          </a:xfrm>
          <a:prstGeom prst="rect">
            <a:avLst/>
          </a:prstGeom>
          <a:noFill/>
          <a:ln/>
        </p:spPr>
        <p:txBody>
          <a:bodyPr wrap="square" lIns="0" tIns="0" rIns="0" bIns="0" rtlCol="0" anchor="ctr"/>
          <a:lstStyle/>
          <a:p>
            <a:pPr indent="0" marL="0">
              <a:buNone/>
            </a:pPr>
            <a:r>
              <a:rPr lang="en-US" sz="950" b="1" spc="120" kern="0" dirty="0">
                <a:solidFill>
                  <a:srgbClr val="B8542A"/>
                </a:solidFill>
                <a:latin typeface="Calibri" pitchFamily="34" charset="0"/>
                <a:ea typeface="Calibri" pitchFamily="34" charset="-122"/>
                <a:cs typeface="Calibri" pitchFamily="34" charset="-120"/>
              </a:rPr>
              <a:t>EMPAT PROPOSISI YANG DITURUNKAN DARI KESEMBILAN TEORI</a:t>
            </a:r>
            <a:endParaRPr lang="en-US" sz="950" dirty="0"/>
          </a:p>
        </p:txBody>
      </p:sp>
      <p:sp>
        <p:nvSpPr>
          <p:cNvPr id="46" name="Shape 44"/>
          <p:cNvSpPr/>
          <p:nvPr/>
        </p:nvSpPr>
        <p:spPr>
          <a:xfrm>
            <a:off x="6099048" y="2304288"/>
            <a:ext cx="5522976" cy="914400"/>
          </a:xfrm>
          <a:prstGeom prst="roundRect">
            <a:avLst>
              <a:gd name="adj" fmla="val 9000"/>
            </a:avLst>
          </a:prstGeom>
          <a:solidFill>
            <a:srgbClr val="F1F3F5"/>
          </a:solidFill>
          <a:ln w="12700">
            <a:solidFill>
              <a:srgbClr val="F1F3F5"/>
            </a:solidFill>
            <a:prstDash val="solid"/>
          </a:ln>
        </p:spPr>
      </p:sp>
      <p:sp>
        <p:nvSpPr>
          <p:cNvPr id="47" name="Shape 45"/>
          <p:cNvSpPr/>
          <p:nvPr/>
        </p:nvSpPr>
        <p:spPr>
          <a:xfrm>
            <a:off x="6336792" y="2468880"/>
            <a:ext cx="274320" cy="274320"/>
          </a:xfrm>
          <a:prstGeom prst="roundRect">
            <a:avLst>
              <a:gd name="adj" fmla="val 23333"/>
            </a:avLst>
          </a:prstGeom>
          <a:solidFill>
            <a:srgbClr val="16202A"/>
          </a:solidFill>
          <a:ln w="12700">
            <a:solidFill>
              <a:srgbClr val="16202A"/>
            </a:solidFill>
            <a:prstDash val="solid"/>
          </a:ln>
        </p:spPr>
      </p:sp>
      <p:sp>
        <p:nvSpPr>
          <p:cNvPr id="48" name="Text 46"/>
          <p:cNvSpPr txBox="1"/>
          <p:nvPr/>
        </p:nvSpPr>
        <p:spPr>
          <a:xfrm>
            <a:off x="6336792" y="246888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49" name="Text 47"/>
          <p:cNvSpPr txBox="1"/>
          <p:nvPr/>
        </p:nvSpPr>
        <p:spPr>
          <a:xfrm>
            <a:off x="6702552" y="2432304"/>
            <a:ext cx="4700016" cy="274320"/>
          </a:xfrm>
          <a:prstGeom prst="rect">
            <a:avLst/>
          </a:prstGeom>
          <a:noFill/>
          <a:ln/>
        </p:spPr>
        <p:txBody>
          <a:bodyPr wrap="square" lIns="0" tIns="0" rIns="0" bIns="0" rtlCol="0" anchor="ctr"/>
          <a:lstStyle/>
          <a:p>
            <a:pPr indent="0" marL="0">
              <a:buNone/>
            </a:pPr>
            <a:r>
              <a:rPr lang="en-US" sz="1350" b="1" dirty="0">
                <a:solidFill>
                  <a:srgbClr val="16202A"/>
                </a:solidFill>
                <a:latin typeface="Cambria" pitchFamily="34" charset="0"/>
                <a:ea typeface="Cambria" pitchFamily="34" charset="-122"/>
                <a:cs typeface="Cambria" pitchFamily="34" charset="-120"/>
              </a:rPr>
              <a:t>Perbandingan masa lalu tidak bernilai normatif</a:t>
            </a:r>
            <a:endParaRPr lang="en-US" sz="1350" dirty="0"/>
          </a:p>
        </p:txBody>
      </p:sp>
      <p:sp>
        <p:nvSpPr>
          <p:cNvPr id="50" name="Text 48"/>
          <p:cNvSpPr txBox="1"/>
          <p:nvPr/>
        </p:nvSpPr>
        <p:spPr>
          <a:xfrm>
            <a:off x="6702552" y="2706624"/>
            <a:ext cx="4700016" cy="438912"/>
          </a:xfrm>
          <a:prstGeom prst="rect">
            <a:avLst/>
          </a:prstGeom>
          <a:noFill/>
          <a:ln/>
        </p:spPr>
        <p:txBody>
          <a:bodyPr wrap="square" lIns="0" tIns="0" rIns="0" bIns="0" rtlCol="0" anchor="t"/>
          <a:lstStyle/>
          <a:p>
            <a:pPr indent="0" marL="0">
              <a:lnSpc>
                <a:spcPct val="108000"/>
              </a:lnSpc>
              <a:buNone/>
            </a:pPr>
            <a:r>
              <a:rPr lang="en-US" sz="1100" dirty="0">
                <a:solidFill>
                  <a:srgbClr val="2C3540"/>
                </a:solidFill>
                <a:latin typeface="Calibri" pitchFamily="34" charset="0"/>
                <a:ea typeface="Calibri" pitchFamily="34" charset="-122"/>
                <a:cs typeface="Calibri" pitchFamily="34" charset="-120"/>
              </a:rPr>
              <a:t>Kondisi yang lebih baik daripada ekspor bijih mentah tidak dengan sendirinya memadai. Virtue ethics menuntut pembanding pada standar tertinggi.</a:t>
            </a:r>
            <a:endParaRPr lang="en-US" sz="1100" dirty="0"/>
          </a:p>
        </p:txBody>
      </p:sp>
      <p:sp>
        <p:nvSpPr>
          <p:cNvPr id="51" name="Shape 49"/>
          <p:cNvSpPr/>
          <p:nvPr/>
        </p:nvSpPr>
        <p:spPr>
          <a:xfrm>
            <a:off x="6099048" y="3310128"/>
            <a:ext cx="5522976" cy="914400"/>
          </a:xfrm>
          <a:prstGeom prst="roundRect">
            <a:avLst>
              <a:gd name="adj" fmla="val 9000"/>
            </a:avLst>
          </a:prstGeom>
          <a:solidFill>
            <a:srgbClr val="E6EAEE"/>
          </a:solidFill>
          <a:ln w="12700">
            <a:solidFill>
              <a:srgbClr val="E6EAEE"/>
            </a:solidFill>
            <a:prstDash val="solid"/>
          </a:ln>
        </p:spPr>
      </p:sp>
      <p:sp>
        <p:nvSpPr>
          <p:cNvPr id="52" name="Shape 50"/>
          <p:cNvSpPr/>
          <p:nvPr/>
        </p:nvSpPr>
        <p:spPr>
          <a:xfrm>
            <a:off x="6336792" y="3474720"/>
            <a:ext cx="274320" cy="274320"/>
          </a:xfrm>
          <a:prstGeom prst="roundRect">
            <a:avLst>
              <a:gd name="adj" fmla="val 23333"/>
            </a:avLst>
          </a:prstGeom>
          <a:solidFill>
            <a:srgbClr val="16202A"/>
          </a:solidFill>
          <a:ln w="12700">
            <a:solidFill>
              <a:srgbClr val="16202A"/>
            </a:solidFill>
            <a:prstDash val="solid"/>
          </a:ln>
        </p:spPr>
      </p:sp>
      <p:sp>
        <p:nvSpPr>
          <p:cNvPr id="53" name="Text 51"/>
          <p:cNvSpPr txBox="1"/>
          <p:nvPr/>
        </p:nvSpPr>
        <p:spPr>
          <a:xfrm>
            <a:off x="6336792" y="347472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54" name="Text 52"/>
          <p:cNvSpPr txBox="1"/>
          <p:nvPr/>
        </p:nvSpPr>
        <p:spPr>
          <a:xfrm>
            <a:off x="6702552" y="3438144"/>
            <a:ext cx="4700016" cy="274320"/>
          </a:xfrm>
          <a:prstGeom prst="rect">
            <a:avLst/>
          </a:prstGeom>
          <a:noFill/>
          <a:ln/>
        </p:spPr>
        <p:txBody>
          <a:bodyPr wrap="square" lIns="0" tIns="0" rIns="0" bIns="0" rtlCol="0" anchor="ctr"/>
          <a:lstStyle/>
          <a:p>
            <a:pPr indent="0" marL="0">
              <a:buNone/>
            </a:pPr>
            <a:r>
              <a:rPr lang="en-US" sz="1350" b="1" dirty="0">
                <a:solidFill>
                  <a:srgbClr val="16202A"/>
                </a:solidFill>
                <a:latin typeface="Cambria" pitchFamily="34" charset="0"/>
                <a:ea typeface="Cambria" pitchFamily="34" charset="-122"/>
                <a:cs typeface="Cambria" pitchFamily="34" charset="-120"/>
              </a:rPr>
              <a:t>Klaim hijau gugur pada sumber energinya</a:t>
            </a:r>
            <a:endParaRPr lang="en-US" sz="1350" dirty="0"/>
          </a:p>
        </p:txBody>
      </p:sp>
      <p:sp>
        <p:nvSpPr>
          <p:cNvPr id="55" name="Text 53"/>
          <p:cNvSpPr txBox="1"/>
          <p:nvPr/>
        </p:nvSpPr>
        <p:spPr>
          <a:xfrm>
            <a:off x="6702552" y="3712464"/>
            <a:ext cx="4700016" cy="438912"/>
          </a:xfrm>
          <a:prstGeom prst="rect">
            <a:avLst/>
          </a:prstGeom>
          <a:noFill/>
          <a:ln/>
        </p:spPr>
        <p:txBody>
          <a:bodyPr wrap="square" lIns="0" tIns="0" rIns="0" bIns="0" rtlCol="0" anchor="t"/>
          <a:lstStyle/>
          <a:p>
            <a:pPr indent="0" marL="0">
              <a:lnSpc>
                <a:spcPct val="108000"/>
              </a:lnSpc>
              <a:buNone/>
            </a:pPr>
            <a:r>
              <a:rPr lang="en-US" sz="1100" dirty="0">
                <a:solidFill>
                  <a:srgbClr val="2C3540"/>
                </a:solidFill>
                <a:latin typeface="Calibri" pitchFamily="34" charset="0"/>
                <a:ea typeface="Calibri" pitchFamily="34" charset="-122"/>
                <a:cs typeface="Calibri" pitchFamily="34" charset="-120"/>
              </a:rPr>
              <a:t>Pengolahan yang bertumpu pada pembangkit batu bara di dalam kawasan tidak dapat disebut hijau. Postmodern ethics membacanya sebagai alat pembenar.</a:t>
            </a:r>
            <a:endParaRPr lang="en-US" sz="1100" dirty="0"/>
          </a:p>
        </p:txBody>
      </p:sp>
      <p:sp>
        <p:nvSpPr>
          <p:cNvPr id="56" name="Shape 54"/>
          <p:cNvSpPr/>
          <p:nvPr/>
        </p:nvSpPr>
        <p:spPr>
          <a:xfrm>
            <a:off x="6099048" y="4315968"/>
            <a:ext cx="5522976" cy="914400"/>
          </a:xfrm>
          <a:prstGeom prst="roundRect">
            <a:avLst>
              <a:gd name="adj" fmla="val 9000"/>
            </a:avLst>
          </a:prstGeom>
          <a:solidFill>
            <a:srgbClr val="F1F3F5"/>
          </a:solidFill>
          <a:ln w="12700">
            <a:solidFill>
              <a:srgbClr val="F1F3F5"/>
            </a:solidFill>
            <a:prstDash val="solid"/>
          </a:ln>
        </p:spPr>
      </p:sp>
      <p:sp>
        <p:nvSpPr>
          <p:cNvPr id="57" name="Shape 55"/>
          <p:cNvSpPr/>
          <p:nvPr/>
        </p:nvSpPr>
        <p:spPr>
          <a:xfrm>
            <a:off x="6336792" y="4480560"/>
            <a:ext cx="274320" cy="274320"/>
          </a:xfrm>
          <a:prstGeom prst="roundRect">
            <a:avLst>
              <a:gd name="adj" fmla="val 23333"/>
            </a:avLst>
          </a:prstGeom>
          <a:solidFill>
            <a:srgbClr val="16202A"/>
          </a:solidFill>
          <a:ln w="12700">
            <a:solidFill>
              <a:srgbClr val="16202A"/>
            </a:solidFill>
            <a:prstDash val="solid"/>
          </a:ln>
        </p:spPr>
      </p:sp>
      <p:sp>
        <p:nvSpPr>
          <p:cNvPr id="58" name="Text 56"/>
          <p:cNvSpPr txBox="1"/>
          <p:nvPr/>
        </p:nvSpPr>
        <p:spPr>
          <a:xfrm>
            <a:off x="6336792" y="448056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59" name="Text 57"/>
          <p:cNvSpPr txBox="1"/>
          <p:nvPr/>
        </p:nvSpPr>
        <p:spPr>
          <a:xfrm>
            <a:off x="6702552" y="4443984"/>
            <a:ext cx="4700016" cy="274320"/>
          </a:xfrm>
          <a:prstGeom prst="rect">
            <a:avLst/>
          </a:prstGeom>
          <a:noFill/>
          <a:ln/>
        </p:spPr>
        <p:txBody>
          <a:bodyPr wrap="square" lIns="0" tIns="0" rIns="0" bIns="0" rtlCol="0" anchor="ctr"/>
          <a:lstStyle/>
          <a:p>
            <a:pPr indent="0" marL="0">
              <a:buNone/>
            </a:pPr>
            <a:r>
              <a:rPr lang="en-US" sz="1350" b="1" dirty="0">
                <a:solidFill>
                  <a:srgbClr val="16202A"/>
                </a:solidFill>
                <a:latin typeface="Cambria" pitchFamily="34" charset="0"/>
                <a:ea typeface="Cambria" pitchFamily="34" charset="-122"/>
                <a:cs typeface="Cambria" pitchFamily="34" charset="-120"/>
              </a:rPr>
              <a:t>Distribusi manfaat dan beban tidak simetris</a:t>
            </a:r>
            <a:endParaRPr lang="en-US" sz="1350" dirty="0"/>
          </a:p>
        </p:txBody>
      </p:sp>
      <p:sp>
        <p:nvSpPr>
          <p:cNvPr id="60" name="Text 58"/>
          <p:cNvSpPr txBox="1"/>
          <p:nvPr/>
        </p:nvSpPr>
        <p:spPr>
          <a:xfrm>
            <a:off x="6702552" y="4718304"/>
            <a:ext cx="4700016" cy="438912"/>
          </a:xfrm>
          <a:prstGeom prst="rect">
            <a:avLst/>
          </a:prstGeom>
          <a:noFill/>
          <a:ln/>
        </p:spPr>
        <p:txBody>
          <a:bodyPr wrap="square" lIns="0" tIns="0" rIns="0" bIns="0" rtlCol="0" anchor="t"/>
          <a:lstStyle/>
          <a:p>
            <a:pPr indent="0" marL="0">
              <a:lnSpc>
                <a:spcPct val="108000"/>
              </a:lnSpc>
              <a:buNone/>
            </a:pPr>
            <a:r>
              <a:rPr lang="en-US" sz="1100" dirty="0">
                <a:solidFill>
                  <a:srgbClr val="2C3540"/>
                </a:solidFill>
                <a:latin typeface="Calibri" pitchFamily="34" charset="0"/>
                <a:ea typeface="Calibri" pitchFamily="34" charset="-122"/>
                <a:cs typeface="Calibri" pitchFamily="34" charset="-120"/>
              </a:rPr>
              <a:t>Hanya 4,35 persen nilai tambah tinggal di daerah, sementara kabupaten penghasil lebih miskin daripada rata-rata provinsinya. Rawls menolaknya.</a:t>
            </a:r>
            <a:endParaRPr lang="en-US" sz="1100" dirty="0"/>
          </a:p>
        </p:txBody>
      </p:sp>
      <p:sp>
        <p:nvSpPr>
          <p:cNvPr id="61" name="Shape 59"/>
          <p:cNvSpPr/>
          <p:nvPr/>
        </p:nvSpPr>
        <p:spPr>
          <a:xfrm>
            <a:off x="6099048" y="5321808"/>
            <a:ext cx="5522976" cy="914400"/>
          </a:xfrm>
          <a:prstGeom prst="roundRect">
            <a:avLst>
              <a:gd name="adj" fmla="val 9000"/>
            </a:avLst>
          </a:prstGeom>
          <a:solidFill>
            <a:srgbClr val="E6EAEE"/>
          </a:solidFill>
          <a:ln w="12700">
            <a:solidFill>
              <a:srgbClr val="E6EAEE"/>
            </a:solidFill>
            <a:prstDash val="solid"/>
          </a:ln>
        </p:spPr>
      </p:sp>
      <p:sp>
        <p:nvSpPr>
          <p:cNvPr id="62" name="Shape 60"/>
          <p:cNvSpPr/>
          <p:nvPr/>
        </p:nvSpPr>
        <p:spPr>
          <a:xfrm>
            <a:off x="6336792" y="5486400"/>
            <a:ext cx="274320" cy="274320"/>
          </a:xfrm>
          <a:prstGeom prst="roundRect">
            <a:avLst>
              <a:gd name="adj" fmla="val 23333"/>
            </a:avLst>
          </a:prstGeom>
          <a:solidFill>
            <a:srgbClr val="16202A"/>
          </a:solidFill>
          <a:ln w="12700">
            <a:solidFill>
              <a:srgbClr val="16202A"/>
            </a:solidFill>
            <a:prstDash val="solid"/>
          </a:ln>
        </p:spPr>
      </p:sp>
      <p:sp>
        <p:nvSpPr>
          <p:cNvPr id="63" name="Text 61"/>
          <p:cNvSpPr txBox="1"/>
          <p:nvPr/>
        </p:nvSpPr>
        <p:spPr>
          <a:xfrm>
            <a:off x="6336792" y="5486400"/>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64" name="Text 62"/>
          <p:cNvSpPr txBox="1"/>
          <p:nvPr/>
        </p:nvSpPr>
        <p:spPr>
          <a:xfrm>
            <a:off x="6702552" y="5449824"/>
            <a:ext cx="4700016" cy="274320"/>
          </a:xfrm>
          <a:prstGeom prst="rect">
            <a:avLst/>
          </a:prstGeom>
          <a:noFill/>
          <a:ln/>
        </p:spPr>
        <p:txBody>
          <a:bodyPr wrap="square" lIns="0" tIns="0" rIns="0" bIns="0" rtlCol="0" anchor="ctr"/>
          <a:lstStyle/>
          <a:p>
            <a:pPr indent="0" marL="0">
              <a:buNone/>
            </a:pPr>
            <a:r>
              <a:rPr lang="en-US" sz="1350" b="1" dirty="0">
                <a:solidFill>
                  <a:srgbClr val="16202A"/>
                </a:solidFill>
                <a:latin typeface="Cambria" pitchFamily="34" charset="0"/>
                <a:ea typeface="Cambria" pitchFamily="34" charset="-122"/>
                <a:cs typeface="Cambria" pitchFamily="34" charset="-120"/>
              </a:rPr>
              <a:t>Prosesnya cacat sejak perumusan</a:t>
            </a:r>
            <a:endParaRPr lang="en-US" sz="1350" dirty="0"/>
          </a:p>
        </p:txBody>
      </p:sp>
      <p:sp>
        <p:nvSpPr>
          <p:cNvPr id="65" name="Text 63"/>
          <p:cNvSpPr txBox="1"/>
          <p:nvPr/>
        </p:nvSpPr>
        <p:spPr>
          <a:xfrm>
            <a:off x="6702552" y="5724144"/>
            <a:ext cx="4700016" cy="438912"/>
          </a:xfrm>
          <a:prstGeom prst="rect">
            <a:avLst/>
          </a:prstGeom>
          <a:noFill/>
          <a:ln/>
        </p:spPr>
        <p:txBody>
          <a:bodyPr wrap="square" lIns="0" tIns="0" rIns="0" bIns="0" rtlCol="0" anchor="t"/>
          <a:lstStyle/>
          <a:p>
            <a:pPr indent="0" marL="0">
              <a:lnSpc>
                <a:spcPct val="108000"/>
              </a:lnSpc>
              <a:buNone/>
            </a:pPr>
            <a:r>
              <a:rPr lang="en-US" sz="1100" dirty="0">
                <a:solidFill>
                  <a:srgbClr val="2C3540"/>
                </a:solidFill>
                <a:latin typeface="Calibri" pitchFamily="34" charset="0"/>
                <a:ea typeface="Calibri" pitchFamily="34" charset="-122"/>
                <a:cs typeface="Calibri" pitchFamily="34" charset="-120"/>
              </a:rPr>
              <a:t>Warga terdampak tidak menjadi pihak dalam perizinan dan perencanaan kawasan. Discourse ethics membatalkan hasil dari proses semacam itu.</a:t>
            </a:r>
            <a:endParaRPr lang="en-US" sz="1100" dirty="0"/>
          </a:p>
        </p:txBody>
      </p:sp>
      <p:sp>
        <p:nvSpPr>
          <p:cNvPr id="66" name="Text 64"/>
          <p:cNvSpPr txBox="1"/>
          <p:nvPr/>
        </p:nvSpPr>
        <p:spPr>
          <a:xfrm>
            <a:off x="566928" y="6419088"/>
            <a:ext cx="10143439" cy="237744"/>
          </a:xfrm>
          <a:prstGeom prst="rect">
            <a:avLst/>
          </a:prstGeom>
          <a:noFill/>
          <a:ln/>
        </p:spPr>
        <p:txBody>
          <a:bodyPr wrap="square" lIns="0" tIns="0" rIns="0" bIns="0" rtlCol="0" anchor="ctr"/>
          <a:lstStyle/>
          <a:p>
            <a:pPr indent="0" marL="0">
              <a:buNone/>
            </a:pPr>
            <a:r>
              <a:rPr lang="en-US" sz="900" i="1" dirty="0">
                <a:solidFill>
                  <a:srgbClr val="6B7684"/>
                </a:solidFill>
                <a:latin typeface="Calibri" pitchFamily="34" charset="0"/>
                <a:ea typeface="Calibri" pitchFamily="34" charset="-122"/>
                <a:cs typeface="Calibri" pitchFamily="34" charset="-120"/>
              </a:rPr>
              <a:t>Penolakan atas klaim nikel hijau tidak setara dengan penolakan atas hilirisasi. Keduanya persoalan yang terpisah.</a:t>
            </a:r>
            <a:endParaRPr lang="en-US" sz="900" dirty="0"/>
          </a:p>
        </p:txBody>
      </p:sp>
      <p:sp>
        <p:nvSpPr>
          <p:cNvPr id="67" name="Text 65"/>
          <p:cNvSpPr txBox="1"/>
          <p:nvPr/>
        </p:nvSpPr>
        <p:spPr>
          <a:xfrm>
            <a:off x="10893247" y="6419088"/>
            <a:ext cx="731520" cy="237744"/>
          </a:xfrm>
          <a:prstGeom prst="rect">
            <a:avLst/>
          </a:prstGeom>
          <a:noFill/>
          <a:ln/>
        </p:spPr>
        <p:txBody>
          <a:bodyPr wrap="square" lIns="0" tIns="0" rIns="0" bIns="0" rtlCol="0" anchor="ctr"/>
          <a:lstStyle/>
          <a:p>
            <a:pPr algn="r" indent="0" marL="0">
              <a:buNone/>
            </a:pPr>
            <a:r>
              <a:rPr lang="en-US" sz="1100" b="1" dirty="0">
                <a:solidFill>
                  <a:srgbClr val="6B7684"/>
                </a:solidFill>
                <a:latin typeface="Cambria" pitchFamily="34" charset="0"/>
                <a:ea typeface="Cambria" pitchFamily="34" charset="-122"/>
                <a:cs typeface="Cambria"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566928" y="347472"/>
            <a:ext cx="11057839" cy="219456"/>
          </a:xfrm>
          <a:prstGeom prst="rect">
            <a:avLst/>
          </a:prstGeom>
          <a:noFill/>
          <a:ln/>
        </p:spPr>
        <p:txBody>
          <a:bodyPr wrap="square" lIns="0" tIns="0" rIns="0" bIns="0" rtlCol="0" anchor="ctr"/>
          <a:lstStyle/>
          <a:p>
            <a:pPr indent="0" marL="0">
              <a:buNone/>
            </a:pPr>
            <a:r>
              <a:rPr lang="en-US" sz="1000" b="1" spc="160" kern="0" dirty="0">
                <a:solidFill>
                  <a:srgbClr val="97A3AE"/>
                </a:solidFill>
                <a:latin typeface="Calibri" pitchFamily="34" charset="0"/>
                <a:ea typeface="Calibri" pitchFamily="34" charset="-122"/>
                <a:cs typeface="Calibri" pitchFamily="34" charset="-120"/>
              </a:rPr>
              <a:t>PENUTUP</a:t>
            </a:r>
            <a:endParaRPr lang="en-US" sz="1000" dirty="0"/>
          </a:p>
        </p:txBody>
      </p:sp>
      <p:sp>
        <p:nvSpPr>
          <p:cNvPr id="3" name="Text 1"/>
          <p:cNvSpPr txBox="1"/>
          <p:nvPr/>
        </p:nvSpPr>
        <p:spPr>
          <a:xfrm>
            <a:off x="566928" y="585216"/>
            <a:ext cx="11057839"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Simpulan dan implikasi manajerial</a:t>
            </a:r>
            <a:endParaRPr lang="en-US" sz="2800" dirty="0"/>
          </a:p>
        </p:txBody>
      </p:sp>
      <p:sp>
        <p:nvSpPr>
          <p:cNvPr id="4" name="Text 2"/>
          <p:cNvSpPr txBox="1"/>
          <p:nvPr/>
        </p:nvSpPr>
        <p:spPr>
          <a:xfrm>
            <a:off x="566928" y="1170432"/>
            <a:ext cx="11057839" cy="310896"/>
          </a:xfrm>
          <a:prstGeom prst="rect">
            <a:avLst/>
          </a:prstGeom>
          <a:noFill/>
          <a:ln/>
        </p:spPr>
        <p:txBody>
          <a:bodyPr wrap="square" lIns="0" tIns="0" rIns="0" bIns="0" rtlCol="0" anchor="t"/>
          <a:lstStyle/>
          <a:p>
            <a:pPr indent="0" marL="0">
              <a:lnSpc>
                <a:spcPct val="110000"/>
              </a:lnSpc>
              <a:buNone/>
            </a:pPr>
            <a:r>
              <a:rPr lang="en-US" sz="1250" dirty="0">
                <a:solidFill>
                  <a:srgbClr val="97A3AE"/>
                </a:solidFill>
                <a:latin typeface="Calibri" pitchFamily="34" charset="0"/>
                <a:ea typeface="Calibri" pitchFamily="34" charset="-122"/>
                <a:cs typeface="Calibri" pitchFamily="34" charset="-120"/>
              </a:rPr>
              <a:t>Tiga temuan dari pengujian, diikuti tiga tindak lanjut yang dapat dijalankan manajemen.</a:t>
            </a:r>
            <a:endParaRPr lang="en-US" sz="1250" dirty="0"/>
          </a:p>
        </p:txBody>
      </p:sp>
      <p:sp>
        <p:nvSpPr>
          <p:cNvPr id="5" name="Shape 3"/>
          <p:cNvSpPr/>
          <p:nvPr/>
        </p:nvSpPr>
        <p:spPr>
          <a:xfrm>
            <a:off x="566928" y="1773936"/>
            <a:ext cx="3442106" cy="2249424"/>
          </a:xfrm>
          <a:prstGeom prst="roundRect">
            <a:avLst>
              <a:gd name="adj" fmla="val 3659"/>
            </a:avLst>
          </a:prstGeom>
          <a:solidFill>
            <a:srgbClr val="22303D"/>
          </a:solidFill>
          <a:ln w="12700">
            <a:solidFill>
              <a:srgbClr val="22303D"/>
            </a:solidFill>
            <a:prstDash val="solid"/>
          </a:ln>
        </p:spPr>
      </p:sp>
      <p:sp>
        <p:nvSpPr>
          <p:cNvPr id="6" name="Shape 4"/>
          <p:cNvSpPr/>
          <p:nvPr/>
        </p:nvSpPr>
        <p:spPr>
          <a:xfrm>
            <a:off x="841248" y="1956816"/>
            <a:ext cx="310896" cy="310896"/>
          </a:xfrm>
          <a:prstGeom prst="roundRect">
            <a:avLst>
              <a:gd name="adj" fmla="val 20588"/>
            </a:avLst>
          </a:prstGeom>
          <a:solidFill>
            <a:srgbClr val="B8542A"/>
          </a:solidFill>
          <a:ln w="12700">
            <a:solidFill>
              <a:srgbClr val="B8542A"/>
            </a:solidFill>
            <a:prstDash val="solid"/>
          </a:ln>
        </p:spPr>
      </p:sp>
      <p:sp>
        <p:nvSpPr>
          <p:cNvPr id="7" name="Text 5"/>
          <p:cNvSpPr txBox="1"/>
          <p:nvPr/>
        </p:nvSpPr>
        <p:spPr>
          <a:xfrm>
            <a:off x="841248" y="19568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txBox="1"/>
          <p:nvPr/>
        </p:nvSpPr>
        <p:spPr>
          <a:xfrm>
            <a:off x="841248" y="2340864"/>
            <a:ext cx="2893466" cy="493776"/>
          </a:xfrm>
          <a:prstGeom prst="rect">
            <a:avLst/>
          </a:prstGeom>
          <a:noFill/>
          <a:ln/>
        </p:spPr>
        <p:txBody>
          <a:bodyPr wrap="square" lIns="0" tIns="0" rIns="0" bIns="0" rtlCol="0" anchor="t"/>
          <a:lstStyle/>
          <a:p>
            <a:pPr indent="0" marL="0">
              <a:lnSpc>
                <a:spcPct val="105000"/>
              </a:lnSpc>
              <a:buNone/>
            </a:pPr>
            <a:r>
              <a:rPr lang="en-US" sz="1550" b="1" dirty="0">
                <a:solidFill>
                  <a:srgbClr val="FFFFFF"/>
                </a:solidFill>
                <a:latin typeface="Cambria" pitchFamily="34" charset="0"/>
                <a:ea typeface="Cambria" pitchFamily="34" charset="-122"/>
                <a:cs typeface="Cambria" pitchFamily="34" charset="-120"/>
              </a:rPr>
              <a:t>Konvergensi, bukan kesepakatan</a:t>
            </a:r>
            <a:endParaRPr lang="en-US" sz="1550" dirty="0"/>
          </a:p>
        </p:txBody>
      </p:sp>
      <p:sp>
        <p:nvSpPr>
          <p:cNvPr id="9" name="Text 7"/>
          <p:cNvSpPr txBox="1"/>
          <p:nvPr/>
        </p:nvSpPr>
        <p:spPr>
          <a:xfrm>
            <a:off x="841248" y="2889504"/>
            <a:ext cx="2893466" cy="914400"/>
          </a:xfrm>
          <a:prstGeom prst="rect">
            <a:avLst/>
          </a:prstGeom>
          <a:noFill/>
          <a:ln/>
        </p:spPr>
        <p:txBody>
          <a:bodyPr wrap="square" lIns="0" tIns="0" rIns="0" bIns="0" rtlCol="0" anchor="t"/>
          <a:lstStyle/>
          <a:p>
            <a:pPr indent="0" marL="0">
              <a:lnSpc>
                <a:spcPct val="114000"/>
              </a:lnSpc>
              <a:buNone/>
            </a:pPr>
            <a:r>
              <a:rPr lang="en-US" sz="1150" dirty="0">
                <a:solidFill>
                  <a:srgbClr val="C6CFD8"/>
                </a:solidFill>
                <a:latin typeface="Calibri" pitchFamily="34" charset="0"/>
                <a:ea typeface="Calibri" pitchFamily="34" charset="-122"/>
                <a:cs typeface="Calibri" pitchFamily="34" charset="-120"/>
              </a:rPr>
              <a:t>Sembilan teori berangkat dari premis berbeda, namun mayoritasnya bermuara pada arah yang sama. Konvergensi dari titik masuk berbeda inilah bukti terkuat pluralisme.</a:t>
            </a:r>
            <a:endParaRPr lang="en-US" sz="1150" dirty="0"/>
          </a:p>
        </p:txBody>
      </p:sp>
      <p:sp>
        <p:nvSpPr>
          <p:cNvPr id="10" name="Shape 8"/>
          <p:cNvSpPr/>
          <p:nvPr/>
        </p:nvSpPr>
        <p:spPr>
          <a:xfrm>
            <a:off x="4374794" y="1773936"/>
            <a:ext cx="3442106" cy="2249424"/>
          </a:xfrm>
          <a:prstGeom prst="roundRect">
            <a:avLst>
              <a:gd name="adj" fmla="val 3659"/>
            </a:avLst>
          </a:prstGeom>
          <a:solidFill>
            <a:srgbClr val="22303D"/>
          </a:solidFill>
          <a:ln w="12700">
            <a:solidFill>
              <a:srgbClr val="22303D"/>
            </a:solidFill>
            <a:prstDash val="solid"/>
          </a:ln>
        </p:spPr>
      </p:sp>
      <p:sp>
        <p:nvSpPr>
          <p:cNvPr id="11" name="Shape 9"/>
          <p:cNvSpPr/>
          <p:nvPr/>
        </p:nvSpPr>
        <p:spPr>
          <a:xfrm>
            <a:off x="4649114" y="1956816"/>
            <a:ext cx="310896" cy="310896"/>
          </a:xfrm>
          <a:prstGeom prst="roundRect">
            <a:avLst>
              <a:gd name="adj" fmla="val 20588"/>
            </a:avLst>
          </a:prstGeom>
          <a:solidFill>
            <a:srgbClr val="B8542A"/>
          </a:solidFill>
          <a:ln w="12700">
            <a:solidFill>
              <a:srgbClr val="B8542A"/>
            </a:solidFill>
            <a:prstDash val="solid"/>
          </a:ln>
        </p:spPr>
      </p:sp>
      <p:sp>
        <p:nvSpPr>
          <p:cNvPr id="12" name="Text 10"/>
          <p:cNvSpPr txBox="1"/>
          <p:nvPr/>
        </p:nvSpPr>
        <p:spPr>
          <a:xfrm>
            <a:off x="4649114" y="19568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4649114" y="2340864"/>
            <a:ext cx="2893466" cy="493776"/>
          </a:xfrm>
          <a:prstGeom prst="rect">
            <a:avLst/>
          </a:prstGeom>
          <a:noFill/>
          <a:ln/>
        </p:spPr>
        <p:txBody>
          <a:bodyPr wrap="square" lIns="0" tIns="0" rIns="0" bIns="0" rtlCol="0" anchor="t"/>
          <a:lstStyle/>
          <a:p>
            <a:pPr indent="0" marL="0">
              <a:lnSpc>
                <a:spcPct val="105000"/>
              </a:lnSpc>
              <a:buNone/>
            </a:pPr>
            <a:r>
              <a:rPr lang="en-US" sz="1550" b="1" dirty="0">
                <a:solidFill>
                  <a:srgbClr val="FFFFFF"/>
                </a:solidFill>
                <a:latin typeface="Cambria" pitchFamily="34" charset="0"/>
                <a:ea typeface="Cambria" pitchFamily="34" charset="-122"/>
                <a:cs typeface="Cambria" pitchFamily="34" charset="-120"/>
              </a:rPr>
              <a:t>Klaim etis yang gugur</a:t>
            </a:r>
            <a:endParaRPr lang="en-US" sz="1550" dirty="0"/>
          </a:p>
        </p:txBody>
      </p:sp>
      <p:sp>
        <p:nvSpPr>
          <p:cNvPr id="14" name="Text 12"/>
          <p:cNvSpPr txBox="1"/>
          <p:nvPr/>
        </p:nvSpPr>
        <p:spPr>
          <a:xfrm>
            <a:off x="4649114" y="2889504"/>
            <a:ext cx="2893466" cy="914400"/>
          </a:xfrm>
          <a:prstGeom prst="rect">
            <a:avLst/>
          </a:prstGeom>
          <a:noFill/>
          <a:ln/>
        </p:spPr>
        <p:txBody>
          <a:bodyPr wrap="square" lIns="0" tIns="0" rIns="0" bIns="0" rtlCol="0" anchor="t"/>
          <a:lstStyle/>
          <a:p>
            <a:pPr indent="0" marL="0">
              <a:lnSpc>
                <a:spcPct val="114000"/>
              </a:lnSpc>
              <a:buNone/>
            </a:pPr>
            <a:r>
              <a:rPr lang="en-US" sz="1150" dirty="0">
                <a:solidFill>
                  <a:srgbClr val="C6CFD8"/>
                </a:solidFill>
                <a:latin typeface="Calibri" pitchFamily="34" charset="0"/>
                <a:ea typeface="Calibri" pitchFamily="34" charset="-122"/>
                <a:cs typeface="Calibri" pitchFamily="34" charset="-120"/>
              </a:rPr>
              <a:t>Yang gugur bukan kebijakan hilirisasinya, melainkan klaim bahwa kebijakan ini sudah etis. Upah, keselamatan, lingkungan, dan sumber energinya tetap terbuka diperbaiki.</a:t>
            </a:r>
            <a:endParaRPr lang="en-US" sz="1150" dirty="0"/>
          </a:p>
        </p:txBody>
      </p:sp>
      <p:sp>
        <p:nvSpPr>
          <p:cNvPr id="15" name="Shape 13"/>
          <p:cNvSpPr/>
          <p:nvPr/>
        </p:nvSpPr>
        <p:spPr>
          <a:xfrm>
            <a:off x="8182661" y="1773936"/>
            <a:ext cx="3442106" cy="2249424"/>
          </a:xfrm>
          <a:prstGeom prst="roundRect">
            <a:avLst>
              <a:gd name="adj" fmla="val 3659"/>
            </a:avLst>
          </a:prstGeom>
          <a:solidFill>
            <a:srgbClr val="22303D"/>
          </a:solidFill>
          <a:ln w="12700">
            <a:solidFill>
              <a:srgbClr val="22303D"/>
            </a:solidFill>
            <a:prstDash val="solid"/>
          </a:ln>
        </p:spPr>
      </p:sp>
      <p:sp>
        <p:nvSpPr>
          <p:cNvPr id="16" name="Shape 14"/>
          <p:cNvSpPr/>
          <p:nvPr/>
        </p:nvSpPr>
        <p:spPr>
          <a:xfrm>
            <a:off x="8456981" y="1956816"/>
            <a:ext cx="310896" cy="310896"/>
          </a:xfrm>
          <a:prstGeom prst="roundRect">
            <a:avLst>
              <a:gd name="adj" fmla="val 20588"/>
            </a:avLst>
          </a:prstGeom>
          <a:solidFill>
            <a:srgbClr val="B8542A"/>
          </a:solidFill>
          <a:ln w="12700">
            <a:solidFill>
              <a:srgbClr val="B8542A"/>
            </a:solidFill>
            <a:prstDash val="solid"/>
          </a:ln>
        </p:spPr>
      </p:sp>
      <p:sp>
        <p:nvSpPr>
          <p:cNvPr id="17" name="Text 15"/>
          <p:cNvSpPr txBox="1"/>
          <p:nvPr/>
        </p:nvSpPr>
        <p:spPr>
          <a:xfrm>
            <a:off x="8456981" y="19568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txBox="1"/>
          <p:nvPr/>
        </p:nvSpPr>
        <p:spPr>
          <a:xfrm>
            <a:off x="8456981" y="2340864"/>
            <a:ext cx="2893466" cy="493776"/>
          </a:xfrm>
          <a:prstGeom prst="rect">
            <a:avLst/>
          </a:prstGeom>
          <a:noFill/>
          <a:ln/>
        </p:spPr>
        <p:txBody>
          <a:bodyPr wrap="square" lIns="0" tIns="0" rIns="0" bIns="0" rtlCol="0" anchor="t"/>
          <a:lstStyle/>
          <a:p>
            <a:pPr indent="0" marL="0">
              <a:lnSpc>
                <a:spcPct val="105000"/>
              </a:lnSpc>
              <a:buNone/>
            </a:pPr>
            <a:r>
              <a:rPr lang="en-US" sz="1550" b="1" dirty="0">
                <a:solidFill>
                  <a:srgbClr val="FFFFFF"/>
                </a:solidFill>
                <a:latin typeface="Cambria" pitchFamily="34" charset="0"/>
                <a:ea typeface="Cambria" pitchFamily="34" charset="-122"/>
                <a:cs typeface="Cambria" pitchFamily="34" charset="-120"/>
              </a:rPr>
              <a:t>Kasus yang masih berlangsung</a:t>
            </a:r>
            <a:endParaRPr lang="en-US" sz="1550" dirty="0"/>
          </a:p>
        </p:txBody>
      </p:sp>
      <p:sp>
        <p:nvSpPr>
          <p:cNvPr id="19" name="Text 17"/>
          <p:cNvSpPr txBox="1"/>
          <p:nvPr/>
        </p:nvSpPr>
        <p:spPr>
          <a:xfrm>
            <a:off x="8456981" y="2889504"/>
            <a:ext cx="2893466" cy="914400"/>
          </a:xfrm>
          <a:prstGeom prst="rect">
            <a:avLst/>
          </a:prstGeom>
          <a:noFill/>
          <a:ln/>
        </p:spPr>
        <p:txBody>
          <a:bodyPr wrap="square" lIns="0" tIns="0" rIns="0" bIns="0" rtlCol="0" anchor="t"/>
          <a:lstStyle/>
          <a:p>
            <a:pPr indent="0" marL="0">
              <a:lnSpc>
                <a:spcPct val="114000"/>
              </a:lnSpc>
              <a:buNone/>
            </a:pPr>
            <a:r>
              <a:rPr lang="en-US" sz="1150" dirty="0">
                <a:solidFill>
                  <a:srgbClr val="C6CFD8"/>
                </a:solidFill>
                <a:latin typeface="Calibri" pitchFamily="34" charset="0"/>
                <a:ea typeface="Calibri" pitchFamily="34" charset="-122"/>
                <a:cs typeface="Calibri" pitchFamily="34" charset="-120"/>
              </a:rPr>
              <a:t>Kebijakannya masih berjalan, sengketa dagangnya belum tuntas, dan angkanya berubah tiap tahun. Kasus yang belum selesai justru paling layak didiskusikan.</a:t>
            </a:r>
            <a:endParaRPr lang="en-US" sz="1150" dirty="0"/>
          </a:p>
        </p:txBody>
      </p:sp>
      <p:sp>
        <p:nvSpPr>
          <p:cNvPr id="20" name="Text 18"/>
          <p:cNvSpPr txBox="1"/>
          <p:nvPr/>
        </p:nvSpPr>
        <p:spPr>
          <a:xfrm>
            <a:off x="566928" y="4169664"/>
            <a:ext cx="4572000" cy="237744"/>
          </a:xfrm>
          <a:prstGeom prst="rect">
            <a:avLst/>
          </a:prstGeom>
          <a:noFill/>
          <a:ln/>
        </p:spPr>
        <p:txBody>
          <a:bodyPr wrap="square" lIns="0" tIns="0" rIns="0" bIns="0" rtlCol="0" anchor="ctr"/>
          <a:lstStyle/>
          <a:p>
            <a:pPr indent="0" marL="0">
              <a:buNone/>
            </a:pPr>
            <a:r>
              <a:rPr lang="en-US" sz="1000" b="1" spc="130" kern="0" dirty="0">
                <a:solidFill>
                  <a:srgbClr val="97A3AE"/>
                </a:solidFill>
                <a:latin typeface="Calibri" pitchFamily="34" charset="0"/>
                <a:ea typeface="Calibri" pitchFamily="34" charset="-122"/>
                <a:cs typeface="Calibri" pitchFamily="34" charset="-120"/>
              </a:rPr>
              <a:t>IMPLIKASI MANAJERIAL</a:t>
            </a:r>
            <a:endParaRPr lang="en-US" sz="1000" dirty="0"/>
          </a:p>
        </p:txBody>
      </p:sp>
      <p:sp>
        <p:nvSpPr>
          <p:cNvPr id="21" name="Shape 19"/>
          <p:cNvSpPr/>
          <p:nvPr/>
        </p:nvSpPr>
        <p:spPr>
          <a:xfrm>
            <a:off x="566928" y="4425696"/>
            <a:ext cx="3442106" cy="1280160"/>
          </a:xfrm>
          <a:prstGeom prst="roundRect">
            <a:avLst>
              <a:gd name="adj" fmla="val 6429"/>
            </a:avLst>
          </a:prstGeom>
          <a:solidFill>
            <a:srgbClr val="22303D"/>
          </a:solidFill>
          <a:ln w="12700">
            <a:solidFill>
              <a:srgbClr val="22303D"/>
            </a:solidFill>
            <a:prstDash val="solid"/>
          </a:ln>
        </p:spPr>
      </p:sp>
      <p:sp>
        <p:nvSpPr>
          <p:cNvPr id="22" name="Text 20"/>
          <p:cNvSpPr txBox="1"/>
          <p:nvPr/>
        </p:nvSpPr>
        <p:spPr>
          <a:xfrm>
            <a:off x="841248" y="4553712"/>
            <a:ext cx="2893466" cy="274320"/>
          </a:xfrm>
          <a:prstGeom prst="rect">
            <a:avLst/>
          </a:prstGeom>
          <a:noFill/>
          <a:ln/>
        </p:spPr>
        <p:txBody>
          <a:bodyPr wrap="square" lIns="0" tIns="0" rIns="0" bIns="0" rtlCol="0" anchor="ctr"/>
          <a:lstStyle/>
          <a:p>
            <a:pPr indent="0" marL="0">
              <a:buNone/>
            </a:pPr>
            <a:r>
              <a:rPr lang="en-US" sz="1350" b="1" dirty="0">
                <a:solidFill>
                  <a:srgbClr val="B8542A"/>
                </a:solidFill>
                <a:latin typeface="Cambria" pitchFamily="34" charset="0"/>
                <a:ea typeface="Cambria" pitchFamily="34" charset="-122"/>
                <a:cs typeface="Cambria" pitchFamily="34" charset="-120"/>
              </a:rPr>
              <a:t>Internalisasi biaya tertunda</a:t>
            </a:r>
            <a:endParaRPr lang="en-US" sz="1350" dirty="0"/>
          </a:p>
        </p:txBody>
      </p:sp>
      <p:sp>
        <p:nvSpPr>
          <p:cNvPr id="23" name="Text 21"/>
          <p:cNvSpPr txBox="1"/>
          <p:nvPr/>
        </p:nvSpPr>
        <p:spPr>
          <a:xfrm>
            <a:off x="841248" y="4846320"/>
            <a:ext cx="2893466" cy="731520"/>
          </a:xfrm>
          <a:prstGeom prst="rect">
            <a:avLst/>
          </a:prstGeom>
          <a:noFill/>
          <a:ln/>
        </p:spPr>
        <p:txBody>
          <a:bodyPr wrap="square" lIns="0" tIns="0" rIns="0" bIns="0" rtlCol="0" anchor="t"/>
          <a:lstStyle/>
          <a:p>
            <a:pPr indent="0" marL="0">
              <a:lnSpc>
                <a:spcPct val="112000"/>
              </a:lnSpc>
              <a:buNone/>
            </a:pPr>
            <a:r>
              <a:rPr lang="en-US" sz="1100" dirty="0">
                <a:solidFill>
                  <a:srgbClr val="C6CFD8"/>
                </a:solidFill>
                <a:latin typeface="Calibri" pitchFamily="34" charset="0"/>
                <a:ea typeface="Calibri" pitchFamily="34" charset="-122"/>
                <a:cs typeface="Calibri" pitchFamily="34" charset="-120"/>
              </a:rPr>
              <a:t>Biaya kesehatan warga, pemulihan sungai, dan pensiun dini pembangkit masuk neraca sejak perencanaan, bukan diwariskan ke anggaran publik.</a:t>
            </a:r>
            <a:endParaRPr lang="en-US" sz="1100" dirty="0"/>
          </a:p>
        </p:txBody>
      </p:sp>
      <p:sp>
        <p:nvSpPr>
          <p:cNvPr id="24" name="Shape 22"/>
          <p:cNvSpPr/>
          <p:nvPr/>
        </p:nvSpPr>
        <p:spPr>
          <a:xfrm>
            <a:off x="4374794" y="4425696"/>
            <a:ext cx="3442106" cy="1280160"/>
          </a:xfrm>
          <a:prstGeom prst="roundRect">
            <a:avLst>
              <a:gd name="adj" fmla="val 6429"/>
            </a:avLst>
          </a:prstGeom>
          <a:solidFill>
            <a:srgbClr val="22303D"/>
          </a:solidFill>
          <a:ln w="12700">
            <a:solidFill>
              <a:srgbClr val="22303D"/>
            </a:solidFill>
            <a:prstDash val="solid"/>
          </a:ln>
        </p:spPr>
      </p:sp>
      <p:sp>
        <p:nvSpPr>
          <p:cNvPr id="25" name="Text 23"/>
          <p:cNvSpPr txBox="1"/>
          <p:nvPr/>
        </p:nvSpPr>
        <p:spPr>
          <a:xfrm>
            <a:off x="4649114" y="4553712"/>
            <a:ext cx="2893466" cy="274320"/>
          </a:xfrm>
          <a:prstGeom prst="rect">
            <a:avLst/>
          </a:prstGeom>
          <a:noFill/>
          <a:ln/>
        </p:spPr>
        <p:txBody>
          <a:bodyPr wrap="square" lIns="0" tIns="0" rIns="0" bIns="0" rtlCol="0" anchor="ctr"/>
          <a:lstStyle/>
          <a:p>
            <a:pPr indent="0" marL="0">
              <a:buNone/>
            </a:pPr>
            <a:r>
              <a:rPr lang="en-US" sz="1350" b="1" dirty="0">
                <a:solidFill>
                  <a:srgbClr val="B8542A"/>
                </a:solidFill>
                <a:latin typeface="Cambria" pitchFamily="34" charset="0"/>
                <a:ea typeface="Cambria" pitchFamily="34" charset="-122"/>
                <a:cs typeface="Cambria" pitchFamily="34" charset="-120"/>
              </a:rPr>
              <a:t>Pelibatan pihak yang absen</a:t>
            </a:r>
            <a:endParaRPr lang="en-US" sz="1350" dirty="0"/>
          </a:p>
        </p:txBody>
      </p:sp>
      <p:sp>
        <p:nvSpPr>
          <p:cNvPr id="26" name="Text 24"/>
          <p:cNvSpPr txBox="1"/>
          <p:nvPr/>
        </p:nvSpPr>
        <p:spPr>
          <a:xfrm>
            <a:off x="4649114" y="4846320"/>
            <a:ext cx="2893466" cy="731520"/>
          </a:xfrm>
          <a:prstGeom prst="rect">
            <a:avLst/>
          </a:prstGeom>
          <a:noFill/>
          <a:ln/>
        </p:spPr>
        <p:txBody>
          <a:bodyPr wrap="square" lIns="0" tIns="0" rIns="0" bIns="0" rtlCol="0" anchor="t"/>
          <a:lstStyle/>
          <a:p>
            <a:pPr indent="0" marL="0">
              <a:lnSpc>
                <a:spcPct val="112000"/>
              </a:lnSpc>
              <a:buNone/>
            </a:pPr>
            <a:r>
              <a:rPr lang="en-US" sz="1100" dirty="0">
                <a:solidFill>
                  <a:srgbClr val="C6CFD8"/>
                </a:solidFill>
                <a:latin typeface="Calibri" pitchFamily="34" charset="0"/>
                <a:ea typeface="Calibri" pitchFamily="34" charset="-122"/>
                <a:cs typeface="Calibri" pitchFamily="34" charset="-120"/>
              </a:rPr>
              <a:t>Pekerja, warga hilir, dan masyarakat adat diberi keterwakilan formal dalam panitia keselamatan kerja, pemantauan lingkungan, dan perizinan.</a:t>
            </a:r>
            <a:endParaRPr lang="en-US" sz="1100" dirty="0"/>
          </a:p>
        </p:txBody>
      </p:sp>
      <p:sp>
        <p:nvSpPr>
          <p:cNvPr id="27" name="Shape 25"/>
          <p:cNvSpPr/>
          <p:nvPr/>
        </p:nvSpPr>
        <p:spPr>
          <a:xfrm>
            <a:off x="8182661" y="4425696"/>
            <a:ext cx="3442106" cy="1280160"/>
          </a:xfrm>
          <a:prstGeom prst="roundRect">
            <a:avLst>
              <a:gd name="adj" fmla="val 6429"/>
            </a:avLst>
          </a:prstGeom>
          <a:solidFill>
            <a:srgbClr val="22303D"/>
          </a:solidFill>
          <a:ln w="12700">
            <a:solidFill>
              <a:srgbClr val="22303D"/>
            </a:solidFill>
            <a:prstDash val="solid"/>
          </a:ln>
        </p:spPr>
      </p:sp>
      <p:sp>
        <p:nvSpPr>
          <p:cNvPr id="28" name="Text 26"/>
          <p:cNvSpPr txBox="1"/>
          <p:nvPr/>
        </p:nvSpPr>
        <p:spPr>
          <a:xfrm>
            <a:off x="8456981" y="4553712"/>
            <a:ext cx="2893466" cy="274320"/>
          </a:xfrm>
          <a:prstGeom prst="rect">
            <a:avLst/>
          </a:prstGeom>
          <a:noFill/>
          <a:ln/>
        </p:spPr>
        <p:txBody>
          <a:bodyPr wrap="square" lIns="0" tIns="0" rIns="0" bIns="0" rtlCol="0" anchor="ctr"/>
          <a:lstStyle/>
          <a:p>
            <a:pPr indent="0" marL="0">
              <a:buNone/>
            </a:pPr>
            <a:r>
              <a:rPr lang="en-US" sz="1350" b="1" dirty="0">
                <a:solidFill>
                  <a:srgbClr val="B8542A"/>
                </a:solidFill>
                <a:latin typeface="Cambria" pitchFamily="34" charset="0"/>
                <a:ea typeface="Cambria" pitchFamily="34" charset="-122"/>
                <a:cs typeface="Cambria" pitchFamily="34" charset="-120"/>
              </a:rPr>
              <a:t>Pengujian multiteori</a:t>
            </a:r>
            <a:endParaRPr lang="en-US" sz="1350" dirty="0"/>
          </a:p>
        </p:txBody>
      </p:sp>
      <p:sp>
        <p:nvSpPr>
          <p:cNvPr id="29" name="Text 27"/>
          <p:cNvSpPr txBox="1"/>
          <p:nvPr/>
        </p:nvSpPr>
        <p:spPr>
          <a:xfrm>
            <a:off x="8456981" y="4846320"/>
            <a:ext cx="2893466" cy="731520"/>
          </a:xfrm>
          <a:prstGeom prst="rect">
            <a:avLst/>
          </a:prstGeom>
          <a:noFill/>
          <a:ln/>
        </p:spPr>
        <p:txBody>
          <a:bodyPr wrap="square" lIns="0" tIns="0" rIns="0" bIns="0" rtlCol="0" anchor="t"/>
          <a:lstStyle/>
          <a:p>
            <a:pPr indent="0" marL="0">
              <a:lnSpc>
                <a:spcPct val="112000"/>
              </a:lnSpc>
              <a:buNone/>
            </a:pPr>
            <a:r>
              <a:rPr lang="en-US" sz="1100" dirty="0">
                <a:solidFill>
                  <a:srgbClr val="C6CFD8"/>
                </a:solidFill>
                <a:latin typeface="Calibri" pitchFamily="34" charset="0"/>
                <a:ea typeface="Calibri" pitchFamily="34" charset="-122"/>
                <a:cs typeface="Calibri" pitchFamily="34" charset="-120"/>
              </a:rPr>
              <a:t>Klaim yang lolos utilitarianism kerap gugur pada keadilan distributif dan discourse ethics. Kesembilan teori berfungsi sebagai daftar periksa.</a:t>
            </a:r>
            <a:endParaRPr lang="en-US" sz="1100" dirty="0"/>
          </a:p>
        </p:txBody>
      </p:sp>
      <p:sp>
        <p:nvSpPr>
          <p:cNvPr id="30" name="Shape 28"/>
          <p:cNvSpPr/>
          <p:nvPr/>
        </p:nvSpPr>
        <p:spPr>
          <a:xfrm>
            <a:off x="566928" y="5888736"/>
            <a:ext cx="11057839" cy="493776"/>
          </a:xfrm>
          <a:prstGeom prst="roundRect">
            <a:avLst>
              <a:gd name="adj" fmla="val 16667"/>
            </a:avLst>
          </a:prstGeom>
          <a:solidFill>
            <a:srgbClr val="B8542A"/>
          </a:solidFill>
          <a:ln w="12700">
            <a:solidFill>
              <a:srgbClr val="B8542A"/>
            </a:solidFill>
            <a:prstDash val="solid"/>
          </a:ln>
        </p:spPr>
      </p:sp>
      <p:sp>
        <p:nvSpPr>
          <p:cNvPr id="31" name="Text 29"/>
          <p:cNvSpPr txBox="1"/>
          <p:nvPr/>
        </p:nvSpPr>
        <p:spPr>
          <a:xfrm>
            <a:off x="877824" y="5888736"/>
            <a:ext cx="10436047" cy="493776"/>
          </a:xfrm>
          <a:prstGeom prst="rect">
            <a:avLst/>
          </a:prstGeom>
          <a:noFill/>
          <a:ln/>
        </p:spPr>
        <p:txBody>
          <a:bodyPr wrap="square" lIns="0" tIns="0" rIns="0" bIns="0" rtlCol="0" anchor="ctr"/>
          <a:lstStyle/>
          <a:p>
            <a:pPr indent="0" marL="0">
              <a:buNone/>
            </a:pPr>
            <a:r>
              <a:rPr lang="en-US" sz="1350" i="1" dirty="0">
                <a:solidFill>
                  <a:srgbClr val="FFFFFF"/>
                </a:solidFill>
                <a:latin typeface="Cambria" pitchFamily="34" charset="0"/>
                <a:ea typeface="Cambria" pitchFamily="34" charset="-122"/>
                <a:cs typeface="Cambria" pitchFamily="34" charset="-120"/>
              </a:rPr>
              <a:t>Manfaat yang terukur selalu lebih mudah dipertahankan daripada beban yang tersebar. Justru karena itu beban yang tersebar perlu dihitung lebih dahulu.</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202A"/>
        </a:solidFill>
      </p:bgPr>
    </p:bg>
    <p:spTree>
      <p:nvGrpSpPr>
        <p:cNvPr id="1" name=""/>
        <p:cNvGrpSpPr/>
        <p:nvPr/>
      </p:nvGrpSpPr>
      <p:grpSpPr>
        <a:xfrm>
          <a:off x="0" y="0"/>
          <a:ext cx="0" cy="0"/>
          <a:chOff x="0" y="0"/>
          <a:chExt cx="0" cy="0"/>
        </a:xfrm>
      </p:grpSpPr>
      <p:sp>
        <p:nvSpPr>
          <p:cNvPr id="2" name="Text 0"/>
          <p:cNvSpPr txBox="1"/>
          <p:nvPr/>
        </p:nvSpPr>
        <p:spPr>
          <a:xfrm>
            <a:off x="566928" y="1965960"/>
            <a:ext cx="6949440" cy="237744"/>
          </a:xfrm>
          <a:prstGeom prst="rect">
            <a:avLst/>
          </a:prstGeom>
          <a:noFill/>
          <a:ln/>
        </p:spPr>
        <p:txBody>
          <a:bodyPr wrap="square" lIns="0" tIns="0" rIns="0" bIns="0" rtlCol="0" anchor="ctr"/>
          <a:lstStyle/>
          <a:p>
            <a:pPr indent="0" marL="0">
              <a:buNone/>
            </a:pPr>
            <a:r>
              <a:rPr lang="en-US" sz="1050" b="1" spc="140" kern="0" dirty="0">
                <a:solidFill>
                  <a:srgbClr val="B8542A"/>
                </a:solidFill>
                <a:latin typeface="Calibri" pitchFamily="34" charset="0"/>
                <a:ea typeface="Calibri" pitchFamily="34" charset="-122"/>
                <a:cs typeface="Calibri" pitchFamily="34" charset="-120"/>
              </a:rPr>
              <a:t>PENUTUP</a:t>
            </a:r>
            <a:endParaRPr lang="en-US" sz="1050" dirty="0"/>
          </a:p>
        </p:txBody>
      </p:sp>
      <p:sp>
        <p:nvSpPr>
          <p:cNvPr id="3" name="Text 1"/>
          <p:cNvSpPr txBox="1"/>
          <p:nvPr/>
        </p:nvSpPr>
        <p:spPr>
          <a:xfrm>
            <a:off x="566928" y="2304288"/>
            <a:ext cx="6949440" cy="105156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Terima kasih</a:t>
            </a:r>
            <a:endParaRPr lang="en-US" sz="5200" dirty="0"/>
          </a:p>
        </p:txBody>
      </p:sp>
      <p:sp>
        <p:nvSpPr>
          <p:cNvPr id="4" name="Shape 2"/>
          <p:cNvSpPr/>
          <p:nvPr/>
        </p:nvSpPr>
        <p:spPr>
          <a:xfrm>
            <a:off x="566928" y="3657600"/>
            <a:ext cx="6949440" cy="1737360"/>
          </a:xfrm>
          <a:prstGeom prst="roundRect">
            <a:avLst>
              <a:gd name="adj" fmla="val 4737"/>
            </a:avLst>
          </a:prstGeom>
          <a:solidFill>
            <a:srgbClr val="22303D"/>
          </a:solidFill>
          <a:ln w="12700">
            <a:solidFill>
              <a:srgbClr val="22303D"/>
            </a:solidFill>
            <a:prstDash val="solid"/>
          </a:ln>
        </p:spPr>
      </p:sp>
      <p:sp>
        <p:nvSpPr>
          <p:cNvPr id="5" name="Text 3"/>
          <p:cNvSpPr txBox="1"/>
          <p:nvPr/>
        </p:nvSpPr>
        <p:spPr>
          <a:xfrm>
            <a:off x="877824" y="3877056"/>
            <a:ext cx="6309360" cy="219456"/>
          </a:xfrm>
          <a:prstGeom prst="rect">
            <a:avLst/>
          </a:prstGeom>
          <a:noFill/>
          <a:ln/>
        </p:spPr>
        <p:txBody>
          <a:bodyPr wrap="square" lIns="0" tIns="0" rIns="0" bIns="0" rtlCol="0" anchor="ctr"/>
          <a:lstStyle/>
          <a:p>
            <a:pPr indent="0" marL="0">
              <a:buNone/>
            </a:pPr>
            <a:r>
              <a:rPr lang="en-US" sz="950" b="1" spc="120" kern="0" dirty="0">
                <a:solidFill>
                  <a:srgbClr val="B8542A"/>
                </a:solidFill>
                <a:latin typeface="Calibri" pitchFamily="34" charset="0"/>
                <a:ea typeface="Calibri" pitchFamily="34" charset="-122"/>
                <a:cs typeface="Calibri" pitchFamily="34" charset="-120"/>
              </a:rPr>
              <a:t>PERTANYAAN UNTUK DISKUSI</a:t>
            </a:r>
            <a:endParaRPr lang="en-US" sz="950" dirty="0"/>
          </a:p>
        </p:txBody>
      </p:sp>
      <p:sp>
        <p:nvSpPr>
          <p:cNvPr id="6" name="Text 4"/>
          <p:cNvSpPr txBox="1"/>
          <p:nvPr/>
        </p:nvSpPr>
        <p:spPr>
          <a:xfrm>
            <a:off x="877824" y="4151376"/>
            <a:ext cx="6327648" cy="1024128"/>
          </a:xfrm>
          <a:prstGeom prst="rect">
            <a:avLst/>
          </a:prstGeom>
          <a:noFill/>
          <a:ln/>
        </p:spPr>
        <p:txBody>
          <a:bodyPr wrap="square" lIns="0" tIns="0" rIns="0" bIns="0" rtlCol="0" anchor="t"/>
          <a:lstStyle/>
          <a:p>
            <a:pPr indent="0" marL="0">
              <a:lnSpc>
                <a:spcPct val="114000"/>
              </a:lnSpc>
              <a:buNone/>
            </a:pPr>
            <a:r>
              <a:rPr lang="en-US" sz="1500" i="1" dirty="0">
                <a:solidFill>
                  <a:srgbClr val="D5DDE4"/>
                </a:solidFill>
                <a:latin typeface="Cambria" pitchFamily="34" charset="0"/>
                <a:ea typeface="Cambria" pitchFamily="34" charset="-122"/>
                <a:cs typeface="Cambria" pitchFamily="34" charset="-120"/>
              </a:rPr>
              <a:t>Struktur dilema yang sama akan berulang pada bauksit, tembaga, dan timah. Siapa yang menikmati manfaatnya, siapa yang menanggung bebannya, dan apakah keduanya pihak yang sama?</a:t>
            </a:r>
            <a:endParaRPr lang="en-US" sz="1500" dirty="0"/>
          </a:p>
        </p:txBody>
      </p:sp>
      <p:sp>
        <p:nvSpPr>
          <p:cNvPr id="7" name="Shape 5"/>
          <p:cNvSpPr/>
          <p:nvPr/>
        </p:nvSpPr>
        <p:spPr>
          <a:xfrm>
            <a:off x="8001000" y="1938528"/>
            <a:ext cx="3657600" cy="3456432"/>
          </a:xfrm>
          <a:prstGeom prst="roundRect">
            <a:avLst>
              <a:gd name="adj" fmla="val 2381"/>
            </a:avLst>
          </a:prstGeom>
          <a:solidFill>
            <a:srgbClr val="22303D"/>
          </a:solidFill>
          <a:ln w="12700">
            <a:solidFill>
              <a:srgbClr val="22303D"/>
            </a:solidFill>
            <a:prstDash val="solid"/>
          </a:ln>
        </p:spPr>
      </p:sp>
      <p:sp>
        <p:nvSpPr>
          <p:cNvPr id="8" name="Text 6"/>
          <p:cNvSpPr txBox="1"/>
          <p:nvPr/>
        </p:nvSpPr>
        <p:spPr>
          <a:xfrm>
            <a:off x="8311896" y="2212848"/>
            <a:ext cx="3108960" cy="219456"/>
          </a:xfrm>
          <a:prstGeom prst="rect">
            <a:avLst/>
          </a:prstGeom>
          <a:noFill/>
          <a:ln/>
        </p:spPr>
        <p:txBody>
          <a:bodyPr wrap="square" lIns="0" tIns="0" rIns="0" bIns="0" rtlCol="0" anchor="ctr"/>
          <a:lstStyle/>
          <a:p>
            <a:pPr indent="0" marL="0">
              <a:buNone/>
            </a:pPr>
            <a:r>
              <a:rPr lang="en-US" sz="950" b="1" spc="120" kern="0" dirty="0">
                <a:solidFill>
                  <a:srgbClr val="97A3AE"/>
                </a:solidFill>
                <a:latin typeface="Calibri" pitchFamily="34" charset="0"/>
                <a:ea typeface="Calibri" pitchFamily="34" charset="-122"/>
                <a:cs typeface="Calibri" pitchFamily="34" charset="-120"/>
              </a:rPr>
              <a:t>DISUSUN OLEH</a:t>
            </a:r>
            <a:endParaRPr lang="en-US" sz="950" dirty="0"/>
          </a:p>
        </p:txBody>
      </p:sp>
      <p:sp>
        <p:nvSpPr>
          <p:cNvPr id="9" name="Text 7"/>
          <p:cNvSpPr txBox="1"/>
          <p:nvPr/>
        </p:nvSpPr>
        <p:spPr>
          <a:xfrm>
            <a:off x="8311896" y="2743200"/>
            <a:ext cx="310896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Aslih Abnuri</a:t>
            </a:r>
            <a:endParaRPr lang="en-US" sz="1400" dirty="0"/>
          </a:p>
        </p:txBody>
      </p:sp>
      <p:sp>
        <p:nvSpPr>
          <p:cNvPr id="10" name="Text 8"/>
          <p:cNvSpPr txBox="1"/>
          <p:nvPr/>
        </p:nvSpPr>
        <p:spPr>
          <a:xfrm>
            <a:off x="8311896" y="3017520"/>
            <a:ext cx="3108960" cy="237744"/>
          </a:xfrm>
          <a:prstGeom prst="rect">
            <a:avLst/>
          </a:prstGeom>
          <a:noFill/>
          <a:ln/>
        </p:spPr>
        <p:txBody>
          <a:bodyPr wrap="square" lIns="0" tIns="0" rIns="0" bIns="0" rtlCol="0" anchor="ctr"/>
          <a:lstStyle/>
          <a:p>
            <a:pPr indent="0" marL="0">
              <a:buNone/>
            </a:pPr>
            <a:r>
              <a:rPr lang="en-US" sz="1100" dirty="0">
                <a:solidFill>
                  <a:srgbClr val="97A3AE"/>
                </a:solidFill>
                <a:latin typeface="Calibri" pitchFamily="34" charset="0"/>
                <a:ea typeface="Calibri" pitchFamily="34" charset="-122"/>
                <a:cs typeface="Calibri" pitchFamily="34" charset="-120"/>
              </a:rPr>
              <a:t>25/574338/PEK/31801</a:t>
            </a:r>
            <a:endParaRPr lang="en-US" sz="1100" dirty="0"/>
          </a:p>
        </p:txBody>
      </p:sp>
      <p:sp>
        <p:nvSpPr>
          <p:cNvPr id="11" name="Text 9"/>
          <p:cNvSpPr txBox="1"/>
          <p:nvPr/>
        </p:nvSpPr>
        <p:spPr>
          <a:xfrm>
            <a:off x="8311896" y="3584448"/>
            <a:ext cx="310896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Arfinal Diputra</a:t>
            </a:r>
            <a:endParaRPr lang="en-US" sz="1400" dirty="0"/>
          </a:p>
        </p:txBody>
      </p:sp>
      <p:sp>
        <p:nvSpPr>
          <p:cNvPr id="12" name="Text 10"/>
          <p:cNvSpPr txBox="1"/>
          <p:nvPr/>
        </p:nvSpPr>
        <p:spPr>
          <a:xfrm>
            <a:off x="8311896" y="3858768"/>
            <a:ext cx="3108960" cy="237744"/>
          </a:xfrm>
          <a:prstGeom prst="rect">
            <a:avLst/>
          </a:prstGeom>
          <a:noFill/>
          <a:ln/>
        </p:spPr>
        <p:txBody>
          <a:bodyPr wrap="square" lIns="0" tIns="0" rIns="0" bIns="0" rtlCol="0" anchor="ctr"/>
          <a:lstStyle/>
          <a:p>
            <a:pPr indent="0" marL="0">
              <a:buNone/>
            </a:pPr>
            <a:r>
              <a:rPr lang="en-US" sz="1100" dirty="0">
                <a:solidFill>
                  <a:srgbClr val="97A3AE"/>
                </a:solidFill>
                <a:latin typeface="Calibri" pitchFamily="34" charset="0"/>
                <a:ea typeface="Calibri" pitchFamily="34" charset="-122"/>
                <a:cs typeface="Calibri" pitchFamily="34" charset="-120"/>
              </a:rPr>
              <a:t>25/574664/PEK/31914</a:t>
            </a:r>
            <a:endParaRPr lang="en-US" sz="1100" dirty="0"/>
          </a:p>
        </p:txBody>
      </p:sp>
      <p:sp>
        <p:nvSpPr>
          <p:cNvPr id="13" name="Text 11"/>
          <p:cNvSpPr txBox="1"/>
          <p:nvPr/>
        </p:nvSpPr>
        <p:spPr>
          <a:xfrm>
            <a:off x="8311896" y="4425696"/>
            <a:ext cx="310896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Rohana Dwi Hardianti</a:t>
            </a:r>
            <a:endParaRPr lang="en-US" sz="1400" dirty="0"/>
          </a:p>
        </p:txBody>
      </p:sp>
      <p:sp>
        <p:nvSpPr>
          <p:cNvPr id="14" name="Text 12"/>
          <p:cNvSpPr txBox="1"/>
          <p:nvPr/>
        </p:nvSpPr>
        <p:spPr>
          <a:xfrm>
            <a:off x="8311896" y="4700016"/>
            <a:ext cx="3108960" cy="237744"/>
          </a:xfrm>
          <a:prstGeom prst="rect">
            <a:avLst/>
          </a:prstGeom>
          <a:noFill/>
          <a:ln/>
        </p:spPr>
        <p:txBody>
          <a:bodyPr wrap="square" lIns="0" tIns="0" rIns="0" bIns="0" rtlCol="0" anchor="ctr"/>
          <a:lstStyle/>
          <a:p>
            <a:pPr indent="0" marL="0">
              <a:buNone/>
            </a:pPr>
            <a:r>
              <a:rPr lang="en-US" sz="1100" dirty="0">
                <a:solidFill>
                  <a:srgbClr val="97A3AE"/>
                </a:solidFill>
                <a:latin typeface="Calibri" pitchFamily="34" charset="0"/>
                <a:ea typeface="Calibri" pitchFamily="34" charset="-122"/>
                <a:cs typeface="Calibri" pitchFamily="34" charset="-120"/>
              </a:rPr>
              <a:t>25/574077/PEK/31728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Business Ethics: Normative Ethical Theories</dc:title>
  <dc:subject>PptxGenJS Presentation</dc:subject>
  <dc:creator>Aslih Abnuri</dc:creator>
  <cp:lastModifiedBy>Aslih Abnuri</cp:lastModifiedBy>
  <cp:revision>1</cp:revision>
  <dcterms:created xsi:type="dcterms:W3CDTF">2026-08-26T15:29:11Z</dcterms:created>
  <dcterms:modified xsi:type="dcterms:W3CDTF">2026-08-26T15:29:11Z</dcterms:modified>
</cp:coreProperties>
</file>