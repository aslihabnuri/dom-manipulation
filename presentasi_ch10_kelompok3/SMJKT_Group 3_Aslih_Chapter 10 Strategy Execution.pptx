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ffc7119e-8f50-c74a-b905-c69faa25644d}">
          <p14:sldIdLst>
            <p14:sldId id="256"/>
            <p14:sldId id="257"/>
          </p14:sldIdLst>
        </p14:section>
        <p14:section name="01 Landasan" id="{b02358b1-7c49-81d4-7e64-bdb708c166ac}">
          <p14:sldIdLst>
            <p14:sldId id="258"/>
            <p14:sldId id="259"/>
            <p14:sldId id="260"/>
            <p14:sldId id="261"/>
          </p14:sldIdLst>
        </p14:section>
        <p14:section name="02 Staffing" id="{e387cf5d-4579-e34d-ff90-9a03f39c1509}">
          <p14:sldIdLst>
            <p14:sldId id="262"/>
            <p14:sldId id="263"/>
          </p14:sldIdLst>
        </p14:section>
        <p14:section name="03 Capabilities" id="{2dd740d7-4fc0-447d-8f96-4874dcb7c16f}">
          <p14:sldIdLst>
            <p14:sldId id="264"/>
            <p14:sldId id="265"/>
            <p14:sldId id="266"/>
            <p14:sldId id="267"/>
          </p14:sldIdLst>
        </p14:section>
        <p14:section name="04 Structure" id="{82eebc95-1358-1291-8b25-a8e01984c0ab}">
          <p14:sldIdLst>
            <p14:sldId id="268"/>
            <p14:sldId id="269"/>
            <p14:sldId id="270"/>
            <p14:sldId id="271"/>
            <p14:sldId id="272"/>
          </p14:sldIdLst>
        </p14:section>
        <p14:section name="05 Sintesis" id="{d3207537-74c6-374e-9458-262059f54bd7}">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Perkenalkan kelompok dan topik: Bab 10, bab pertama dari tiga bab tentang eksekusi strategi (Bab 10 sampai 12). Satu kalimat pengantar sudah cukup, lalu langsung ke alur pembahasan.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alur dan tegaskan keterkaitannya: tiap bagian adalah prasyarat bagian berikutnya. Bila waktu terbatas, slide 4, 8, 11, dan 17 dapat dilewati tanpa memutus logika.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dengan sesi sebelumnya lewat analogi kapal Pak Rangga. Tegaskan perbedaan sifat pekerjaan: merumuskan bersifat analitis, mengeksekusi bersifat operasional dan menyangkut orang. Dalam proses lima tahap Bab 2, eksekusi adalah tahap keempat dan menuntut keterampilan manajerial yang berbeda. Kutipan Lecuona menjadi tesis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alasan eksekusi lebih sulit: banyak orang dan aktivitas yang saling bergantung, tidak ada resep tunggal, dan ada resistensi. Dua tanda eksekusi yang baik menjadi alat diagnosis: bila kinerja meleset padahal aktivitas kritis sudah mahir, masalahnya pada strategi; bila aktivitas kritis belum mahir, masalahnya pada eksekusi.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10.1 digambar ulang mengikuti bentuk buku: heksagon pusat dikelilingi sepuluh tugas. Jangan membaca sepuluh tugas satu per satu. Sebutkan tiga yang berwarna lime, lalu katakan tujuh sisanya dibahas Kelompok 4 (Bab 11) dan Kelompok 5 (Bab 12). Urutan bermakna: percuma memasang sistem insentif pada orang yang 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10.2 adalah peta Bab 10. Tiga aksi di kiri, dua keluaran di kanan, panah dua arah menandakan capability dan struktur saling mempengaruhi. Tiga bagian berikutnya membahas satu per satu.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1 bagian pertama. Buku: isi posisi kunci dengan orang yang berpikir jernih, tahu apa yang harus dilakukan, mahir mengelola orang, dan terbukti menghasilkan. Tujuan akhir bukan satu bintang, melainkan critical mass manajer yang saling memperkuat (Collins, Good to Great). Antisipasi pertanyaan: apakah pengalaman saja cukup? Tidak; buku menuntut kombinasi kecerdasan, keterampilan mengelola orang, rekam jejak, dan kesediaan berubah.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Delapan praktik buku dipadatkan menjadi empat pasang. Angka Southwest dan Cisco menunjukkan seleksi yang sangat ketat adalah pilihan strategis, bukan sekadar urusan SDM. Deloitte (IC 10.2): jalur jelas menuju partner, milestone school, dan sponsorship. Pelatihan adalah bagian eksekusi strategi; bila strategi menuntut skill baru, pelatihan harus didanai memadai.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2. Tiga pendekatan buku dibedakan lewat kecepatan, kendali, dan risiko. Label kecepatan dan kendali pada kartu adalah cara baca penyaji, bukan tabel buku. Dua slide berikutnya memperdalam jalur internal dan jalur eksternal.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Jalur evolusioner menjelaskan mengapa capability tidak bisa dibeli semalam. Williams-Sonoma mencatat pendapatan US$8,7 miliar pada 2022 setelah lima dekade memperbarui capability penjualan jarak jauh. Dua bentuk tindakan manajerial: memperkuat basis pengetahuan dan mengintegrasikan kelompok kerja.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jalur eksternal. Paradoks akuisisi: yang dibeli adalah rutinitas yang tacit, sehingga integrasi menjadi titik rawan; dalam kasus terburuk akuisisi merusak capability yang diincar. Tiga jalur kemitraan meningkat dari transaksional (outsource) ke relasional (belajar).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Kapsul Zara membuktikan klaim bab: eksekusi dapat menjadi sumber keunggulan langsung. Semua angka diberi pembanding agar tidak menjadi klaim kosong. RFID menarik item yang lambat setelah tiga sampai empat minggu. Tautkan ke empat uji resource Bab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3 dipecah menjadi lima keputusan (Figure 10.3). Empat slide berikutnya membahas keputusan 1, 2, 3, lalu 4 dan 5 bersama. Buku: desain yang baik menurunkan biaya, mempercepat pembangunan capability, dan memungkinkan lebih dulu ke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1. Tiga manfaat eksekusi dari outsourcing dan satu batasnya. Contoh lain: 83 persen dari sepuluh perusahaan farmasi terbesar meng-outsource pengelolaan data klinis; Nike menyerahkan hampir semua produksi; Broadcom meng-outsource fabrikasi chip agar fokus pada R&amp;D.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2. Empat tipe dibaca sebagai spektrum evolusi: simple ke functional saat tumbuh, ke multidivisional saat terdiversifikasi, ke matrix saat sinergi lintas unit menjadi kritis. Catatan buku: tipe struktur bergantung pada ukuran dan kompleksitas, bukan pada generic strategy yang dipilih.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10.1 digambar ulang dalam palet referensi, dipadatkan. Pilihan bergantung pada letak pengetahuan dan kebutuhan kecepatan. Untuk cross-business strategic fit, fungsi yang menuntut koordinasi erat (R&amp;D, sales force bersama) disentralisasi atau dibentuk business groups. Tren: struktur lebih datar karena aset paling bernilai adalah intellectual capital karyawan.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4 dan 5 menutup aksi 3. Struktur formal saja tidak cukup; koordinasi harus dirancang ke dalam (insentif kelompok) dan ke luar (relationship managers, network, ecosystem). Hambatan: dalam struktur terdesentralisasi, kepala departemen cenderung mendahulukan unitnya.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sintesis. Bila waktu habis, lompat langsung ke sini. Bacakan rangkaian dari kiri ke kanan, tegaskan saling ketergantungan tiga aksi, lalu jembatan ke dua bab berikutnya dan kerangka 4DX (McChesney, Covey &amp; Huling, 2012).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pertanyaan bergaya sokratik, masing-masing menguji satu klaim bab. Pegangan jawaban ada di materi pemahaman. Contoh Indonesia diajukan sebagai pertanyaan, bukan klaim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Referensi utama adalah buku teks; sumber lain adalah rujukan yang dikutip bab tersebut.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4F4"/>
        </a:solidFill>
      </p:bgPr>
    </p:bg>
    <p:spTree>
      <p:nvGrpSpPr>
        <p:cNvPr id="1" name=""/>
        <p:cNvGrpSpPr/>
        <p:nvPr/>
      </p:nvGrpSpPr>
      <p:grpSpPr>
        <a:xfrm>
          <a:off x="0" y="0"/>
          <a:ext cx="0" cy="0"/>
          <a:chOff x="0" y="0"/>
          <a:chExt cx="0" cy="0"/>
        </a:xfrm>
      </p:grpSpPr>
      <p:sp>
        <p:nvSpPr>
          <p:cNvPr id="2" name="Text 0"/>
          <p:cNvSpPr/>
          <p:nvPr/>
        </p:nvSpPr>
        <p:spPr>
          <a:xfrm>
            <a:off x="502920" y="228600"/>
            <a:ext cx="1463040" cy="201168"/>
          </a:xfrm>
          <a:prstGeom prst="rect">
            <a:avLst/>
          </a:prstGeom>
          <a:noFill/>
          <a:ln/>
        </p:spPr>
        <p:txBody>
          <a:bodyPr wrap="square" lIns="0" tIns="0" rIns="0" bIns="0" rtlCol="0" anchor="ctr"/>
          <a:lstStyle/>
          <a:p>
            <a:pPr indent="0" marL="0">
              <a:buNone/>
            </a:pPr>
            <a:r>
              <a:rPr lang="en-US" sz="800" b="1" spc="150" kern="0" dirty="0">
                <a:solidFill>
                  <a:srgbClr val="141417"/>
                </a:solidFill>
                <a:latin typeface="Inter" pitchFamily="34" charset="0"/>
                <a:ea typeface="Inter" pitchFamily="34" charset="-122"/>
                <a:cs typeface="Inter" pitchFamily="34" charset="-120"/>
              </a:rPr>
              <a:t>KELOMPOK 3</a:t>
            </a:r>
            <a:endParaRPr lang="en-US" sz="800" dirty="0"/>
          </a:p>
        </p:txBody>
      </p:sp>
      <p:sp>
        <p:nvSpPr>
          <p:cNvPr id="3" name="Text 1"/>
          <p:cNvSpPr/>
          <p:nvPr/>
        </p:nvSpPr>
        <p:spPr>
          <a:xfrm>
            <a:off x="3017520" y="228600"/>
            <a:ext cx="2377440" cy="201168"/>
          </a:xfrm>
          <a:prstGeom prst="rect">
            <a:avLst/>
          </a:prstGeom>
          <a:noFill/>
          <a:ln/>
        </p:spPr>
        <p:txBody>
          <a:bodyPr wrap="square" lIns="0" tIns="0" rIns="0" bIns="0" rtlCol="0" anchor="ctr"/>
          <a:lstStyle/>
          <a:p>
            <a:pPr indent="0" marL="0">
              <a:buNone/>
            </a:pPr>
            <a:r>
              <a:rPr lang="en-US" sz="800" dirty="0">
                <a:solidFill>
                  <a:srgbClr val="7A7A7E"/>
                </a:solidFill>
                <a:latin typeface="Inter" pitchFamily="34" charset="0"/>
                <a:ea typeface="Inter" pitchFamily="34" charset="-122"/>
                <a:cs typeface="Inter" pitchFamily="34" charset="-120"/>
              </a:rPr>
              <a:t>Strategic Management · MAN 5422</a:t>
            </a:r>
            <a:endParaRPr lang="en-US" sz="800" dirty="0"/>
          </a:p>
        </p:txBody>
      </p:sp>
      <p:sp>
        <p:nvSpPr>
          <p:cNvPr id="4" name="Text 2"/>
          <p:cNvSpPr/>
          <p:nvPr/>
        </p:nvSpPr>
        <p:spPr>
          <a:xfrm>
            <a:off x="5486400" y="228600"/>
            <a:ext cx="2926080" cy="201168"/>
          </a:xfrm>
          <a:prstGeom prst="rect">
            <a:avLst/>
          </a:prstGeom>
          <a:noFill/>
          <a:ln/>
        </p:spPr>
        <p:txBody>
          <a:bodyPr wrap="square" lIns="0" tIns="0" rIns="0" bIns="0" rtlCol="0" anchor="ctr"/>
          <a:lstStyle/>
          <a:p>
            <a:pPr indent="0" marL="0">
              <a:buNone/>
            </a:pPr>
            <a:r>
              <a:rPr lang="en-US" sz="800" dirty="0">
                <a:solidFill>
                  <a:srgbClr val="7A7A7E"/>
                </a:solidFill>
                <a:latin typeface="Inter" pitchFamily="34" charset="0"/>
                <a:ea typeface="Inter" pitchFamily="34" charset="-122"/>
                <a:cs typeface="Inter" pitchFamily="34" charset="-120"/>
              </a:rPr>
              <a:t>Sesi 9 · Chapter 10 · Thompson et al. (2024)</a:t>
            </a:r>
            <a:endParaRPr lang="en-US" sz="800" dirty="0"/>
          </a:p>
        </p:txBody>
      </p:sp>
      <p:sp>
        <p:nvSpPr>
          <p:cNvPr id="5" name="Text 3"/>
          <p:cNvSpPr/>
          <p:nvPr/>
        </p:nvSpPr>
        <p:spPr>
          <a:xfrm>
            <a:off x="8503920" y="228600"/>
            <a:ext cx="2286000" cy="201168"/>
          </a:xfrm>
          <a:prstGeom prst="rect">
            <a:avLst/>
          </a:prstGeom>
          <a:noFill/>
          <a:ln/>
        </p:spPr>
        <p:txBody>
          <a:bodyPr wrap="square" lIns="0" tIns="0" rIns="0" bIns="0" rtlCol="0" anchor="ctr"/>
          <a:lstStyle/>
          <a:p>
            <a:pPr indent="0" marL="0">
              <a:buNone/>
            </a:pPr>
            <a:r>
              <a:rPr lang="en-US" sz="800" dirty="0">
                <a:solidFill>
                  <a:srgbClr val="7A7A7E"/>
                </a:solidFill>
                <a:latin typeface="Inter" pitchFamily="34" charset="0"/>
                <a:ea typeface="Inter" pitchFamily="34" charset="-122"/>
                <a:cs typeface="Inter" pitchFamily="34" charset="-120"/>
              </a:rPr>
              <a:t>MM FEB UGM · 7 November 2026</a:t>
            </a:r>
            <a:endParaRPr lang="en-US" sz="800" dirty="0"/>
          </a:p>
        </p:txBody>
      </p:sp>
      <p:sp>
        <p:nvSpPr>
          <p:cNvPr id="6" name="Text 4"/>
          <p:cNvSpPr/>
          <p:nvPr/>
        </p:nvSpPr>
        <p:spPr>
          <a:xfrm>
            <a:off x="502920" y="6492240"/>
            <a:ext cx="8229600" cy="182880"/>
          </a:xfrm>
          <a:prstGeom prst="rect">
            <a:avLst/>
          </a:prstGeom>
          <a:noFill/>
          <a:ln/>
        </p:spPr>
        <p:txBody>
          <a:bodyPr wrap="square" lIns="0" tIns="0" rIns="0" bIns="0" rtlCol="0" anchor="ctr"/>
          <a:lstStyle/>
          <a:p>
            <a:pPr indent="0" marL="0">
              <a:buNone/>
            </a:pPr>
            <a:r>
              <a:rPr lang="en-US" sz="750" dirty="0">
                <a:solidFill>
                  <a:srgbClr val="A0A0A4"/>
                </a:solidFill>
                <a:latin typeface="Inter" pitchFamily="34" charset="0"/>
                <a:ea typeface="Inter" pitchFamily="34" charset="-122"/>
                <a:cs typeface="Inter" pitchFamily="34" charset="-120"/>
              </a:rPr>
              <a:t>Sumber: Thompson, Peteraf, Gamble &amp; Strickland (2024), Crafting &amp; Executing Strategy, Bab 10</a:t>
            </a:r>
            <a:endParaRPr lang="en-US" sz="750" dirty="0"/>
          </a:p>
        </p:txBody>
      </p:sp>
      <p:sp>
        <p:nvSpPr>
          <p:cNvPr id="7" name="Text 5"/>
          <p:cNvSpPr/>
          <p:nvPr>
            <p:ph idx="105" type="title" hasCustomPrompt="1"/>
          </p:nvPr>
        </p:nvSpPr>
        <p:spPr>
          <a:xfrm>
            <a:off x="502920" y="658368"/>
            <a:ext cx="6949440" cy="1005840"/>
          </a:xfrm>
          <a:prstGeom prst="rect">
            <a:avLst/>
          </a:prstGeom>
          <a:noFill/>
          <a:ln/>
        </p:spPr>
        <p:txBody>
          <a:bodyPr wrap="square" rtlCol="0"/>
          <a:lstStyle>
            <a:lvl1pPr algn="l" indent="0" marL="0">
              <a:buNone/>
              <a:defRPr lang="en-US" sz="3000" b="1" dirty="0">
                <a:solidFill>
                  <a:srgbClr val="141417"/>
                </a:solidFill>
                <a:latin typeface="Inter" pitchFamily="34" charset="0"/>
                <a:ea typeface="Inter" pitchFamily="34" charset="-122"/>
                <a:cs typeface="Inter"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4F4F4"/>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4141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p:cNvSpPr txBox="1"/>
          <p:nvPr/>
        </p:nvSpPr>
        <p:spPr>
          <a:xfrm>
            <a:off x="502920" y="228600"/>
            <a:ext cx="1463040" cy="201168"/>
          </a:xfrm>
          <a:prstGeom prst="rect">
            <a:avLst/>
          </a:prstGeom>
          <a:noFill/>
          <a:ln/>
        </p:spPr>
        <p:txBody>
          <a:bodyPr wrap="square" lIns="0" tIns="0" rIns="0" bIns="0" rtlCol="0" anchor="t"/>
          <a:lstStyle/>
          <a:p>
            <a:pPr algn="l" indent="0" marL="0">
              <a:lnSpc>
                <a:spcPct val="112000"/>
              </a:lnSpc>
              <a:buNone/>
            </a:pPr>
            <a:r>
              <a:rPr lang="en-US" sz="800" b="1" spc="150" kern="0" dirty="0">
                <a:solidFill>
                  <a:srgbClr val="141417"/>
                </a:solidFill>
                <a:latin typeface="Inter" pitchFamily="34" charset="0"/>
                <a:ea typeface="Inter" pitchFamily="34" charset="-122"/>
                <a:cs typeface="Inter" pitchFamily="34" charset="-120"/>
              </a:rPr>
              <a:t>KELOMPOK 3</a:t>
            </a:r>
            <a:endParaRPr lang="en-US" sz="800" dirty="0"/>
          </a:p>
        </p:txBody>
      </p:sp>
      <p:sp>
        <p:nvSpPr>
          <p:cNvPr id="3" name="text"/>
          <p:cNvSpPr txBox="1"/>
          <p:nvPr/>
        </p:nvSpPr>
        <p:spPr>
          <a:xfrm>
            <a:off x="3017520" y="228600"/>
            <a:ext cx="2377440" cy="201168"/>
          </a:xfrm>
          <a:prstGeom prst="rect">
            <a:avLst/>
          </a:prstGeom>
          <a:noFill/>
          <a:ln/>
        </p:spPr>
        <p:txBody>
          <a:bodyPr wrap="square" lIns="0" tIns="0" rIns="0" bIns="0" rtlCol="0" anchor="t"/>
          <a:lstStyle/>
          <a:p>
            <a:pPr algn="l" indent="0" marL="0">
              <a:lnSpc>
                <a:spcPct val="112000"/>
              </a:lnSpc>
              <a:buNone/>
            </a:pPr>
            <a:r>
              <a:rPr lang="en-US" sz="800" dirty="0">
                <a:solidFill>
                  <a:srgbClr val="7A7A7E"/>
                </a:solidFill>
                <a:latin typeface="Inter" pitchFamily="34" charset="0"/>
                <a:ea typeface="Inter" pitchFamily="34" charset="-122"/>
                <a:cs typeface="Inter" pitchFamily="34" charset="-120"/>
              </a:rPr>
              <a:t>Strategic Management · MAN 5422</a:t>
            </a:r>
            <a:endParaRPr lang="en-US" sz="800" dirty="0"/>
          </a:p>
        </p:txBody>
      </p:sp>
      <p:sp>
        <p:nvSpPr>
          <p:cNvPr id="4" name="text"/>
          <p:cNvSpPr txBox="1"/>
          <p:nvPr/>
        </p:nvSpPr>
        <p:spPr>
          <a:xfrm>
            <a:off x="5486400" y="228600"/>
            <a:ext cx="2926080" cy="201168"/>
          </a:xfrm>
          <a:prstGeom prst="rect">
            <a:avLst/>
          </a:prstGeom>
          <a:noFill/>
          <a:ln/>
        </p:spPr>
        <p:txBody>
          <a:bodyPr wrap="square" lIns="0" tIns="0" rIns="0" bIns="0" rtlCol="0" anchor="t"/>
          <a:lstStyle/>
          <a:p>
            <a:pPr algn="l" indent="0" marL="0">
              <a:lnSpc>
                <a:spcPct val="112000"/>
              </a:lnSpc>
              <a:buNone/>
            </a:pPr>
            <a:r>
              <a:rPr lang="en-US" sz="800" dirty="0">
                <a:solidFill>
                  <a:srgbClr val="7A7A7E"/>
                </a:solidFill>
                <a:latin typeface="Inter" pitchFamily="34" charset="0"/>
                <a:ea typeface="Inter" pitchFamily="34" charset="-122"/>
                <a:cs typeface="Inter" pitchFamily="34" charset="-120"/>
              </a:rPr>
              <a:t>Sesi 9 · Chapter 10 · Thompson et al. (2024)</a:t>
            </a:r>
            <a:endParaRPr lang="en-US" sz="800" dirty="0"/>
          </a:p>
        </p:txBody>
      </p:sp>
      <p:sp>
        <p:nvSpPr>
          <p:cNvPr id="5" name="text"/>
          <p:cNvSpPr txBox="1"/>
          <p:nvPr/>
        </p:nvSpPr>
        <p:spPr>
          <a:xfrm>
            <a:off x="8503920" y="228600"/>
            <a:ext cx="3182112" cy="201168"/>
          </a:xfrm>
          <a:prstGeom prst="rect">
            <a:avLst/>
          </a:prstGeom>
          <a:noFill/>
          <a:ln/>
        </p:spPr>
        <p:txBody>
          <a:bodyPr wrap="square" lIns="0" tIns="0" rIns="0" bIns="0" rtlCol="0" anchor="t"/>
          <a:lstStyle/>
          <a:p>
            <a:pPr algn="r" indent="0" marL="0">
              <a:lnSpc>
                <a:spcPct val="112000"/>
              </a:lnSpc>
              <a:buNone/>
            </a:pPr>
            <a:r>
              <a:rPr lang="en-US" sz="800" dirty="0">
                <a:solidFill>
                  <a:srgbClr val="7A7A7E"/>
                </a:solidFill>
                <a:latin typeface="Inter" pitchFamily="34" charset="0"/>
                <a:ea typeface="Inter" pitchFamily="34" charset="-122"/>
                <a:cs typeface="Inter" pitchFamily="34" charset="-120"/>
              </a:rPr>
              <a:t>Dosen: Dr. Rangga Almahendra, S.T., M.M.</a:t>
            </a:r>
            <a:endParaRPr lang="en-US" sz="800" dirty="0"/>
          </a:p>
        </p:txBody>
      </p:sp>
      <p:sp>
        <p:nvSpPr>
          <p:cNvPr id="6" name="icon-bg"/>
          <p:cNvSpPr/>
          <p:nvPr/>
        </p:nvSpPr>
        <p:spPr>
          <a:xfrm>
            <a:off x="502920" y="685800"/>
            <a:ext cx="384048" cy="384048"/>
          </a:xfrm>
          <a:prstGeom prst="roundRect">
            <a:avLst>
              <a:gd name="adj" fmla="val 19048"/>
            </a:avLst>
          </a:prstGeom>
          <a:solidFill>
            <a:srgbClr val="141417"/>
          </a:solidFill>
          <a:ln w="6350">
            <a:solidFill>
              <a:srgbClr val="141417"/>
            </a:solidFill>
            <a:prstDash val="solid"/>
          </a:ln>
        </p:spPr>
      </p:sp>
      <p:pic>
        <p:nvPicPr>
          <p:cNvPr id="7" name="icon" descr="preencoded.png">    </p:cNvPr>
          <p:cNvPicPr>
            <a:picLocks noChangeAspect="1"/>
          </p:cNvPicPr>
          <p:nvPr/>
        </p:nvPicPr>
        <p:blipFill>
          <a:blip r:embed="rId1"/>
          <a:stretch>
            <a:fillRect/>
          </a:stretch>
        </p:blipFill>
        <p:spPr>
          <a:xfrm>
            <a:off x="598932" y="781812"/>
            <a:ext cx="192024" cy="192024"/>
          </a:xfrm>
          <a:prstGeom prst="rect">
            <a:avLst/>
          </a:prstGeom>
        </p:spPr>
      </p:pic>
      <p:sp>
        <p:nvSpPr>
          <p:cNvPr id="8" name="text"/>
          <p:cNvSpPr txBox="1"/>
          <p:nvPr/>
        </p:nvSpPr>
        <p:spPr>
          <a:xfrm>
            <a:off x="502920" y="1234440"/>
            <a:ext cx="5943600" cy="2331720"/>
          </a:xfrm>
          <a:prstGeom prst="rect">
            <a:avLst/>
          </a:prstGeom>
          <a:noFill/>
          <a:ln/>
        </p:spPr>
        <p:txBody>
          <a:bodyPr wrap="square" lIns="0" tIns="0" rIns="0" bIns="0" rtlCol="0" anchor="t"/>
          <a:lstStyle/>
          <a:p>
            <a:pPr algn="l" indent="0" marL="0">
              <a:lnSpc>
                <a:spcPct val="100000"/>
              </a:lnSpc>
              <a:buNone/>
            </a:pPr>
            <a:r>
              <a:rPr lang="en-US" sz="3600" b="1" dirty="0">
                <a:solidFill>
                  <a:srgbClr val="141417"/>
                </a:solidFill>
                <a:latin typeface="Inter" pitchFamily="34" charset="0"/>
                <a:ea typeface="Inter" pitchFamily="34" charset="-122"/>
                <a:cs typeface="Inter" pitchFamily="34" charset="-120"/>
              </a:rPr>
              <a:t>BUILDING AN ORGANIZATION CAPABLE OF GOOD STRATEGY EXECUTION</a:t>
            </a:r>
            <a:endParaRPr lang="en-US" sz="3600" dirty="0"/>
          </a:p>
        </p:txBody>
      </p:sp>
      <p:sp>
        <p:nvSpPr>
          <p:cNvPr id="9" name="tag"/>
          <p:cNvSpPr/>
          <p:nvPr/>
        </p:nvSpPr>
        <p:spPr>
          <a:xfrm>
            <a:off x="502920" y="3639312"/>
            <a:ext cx="3017520" cy="274320"/>
          </a:xfrm>
          <a:prstGeom prst="roundRect">
            <a:avLst>
              <a:gd name="adj" fmla="val 166667"/>
            </a:avLst>
          </a:prstGeom>
          <a:solidFill>
            <a:srgbClr val="F4F4F4"/>
          </a:solidFill>
          <a:ln w="9525">
            <a:solidFill>
              <a:srgbClr val="141417"/>
            </a:solidFill>
            <a:prstDash val="solid"/>
          </a:ln>
        </p:spPr>
      </p:sp>
      <p:sp>
        <p:nvSpPr>
          <p:cNvPr id="10" name="text"/>
          <p:cNvSpPr txBox="1"/>
          <p:nvPr/>
        </p:nvSpPr>
        <p:spPr>
          <a:xfrm>
            <a:off x="594360" y="3639312"/>
            <a:ext cx="2834640" cy="274320"/>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141417"/>
                </a:solidFill>
                <a:latin typeface="Inter" pitchFamily="34" charset="0"/>
                <a:ea typeface="Inter" pitchFamily="34" charset="-122"/>
                <a:cs typeface="Inter" pitchFamily="34" charset="-120"/>
              </a:rPr>
              <a:t>PEOPLE, CAPABILITIES, AND STRUCTURE</a:t>
            </a:r>
            <a:endParaRPr lang="en-US" sz="750" dirty="0"/>
          </a:p>
        </p:txBody>
      </p:sp>
      <p:sp>
        <p:nvSpPr>
          <p:cNvPr id="11" name="card"/>
          <p:cNvSpPr/>
          <p:nvPr/>
        </p:nvSpPr>
        <p:spPr>
          <a:xfrm>
            <a:off x="502920" y="4114800"/>
            <a:ext cx="1901952" cy="868680"/>
          </a:xfrm>
          <a:prstGeom prst="roundRect">
            <a:avLst>
              <a:gd name="adj" fmla="val 10526"/>
            </a:avLst>
          </a:prstGeom>
          <a:solidFill>
            <a:srgbClr val="D4FC00"/>
          </a:solidFill>
          <a:ln w="6350">
            <a:solidFill>
              <a:srgbClr val="D4FC00"/>
            </a:solidFill>
            <a:prstDash val="solid"/>
          </a:ln>
        </p:spPr>
      </p:sp>
      <p:sp>
        <p:nvSpPr>
          <p:cNvPr id="12" name="text"/>
          <p:cNvSpPr txBox="1"/>
          <p:nvPr/>
        </p:nvSpPr>
        <p:spPr>
          <a:xfrm>
            <a:off x="685800" y="4224528"/>
            <a:ext cx="1536192" cy="434340"/>
          </a:xfrm>
          <a:prstGeom prst="rect">
            <a:avLst/>
          </a:prstGeom>
          <a:noFill/>
          <a:ln/>
        </p:spPr>
        <p:txBody>
          <a:bodyPr wrap="square" lIns="0" tIns="0" rIns="0" bIns="0" rtlCol="0" anchor="t"/>
          <a:lstStyle/>
          <a:p>
            <a:pPr algn="l" indent="0" marL="0">
              <a:lnSpc>
                <a:spcPct val="112000"/>
              </a:lnSpc>
              <a:buNone/>
            </a:pPr>
            <a:r>
              <a:rPr lang="en-US" sz="1800" b="1" dirty="0">
                <a:solidFill>
                  <a:srgbClr val="141417"/>
                </a:solidFill>
                <a:latin typeface="Inter" pitchFamily="34" charset="0"/>
                <a:ea typeface="Inter" pitchFamily="34" charset="-122"/>
                <a:cs typeface="Inter" pitchFamily="34" charset="-120"/>
              </a:rPr>
              <a:t>Bab 10</a:t>
            </a:r>
            <a:endParaRPr lang="en-US" sz="1800" dirty="0"/>
          </a:p>
        </p:txBody>
      </p:sp>
      <p:sp>
        <p:nvSpPr>
          <p:cNvPr id="13" name="text"/>
          <p:cNvSpPr txBox="1"/>
          <p:nvPr/>
        </p:nvSpPr>
        <p:spPr>
          <a:xfrm>
            <a:off x="685800" y="4567428"/>
            <a:ext cx="1536192" cy="342900"/>
          </a:xfrm>
          <a:prstGeom prst="rect">
            <a:avLst/>
          </a:prstGeom>
          <a:noFill/>
          <a:ln/>
        </p:spPr>
        <p:txBody>
          <a:bodyPr wrap="square" lIns="0" tIns="0" rIns="0" bIns="0" rtlCol="0" anchor="t"/>
          <a:lstStyle/>
          <a:p>
            <a:pPr algn="l" indent="0" marL="0">
              <a:lnSpc>
                <a:spcPct val="110000"/>
              </a:lnSpc>
              <a:buNone/>
            </a:pPr>
            <a:r>
              <a:rPr lang="en-US" sz="800" dirty="0">
                <a:solidFill>
                  <a:srgbClr val="1C1C1E"/>
                </a:solidFill>
                <a:latin typeface="Inter" pitchFamily="34" charset="0"/>
                <a:ea typeface="Inter" pitchFamily="34" charset="-122"/>
                <a:cs typeface="Inter" pitchFamily="34" charset="-120"/>
              </a:rPr>
              <a:t>Thompson, Peteraf, Gamble &amp; Strickland (2024)</a:t>
            </a:r>
            <a:endParaRPr lang="en-US" sz="800" dirty="0"/>
          </a:p>
        </p:txBody>
      </p:sp>
      <p:sp>
        <p:nvSpPr>
          <p:cNvPr id="14" name="card"/>
          <p:cNvSpPr/>
          <p:nvPr/>
        </p:nvSpPr>
        <p:spPr>
          <a:xfrm>
            <a:off x="2532888" y="4114800"/>
            <a:ext cx="1901952" cy="868680"/>
          </a:xfrm>
          <a:prstGeom prst="roundRect">
            <a:avLst>
              <a:gd name="adj" fmla="val 10526"/>
            </a:avLst>
          </a:prstGeom>
          <a:solidFill>
            <a:srgbClr val="FFFFFF"/>
          </a:solidFill>
          <a:ln w="6350">
            <a:solidFill>
              <a:srgbClr val="FFFFFF"/>
            </a:solidFill>
            <a:prstDash val="solid"/>
          </a:ln>
        </p:spPr>
      </p:sp>
      <p:sp>
        <p:nvSpPr>
          <p:cNvPr id="15" name="text"/>
          <p:cNvSpPr txBox="1"/>
          <p:nvPr/>
        </p:nvSpPr>
        <p:spPr>
          <a:xfrm>
            <a:off x="2715768" y="4224528"/>
            <a:ext cx="1536192" cy="434340"/>
          </a:xfrm>
          <a:prstGeom prst="rect">
            <a:avLst/>
          </a:prstGeom>
          <a:noFill/>
          <a:ln/>
        </p:spPr>
        <p:txBody>
          <a:bodyPr wrap="square" lIns="0" tIns="0" rIns="0" bIns="0" rtlCol="0" anchor="t"/>
          <a:lstStyle/>
          <a:p>
            <a:pPr algn="l" indent="0" marL="0">
              <a:lnSpc>
                <a:spcPct val="112000"/>
              </a:lnSpc>
              <a:buNone/>
            </a:pPr>
            <a:r>
              <a:rPr lang="en-US" sz="1800" b="1" dirty="0">
                <a:solidFill>
                  <a:srgbClr val="141417"/>
                </a:solidFill>
                <a:latin typeface="Inter" pitchFamily="34" charset="0"/>
                <a:ea typeface="Inter" pitchFamily="34" charset="-122"/>
                <a:cs typeface="Inter" pitchFamily="34" charset="-120"/>
              </a:rPr>
              <a:t>Kelompok 3</a:t>
            </a:r>
            <a:endParaRPr lang="en-US" sz="1800" dirty="0"/>
          </a:p>
        </p:txBody>
      </p:sp>
      <p:sp>
        <p:nvSpPr>
          <p:cNvPr id="16" name="text"/>
          <p:cNvSpPr txBox="1"/>
          <p:nvPr/>
        </p:nvSpPr>
        <p:spPr>
          <a:xfrm>
            <a:off x="2715768" y="4567428"/>
            <a:ext cx="1536192" cy="342900"/>
          </a:xfrm>
          <a:prstGeom prst="rect">
            <a:avLst/>
          </a:prstGeom>
          <a:noFill/>
          <a:ln/>
        </p:spPr>
        <p:txBody>
          <a:bodyPr wrap="square" lIns="0" tIns="0" rIns="0" bIns="0" rtlCol="0" anchor="t"/>
          <a:lstStyle/>
          <a:p>
            <a:pPr algn="l" indent="0" marL="0">
              <a:lnSpc>
                <a:spcPct val="110000"/>
              </a:lnSpc>
              <a:buNone/>
            </a:pPr>
            <a:r>
              <a:rPr lang="en-US" sz="800" dirty="0">
                <a:solidFill>
                  <a:srgbClr val="7A7A7E"/>
                </a:solidFill>
                <a:latin typeface="Inter" pitchFamily="34" charset="0"/>
                <a:ea typeface="Inter" pitchFamily="34" charset="-122"/>
                <a:cs typeface="Inter" pitchFamily="34" charset="-120"/>
              </a:rPr>
              <a:t>Magister Manajemen FEB UGM, Jakarta</a:t>
            </a:r>
            <a:endParaRPr lang="en-US" sz="800" dirty="0"/>
          </a:p>
        </p:txBody>
      </p:sp>
      <p:sp>
        <p:nvSpPr>
          <p:cNvPr id="17" name="card"/>
          <p:cNvSpPr/>
          <p:nvPr/>
        </p:nvSpPr>
        <p:spPr>
          <a:xfrm>
            <a:off x="4562856" y="4114800"/>
            <a:ext cx="1901952" cy="868680"/>
          </a:xfrm>
          <a:prstGeom prst="roundRect">
            <a:avLst>
              <a:gd name="adj" fmla="val 10526"/>
            </a:avLst>
          </a:prstGeom>
          <a:solidFill>
            <a:srgbClr val="141417"/>
          </a:solidFill>
          <a:ln w="6350">
            <a:solidFill>
              <a:srgbClr val="141417"/>
            </a:solidFill>
            <a:prstDash val="solid"/>
          </a:ln>
        </p:spPr>
      </p:sp>
      <p:sp>
        <p:nvSpPr>
          <p:cNvPr id="18" name="text"/>
          <p:cNvSpPr txBox="1"/>
          <p:nvPr/>
        </p:nvSpPr>
        <p:spPr>
          <a:xfrm>
            <a:off x="4745736" y="4224528"/>
            <a:ext cx="1536192" cy="434340"/>
          </a:xfrm>
          <a:prstGeom prst="rect">
            <a:avLst/>
          </a:prstGeom>
          <a:noFill/>
          <a:ln/>
        </p:spPr>
        <p:txBody>
          <a:bodyPr wrap="square" lIns="0" tIns="0" rIns="0" bIns="0" rtlCol="0" anchor="t"/>
          <a:lstStyle/>
          <a:p>
            <a:pPr algn="l" indent="0" marL="0">
              <a:lnSpc>
                <a:spcPct val="112000"/>
              </a:lnSpc>
              <a:buNone/>
            </a:pPr>
            <a:r>
              <a:rPr lang="en-US" sz="1800" b="1" dirty="0">
                <a:solidFill>
                  <a:srgbClr val="FFFFFF"/>
                </a:solidFill>
                <a:latin typeface="Inter" pitchFamily="34" charset="0"/>
                <a:ea typeface="Inter" pitchFamily="34" charset="-122"/>
                <a:cs typeface="Inter" pitchFamily="34" charset="-120"/>
              </a:rPr>
              <a:t>Sesi 9</a:t>
            </a:r>
            <a:endParaRPr lang="en-US" sz="1800" dirty="0"/>
          </a:p>
        </p:txBody>
      </p:sp>
      <p:sp>
        <p:nvSpPr>
          <p:cNvPr id="19" name="text"/>
          <p:cNvSpPr txBox="1"/>
          <p:nvPr/>
        </p:nvSpPr>
        <p:spPr>
          <a:xfrm>
            <a:off x="4745736" y="4567428"/>
            <a:ext cx="1536192" cy="342900"/>
          </a:xfrm>
          <a:prstGeom prst="rect">
            <a:avLst/>
          </a:prstGeom>
          <a:noFill/>
          <a:ln/>
        </p:spPr>
        <p:txBody>
          <a:bodyPr wrap="square" lIns="0" tIns="0" rIns="0" bIns="0" rtlCol="0" anchor="t"/>
          <a:lstStyle/>
          <a:p>
            <a:pPr algn="l" indent="0" marL="0">
              <a:lnSpc>
                <a:spcPct val="110000"/>
              </a:lnSpc>
              <a:buNone/>
            </a:pPr>
            <a:r>
              <a:rPr lang="en-US" sz="800" dirty="0">
                <a:solidFill>
                  <a:srgbClr val="C9C9CC"/>
                </a:solidFill>
                <a:latin typeface="Inter" pitchFamily="34" charset="0"/>
                <a:ea typeface="Inter" pitchFamily="34" charset="-122"/>
                <a:cs typeface="Inter" pitchFamily="34" charset="-120"/>
              </a:rPr>
              <a:t>Chapter presentation, 7 November 2026</a:t>
            </a:r>
            <a:endParaRPr lang="en-US" sz="800" dirty="0"/>
          </a:p>
        </p:txBody>
      </p:sp>
      <p:pic>
        <p:nvPicPr>
          <p:cNvPr id="20" name="Foto tim" descr="preencoded.png">    </p:cNvPr>
          <p:cNvPicPr>
            <a:picLocks noChangeAspect="1"/>
          </p:cNvPicPr>
          <p:nvPr/>
        </p:nvPicPr>
        <p:blipFill>
          <a:blip r:embed="rId2"/>
          <a:stretch>
            <a:fillRect/>
          </a:stretch>
        </p:blipFill>
        <p:spPr>
          <a:xfrm>
            <a:off x="6766560" y="685800"/>
            <a:ext cx="4919472" cy="4297680"/>
          </a:xfrm>
          <a:prstGeom prst="rect">
            <a:avLst/>
          </a:prstGeom>
        </p:spPr>
      </p:pic>
      <p:sp>
        <p:nvSpPr>
          <p:cNvPr id="21" name="card"/>
          <p:cNvSpPr/>
          <p:nvPr/>
        </p:nvSpPr>
        <p:spPr>
          <a:xfrm>
            <a:off x="502920" y="5349240"/>
            <a:ext cx="2700452" cy="868680"/>
          </a:xfrm>
          <a:prstGeom prst="roundRect">
            <a:avLst>
              <a:gd name="adj" fmla="val 10526"/>
            </a:avLst>
          </a:prstGeom>
          <a:solidFill>
            <a:srgbClr val="FFFFFF"/>
          </a:solidFill>
          <a:ln w="6350">
            <a:solidFill>
              <a:srgbClr val="FFFFFF"/>
            </a:solidFill>
            <a:prstDash val="solid"/>
          </a:ln>
        </p:spPr>
      </p:sp>
      <p:sp>
        <p:nvSpPr>
          <p:cNvPr id="22" name="dot"/>
          <p:cNvSpPr/>
          <p:nvPr/>
        </p:nvSpPr>
        <p:spPr>
          <a:xfrm>
            <a:off x="685800" y="5687568"/>
            <a:ext cx="146304" cy="146304"/>
          </a:xfrm>
          <a:prstGeom prst="ellipse">
            <a:avLst/>
          </a:prstGeom>
          <a:solidFill>
            <a:srgbClr val="D4FC00"/>
          </a:solidFill>
          <a:ln w="6350">
            <a:solidFill>
              <a:srgbClr val="D4FC00"/>
            </a:solidFill>
            <a:prstDash val="solid"/>
          </a:ln>
        </p:spPr>
      </p:sp>
      <p:sp>
        <p:nvSpPr>
          <p:cNvPr id="23" name="text"/>
          <p:cNvSpPr txBox="1"/>
          <p:nvPr/>
        </p:nvSpPr>
        <p:spPr>
          <a:xfrm>
            <a:off x="960120" y="5532120"/>
            <a:ext cx="2151812" cy="274320"/>
          </a:xfrm>
          <a:prstGeom prst="rect">
            <a:avLst/>
          </a:prstGeom>
          <a:noFill/>
          <a:ln/>
        </p:spPr>
        <p:txBody>
          <a:bodyPr wrap="square" lIns="0" tIns="0" rIns="0" bIns="0" rtlCol="0" anchor="t"/>
          <a:lstStyle/>
          <a:p>
            <a:pPr algn="l" indent="0" marL="0">
              <a:lnSpc>
                <a:spcPct val="112000"/>
              </a:lnSpc>
              <a:buNone/>
            </a:pPr>
            <a:r>
              <a:rPr lang="en-US" sz="1150" b="1" dirty="0">
                <a:solidFill>
                  <a:srgbClr val="1C1C1E"/>
                </a:solidFill>
                <a:latin typeface="Inter" pitchFamily="34" charset="0"/>
                <a:ea typeface="Inter" pitchFamily="34" charset="-122"/>
                <a:cs typeface="Inter" pitchFamily="34" charset="-120"/>
              </a:rPr>
              <a:t>Aslih Abnuri</a:t>
            </a:r>
            <a:endParaRPr lang="en-US" sz="1150" dirty="0"/>
          </a:p>
        </p:txBody>
      </p:sp>
      <p:sp>
        <p:nvSpPr>
          <p:cNvPr id="24" name="text"/>
          <p:cNvSpPr txBox="1"/>
          <p:nvPr/>
        </p:nvSpPr>
        <p:spPr>
          <a:xfrm>
            <a:off x="960120" y="5824728"/>
            <a:ext cx="2151812" cy="27432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25/574338/PEK/31801</a:t>
            </a:r>
            <a:endParaRPr lang="en-US" sz="900" dirty="0"/>
          </a:p>
        </p:txBody>
      </p:sp>
      <p:sp>
        <p:nvSpPr>
          <p:cNvPr id="25" name="card"/>
          <p:cNvSpPr/>
          <p:nvPr/>
        </p:nvSpPr>
        <p:spPr>
          <a:xfrm>
            <a:off x="3331388" y="5349240"/>
            <a:ext cx="2700452" cy="868680"/>
          </a:xfrm>
          <a:prstGeom prst="roundRect">
            <a:avLst>
              <a:gd name="adj" fmla="val 10526"/>
            </a:avLst>
          </a:prstGeom>
          <a:solidFill>
            <a:srgbClr val="FFFFFF"/>
          </a:solidFill>
          <a:ln w="6350">
            <a:solidFill>
              <a:srgbClr val="FFFFFF"/>
            </a:solidFill>
            <a:prstDash val="solid"/>
          </a:ln>
        </p:spPr>
      </p:sp>
      <p:sp>
        <p:nvSpPr>
          <p:cNvPr id="26" name="dot"/>
          <p:cNvSpPr/>
          <p:nvPr/>
        </p:nvSpPr>
        <p:spPr>
          <a:xfrm>
            <a:off x="3514268" y="5687568"/>
            <a:ext cx="146304" cy="146304"/>
          </a:xfrm>
          <a:prstGeom prst="ellipse">
            <a:avLst/>
          </a:prstGeom>
          <a:solidFill>
            <a:srgbClr val="141417"/>
          </a:solidFill>
          <a:ln w="6350">
            <a:solidFill>
              <a:srgbClr val="141417"/>
            </a:solidFill>
            <a:prstDash val="solid"/>
          </a:ln>
        </p:spPr>
      </p:sp>
      <p:sp>
        <p:nvSpPr>
          <p:cNvPr id="27" name="text"/>
          <p:cNvSpPr txBox="1"/>
          <p:nvPr/>
        </p:nvSpPr>
        <p:spPr>
          <a:xfrm>
            <a:off x="3788588" y="5532120"/>
            <a:ext cx="2151812" cy="274320"/>
          </a:xfrm>
          <a:prstGeom prst="rect">
            <a:avLst/>
          </a:prstGeom>
          <a:noFill/>
          <a:ln/>
        </p:spPr>
        <p:txBody>
          <a:bodyPr wrap="square" lIns="0" tIns="0" rIns="0" bIns="0" rtlCol="0" anchor="t"/>
          <a:lstStyle/>
          <a:p>
            <a:pPr algn="l" indent="0" marL="0">
              <a:lnSpc>
                <a:spcPct val="112000"/>
              </a:lnSpc>
              <a:buNone/>
            </a:pPr>
            <a:r>
              <a:rPr lang="en-US" sz="1150" b="1" dirty="0">
                <a:solidFill>
                  <a:srgbClr val="1C1C1E"/>
                </a:solidFill>
                <a:latin typeface="Inter" pitchFamily="34" charset="0"/>
                <a:ea typeface="Inter" pitchFamily="34" charset="-122"/>
                <a:cs typeface="Inter" pitchFamily="34" charset="-120"/>
              </a:rPr>
              <a:t>Tifani Puspita</a:t>
            </a:r>
            <a:endParaRPr lang="en-US" sz="1150" dirty="0"/>
          </a:p>
        </p:txBody>
      </p:sp>
      <p:sp>
        <p:nvSpPr>
          <p:cNvPr id="28" name="text"/>
          <p:cNvSpPr txBox="1"/>
          <p:nvPr/>
        </p:nvSpPr>
        <p:spPr>
          <a:xfrm>
            <a:off x="3788588" y="5824728"/>
            <a:ext cx="2151812" cy="27432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25/574443/PEK/31851</a:t>
            </a:r>
            <a:endParaRPr lang="en-US" sz="900" dirty="0"/>
          </a:p>
        </p:txBody>
      </p:sp>
      <p:sp>
        <p:nvSpPr>
          <p:cNvPr id="29" name="card"/>
          <p:cNvSpPr/>
          <p:nvPr/>
        </p:nvSpPr>
        <p:spPr>
          <a:xfrm>
            <a:off x="6159856" y="5349240"/>
            <a:ext cx="2700452" cy="868680"/>
          </a:xfrm>
          <a:prstGeom prst="roundRect">
            <a:avLst>
              <a:gd name="adj" fmla="val 10526"/>
            </a:avLst>
          </a:prstGeom>
          <a:solidFill>
            <a:srgbClr val="FFFFFF"/>
          </a:solidFill>
          <a:ln w="6350">
            <a:solidFill>
              <a:srgbClr val="FFFFFF"/>
            </a:solidFill>
            <a:prstDash val="solid"/>
          </a:ln>
        </p:spPr>
      </p:sp>
      <p:sp>
        <p:nvSpPr>
          <p:cNvPr id="30" name="dot"/>
          <p:cNvSpPr/>
          <p:nvPr/>
        </p:nvSpPr>
        <p:spPr>
          <a:xfrm>
            <a:off x="6342736" y="5687568"/>
            <a:ext cx="146304" cy="146304"/>
          </a:xfrm>
          <a:prstGeom prst="ellipse">
            <a:avLst/>
          </a:prstGeom>
          <a:solidFill>
            <a:srgbClr val="141417"/>
          </a:solidFill>
          <a:ln w="6350">
            <a:solidFill>
              <a:srgbClr val="141417"/>
            </a:solidFill>
            <a:prstDash val="solid"/>
          </a:ln>
        </p:spPr>
      </p:sp>
      <p:sp>
        <p:nvSpPr>
          <p:cNvPr id="31" name="text"/>
          <p:cNvSpPr txBox="1"/>
          <p:nvPr/>
        </p:nvSpPr>
        <p:spPr>
          <a:xfrm>
            <a:off x="6617056" y="5532120"/>
            <a:ext cx="2151812" cy="274320"/>
          </a:xfrm>
          <a:prstGeom prst="rect">
            <a:avLst/>
          </a:prstGeom>
          <a:noFill/>
          <a:ln/>
        </p:spPr>
        <p:txBody>
          <a:bodyPr wrap="square" lIns="0" tIns="0" rIns="0" bIns="0" rtlCol="0" anchor="t"/>
          <a:lstStyle/>
          <a:p>
            <a:pPr algn="l" indent="0" marL="0">
              <a:lnSpc>
                <a:spcPct val="112000"/>
              </a:lnSpc>
              <a:buNone/>
            </a:pPr>
            <a:r>
              <a:rPr lang="en-US" sz="1150" b="1" dirty="0">
                <a:solidFill>
                  <a:srgbClr val="1C1C1E"/>
                </a:solidFill>
                <a:latin typeface="Inter" pitchFamily="34" charset="0"/>
                <a:ea typeface="Inter" pitchFamily="34" charset="-122"/>
                <a:cs typeface="Inter" pitchFamily="34" charset="-120"/>
              </a:rPr>
              <a:t>Happy Dinithasari</a:t>
            </a:r>
            <a:endParaRPr lang="en-US" sz="1150" dirty="0"/>
          </a:p>
        </p:txBody>
      </p:sp>
      <p:sp>
        <p:nvSpPr>
          <p:cNvPr id="32" name="text"/>
          <p:cNvSpPr txBox="1"/>
          <p:nvPr/>
        </p:nvSpPr>
        <p:spPr>
          <a:xfrm>
            <a:off x="6617056" y="5824728"/>
            <a:ext cx="2151812" cy="27432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25/574400/PEK/31831</a:t>
            </a:r>
            <a:endParaRPr lang="en-US" sz="900" dirty="0"/>
          </a:p>
        </p:txBody>
      </p:sp>
      <p:sp>
        <p:nvSpPr>
          <p:cNvPr id="33" name="card"/>
          <p:cNvSpPr/>
          <p:nvPr/>
        </p:nvSpPr>
        <p:spPr>
          <a:xfrm>
            <a:off x="8988323" y="5349240"/>
            <a:ext cx="2700452" cy="868680"/>
          </a:xfrm>
          <a:prstGeom prst="roundRect">
            <a:avLst>
              <a:gd name="adj" fmla="val 10526"/>
            </a:avLst>
          </a:prstGeom>
          <a:solidFill>
            <a:srgbClr val="FFFFFF"/>
          </a:solidFill>
          <a:ln w="6350">
            <a:solidFill>
              <a:srgbClr val="FFFFFF"/>
            </a:solidFill>
            <a:prstDash val="solid"/>
          </a:ln>
        </p:spPr>
      </p:sp>
      <p:sp>
        <p:nvSpPr>
          <p:cNvPr id="34" name="dot"/>
          <p:cNvSpPr/>
          <p:nvPr/>
        </p:nvSpPr>
        <p:spPr>
          <a:xfrm>
            <a:off x="9171203" y="5687568"/>
            <a:ext cx="146304" cy="146304"/>
          </a:xfrm>
          <a:prstGeom prst="ellipse">
            <a:avLst/>
          </a:prstGeom>
          <a:solidFill>
            <a:srgbClr val="141417"/>
          </a:solidFill>
          <a:ln w="6350">
            <a:solidFill>
              <a:srgbClr val="141417"/>
            </a:solidFill>
            <a:prstDash val="solid"/>
          </a:ln>
        </p:spPr>
      </p:sp>
      <p:sp>
        <p:nvSpPr>
          <p:cNvPr id="35" name="text"/>
          <p:cNvSpPr txBox="1"/>
          <p:nvPr/>
        </p:nvSpPr>
        <p:spPr>
          <a:xfrm>
            <a:off x="9445523" y="5532120"/>
            <a:ext cx="2151812" cy="274320"/>
          </a:xfrm>
          <a:prstGeom prst="rect">
            <a:avLst/>
          </a:prstGeom>
          <a:noFill/>
          <a:ln/>
        </p:spPr>
        <p:txBody>
          <a:bodyPr wrap="square" lIns="0" tIns="0" rIns="0" bIns="0" rtlCol="0" anchor="t"/>
          <a:lstStyle/>
          <a:p>
            <a:pPr algn="l" indent="0" marL="0">
              <a:lnSpc>
                <a:spcPct val="112000"/>
              </a:lnSpc>
              <a:buNone/>
            </a:pPr>
            <a:r>
              <a:rPr lang="en-US" sz="1150" b="1" dirty="0">
                <a:solidFill>
                  <a:srgbClr val="1C1C1E"/>
                </a:solidFill>
                <a:latin typeface="Inter" pitchFamily="34" charset="0"/>
                <a:ea typeface="Inter" pitchFamily="34" charset="-122"/>
                <a:cs typeface="Inter" pitchFamily="34" charset="-120"/>
              </a:rPr>
              <a:t>Dara Astrini Rahayu K</a:t>
            </a:r>
            <a:endParaRPr lang="en-US" sz="1150" dirty="0"/>
          </a:p>
        </p:txBody>
      </p:sp>
      <p:sp>
        <p:nvSpPr>
          <p:cNvPr id="36" name="text"/>
          <p:cNvSpPr txBox="1"/>
          <p:nvPr/>
        </p:nvSpPr>
        <p:spPr>
          <a:xfrm>
            <a:off x="9445523" y="5824728"/>
            <a:ext cx="2151812" cy="27432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25/574437/PEK/31847</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ALUR PEMBAHASAN</a:t>
            </a:r>
            <a:endParaRPr lang="en-US" sz="3000" dirty="0"/>
          </a:p>
        </p:txBody>
      </p:sp>
      <p:sp>
        <p:nvSpPr>
          <p:cNvPr id="3" name="text"/>
          <p:cNvSpPr txBox="1"/>
          <p:nvPr/>
        </p:nvSpPr>
        <p:spPr>
          <a:xfrm>
            <a:off x="502920" y="1783080"/>
            <a:ext cx="6035040" cy="548640"/>
          </a:xfrm>
          <a:prstGeom prst="rect">
            <a:avLst/>
          </a:prstGeom>
          <a:noFill/>
          <a:ln/>
        </p:spPr>
        <p:txBody>
          <a:bodyPr wrap="square" lIns="0" tIns="0" rIns="0" bIns="0" rtlCol="0" anchor="t"/>
          <a:lstStyle/>
          <a:p>
            <a:pPr algn="l" indent="0" marL="0">
              <a:lnSpc>
                <a:spcPct val="112000"/>
              </a:lnSpc>
              <a:buNone/>
            </a:pPr>
            <a:r>
              <a:rPr lang="en-US" sz="1100" dirty="0">
                <a:solidFill>
                  <a:srgbClr val="7A7A7E"/>
                </a:solidFill>
                <a:latin typeface="Inter" pitchFamily="34" charset="0"/>
                <a:ea typeface="Inter" pitchFamily="34" charset="-122"/>
                <a:cs typeface="Inter" pitchFamily="34" charset="-120"/>
              </a:rPr>
              <a:t>Lima bagian yang saling bertaut. Orang membangun capability, capability menuntut struktur yang tepat, dan struktur menentukan cara orang bekerja.</a:t>
            </a:r>
            <a:endParaRPr lang="en-US" sz="1100" dirty="0"/>
          </a:p>
        </p:txBody>
      </p:sp>
      <p:pic>
        <p:nvPicPr>
          <p:cNvPr id="4" name="Foto perencanaan" descr="preencoded.png">    </p:cNvPr>
          <p:cNvPicPr>
            <a:picLocks noChangeAspect="1"/>
          </p:cNvPicPr>
          <p:nvPr/>
        </p:nvPicPr>
        <p:blipFill>
          <a:blip r:embed="rId1"/>
          <a:stretch>
            <a:fillRect/>
          </a:stretch>
        </p:blipFill>
        <p:spPr>
          <a:xfrm>
            <a:off x="8778240" y="658368"/>
            <a:ext cx="2907792" cy="3886200"/>
          </a:xfrm>
          <a:prstGeom prst="rect">
            <a:avLst/>
          </a:prstGeom>
        </p:spPr>
      </p:pic>
      <p:sp>
        <p:nvSpPr>
          <p:cNvPr id="5" name="card"/>
          <p:cNvSpPr/>
          <p:nvPr/>
        </p:nvSpPr>
        <p:spPr>
          <a:xfrm>
            <a:off x="502920" y="2514600"/>
            <a:ext cx="2007108" cy="2743200"/>
          </a:xfrm>
          <a:prstGeom prst="roundRect">
            <a:avLst>
              <a:gd name="adj" fmla="val 4556"/>
            </a:avLst>
          </a:prstGeom>
          <a:solidFill>
            <a:srgbClr val="FFFFFF"/>
          </a:solidFill>
          <a:ln w="6350">
            <a:solidFill>
              <a:srgbClr val="FFFFFF"/>
            </a:solidFill>
            <a:prstDash val="solid"/>
          </a:ln>
        </p:spPr>
      </p:sp>
      <p:sp>
        <p:nvSpPr>
          <p:cNvPr id="6" name="text"/>
          <p:cNvSpPr txBox="1"/>
          <p:nvPr/>
        </p:nvSpPr>
        <p:spPr>
          <a:xfrm>
            <a:off x="685800" y="2679192"/>
            <a:ext cx="914400" cy="365760"/>
          </a:xfrm>
          <a:prstGeom prst="rect">
            <a:avLst/>
          </a:prstGeom>
          <a:noFill/>
          <a:ln/>
        </p:spPr>
        <p:txBody>
          <a:bodyPr wrap="square" lIns="0" tIns="0" rIns="0" bIns="0" rtlCol="0" anchor="t"/>
          <a:lstStyle/>
          <a:p>
            <a:pPr algn="l" indent="0" marL="0">
              <a:lnSpc>
                <a:spcPct val="112000"/>
              </a:lnSpc>
              <a:buNone/>
            </a:pPr>
            <a:r>
              <a:rPr lang="en-US" sz="1800" b="1" dirty="0">
                <a:solidFill>
                  <a:srgbClr val="7A7A7E"/>
                </a:solidFill>
                <a:latin typeface="Inter" pitchFamily="34" charset="0"/>
                <a:ea typeface="Inter" pitchFamily="34" charset="-122"/>
                <a:cs typeface="Inter" pitchFamily="34" charset="-120"/>
              </a:rPr>
              <a:t>01</a:t>
            </a:r>
            <a:endParaRPr lang="en-US" sz="1800" dirty="0"/>
          </a:p>
        </p:txBody>
      </p:sp>
      <p:sp>
        <p:nvSpPr>
          <p:cNvPr id="7" name="text"/>
          <p:cNvSpPr txBox="1"/>
          <p:nvPr/>
        </p:nvSpPr>
        <p:spPr>
          <a:xfrm>
            <a:off x="685800" y="3200400"/>
            <a:ext cx="1641348" cy="320040"/>
          </a:xfrm>
          <a:prstGeom prst="rect">
            <a:avLst/>
          </a:prstGeom>
          <a:noFill/>
          <a:ln/>
        </p:spPr>
        <p:txBody>
          <a:bodyPr wrap="square" lIns="0" tIns="0" rIns="0" bIns="0" rtlCol="0" anchor="t"/>
          <a:lstStyle/>
          <a:p>
            <a:pPr algn="l" indent="0" marL="0">
              <a:lnSpc>
                <a:spcPct val="112000"/>
              </a:lnSpc>
              <a:buNone/>
            </a:pPr>
            <a:r>
              <a:rPr lang="en-US" sz="1300" b="1" dirty="0">
                <a:solidFill>
                  <a:srgbClr val="141417"/>
                </a:solidFill>
                <a:latin typeface="Inter" pitchFamily="34" charset="0"/>
                <a:ea typeface="Inter" pitchFamily="34" charset="-122"/>
                <a:cs typeface="Inter" pitchFamily="34" charset="-120"/>
              </a:rPr>
              <a:t>Landasan</a:t>
            </a:r>
            <a:endParaRPr lang="en-US" sz="1300" dirty="0"/>
          </a:p>
        </p:txBody>
      </p:sp>
      <p:sp>
        <p:nvSpPr>
          <p:cNvPr id="8" name="text"/>
          <p:cNvSpPr txBox="1"/>
          <p:nvPr/>
        </p:nvSpPr>
        <p:spPr>
          <a:xfrm>
            <a:off x="685800" y="3566160"/>
            <a:ext cx="1641348" cy="1554480"/>
          </a:xfrm>
          <a:prstGeom prst="rect">
            <a:avLst/>
          </a:prstGeom>
          <a:noFill/>
          <a:ln/>
        </p:spPr>
        <p:txBody>
          <a:bodyPr wrap="square" lIns="0" tIns="0" rIns="0" bIns="0" rtlCol="0" anchor="t"/>
          <a:lstStyle/>
          <a:p>
            <a:pPr algn="l" indent="0" marL="0">
              <a:lnSpc>
                <a:spcPct val="112000"/>
              </a:lnSpc>
              <a:buNone/>
            </a:pPr>
            <a:r>
              <a:rPr lang="en-US" sz="1000" dirty="0">
                <a:solidFill>
                  <a:srgbClr val="7A7A7E"/>
                </a:solidFill>
                <a:latin typeface="Inter" pitchFamily="34" charset="0"/>
                <a:ea typeface="Inter" pitchFamily="34" charset="-122"/>
                <a:cs typeface="Inter" pitchFamily="34" charset="-120"/>
              </a:rPr>
              <a:t>Mengapa eksekusi berbeda dari perumusan, sepuluh tugas eksekusi, dan tiga aksi kunci.</a:t>
            </a:r>
            <a:endParaRPr lang="en-US" sz="1000" dirty="0"/>
          </a:p>
        </p:txBody>
      </p:sp>
      <p:sp>
        <p:nvSpPr>
          <p:cNvPr id="9" name="card"/>
          <p:cNvSpPr/>
          <p:nvPr/>
        </p:nvSpPr>
        <p:spPr>
          <a:xfrm>
            <a:off x="2638044" y="2514600"/>
            <a:ext cx="2007108" cy="2743200"/>
          </a:xfrm>
          <a:prstGeom prst="roundRect">
            <a:avLst>
              <a:gd name="adj" fmla="val 4556"/>
            </a:avLst>
          </a:prstGeom>
          <a:solidFill>
            <a:srgbClr val="D4FC00"/>
          </a:solidFill>
          <a:ln w="6350">
            <a:solidFill>
              <a:srgbClr val="D4FC00"/>
            </a:solidFill>
            <a:prstDash val="solid"/>
          </a:ln>
        </p:spPr>
      </p:sp>
      <p:sp>
        <p:nvSpPr>
          <p:cNvPr id="10" name="text"/>
          <p:cNvSpPr txBox="1"/>
          <p:nvPr/>
        </p:nvSpPr>
        <p:spPr>
          <a:xfrm>
            <a:off x="2820924" y="2679192"/>
            <a:ext cx="914400" cy="365760"/>
          </a:xfrm>
          <a:prstGeom prst="rect">
            <a:avLst/>
          </a:prstGeom>
          <a:noFill/>
          <a:ln/>
        </p:spPr>
        <p:txBody>
          <a:bodyPr wrap="square" lIns="0" tIns="0" rIns="0" bIns="0" rtlCol="0" anchor="t"/>
          <a:lstStyle/>
          <a:p>
            <a:pPr algn="l" indent="0" marL="0">
              <a:lnSpc>
                <a:spcPct val="112000"/>
              </a:lnSpc>
              <a:buNone/>
            </a:pPr>
            <a:r>
              <a:rPr lang="en-US" sz="1800" b="1" dirty="0">
                <a:solidFill>
                  <a:srgbClr val="141417"/>
                </a:solidFill>
                <a:latin typeface="Inter" pitchFamily="34" charset="0"/>
                <a:ea typeface="Inter" pitchFamily="34" charset="-122"/>
                <a:cs typeface="Inter" pitchFamily="34" charset="-120"/>
              </a:rPr>
              <a:t>02</a:t>
            </a:r>
            <a:endParaRPr lang="en-US" sz="1800" dirty="0"/>
          </a:p>
        </p:txBody>
      </p:sp>
      <p:sp>
        <p:nvSpPr>
          <p:cNvPr id="11" name="text"/>
          <p:cNvSpPr txBox="1"/>
          <p:nvPr/>
        </p:nvSpPr>
        <p:spPr>
          <a:xfrm>
            <a:off x="2820924" y="3200400"/>
            <a:ext cx="1641348" cy="320040"/>
          </a:xfrm>
          <a:prstGeom prst="rect">
            <a:avLst/>
          </a:prstGeom>
          <a:noFill/>
          <a:ln/>
        </p:spPr>
        <p:txBody>
          <a:bodyPr wrap="square" lIns="0" tIns="0" rIns="0" bIns="0" rtlCol="0" anchor="t"/>
          <a:lstStyle/>
          <a:p>
            <a:pPr algn="l" indent="0" marL="0">
              <a:lnSpc>
                <a:spcPct val="112000"/>
              </a:lnSpc>
              <a:buNone/>
            </a:pPr>
            <a:r>
              <a:rPr lang="en-US" sz="1300" b="1" dirty="0">
                <a:solidFill>
                  <a:srgbClr val="141417"/>
                </a:solidFill>
                <a:latin typeface="Inter" pitchFamily="34" charset="0"/>
                <a:ea typeface="Inter" pitchFamily="34" charset="-122"/>
                <a:cs typeface="Inter" pitchFamily="34" charset="-120"/>
              </a:rPr>
              <a:t>Staffing</a:t>
            </a:r>
            <a:endParaRPr lang="en-US" sz="1300" dirty="0"/>
          </a:p>
        </p:txBody>
      </p:sp>
      <p:sp>
        <p:nvSpPr>
          <p:cNvPr id="12" name="text"/>
          <p:cNvSpPr txBox="1"/>
          <p:nvPr/>
        </p:nvSpPr>
        <p:spPr>
          <a:xfrm>
            <a:off x="2820924" y="3566160"/>
            <a:ext cx="1641348" cy="1554480"/>
          </a:xfrm>
          <a:prstGeom prst="rect">
            <a:avLst/>
          </a:prstGeom>
          <a:noFill/>
          <a:ln/>
        </p:spPr>
        <p:txBody>
          <a:bodyPr wrap="square" lIns="0" tIns="0" rIns="0" bIns="0" rtlCol="0" anchor="t"/>
          <a:lstStyle/>
          <a:p>
            <a:pPr algn="l" indent="0" marL="0">
              <a:lnSpc>
                <a:spcPct val="112000"/>
              </a:lnSpc>
              <a:buNone/>
            </a:pPr>
            <a:r>
              <a:rPr lang="en-US" sz="1000" dirty="0">
                <a:solidFill>
                  <a:srgbClr val="7A7A7E"/>
                </a:solidFill>
                <a:latin typeface="Inter" pitchFamily="34" charset="0"/>
                <a:ea typeface="Inter" pitchFamily="34" charset="-122"/>
                <a:cs typeface="Inter" pitchFamily="34" charset="-120"/>
              </a:rPr>
              <a:t>Tim manajemen yang kuat dan karyawan yang tepat.</a:t>
            </a:r>
            <a:endParaRPr lang="en-US" sz="1000" dirty="0"/>
          </a:p>
        </p:txBody>
      </p:sp>
      <p:sp>
        <p:nvSpPr>
          <p:cNvPr id="13" name="card"/>
          <p:cNvSpPr/>
          <p:nvPr/>
        </p:nvSpPr>
        <p:spPr>
          <a:xfrm>
            <a:off x="4773168" y="2514600"/>
            <a:ext cx="2007108" cy="2743200"/>
          </a:xfrm>
          <a:prstGeom prst="roundRect">
            <a:avLst>
              <a:gd name="adj" fmla="val 4556"/>
            </a:avLst>
          </a:prstGeom>
          <a:solidFill>
            <a:srgbClr val="FFFFFF"/>
          </a:solidFill>
          <a:ln w="6350">
            <a:solidFill>
              <a:srgbClr val="FFFFFF"/>
            </a:solidFill>
            <a:prstDash val="solid"/>
          </a:ln>
        </p:spPr>
      </p:sp>
      <p:sp>
        <p:nvSpPr>
          <p:cNvPr id="14" name="text"/>
          <p:cNvSpPr txBox="1"/>
          <p:nvPr/>
        </p:nvSpPr>
        <p:spPr>
          <a:xfrm>
            <a:off x="4956048" y="2679192"/>
            <a:ext cx="914400" cy="365760"/>
          </a:xfrm>
          <a:prstGeom prst="rect">
            <a:avLst/>
          </a:prstGeom>
          <a:noFill/>
          <a:ln/>
        </p:spPr>
        <p:txBody>
          <a:bodyPr wrap="square" lIns="0" tIns="0" rIns="0" bIns="0" rtlCol="0" anchor="t"/>
          <a:lstStyle/>
          <a:p>
            <a:pPr algn="l" indent="0" marL="0">
              <a:lnSpc>
                <a:spcPct val="112000"/>
              </a:lnSpc>
              <a:buNone/>
            </a:pPr>
            <a:r>
              <a:rPr lang="en-US" sz="1800" b="1" dirty="0">
                <a:solidFill>
                  <a:srgbClr val="7A7A7E"/>
                </a:solidFill>
                <a:latin typeface="Inter" pitchFamily="34" charset="0"/>
                <a:ea typeface="Inter" pitchFamily="34" charset="-122"/>
                <a:cs typeface="Inter" pitchFamily="34" charset="-120"/>
              </a:rPr>
              <a:t>03</a:t>
            </a:r>
            <a:endParaRPr lang="en-US" sz="1800" dirty="0"/>
          </a:p>
        </p:txBody>
      </p:sp>
      <p:sp>
        <p:nvSpPr>
          <p:cNvPr id="15" name="text"/>
          <p:cNvSpPr txBox="1"/>
          <p:nvPr/>
        </p:nvSpPr>
        <p:spPr>
          <a:xfrm>
            <a:off x="4956048" y="3200400"/>
            <a:ext cx="1641348" cy="320040"/>
          </a:xfrm>
          <a:prstGeom prst="rect">
            <a:avLst/>
          </a:prstGeom>
          <a:noFill/>
          <a:ln/>
        </p:spPr>
        <p:txBody>
          <a:bodyPr wrap="square" lIns="0" tIns="0" rIns="0" bIns="0" rtlCol="0" anchor="t"/>
          <a:lstStyle/>
          <a:p>
            <a:pPr algn="l" indent="0" marL="0">
              <a:lnSpc>
                <a:spcPct val="112000"/>
              </a:lnSpc>
              <a:buNone/>
            </a:pPr>
            <a:r>
              <a:rPr lang="en-US" sz="1300" b="1" dirty="0">
                <a:solidFill>
                  <a:srgbClr val="141417"/>
                </a:solidFill>
                <a:latin typeface="Inter" pitchFamily="34" charset="0"/>
                <a:ea typeface="Inter" pitchFamily="34" charset="-122"/>
                <a:cs typeface="Inter" pitchFamily="34" charset="-120"/>
              </a:rPr>
              <a:t>Capabilities</a:t>
            </a:r>
            <a:endParaRPr lang="en-US" sz="1300" dirty="0"/>
          </a:p>
        </p:txBody>
      </p:sp>
      <p:sp>
        <p:nvSpPr>
          <p:cNvPr id="16" name="text"/>
          <p:cNvSpPr txBox="1"/>
          <p:nvPr/>
        </p:nvSpPr>
        <p:spPr>
          <a:xfrm>
            <a:off x="4956048" y="3566160"/>
            <a:ext cx="1641348" cy="1554480"/>
          </a:xfrm>
          <a:prstGeom prst="rect">
            <a:avLst/>
          </a:prstGeom>
          <a:noFill/>
          <a:ln/>
        </p:spPr>
        <p:txBody>
          <a:bodyPr wrap="square" lIns="0" tIns="0" rIns="0" bIns="0" rtlCol="0" anchor="t"/>
          <a:lstStyle/>
          <a:p>
            <a:pPr algn="l" indent="0" marL="0">
              <a:lnSpc>
                <a:spcPct val="112000"/>
              </a:lnSpc>
              <a:buNone/>
            </a:pPr>
            <a:r>
              <a:rPr lang="en-US" sz="1000" dirty="0">
                <a:solidFill>
                  <a:srgbClr val="7A7A7E"/>
                </a:solidFill>
                <a:latin typeface="Inter" pitchFamily="34" charset="0"/>
                <a:ea typeface="Inter" pitchFamily="34" charset="-122"/>
                <a:cs typeface="Inter" pitchFamily="34" charset="-120"/>
              </a:rPr>
              <a:t>Tiga jalan membangun capability dan mengapa eksekusi bisa menjadi keunggulan.</a:t>
            </a:r>
            <a:endParaRPr lang="en-US" sz="1000" dirty="0"/>
          </a:p>
        </p:txBody>
      </p:sp>
      <p:sp>
        <p:nvSpPr>
          <p:cNvPr id="17" name="card"/>
          <p:cNvSpPr/>
          <p:nvPr/>
        </p:nvSpPr>
        <p:spPr>
          <a:xfrm>
            <a:off x="6908292" y="2514600"/>
            <a:ext cx="2007108" cy="2743200"/>
          </a:xfrm>
          <a:prstGeom prst="roundRect">
            <a:avLst>
              <a:gd name="adj" fmla="val 4556"/>
            </a:avLst>
          </a:prstGeom>
          <a:solidFill>
            <a:srgbClr val="141417"/>
          </a:solidFill>
          <a:ln w="6350">
            <a:solidFill>
              <a:srgbClr val="141417"/>
            </a:solidFill>
            <a:prstDash val="solid"/>
          </a:ln>
        </p:spPr>
      </p:sp>
      <p:sp>
        <p:nvSpPr>
          <p:cNvPr id="18" name="text"/>
          <p:cNvSpPr txBox="1"/>
          <p:nvPr/>
        </p:nvSpPr>
        <p:spPr>
          <a:xfrm>
            <a:off x="7091172" y="2679192"/>
            <a:ext cx="914400" cy="365760"/>
          </a:xfrm>
          <a:prstGeom prst="rect">
            <a:avLst/>
          </a:prstGeom>
          <a:noFill/>
          <a:ln/>
        </p:spPr>
        <p:txBody>
          <a:bodyPr wrap="square" lIns="0" tIns="0" rIns="0" bIns="0" rtlCol="0" anchor="t"/>
          <a:lstStyle/>
          <a:p>
            <a:pPr algn="l" indent="0" marL="0">
              <a:lnSpc>
                <a:spcPct val="112000"/>
              </a:lnSpc>
              <a:buNone/>
            </a:pPr>
            <a:r>
              <a:rPr lang="en-US" sz="1800" b="1" dirty="0">
                <a:solidFill>
                  <a:srgbClr val="D4FC00"/>
                </a:solidFill>
                <a:latin typeface="Inter" pitchFamily="34" charset="0"/>
                <a:ea typeface="Inter" pitchFamily="34" charset="-122"/>
                <a:cs typeface="Inter" pitchFamily="34" charset="-120"/>
              </a:rPr>
              <a:t>04</a:t>
            </a:r>
            <a:endParaRPr lang="en-US" sz="1800" dirty="0"/>
          </a:p>
        </p:txBody>
      </p:sp>
      <p:sp>
        <p:nvSpPr>
          <p:cNvPr id="19" name="text"/>
          <p:cNvSpPr txBox="1"/>
          <p:nvPr/>
        </p:nvSpPr>
        <p:spPr>
          <a:xfrm>
            <a:off x="7091172" y="3200400"/>
            <a:ext cx="1641348" cy="320040"/>
          </a:xfrm>
          <a:prstGeom prst="rect">
            <a:avLst/>
          </a:prstGeom>
          <a:noFill/>
          <a:ln/>
        </p:spPr>
        <p:txBody>
          <a:bodyPr wrap="square" lIns="0" tIns="0" rIns="0" bIns="0" rtlCol="0" anchor="t"/>
          <a:lstStyle/>
          <a:p>
            <a:pPr algn="l" indent="0" marL="0">
              <a:lnSpc>
                <a:spcPct val="112000"/>
              </a:lnSpc>
              <a:buNone/>
            </a:pPr>
            <a:r>
              <a:rPr lang="en-US" sz="1300" b="1" dirty="0">
                <a:solidFill>
                  <a:srgbClr val="FFFFFF"/>
                </a:solidFill>
                <a:latin typeface="Inter" pitchFamily="34" charset="0"/>
                <a:ea typeface="Inter" pitchFamily="34" charset="-122"/>
                <a:cs typeface="Inter" pitchFamily="34" charset="-120"/>
              </a:rPr>
              <a:t>Structure</a:t>
            </a:r>
            <a:endParaRPr lang="en-US" sz="1300" dirty="0"/>
          </a:p>
        </p:txBody>
      </p:sp>
      <p:sp>
        <p:nvSpPr>
          <p:cNvPr id="20" name="text"/>
          <p:cNvSpPr txBox="1"/>
          <p:nvPr/>
        </p:nvSpPr>
        <p:spPr>
          <a:xfrm>
            <a:off x="7091172" y="3566160"/>
            <a:ext cx="1641348" cy="1554480"/>
          </a:xfrm>
          <a:prstGeom prst="rect">
            <a:avLst/>
          </a:prstGeom>
          <a:noFill/>
          <a:ln/>
        </p:spPr>
        <p:txBody>
          <a:bodyPr wrap="square" lIns="0" tIns="0" rIns="0" bIns="0" rtlCol="0" anchor="t"/>
          <a:lstStyle/>
          <a:p>
            <a:pPr algn="l" indent="0" marL="0">
              <a:lnSpc>
                <a:spcPct val="112000"/>
              </a:lnSpc>
              <a:buNone/>
            </a:pPr>
            <a:r>
              <a:rPr lang="en-US" sz="1000" dirty="0">
                <a:solidFill>
                  <a:srgbClr val="C9C9CC"/>
                </a:solidFill>
                <a:latin typeface="Inter" pitchFamily="34" charset="0"/>
                <a:ea typeface="Inter" pitchFamily="34" charset="-122"/>
                <a:cs typeface="Inter" pitchFamily="34" charset="-120"/>
              </a:rPr>
              <a:t>Lima keputusan menata organisasi dan pekerjaan.</a:t>
            </a:r>
            <a:endParaRPr lang="en-US" sz="1000" dirty="0"/>
          </a:p>
        </p:txBody>
      </p:sp>
      <p:sp>
        <p:nvSpPr>
          <p:cNvPr id="21" name="tag"/>
          <p:cNvSpPr/>
          <p:nvPr/>
        </p:nvSpPr>
        <p:spPr>
          <a:xfrm>
            <a:off x="502920" y="5532120"/>
            <a:ext cx="5120640" cy="292608"/>
          </a:xfrm>
          <a:prstGeom prst="roundRect">
            <a:avLst>
              <a:gd name="adj" fmla="val 156250"/>
            </a:avLst>
          </a:prstGeom>
          <a:solidFill>
            <a:srgbClr val="F4F4F4"/>
          </a:solidFill>
          <a:ln w="9525">
            <a:solidFill>
              <a:srgbClr val="141417"/>
            </a:solidFill>
            <a:prstDash val="solid"/>
          </a:ln>
        </p:spPr>
      </p:sp>
      <p:sp>
        <p:nvSpPr>
          <p:cNvPr id="22" name="text"/>
          <p:cNvSpPr txBox="1"/>
          <p:nvPr/>
        </p:nvSpPr>
        <p:spPr>
          <a:xfrm>
            <a:off x="594360" y="5532120"/>
            <a:ext cx="4937760" cy="292608"/>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141417"/>
                </a:solidFill>
                <a:latin typeface="Inter" pitchFamily="34" charset="0"/>
                <a:ea typeface="Inter" pitchFamily="34" charset="-122"/>
                <a:cs typeface="Inter" pitchFamily="34" charset="-120"/>
              </a:rPr>
              <a:t>05 · SINTESIS, BAHAN RENUNGAN, DAN JEMBATAN KE BAB 11, BAB 12, DAN 4DX</a:t>
            </a:r>
            <a:endParaRPr lang="en-US" sz="750" dirty="0"/>
          </a:p>
        </p:txBody>
      </p:sp>
      <p:sp>
        <p:nvSpPr>
          <p:cNvPr id="23" name="text"/>
          <p:cNvSpPr txBox="1"/>
          <p:nvPr/>
        </p:nvSpPr>
        <p:spPr>
          <a:xfrm>
            <a:off x="5806440" y="5532120"/>
            <a:ext cx="3108960" cy="292608"/>
          </a:xfrm>
          <a:prstGeom prst="rect">
            <a:avLst/>
          </a:prstGeom>
          <a:noFill/>
          <a:ln/>
        </p:spPr>
        <p:txBody>
          <a:bodyPr wrap="square" lIns="0" tIns="0" rIns="0" bIns="0" rtlCol="0" anchor="ctr"/>
          <a:lstStyle/>
          <a:p>
            <a:pPr algn="l" indent="0" marL="0">
              <a:lnSpc>
                <a:spcPct val="112000"/>
              </a:lnSpc>
              <a:buNone/>
            </a:pPr>
            <a:r>
              <a:rPr lang="en-US" sz="950" i="1" dirty="0">
                <a:solidFill>
                  <a:srgbClr val="7A7A7E"/>
                </a:solidFill>
                <a:latin typeface="Inter" pitchFamily="34" charset="0"/>
                <a:ea typeface="Inter" pitchFamily="34" charset="-122"/>
                <a:cs typeface="Inter" pitchFamily="34" charset="-120"/>
              </a:rPr>
              <a:t>Sekitar 15 menit, dengan penekanan pada bagaimana dan mengapa.</a:t>
            </a:r>
            <a:endParaRPr lang="en-US" sz="9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DARI MERUMUSKAN KE MENGEKSEKUSI STRATEGI</a:t>
            </a:r>
            <a:endParaRPr lang="en-US" sz="3000" dirty="0"/>
          </a:p>
        </p:txBody>
      </p:sp>
      <p:pic>
        <p:nvPicPr>
          <p:cNvPr id="3" name="Foto awak kapal" descr="preencoded.png">    </p:cNvPr>
          <p:cNvPicPr>
            <a:picLocks noChangeAspect="1"/>
          </p:cNvPicPr>
          <p:nvPr/>
        </p:nvPicPr>
        <p:blipFill>
          <a:blip r:embed="rId1"/>
          <a:stretch>
            <a:fillRect/>
          </a:stretch>
        </p:blipFill>
        <p:spPr>
          <a:xfrm>
            <a:off x="502920" y="1874520"/>
            <a:ext cx="5760720" cy="3566160"/>
          </a:xfrm>
          <a:prstGeom prst="rect">
            <a:avLst/>
          </a:prstGeom>
        </p:spPr>
      </p:pic>
      <p:sp>
        <p:nvSpPr>
          <p:cNvPr id="4" name="text"/>
          <p:cNvSpPr txBox="1"/>
          <p:nvPr/>
        </p:nvSpPr>
        <p:spPr>
          <a:xfrm>
            <a:off x="502920" y="5532120"/>
            <a:ext cx="5760720" cy="777240"/>
          </a:xfrm>
          <a:prstGeom prst="rect">
            <a:avLst/>
          </a:prstGeom>
          <a:noFill/>
          <a:ln/>
        </p:spPr>
        <p:txBody>
          <a:bodyPr wrap="square" lIns="0" tIns="0" rIns="0" bIns="0" rtlCol="0" anchor="t"/>
          <a:lstStyle/>
          <a:p>
            <a:pPr algn="l" indent="0" marL="0">
              <a:lnSpc>
                <a:spcPct val="112000"/>
              </a:lnSpc>
              <a:buNone/>
            </a:pPr>
            <a:r>
              <a:rPr lang="en-US" sz="950" dirty="0">
                <a:solidFill>
                  <a:srgbClr val="7A7A7E"/>
                </a:solidFill>
                <a:latin typeface="Inter" pitchFamily="34" charset="0"/>
                <a:ea typeface="Inter" pitchFamily="34" charset="-122"/>
                <a:cs typeface="Inter" pitchFamily="34" charset="-120"/>
              </a:rPr>
              <a:t>Sampai Bab 8 kapal sudah punya bintang penunjuk arah (visi), sudah membaca angin (lingkungan eksternal), punya layar dan mesin (resources dan capabilities), dan sudah memilih haluan (strategi). Bab 10 bertanya siapa awaknya, apa yang mereka kuasai, dan bagaimana mereka ditata di geladak.</a:t>
            </a:r>
            <a:endParaRPr lang="en-US" sz="950" dirty="0"/>
          </a:p>
        </p:txBody>
      </p:sp>
      <p:sp>
        <p:nvSpPr>
          <p:cNvPr id="5" name="card"/>
          <p:cNvSpPr/>
          <p:nvPr/>
        </p:nvSpPr>
        <p:spPr>
          <a:xfrm>
            <a:off x="6537960" y="1874520"/>
            <a:ext cx="5150815" cy="1188720"/>
          </a:xfrm>
          <a:prstGeom prst="roundRect">
            <a:avLst>
              <a:gd name="adj" fmla="val 7692"/>
            </a:avLst>
          </a:prstGeom>
          <a:solidFill>
            <a:srgbClr val="FFFFFF"/>
          </a:solidFill>
          <a:ln w="6350">
            <a:solidFill>
              <a:srgbClr val="FFFFFF"/>
            </a:solidFill>
            <a:prstDash val="solid"/>
          </a:ln>
        </p:spPr>
      </p:sp>
      <p:sp>
        <p:nvSpPr>
          <p:cNvPr id="6" name="text"/>
          <p:cNvSpPr txBox="1"/>
          <p:nvPr/>
        </p:nvSpPr>
        <p:spPr>
          <a:xfrm>
            <a:off x="6739128" y="2039112"/>
            <a:ext cx="4748479"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7A7A7E"/>
                </a:solidFill>
                <a:latin typeface="Inter" pitchFamily="34" charset="0"/>
                <a:ea typeface="Inter" pitchFamily="34" charset="-122"/>
                <a:cs typeface="Inter" pitchFamily="34" charset="-120"/>
              </a:rPr>
              <a:t>CRAFTING STRATEGY</a:t>
            </a:r>
            <a:endParaRPr lang="en-US" sz="750" dirty="0"/>
          </a:p>
        </p:txBody>
      </p:sp>
      <p:sp>
        <p:nvSpPr>
          <p:cNvPr id="7" name="text"/>
          <p:cNvSpPr txBox="1"/>
          <p:nvPr/>
        </p:nvSpPr>
        <p:spPr>
          <a:xfrm>
            <a:off x="6739128" y="2286000"/>
            <a:ext cx="4748479" cy="731520"/>
          </a:xfrm>
          <a:prstGeom prst="rect">
            <a:avLst/>
          </a:prstGeom>
          <a:noFill/>
          <a:ln/>
        </p:spPr>
        <p:txBody>
          <a:bodyPr wrap="square" lIns="0" tIns="0" rIns="0" bIns="0" rtlCol="0" anchor="t"/>
          <a:lstStyle/>
          <a:p>
            <a:pPr algn="l" indent="0" marL="0">
              <a:lnSpc>
                <a:spcPct val="112000"/>
              </a:lnSpc>
              <a:buNone/>
            </a:pPr>
            <a:r>
              <a:rPr lang="en-US" sz="1050" dirty="0">
                <a:solidFill>
                  <a:srgbClr val="1C1C1E"/>
                </a:solidFill>
                <a:latin typeface="Inter" pitchFamily="34" charset="0"/>
                <a:ea typeface="Inter" pitchFamily="34" charset="-122"/>
                <a:cs typeface="Inter" pitchFamily="34" charset="-120"/>
              </a:rPr>
              <a:t>Pekerjaan analitis. Fokus pada pasar serta resources dan capabilities. Pertanyaannya: ke mana dan bagaimana bersaing.</a:t>
            </a:r>
            <a:endParaRPr lang="en-US" sz="1050" dirty="0"/>
          </a:p>
        </p:txBody>
      </p:sp>
      <p:sp>
        <p:nvSpPr>
          <p:cNvPr id="8" name="card"/>
          <p:cNvSpPr/>
          <p:nvPr/>
        </p:nvSpPr>
        <p:spPr>
          <a:xfrm>
            <a:off x="6537960" y="3200400"/>
            <a:ext cx="5150815" cy="1188720"/>
          </a:xfrm>
          <a:prstGeom prst="roundRect">
            <a:avLst>
              <a:gd name="adj" fmla="val 7692"/>
            </a:avLst>
          </a:prstGeom>
          <a:solidFill>
            <a:srgbClr val="141417"/>
          </a:solidFill>
          <a:ln w="6350">
            <a:solidFill>
              <a:srgbClr val="141417"/>
            </a:solidFill>
            <a:prstDash val="solid"/>
          </a:ln>
        </p:spPr>
      </p:sp>
      <p:sp>
        <p:nvSpPr>
          <p:cNvPr id="9" name="text"/>
          <p:cNvSpPr txBox="1"/>
          <p:nvPr/>
        </p:nvSpPr>
        <p:spPr>
          <a:xfrm>
            <a:off x="6739128" y="3364992"/>
            <a:ext cx="4748479"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D4FC00"/>
                </a:solidFill>
                <a:latin typeface="Inter" pitchFamily="34" charset="0"/>
                <a:ea typeface="Inter" pitchFamily="34" charset="-122"/>
                <a:cs typeface="Inter" pitchFamily="34" charset="-120"/>
              </a:rPr>
              <a:t>EXECUTING STRATEGY</a:t>
            </a:r>
            <a:endParaRPr lang="en-US" sz="750" dirty="0"/>
          </a:p>
        </p:txBody>
      </p:sp>
      <p:sp>
        <p:nvSpPr>
          <p:cNvPr id="10" name="text"/>
          <p:cNvSpPr txBox="1"/>
          <p:nvPr/>
        </p:nvSpPr>
        <p:spPr>
          <a:xfrm>
            <a:off x="6739128" y="3611880"/>
            <a:ext cx="4748479" cy="777240"/>
          </a:xfrm>
          <a:prstGeom prst="rect">
            <a:avLst/>
          </a:prstGeom>
          <a:noFill/>
          <a:ln/>
        </p:spPr>
        <p:txBody>
          <a:bodyPr wrap="square" lIns="0" tIns="0" rIns="0" bIns="0" rtlCol="0" anchor="t"/>
          <a:lstStyle/>
          <a:p>
            <a:pPr algn="l" indent="0" marL="0">
              <a:lnSpc>
                <a:spcPct val="112000"/>
              </a:lnSpc>
              <a:buNone/>
            </a:pPr>
            <a:r>
              <a:rPr lang="en-US" sz="1050" dirty="0">
                <a:solidFill>
                  <a:srgbClr val="E8E8EA"/>
                </a:solidFill>
                <a:latin typeface="Inter" pitchFamily="34" charset="0"/>
                <a:ea typeface="Inter" pitchFamily="34" charset="-122"/>
                <a:cs typeface="Inter" pitchFamily="34" charset="-120"/>
              </a:rPr>
              <a:t>Pekerjaan operasional. Mengelola people, resources, business processes, dan organizational structure. Pertanyaannya: bagaimana membuat organisasi bergerak serentak.</a:t>
            </a:r>
            <a:endParaRPr lang="en-US" sz="1050" dirty="0"/>
          </a:p>
        </p:txBody>
      </p:sp>
      <p:sp>
        <p:nvSpPr>
          <p:cNvPr id="11" name="card"/>
          <p:cNvSpPr/>
          <p:nvPr/>
        </p:nvSpPr>
        <p:spPr>
          <a:xfrm>
            <a:off x="6537960" y="4526280"/>
            <a:ext cx="5150815" cy="914400"/>
          </a:xfrm>
          <a:prstGeom prst="roundRect">
            <a:avLst>
              <a:gd name="adj" fmla="val 10000"/>
            </a:avLst>
          </a:prstGeom>
          <a:solidFill>
            <a:srgbClr val="D4FC00"/>
          </a:solidFill>
          <a:ln w="6350">
            <a:solidFill>
              <a:srgbClr val="D4FC00"/>
            </a:solidFill>
            <a:prstDash val="solid"/>
          </a:ln>
        </p:spPr>
      </p:sp>
      <p:sp>
        <p:nvSpPr>
          <p:cNvPr id="12" name="text"/>
          <p:cNvSpPr txBox="1"/>
          <p:nvPr/>
        </p:nvSpPr>
        <p:spPr>
          <a:xfrm>
            <a:off x="6739128" y="4526280"/>
            <a:ext cx="4748479" cy="914400"/>
          </a:xfrm>
          <a:prstGeom prst="rect">
            <a:avLst/>
          </a:prstGeom>
          <a:noFill/>
          <a:ln/>
        </p:spPr>
        <p:txBody>
          <a:bodyPr wrap="square" lIns="0" tIns="0" rIns="0" bIns="0" rtlCol="0" anchor="ctr"/>
          <a:lstStyle/>
          <a:p>
            <a:pPr algn="l" indent="0" marL="0">
              <a:lnSpc>
                <a:spcPct val="112000"/>
              </a:lnSpc>
              <a:buNone/>
            </a:pPr>
            <a:r>
              <a:rPr lang="en-US" sz="1050" i="1" dirty="0">
                <a:solidFill>
                  <a:srgbClr val="1C1C1E"/>
                </a:solidFill>
                <a:latin typeface="Inter" pitchFamily="34" charset="0"/>
                <a:ea typeface="Inter" pitchFamily="34" charset="-122"/>
                <a:cs typeface="Inter" pitchFamily="34" charset="-120"/>
              </a:rPr>
              <a:t>“Crafting a good strategy is half of the job; the other half is to build an organization to roll it out.”</a:t>
            </a:r>
            <a:pPr algn="l" indent="0" marL="0">
              <a:lnSpc>
                <a:spcPct val="112000"/>
              </a:lnSpc>
              <a:buNone/>
            </a:pPr>
            <a:r>
              <a:rPr lang="en-US" sz="1050" b="1" dirty="0">
                <a:solidFill>
                  <a:srgbClr val="1C1C1E"/>
                </a:solidFill>
                <a:latin typeface="Inter" pitchFamily="34" charset="0"/>
                <a:ea typeface="Inter" pitchFamily="34" charset="-122"/>
                <a:cs typeface="Inter" pitchFamily="34" charset="-120"/>
              </a:rPr>
              <a:t>  J. Ramon Lecuona</a:t>
            </a:r>
            <a:endParaRPr lang="en-US" sz="10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EKSEKUSI ADALAH UJIAN YANG SESUNGGUHNYA</a:t>
            </a:r>
            <a:endParaRPr lang="en-US" sz="3000" dirty="0"/>
          </a:p>
        </p:txBody>
      </p:sp>
      <p:sp>
        <p:nvSpPr>
          <p:cNvPr id="3" name="card"/>
          <p:cNvSpPr/>
          <p:nvPr/>
        </p:nvSpPr>
        <p:spPr>
          <a:xfrm>
            <a:off x="502920" y="1874520"/>
            <a:ext cx="2743200" cy="1417320"/>
          </a:xfrm>
          <a:prstGeom prst="roundRect">
            <a:avLst>
              <a:gd name="adj" fmla="val 6452"/>
            </a:avLst>
          </a:prstGeom>
          <a:solidFill>
            <a:srgbClr val="D4FC00"/>
          </a:solidFill>
          <a:ln w="6350">
            <a:solidFill>
              <a:srgbClr val="D4FC00"/>
            </a:solidFill>
            <a:prstDash val="solid"/>
          </a:ln>
        </p:spPr>
      </p:sp>
      <p:sp>
        <p:nvSpPr>
          <p:cNvPr id="4" name="text"/>
          <p:cNvSpPr txBox="1"/>
          <p:nvPr/>
        </p:nvSpPr>
        <p:spPr>
          <a:xfrm>
            <a:off x="685800" y="1984248"/>
            <a:ext cx="2377440" cy="708660"/>
          </a:xfrm>
          <a:prstGeom prst="rect">
            <a:avLst/>
          </a:prstGeom>
          <a:noFill/>
          <a:ln/>
        </p:spPr>
        <p:txBody>
          <a:bodyPr wrap="square" lIns="0" tIns="0" rIns="0" bIns="0" rtlCol="0" anchor="t"/>
          <a:lstStyle/>
          <a:p>
            <a:pPr algn="l" indent="0" marL="0">
              <a:lnSpc>
                <a:spcPct val="112000"/>
              </a:lnSpc>
              <a:buNone/>
            </a:pPr>
            <a:r>
              <a:rPr lang="en-US" sz="2600" b="1" dirty="0">
                <a:solidFill>
                  <a:srgbClr val="141417"/>
                </a:solidFill>
                <a:latin typeface="Inter" pitchFamily="34" charset="0"/>
                <a:ea typeface="Inter" pitchFamily="34" charset="-122"/>
                <a:cs typeface="Inter" pitchFamily="34" charset="-120"/>
              </a:rPr>
              <a:t>No. 1</a:t>
            </a:r>
            <a:endParaRPr lang="en-US" sz="2600" dirty="0"/>
          </a:p>
        </p:txBody>
      </p:sp>
      <p:sp>
        <p:nvSpPr>
          <p:cNvPr id="5" name="text"/>
          <p:cNvSpPr txBox="1"/>
          <p:nvPr/>
        </p:nvSpPr>
        <p:spPr>
          <a:xfrm>
            <a:off x="685800" y="2601468"/>
            <a:ext cx="2377440" cy="617220"/>
          </a:xfrm>
          <a:prstGeom prst="rect">
            <a:avLst/>
          </a:prstGeom>
          <a:noFill/>
          <a:ln/>
        </p:spPr>
        <p:txBody>
          <a:bodyPr wrap="square" lIns="0" tIns="0" rIns="0" bIns="0" rtlCol="0" anchor="t"/>
          <a:lstStyle/>
          <a:p>
            <a:pPr algn="l" indent="0" marL="0">
              <a:lnSpc>
                <a:spcPct val="110000"/>
              </a:lnSpc>
              <a:buNone/>
            </a:pPr>
            <a:r>
              <a:rPr lang="en-US" sz="850" dirty="0">
                <a:solidFill>
                  <a:srgbClr val="1C1C1E"/>
                </a:solidFill>
                <a:latin typeface="Inter" pitchFamily="34" charset="0"/>
                <a:ea typeface="Inter" pitchFamily="34" charset="-122"/>
                <a:cs typeface="Inter" pitchFamily="34" charset="-120"/>
              </a:rPr>
              <a:t>Survei 400 CEO di Amerika, Eropa, dan Asia: executional excellence adalah tantangan terbesar mereka (Sull, Homkes &amp; Sull, 2015).</a:t>
            </a:r>
            <a:endParaRPr lang="en-US" sz="850" dirty="0"/>
          </a:p>
        </p:txBody>
      </p:sp>
      <p:sp>
        <p:nvSpPr>
          <p:cNvPr id="6" name="card"/>
          <p:cNvSpPr/>
          <p:nvPr/>
        </p:nvSpPr>
        <p:spPr>
          <a:xfrm>
            <a:off x="502920" y="3429000"/>
            <a:ext cx="2743200" cy="1417320"/>
          </a:xfrm>
          <a:prstGeom prst="roundRect">
            <a:avLst>
              <a:gd name="adj" fmla="val 6452"/>
            </a:avLst>
          </a:prstGeom>
          <a:solidFill>
            <a:srgbClr val="FFFFFF"/>
          </a:solidFill>
          <a:ln w="6350">
            <a:solidFill>
              <a:srgbClr val="FFFFFF"/>
            </a:solidFill>
            <a:prstDash val="solid"/>
          </a:ln>
        </p:spPr>
      </p:sp>
      <p:sp>
        <p:nvSpPr>
          <p:cNvPr id="7" name="text"/>
          <p:cNvSpPr txBox="1"/>
          <p:nvPr/>
        </p:nvSpPr>
        <p:spPr>
          <a:xfrm>
            <a:off x="685800" y="3538728"/>
            <a:ext cx="2377440" cy="708660"/>
          </a:xfrm>
          <a:prstGeom prst="rect">
            <a:avLst/>
          </a:prstGeom>
          <a:noFill/>
          <a:ln/>
        </p:spPr>
        <p:txBody>
          <a:bodyPr wrap="square" lIns="0" tIns="0" rIns="0" bIns="0" rtlCol="0" anchor="t"/>
          <a:lstStyle/>
          <a:p>
            <a:pPr algn="l" indent="0" marL="0">
              <a:lnSpc>
                <a:spcPct val="112000"/>
              </a:lnSpc>
              <a:buNone/>
            </a:pPr>
            <a:r>
              <a:rPr lang="en-US" sz="1600" b="1" dirty="0">
                <a:solidFill>
                  <a:srgbClr val="141417"/>
                </a:solidFill>
                <a:latin typeface="Inter" pitchFamily="34" charset="0"/>
                <a:ea typeface="Inter" pitchFamily="34" charset="-122"/>
                <a:cs typeface="Inter" pitchFamily="34" charset="-120"/>
              </a:rPr>
              <a:t>Bulan ke tahun</a:t>
            </a:r>
            <a:endParaRPr lang="en-US" sz="1600" dirty="0"/>
          </a:p>
        </p:txBody>
      </p:sp>
      <p:sp>
        <p:nvSpPr>
          <p:cNvPr id="8" name="text"/>
          <p:cNvSpPr txBox="1"/>
          <p:nvPr/>
        </p:nvSpPr>
        <p:spPr>
          <a:xfrm>
            <a:off x="685800" y="4155948"/>
            <a:ext cx="2377440" cy="617220"/>
          </a:xfrm>
          <a:prstGeom prst="rect">
            <a:avLst/>
          </a:prstGeom>
          <a:noFill/>
          <a:ln/>
        </p:spPr>
        <p:txBody>
          <a:bodyPr wrap="square" lIns="0" tIns="0" rIns="0" bIns="0" rtlCol="0" anchor="t"/>
          <a:lstStyle/>
          <a:p>
            <a:pPr algn="l" indent="0" marL="0">
              <a:lnSpc>
                <a:spcPct val="110000"/>
              </a:lnSpc>
              <a:buNone/>
            </a:pPr>
            <a:r>
              <a:rPr lang="en-US" sz="850" dirty="0">
                <a:solidFill>
                  <a:srgbClr val="7A7A7E"/>
                </a:solidFill>
                <a:latin typeface="Inter" pitchFamily="34" charset="0"/>
                <a:ea typeface="Inter" pitchFamily="34" charset="-122"/>
                <a:cs typeface="Inter" pitchFamily="34" charset="-120"/>
              </a:rPr>
              <a:t>Perubahan strategi butuh berbulan-bulan sampai bertahun-tahun. Mengumumkan strategi baru tidak otomatis menggerakkan organisasi.</a:t>
            </a:r>
            <a:endParaRPr lang="en-US" sz="850" dirty="0"/>
          </a:p>
        </p:txBody>
      </p:sp>
      <p:sp>
        <p:nvSpPr>
          <p:cNvPr id="9" name="card"/>
          <p:cNvSpPr/>
          <p:nvPr/>
        </p:nvSpPr>
        <p:spPr>
          <a:xfrm>
            <a:off x="502920" y="4983480"/>
            <a:ext cx="2743200" cy="1371600"/>
          </a:xfrm>
          <a:prstGeom prst="roundRect">
            <a:avLst>
              <a:gd name="adj" fmla="val 6667"/>
            </a:avLst>
          </a:prstGeom>
          <a:solidFill>
            <a:srgbClr val="141417"/>
          </a:solidFill>
          <a:ln w="6350">
            <a:solidFill>
              <a:srgbClr val="141417"/>
            </a:solidFill>
            <a:prstDash val="solid"/>
          </a:ln>
        </p:spPr>
      </p:sp>
      <p:sp>
        <p:nvSpPr>
          <p:cNvPr id="10" name="text"/>
          <p:cNvSpPr txBox="1"/>
          <p:nvPr/>
        </p:nvSpPr>
        <p:spPr>
          <a:xfrm>
            <a:off x="685800" y="5093208"/>
            <a:ext cx="2377440" cy="685800"/>
          </a:xfrm>
          <a:prstGeom prst="rect">
            <a:avLst/>
          </a:prstGeom>
          <a:noFill/>
          <a:ln/>
        </p:spPr>
        <p:txBody>
          <a:bodyPr wrap="square" lIns="0" tIns="0" rIns="0" bIns="0" rtlCol="0" anchor="t"/>
          <a:lstStyle/>
          <a:p>
            <a:pPr algn="l" indent="0" marL="0">
              <a:lnSpc>
                <a:spcPct val="112000"/>
              </a:lnSpc>
              <a:buNone/>
            </a:pPr>
            <a:r>
              <a:rPr lang="en-US" sz="1600" b="1" dirty="0">
                <a:solidFill>
                  <a:srgbClr val="FFFFFF"/>
                </a:solidFill>
                <a:latin typeface="Inter" pitchFamily="34" charset="0"/>
                <a:ea typeface="Inter" pitchFamily="34" charset="-122"/>
                <a:cs typeface="Inter" pitchFamily="34" charset="-120"/>
              </a:rPr>
              <a:t>Semua orang</a:t>
            </a:r>
            <a:endParaRPr lang="en-US" sz="1600" dirty="0"/>
          </a:p>
        </p:txBody>
      </p:sp>
      <p:sp>
        <p:nvSpPr>
          <p:cNvPr id="11" name="text"/>
          <p:cNvSpPr txBox="1"/>
          <p:nvPr/>
        </p:nvSpPr>
        <p:spPr>
          <a:xfrm>
            <a:off x="685800" y="5687568"/>
            <a:ext cx="2377440" cy="594360"/>
          </a:xfrm>
          <a:prstGeom prst="rect">
            <a:avLst/>
          </a:prstGeom>
          <a:noFill/>
          <a:ln/>
        </p:spPr>
        <p:txBody>
          <a:bodyPr wrap="square" lIns="0" tIns="0" rIns="0" bIns="0" rtlCol="0" anchor="t"/>
          <a:lstStyle/>
          <a:p>
            <a:pPr algn="l" indent="0" marL="0">
              <a:lnSpc>
                <a:spcPct val="110000"/>
              </a:lnSpc>
              <a:buNone/>
            </a:pPr>
            <a:r>
              <a:rPr lang="en-US" sz="850" dirty="0">
                <a:solidFill>
                  <a:srgbClr val="C9C9CC"/>
                </a:solidFill>
                <a:latin typeface="Inter" pitchFamily="34" charset="0"/>
                <a:ea typeface="Inter" pitchFamily="34" charset="-122"/>
                <a:cs typeface="Inter" pitchFamily="34" charset="-120"/>
              </a:rPr>
              <a:t>Eksekusi adalah team effort. Setiap manajer bertanggung jawab di areanya, setiap karyawan ikut terlibat.</a:t>
            </a:r>
            <a:endParaRPr lang="en-US" sz="850" dirty="0"/>
          </a:p>
        </p:txBody>
      </p:sp>
      <p:sp>
        <p:nvSpPr>
          <p:cNvPr id="12" name="text"/>
          <p:cNvSpPr txBox="1"/>
          <p:nvPr/>
        </p:nvSpPr>
        <p:spPr>
          <a:xfrm>
            <a:off x="3429000" y="1874520"/>
            <a:ext cx="3840480"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7A7A7E"/>
                </a:solidFill>
                <a:latin typeface="Inter" pitchFamily="34" charset="0"/>
                <a:ea typeface="Inter" pitchFamily="34" charset="-122"/>
                <a:cs typeface="Inter" pitchFamily="34" charset="-120"/>
              </a:rPr>
              <a:t>MENGAPA LEBIH SULIT DARIPADA MERUMUSKAN</a:t>
            </a:r>
            <a:endParaRPr lang="en-US" sz="750" dirty="0"/>
          </a:p>
        </p:txBody>
      </p:sp>
      <p:sp>
        <p:nvSpPr>
          <p:cNvPr id="13" name="card"/>
          <p:cNvSpPr/>
          <p:nvPr/>
        </p:nvSpPr>
        <p:spPr>
          <a:xfrm>
            <a:off x="3429000" y="2194560"/>
            <a:ext cx="3840480" cy="1280160"/>
          </a:xfrm>
          <a:prstGeom prst="roundRect">
            <a:avLst>
              <a:gd name="adj" fmla="val 7143"/>
            </a:avLst>
          </a:prstGeom>
          <a:solidFill>
            <a:srgbClr val="FFFFFF"/>
          </a:solidFill>
          <a:ln w="6350">
            <a:solidFill>
              <a:srgbClr val="FFFFFF"/>
            </a:solidFill>
            <a:prstDash val="solid"/>
          </a:ln>
        </p:spPr>
      </p:sp>
      <p:sp>
        <p:nvSpPr>
          <p:cNvPr id="14" name="icon-bg"/>
          <p:cNvSpPr/>
          <p:nvPr/>
        </p:nvSpPr>
        <p:spPr>
          <a:xfrm>
            <a:off x="3593592" y="2359152"/>
            <a:ext cx="365760" cy="365760"/>
          </a:xfrm>
          <a:prstGeom prst="roundRect">
            <a:avLst>
              <a:gd name="adj" fmla="val 20000"/>
            </a:avLst>
          </a:prstGeom>
          <a:solidFill>
            <a:srgbClr val="141417"/>
          </a:solidFill>
          <a:ln w="6350">
            <a:solidFill>
              <a:srgbClr val="141417"/>
            </a:solidFill>
            <a:prstDash val="solid"/>
          </a:ln>
        </p:spPr>
      </p:sp>
      <p:pic>
        <p:nvPicPr>
          <p:cNvPr id="15" name="icon" descr="preencoded.png">    </p:cNvPr>
          <p:cNvPicPr>
            <a:picLocks noChangeAspect="1"/>
          </p:cNvPicPr>
          <p:nvPr/>
        </p:nvPicPr>
        <p:blipFill>
          <a:blip r:embed="rId1"/>
          <a:stretch>
            <a:fillRect/>
          </a:stretch>
        </p:blipFill>
        <p:spPr>
          <a:xfrm>
            <a:off x="3685032" y="2450592"/>
            <a:ext cx="182880" cy="182880"/>
          </a:xfrm>
          <a:prstGeom prst="rect">
            <a:avLst/>
          </a:prstGeom>
        </p:spPr>
      </p:pic>
      <p:sp>
        <p:nvSpPr>
          <p:cNvPr id="16" name="text"/>
          <p:cNvSpPr txBox="1"/>
          <p:nvPr/>
        </p:nvSpPr>
        <p:spPr>
          <a:xfrm>
            <a:off x="3593592" y="2816352"/>
            <a:ext cx="3511296" cy="274320"/>
          </a:xfrm>
          <a:prstGeom prst="rect">
            <a:avLst/>
          </a:prstGeom>
          <a:noFill/>
          <a:ln/>
        </p:spPr>
        <p:txBody>
          <a:bodyPr wrap="square" lIns="0" tIns="0" rIns="0" bIns="0" rtlCol="0" anchor="t"/>
          <a:lstStyle/>
          <a:p>
            <a:pPr algn="l" indent="0" marL="0">
              <a:lnSpc>
                <a:spcPct val="112000"/>
              </a:lnSpc>
              <a:buNone/>
            </a:pPr>
            <a:r>
              <a:rPr lang="en-US" sz="1050" b="1" dirty="0">
                <a:solidFill>
                  <a:srgbClr val="1C1C1E"/>
                </a:solidFill>
                <a:latin typeface="Inter" pitchFamily="34" charset="0"/>
                <a:ea typeface="Inter" pitchFamily="34" charset="-122"/>
                <a:cs typeface="Inter" pitchFamily="34" charset="-120"/>
              </a:rPr>
              <a:t>Aktivitasnya luas dan saling bergantung</a:t>
            </a:r>
            <a:endParaRPr lang="en-US" sz="1050" dirty="0"/>
          </a:p>
        </p:txBody>
      </p:sp>
      <p:sp>
        <p:nvSpPr>
          <p:cNvPr id="17" name="text"/>
          <p:cNvSpPr txBox="1"/>
          <p:nvPr/>
        </p:nvSpPr>
        <p:spPr>
          <a:xfrm>
            <a:off x="3593592" y="3072384"/>
            <a:ext cx="3511296" cy="411480"/>
          </a:xfrm>
          <a:prstGeom prst="rect">
            <a:avLst/>
          </a:prstGeom>
          <a:noFill/>
          <a:ln/>
        </p:spPr>
        <p:txBody>
          <a:bodyPr wrap="square" lIns="0" tIns="0" rIns="0" bIns="0" rtlCol="0" anchor="t"/>
          <a:lstStyle/>
          <a:p>
            <a:pPr algn="l" indent="0" marL="0">
              <a:lnSpc>
                <a:spcPct val="112000"/>
              </a:lnSpc>
              <a:buNone/>
            </a:pPr>
            <a:r>
              <a:rPr lang="en-US" sz="850" dirty="0">
                <a:solidFill>
                  <a:srgbClr val="7A7A7E"/>
                </a:solidFill>
                <a:latin typeface="Inter" pitchFamily="34" charset="0"/>
                <a:ea typeface="Inter" pitchFamily="34" charset="-122"/>
                <a:cs typeface="Inter" pitchFamily="34" charset="-120"/>
              </a:rPr>
              <a:t>Melibatkan seluruh rantai nilai dan semua kelompok kerja.</a:t>
            </a:r>
            <a:endParaRPr lang="en-US" sz="850" dirty="0"/>
          </a:p>
        </p:txBody>
      </p:sp>
      <p:sp>
        <p:nvSpPr>
          <p:cNvPr id="18" name="card"/>
          <p:cNvSpPr/>
          <p:nvPr/>
        </p:nvSpPr>
        <p:spPr>
          <a:xfrm>
            <a:off x="3429000" y="3584448"/>
            <a:ext cx="3840480" cy="1280160"/>
          </a:xfrm>
          <a:prstGeom prst="roundRect">
            <a:avLst>
              <a:gd name="adj" fmla="val 7143"/>
            </a:avLst>
          </a:prstGeom>
          <a:solidFill>
            <a:srgbClr val="FFFFFF"/>
          </a:solidFill>
          <a:ln w="6350">
            <a:solidFill>
              <a:srgbClr val="FFFFFF"/>
            </a:solidFill>
            <a:prstDash val="solid"/>
          </a:ln>
        </p:spPr>
      </p:sp>
      <p:sp>
        <p:nvSpPr>
          <p:cNvPr id="19" name="icon-bg"/>
          <p:cNvSpPr/>
          <p:nvPr/>
        </p:nvSpPr>
        <p:spPr>
          <a:xfrm>
            <a:off x="3593592" y="3749040"/>
            <a:ext cx="365760" cy="365760"/>
          </a:xfrm>
          <a:prstGeom prst="roundRect">
            <a:avLst>
              <a:gd name="adj" fmla="val 20000"/>
            </a:avLst>
          </a:prstGeom>
          <a:solidFill>
            <a:srgbClr val="141417"/>
          </a:solidFill>
          <a:ln w="6350">
            <a:solidFill>
              <a:srgbClr val="141417"/>
            </a:solidFill>
            <a:prstDash val="solid"/>
          </a:ln>
        </p:spPr>
      </p:sp>
      <p:pic>
        <p:nvPicPr>
          <p:cNvPr id="20" name="icon" descr="preencoded.png">    </p:cNvPr>
          <p:cNvPicPr>
            <a:picLocks noChangeAspect="1"/>
          </p:cNvPicPr>
          <p:nvPr/>
        </p:nvPicPr>
        <p:blipFill>
          <a:blip r:embed="rId2"/>
          <a:stretch>
            <a:fillRect/>
          </a:stretch>
        </p:blipFill>
        <p:spPr>
          <a:xfrm>
            <a:off x="3685032" y="3840480"/>
            <a:ext cx="182880" cy="182880"/>
          </a:xfrm>
          <a:prstGeom prst="rect">
            <a:avLst/>
          </a:prstGeom>
        </p:spPr>
      </p:pic>
      <p:sp>
        <p:nvSpPr>
          <p:cNvPr id="21" name="text"/>
          <p:cNvSpPr txBox="1"/>
          <p:nvPr/>
        </p:nvSpPr>
        <p:spPr>
          <a:xfrm>
            <a:off x="3593592" y="4206240"/>
            <a:ext cx="3511296" cy="274320"/>
          </a:xfrm>
          <a:prstGeom prst="rect">
            <a:avLst/>
          </a:prstGeom>
          <a:noFill/>
          <a:ln/>
        </p:spPr>
        <p:txBody>
          <a:bodyPr wrap="square" lIns="0" tIns="0" rIns="0" bIns="0" rtlCol="0" anchor="t"/>
          <a:lstStyle/>
          <a:p>
            <a:pPr algn="l" indent="0" marL="0">
              <a:lnSpc>
                <a:spcPct val="112000"/>
              </a:lnSpc>
              <a:buNone/>
            </a:pPr>
            <a:r>
              <a:rPr lang="en-US" sz="1050" b="1" dirty="0">
                <a:solidFill>
                  <a:srgbClr val="1C1C1E"/>
                </a:solidFill>
                <a:latin typeface="Inter" pitchFamily="34" charset="0"/>
                <a:ea typeface="Inter" pitchFamily="34" charset="-122"/>
                <a:cs typeface="Inter" pitchFamily="34" charset="-120"/>
              </a:rPr>
              <a:t>Tidak ada resep tunggal</a:t>
            </a:r>
            <a:endParaRPr lang="en-US" sz="1050" dirty="0"/>
          </a:p>
        </p:txBody>
      </p:sp>
      <p:sp>
        <p:nvSpPr>
          <p:cNvPr id="22" name="text"/>
          <p:cNvSpPr txBox="1"/>
          <p:nvPr/>
        </p:nvSpPr>
        <p:spPr>
          <a:xfrm>
            <a:off x="3593592" y="4462272"/>
            <a:ext cx="3511296" cy="411480"/>
          </a:xfrm>
          <a:prstGeom prst="rect">
            <a:avLst/>
          </a:prstGeom>
          <a:noFill/>
          <a:ln/>
        </p:spPr>
        <p:txBody>
          <a:bodyPr wrap="square" lIns="0" tIns="0" rIns="0" bIns="0" rtlCol="0" anchor="t"/>
          <a:lstStyle/>
          <a:p>
            <a:pPr algn="l" indent="0" marL="0">
              <a:lnSpc>
                <a:spcPct val="112000"/>
              </a:lnSpc>
              <a:buNone/>
            </a:pPr>
            <a:r>
              <a:rPr lang="en-US" sz="850" dirty="0">
                <a:solidFill>
                  <a:srgbClr val="7A7A7E"/>
                </a:solidFill>
                <a:latin typeface="Inter" pitchFamily="34" charset="0"/>
                <a:ea typeface="Inter" pitchFamily="34" charset="-122"/>
                <a:cs typeface="Inter" pitchFamily="34" charset="-120"/>
              </a:rPr>
              <a:t>Agenda tindakan harus disesuaikan: strategi biaya rendah berbeda dari diferensiasi, perusahaan krisis berbeda dari yang sehat.</a:t>
            </a:r>
            <a:endParaRPr lang="en-US" sz="850" dirty="0"/>
          </a:p>
        </p:txBody>
      </p:sp>
      <p:sp>
        <p:nvSpPr>
          <p:cNvPr id="23" name="card"/>
          <p:cNvSpPr/>
          <p:nvPr/>
        </p:nvSpPr>
        <p:spPr>
          <a:xfrm>
            <a:off x="3429000" y="4974336"/>
            <a:ext cx="3840480" cy="1280160"/>
          </a:xfrm>
          <a:prstGeom prst="roundRect">
            <a:avLst>
              <a:gd name="adj" fmla="val 7143"/>
            </a:avLst>
          </a:prstGeom>
          <a:solidFill>
            <a:srgbClr val="FFFFFF"/>
          </a:solidFill>
          <a:ln w="6350">
            <a:solidFill>
              <a:srgbClr val="FFFFFF"/>
            </a:solidFill>
            <a:prstDash val="solid"/>
          </a:ln>
        </p:spPr>
      </p:sp>
      <p:sp>
        <p:nvSpPr>
          <p:cNvPr id="24" name="icon-bg"/>
          <p:cNvSpPr/>
          <p:nvPr/>
        </p:nvSpPr>
        <p:spPr>
          <a:xfrm>
            <a:off x="3593592" y="5138928"/>
            <a:ext cx="365760" cy="365760"/>
          </a:xfrm>
          <a:prstGeom prst="roundRect">
            <a:avLst>
              <a:gd name="adj" fmla="val 20000"/>
            </a:avLst>
          </a:prstGeom>
          <a:solidFill>
            <a:srgbClr val="141417"/>
          </a:solidFill>
          <a:ln w="6350">
            <a:solidFill>
              <a:srgbClr val="141417"/>
            </a:solidFill>
            <a:prstDash val="solid"/>
          </a:ln>
        </p:spPr>
      </p:sp>
      <p:pic>
        <p:nvPicPr>
          <p:cNvPr id="25" name="icon" descr="preencoded.png">    </p:cNvPr>
          <p:cNvPicPr>
            <a:picLocks noChangeAspect="1"/>
          </p:cNvPicPr>
          <p:nvPr/>
        </p:nvPicPr>
        <p:blipFill>
          <a:blip r:embed="rId3"/>
          <a:stretch>
            <a:fillRect/>
          </a:stretch>
        </p:blipFill>
        <p:spPr>
          <a:xfrm>
            <a:off x="3685032" y="5230368"/>
            <a:ext cx="182880" cy="182880"/>
          </a:xfrm>
          <a:prstGeom prst="rect">
            <a:avLst/>
          </a:prstGeom>
        </p:spPr>
      </p:pic>
      <p:sp>
        <p:nvSpPr>
          <p:cNvPr id="26" name="text"/>
          <p:cNvSpPr txBox="1"/>
          <p:nvPr/>
        </p:nvSpPr>
        <p:spPr>
          <a:xfrm>
            <a:off x="3593592" y="5596128"/>
            <a:ext cx="3511296" cy="274320"/>
          </a:xfrm>
          <a:prstGeom prst="rect">
            <a:avLst/>
          </a:prstGeom>
          <a:noFill/>
          <a:ln/>
        </p:spPr>
        <p:txBody>
          <a:bodyPr wrap="square" lIns="0" tIns="0" rIns="0" bIns="0" rtlCol="0" anchor="t"/>
          <a:lstStyle/>
          <a:p>
            <a:pPr algn="l" indent="0" marL="0">
              <a:lnSpc>
                <a:spcPct val="112000"/>
              </a:lnSpc>
              <a:buNone/>
            </a:pPr>
            <a:r>
              <a:rPr lang="en-US" sz="1050" b="1" dirty="0">
                <a:solidFill>
                  <a:srgbClr val="1C1C1E"/>
                </a:solidFill>
                <a:latin typeface="Inter" pitchFamily="34" charset="0"/>
                <a:ea typeface="Inter" pitchFamily="34" charset="-122"/>
                <a:cs typeface="Inter" pitchFamily="34" charset="-120"/>
              </a:rPr>
              <a:t>Perlu diterima di kepala dan di hati</a:t>
            </a:r>
            <a:endParaRPr lang="en-US" sz="1050" dirty="0"/>
          </a:p>
        </p:txBody>
      </p:sp>
      <p:sp>
        <p:nvSpPr>
          <p:cNvPr id="27" name="text"/>
          <p:cNvSpPr txBox="1"/>
          <p:nvPr/>
        </p:nvSpPr>
        <p:spPr>
          <a:xfrm>
            <a:off x="3593592" y="5852160"/>
            <a:ext cx="3511296" cy="411480"/>
          </a:xfrm>
          <a:prstGeom prst="rect">
            <a:avLst/>
          </a:prstGeom>
          <a:noFill/>
          <a:ln/>
        </p:spPr>
        <p:txBody>
          <a:bodyPr wrap="square" lIns="0" tIns="0" rIns="0" bIns="0" rtlCol="0" anchor="t"/>
          <a:lstStyle/>
          <a:p>
            <a:pPr algn="l" indent="0" marL="0">
              <a:lnSpc>
                <a:spcPct val="112000"/>
              </a:lnSpc>
              <a:buNone/>
            </a:pPr>
            <a:r>
              <a:rPr lang="en-US" sz="850" dirty="0">
                <a:solidFill>
                  <a:srgbClr val="7A7A7E"/>
                </a:solidFill>
                <a:latin typeface="Inter" pitchFamily="34" charset="0"/>
                <a:ea typeface="Inter" pitchFamily="34" charset="-122"/>
                <a:cs typeface="Inter" pitchFamily="34" charset="-120"/>
              </a:rPr>
              <a:t>Orang harus paham mengapa arah baru diperlukan, dan itu menuntut kepemimpinan.</a:t>
            </a:r>
            <a:endParaRPr lang="en-US" sz="850" dirty="0"/>
          </a:p>
        </p:txBody>
      </p:sp>
      <p:pic>
        <p:nvPicPr>
          <p:cNvPr id="28" name="Foto rapat strategi" descr="preencoded.png">    </p:cNvPr>
          <p:cNvPicPr>
            <a:picLocks noChangeAspect="1"/>
          </p:cNvPicPr>
          <p:nvPr/>
        </p:nvPicPr>
        <p:blipFill>
          <a:blip r:embed="rId4"/>
          <a:stretch>
            <a:fillRect/>
          </a:stretch>
        </p:blipFill>
        <p:spPr>
          <a:xfrm>
            <a:off x="7452360" y="1874520"/>
            <a:ext cx="4236415" cy="3127248"/>
          </a:xfrm>
          <a:prstGeom prst="rect">
            <a:avLst/>
          </a:prstGeom>
        </p:spPr>
      </p:pic>
      <p:sp>
        <p:nvSpPr>
          <p:cNvPr id="29" name="card"/>
          <p:cNvSpPr/>
          <p:nvPr/>
        </p:nvSpPr>
        <p:spPr>
          <a:xfrm>
            <a:off x="7452360" y="5138928"/>
            <a:ext cx="4236415" cy="1216152"/>
          </a:xfrm>
          <a:prstGeom prst="roundRect">
            <a:avLst>
              <a:gd name="adj" fmla="val 7519"/>
            </a:avLst>
          </a:prstGeom>
          <a:solidFill>
            <a:srgbClr val="E6E6E6"/>
          </a:solidFill>
          <a:ln w="6350">
            <a:solidFill>
              <a:srgbClr val="E6E6E6"/>
            </a:solidFill>
            <a:prstDash val="solid"/>
          </a:ln>
        </p:spPr>
      </p:sp>
      <p:sp>
        <p:nvSpPr>
          <p:cNvPr id="30" name="text"/>
          <p:cNvSpPr txBox="1"/>
          <p:nvPr/>
        </p:nvSpPr>
        <p:spPr>
          <a:xfrm>
            <a:off x="7635240" y="5276088"/>
            <a:ext cx="3870655"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7A7A7E"/>
                </a:solidFill>
                <a:latin typeface="Inter" pitchFamily="34" charset="0"/>
                <a:ea typeface="Inter" pitchFamily="34" charset="-122"/>
                <a:cs typeface="Inter" pitchFamily="34" charset="-120"/>
              </a:rPr>
              <a:t>DUA TANDA EKSEKUSI YANG BAIK</a:t>
            </a:r>
            <a:endParaRPr lang="en-US" sz="750" dirty="0"/>
          </a:p>
        </p:txBody>
      </p:sp>
      <p:sp>
        <p:nvSpPr>
          <p:cNvPr id="31" name="text"/>
          <p:cNvSpPr txBox="1"/>
          <p:nvPr/>
        </p:nvSpPr>
        <p:spPr>
          <a:xfrm>
            <a:off x="7635240" y="5513832"/>
            <a:ext cx="3870655" cy="822960"/>
          </a:xfrm>
          <a:prstGeom prst="rect">
            <a:avLst/>
          </a:prstGeom>
          <a:noFill/>
          <a:ln/>
        </p:spPr>
        <p:txBody>
          <a:bodyPr wrap="square" lIns="0" tIns="0" rIns="0" bIns="0" rtlCol="0" anchor="t"/>
          <a:lstStyle/>
          <a:p>
            <a:pPr algn="l" marL="127000" indent="-127000">
              <a:lnSpc>
                <a:spcPct val="112000"/>
              </a:lnSpc>
              <a:spcAft>
                <a:spcPts val="200"/>
              </a:spcAft>
              <a:buSzPct val="100000"/>
              <a:buChar char="•"/>
            </a:pPr>
            <a:r>
              <a:rPr lang="en-US" sz="950" dirty="0">
                <a:solidFill>
                  <a:srgbClr val="1C1C1E"/>
                </a:solidFill>
                <a:latin typeface="Inter" pitchFamily="34" charset="0"/>
                <a:ea typeface="Inter" pitchFamily="34" charset="-122"/>
                <a:cs typeface="Inter" pitchFamily="34" charset="-120"/>
              </a:rPr>
              <a:t>Target kinerja tercapai atau terlampaui</a:t>
            </a:r>
            <a:endParaRPr lang="en-US" sz="950" dirty="0"/>
          </a:p>
          <a:p>
            <a:pPr algn="l" marL="127000" indent="-127000">
              <a:lnSpc>
                <a:spcPct val="112000"/>
              </a:lnSpc>
              <a:spcAft>
                <a:spcPts val="200"/>
              </a:spcAft>
              <a:buSzPct val="100000"/>
              <a:buChar char="•"/>
            </a:pPr>
            <a:r>
              <a:rPr lang="en-US" sz="950" dirty="0">
                <a:solidFill>
                  <a:srgbClr val="1C1C1E"/>
                </a:solidFill>
                <a:latin typeface="Inter" pitchFamily="34" charset="0"/>
                <a:ea typeface="Inter" pitchFamily="34" charset="-122"/>
                <a:cs typeface="Inter" pitchFamily="34" charset="-120"/>
              </a:rPr>
              <a:t>Aktivitas rantai nilai yang kritis dijalankan dengan mahir</a:t>
            </a:r>
            <a:endParaRPr lang="en-US" sz="9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SEPULUH TUGAS DALAM STRATEGY EXECUTION</a:t>
            </a:r>
            <a:endParaRPr lang="en-US" sz="3000" dirty="0"/>
          </a:p>
        </p:txBody>
      </p:sp>
      <p:sp>
        <p:nvSpPr>
          <p:cNvPr id="3" name="text"/>
          <p:cNvSpPr txBox="1"/>
          <p:nvPr/>
        </p:nvSpPr>
        <p:spPr>
          <a:xfrm>
            <a:off x="7589520" y="713232"/>
            <a:ext cx="4096512" cy="822960"/>
          </a:xfrm>
          <a:prstGeom prst="rect">
            <a:avLst/>
          </a:prstGeom>
          <a:noFill/>
          <a:ln/>
        </p:spPr>
        <p:txBody>
          <a:bodyPr wrap="square" lIns="0" tIns="0" rIns="0" bIns="0" rtlCol="0" anchor="t"/>
          <a:lstStyle/>
          <a:p>
            <a:pPr algn="l" indent="0" marL="0">
              <a:lnSpc>
                <a:spcPct val="112000"/>
              </a:lnSpc>
              <a:buNone/>
            </a:pPr>
            <a:r>
              <a:rPr lang="en-US" sz="1000" dirty="0">
                <a:solidFill>
                  <a:srgbClr val="7A7A7E"/>
                </a:solidFill>
                <a:latin typeface="Inter" pitchFamily="34" charset="0"/>
                <a:ea typeface="Inter" pitchFamily="34" charset="-122"/>
                <a:cs typeface="Inter" pitchFamily="34" charset="-120"/>
              </a:rPr>
              <a:t>Figure 10.1, digambar ulang. Tiga tugas pertama membangun organisasi yang mampu. Tujuh berikutnya menggerakkan dan menopangnya.</a:t>
            </a:r>
            <a:endParaRPr lang="en-US" sz="1000" dirty="0"/>
          </a:p>
        </p:txBody>
      </p:sp>
      <p:sp>
        <p:nvSpPr>
          <p:cNvPr id="4" name="connector"/>
          <p:cNvSpPr/>
          <p:nvPr/>
        </p:nvSpPr>
        <p:spPr>
          <a:xfrm flipH="1">
            <a:off x="4343400" y="2377440"/>
            <a:ext cx="0" cy="1783080"/>
          </a:xfrm>
          <a:prstGeom prst="line">
            <a:avLst/>
          </a:prstGeom>
          <a:noFill/>
          <a:ln w="12700">
            <a:solidFill>
              <a:srgbClr val="C8C8CC"/>
            </a:solidFill>
            <a:prstDash val="solid"/>
          </a:ln>
        </p:spPr>
      </p:sp>
      <p:sp>
        <p:nvSpPr>
          <p:cNvPr id="5" name="connector"/>
          <p:cNvSpPr/>
          <p:nvPr/>
        </p:nvSpPr>
        <p:spPr>
          <a:xfrm flipH="1">
            <a:off x="4343400" y="2717978"/>
            <a:ext cx="1800527" cy="1442542"/>
          </a:xfrm>
          <a:prstGeom prst="line">
            <a:avLst/>
          </a:prstGeom>
          <a:noFill/>
          <a:ln w="12700">
            <a:solidFill>
              <a:srgbClr val="C8C8CC"/>
            </a:solidFill>
            <a:prstDash val="solid"/>
          </a:ln>
        </p:spPr>
      </p:sp>
      <p:sp>
        <p:nvSpPr>
          <p:cNvPr id="6" name="connector"/>
          <p:cNvSpPr/>
          <p:nvPr/>
        </p:nvSpPr>
        <p:spPr>
          <a:xfrm flipH="1">
            <a:off x="4343400" y="3609518"/>
            <a:ext cx="2913314" cy="551002"/>
          </a:xfrm>
          <a:prstGeom prst="line">
            <a:avLst/>
          </a:prstGeom>
          <a:noFill/>
          <a:ln w="12700">
            <a:solidFill>
              <a:srgbClr val="C8C8CC"/>
            </a:solidFill>
            <a:prstDash val="solid"/>
          </a:ln>
        </p:spPr>
      </p:sp>
      <p:sp>
        <p:nvSpPr>
          <p:cNvPr id="7" name="connector"/>
          <p:cNvSpPr/>
          <p:nvPr/>
        </p:nvSpPr>
        <p:spPr>
          <a:xfrm>
            <a:off x="4343400" y="4160520"/>
            <a:ext cx="2913314" cy="551002"/>
          </a:xfrm>
          <a:prstGeom prst="line">
            <a:avLst/>
          </a:prstGeom>
          <a:noFill/>
          <a:ln w="12700">
            <a:solidFill>
              <a:srgbClr val="C8C8CC"/>
            </a:solidFill>
            <a:prstDash val="solid"/>
          </a:ln>
        </p:spPr>
      </p:sp>
      <p:sp>
        <p:nvSpPr>
          <p:cNvPr id="8" name="connector"/>
          <p:cNvSpPr/>
          <p:nvPr/>
        </p:nvSpPr>
        <p:spPr>
          <a:xfrm>
            <a:off x="4343400" y="4160520"/>
            <a:ext cx="1800527" cy="1442542"/>
          </a:xfrm>
          <a:prstGeom prst="line">
            <a:avLst/>
          </a:prstGeom>
          <a:noFill/>
          <a:ln w="12700">
            <a:solidFill>
              <a:srgbClr val="C8C8CC"/>
            </a:solidFill>
            <a:prstDash val="solid"/>
          </a:ln>
        </p:spPr>
      </p:sp>
      <p:sp>
        <p:nvSpPr>
          <p:cNvPr id="9" name="connector"/>
          <p:cNvSpPr/>
          <p:nvPr/>
        </p:nvSpPr>
        <p:spPr>
          <a:xfrm>
            <a:off x="4343400" y="4160520"/>
            <a:ext cx="0" cy="1783080"/>
          </a:xfrm>
          <a:prstGeom prst="line">
            <a:avLst/>
          </a:prstGeom>
          <a:noFill/>
          <a:ln w="12700">
            <a:solidFill>
              <a:srgbClr val="C8C8CC"/>
            </a:solidFill>
            <a:prstDash val="solid"/>
          </a:ln>
        </p:spPr>
      </p:sp>
      <p:sp>
        <p:nvSpPr>
          <p:cNvPr id="10" name="connector"/>
          <p:cNvSpPr/>
          <p:nvPr/>
        </p:nvSpPr>
        <p:spPr>
          <a:xfrm flipH="1">
            <a:off x="2542873" y="4160520"/>
            <a:ext cx="1800527" cy="1442542"/>
          </a:xfrm>
          <a:prstGeom prst="line">
            <a:avLst/>
          </a:prstGeom>
          <a:noFill/>
          <a:ln w="12700">
            <a:solidFill>
              <a:srgbClr val="C8C8CC"/>
            </a:solidFill>
            <a:prstDash val="solid"/>
          </a:ln>
        </p:spPr>
      </p:sp>
      <p:sp>
        <p:nvSpPr>
          <p:cNvPr id="11" name="connector"/>
          <p:cNvSpPr/>
          <p:nvPr/>
        </p:nvSpPr>
        <p:spPr>
          <a:xfrm flipH="1">
            <a:off x="1430086" y="4160520"/>
            <a:ext cx="2913314" cy="551002"/>
          </a:xfrm>
          <a:prstGeom prst="line">
            <a:avLst/>
          </a:prstGeom>
          <a:noFill/>
          <a:ln w="12700">
            <a:solidFill>
              <a:srgbClr val="C8C8CC"/>
            </a:solidFill>
            <a:prstDash val="solid"/>
          </a:ln>
        </p:spPr>
      </p:sp>
      <p:sp>
        <p:nvSpPr>
          <p:cNvPr id="12" name="connector"/>
          <p:cNvSpPr/>
          <p:nvPr/>
        </p:nvSpPr>
        <p:spPr>
          <a:xfrm>
            <a:off x="1430086" y="3609518"/>
            <a:ext cx="2913314" cy="551002"/>
          </a:xfrm>
          <a:prstGeom prst="line">
            <a:avLst/>
          </a:prstGeom>
          <a:noFill/>
          <a:ln w="12700">
            <a:solidFill>
              <a:srgbClr val="C8C8CC"/>
            </a:solidFill>
            <a:prstDash val="solid"/>
          </a:ln>
        </p:spPr>
      </p:sp>
      <p:sp>
        <p:nvSpPr>
          <p:cNvPr id="13" name="connector"/>
          <p:cNvSpPr/>
          <p:nvPr/>
        </p:nvSpPr>
        <p:spPr>
          <a:xfrm>
            <a:off x="2542873" y="2717978"/>
            <a:ext cx="1800527" cy="1442542"/>
          </a:xfrm>
          <a:prstGeom prst="line">
            <a:avLst/>
          </a:prstGeom>
          <a:noFill/>
          <a:ln w="12700">
            <a:solidFill>
              <a:srgbClr val="C8C8CC"/>
            </a:solidFill>
            <a:prstDash val="solid"/>
          </a:ln>
        </p:spPr>
      </p:sp>
      <p:sp>
        <p:nvSpPr>
          <p:cNvPr id="14" name="Pusat"/>
          <p:cNvSpPr/>
          <p:nvPr/>
        </p:nvSpPr>
        <p:spPr>
          <a:xfrm>
            <a:off x="3474720" y="3383280"/>
            <a:ext cx="1737360" cy="1554480"/>
          </a:xfrm>
          <a:prstGeom prst="hexagon">
            <a:avLst/>
          </a:prstGeom>
          <a:solidFill>
            <a:srgbClr val="141417"/>
          </a:solidFill>
          <a:ln w="6350">
            <a:solidFill>
              <a:srgbClr val="141417"/>
            </a:solidFill>
            <a:prstDash val="solid"/>
          </a:ln>
        </p:spPr>
      </p:sp>
      <p:sp>
        <p:nvSpPr>
          <p:cNvPr id="15" name="text"/>
          <p:cNvSpPr txBox="1"/>
          <p:nvPr/>
        </p:nvSpPr>
        <p:spPr>
          <a:xfrm>
            <a:off x="3657600" y="3611880"/>
            <a:ext cx="1371600" cy="1097280"/>
          </a:xfrm>
          <a:prstGeom prst="rect">
            <a:avLst/>
          </a:prstGeom>
          <a:noFill/>
          <a:ln/>
        </p:spPr>
        <p:txBody>
          <a:bodyPr wrap="square" lIns="0" tIns="0" rIns="0" bIns="0" rtlCol="0" anchor="ctr"/>
          <a:lstStyle/>
          <a:p>
            <a:pPr algn="ctr" indent="0" marL="0">
              <a:lnSpc>
                <a:spcPct val="112000"/>
              </a:lnSpc>
              <a:buNone/>
            </a:pPr>
            <a:r>
              <a:rPr lang="en-US" sz="1000" b="1" dirty="0">
                <a:solidFill>
                  <a:srgbClr val="D4FC00"/>
                </a:solidFill>
                <a:latin typeface="Inter" pitchFamily="34" charset="0"/>
                <a:ea typeface="Inter" pitchFamily="34" charset="-122"/>
                <a:cs typeface="Inter" pitchFamily="34" charset="-120"/>
              </a:rPr>
              <a:t>The Action Agenda for Executing Strategy</a:t>
            </a:r>
            <a:endParaRPr lang="en-US" sz="1000" dirty="0"/>
          </a:p>
        </p:txBody>
      </p:sp>
      <p:sp>
        <p:nvSpPr>
          <p:cNvPr id="16" name="Tugas 1"/>
          <p:cNvSpPr/>
          <p:nvPr/>
        </p:nvSpPr>
        <p:spPr>
          <a:xfrm>
            <a:off x="3557016" y="2103120"/>
            <a:ext cx="1572768" cy="548640"/>
          </a:xfrm>
          <a:prstGeom prst="roundRect">
            <a:avLst>
              <a:gd name="adj" fmla="val 13333"/>
            </a:avLst>
          </a:prstGeom>
          <a:solidFill>
            <a:srgbClr val="D4FC00"/>
          </a:solidFill>
          <a:ln w="6350">
            <a:solidFill>
              <a:srgbClr val="D4FC00"/>
            </a:solidFill>
            <a:prstDash val="solid"/>
          </a:ln>
        </p:spPr>
      </p:sp>
      <p:sp>
        <p:nvSpPr>
          <p:cNvPr id="17" name="num"/>
          <p:cNvSpPr/>
          <p:nvPr/>
        </p:nvSpPr>
        <p:spPr>
          <a:xfrm>
            <a:off x="3630168" y="2249424"/>
            <a:ext cx="256032" cy="256032"/>
          </a:xfrm>
          <a:prstGeom prst="ellipse">
            <a:avLst/>
          </a:prstGeom>
          <a:solidFill>
            <a:srgbClr val="141417"/>
          </a:solidFill>
          <a:ln w="6350">
            <a:solidFill>
              <a:srgbClr val="141417"/>
            </a:solidFill>
            <a:prstDash val="solid"/>
          </a:ln>
        </p:spPr>
      </p:sp>
      <p:sp>
        <p:nvSpPr>
          <p:cNvPr id="18" name="text"/>
          <p:cNvSpPr txBox="1"/>
          <p:nvPr/>
        </p:nvSpPr>
        <p:spPr>
          <a:xfrm>
            <a:off x="3630168" y="2249424"/>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D4FC00"/>
                </a:solidFill>
                <a:latin typeface="Inter" pitchFamily="34" charset="0"/>
                <a:ea typeface="Inter" pitchFamily="34" charset="-122"/>
                <a:cs typeface="Inter" pitchFamily="34" charset="-120"/>
              </a:rPr>
              <a:t>1</a:t>
            </a:r>
            <a:endParaRPr lang="en-US" sz="950" dirty="0"/>
          </a:p>
        </p:txBody>
      </p:sp>
      <p:sp>
        <p:nvSpPr>
          <p:cNvPr id="19" name="text"/>
          <p:cNvSpPr txBox="1"/>
          <p:nvPr/>
        </p:nvSpPr>
        <p:spPr>
          <a:xfrm>
            <a:off x="3959352" y="2103120"/>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1C1C1E"/>
                </a:solidFill>
                <a:latin typeface="Inter" pitchFamily="34" charset="0"/>
                <a:ea typeface="Inter" pitchFamily="34" charset="-122"/>
                <a:cs typeface="Inter" pitchFamily="34" charset="-120"/>
              </a:rPr>
              <a:t>Staffing: orang yang tepat</a:t>
            </a:r>
            <a:endParaRPr lang="en-US" sz="850" dirty="0"/>
          </a:p>
        </p:txBody>
      </p:sp>
      <p:sp>
        <p:nvSpPr>
          <p:cNvPr id="20" name="Tugas 2"/>
          <p:cNvSpPr/>
          <p:nvPr/>
        </p:nvSpPr>
        <p:spPr>
          <a:xfrm>
            <a:off x="5357543" y="2443658"/>
            <a:ext cx="1572768" cy="548640"/>
          </a:xfrm>
          <a:prstGeom prst="roundRect">
            <a:avLst>
              <a:gd name="adj" fmla="val 13333"/>
            </a:avLst>
          </a:prstGeom>
          <a:solidFill>
            <a:srgbClr val="D4FC00"/>
          </a:solidFill>
          <a:ln w="6350">
            <a:solidFill>
              <a:srgbClr val="D4FC00"/>
            </a:solidFill>
            <a:prstDash val="solid"/>
          </a:ln>
        </p:spPr>
      </p:sp>
      <p:sp>
        <p:nvSpPr>
          <p:cNvPr id="21" name="num"/>
          <p:cNvSpPr/>
          <p:nvPr/>
        </p:nvSpPr>
        <p:spPr>
          <a:xfrm>
            <a:off x="5430695" y="2589962"/>
            <a:ext cx="256032" cy="256032"/>
          </a:xfrm>
          <a:prstGeom prst="ellipse">
            <a:avLst/>
          </a:prstGeom>
          <a:solidFill>
            <a:srgbClr val="141417"/>
          </a:solidFill>
          <a:ln w="6350">
            <a:solidFill>
              <a:srgbClr val="141417"/>
            </a:solidFill>
            <a:prstDash val="solid"/>
          </a:ln>
        </p:spPr>
      </p:sp>
      <p:sp>
        <p:nvSpPr>
          <p:cNvPr id="22" name="text"/>
          <p:cNvSpPr txBox="1"/>
          <p:nvPr/>
        </p:nvSpPr>
        <p:spPr>
          <a:xfrm>
            <a:off x="5430695" y="2589962"/>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D4FC00"/>
                </a:solidFill>
                <a:latin typeface="Inter" pitchFamily="34" charset="0"/>
                <a:ea typeface="Inter" pitchFamily="34" charset="-122"/>
                <a:cs typeface="Inter" pitchFamily="34" charset="-120"/>
              </a:rPr>
              <a:t>2</a:t>
            </a:r>
            <a:endParaRPr lang="en-US" sz="950" dirty="0"/>
          </a:p>
        </p:txBody>
      </p:sp>
      <p:sp>
        <p:nvSpPr>
          <p:cNvPr id="23" name="text"/>
          <p:cNvSpPr txBox="1"/>
          <p:nvPr/>
        </p:nvSpPr>
        <p:spPr>
          <a:xfrm>
            <a:off x="5759879" y="2443658"/>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1C1C1E"/>
                </a:solidFill>
                <a:latin typeface="Inter" pitchFamily="34" charset="0"/>
                <a:ea typeface="Inter" pitchFamily="34" charset="-122"/>
                <a:cs typeface="Inter" pitchFamily="34" charset="-120"/>
              </a:rPr>
              <a:t>Resources dan capabilities</a:t>
            </a:r>
            <a:endParaRPr lang="en-US" sz="850" dirty="0"/>
          </a:p>
        </p:txBody>
      </p:sp>
      <p:sp>
        <p:nvSpPr>
          <p:cNvPr id="24" name="Tugas 3"/>
          <p:cNvSpPr/>
          <p:nvPr/>
        </p:nvSpPr>
        <p:spPr>
          <a:xfrm>
            <a:off x="6470330" y="3335198"/>
            <a:ext cx="1572768" cy="548640"/>
          </a:xfrm>
          <a:prstGeom prst="roundRect">
            <a:avLst>
              <a:gd name="adj" fmla="val 13333"/>
            </a:avLst>
          </a:prstGeom>
          <a:solidFill>
            <a:srgbClr val="D4FC00"/>
          </a:solidFill>
          <a:ln w="6350">
            <a:solidFill>
              <a:srgbClr val="D4FC00"/>
            </a:solidFill>
            <a:prstDash val="solid"/>
          </a:ln>
        </p:spPr>
      </p:sp>
      <p:sp>
        <p:nvSpPr>
          <p:cNvPr id="25" name="num"/>
          <p:cNvSpPr/>
          <p:nvPr/>
        </p:nvSpPr>
        <p:spPr>
          <a:xfrm>
            <a:off x="6543482" y="3481502"/>
            <a:ext cx="256032" cy="256032"/>
          </a:xfrm>
          <a:prstGeom prst="ellipse">
            <a:avLst/>
          </a:prstGeom>
          <a:solidFill>
            <a:srgbClr val="141417"/>
          </a:solidFill>
          <a:ln w="6350">
            <a:solidFill>
              <a:srgbClr val="141417"/>
            </a:solidFill>
            <a:prstDash val="solid"/>
          </a:ln>
        </p:spPr>
      </p:sp>
      <p:sp>
        <p:nvSpPr>
          <p:cNvPr id="26" name="text"/>
          <p:cNvSpPr txBox="1"/>
          <p:nvPr/>
        </p:nvSpPr>
        <p:spPr>
          <a:xfrm>
            <a:off x="6543482" y="3481502"/>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D4FC00"/>
                </a:solidFill>
                <a:latin typeface="Inter" pitchFamily="34" charset="0"/>
                <a:ea typeface="Inter" pitchFamily="34" charset="-122"/>
                <a:cs typeface="Inter" pitchFamily="34" charset="-120"/>
              </a:rPr>
              <a:t>3</a:t>
            </a:r>
            <a:endParaRPr lang="en-US" sz="950" dirty="0"/>
          </a:p>
        </p:txBody>
      </p:sp>
      <p:sp>
        <p:nvSpPr>
          <p:cNvPr id="27" name="text"/>
          <p:cNvSpPr txBox="1"/>
          <p:nvPr/>
        </p:nvSpPr>
        <p:spPr>
          <a:xfrm>
            <a:off x="6872666" y="3335198"/>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1C1C1E"/>
                </a:solidFill>
                <a:latin typeface="Inter" pitchFamily="34" charset="0"/>
                <a:ea typeface="Inter" pitchFamily="34" charset="-122"/>
                <a:cs typeface="Inter" pitchFamily="34" charset="-120"/>
              </a:rPr>
              <a:t>Organizational structure</a:t>
            </a:r>
            <a:endParaRPr lang="en-US" sz="850" dirty="0"/>
          </a:p>
        </p:txBody>
      </p:sp>
      <p:sp>
        <p:nvSpPr>
          <p:cNvPr id="28" name="Tugas 4"/>
          <p:cNvSpPr/>
          <p:nvPr/>
        </p:nvSpPr>
        <p:spPr>
          <a:xfrm>
            <a:off x="6470330" y="4437202"/>
            <a:ext cx="1572768" cy="548640"/>
          </a:xfrm>
          <a:prstGeom prst="roundRect">
            <a:avLst>
              <a:gd name="adj" fmla="val 13333"/>
            </a:avLst>
          </a:prstGeom>
          <a:solidFill>
            <a:srgbClr val="FFFFFF"/>
          </a:solidFill>
          <a:ln w="6350">
            <a:solidFill>
              <a:srgbClr val="FFFFFF"/>
            </a:solidFill>
            <a:prstDash val="solid"/>
          </a:ln>
        </p:spPr>
      </p:sp>
      <p:sp>
        <p:nvSpPr>
          <p:cNvPr id="29" name="num"/>
          <p:cNvSpPr/>
          <p:nvPr/>
        </p:nvSpPr>
        <p:spPr>
          <a:xfrm>
            <a:off x="6543482" y="4583506"/>
            <a:ext cx="256032" cy="256032"/>
          </a:xfrm>
          <a:prstGeom prst="ellipse">
            <a:avLst/>
          </a:prstGeom>
          <a:solidFill>
            <a:srgbClr val="141417"/>
          </a:solidFill>
          <a:ln w="6350">
            <a:solidFill>
              <a:srgbClr val="141417"/>
            </a:solidFill>
            <a:prstDash val="solid"/>
          </a:ln>
        </p:spPr>
      </p:sp>
      <p:sp>
        <p:nvSpPr>
          <p:cNvPr id="30" name="text"/>
          <p:cNvSpPr txBox="1"/>
          <p:nvPr/>
        </p:nvSpPr>
        <p:spPr>
          <a:xfrm>
            <a:off x="6543482" y="4583506"/>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FFFFFF"/>
                </a:solidFill>
                <a:latin typeface="Inter" pitchFamily="34" charset="0"/>
                <a:ea typeface="Inter" pitchFamily="34" charset="-122"/>
                <a:cs typeface="Inter" pitchFamily="34" charset="-120"/>
              </a:rPr>
              <a:t>4</a:t>
            </a:r>
            <a:endParaRPr lang="en-US" sz="950" dirty="0"/>
          </a:p>
        </p:txBody>
      </p:sp>
      <p:sp>
        <p:nvSpPr>
          <p:cNvPr id="31" name="text"/>
          <p:cNvSpPr txBox="1"/>
          <p:nvPr/>
        </p:nvSpPr>
        <p:spPr>
          <a:xfrm>
            <a:off x="6872666" y="4437202"/>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1C1C1E"/>
                </a:solidFill>
                <a:latin typeface="Inter" pitchFamily="34" charset="0"/>
                <a:ea typeface="Inter" pitchFamily="34" charset="-122"/>
                <a:cs typeface="Inter" pitchFamily="34" charset="-120"/>
              </a:rPr>
              <a:t>Alokasi sumber daya</a:t>
            </a:r>
            <a:endParaRPr lang="en-US" sz="850" dirty="0"/>
          </a:p>
        </p:txBody>
      </p:sp>
      <p:sp>
        <p:nvSpPr>
          <p:cNvPr id="32" name="Tugas 5"/>
          <p:cNvSpPr/>
          <p:nvPr/>
        </p:nvSpPr>
        <p:spPr>
          <a:xfrm>
            <a:off x="5357543" y="5328742"/>
            <a:ext cx="1572768" cy="548640"/>
          </a:xfrm>
          <a:prstGeom prst="roundRect">
            <a:avLst>
              <a:gd name="adj" fmla="val 13333"/>
            </a:avLst>
          </a:prstGeom>
          <a:solidFill>
            <a:srgbClr val="FFFFFF"/>
          </a:solidFill>
          <a:ln w="6350">
            <a:solidFill>
              <a:srgbClr val="FFFFFF"/>
            </a:solidFill>
            <a:prstDash val="solid"/>
          </a:ln>
        </p:spPr>
      </p:sp>
      <p:sp>
        <p:nvSpPr>
          <p:cNvPr id="33" name="num"/>
          <p:cNvSpPr/>
          <p:nvPr/>
        </p:nvSpPr>
        <p:spPr>
          <a:xfrm>
            <a:off x="5430695" y="5475046"/>
            <a:ext cx="256032" cy="256032"/>
          </a:xfrm>
          <a:prstGeom prst="ellipse">
            <a:avLst/>
          </a:prstGeom>
          <a:solidFill>
            <a:srgbClr val="141417"/>
          </a:solidFill>
          <a:ln w="6350">
            <a:solidFill>
              <a:srgbClr val="141417"/>
            </a:solidFill>
            <a:prstDash val="solid"/>
          </a:ln>
        </p:spPr>
      </p:sp>
      <p:sp>
        <p:nvSpPr>
          <p:cNvPr id="34" name="text"/>
          <p:cNvSpPr txBox="1"/>
          <p:nvPr/>
        </p:nvSpPr>
        <p:spPr>
          <a:xfrm>
            <a:off x="5430695" y="5475046"/>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FFFFFF"/>
                </a:solidFill>
                <a:latin typeface="Inter" pitchFamily="34" charset="0"/>
                <a:ea typeface="Inter" pitchFamily="34" charset="-122"/>
                <a:cs typeface="Inter" pitchFamily="34" charset="-120"/>
              </a:rPr>
              <a:t>5</a:t>
            </a:r>
            <a:endParaRPr lang="en-US" sz="950" dirty="0"/>
          </a:p>
        </p:txBody>
      </p:sp>
      <p:sp>
        <p:nvSpPr>
          <p:cNvPr id="35" name="text"/>
          <p:cNvSpPr txBox="1"/>
          <p:nvPr/>
        </p:nvSpPr>
        <p:spPr>
          <a:xfrm>
            <a:off x="5759879" y="5328742"/>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1C1C1E"/>
                </a:solidFill>
                <a:latin typeface="Inter" pitchFamily="34" charset="0"/>
                <a:ea typeface="Inter" pitchFamily="34" charset="-122"/>
                <a:cs typeface="Inter" pitchFamily="34" charset="-120"/>
              </a:rPr>
              <a:t>Policies dan procedures</a:t>
            </a:r>
            <a:endParaRPr lang="en-US" sz="850" dirty="0"/>
          </a:p>
        </p:txBody>
      </p:sp>
      <p:sp>
        <p:nvSpPr>
          <p:cNvPr id="36" name="Tugas 6"/>
          <p:cNvSpPr/>
          <p:nvPr/>
        </p:nvSpPr>
        <p:spPr>
          <a:xfrm>
            <a:off x="3557016" y="5669280"/>
            <a:ext cx="1572768" cy="548640"/>
          </a:xfrm>
          <a:prstGeom prst="roundRect">
            <a:avLst>
              <a:gd name="adj" fmla="val 13333"/>
            </a:avLst>
          </a:prstGeom>
          <a:solidFill>
            <a:srgbClr val="FFFFFF"/>
          </a:solidFill>
          <a:ln w="6350">
            <a:solidFill>
              <a:srgbClr val="FFFFFF"/>
            </a:solidFill>
            <a:prstDash val="solid"/>
          </a:ln>
        </p:spPr>
      </p:sp>
      <p:sp>
        <p:nvSpPr>
          <p:cNvPr id="37" name="num"/>
          <p:cNvSpPr/>
          <p:nvPr/>
        </p:nvSpPr>
        <p:spPr>
          <a:xfrm>
            <a:off x="3630168" y="5815584"/>
            <a:ext cx="256032" cy="256032"/>
          </a:xfrm>
          <a:prstGeom prst="ellipse">
            <a:avLst/>
          </a:prstGeom>
          <a:solidFill>
            <a:srgbClr val="141417"/>
          </a:solidFill>
          <a:ln w="6350">
            <a:solidFill>
              <a:srgbClr val="141417"/>
            </a:solidFill>
            <a:prstDash val="solid"/>
          </a:ln>
        </p:spPr>
      </p:sp>
      <p:sp>
        <p:nvSpPr>
          <p:cNvPr id="38" name="text"/>
          <p:cNvSpPr txBox="1"/>
          <p:nvPr/>
        </p:nvSpPr>
        <p:spPr>
          <a:xfrm>
            <a:off x="3630168" y="5815584"/>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FFFFFF"/>
                </a:solidFill>
                <a:latin typeface="Inter" pitchFamily="34" charset="0"/>
                <a:ea typeface="Inter" pitchFamily="34" charset="-122"/>
                <a:cs typeface="Inter" pitchFamily="34" charset="-120"/>
              </a:rPr>
              <a:t>6</a:t>
            </a:r>
            <a:endParaRPr lang="en-US" sz="950" dirty="0"/>
          </a:p>
        </p:txBody>
      </p:sp>
      <p:sp>
        <p:nvSpPr>
          <p:cNvPr id="39" name="text"/>
          <p:cNvSpPr txBox="1"/>
          <p:nvPr/>
        </p:nvSpPr>
        <p:spPr>
          <a:xfrm>
            <a:off x="3959352" y="5669280"/>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1C1C1E"/>
                </a:solidFill>
                <a:latin typeface="Inter" pitchFamily="34" charset="0"/>
                <a:ea typeface="Inter" pitchFamily="34" charset="-122"/>
                <a:cs typeface="Inter" pitchFamily="34" charset="-120"/>
              </a:rPr>
              <a:t>Continuous improvement</a:t>
            </a:r>
            <a:endParaRPr lang="en-US" sz="850" dirty="0"/>
          </a:p>
        </p:txBody>
      </p:sp>
      <p:sp>
        <p:nvSpPr>
          <p:cNvPr id="40" name="Tugas 7"/>
          <p:cNvSpPr/>
          <p:nvPr/>
        </p:nvSpPr>
        <p:spPr>
          <a:xfrm>
            <a:off x="1756489" y="5328742"/>
            <a:ext cx="1572768" cy="548640"/>
          </a:xfrm>
          <a:prstGeom prst="roundRect">
            <a:avLst>
              <a:gd name="adj" fmla="val 13333"/>
            </a:avLst>
          </a:prstGeom>
          <a:solidFill>
            <a:srgbClr val="FFFFFF"/>
          </a:solidFill>
          <a:ln w="6350">
            <a:solidFill>
              <a:srgbClr val="FFFFFF"/>
            </a:solidFill>
            <a:prstDash val="solid"/>
          </a:ln>
        </p:spPr>
      </p:sp>
      <p:sp>
        <p:nvSpPr>
          <p:cNvPr id="41" name="num"/>
          <p:cNvSpPr/>
          <p:nvPr/>
        </p:nvSpPr>
        <p:spPr>
          <a:xfrm>
            <a:off x="1829641" y="5475046"/>
            <a:ext cx="256032" cy="256032"/>
          </a:xfrm>
          <a:prstGeom prst="ellipse">
            <a:avLst/>
          </a:prstGeom>
          <a:solidFill>
            <a:srgbClr val="141417"/>
          </a:solidFill>
          <a:ln w="6350">
            <a:solidFill>
              <a:srgbClr val="141417"/>
            </a:solidFill>
            <a:prstDash val="solid"/>
          </a:ln>
        </p:spPr>
      </p:sp>
      <p:sp>
        <p:nvSpPr>
          <p:cNvPr id="42" name="text"/>
          <p:cNvSpPr txBox="1"/>
          <p:nvPr/>
        </p:nvSpPr>
        <p:spPr>
          <a:xfrm>
            <a:off x="1829641" y="5475046"/>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FFFFFF"/>
                </a:solidFill>
                <a:latin typeface="Inter" pitchFamily="34" charset="0"/>
                <a:ea typeface="Inter" pitchFamily="34" charset="-122"/>
                <a:cs typeface="Inter" pitchFamily="34" charset="-120"/>
              </a:rPr>
              <a:t>7</a:t>
            </a:r>
            <a:endParaRPr lang="en-US" sz="950" dirty="0"/>
          </a:p>
        </p:txBody>
      </p:sp>
      <p:sp>
        <p:nvSpPr>
          <p:cNvPr id="43" name="text"/>
          <p:cNvSpPr txBox="1"/>
          <p:nvPr/>
        </p:nvSpPr>
        <p:spPr>
          <a:xfrm>
            <a:off x="2158825" y="5328742"/>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1C1C1E"/>
                </a:solidFill>
                <a:latin typeface="Inter" pitchFamily="34" charset="0"/>
                <a:ea typeface="Inter" pitchFamily="34" charset="-122"/>
                <a:cs typeface="Inter" pitchFamily="34" charset="-120"/>
              </a:rPr>
              <a:t>Information dan operating systems</a:t>
            </a:r>
            <a:endParaRPr lang="en-US" sz="850" dirty="0"/>
          </a:p>
        </p:txBody>
      </p:sp>
      <p:sp>
        <p:nvSpPr>
          <p:cNvPr id="44" name="Tugas 8"/>
          <p:cNvSpPr/>
          <p:nvPr/>
        </p:nvSpPr>
        <p:spPr>
          <a:xfrm>
            <a:off x="643702" y="4437202"/>
            <a:ext cx="1572768" cy="548640"/>
          </a:xfrm>
          <a:prstGeom prst="roundRect">
            <a:avLst>
              <a:gd name="adj" fmla="val 13333"/>
            </a:avLst>
          </a:prstGeom>
          <a:solidFill>
            <a:srgbClr val="FFFFFF"/>
          </a:solidFill>
          <a:ln w="6350">
            <a:solidFill>
              <a:srgbClr val="FFFFFF"/>
            </a:solidFill>
            <a:prstDash val="solid"/>
          </a:ln>
        </p:spPr>
      </p:sp>
      <p:sp>
        <p:nvSpPr>
          <p:cNvPr id="45" name="num"/>
          <p:cNvSpPr/>
          <p:nvPr/>
        </p:nvSpPr>
        <p:spPr>
          <a:xfrm>
            <a:off x="716854" y="4583506"/>
            <a:ext cx="256032" cy="256032"/>
          </a:xfrm>
          <a:prstGeom prst="ellipse">
            <a:avLst/>
          </a:prstGeom>
          <a:solidFill>
            <a:srgbClr val="141417"/>
          </a:solidFill>
          <a:ln w="6350">
            <a:solidFill>
              <a:srgbClr val="141417"/>
            </a:solidFill>
            <a:prstDash val="solid"/>
          </a:ln>
        </p:spPr>
      </p:sp>
      <p:sp>
        <p:nvSpPr>
          <p:cNvPr id="46" name="text"/>
          <p:cNvSpPr txBox="1"/>
          <p:nvPr/>
        </p:nvSpPr>
        <p:spPr>
          <a:xfrm>
            <a:off x="716854" y="4583506"/>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FFFFFF"/>
                </a:solidFill>
                <a:latin typeface="Inter" pitchFamily="34" charset="0"/>
                <a:ea typeface="Inter" pitchFamily="34" charset="-122"/>
                <a:cs typeface="Inter" pitchFamily="34" charset="-120"/>
              </a:rPr>
              <a:t>8</a:t>
            </a:r>
            <a:endParaRPr lang="en-US" sz="950" dirty="0"/>
          </a:p>
        </p:txBody>
      </p:sp>
      <p:sp>
        <p:nvSpPr>
          <p:cNvPr id="47" name="text"/>
          <p:cNvSpPr txBox="1"/>
          <p:nvPr/>
        </p:nvSpPr>
        <p:spPr>
          <a:xfrm>
            <a:off x="1046038" y="4437202"/>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1C1C1E"/>
                </a:solidFill>
                <a:latin typeface="Inter" pitchFamily="34" charset="0"/>
                <a:ea typeface="Inter" pitchFamily="34" charset="-122"/>
                <a:cs typeface="Inter" pitchFamily="34" charset="-120"/>
              </a:rPr>
              <a:t>Rewards dan insentif</a:t>
            </a:r>
            <a:endParaRPr lang="en-US" sz="850" dirty="0"/>
          </a:p>
        </p:txBody>
      </p:sp>
      <p:sp>
        <p:nvSpPr>
          <p:cNvPr id="48" name="Tugas 9"/>
          <p:cNvSpPr/>
          <p:nvPr/>
        </p:nvSpPr>
        <p:spPr>
          <a:xfrm>
            <a:off x="643702" y="3335198"/>
            <a:ext cx="1572768" cy="548640"/>
          </a:xfrm>
          <a:prstGeom prst="roundRect">
            <a:avLst>
              <a:gd name="adj" fmla="val 13333"/>
            </a:avLst>
          </a:prstGeom>
          <a:solidFill>
            <a:srgbClr val="5A5A5E"/>
          </a:solidFill>
          <a:ln w="6350">
            <a:solidFill>
              <a:srgbClr val="5A5A5E"/>
            </a:solidFill>
            <a:prstDash val="solid"/>
          </a:ln>
        </p:spPr>
      </p:sp>
      <p:sp>
        <p:nvSpPr>
          <p:cNvPr id="49" name="num"/>
          <p:cNvSpPr/>
          <p:nvPr/>
        </p:nvSpPr>
        <p:spPr>
          <a:xfrm>
            <a:off x="716854" y="3481502"/>
            <a:ext cx="256032" cy="256032"/>
          </a:xfrm>
          <a:prstGeom prst="ellipse">
            <a:avLst/>
          </a:prstGeom>
          <a:solidFill>
            <a:srgbClr val="D4FC00"/>
          </a:solidFill>
          <a:ln w="6350">
            <a:solidFill>
              <a:srgbClr val="D4FC00"/>
            </a:solidFill>
            <a:prstDash val="solid"/>
          </a:ln>
        </p:spPr>
      </p:sp>
      <p:sp>
        <p:nvSpPr>
          <p:cNvPr id="50" name="text"/>
          <p:cNvSpPr txBox="1"/>
          <p:nvPr/>
        </p:nvSpPr>
        <p:spPr>
          <a:xfrm>
            <a:off x="716854" y="3481502"/>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9</a:t>
            </a:r>
            <a:endParaRPr lang="en-US" sz="950" dirty="0"/>
          </a:p>
        </p:txBody>
      </p:sp>
      <p:sp>
        <p:nvSpPr>
          <p:cNvPr id="51" name="text"/>
          <p:cNvSpPr txBox="1"/>
          <p:nvPr/>
        </p:nvSpPr>
        <p:spPr>
          <a:xfrm>
            <a:off x="1046038" y="3335198"/>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FFFFFF"/>
                </a:solidFill>
                <a:latin typeface="Inter" pitchFamily="34" charset="0"/>
                <a:ea typeface="Inter" pitchFamily="34" charset="-122"/>
                <a:cs typeface="Inter" pitchFamily="34" charset="-120"/>
              </a:rPr>
              <a:t>Corporate culture</a:t>
            </a:r>
            <a:endParaRPr lang="en-US" sz="850" dirty="0"/>
          </a:p>
        </p:txBody>
      </p:sp>
      <p:sp>
        <p:nvSpPr>
          <p:cNvPr id="52" name="Tugas 10"/>
          <p:cNvSpPr/>
          <p:nvPr/>
        </p:nvSpPr>
        <p:spPr>
          <a:xfrm>
            <a:off x="1756489" y="2443658"/>
            <a:ext cx="1572768" cy="548640"/>
          </a:xfrm>
          <a:prstGeom prst="roundRect">
            <a:avLst>
              <a:gd name="adj" fmla="val 13333"/>
            </a:avLst>
          </a:prstGeom>
          <a:solidFill>
            <a:srgbClr val="5A5A5E"/>
          </a:solidFill>
          <a:ln w="6350">
            <a:solidFill>
              <a:srgbClr val="5A5A5E"/>
            </a:solidFill>
            <a:prstDash val="solid"/>
          </a:ln>
        </p:spPr>
      </p:sp>
      <p:sp>
        <p:nvSpPr>
          <p:cNvPr id="53" name="num"/>
          <p:cNvSpPr/>
          <p:nvPr/>
        </p:nvSpPr>
        <p:spPr>
          <a:xfrm>
            <a:off x="1829641" y="2589962"/>
            <a:ext cx="256032" cy="256032"/>
          </a:xfrm>
          <a:prstGeom prst="ellipse">
            <a:avLst/>
          </a:prstGeom>
          <a:solidFill>
            <a:srgbClr val="D4FC00"/>
          </a:solidFill>
          <a:ln w="6350">
            <a:solidFill>
              <a:srgbClr val="D4FC00"/>
            </a:solidFill>
            <a:prstDash val="solid"/>
          </a:ln>
        </p:spPr>
      </p:sp>
      <p:sp>
        <p:nvSpPr>
          <p:cNvPr id="54" name="text"/>
          <p:cNvSpPr txBox="1"/>
          <p:nvPr/>
        </p:nvSpPr>
        <p:spPr>
          <a:xfrm>
            <a:off x="1829641" y="2589962"/>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10</a:t>
            </a:r>
            <a:endParaRPr lang="en-US" sz="950" dirty="0"/>
          </a:p>
        </p:txBody>
      </p:sp>
      <p:sp>
        <p:nvSpPr>
          <p:cNvPr id="55" name="text"/>
          <p:cNvSpPr txBox="1"/>
          <p:nvPr/>
        </p:nvSpPr>
        <p:spPr>
          <a:xfrm>
            <a:off x="2158825" y="2443658"/>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FFFFFF"/>
                </a:solidFill>
                <a:latin typeface="Inter" pitchFamily="34" charset="0"/>
                <a:ea typeface="Inter" pitchFamily="34" charset="-122"/>
                <a:cs typeface="Inter" pitchFamily="34" charset="-120"/>
              </a:rPr>
              <a:t>Leadership</a:t>
            </a:r>
            <a:endParaRPr lang="en-US" sz="850" dirty="0"/>
          </a:p>
        </p:txBody>
      </p:sp>
      <p:pic>
        <p:nvPicPr>
          <p:cNvPr id="56" name="Foto kartu perencanaan" descr="preencoded.png">    </p:cNvPr>
          <p:cNvPicPr>
            <a:picLocks noChangeAspect="1"/>
          </p:cNvPicPr>
          <p:nvPr/>
        </p:nvPicPr>
        <p:blipFill>
          <a:blip r:embed="rId1"/>
          <a:stretch>
            <a:fillRect/>
          </a:stretch>
        </p:blipFill>
        <p:spPr>
          <a:xfrm>
            <a:off x="8503920" y="1874520"/>
            <a:ext cx="3182112" cy="2743200"/>
          </a:xfrm>
          <a:prstGeom prst="rect">
            <a:avLst/>
          </a:prstGeom>
        </p:spPr>
      </p:pic>
      <p:sp>
        <p:nvSpPr>
          <p:cNvPr id="57" name="legend"/>
          <p:cNvSpPr/>
          <p:nvPr/>
        </p:nvSpPr>
        <p:spPr>
          <a:xfrm>
            <a:off x="8503920" y="4846320"/>
            <a:ext cx="274320" cy="164592"/>
          </a:xfrm>
          <a:prstGeom prst="roundRect">
            <a:avLst>
              <a:gd name="adj" fmla="val 22222"/>
            </a:avLst>
          </a:prstGeom>
          <a:solidFill>
            <a:srgbClr val="D4FC00"/>
          </a:solidFill>
          <a:ln w="6350">
            <a:solidFill>
              <a:srgbClr val="D4FC00"/>
            </a:solidFill>
            <a:prstDash val="solid"/>
          </a:ln>
        </p:spPr>
      </p:sp>
      <p:sp>
        <p:nvSpPr>
          <p:cNvPr id="58" name="text"/>
          <p:cNvSpPr txBox="1"/>
          <p:nvPr/>
        </p:nvSpPr>
        <p:spPr>
          <a:xfrm>
            <a:off x="8887968" y="4800600"/>
            <a:ext cx="2743200" cy="256032"/>
          </a:xfrm>
          <a:prstGeom prst="rect">
            <a:avLst/>
          </a:prstGeom>
          <a:noFill/>
          <a:ln/>
        </p:spPr>
        <p:txBody>
          <a:bodyPr wrap="square" lIns="0" tIns="0" rIns="0" bIns="0" rtlCol="0" anchor="ctr"/>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Tugas 1 sampai 3, Bab 10, sesi ini</a:t>
            </a:r>
            <a:endParaRPr lang="en-US" sz="900" dirty="0"/>
          </a:p>
        </p:txBody>
      </p:sp>
      <p:sp>
        <p:nvSpPr>
          <p:cNvPr id="59" name="legend"/>
          <p:cNvSpPr/>
          <p:nvPr/>
        </p:nvSpPr>
        <p:spPr>
          <a:xfrm>
            <a:off x="8503920" y="5157216"/>
            <a:ext cx="274320" cy="164592"/>
          </a:xfrm>
          <a:prstGeom prst="roundRect">
            <a:avLst>
              <a:gd name="adj" fmla="val 22222"/>
            </a:avLst>
          </a:prstGeom>
          <a:solidFill>
            <a:srgbClr val="FFFFFF"/>
          </a:solidFill>
          <a:ln w="6350">
            <a:solidFill>
              <a:srgbClr val="DCDCDC"/>
            </a:solidFill>
            <a:prstDash val="solid"/>
          </a:ln>
        </p:spPr>
      </p:sp>
      <p:sp>
        <p:nvSpPr>
          <p:cNvPr id="60" name="text"/>
          <p:cNvSpPr txBox="1"/>
          <p:nvPr/>
        </p:nvSpPr>
        <p:spPr>
          <a:xfrm>
            <a:off x="8887968" y="5111496"/>
            <a:ext cx="2743200" cy="256032"/>
          </a:xfrm>
          <a:prstGeom prst="rect">
            <a:avLst/>
          </a:prstGeom>
          <a:noFill/>
          <a:ln/>
        </p:spPr>
        <p:txBody>
          <a:bodyPr wrap="square" lIns="0" tIns="0" rIns="0" bIns="0" rtlCol="0" anchor="ctr"/>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Tugas 4 sampai 8, Bab 11</a:t>
            </a:r>
            <a:endParaRPr lang="en-US" sz="900" dirty="0"/>
          </a:p>
        </p:txBody>
      </p:sp>
      <p:sp>
        <p:nvSpPr>
          <p:cNvPr id="61" name="legend"/>
          <p:cNvSpPr/>
          <p:nvPr/>
        </p:nvSpPr>
        <p:spPr>
          <a:xfrm>
            <a:off x="8503920" y="5468112"/>
            <a:ext cx="274320" cy="164592"/>
          </a:xfrm>
          <a:prstGeom prst="roundRect">
            <a:avLst>
              <a:gd name="adj" fmla="val 22222"/>
            </a:avLst>
          </a:prstGeom>
          <a:solidFill>
            <a:srgbClr val="5A5A5E"/>
          </a:solidFill>
          <a:ln w="6350">
            <a:solidFill>
              <a:srgbClr val="5A5A5E"/>
            </a:solidFill>
            <a:prstDash val="solid"/>
          </a:ln>
        </p:spPr>
      </p:sp>
      <p:sp>
        <p:nvSpPr>
          <p:cNvPr id="62" name="text"/>
          <p:cNvSpPr txBox="1"/>
          <p:nvPr/>
        </p:nvSpPr>
        <p:spPr>
          <a:xfrm>
            <a:off x="8887968" y="5422392"/>
            <a:ext cx="2743200" cy="256032"/>
          </a:xfrm>
          <a:prstGeom prst="rect">
            <a:avLst/>
          </a:prstGeom>
          <a:noFill/>
          <a:ln/>
        </p:spPr>
        <p:txBody>
          <a:bodyPr wrap="square" lIns="0" tIns="0" rIns="0" bIns="0" rtlCol="0" anchor="ctr"/>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Tugas 9 dan 10, Bab 12</a:t>
            </a:r>
            <a:endParaRPr lang="en-US" sz="90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TIGA AKSI KUNCI MEMBANGUN ORGANISASI YANG MAMPU</a:t>
            </a:r>
            <a:endParaRPr lang="en-US" sz="3000" dirty="0"/>
          </a:p>
        </p:txBody>
      </p:sp>
      <p:sp>
        <p:nvSpPr>
          <p:cNvPr id="3" name="text"/>
          <p:cNvSpPr txBox="1"/>
          <p:nvPr/>
        </p:nvSpPr>
        <p:spPr>
          <a:xfrm>
            <a:off x="7589520" y="713232"/>
            <a:ext cx="4096512" cy="822960"/>
          </a:xfrm>
          <a:prstGeom prst="rect">
            <a:avLst/>
          </a:prstGeom>
          <a:noFill/>
          <a:ln/>
        </p:spPr>
        <p:txBody>
          <a:bodyPr wrap="square" lIns="0" tIns="0" rIns="0" bIns="0" rtlCol="0" anchor="t"/>
          <a:lstStyle/>
          <a:p>
            <a:pPr algn="l" indent="0" marL="0">
              <a:lnSpc>
                <a:spcPct val="112000"/>
              </a:lnSpc>
              <a:buNone/>
            </a:pPr>
            <a:r>
              <a:rPr lang="en-US" sz="1000" dirty="0">
                <a:solidFill>
                  <a:srgbClr val="7A7A7E"/>
                </a:solidFill>
                <a:latin typeface="Inter" pitchFamily="34" charset="0"/>
                <a:ea typeface="Inter" pitchFamily="34" charset="-122"/>
                <a:cs typeface="Inter" pitchFamily="34" charset="-120"/>
              </a:rPr>
              <a:t>Figure 10.2, digambar ulang. Dua aksi pertama menghasilkan capability, aksi ketiga menghasilkan struktur, dan keduanya saling menopang.</a:t>
            </a:r>
            <a:endParaRPr lang="en-US" sz="1000" dirty="0"/>
          </a:p>
        </p:txBody>
      </p:sp>
      <p:sp>
        <p:nvSpPr>
          <p:cNvPr id="4" name="arrow-box"/>
          <p:cNvSpPr/>
          <p:nvPr/>
        </p:nvSpPr>
        <p:spPr>
          <a:xfrm>
            <a:off x="502920" y="1874520"/>
            <a:ext cx="5120640" cy="1097280"/>
          </a:xfrm>
          <a:prstGeom prst="homePlate">
            <a:avLst/>
          </a:prstGeom>
          <a:solidFill>
            <a:srgbClr val="141417"/>
          </a:solidFill>
          <a:ln w="6350">
            <a:solidFill>
              <a:srgbClr val="141417"/>
            </a:solidFill>
            <a:prstDash val="solid"/>
          </a:ln>
        </p:spPr>
      </p:sp>
      <p:sp>
        <p:nvSpPr>
          <p:cNvPr id="5" name="text"/>
          <p:cNvSpPr txBox="1"/>
          <p:nvPr/>
        </p:nvSpPr>
        <p:spPr>
          <a:xfrm>
            <a:off x="704088" y="2002536"/>
            <a:ext cx="4023360" cy="502920"/>
          </a:xfrm>
          <a:prstGeom prst="rect">
            <a:avLst/>
          </a:prstGeom>
          <a:noFill/>
          <a:ln/>
        </p:spPr>
        <p:txBody>
          <a:bodyPr wrap="square" lIns="0" tIns="0" rIns="0" bIns="0" rtlCol="0" anchor="t"/>
          <a:lstStyle/>
          <a:p>
            <a:pPr algn="l" indent="0" marL="0">
              <a:lnSpc>
                <a:spcPct val="100000"/>
              </a:lnSpc>
              <a:buNone/>
            </a:pPr>
            <a:r>
              <a:rPr lang="en-US" sz="1050" b="1" dirty="0">
                <a:solidFill>
                  <a:srgbClr val="D4FC00"/>
                </a:solidFill>
                <a:latin typeface="Inter" pitchFamily="34" charset="0"/>
                <a:ea typeface="Inter" pitchFamily="34" charset="-122"/>
                <a:cs typeface="Inter" pitchFamily="34" charset="-120"/>
              </a:rPr>
              <a:t>Staffing the Organization</a:t>
            </a:r>
            <a:endParaRPr lang="en-US" sz="1050" dirty="0"/>
          </a:p>
        </p:txBody>
      </p:sp>
      <p:sp>
        <p:nvSpPr>
          <p:cNvPr id="6" name="text"/>
          <p:cNvSpPr txBox="1"/>
          <p:nvPr/>
        </p:nvSpPr>
        <p:spPr>
          <a:xfrm>
            <a:off x="704088" y="2331720"/>
            <a:ext cx="4023360" cy="594360"/>
          </a:xfrm>
          <a:prstGeom prst="rect">
            <a:avLst/>
          </a:prstGeom>
          <a:noFill/>
          <a:ln/>
        </p:spPr>
        <p:txBody>
          <a:bodyPr wrap="square" lIns="0" tIns="0" rIns="0" bIns="0" rtlCol="0" anchor="t"/>
          <a:lstStyle/>
          <a:p>
            <a:pPr algn="l" indent="0" marL="0">
              <a:lnSpc>
                <a:spcPct val="112000"/>
              </a:lnSpc>
              <a:buNone/>
            </a:pPr>
            <a:r>
              <a:rPr lang="en-US" sz="900" dirty="0">
                <a:solidFill>
                  <a:srgbClr val="E8E8EA"/>
                </a:solidFill>
                <a:latin typeface="Inter" pitchFamily="34" charset="0"/>
                <a:ea typeface="Inter" pitchFamily="34" charset="-122"/>
                <a:cs typeface="Inter" pitchFamily="34" charset="-120"/>
              </a:rPr>
              <a:t>Tim manajemen yang kuat; merekrut, melatih, dan mempertahankan karyawan berbakat.</a:t>
            </a:r>
            <a:endParaRPr lang="en-US" sz="900" dirty="0"/>
          </a:p>
        </p:txBody>
      </p:sp>
      <p:sp>
        <p:nvSpPr>
          <p:cNvPr id="7" name="arrow-box"/>
          <p:cNvSpPr/>
          <p:nvPr/>
        </p:nvSpPr>
        <p:spPr>
          <a:xfrm>
            <a:off x="502920" y="3099816"/>
            <a:ext cx="5120640" cy="1371600"/>
          </a:xfrm>
          <a:prstGeom prst="homePlate">
            <a:avLst/>
          </a:prstGeom>
          <a:solidFill>
            <a:srgbClr val="3A3A3E"/>
          </a:solidFill>
          <a:ln w="6350">
            <a:solidFill>
              <a:srgbClr val="3A3A3E"/>
            </a:solidFill>
            <a:prstDash val="solid"/>
          </a:ln>
        </p:spPr>
      </p:sp>
      <p:sp>
        <p:nvSpPr>
          <p:cNvPr id="8" name="text"/>
          <p:cNvSpPr txBox="1"/>
          <p:nvPr/>
        </p:nvSpPr>
        <p:spPr>
          <a:xfrm>
            <a:off x="704088" y="3227832"/>
            <a:ext cx="4023360" cy="502920"/>
          </a:xfrm>
          <a:prstGeom prst="rect">
            <a:avLst/>
          </a:prstGeom>
          <a:noFill/>
          <a:ln/>
        </p:spPr>
        <p:txBody>
          <a:bodyPr wrap="square" lIns="0" tIns="0" rIns="0" bIns="0" rtlCol="0" anchor="t"/>
          <a:lstStyle/>
          <a:p>
            <a:pPr algn="l" indent="0" marL="0">
              <a:lnSpc>
                <a:spcPct val="100000"/>
              </a:lnSpc>
              <a:buNone/>
            </a:pPr>
            <a:r>
              <a:rPr lang="en-US" sz="1050" b="1" dirty="0">
                <a:solidFill>
                  <a:srgbClr val="D4FC00"/>
                </a:solidFill>
                <a:latin typeface="Inter" pitchFamily="34" charset="0"/>
                <a:ea typeface="Inter" pitchFamily="34" charset="-122"/>
                <a:cs typeface="Inter" pitchFamily="34" charset="-120"/>
              </a:rPr>
              <a:t>Acquiring, Developing, and Strengthening Key Resources and Organizational Capabilities</a:t>
            </a:r>
            <a:endParaRPr lang="en-US" sz="1050" dirty="0"/>
          </a:p>
        </p:txBody>
      </p:sp>
      <p:sp>
        <p:nvSpPr>
          <p:cNvPr id="9" name="text"/>
          <p:cNvSpPr txBox="1"/>
          <p:nvPr/>
        </p:nvSpPr>
        <p:spPr>
          <a:xfrm>
            <a:off x="704088" y="3721608"/>
            <a:ext cx="4023360" cy="868680"/>
          </a:xfrm>
          <a:prstGeom prst="rect">
            <a:avLst/>
          </a:prstGeom>
          <a:noFill/>
          <a:ln/>
        </p:spPr>
        <p:txBody>
          <a:bodyPr wrap="square" lIns="0" tIns="0" rIns="0" bIns="0" rtlCol="0" anchor="t"/>
          <a:lstStyle/>
          <a:p>
            <a:pPr algn="l" indent="0" marL="0">
              <a:lnSpc>
                <a:spcPct val="112000"/>
              </a:lnSpc>
              <a:buNone/>
            </a:pPr>
            <a:r>
              <a:rPr lang="en-US" sz="900" dirty="0">
                <a:solidFill>
                  <a:srgbClr val="E8E8EA"/>
                </a:solidFill>
                <a:latin typeface="Inter" pitchFamily="34" charset="0"/>
                <a:ea typeface="Inter" pitchFamily="34" charset="-122"/>
                <a:cs typeface="Inter" pitchFamily="34" charset="-120"/>
              </a:rPr>
              <a:t>Membangun capability yang sesuai strategi, memperbaruinya saat kondisi berubah, menjaga pengetahuan lewat pelatihan.</a:t>
            </a:r>
            <a:endParaRPr lang="en-US" sz="900" dirty="0"/>
          </a:p>
        </p:txBody>
      </p:sp>
      <p:sp>
        <p:nvSpPr>
          <p:cNvPr id="10" name="arrow-box"/>
          <p:cNvSpPr/>
          <p:nvPr/>
        </p:nvSpPr>
        <p:spPr>
          <a:xfrm>
            <a:off x="502920" y="4599432"/>
            <a:ext cx="5120640" cy="1188720"/>
          </a:xfrm>
          <a:prstGeom prst="homePlate">
            <a:avLst/>
          </a:prstGeom>
          <a:solidFill>
            <a:srgbClr val="141417"/>
          </a:solidFill>
          <a:ln w="6350">
            <a:solidFill>
              <a:srgbClr val="141417"/>
            </a:solidFill>
            <a:prstDash val="solid"/>
          </a:ln>
        </p:spPr>
      </p:sp>
      <p:sp>
        <p:nvSpPr>
          <p:cNvPr id="11" name="text"/>
          <p:cNvSpPr txBox="1"/>
          <p:nvPr/>
        </p:nvSpPr>
        <p:spPr>
          <a:xfrm>
            <a:off x="704088" y="4727448"/>
            <a:ext cx="4023360" cy="502920"/>
          </a:xfrm>
          <a:prstGeom prst="rect">
            <a:avLst/>
          </a:prstGeom>
          <a:noFill/>
          <a:ln/>
        </p:spPr>
        <p:txBody>
          <a:bodyPr wrap="square" lIns="0" tIns="0" rIns="0" bIns="0" rtlCol="0" anchor="t"/>
          <a:lstStyle/>
          <a:p>
            <a:pPr algn="l" indent="0" marL="0">
              <a:lnSpc>
                <a:spcPct val="100000"/>
              </a:lnSpc>
              <a:buNone/>
            </a:pPr>
            <a:r>
              <a:rPr lang="en-US" sz="1050" b="1" dirty="0">
                <a:solidFill>
                  <a:srgbClr val="D4FC00"/>
                </a:solidFill>
                <a:latin typeface="Inter" pitchFamily="34" charset="0"/>
                <a:ea typeface="Inter" pitchFamily="34" charset="-122"/>
                <a:cs typeface="Inter" pitchFamily="34" charset="-120"/>
              </a:rPr>
              <a:t>Structuring the Organization and Work Effort</a:t>
            </a:r>
            <a:endParaRPr lang="en-US" sz="1050" dirty="0"/>
          </a:p>
        </p:txBody>
      </p:sp>
      <p:sp>
        <p:nvSpPr>
          <p:cNvPr id="12" name="text"/>
          <p:cNvSpPr txBox="1"/>
          <p:nvPr/>
        </p:nvSpPr>
        <p:spPr>
          <a:xfrm>
            <a:off x="704088" y="5056632"/>
            <a:ext cx="4023360" cy="685800"/>
          </a:xfrm>
          <a:prstGeom prst="rect">
            <a:avLst/>
          </a:prstGeom>
          <a:noFill/>
          <a:ln/>
        </p:spPr>
        <p:txBody>
          <a:bodyPr wrap="square" lIns="0" tIns="0" rIns="0" bIns="0" rtlCol="0" anchor="t"/>
          <a:lstStyle/>
          <a:p>
            <a:pPr algn="l" indent="0" marL="0">
              <a:lnSpc>
                <a:spcPct val="112000"/>
              </a:lnSpc>
              <a:buNone/>
            </a:pPr>
            <a:r>
              <a:rPr lang="en-US" sz="900" dirty="0">
                <a:solidFill>
                  <a:srgbClr val="E8E8EA"/>
                </a:solidFill>
                <a:latin typeface="Inter" pitchFamily="34" charset="0"/>
                <a:ea typeface="Inter" pitchFamily="34" charset="-122"/>
                <a:cs typeface="Inter" pitchFamily="34" charset="-120"/>
              </a:rPr>
              <a:t>Pengaturan organisasi, garis wewenang dan pelaporan, serta derajat delegasi.</a:t>
            </a:r>
            <a:endParaRPr lang="en-US" sz="900" dirty="0"/>
          </a:p>
        </p:txBody>
      </p:sp>
      <p:sp>
        <p:nvSpPr>
          <p:cNvPr id="13" name="card"/>
          <p:cNvSpPr/>
          <p:nvPr/>
        </p:nvSpPr>
        <p:spPr>
          <a:xfrm>
            <a:off x="5989320" y="1874520"/>
            <a:ext cx="2651760" cy="2596896"/>
          </a:xfrm>
          <a:prstGeom prst="roundRect">
            <a:avLst>
              <a:gd name="adj" fmla="val 3521"/>
            </a:avLst>
          </a:prstGeom>
          <a:solidFill>
            <a:srgbClr val="D4FC00"/>
          </a:solidFill>
          <a:ln w="6350">
            <a:solidFill>
              <a:srgbClr val="D4FC00"/>
            </a:solidFill>
            <a:prstDash val="solid"/>
          </a:ln>
        </p:spPr>
      </p:sp>
      <p:sp>
        <p:nvSpPr>
          <p:cNvPr id="14" name="text"/>
          <p:cNvSpPr txBox="1"/>
          <p:nvPr/>
        </p:nvSpPr>
        <p:spPr>
          <a:xfrm>
            <a:off x="6172200" y="1874520"/>
            <a:ext cx="2286000" cy="2596896"/>
          </a:xfrm>
          <a:prstGeom prst="rect">
            <a:avLst/>
          </a:prstGeom>
          <a:noFill/>
          <a:ln/>
        </p:spPr>
        <p:txBody>
          <a:bodyPr wrap="square" lIns="0" tIns="0" rIns="0" bIns="0" rtlCol="0" anchor="ctr"/>
          <a:lstStyle/>
          <a:p>
            <a:pPr algn="ctr" indent="0" marL="0">
              <a:lnSpc>
                <a:spcPct val="112000"/>
              </a:lnSpc>
              <a:buNone/>
            </a:pPr>
            <a:r>
              <a:rPr lang="en-US" sz="1100" b="1" dirty="0">
                <a:solidFill>
                  <a:srgbClr val="1C1C1E"/>
                </a:solidFill>
                <a:latin typeface="Inter" pitchFamily="34" charset="0"/>
                <a:ea typeface="Inter" pitchFamily="34" charset="-122"/>
                <a:cs typeface="Inter" pitchFamily="34" charset="-120"/>
              </a:rPr>
              <a:t>Strategy-Supportive Resources and Organizational Capabilities</a:t>
            </a:r>
            <a:endParaRPr lang="en-US" sz="1100" dirty="0"/>
          </a:p>
        </p:txBody>
      </p:sp>
      <p:sp>
        <p:nvSpPr>
          <p:cNvPr id="15" name="card"/>
          <p:cNvSpPr/>
          <p:nvPr/>
        </p:nvSpPr>
        <p:spPr>
          <a:xfrm>
            <a:off x="5989320" y="4599432"/>
            <a:ext cx="2651760" cy="1188720"/>
          </a:xfrm>
          <a:prstGeom prst="roundRect">
            <a:avLst>
              <a:gd name="adj" fmla="val 7692"/>
            </a:avLst>
          </a:prstGeom>
          <a:solidFill>
            <a:srgbClr val="5A5A5E"/>
          </a:solidFill>
          <a:ln w="6350">
            <a:solidFill>
              <a:srgbClr val="5A5A5E"/>
            </a:solidFill>
            <a:prstDash val="solid"/>
          </a:ln>
        </p:spPr>
      </p:sp>
      <p:sp>
        <p:nvSpPr>
          <p:cNvPr id="16" name="text"/>
          <p:cNvSpPr txBox="1"/>
          <p:nvPr/>
        </p:nvSpPr>
        <p:spPr>
          <a:xfrm>
            <a:off x="6172200" y="4599432"/>
            <a:ext cx="2286000" cy="1188720"/>
          </a:xfrm>
          <a:prstGeom prst="rect">
            <a:avLst/>
          </a:prstGeom>
          <a:noFill/>
          <a:ln/>
        </p:spPr>
        <p:txBody>
          <a:bodyPr wrap="square" lIns="0" tIns="0" rIns="0" bIns="0" rtlCol="0" anchor="ctr"/>
          <a:lstStyle/>
          <a:p>
            <a:pPr algn="ctr" indent="0" marL="0">
              <a:lnSpc>
                <a:spcPct val="112000"/>
              </a:lnSpc>
              <a:buNone/>
            </a:pPr>
            <a:r>
              <a:rPr lang="en-US" sz="1100" b="1" dirty="0">
                <a:solidFill>
                  <a:srgbClr val="FFFFFF"/>
                </a:solidFill>
                <a:latin typeface="Inter" pitchFamily="34" charset="0"/>
                <a:ea typeface="Inter" pitchFamily="34" charset="-122"/>
                <a:cs typeface="Inter" pitchFamily="34" charset="-120"/>
              </a:rPr>
              <a:t>Strategy-Supportive Organizational Structure</a:t>
            </a:r>
            <a:endParaRPr lang="en-US" sz="1100" dirty="0"/>
          </a:p>
        </p:txBody>
      </p:sp>
      <p:sp>
        <p:nvSpPr>
          <p:cNvPr id="17" name="saling menopang"/>
          <p:cNvSpPr/>
          <p:nvPr/>
        </p:nvSpPr>
        <p:spPr>
          <a:xfrm>
            <a:off x="7187184" y="4361688"/>
            <a:ext cx="256032" cy="347472"/>
          </a:xfrm>
          <a:prstGeom prst="upDownArrow">
            <a:avLst/>
          </a:prstGeom>
          <a:solidFill>
            <a:srgbClr val="141417"/>
          </a:solidFill>
          <a:ln w="6350">
            <a:solidFill>
              <a:srgbClr val="141417"/>
            </a:solidFill>
            <a:prstDash val="solid"/>
          </a:ln>
        </p:spPr>
      </p:sp>
      <p:pic>
        <p:nvPicPr>
          <p:cNvPr id="18" name="Foto atrium kantor" descr="preencoded.png">    </p:cNvPr>
          <p:cNvPicPr>
            <a:picLocks noChangeAspect="1"/>
          </p:cNvPicPr>
          <p:nvPr/>
        </p:nvPicPr>
        <p:blipFill>
          <a:blip r:embed="rId1"/>
          <a:stretch>
            <a:fillRect/>
          </a:stretch>
        </p:blipFill>
        <p:spPr>
          <a:xfrm>
            <a:off x="8915400" y="1874520"/>
            <a:ext cx="2773375" cy="3913632"/>
          </a:xfrm>
          <a:prstGeom prst="rect">
            <a:avLst/>
          </a:prstGeom>
        </p:spPr>
      </p:pic>
      <p:sp>
        <p:nvSpPr>
          <p:cNvPr id="19" name="text"/>
          <p:cNvSpPr txBox="1"/>
          <p:nvPr/>
        </p:nvSpPr>
        <p:spPr>
          <a:xfrm>
            <a:off x="502920" y="6007608"/>
            <a:ext cx="11185855" cy="548640"/>
          </a:xfrm>
          <a:prstGeom prst="rect">
            <a:avLst/>
          </a:prstGeom>
          <a:noFill/>
          <a:ln/>
        </p:spPr>
        <p:txBody>
          <a:bodyPr wrap="square" lIns="0" tIns="0" rIns="0" bIns="0" rtlCol="0" anchor="t"/>
          <a:lstStyle/>
          <a:p>
            <a:pPr algn="l" indent="0" marL="0">
              <a:lnSpc>
                <a:spcPct val="112000"/>
              </a:lnSpc>
              <a:buNone/>
            </a:pPr>
            <a:r>
              <a:rPr lang="en-US" sz="950" dirty="0">
                <a:solidFill>
                  <a:srgbClr val="7A7A7E"/>
                </a:solidFill>
                <a:latin typeface="Inter" pitchFamily="34" charset="0"/>
                <a:ea typeface="Inter" pitchFamily="34" charset="-122"/>
                <a:cs typeface="Inter" pitchFamily="34" charset="-120"/>
              </a:rPr>
              <a:t>Mengapa ketiganya didahulukan: eksekusi yang mahir bergantung pertama-tama pada organisasi yang mampu, dan strategic assets terdepresiasi sehingga pembaruan diperlukan bahkan saat strategi tidak berubah.</a:t>
            </a:r>
            <a:endParaRPr lang="en-US" sz="9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MENYUSUN TIM MANAJEMEN YANG KUAT</a:t>
            </a:r>
            <a:endParaRPr lang="en-US" sz="3000" dirty="0"/>
          </a:p>
        </p:txBody>
      </p:sp>
      <p:pic>
        <p:nvPicPr>
          <p:cNvPr id="3" name="Foto eksekutif berdiskusi" descr="preencoded.png">    </p:cNvPr>
          <p:cNvPicPr>
            <a:picLocks noChangeAspect="1"/>
          </p:cNvPicPr>
          <p:nvPr/>
        </p:nvPicPr>
        <p:blipFill>
          <a:blip r:embed="rId1"/>
          <a:stretch>
            <a:fillRect/>
          </a:stretch>
        </p:blipFill>
        <p:spPr>
          <a:xfrm>
            <a:off x="502920" y="1874520"/>
            <a:ext cx="4572000" cy="3429000"/>
          </a:xfrm>
          <a:prstGeom prst="rect">
            <a:avLst/>
          </a:prstGeom>
        </p:spPr>
      </p:pic>
      <p:sp>
        <p:nvSpPr>
          <p:cNvPr id="4" name="card"/>
          <p:cNvSpPr/>
          <p:nvPr/>
        </p:nvSpPr>
        <p:spPr>
          <a:xfrm>
            <a:off x="502920" y="5440680"/>
            <a:ext cx="4572000" cy="914400"/>
          </a:xfrm>
          <a:prstGeom prst="roundRect">
            <a:avLst>
              <a:gd name="adj" fmla="val 10000"/>
            </a:avLst>
          </a:prstGeom>
          <a:solidFill>
            <a:srgbClr val="D4FC00"/>
          </a:solidFill>
          <a:ln w="6350">
            <a:solidFill>
              <a:srgbClr val="D4FC00"/>
            </a:solidFill>
            <a:prstDash val="solid"/>
          </a:ln>
        </p:spPr>
      </p:sp>
      <p:sp>
        <p:nvSpPr>
          <p:cNvPr id="5" name="text"/>
          <p:cNvSpPr txBox="1"/>
          <p:nvPr/>
        </p:nvSpPr>
        <p:spPr>
          <a:xfrm>
            <a:off x="685800" y="5440680"/>
            <a:ext cx="4206240" cy="914400"/>
          </a:xfrm>
          <a:prstGeom prst="rect">
            <a:avLst/>
          </a:prstGeom>
          <a:noFill/>
          <a:ln/>
        </p:spPr>
        <p:txBody>
          <a:bodyPr wrap="square" lIns="0" tIns="0" rIns="0" bIns="0" rtlCol="0" anchor="ctr"/>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Mengapa penting: tanpa tim yang kapabel dan berorientasi hasil, tenggat meleset, upaya salah arah, dan mutu kerja di bawah eksekutif yang lemah ikut merosot.</a:t>
            </a:r>
            <a:endParaRPr lang="en-US" sz="950" dirty="0"/>
          </a:p>
        </p:txBody>
      </p:sp>
      <p:sp>
        <p:nvSpPr>
          <p:cNvPr id="6" name="card"/>
          <p:cNvSpPr/>
          <p:nvPr/>
        </p:nvSpPr>
        <p:spPr>
          <a:xfrm>
            <a:off x="5257800" y="1874520"/>
            <a:ext cx="6430975" cy="1389888"/>
          </a:xfrm>
          <a:prstGeom prst="roundRect">
            <a:avLst>
              <a:gd name="adj" fmla="val 6579"/>
            </a:avLst>
          </a:prstGeom>
          <a:solidFill>
            <a:srgbClr val="FFFFFF"/>
          </a:solidFill>
          <a:ln w="6350">
            <a:solidFill>
              <a:srgbClr val="FFFFFF"/>
            </a:solidFill>
            <a:prstDash val="solid"/>
          </a:ln>
        </p:spPr>
      </p:sp>
      <p:sp>
        <p:nvSpPr>
          <p:cNvPr id="7" name="text"/>
          <p:cNvSpPr txBox="1"/>
          <p:nvPr/>
        </p:nvSpPr>
        <p:spPr>
          <a:xfrm>
            <a:off x="5458968" y="2039112"/>
            <a:ext cx="6028639" cy="274320"/>
          </a:xfrm>
          <a:prstGeom prst="rect">
            <a:avLst/>
          </a:prstGeom>
          <a:noFill/>
          <a:ln/>
        </p:spPr>
        <p:txBody>
          <a:bodyPr wrap="square" lIns="0" tIns="0" rIns="0" bIns="0" rtlCol="0" anchor="t"/>
          <a:lstStyle/>
          <a:p>
            <a:pPr algn="l" indent="0" marL="0">
              <a:lnSpc>
                <a:spcPct val="112000"/>
              </a:lnSpc>
              <a:buNone/>
            </a:pPr>
            <a:r>
              <a:rPr lang="en-US" sz="1100" b="1" dirty="0">
                <a:solidFill>
                  <a:srgbClr val="141417"/>
                </a:solidFill>
                <a:latin typeface="Inter" pitchFamily="34" charset="0"/>
                <a:ea typeface="Inter" pitchFamily="34" charset="-122"/>
                <a:cs typeface="Inter" pitchFamily="34" charset="-120"/>
              </a:rPr>
              <a:t>Profil yang dicari</a:t>
            </a:r>
            <a:endParaRPr lang="en-US" sz="1100" dirty="0"/>
          </a:p>
        </p:txBody>
      </p:sp>
      <p:sp>
        <p:nvSpPr>
          <p:cNvPr id="8" name="text"/>
          <p:cNvSpPr txBox="1"/>
          <p:nvPr/>
        </p:nvSpPr>
        <p:spPr>
          <a:xfrm>
            <a:off x="5458968" y="2331720"/>
            <a:ext cx="6028639" cy="886968"/>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Berpikir jernih, mahir mengelola orang, paham detail bisnis, dan terbukti menyelesaikan pekerjaan. Emotional intelligence tinggi dan konsisten menindaklanjuti.</a:t>
            </a:r>
            <a:endParaRPr lang="en-US" sz="950" dirty="0"/>
          </a:p>
        </p:txBody>
      </p:sp>
      <p:sp>
        <p:nvSpPr>
          <p:cNvPr id="9" name="card"/>
          <p:cNvSpPr/>
          <p:nvPr/>
        </p:nvSpPr>
        <p:spPr>
          <a:xfrm>
            <a:off x="5257800" y="3419856"/>
            <a:ext cx="6430975" cy="1389888"/>
          </a:xfrm>
          <a:prstGeom prst="roundRect">
            <a:avLst>
              <a:gd name="adj" fmla="val 6579"/>
            </a:avLst>
          </a:prstGeom>
          <a:solidFill>
            <a:srgbClr val="FFFFFF"/>
          </a:solidFill>
          <a:ln w="6350">
            <a:solidFill>
              <a:srgbClr val="FFFFFF"/>
            </a:solidFill>
            <a:prstDash val="solid"/>
          </a:ln>
        </p:spPr>
      </p:sp>
      <p:sp>
        <p:nvSpPr>
          <p:cNvPr id="10" name="text"/>
          <p:cNvSpPr txBox="1"/>
          <p:nvPr/>
        </p:nvSpPr>
        <p:spPr>
          <a:xfrm>
            <a:off x="5458968" y="3584448"/>
            <a:ext cx="6028639" cy="274320"/>
          </a:xfrm>
          <a:prstGeom prst="rect">
            <a:avLst/>
          </a:prstGeom>
          <a:noFill/>
          <a:ln/>
        </p:spPr>
        <p:txBody>
          <a:bodyPr wrap="square" lIns="0" tIns="0" rIns="0" bIns="0" rtlCol="0" anchor="t"/>
          <a:lstStyle/>
          <a:p>
            <a:pPr algn="l" indent="0" marL="0">
              <a:lnSpc>
                <a:spcPct val="112000"/>
              </a:lnSpc>
              <a:buNone/>
            </a:pPr>
            <a:r>
              <a:rPr lang="en-US" sz="1100" b="1" dirty="0">
                <a:solidFill>
                  <a:srgbClr val="141417"/>
                </a:solidFill>
                <a:latin typeface="Inter" pitchFamily="34" charset="0"/>
                <a:ea typeface="Inter" pitchFamily="34" charset="-122"/>
                <a:cs typeface="Inter" pitchFamily="34" charset="-120"/>
              </a:rPr>
              <a:t>Cara memperkuat tim</a:t>
            </a:r>
            <a:endParaRPr lang="en-US" sz="1100" dirty="0"/>
          </a:p>
        </p:txBody>
      </p:sp>
      <p:sp>
        <p:nvSpPr>
          <p:cNvPr id="11" name="text"/>
          <p:cNvSpPr txBox="1"/>
          <p:nvPr/>
        </p:nvSpPr>
        <p:spPr>
          <a:xfrm>
            <a:off x="5458968" y="3877056"/>
            <a:ext cx="6028639" cy="886968"/>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Promosi dari dalam atau rekrut dari luar. Perekrutan eksternal lazim saat turnaround, pertumbuhan cepat, atau know-how tidak tersedia. Manajer yang tidak mampu berubah diganti.</a:t>
            </a:r>
            <a:endParaRPr lang="en-US" sz="950" dirty="0"/>
          </a:p>
        </p:txBody>
      </p:sp>
      <p:sp>
        <p:nvSpPr>
          <p:cNvPr id="12" name="card"/>
          <p:cNvSpPr/>
          <p:nvPr/>
        </p:nvSpPr>
        <p:spPr>
          <a:xfrm>
            <a:off x="5257800" y="4965192"/>
            <a:ext cx="6430975" cy="1389888"/>
          </a:xfrm>
          <a:prstGeom prst="roundRect">
            <a:avLst>
              <a:gd name="adj" fmla="val 6579"/>
            </a:avLst>
          </a:prstGeom>
          <a:solidFill>
            <a:srgbClr val="141417"/>
          </a:solidFill>
          <a:ln w="6350">
            <a:solidFill>
              <a:srgbClr val="141417"/>
            </a:solidFill>
            <a:prstDash val="solid"/>
          </a:ln>
        </p:spPr>
      </p:sp>
      <p:sp>
        <p:nvSpPr>
          <p:cNvPr id="13" name="text"/>
          <p:cNvSpPr txBox="1"/>
          <p:nvPr/>
        </p:nvSpPr>
        <p:spPr>
          <a:xfrm>
            <a:off x="5458968" y="5129784"/>
            <a:ext cx="6028639" cy="274320"/>
          </a:xfrm>
          <a:prstGeom prst="rect">
            <a:avLst/>
          </a:prstGeom>
          <a:noFill/>
          <a:ln/>
        </p:spPr>
        <p:txBody>
          <a:bodyPr wrap="square" lIns="0" tIns="0" rIns="0" bIns="0" rtlCol="0" anchor="t"/>
          <a:lstStyle/>
          <a:p>
            <a:pPr algn="l" indent="0" marL="0">
              <a:lnSpc>
                <a:spcPct val="112000"/>
              </a:lnSpc>
              <a:buNone/>
            </a:pPr>
            <a:r>
              <a:rPr lang="en-US" sz="1100" b="1" dirty="0">
                <a:solidFill>
                  <a:srgbClr val="D4FC00"/>
                </a:solidFill>
                <a:latin typeface="Inter" pitchFamily="34" charset="0"/>
                <a:ea typeface="Inter" pitchFamily="34" charset="-122"/>
                <a:cs typeface="Inter" pitchFamily="34" charset="-120"/>
              </a:rPr>
              <a:t>Tujuannya</a:t>
            </a:r>
            <a:endParaRPr lang="en-US" sz="1100" dirty="0"/>
          </a:p>
        </p:txBody>
      </p:sp>
      <p:sp>
        <p:nvSpPr>
          <p:cNvPr id="14" name="text"/>
          <p:cNvSpPr txBox="1"/>
          <p:nvPr/>
        </p:nvSpPr>
        <p:spPr>
          <a:xfrm>
            <a:off x="5458968" y="5422392"/>
            <a:ext cx="6028639" cy="886968"/>
          </a:xfrm>
          <a:prstGeom prst="rect">
            <a:avLst/>
          </a:prstGeom>
          <a:noFill/>
          <a:ln/>
        </p:spPr>
        <p:txBody>
          <a:bodyPr wrap="square" lIns="0" tIns="0" rIns="0" bIns="0" rtlCol="0" anchor="t"/>
          <a:lstStyle/>
          <a:p>
            <a:pPr algn="l" indent="0" marL="0">
              <a:lnSpc>
                <a:spcPct val="112000"/>
              </a:lnSpc>
              <a:buNone/>
            </a:pPr>
            <a:r>
              <a:rPr lang="en-US" sz="950" dirty="0">
                <a:solidFill>
                  <a:srgbClr val="E8E8EA"/>
                </a:solidFill>
                <a:latin typeface="Inter" pitchFamily="34" charset="0"/>
                <a:ea typeface="Inter" pitchFamily="34" charset="-122"/>
                <a:cs typeface="Inter" pitchFamily="34" charset="-120"/>
              </a:rPr>
              <a:t>Critical mass manajer berbakat yang menjadi agents of change. Tim puncak yang beragam memperkaya keputusan (IC 10.1: Mary Barra, Satya Nadella, Rosalind Brewer).</a:t>
            </a:r>
            <a:endParaRPr lang="en-US" sz="9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MEREKRUT, MELATIH, DAN MEMPERTAHANKAN KARYAWAN</a:t>
            </a:r>
            <a:endParaRPr lang="en-US" sz="3000" dirty="0"/>
          </a:p>
        </p:txBody>
      </p:sp>
      <p:sp>
        <p:nvSpPr>
          <p:cNvPr id="3" name="text"/>
          <p:cNvSpPr txBox="1"/>
          <p:nvPr/>
        </p:nvSpPr>
        <p:spPr>
          <a:xfrm>
            <a:off x="502920" y="1783080"/>
            <a:ext cx="6583680" cy="502920"/>
          </a:xfrm>
          <a:prstGeom prst="rect">
            <a:avLst/>
          </a:prstGeom>
          <a:noFill/>
          <a:ln/>
        </p:spPr>
        <p:txBody>
          <a:bodyPr wrap="square" lIns="0" tIns="0" rIns="0" bIns="0" rtlCol="0" anchor="t"/>
          <a:lstStyle/>
          <a:p>
            <a:pPr algn="l" indent="0" marL="0">
              <a:lnSpc>
                <a:spcPct val="112000"/>
              </a:lnSpc>
              <a:buNone/>
            </a:pPr>
            <a:r>
              <a:rPr lang="en-US" sz="1000" dirty="0">
                <a:solidFill>
                  <a:srgbClr val="7A7A7E"/>
                </a:solidFill>
                <a:latin typeface="Inter" pitchFamily="34" charset="0"/>
                <a:ea typeface="Inter" pitchFamily="34" charset="-122"/>
                <a:cs typeface="Inter" pitchFamily="34" charset="-120"/>
              </a:rPr>
              <a:t>Tim manajemen saja tidak cukup. Di banyak industri, menambah talenta dan intellectual capital lebih menentukan daripada tambahan investasi proyek modal.</a:t>
            </a:r>
            <a:endParaRPr lang="en-US" sz="1000" dirty="0"/>
          </a:p>
        </p:txBody>
      </p:sp>
      <p:sp>
        <p:nvSpPr>
          <p:cNvPr id="4" name="card"/>
          <p:cNvSpPr/>
          <p:nvPr/>
        </p:nvSpPr>
        <p:spPr>
          <a:xfrm>
            <a:off x="502920" y="2423160"/>
            <a:ext cx="3227832" cy="1325880"/>
          </a:xfrm>
          <a:prstGeom prst="roundRect">
            <a:avLst>
              <a:gd name="adj" fmla="val 6897"/>
            </a:avLst>
          </a:prstGeom>
          <a:solidFill>
            <a:srgbClr val="FFFFFF"/>
          </a:solidFill>
          <a:ln w="6350">
            <a:solidFill>
              <a:srgbClr val="FFFFFF"/>
            </a:solidFill>
            <a:prstDash val="solid"/>
          </a:ln>
        </p:spPr>
      </p:sp>
      <p:sp>
        <p:nvSpPr>
          <p:cNvPr id="5" name="icon-bg"/>
          <p:cNvSpPr/>
          <p:nvPr/>
        </p:nvSpPr>
        <p:spPr>
          <a:xfrm>
            <a:off x="667512" y="2587752"/>
            <a:ext cx="365760" cy="365760"/>
          </a:xfrm>
          <a:prstGeom prst="roundRect">
            <a:avLst>
              <a:gd name="adj" fmla="val 20000"/>
            </a:avLst>
          </a:prstGeom>
          <a:solidFill>
            <a:srgbClr val="D4FC00"/>
          </a:solidFill>
          <a:ln w="6350">
            <a:solidFill>
              <a:srgbClr val="D4FC00"/>
            </a:solidFill>
            <a:prstDash val="solid"/>
          </a:ln>
        </p:spPr>
      </p:sp>
      <p:pic>
        <p:nvPicPr>
          <p:cNvPr id="6" name="icon" descr="preencoded.png">    </p:cNvPr>
          <p:cNvPicPr>
            <a:picLocks noChangeAspect="1"/>
          </p:cNvPicPr>
          <p:nvPr/>
        </p:nvPicPr>
        <p:blipFill>
          <a:blip r:embed="rId1"/>
          <a:stretch>
            <a:fillRect/>
          </a:stretch>
        </p:blipFill>
        <p:spPr>
          <a:xfrm>
            <a:off x="758952" y="2679192"/>
            <a:ext cx="182880" cy="182880"/>
          </a:xfrm>
          <a:prstGeom prst="rect">
            <a:avLst/>
          </a:prstGeom>
        </p:spPr>
      </p:pic>
      <p:sp>
        <p:nvSpPr>
          <p:cNvPr id="7" name="text"/>
          <p:cNvSpPr txBox="1"/>
          <p:nvPr/>
        </p:nvSpPr>
        <p:spPr>
          <a:xfrm>
            <a:off x="1143000" y="2624328"/>
            <a:ext cx="2404872" cy="274320"/>
          </a:xfrm>
          <a:prstGeom prst="rect">
            <a:avLst/>
          </a:prstGeom>
          <a:noFill/>
          <a:ln/>
        </p:spPr>
        <p:txBody>
          <a:bodyPr wrap="square" lIns="0" tIns="0" rIns="0" bIns="0" rtlCol="0" anchor="t"/>
          <a:lstStyle/>
          <a:p>
            <a:pPr algn="l" indent="0" marL="0">
              <a:lnSpc>
                <a:spcPct val="112000"/>
              </a:lnSpc>
              <a:buNone/>
            </a:pPr>
            <a:r>
              <a:rPr lang="en-US" sz="1050" b="1" dirty="0">
                <a:solidFill>
                  <a:srgbClr val="1C1C1E"/>
                </a:solidFill>
                <a:latin typeface="Inter" pitchFamily="34" charset="0"/>
                <a:ea typeface="Inter" pitchFamily="34" charset="-122"/>
                <a:cs typeface="Inter" pitchFamily="34" charset="-120"/>
              </a:rPr>
              <a:t>Seleksi dan penugasan</a:t>
            </a:r>
            <a:endParaRPr lang="en-US" sz="1050" dirty="0"/>
          </a:p>
        </p:txBody>
      </p:sp>
      <p:sp>
        <p:nvSpPr>
          <p:cNvPr id="8" name="text"/>
          <p:cNvSpPr txBox="1"/>
          <p:nvPr/>
        </p:nvSpPr>
        <p:spPr>
          <a:xfrm>
            <a:off x="667512" y="3081528"/>
            <a:ext cx="2898648" cy="64008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Saring ketat skill, inisiatif, dan kecocokan budaya; beri tugas yang menantang.</a:t>
            </a:r>
            <a:endParaRPr lang="en-US" sz="900" dirty="0"/>
          </a:p>
        </p:txBody>
      </p:sp>
      <p:sp>
        <p:nvSpPr>
          <p:cNvPr id="9" name="card"/>
          <p:cNvSpPr/>
          <p:nvPr/>
        </p:nvSpPr>
        <p:spPr>
          <a:xfrm>
            <a:off x="3858768" y="2423160"/>
            <a:ext cx="3227832" cy="1325880"/>
          </a:xfrm>
          <a:prstGeom prst="roundRect">
            <a:avLst>
              <a:gd name="adj" fmla="val 6897"/>
            </a:avLst>
          </a:prstGeom>
          <a:solidFill>
            <a:srgbClr val="FFFFFF"/>
          </a:solidFill>
          <a:ln w="6350">
            <a:solidFill>
              <a:srgbClr val="FFFFFF"/>
            </a:solidFill>
            <a:prstDash val="solid"/>
          </a:ln>
        </p:spPr>
      </p:sp>
      <p:sp>
        <p:nvSpPr>
          <p:cNvPr id="10" name="icon-bg"/>
          <p:cNvSpPr/>
          <p:nvPr/>
        </p:nvSpPr>
        <p:spPr>
          <a:xfrm>
            <a:off x="4023360" y="2587752"/>
            <a:ext cx="365760" cy="365760"/>
          </a:xfrm>
          <a:prstGeom prst="roundRect">
            <a:avLst>
              <a:gd name="adj" fmla="val 20000"/>
            </a:avLst>
          </a:prstGeom>
          <a:solidFill>
            <a:srgbClr val="D4FC00"/>
          </a:solidFill>
          <a:ln w="6350">
            <a:solidFill>
              <a:srgbClr val="D4FC00"/>
            </a:solidFill>
            <a:prstDash val="solid"/>
          </a:ln>
        </p:spPr>
      </p:sp>
      <p:pic>
        <p:nvPicPr>
          <p:cNvPr id="11" name="icon" descr="preencoded.png">    </p:cNvPr>
          <p:cNvPicPr>
            <a:picLocks noChangeAspect="1"/>
          </p:cNvPicPr>
          <p:nvPr/>
        </p:nvPicPr>
        <p:blipFill>
          <a:blip r:embed="rId2"/>
          <a:stretch>
            <a:fillRect/>
          </a:stretch>
        </p:blipFill>
        <p:spPr>
          <a:xfrm>
            <a:off x="4114800" y="2679192"/>
            <a:ext cx="182880" cy="182880"/>
          </a:xfrm>
          <a:prstGeom prst="rect">
            <a:avLst/>
          </a:prstGeom>
        </p:spPr>
      </p:pic>
      <p:sp>
        <p:nvSpPr>
          <p:cNvPr id="12" name="text"/>
          <p:cNvSpPr txBox="1"/>
          <p:nvPr/>
        </p:nvSpPr>
        <p:spPr>
          <a:xfrm>
            <a:off x="4498848" y="2624328"/>
            <a:ext cx="2404872" cy="274320"/>
          </a:xfrm>
          <a:prstGeom prst="rect">
            <a:avLst/>
          </a:prstGeom>
          <a:noFill/>
          <a:ln/>
        </p:spPr>
        <p:txBody>
          <a:bodyPr wrap="square" lIns="0" tIns="0" rIns="0" bIns="0" rtlCol="0" anchor="t"/>
          <a:lstStyle/>
          <a:p>
            <a:pPr algn="l" indent="0" marL="0">
              <a:lnSpc>
                <a:spcPct val="112000"/>
              </a:lnSpc>
              <a:buNone/>
            </a:pPr>
            <a:r>
              <a:rPr lang="en-US" sz="1050" b="1" dirty="0">
                <a:solidFill>
                  <a:srgbClr val="1C1C1E"/>
                </a:solidFill>
                <a:latin typeface="Inter" pitchFamily="34" charset="0"/>
                <a:ea typeface="Inter" pitchFamily="34" charset="-122"/>
                <a:cs typeface="Inter" pitchFamily="34" charset="-120"/>
              </a:rPr>
              <a:t>Pelatihan dan rotasi</a:t>
            </a:r>
            <a:endParaRPr lang="en-US" sz="1050" dirty="0"/>
          </a:p>
        </p:txBody>
      </p:sp>
      <p:sp>
        <p:nvSpPr>
          <p:cNvPr id="13" name="text"/>
          <p:cNvSpPr txBox="1"/>
          <p:nvPr/>
        </p:nvSpPr>
        <p:spPr>
          <a:xfrm>
            <a:off x="4023360" y="3081528"/>
            <a:ext cx="2898648" cy="64008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Program belajar sepanjang karier; rotasi lintas fungsi dan negara.</a:t>
            </a:r>
            <a:endParaRPr lang="en-US" sz="900" dirty="0"/>
          </a:p>
        </p:txBody>
      </p:sp>
      <p:sp>
        <p:nvSpPr>
          <p:cNvPr id="14" name="card"/>
          <p:cNvSpPr/>
          <p:nvPr/>
        </p:nvSpPr>
        <p:spPr>
          <a:xfrm>
            <a:off x="502920" y="3877056"/>
            <a:ext cx="3227832" cy="1325880"/>
          </a:xfrm>
          <a:prstGeom prst="roundRect">
            <a:avLst>
              <a:gd name="adj" fmla="val 6897"/>
            </a:avLst>
          </a:prstGeom>
          <a:solidFill>
            <a:srgbClr val="FFFFFF"/>
          </a:solidFill>
          <a:ln w="6350">
            <a:solidFill>
              <a:srgbClr val="FFFFFF"/>
            </a:solidFill>
            <a:prstDash val="solid"/>
          </a:ln>
        </p:spPr>
      </p:sp>
      <p:sp>
        <p:nvSpPr>
          <p:cNvPr id="15" name="icon-bg"/>
          <p:cNvSpPr/>
          <p:nvPr/>
        </p:nvSpPr>
        <p:spPr>
          <a:xfrm>
            <a:off x="667512" y="4041648"/>
            <a:ext cx="365760" cy="365760"/>
          </a:xfrm>
          <a:prstGeom prst="roundRect">
            <a:avLst>
              <a:gd name="adj" fmla="val 20000"/>
            </a:avLst>
          </a:prstGeom>
          <a:solidFill>
            <a:srgbClr val="D4FC00"/>
          </a:solidFill>
          <a:ln w="6350">
            <a:solidFill>
              <a:srgbClr val="D4FC00"/>
            </a:solidFill>
            <a:prstDash val="solid"/>
          </a:ln>
        </p:spPr>
      </p:sp>
      <p:pic>
        <p:nvPicPr>
          <p:cNvPr id="16" name="icon" descr="preencoded.png">    </p:cNvPr>
          <p:cNvPicPr>
            <a:picLocks noChangeAspect="1"/>
          </p:cNvPicPr>
          <p:nvPr/>
        </p:nvPicPr>
        <p:blipFill>
          <a:blip r:embed="rId3"/>
          <a:stretch>
            <a:fillRect/>
          </a:stretch>
        </p:blipFill>
        <p:spPr>
          <a:xfrm>
            <a:off x="758952" y="4133088"/>
            <a:ext cx="182880" cy="182880"/>
          </a:xfrm>
          <a:prstGeom prst="rect">
            <a:avLst/>
          </a:prstGeom>
        </p:spPr>
      </p:pic>
      <p:sp>
        <p:nvSpPr>
          <p:cNvPr id="17" name="text"/>
          <p:cNvSpPr txBox="1"/>
          <p:nvPr/>
        </p:nvSpPr>
        <p:spPr>
          <a:xfrm>
            <a:off x="1143000" y="4078224"/>
            <a:ext cx="2404872" cy="274320"/>
          </a:xfrm>
          <a:prstGeom prst="rect">
            <a:avLst/>
          </a:prstGeom>
          <a:noFill/>
          <a:ln/>
        </p:spPr>
        <p:txBody>
          <a:bodyPr wrap="square" lIns="0" tIns="0" rIns="0" bIns="0" rtlCol="0" anchor="t"/>
          <a:lstStyle/>
          <a:p>
            <a:pPr algn="l" indent="0" marL="0">
              <a:lnSpc>
                <a:spcPct val="112000"/>
              </a:lnSpc>
              <a:buNone/>
            </a:pPr>
            <a:r>
              <a:rPr lang="en-US" sz="1050" b="1" dirty="0">
                <a:solidFill>
                  <a:srgbClr val="1C1C1E"/>
                </a:solidFill>
                <a:latin typeface="Inter" pitchFamily="34" charset="0"/>
                <a:ea typeface="Inter" pitchFamily="34" charset="-122"/>
                <a:cs typeface="Inter" pitchFamily="34" charset="-120"/>
              </a:rPr>
              <a:t>Lingkungan dan suara karyawan</a:t>
            </a:r>
            <a:endParaRPr lang="en-US" sz="1050" dirty="0"/>
          </a:p>
        </p:txBody>
      </p:sp>
      <p:sp>
        <p:nvSpPr>
          <p:cNvPr id="18" name="text"/>
          <p:cNvSpPr txBox="1"/>
          <p:nvPr/>
        </p:nvSpPr>
        <p:spPr>
          <a:xfrm>
            <a:off x="667512" y="4535424"/>
            <a:ext cx="2898648" cy="64008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Tempat kerja yang menstimulasi; ide dan kritik dihargai.</a:t>
            </a:r>
            <a:endParaRPr lang="en-US" sz="900" dirty="0"/>
          </a:p>
        </p:txBody>
      </p:sp>
      <p:sp>
        <p:nvSpPr>
          <p:cNvPr id="19" name="card"/>
          <p:cNvSpPr/>
          <p:nvPr/>
        </p:nvSpPr>
        <p:spPr>
          <a:xfrm>
            <a:off x="3858768" y="3877056"/>
            <a:ext cx="3227832" cy="1325880"/>
          </a:xfrm>
          <a:prstGeom prst="roundRect">
            <a:avLst>
              <a:gd name="adj" fmla="val 6897"/>
            </a:avLst>
          </a:prstGeom>
          <a:solidFill>
            <a:srgbClr val="FFFFFF"/>
          </a:solidFill>
          <a:ln w="6350">
            <a:solidFill>
              <a:srgbClr val="FFFFFF"/>
            </a:solidFill>
            <a:prstDash val="solid"/>
          </a:ln>
        </p:spPr>
      </p:sp>
      <p:sp>
        <p:nvSpPr>
          <p:cNvPr id="20" name="icon-bg"/>
          <p:cNvSpPr/>
          <p:nvPr/>
        </p:nvSpPr>
        <p:spPr>
          <a:xfrm>
            <a:off x="4023360" y="4041648"/>
            <a:ext cx="365760" cy="365760"/>
          </a:xfrm>
          <a:prstGeom prst="roundRect">
            <a:avLst>
              <a:gd name="adj" fmla="val 20000"/>
            </a:avLst>
          </a:prstGeom>
          <a:solidFill>
            <a:srgbClr val="D4FC00"/>
          </a:solidFill>
          <a:ln w="6350">
            <a:solidFill>
              <a:srgbClr val="D4FC00"/>
            </a:solidFill>
            <a:prstDash val="solid"/>
          </a:ln>
        </p:spPr>
      </p:sp>
      <p:pic>
        <p:nvPicPr>
          <p:cNvPr id="21" name="icon" descr="preencoded.png">    </p:cNvPr>
          <p:cNvPicPr>
            <a:picLocks noChangeAspect="1"/>
          </p:cNvPicPr>
          <p:nvPr/>
        </p:nvPicPr>
        <p:blipFill>
          <a:blip r:embed="rId4"/>
          <a:stretch>
            <a:fillRect/>
          </a:stretch>
        </p:blipFill>
        <p:spPr>
          <a:xfrm>
            <a:off x="4114800" y="4133088"/>
            <a:ext cx="182880" cy="182880"/>
          </a:xfrm>
          <a:prstGeom prst="rect">
            <a:avLst/>
          </a:prstGeom>
        </p:spPr>
      </p:pic>
      <p:sp>
        <p:nvSpPr>
          <p:cNvPr id="22" name="text"/>
          <p:cNvSpPr txBox="1"/>
          <p:nvPr/>
        </p:nvSpPr>
        <p:spPr>
          <a:xfrm>
            <a:off x="4498848" y="4078224"/>
            <a:ext cx="2404872" cy="274320"/>
          </a:xfrm>
          <a:prstGeom prst="rect">
            <a:avLst/>
          </a:prstGeom>
          <a:noFill/>
          <a:ln/>
        </p:spPr>
        <p:txBody>
          <a:bodyPr wrap="square" lIns="0" tIns="0" rIns="0" bIns="0" rtlCol="0" anchor="t"/>
          <a:lstStyle/>
          <a:p>
            <a:pPr algn="l" indent="0" marL="0">
              <a:lnSpc>
                <a:spcPct val="112000"/>
              </a:lnSpc>
              <a:buNone/>
            </a:pPr>
            <a:r>
              <a:rPr lang="en-US" sz="1050" b="1" dirty="0">
                <a:solidFill>
                  <a:srgbClr val="1C1C1E"/>
                </a:solidFill>
                <a:latin typeface="Inter" pitchFamily="34" charset="0"/>
                <a:ea typeface="Inter" pitchFamily="34" charset="-122"/>
                <a:cs typeface="Inter" pitchFamily="34" charset="-120"/>
              </a:rPr>
              <a:t>Retensi dan pembinaan</a:t>
            </a:r>
            <a:endParaRPr lang="en-US" sz="1050" dirty="0"/>
          </a:p>
        </p:txBody>
      </p:sp>
      <p:sp>
        <p:nvSpPr>
          <p:cNvPr id="23" name="text"/>
          <p:cNvSpPr txBox="1"/>
          <p:nvPr/>
        </p:nvSpPr>
        <p:spPr>
          <a:xfrm>
            <a:off x="4023360" y="4535424"/>
            <a:ext cx="2898648" cy="64008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Promosi, bonus, equity, fleksibilitas; bina yang rata-rata, lepaskan yang tertinggal.</a:t>
            </a:r>
            <a:endParaRPr lang="en-US" sz="900" dirty="0"/>
          </a:p>
        </p:txBody>
      </p:sp>
      <p:sp>
        <p:nvSpPr>
          <p:cNvPr id="24" name="card"/>
          <p:cNvSpPr/>
          <p:nvPr/>
        </p:nvSpPr>
        <p:spPr>
          <a:xfrm>
            <a:off x="502920" y="5349240"/>
            <a:ext cx="2109216" cy="960120"/>
          </a:xfrm>
          <a:prstGeom prst="roundRect">
            <a:avLst>
              <a:gd name="adj" fmla="val 9524"/>
            </a:avLst>
          </a:prstGeom>
          <a:solidFill>
            <a:srgbClr val="141417"/>
          </a:solidFill>
          <a:ln w="6350">
            <a:solidFill>
              <a:srgbClr val="141417"/>
            </a:solidFill>
            <a:prstDash val="solid"/>
          </a:ln>
        </p:spPr>
      </p:sp>
      <p:sp>
        <p:nvSpPr>
          <p:cNvPr id="25" name="text"/>
          <p:cNvSpPr txBox="1"/>
          <p:nvPr/>
        </p:nvSpPr>
        <p:spPr>
          <a:xfrm>
            <a:off x="685800" y="5458968"/>
            <a:ext cx="1743456" cy="480060"/>
          </a:xfrm>
          <a:prstGeom prst="rect">
            <a:avLst/>
          </a:prstGeom>
          <a:noFill/>
          <a:ln/>
        </p:spPr>
        <p:txBody>
          <a:bodyPr wrap="square" lIns="0" tIns="0" rIns="0" bIns="0" rtlCol="0" anchor="t"/>
          <a:lstStyle/>
          <a:p>
            <a:pPr algn="l" indent="0" marL="0">
              <a:lnSpc>
                <a:spcPct val="112000"/>
              </a:lnSpc>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6" name="text"/>
          <p:cNvSpPr txBox="1"/>
          <p:nvPr/>
        </p:nvSpPr>
        <p:spPr>
          <a:xfrm>
            <a:off x="685800" y="5847588"/>
            <a:ext cx="1743456" cy="388620"/>
          </a:xfrm>
          <a:prstGeom prst="rect">
            <a:avLst/>
          </a:prstGeom>
          <a:noFill/>
          <a:ln/>
        </p:spPr>
        <p:txBody>
          <a:bodyPr wrap="square" lIns="0" tIns="0" rIns="0" bIns="0" rtlCol="0" anchor="t"/>
          <a:lstStyle/>
          <a:p>
            <a:pPr algn="l" indent="0" marL="0">
              <a:lnSpc>
                <a:spcPct val="110000"/>
              </a:lnSpc>
              <a:buNone/>
            </a:pPr>
            <a:r>
              <a:rPr lang="en-US" sz="800" dirty="0">
                <a:solidFill>
                  <a:srgbClr val="C9C9CC"/>
                </a:solidFill>
                <a:latin typeface="Inter" pitchFamily="34" charset="0"/>
                <a:ea typeface="Inter" pitchFamily="34" charset="-122"/>
                <a:cs typeface="Inter" pitchFamily="34" charset="-120"/>
              </a:rPr>
              <a:t>pelamar yang diterima Southwest Airlines</a:t>
            </a:r>
            <a:endParaRPr lang="en-US" sz="800" dirty="0"/>
          </a:p>
        </p:txBody>
      </p:sp>
      <p:sp>
        <p:nvSpPr>
          <p:cNvPr id="27" name="card"/>
          <p:cNvSpPr/>
          <p:nvPr/>
        </p:nvSpPr>
        <p:spPr>
          <a:xfrm>
            <a:off x="2740152" y="5349240"/>
            <a:ext cx="2109216" cy="960120"/>
          </a:xfrm>
          <a:prstGeom prst="roundRect">
            <a:avLst>
              <a:gd name="adj" fmla="val 9524"/>
            </a:avLst>
          </a:prstGeom>
          <a:solidFill>
            <a:srgbClr val="D4FC00"/>
          </a:solidFill>
          <a:ln w="6350">
            <a:solidFill>
              <a:srgbClr val="D4FC00"/>
            </a:solidFill>
            <a:prstDash val="solid"/>
          </a:ln>
        </p:spPr>
      </p:sp>
      <p:sp>
        <p:nvSpPr>
          <p:cNvPr id="28" name="text"/>
          <p:cNvSpPr txBox="1"/>
          <p:nvPr/>
        </p:nvSpPr>
        <p:spPr>
          <a:xfrm>
            <a:off x="2923032" y="5458968"/>
            <a:ext cx="1743456" cy="480060"/>
          </a:xfrm>
          <a:prstGeom prst="rect">
            <a:avLst/>
          </a:prstGeom>
          <a:noFill/>
          <a:ln/>
        </p:spPr>
        <p:txBody>
          <a:bodyPr wrap="square" lIns="0" tIns="0" rIns="0" bIns="0" rtlCol="0" anchor="t"/>
          <a:lstStyle/>
          <a:p>
            <a:pPr algn="l" indent="0" marL="0">
              <a:lnSpc>
                <a:spcPct val="112000"/>
              </a:lnSpc>
              <a:buNone/>
            </a:pPr>
            <a:r>
              <a:rPr lang="en-US" sz="2000" b="1" dirty="0">
                <a:solidFill>
                  <a:srgbClr val="141417"/>
                </a:solidFill>
                <a:latin typeface="Inter" pitchFamily="34" charset="0"/>
                <a:ea typeface="Inter" pitchFamily="34" charset="-122"/>
                <a:cs typeface="Inter" pitchFamily="34" charset="-120"/>
              </a:rPr>
              <a:t>Top 10%</a:t>
            </a:r>
            <a:endParaRPr lang="en-US" sz="2000" dirty="0"/>
          </a:p>
        </p:txBody>
      </p:sp>
      <p:sp>
        <p:nvSpPr>
          <p:cNvPr id="29" name="text"/>
          <p:cNvSpPr txBox="1"/>
          <p:nvPr/>
        </p:nvSpPr>
        <p:spPr>
          <a:xfrm>
            <a:off x="2923032" y="5847588"/>
            <a:ext cx="1743456" cy="388620"/>
          </a:xfrm>
          <a:prstGeom prst="rect">
            <a:avLst/>
          </a:prstGeom>
          <a:noFill/>
          <a:ln/>
        </p:spPr>
        <p:txBody>
          <a:bodyPr wrap="square" lIns="0" tIns="0" rIns="0" bIns="0" rtlCol="0" anchor="t"/>
          <a:lstStyle/>
          <a:p>
            <a:pPr algn="l" indent="0" marL="0">
              <a:lnSpc>
                <a:spcPct val="110000"/>
              </a:lnSpc>
              <a:buNone/>
            </a:pPr>
            <a:r>
              <a:rPr lang="en-US" sz="800" dirty="0">
                <a:solidFill>
                  <a:srgbClr val="1C1C1E"/>
                </a:solidFill>
                <a:latin typeface="Inter" pitchFamily="34" charset="0"/>
                <a:ea typeface="Inter" pitchFamily="34" charset="-122"/>
                <a:cs typeface="Inter" pitchFamily="34" charset="-120"/>
              </a:rPr>
              <a:t>talenta yang dibidik Cisco, termasuk dari perusahaan yang diakuisisi</a:t>
            </a:r>
            <a:endParaRPr lang="en-US" sz="800" dirty="0"/>
          </a:p>
        </p:txBody>
      </p:sp>
      <p:sp>
        <p:nvSpPr>
          <p:cNvPr id="30" name="card"/>
          <p:cNvSpPr/>
          <p:nvPr/>
        </p:nvSpPr>
        <p:spPr>
          <a:xfrm>
            <a:off x="4977384" y="5349240"/>
            <a:ext cx="2109216" cy="960120"/>
          </a:xfrm>
          <a:prstGeom prst="roundRect">
            <a:avLst>
              <a:gd name="adj" fmla="val 9524"/>
            </a:avLst>
          </a:prstGeom>
          <a:solidFill>
            <a:srgbClr val="FFFFFF"/>
          </a:solidFill>
          <a:ln w="6350">
            <a:solidFill>
              <a:srgbClr val="FFFFFF"/>
            </a:solidFill>
            <a:prstDash val="solid"/>
          </a:ln>
        </p:spPr>
      </p:sp>
      <p:sp>
        <p:nvSpPr>
          <p:cNvPr id="31" name="text"/>
          <p:cNvSpPr txBox="1"/>
          <p:nvPr/>
        </p:nvSpPr>
        <p:spPr>
          <a:xfrm>
            <a:off x="5160264" y="5458968"/>
            <a:ext cx="1743456" cy="480060"/>
          </a:xfrm>
          <a:prstGeom prst="rect">
            <a:avLst/>
          </a:prstGeom>
          <a:noFill/>
          <a:ln/>
        </p:spPr>
        <p:txBody>
          <a:bodyPr wrap="square" lIns="0" tIns="0" rIns="0" bIns="0" rtlCol="0" anchor="t"/>
          <a:lstStyle/>
          <a:p>
            <a:pPr algn="l" indent="0" marL="0">
              <a:lnSpc>
                <a:spcPct val="112000"/>
              </a:lnSpc>
              <a:buNone/>
            </a:pPr>
            <a:r>
              <a:rPr lang="en-US" sz="2000" b="1" dirty="0">
                <a:solidFill>
                  <a:srgbClr val="141417"/>
                </a:solidFill>
                <a:latin typeface="Inter" pitchFamily="34" charset="0"/>
                <a:ea typeface="Inter" pitchFamily="34" charset="-122"/>
                <a:cs typeface="Inter" pitchFamily="34" charset="-120"/>
              </a:rPr>
              <a:t>4.000+</a:t>
            </a:r>
            <a:endParaRPr lang="en-US" sz="2000" dirty="0"/>
          </a:p>
        </p:txBody>
      </p:sp>
      <p:sp>
        <p:nvSpPr>
          <p:cNvPr id="32" name="text"/>
          <p:cNvSpPr txBox="1"/>
          <p:nvPr/>
        </p:nvSpPr>
        <p:spPr>
          <a:xfrm>
            <a:off x="5160264" y="5847588"/>
            <a:ext cx="1743456" cy="388620"/>
          </a:xfrm>
          <a:prstGeom prst="rect">
            <a:avLst/>
          </a:prstGeom>
          <a:noFill/>
          <a:ln/>
        </p:spPr>
        <p:txBody>
          <a:bodyPr wrap="square" lIns="0" tIns="0" rIns="0" bIns="0" rtlCol="0" anchor="t"/>
          <a:lstStyle/>
          <a:p>
            <a:pPr algn="l" indent="0" marL="0">
              <a:lnSpc>
                <a:spcPct val="110000"/>
              </a:lnSpc>
              <a:buNone/>
            </a:pPr>
            <a:r>
              <a:rPr lang="en-US" sz="800" dirty="0">
                <a:solidFill>
                  <a:srgbClr val="7A7A7E"/>
                </a:solidFill>
                <a:latin typeface="Inter" pitchFamily="34" charset="0"/>
                <a:ea typeface="Inter" pitchFamily="34" charset="-122"/>
                <a:cs typeface="Inter" pitchFamily="34" charset="-120"/>
              </a:rPr>
              <a:t>perusahaan dengan corporate university (GE, McDonald’s)</a:t>
            </a:r>
            <a:endParaRPr lang="en-US" sz="800" dirty="0"/>
          </a:p>
        </p:txBody>
      </p:sp>
      <p:pic>
        <p:nvPicPr>
          <p:cNvPr id="33" name="Foto sesi orientasi karyawan" descr="preencoded.png">    </p:cNvPr>
          <p:cNvPicPr>
            <a:picLocks noChangeAspect="1"/>
          </p:cNvPicPr>
          <p:nvPr/>
        </p:nvPicPr>
        <p:blipFill>
          <a:blip r:embed="rId5"/>
          <a:stretch>
            <a:fillRect/>
          </a:stretch>
        </p:blipFill>
        <p:spPr>
          <a:xfrm>
            <a:off x="7315200" y="1783080"/>
            <a:ext cx="4373575" cy="4526280"/>
          </a:xfrm>
          <a:prstGeom prst="rect">
            <a:avLst/>
          </a:prstGeom>
        </p:spPr>
      </p:pic>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TIGA JALAN MEMBANGUN ORGANIZATIONAL CAPABILITIES</a:t>
            </a:r>
            <a:endParaRPr lang="en-US" sz="3000" dirty="0"/>
          </a:p>
        </p:txBody>
      </p:sp>
      <p:pic>
        <p:nvPicPr>
          <p:cNvPr id="3" name="Foto teknisi dan magang" descr="preencoded.png">    </p:cNvPr>
          <p:cNvPicPr>
            <a:picLocks noChangeAspect="1"/>
          </p:cNvPicPr>
          <p:nvPr/>
        </p:nvPicPr>
        <p:blipFill>
          <a:blip r:embed="rId1"/>
          <a:stretch>
            <a:fillRect/>
          </a:stretch>
        </p:blipFill>
        <p:spPr>
          <a:xfrm>
            <a:off x="502920" y="1874520"/>
            <a:ext cx="4206240" cy="3657600"/>
          </a:xfrm>
          <a:prstGeom prst="rect">
            <a:avLst/>
          </a:prstGeom>
        </p:spPr>
      </p:pic>
      <p:sp>
        <p:nvSpPr>
          <p:cNvPr id="4" name="text"/>
          <p:cNvSpPr txBox="1"/>
          <p:nvPr/>
        </p:nvSpPr>
        <p:spPr>
          <a:xfrm>
            <a:off x="502920" y="5641848"/>
            <a:ext cx="4206240" cy="77724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Tautan ke Bab 4: keunggulan bersaing yang bertahan bergantung pada kaliber resources dan capabilities (uji VRIN). Merumuskan strategi berarti mengidentifikasi capability yang dibutuhkan; mengeksekusi berarti memperolehnya dan terus menyegarkannya.</a:t>
            </a:r>
            <a:endParaRPr lang="en-US" sz="900" dirty="0"/>
          </a:p>
        </p:txBody>
      </p:sp>
      <p:sp>
        <p:nvSpPr>
          <p:cNvPr id="5" name="card"/>
          <p:cNvSpPr/>
          <p:nvPr/>
        </p:nvSpPr>
        <p:spPr>
          <a:xfrm>
            <a:off x="4937760" y="1874520"/>
            <a:ext cx="2164994" cy="3657600"/>
          </a:xfrm>
          <a:prstGeom prst="roundRect">
            <a:avLst>
              <a:gd name="adj" fmla="val 4224"/>
            </a:avLst>
          </a:prstGeom>
          <a:solidFill>
            <a:srgbClr val="FFFFFF"/>
          </a:solidFill>
          <a:ln w="6350">
            <a:solidFill>
              <a:srgbClr val="FFFFFF"/>
            </a:solidFill>
            <a:prstDash val="solid"/>
          </a:ln>
        </p:spPr>
      </p:sp>
      <p:sp>
        <p:nvSpPr>
          <p:cNvPr id="6" name="icon-bg"/>
          <p:cNvSpPr/>
          <p:nvPr/>
        </p:nvSpPr>
        <p:spPr>
          <a:xfrm>
            <a:off x="5120640" y="2057400"/>
            <a:ext cx="384048" cy="384048"/>
          </a:xfrm>
          <a:prstGeom prst="roundRect">
            <a:avLst>
              <a:gd name="adj" fmla="val 19048"/>
            </a:avLst>
          </a:prstGeom>
          <a:solidFill>
            <a:srgbClr val="141417"/>
          </a:solidFill>
          <a:ln w="6350">
            <a:solidFill>
              <a:srgbClr val="141417"/>
            </a:solidFill>
            <a:prstDash val="solid"/>
          </a:ln>
        </p:spPr>
      </p:sp>
      <p:pic>
        <p:nvPicPr>
          <p:cNvPr id="7" name="icon" descr="preencoded.png">    </p:cNvPr>
          <p:cNvPicPr>
            <a:picLocks noChangeAspect="1"/>
          </p:cNvPicPr>
          <p:nvPr/>
        </p:nvPicPr>
        <p:blipFill>
          <a:blip r:embed="rId2"/>
          <a:stretch>
            <a:fillRect/>
          </a:stretch>
        </p:blipFill>
        <p:spPr>
          <a:xfrm>
            <a:off x="5216652" y="2153412"/>
            <a:ext cx="192024" cy="192024"/>
          </a:xfrm>
          <a:prstGeom prst="rect">
            <a:avLst/>
          </a:prstGeom>
        </p:spPr>
      </p:pic>
      <p:sp>
        <p:nvSpPr>
          <p:cNvPr id="8" name="text"/>
          <p:cNvSpPr txBox="1"/>
          <p:nvPr/>
        </p:nvSpPr>
        <p:spPr>
          <a:xfrm>
            <a:off x="5120640" y="2606040"/>
            <a:ext cx="1799234" cy="548640"/>
          </a:xfrm>
          <a:prstGeom prst="rect">
            <a:avLst/>
          </a:prstGeom>
          <a:noFill/>
          <a:ln/>
        </p:spPr>
        <p:txBody>
          <a:bodyPr wrap="square" lIns="0" tIns="0" rIns="0" bIns="0" rtlCol="0" anchor="t"/>
          <a:lstStyle/>
          <a:p>
            <a:pPr algn="l" indent="0" marL="0">
              <a:lnSpc>
                <a:spcPct val="100000"/>
              </a:lnSpc>
              <a:buNone/>
            </a:pPr>
            <a:r>
              <a:rPr lang="en-US" sz="1200" b="1" dirty="0">
                <a:solidFill>
                  <a:srgbClr val="141417"/>
                </a:solidFill>
                <a:latin typeface="Inter" pitchFamily="34" charset="0"/>
                <a:ea typeface="Inter" pitchFamily="34" charset="-122"/>
                <a:cs typeface="Inter" pitchFamily="34" charset="-120"/>
              </a:rPr>
              <a:t>Developing internally</a:t>
            </a:r>
            <a:endParaRPr lang="en-US" sz="1200" dirty="0"/>
          </a:p>
        </p:txBody>
      </p:sp>
      <p:sp>
        <p:nvSpPr>
          <p:cNvPr id="9" name="text"/>
          <p:cNvSpPr txBox="1"/>
          <p:nvPr/>
        </p:nvSpPr>
        <p:spPr>
          <a:xfrm>
            <a:off x="5120640" y="3246120"/>
            <a:ext cx="1799234" cy="1554480"/>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Tumbuh bertahap lewat rutinitas tim lintas fungsi. Kendali penuh, tetapi paling lama.</a:t>
            </a:r>
            <a:endParaRPr lang="en-US" sz="950" dirty="0"/>
          </a:p>
        </p:txBody>
      </p:sp>
      <p:sp>
        <p:nvSpPr>
          <p:cNvPr id="10" name="tag"/>
          <p:cNvSpPr/>
          <p:nvPr/>
        </p:nvSpPr>
        <p:spPr>
          <a:xfrm>
            <a:off x="5120640" y="4983480"/>
            <a:ext cx="1799234" cy="274320"/>
          </a:xfrm>
          <a:prstGeom prst="roundRect">
            <a:avLst>
              <a:gd name="adj" fmla="val 166667"/>
            </a:avLst>
          </a:prstGeom>
          <a:solidFill>
            <a:srgbClr val="FFFFFF"/>
          </a:solidFill>
          <a:ln w="9525">
            <a:solidFill>
              <a:srgbClr val="141417"/>
            </a:solidFill>
            <a:prstDash val="solid"/>
          </a:ln>
        </p:spPr>
      </p:sp>
      <p:sp>
        <p:nvSpPr>
          <p:cNvPr id="11" name="text"/>
          <p:cNvSpPr txBox="1"/>
          <p:nvPr/>
        </p:nvSpPr>
        <p:spPr>
          <a:xfrm>
            <a:off x="5212080" y="4983480"/>
            <a:ext cx="1616354" cy="274320"/>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141417"/>
                </a:solidFill>
                <a:latin typeface="Inter" pitchFamily="34" charset="0"/>
                <a:ea typeface="Inter" pitchFamily="34" charset="-122"/>
                <a:cs typeface="Inter" pitchFamily="34" charset="-120"/>
              </a:rPr>
              <a:t>LAMBAT · KENDALI PENUH</a:t>
            </a:r>
            <a:endParaRPr lang="en-US" sz="750" dirty="0"/>
          </a:p>
        </p:txBody>
      </p:sp>
      <p:sp>
        <p:nvSpPr>
          <p:cNvPr id="12" name="card"/>
          <p:cNvSpPr/>
          <p:nvPr/>
        </p:nvSpPr>
        <p:spPr>
          <a:xfrm>
            <a:off x="7230770" y="1874520"/>
            <a:ext cx="2164994" cy="3657600"/>
          </a:xfrm>
          <a:prstGeom prst="roundRect">
            <a:avLst>
              <a:gd name="adj" fmla="val 4224"/>
            </a:avLst>
          </a:prstGeom>
          <a:solidFill>
            <a:srgbClr val="D4FC00"/>
          </a:solidFill>
          <a:ln w="6350">
            <a:solidFill>
              <a:srgbClr val="D4FC00"/>
            </a:solidFill>
            <a:prstDash val="solid"/>
          </a:ln>
        </p:spPr>
      </p:sp>
      <p:sp>
        <p:nvSpPr>
          <p:cNvPr id="13" name="icon-bg"/>
          <p:cNvSpPr/>
          <p:nvPr/>
        </p:nvSpPr>
        <p:spPr>
          <a:xfrm>
            <a:off x="7413650" y="2057400"/>
            <a:ext cx="384048" cy="384048"/>
          </a:xfrm>
          <a:prstGeom prst="roundRect">
            <a:avLst>
              <a:gd name="adj" fmla="val 19048"/>
            </a:avLst>
          </a:prstGeom>
          <a:solidFill>
            <a:srgbClr val="141417"/>
          </a:solidFill>
          <a:ln w="6350">
            <a:solidFill>
              <a:srgbClr val="141417"/>
            </a:solidFill>
            <a:prstDash val="solid"/>
          </a:ln>
        </p:spPr>
      </p:sp>
      <p:pic>
        <p:nvPicPr>
          <p:cNvPr id="14" name="icon" descr="preencoded.png">    </p:cNvPr>
          <p:cNvPicPr>
            <a:picLocks noChangeAspect="1"/>
          </p:cNvPicPr>
          <p:nvPr/>
        </p:nvPicPr>
        <p:blipFill>
          <a:blip r:embed="rId3"/>
          <a:stretch>
            <a:fillRect/>
          </a:stretch>
        </p:blipFill>
        <p:spPr>
          <a:xfrm>
            <a:off x="7509662" y="2153412"/>
            <a:ext cx="192024" cy="192024"/>
          </a:xfrm>
          <a:prstGeom prst="rect">
            <a:avLst/>
          </a:prstGeom>
        </p:spPr>
      </p:pic>
      <p:sp>
        <p:nvSpPr>
          <p:cNvPr id="15" name="text"/>
          <p:cNvSpPr txBox="1"/>
          <p:nvPr/>
        </p:nvSpPr>
        <p:spPr>
          <a:xfrm>
            <a:off x="7413650" y="2606040"/>
            <a:ext cx="1799234" cy="548640"/>
          </a:xfrm>
          <a:prstGeom prst="rect">
            <a:avLst/>
          </a:prstGeom>
          <a:noFill/>
          <a:ln/>
        </p:spPr>
        <p:txBody>
          <a:bodyPr wrap="square" lIns="0" tIns="0" rIns="0" bIns="0" rtlCol="0" anchor="t"/>
          <a:lstStyle/>
          <a:p>
            <a:pPr algn="l" indent="0" marL="0">
              <a:lnSpc>
                <a:spcPct val="100000"/>
              </a:lnSpc>
              <a:buNone/>
            </a:pPr>
            <a:r>
              <a:rPr lang="en-US" sz="1200" b="1" dirty="0">
                <a:solidFill>
                  <a:srgbClr val="141417"/>
                </a:solidFill>
                <a:latin typeface="Inter" pitchFamily="34" charset="0"/>
                <a:ea typeface="Inter" pitchFamily="34" charset="-122"/>
                <a:cs typeface="Inter" pitchFamily="34" charset="-120"/>
              </a:rPr>
              <a:t>Mergers and acquisitions</a:t>
            </a:r>
            <a:endParaRPr lang="en-US" sz="1200" dirty="0"/>
          </a:p>
        </p:txBody>
      </p:sp>
      <p:sp>
        <p:nvSpPr>
          <p:cNvPr id="16" name="text"/>
          <p:cNvSpPr txBox="1"/>
          <p:nvPr/>
        </p:nvSpPr>
        <p:spPr>
          <a:xfrm>
            <a:off x="7413650" y="3246120"/>
            <a:ext cx="1799234" cy="1554480"/>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Paling cepat. Dipakai bila capability terlalu jauh dari basis yang ada atau waktu sangat menentukan. Risikonya pada integrasi.</a:t>
            </a:r>
            <a:endParaRPr lang="en-US" sz="950" dirty="0"/>
          </a:p>
        </p:txBody>
      </p:sp>
      <p:sp>
        <p:nvSpPr>
          <p:cNvPr id="17" name="tag"/>
          <p:cNvSpPr/>
          <p:nvPr/>
        </p:nvSpPr>
        <p:spPr>
          <a:xfrm>
            <a:off x="7413650" y="4983480"/>
            <a:ext cx="1799234" cy="274320"/>
          </a:xfrm>
          <a:prstGeom prst="roundRect">
            <a:avLst>
              <a:gd name="adj" fmla="val 166667"/>
            </a:avLst>
          </a:prstGeom>
          <a:solidFill>
            <a:srgbClr val="D4FC00"/>
          </a:solidFill>
          <a:ln w="9525">
            <a:solidFill>
              <a:srgbClr val="141417"/>
            </a:solidFill>
            <a:prstDash val="solid"/>
          </a:ln>
        </p:spPr>
      </p:sp>
      <p:sp>
        <p:nvSpPr>
          <p:cNvPr id="18" name="text"/>
          <p:cNvSpPr txBox="1"/>
          <p:nvPr/>
        </p:nvSpPr>
        <p:spPr>
          <a:xfrm>
            <a:off x="7505090" y="4983480"/>
            <a:ext cx="1616354" cy="274320"/>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141417"/>
                </a:solidFill>
                <a:latin typeface="Inter" pitchFamily="34" charset="0"/>
                <a:ea typeface="Inter" pitchFamily="34" charset="-122"/>
                <a:cs typeface="Inter" pitchFamily="34" charset="-120"/>
              </a:rPr>
              <a:t>CEPAT · RISIKO INTEGRASI</a:t>
            </a:r>
            <a:endParaRPr lang="en-US" sz="750" dirty="0"/>
          </a:p>
        </p:txBody>
      </p:sp>
      <p:sp>
        <p:nvSpPr>
          <p:cNvPr id="19" name="card"/>
          <p:cNvSpPr/>
          <p:nvPr/>
        </p:nvSpPr>
        <p:spPr>
          <a:xfrm>
            <a:off x="9523781" y="1874520"/>
            <a:ext cx="2164994" cy="3657600"/>
          </a:xfrm>
          <a:prstGeom prst="roundRect">
            <a:avLst>
              <a:gd name="adj" fmla="val 4224"/>
            </a:avLst>
          </a:prstGeom>
          <a:solidFill>
            <a:srgbClr val="141417"/>
          </a:solidFill>
          <a:ln w="6350">
            <a:solidFill>
              <a:srgbClr val="141417"/>
            </a:solidFill>
            <a:prstDash val="solid"/>
          </a:ln>
        </p:spPr>
      </p:sp>
      <p:sp>
        <p:nvSpPr>
          <p:cNvPr id="20" name="icon-bg"/>
          <p:cNvSpPr/>
          <p:nvPr/>
        </p:nvSpPr>
        <p:spPr>
          <a:xfrm>
            <a:off x="9706661" y="2057400"/>
            <a:ext cx="384048" cy="384048"/>
          </a:xfrm>
          <a:prstGeom prst="roundRect">
            <a:avLst>
              <a:gd name="adj" fmla="val 19048"/>
            </a:avLst>
          </a:prstGeom>
          <a:solidFill>
            <a:srgbClr val="D4FC00"/>
          </a:solidFill>
          <a:ln w="6350">
            <a:solidFill>
              <a:srgbClr val="D4FC00"/>
            </a:solidFill>
            <a:prstDash val="solid"/>
          </a:ln>
        </p:spPr>
      </p:sp>
      <p:pic>
        <p:nvPicPr>
          <p:cNvPr id="21" name="icon" descr="preencoded.png">    </p:cNvPr>
          <p:cNvPicPr>
            <a:picLocks noChangeAspect="1"/>
          </p:cNvPicPr>
          <p:nvPr/>
        </p:nvPicPr>
        <p:blipFill>
          <a:blip r:embed="rId4"/>
          <a:stretch>
            <a:fillRect/>
          </a:stretch>
        </p:blipFill>
        <p:spPr>
          <a:xfrm>
            <a:off x="9802673" y="2153412"/>
            <a:ext cx="192024" cy="192024"/>
          </a:xfrm>
          <a:prstGeom prst="rect">
            <a:avLst/>
          </a:prstGeom>
        </p:spPr>
      </p:pic>
      <p:sp>
        <p:nvSpPr>
          <p:cNvPr id="22" name="text"/>
          <p:cNvSpPr txBox="1"/>
          <p:nvPr/>
        </p:nvSpPr>
        <p:spPr>
          <a:xfrm>
            <a:off x="9706661" y="2606040"/>
            <a:ext cx="1799234" cy="548640"/>
          </a:xfrm>
          <a:prstGeom prst="rect">
            <a:avLst/>
          </a:prstGeom>
          <a:noFill/>
          <a:ln/>
        </p:spPr>
        <p:txBody>
          <a:bodyPr wrap="square" lIns="0" tIns="0" rIns="0" bIns="0" rtlCol="0" anchor="t"/>
          <a:lstStyle/>
          <a:p>
            <a:pPr algn="l" indent="0" marL="0">
              <a:lnSpc>
                <a:spcPct val="100000"/>
              </a:lnSpc>
              <a:buNone/>
            </a:pPr>
            <a:r>
              <a:rPr lang="en-US" sz="1200" b="1" dirty="0">
                <a:solidFill>
                  <a:srgbClr val="D4FC00"/>
                </a:solidFill>
                <a:latin typeface="Inter" pitchFamily="34" charset="0"/>
                <a:ea typeface="Inter" pitchFamily="34" charset="-122"/>
                <a:cs typeface="Inter" pitchFamily="34" charset="-120"/>
              </a:rPr>
              <a:t>Collaborative partnerships</a:t>
            </a:r>
            <a:endParaRPr lang="en-US" sz="1200" dirty="0"/>
          </a:p>
        </p:txBody>
      </p:sp>
      <p:sp>
        <p:nvSpPr>
          <p:cNvPr id="23" name="text"/>
          <p:cNvSpPr txBox="1"/>
          <p:nvPr/>
        </p:nvSpPr>
        <p:spPr>
          <a:xfrm>
            <a:off x="9706661" y="3246120"/>
            <a:ext cx="1799234" cy="1554480"/>
          </a:xfrm>
          <a:prstGeom prst="rect">
            <a:avLst/>
          </a:prstGeom>
          <a:noFill/>
          <a:ln/>
        </p:spPr>
        <p:txBody>
          <a:bodyPr wrap="square" lIns="0" tIns="0" rIns="0" bIns="0" rtlCol="0" anchor="t"/>
          <a:lstStyle/>
          <a:p>
            <a:pPr algn="l" indent="0" marL="0">
              <a:lnSpc>
                <a:spcPct val="112000"/>
              </a:lnSpc>
              <a:buNone/>
            </a:pPr>
            <a:r>
              <a:rPr lang="en-US" sz="950" dirty="0">
                <a:solidFill>
                  <a:srgbClr val="E8E8EA"/>
                </a:solidFill>
                <a:latin typeface="Inter" pitchFamily="34" charset="0"/>
                <a:ea typeface="Inter" pitchFamily="34" charset="-122"/>
                <a:cs typeface="Inter" pitchFamily="34" charset="-120"/>
              </a:rPr>
              <a:t>Outsourcing, joint venture atau aliansi, dan belajar dari mitra. Hemat sumber daya, kendali terbagi.</a:t>
            </a:r>
            <a:endParaRPr lang="en-US" sz="950" dirty="0"/>
          </a:p>
        </p:txBody>
      </p:sp>
      <p:sp>
        <p:nvSpPr>
          <p:cNvPr id="24" name="tag"/>
          <p:cNvSpPr/>
          <p:nvPr/>
        </p:nvSpPr>
        <p:spPr>
          <a:xfrm>
            <a:off x="9706661" y="4983480"/>
            <a:ext cx="1799234" cy="274320"/>
          </a:xfrm>
          <a:prstGeom prst="roundRect">
            <a:avLst>
              <a:gd name="adj" fmla="val 166667"/>
            </a:avLst>
          </a:prstGeom>
          <a:solidFill>
            <a:srgbClr val="141417"/>
          </a:solidFill>
          <a:ln w="9525">
            <a:solidFill>
              <a:srgbClr val="D4FC00"/>
            </a:solidFill>
            <a:prstDash val="solid"/>
          </a:ln>
        </p:spPr>
      </p:sp>
      <p:sp>
        <p:nvSpPr>
          <p:cNvPr id="25" name="text"/>
          <p:cNvSpPr txBox="1"/>
          <p:nvPr/>
        </p:nvSpPr>
        <p:spPr>
          <a:xfrm>
            <a:off x="9798101" y="4983480"/>
            <a:ext cx="1616354" cy="274320"/>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D4FC00"/>
                </a:solidFill>
                <a:latin typeface="Inter" pitchFamily="34" charset="0"/>
                <a:ea typeface="Inter" pitchFamily="34" charset="-122"/>
                <a:cs typeface="Inter" pitchFamily="34" charset="-120"/>
              </a:rPr>
              <a:t>CEPAT · KENDALI TERBAGI</a:t>
            </a:r>
            <a:endParaRPr lang="en-US" sz="750" dirty="0"/>
          </a:p>
        </p:txBody>
      </p:sp>
      <p:sp>
        <p:nvSpPr>
          <p:cNvPr id="26" name="text"/>
          <p:cNvSpPr txBox="1"/>
          <p:nvPr/>
        </p:nvSpPr>
        <p:spPr>
          <a:xfrm>
            <a:off x="4937760" y="5669280"/>
            <a:ext cx="6751015" cy="548640"/>
          </a:xfrm>
          <a:prstGeom prst="rect">
            <a:avLst/>
          </a:prstGeom>
          <a:noFill/>
          <a:ln/>
        </p:spPr>
        <p:txBody>
          <a:bodyPr wrap="square" lIns="0" tIns="0" rIns="0" bIns="0" rtlCol="0" anchor="t"/>
          <a:lstStyle/>
          <a:p>
            <a:pPr algn="l" indent="0" marL="0">
              <a:lnSpc>
                <a:spcPct val="112000"/>
              </a:lnSpc>
              <a:buNone/>
            </a:pPr>
            <a:r>
              <a:rPr lang="en-US" sz="900" i="1" dirty="0">
                <a:solidFill>
                  <a:srgbClr val="7A7A7E"/>
                </a:solidFill>
                <a:latin typeface="Inter" pitchFamily="34" charset="0"/>
                <a:ea typeface="Inter" pitchFamily="34" charset="-122"/>
                <a:cs typeface="Inter" pitchFamily="34" charset="-120"/>
              </a:rPr>
              <a:t>Membangun capability adalah proses bertahun-tahun, bukan semalam. Mempelajari Shaun White tidak membuat seseorang juara halfpipe.</a:t>
            </a:r>
            <a:endParaRPr lang="en-US" sz="90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CAPABILITY TUMBUH BERTAHAP, TIDAK DIBELI SEMALAM</a:t>
            </a:r>
            <a:endParaRPr lang="en-US" sz="3000" dirty="0"/>
          </a:p>
        </p:txBody>
      </p:sp>
      <p:sp>
        <p:nvSpPr>
          <p:cNvPr id="3" name="card"/>
          <p:cNvSpPr/>
          <p:nvPr/>
        </p:nvSpPr>
        <p:spPr>
          <a:xfrm>
            <a:off x="502920" y="1874520"/>
            <a:ext cx="2346960" cy="2103120"/>
          </a:xfrm>
          <a:prstGeom prst="roundRect">
            <a:avLst>
              <a:gd name="adj" fmla="val 4348"/>
            </a:avLst>
          </a:prstGeom>
          <a:solidFill>
            <a:srgbClr val="D4FC00"/>
          </a:solidFill>
          <a:ln w="6350">
            <a:solidFill>
              <a:srgbClr val="D4FC00"/>
            </a:solidFill>
            <a:prstDash val="solid"/>
          </a:ln>
        </p:spPr>
      </p:sp>
      <p:sp>
        <p:nvSpPr>
          <p:cNvPr id="4" name="num"/>
          <p:cNvSpPr/>
          <p:nvPr/>
        </p:nvSpPr>
        <p:spPr>
          <a:xfrm>
            <a:off x="685800" y="2075688"/>
            <a:ext cx="292608" cy="292608"/>
          </a:xfrm>
          <a:prstGeom prst="ellipse">
            <a:avLst/>
          </a:prstGeom>
          <a:solidFill>
            <a:srgbClr val="141417"/>
          </a:solidFill>
          <a:ln w="6350">
            <a:solidFill>
              <a:srgbClr val="141417"/>
            </a:solidFill>
            <a:prstDash val="solid"/>
          </a:ln>
        </p:spPr>
      </p:sp>
      <p:sp>
        <p:nvSpPr>
          <p:cNvPr id="5" name="text"/>
          <p:cNvSpPr txBox="1"/>
          <p:nvPr/>
        </p:nvSpPr>
        <p:spPr>
          <a:xfrm>
            <a:off x="685800" y="2075688"/>
            <a:ext cx="292608" cy="292608"/>
          </a:xfrm>
          <a:prstGeom prst="rect">
            <a:avLst/>
          </a:prstGeom>
          <a:noFill/>
          <a:ln/>
        </p:spPr>
        <p:txBody>
          <a:bodyPr wrap="square" lIns="0" tIns="0" rIns="0" bIns="0" rtlCol="0" anchor="ctr"/>
          <a:lstStyle/>
          <a:p>
            <a:pPr algn="ctr" indent="0" marL="0">
              <a:lnSpc>
                <a:spcPct val="112000"/>
              </a:lnSpc>
              <a:buNone/>
            </a:pPr>
            <a:r>
              <a:rPr lang="en-US" sz="950" b="1" dirty="0">
                <a:solidFill>
                  <a:srgbClr val="D4FC00"/>
                </a:solidFill>
                <a:latin typeface="Inter" pitchFamily="34" charset="0"/>
                <a:ea typeface="Inter" pitchFamily="34" charset="-122"/>
                <a:cs typeface="Inter" pitchFamily="34" charset="-120"/>
              </a:rPr>
              <a:t>1</a:t>
            </a:r>
            <a:endParaRPr lang="en-US" sz="950" dirty="0"/>
          </a:p>
        </p:txBody>
      </p:sp>
      <p:sp>
        <p:nvSpPr>
          <p:cNvPr id="6" name="text"/>
          <p:cNvSpPr txBox="1"/>
          <p:nvPr/>
        </p:nvSpPr>
        <p:spPr>
          <a:xfrm>
            <a:off x="1069848" y="2075688"/>
            <a:ext cx="1615440" cy="292608"/>
          </a:xfrm>
          <a:prstGeom prst="rect">
            <a:avLst/>
          </a:prstGeom>
          <a:noFill/>
          <a:ln/>
        </p:spPr>
        <p:txBody>
          <a:bodyPr wrap="square" lIns="0" tIns="0" rIns="0" bIns="0" rtlCol="0" anchor="ctr"/>
          <a:lstStyle/>
          <a:p>
            <a:pPr algn="l" indent="0" marL="0">
              <a:lnSpc>
                <a:spcPct val="112000"/>
              </a:lnSpc>
              <a:buNone/>
            </a:pPr>
            <a:r>
              <a:rPr lang="en-US" sz="1200" b="1" dirty="0">
                <a:solidFill>
                  <a:srgbClr val="141417"/>
                </a:solidFill>
                <a:latin typeface="Inter" pitchFamily="34" charset="0"/>
                <a:ea typeface="Inter" pitchFamily="34" charset="-122"/>
                <a:cs typeface="Inter" pitchFamily="34" charset="-120"/>
              </a:rPr>
              <a:t>Ability</a:t>
            </a:r>
            <a:endParaRPr lang="en-US" sz="1200" dirty="0"/>
          </a:p>
        </p:txBody>
      </p:sp>
      <p:sp>
        <p:nvSpPr>
          <p:cNvPr id="7" name="text"/>
          <p:cNvSpPr txBox="1"/>
          <p:nvPr/>
        </p:nvSpPr>
        <p:spPr>
          <a:xfrm>
            <a:off x="685800" y="2560320"/>
            <a:ext cx="1981200" cy="1325880"/>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Mampu melakukan sesuatu meski belum sempurna. Memilih orang yang tepat, bereksperimen, belajar dari kesalahan.</a:t>
            </a:r>
            <a:endParaRPr lang="en-US" sz="950" dirty="0"/>
          </a:p>
        </p:txBody>
      </p:sp>
      <p:sp>
        <p:nvSpPr>
          <p:cNvPr id="8" name="arrow"/>
          <p:cNvSpPr/>
          <p:nvPr/>
        </p:nvSpPr>
        <p:spPr>
          <a:xfrm>
            <a:off x="2923032" y="2788920"/>
            <a:ext cx="265176" cy="274320"/>
          </a:xfrm>
          <a:prstGeom prst="rightArrow">
            <a:avLst/>
          </a:prstGeom>
          <a:solidFill>
            <a:srgbClr val="141417"/>
          </a:solidFill>
          <a:ln w="6350">
            <a:solidFill>
              <a:srgbClr val="141417"/>
            </a:solidFill>
            <a:prstDash val="solid"/>
          </a:ln>
        </p:spPr>
      </p:sp>
      <p:sp>
        <p:nvSpPr>
          <p:cNvPr id="9" name="card"/>
          <p:cNvSpPr/>
          <p:nvPr/>
        </p:nvSpPr>
        <p:spPr>
          <a:xfrm>
            <a:off x="3261360" y="1874520"/>
            <a:ext cx="2346960" cy="2103120"/>
          </a:xfrm>
          <a:prstGeom prst="roundRect">
            <a:avLst>
              <a:gd name="adj" fmla="val 4348"/>
            </a:avLst>
          </a:prstGeom>
          <a:solidFill>
            <a:srgbClr val="FFFFFF"/>
          </a:solidFill>
          <a:ln w="6350">
            <a:solidFill>
              <a:srgbClr val="FFFFFF"/>
            </a:solidFill>
            <a:prstDash val="solid"/>
          </a:ln>
        </p:spPr>
      </p:sp>
      <p:sp>
        <p:nvSpPr>
          <p:cNvPr id="10" name="num"/>
          <p:cNvSpPr/>
          <p:nvPr/>
        </p:nvSpPr>
        <p:spPr>
          <a:xfrm>
            <a:off x="3444240" y="2075688"/>
            <a:ext cx="292608" cy="292608"/>
          </a:xfrm>
          <a:prstGeom prst="ellipse">
            <a:avLst/>
          </a:prstGeom>
          <a:solidFill>
            <a:srgbClr val="141417"/>
          </a:solidFill>
          <a:ln w="6350">
            <a:solidFill>
              <a:srgbClr val="141417"/>
            </a:solidFill>
            <a:prstDash val="solid"/>
          </a:ln>
        </p:spPr>
      </p:sp>
      <p:sp>
        <p:nvSpPr>
          <p:cNvPr id="11" name="text"/>
          <p:cNvSpPr txBox="1"/>
          <p:nvPr/>
        </p:nvSpPr>
        <p:spPr>
          <a:xfrm>
            <a:off x="3444240" y="2075688"/>
            <a:ext cx="292608" cy="292608"/>
          </a:xfrm>
          <a:prstGeom prst="rect">
            <a:avLst/>
          </a:prstGeom>
          <a:noFill/>
          <a:ln/>
        </p:spPr>
        <p:txBody>
          <a:bodyPr wrap="square" lIns="0" tIns="0" rIns="0" bIns="0" rtlCol="0" anchor="ctr"/>
          <a:lstStyle/>
          <a:p>
            <a:pPr algn="ctr" indent="0" marL="0">
              <a:lnSpc>
                <a:spcPct val="112000"/>
              </a:lnSpc>
              <a:buNone/>
            </a:pPr>
            <a:r>
              <a:rPr lang="en-US" sz="950" b="1" dirty="0">
                <a:solidFill>
                  <a:srgbClr val="D4FC00"/>
                </a:solidFill>
                <a:latin typeface="Inter" pitchFamily="34" charset="0"/>
                <a:ea typeface="Inter" pitchFamily="34" charset="-122"/>
                <a:cs typeface="Inter" pitchFamily="34" charset="-120"/>
              </a:rPr>
              <a:t>2</a:t>
            </a:r>
            <a:endParaRPr lang="en-US" sz="950" dirty="0"/>
          </a:p>
        </p:txBody>
      </p:sp>
      <p:sp>
        <p:nvSpPr>
          <p:cNvPr id="12" name="text"/>
          <p:cNvSpPr txBox="1"/>
          <p:nvPr/>
        </p:nvSpPr>
        <p:spPr>
          <a:xfrm>
            <a:off x="3828288" y="2075688"/>
            <a:ext cx="1615440" cy="292608"/>
          </a:xfrm>
          <a:prstGeom prst="rect">
            <a:avLst/>
          </a:prstGeom>
          <a:noFill/>
          <a:ln/>
        </p:spPr>
        <p:txBody>
          <a:bodyPr wrap="square" lIns="0" tIns="0" rIns="0" bIns="0" rtlCol="0" anchor="ctr"/>
          <a:lstStyle/>
          <a:p>
            <a:pPr algn="l" indent="0" marL="0">
              <a:lnSpc>
                <a:spcPct val="112000"/>
              </a:lnSpc>
              <a:buNone/>
            </a:pPr>
            <a:r>
              <a:rPr lang="en-US" sz="1200" b="1" dirty="0">
                <a:solidFill>
                  <a:srgbClr val="141417"/>
                </a:solidFill>
                <a:latin typeface="Inter" pitchFamily="34" charset="0"/>
                <a:ea typeface="Inter" pitchFamily="34" charset="-122"/>
                <a:cs typeface="Inter" pitchFamily="34" charset="-120"/>
              </a:rPr>
              <a:t>Competence</a:t>
            </a:r>
            <a:endParaRPr lang="en-US" sz="1200" dirty="0"/>
          </a:p>
        </p:txBody>
      </p:sp>
      <p:sp>
        <p:nvSpPr>
          <p:cNvPr id="13" name="text"/>
          <p:cNvSpPr txBox="1"/>
          <p:nvPr/>
        </p:nvSpPr>
        <p:spPr>
          <a:xfrm>
            <a:off x="3444240" y="2560320"/>
            <a:ext cx="1981200" cy="1325880"/>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Konsisten pada biaya yang wajar berkat pengulangan dan learning by doing. Butuh investasi berkelanjutan.</a:t>
            </a:r>
            <a:endParaRPr lang="en-US" sz="950" dirty="0"/>
          </a:p>
        </p:txBody>
      </p:sp>
      <p:sp>
        <p:nvSpPr>
          <p:cNvPr id="14" name="arrow"/>
          <p:cNvSpPr/>
          <p:nvPr/>
        </p:nvSpPr>
        <p:spPr>
          <a:xfrm>
            <a:off x="5681472" y="2788920"/>
            <a:ext cx="265176" cy="274320"/>
          </a:xfrm>
          <a:prstGeom prst="rightArrow">
            <a:avLst/>
          </a:prstGeom>
          <a:solidFill>
            <a:srgbClr val="141417"/>
          </a:solidFill>
          <a:ln w="6350">
            <a:solidFill>
              <a:srgbClr val="141417"/>
            </a:solidFill>
            <a:prstDash val="solid"/>
          </a:ln>
        </p:spPr>
      </p:sp>
      <p:sp>
        <p:nvSpPr>
          <p:cNvPr id="15" name="card"/>
          <p:cNvSpPr/>
          <p:nvPr/>
        </p:nvSpPr>
        <p:spPr>
          <a:xfrm>
            <a:off x="6019800" y="1874520"/>
            <a:ext cx="2346960" cy="2103120"/>
          </a:xfrm>
          <a:prstGeom prst="roundRect">
            <a:avLst>
              <a:gd name="adj" fmla="val 4348"/>
            </a:avLst>
          </a:prstGeom>
          <a:solidFill>
            <a:srgbClr val="141417"/>
          </a:solidFill>
          <a:ln w="6350">
            <a:solidFill>
              <a:srgbClr val="141417"/>
            </a:solidFill>
            <a:prstDash val="solid"/>
          </a:ln>
        </p:spPr>
      </p:sp>
      <p:sp>
        <p:nvSpPr>
          <p:cNvPr id="16" name="num"/>
          <p:cNvSpPr/>
          <p:nvPr/>
        </p:nvSpPr>
        <p:spPr>
          <a:xfrm>
            <a:off x="6202680" y="2075688"/>
            <a:ext cx="292608" cy="292608"/>
          </a:xfrm>
          <a:prstGeom prst="ellipse">
            <a:avLst/>
          </a:prstGeom>
          <a:solidFill>
            <a:srgbClr val="D4FC00"/>
          </a:solidFill>
          <a:ln w="6350">
            <a:solidFill>
              <a:srgbClr val="D4FC00"/>
            </a:solidFill>
            <a:prstDash val="solid"/>
          </a:ln>
        </p:spPr>
      </p:sp>
      <p:sp>
        <p:nvSpPr>
          <p:cNvPr id="17" name="text"/>
          <p:cNvSpPr txBox="1"/>
          <p:nvPr/>
        </p:nvSpPr>
        <p:spPr>
          <a:xfrm>
            <a:off x="6202680" y="2075688"/>
            <a:ext cx="292608" cy="292608"/>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3</a:t>
            </a:r>
            <a:endParaRPr lang="en-US" sz="950" dirty="0"/>
          </a:p>
        </p:txBody>
      </p:sp>
      <p:sp>
        <p:nvSpPr>
          <p:cNvPr id="18" name="text"/>
          <p:cNvSpPr txBox="1"/>
          <p:nvPr/>
        </p:nvSpPr>
        <p:spPr>
          <a:xfrm>
            <a:off x="6586728" y="2075688"/>
            <a:ext cx="1615440" cy="292608"/>
          </a:xfrm>
          <a:prstGeom prst="rect">
            <a:avLst/>
          </a:prstGeom>
          <a:noFill/>
          <a:ln/>
        </p:spPr>
        <p:txBody>
          <a:bodyPr wrap="square" lIns="0" tIns="0" rIns="0" bIns="0" rtlCol="0" anchor="ctr"/>
          <a:lstStyle/>
          <a:p>
            <a:pPr algn="l" indent="0" marL="0">
              <a:lnSpc>
                <a:spcPct val="112000"/>
              </a:lnSpc>
              <a:buNone/>
            </a:pPr>
            <a:r>
              <a:rPr lang="en-US" sz="1200" b="1" dirty="0">
                <a:solidFill>
                  <a:srgbClr val="D4FC00"/>
                </a:solidFill>
                <a:latin typeface="Inter" pitchFamily="34" charset="0"/>
                <a:ea typeface="Inter" pitchFamily="34" charset="-122"/>
                <a:cs typeface="Inter" pitchFamily="34" charset="-120"/>
              </a:rPr>
              <a:t>Refreshed capability</a:t>
            </a:r>
            <a:endParaRPr lang="en-US" sz="1200" dirty="0"/>
          </a:p>
        </p:txBody>
      </p:sp>
      <p:sp>
        <p:nvSpPr>
          <p:cNvPr id="19" name="text"/>
          <p:cNvSpPr txBox="1"/>
          <p:nvPr/>
        </p:nvSpPr>
        <p:spPr>
          <a:xfrm>
            <a:off x="6202680" y="2560320"/>
            <a:ext cx="1981200" cy="1325880"/>
          </a:xfrm>
          <a:prstGeom prst="rect">
            <a:avLst/>
          </a:prstGeom>
          <a:noFill/>
          <a:ln/>
        </p:spPr>
        <p:txBody>
          <a:bodyPr wrap="square" lIns="0" tIns="0" rIns="0" bIns="0" rtlCol="0" anchor="t"/>
          <a:lstStyle/>
          <a:p>
            <a:pPr algn="l" indent="0" marL="0">
              <a:lnSpc>
                <a:spcPct val="112000"/>
              </a:lnSpc>
              <a:buNone/>
            </a:pPr>
            <a:r>
              <a:rPr lang="en-US" sz="950" dirty="0">
                <a:solidFill>
                  <a:srgbClr val="E8E8EA"/>
                </a:solidFill>
                <a:latin typeface="Inter" pitchFamily="34" charset="0"/>
                <a:ea typeface="Inter" pitchFamily="34" charset="-122"/>
                <a:cs typeface="Inter" pitchFamily="34" charset="-120"/>
              </a:rPr>
              <a:t>Terus diperbarui mengikuti pelanggan, pesaing, dan inisiatif baru. Merekombinasi yang ada lebih mudah daripada membangun dari nol.</a:t>
            </a:r>
            <a:endParaRPr lang="en-US" sz="950" dirty="0"/>
          </a:p>
        </p:txBody>
      </p:sp>
      <p:pic>
        <p:nvPicPr>
          <p:cNvPr id="20" name="Foto perajin" descr="preencoded.png">    </p:cNvPr>
          <p:cNvPicPr>
            <a:picLocks noChangeAspect="1"/>
          </p:cNvPicPr>
          <p:nvPr/>
        </p:nvPicPr>
        <p:blipFill>
          <a:blip r:embed="rId1"/>
          <a:stretch>
            <a:fillRect/>
          </a:stretch>
        </p:blipFill>
        <p:spPr>
          <a:xfrm>
            <a:off x="8595360" y="1874520"/>
            <a:ext cx="3093415" cy="2926080"/>
          </a:xfrm>
          <a:prstGeom prst="rect">
            <a:avLst/>
          </a:prstGeom>
        </p:spPr>
      </p:pic>
      <p:sp>
        <p:nvSpPr>
          <p:cNvPr id="21" name="tag"/>
          <p:cNvSpPr/>
          <p:nvPr/>
        </p:nvSpPr>
        <p:spPr>
          <a:xfrm>
            <a:off x="502920" y="4114800"/>
            <a:ext cx="7863840" cy="292608"/>
          </a:xfrm>
          <a:prstGeom prst="roundRect">
            <a:avLst>
              <a:gd name="adj" fmla="val 156250"/>
            </a:avLst>
          </a:prstGeom>
          <a:solidFill>
            <a:srgbClr val="D4FC00"/>
          </a:solidFill>
          <a:ln w="9525">
            <a:solidFill>
              <a:srgbClr val="D4FC00"/>
            </a:solidFill>
            <a:prstDash val="solid"/>
          </a:ln>
        </p:spPr>
      </p:sp>
      <p:sp>
        <p:nvSpPr>
          <p:cNvPr id="22" name="text"/>
          <p:cNvSpPr txBox="1"/>
          <p:nvPr/>
        </p:nvSpPr>
        <p:spPr>
          <a:xfrm>
            <a:off x="594360" y="4114800"/>
            <a:ext cx="7680960" cy="292608"/>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141417"/>
                </a:solidFill>
                <a:latin typeface="Inter" pitchFamily="34" charset="0"/>
                <a:ea typeface="Inter" pitchFamily="34" charset="-122"/>
                <a:cs typeface="Inter" pitchFamily="34" charset="-120"/>
              </a:rPr>
              <a:t>AKSELERATOR: JADIKAN BELAJAR UPAYA YANG DISENGAJA DAN BERI INSENTIF</a:t>
            </a:r>
            <a:endParaRPr lang="en-US" sz="750" dirty="0"/>
          </a:p>
        </p:txBody>
      </p:sp>
      <p:sp>
        <p:nvSpPr>
          <p:cNvPr id="23" name="card"/>
          <p:cNvSpPr/>
          <p:nvPr/>
        </p:nvSpPr>
        <p:spPr>
          <a:xfrm>
            <a:off x="502920" y="4544568"/>
            <a:ext cx="3867912" cy="1810512"/>
          </a:xfrm>
          <a:prstGeom prst="roundRect">
            <a:avLst>
              <a:gd name="adj" fmla="val 5051"/>
            </a:avLst>
          </a:prstGeom>
          <a:solidFill>
            <a:srgbClr val="FFFFFF"/>
          </a:solidFill>
          <a:ln w="6350">
            <a:solidFill>
              <a:srgbClr val="FFFFFF"/>
            </a:solidFill>
            <a:prstDash val="solid"/>
          </a:ln>
        </p:spPr>
      </p:sp>
      <p:sp>
        <p:nvSpPr>
          <p:cNvPr id="24" name="text"/>
          <p:cNvSpPr txBox="1"/>
          <p:nvPr/>
        </p:nvSpPr>
        <p:spPr>
          <a:xfrm>
            <a:off x="685800" y="4681728"/>
            <a:ext cx="3502152"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7A7A7E"/>
                </a:solidFill>
                <a:latin typeface="Inter" pitchFamily="34" charset="0"/>
                <a:ea typeface="Inter" pitchFamily="34" charset="-122"/>
                <a:cs typeface="Inter" pitchFamily="34" charset="-120"/>
              </a:rPr>
              <a:t>DUA BENTUK TINDAKAN MANAJER</a:t>
            </a:r>
            <a:endParaRPr lang="en-US" sz="750" dirty="0"/>
          </a:p>
        </p:txBody>
      </p:sp>
      <p:sp>
        <p:nvSpPr>
          <p:cNvPr id="25" name="text"/>
          <p:cNvSpPr txBox="1"/>
          <p:nvPr/>
        </p:nvSpPr>
        <p:spPr>
          <a:xfrm>
            <a:off x="685800" y="4928616"/>
            <a:ext cx="3502152" cy="1353312"/>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Memperkuat basis skill dan pengetahuan (semua level), dan mengoordinasikan kelompok kerja lintas unit (eksekutif senior yang punya wibawa untuk menegakkan kerja sama).</a:t>
            </a:r>
            <a:endParaRPr lang="en-US" sz="950" dirty="0"/>
          </a:p>
        </p:txBody>
      </p:sp>
      <p:sp>
        <p:nvSpPr>
          <p:cNvPr id="26" name="card"/>
          <p:cNvSpPr/>
          <p:nvPr/>
        </p:nvSpPr>
        <p:spPr>
          <a:xfrm>
            <a:off x="4498848" y="4544568"/>
            <a:ext cx="3867912" cy="1810512"/>
          </a:xfrm>
          <a:prstGeom prst="roundRect">
            <a:avLst>
              <a:gd name="adj" fmla="val 5051"/>
            </a:avLst>
          </a:prstGeom>
          <a:solidFill>
            <a:srgbClr val="FFFFFF"/>
          </a:solidFill>
          <a:ln w="6350">
            <a:solidFill>
              <a:srgbClr val="FFFFFF"/>
            </a:solidFill>
            <a:prstDash val="solid"/>
          </a:ln>
        </p:spPr>
      </p:sp>
      <p:sp>
        <p:nvSpPr>
          <p:cNvPr id="27" name="text"/>
          <p:cNvSpPr txBox="1"/>
          <p:nvPr/>
        </p:nvSpPr>
        <p:spPr>
          <a:xfrm>
            <a:off x="4681728" y="4681728"/>
            <a:ext cx="3502152"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7A7A7E"/>
                </a:solidFill>
                <a:latin typeface="Inter" pitchFamily="34" charset="0"/>
                <a:ea typeface="Inter" pitchFamily="34" charset="-122"/>
                <a:cs typeface="Inter" pitchFamily="34" charset="-120"/>
              </a:rPr>
              <a:t>CONTOH BUKU</a:t>
            </a:r>
            <a:endParaRPr lang="en-US" sz="750" dirty="0"/>
          </a:p>
        </p:txBody>
      </p:sp>
      <p:sp>
        <p:nvSpPr>
          <p:cNvPr id="28" name="text"/>
          <p:cNvSpPr txBox="1"/>
          <p:nvPr/>
        </p:nvSpPr>
        <p:spPr>
          <a:xfrm>
            <a:off x="4681728" y="4928616"/>
            <a:ext cx="3502152" cy="1353312"/>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Williams-Sonoma: katalog 1970, akuisisi Pottery Barn, e-commerce 2000, Fortune 500 pada 2019. Toyota: teknologi hybrid dan penyempurnaan Toyota Production System hingga melampaui GM.</a:t>
            </a:r>
            <a:endParaRPr lang="en-US" sz="950" dirty="0"/>
          </a:p>
        </p:txBody>
      </p:sp>
      <p:sp>
        <p:nvSpPr>
          <p:cNvPr id="29" name="card"/>
          <p:cNvSpPr/>
          <p:nvPr/>
        </p:nvSpPr>
        <p:spPr>
          <a:xfrm>
            <a:off x="8595360" y="4937760"/>
            <a:ext cx="3093415" cy="1417320"/>
          </a:xfrm>
          <a:prstGeom prst="roundRect">
            <a:avLst>
              <a:gd name="adj" fmla="val 6452"/>
            </a:avLst>
          </a:prstGeom>
          <a:solidFill>
            <a:srgbClr val="E6E6E6"/>
          </a:solidFill>
          <a:ln w="6350">
            <a:solidFill>
              <a:srgbClr val="E6E6E6"/>
            </a:solidFill>
            <a:prstDash val="solid"/>
          </a:ln>
        </p:spPr>
      </p:sp>
      <p:sp>
        <p:nvSpPr>
          <p:cNvPr id="30" name="text"/>
          <p:cNvSpPr txBox="1"/>
          <p:nvPr/>
        </p:nvSpPr>
        <p:spPr>
          <a:xfrm>
            <a:off x="8778240" y="4937760"/>
            <a:ext cx="2727655" cy="1417320"/>
          </a:xfrm>
          <a:prstGeom prst="rect">
            <a:avLst/>
          </a:prstGeom>
          <a:noFill/>
          <a:ln/>
        </p:spPr>
        <p:txBody>
          <a:bodyPr wrap="square" lIns="0" tIns="0" rIns="0" bIns="0" rtlCol="0" anchor="ctr"/>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Kemajuan awal biasanya tersendat. Yang mempercepat adalah belajar yang disengaja dan insentif yang tepat.</a:t>
            </a:r>
            <a:endParaRPr lang="en-US" sz="9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AKUISISI DAN KEMITRAAN MEMBELI WAKTU, BUKAN INTEGRASI</a:t>
            </a:r>
            <a:endParaRPr lang="en-US" sz="3000" dirty="0"/>
          </a:p>
        </p:txBody>
      </p:sp>
      <p:sp>
        <p:nvSpPr>
          <p:cNvPr id="3" name="card"/>
          <p:cNvSpPr/>
          <p:nvPr/>
        </p:nvSpPr>
        <p:spPr>
          <a:xfrm>
            <a:off x="502920" y="1874520"/>
            <a:ext cx="3383280" cy="3749040"/>
          </a:xfrm>
          <a:prstGeom prst="roundRect">
            <a:avLst>
              <a:gd name="adj" fmla="val 2703"/>
            </a:avLst>
          </a:prstGeom>
          <a:solidFill>
            <a:srgbClr val="141417"/>
          </a:solidFill>
          <a:ln w="6350">
            <a:solidFill>
              <a:srgbClr val="141417"/>
            </a:solidFill>
            <a:prstDash val="solid"/>
          </a:ln>
        </p:spPr>
      </p:sp>
      <p:sp>
        <p:nvSpPr>
          <p:cNvPr id="4" name="text"/>
          <p:cNvSpPr txBox="1"/>
          <p:nvPr/>
        </p:nvSpPr>
        <p:spPr>
          <a:xfrm>
            <a:off x="704088" y="2057400"/>
            <a:ext cx="2980944"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D4FC00"/>
                </a:solidFill>
                <a:latin typeface="Inter" pitchFamily="34" charset="0"/>
                <a:ea typeface="Inter" pitchFamily="34" charset="-122"/>
                <a:cs typeface="Inter" pitchFamily="34" charset="-120"/>
              </a:rPr>
              <a:t>MERGERS AND ACQUISITIONS</a:t>
            </a:r>
            <a:endParaRPr lang="en-US" sz="750" dirty="0"/>
          </a:p>
        </p:txBody>
      </p:sp>
      <p:sp>
        <p:nvSpPr>
          <p:cNvPr id="5" name="text"/>
          <p:cNvSpPr txBox="1"/>
          <p:nvPr/>
        </p:nvSpPr>
        <p:spPr>
          <a:xfrm>
            <a:off x="704088" y="2331720"/>
            <a:ext cx="2980944" cy="3200400"/>
          </a:xfrm>
          <a:prstGeom prst="rect">
            <a:avLst/>
          </a:prstGeom>
          <a:noFill/>
          <a:ln/>
        </p:spPr>
        <p:txBody>
          <a:bodyPr wrap="square" lIns="0" tIns="0" rIns="0" bIns="0" rtlCol="0" anchor="t"/>
          <a:lstStyle/>
          <a:p>
            <a:pPr algn="l" marL="127000" indent="-127000">
              <a:lnSpc>
                <a:spcPct val="112000"/>
              </a:lnSpc>
              <a:spcAft>
                <a:spcPts val="500"/>
              </a:spcAft>
              <a:buSzPct val="100000"/>
              <a:buChar char="•"/>
            </a:pPr>
            <a:r>
              <a:rPr lang="en-US" sz="950" dirty="0">
                <a:solidFill>
                  <a:srgbClr val="E8E8EA"/>
                </a:solidFill>
                <a:latin typeface="Inter" pitchFamily="34" charset="0"/>
                <a:ea typeface="Inter" pitchFamily="34" charset="-122"/>
                <a:cs typeface="Inter" pitchFamily="34" charset="-120"/>
              </a:rPr>
              <a:t>Tepat bila capability terlalu jauh dari basis yang ada, atau waktu sangat menentukan.</a:t>
            </a:r>
            <a:endParaRPr lang="en-US" sz="950" dirty="0"/>
          </a:p>
          <a:p>
            <a:pPr algn="l" marL="127000" indent="-127000">
              <a:lnSpc>
                <a:spcPct val="112000"/>
              </a:lnSpc>
              <a:spcAft>
                <a:spcPts val="500"/>
              </a:spcAft>
              <a:buSzPct val="100000"/>
              <a:buChar char="•"/>
            </a:pPr>
            <a:r>
              <a:rPr lang="en-US" sz="950" dirty="0">
                <a:solidFill>
                  <a:srgbClr val="E8E8EA"/>
                </a:solidFill>
                <a:latin typeface="Inter" pitchFamily="34" charset="0"/>
                <a:ea typeface="Inter" pitchFamily="34" charset="-122"/>
                <a:cs typeface="Inter" pitchFamily="34" charset="-120"/>
              </a:rPr>
              <a:t>Yang dibeli adalah tacit knowledge dan rutinitas yang rumit, sehingga sulit dipindahkan.</a:t>
            </a:r>
            <a:endParaRPr lang="en-US" sz="950" dirty="0"/>
          </a:p>
          <a:p>
            <a:pPr algn="l" marL="127000" indent="-127000">
              <a:lnSpc>
                <a:spcPct val="112000"/>
              </a:lnSpc>
              <a:spcAft>
                <a:spcPts val="500"/>
              </a:spcAft>
              <a:buSzPct val="100000"/>
              <a:buChar char="•"/>
            </a:pPr>
            <a:r>
              <a:rPr lang="en-US" sz="950" dirty="0">
                <a:solidFill>
                  <a:srgbClr val="E8E8EA"/>
                </a:solidFill>
                <a:latin typeface="Inter" pitchFamily="34" charset="0"/>
                <a:ea typeface="Inter" pitchFamily="34" charset="-122"/>
                <a:cs typeface="Inter" pitchFamily="34" charset="-120"/>
              </a:rPr>
              <a:t>Meta membelanjakan lebih dari US$25 miliar untuk AR, pengenalan suara, dan penerjemahan; integrasinya terbukti sulit.</a:t>
            </a:r>
            <a:endParaRPr lang="en-US" sz="950" dirty="0"/>
          </a:p>
        </p:txBody>
      </p:sp>
      <p:sp>
        <p:nvSpPr>
          <p:cNvPr id="6" name="card"/>
          <p:cNvSpPr/>
          <p:nvPr/>
        </p:nvSpPr>
        <p:spPr>
          <a:xfrm>
            <a:off x="4023360" y="1874520"/>
            <a:ext cx="3383280" cy="3749040"/>
          </a:xfrm>
          <a:prstGeom prst="roundRect">
            <a:avLst>
              <a:gd name="adj" fmla="val 2703"/>
            </a:avLst>
          </a:prstGeom>
          <a:solidFill>
            <a:srgbClr val="FFFFFF"/>
          </a:solidFill>
          <a:ln w="6350">
            <a:solidFill>
              <a:srgbClr val="FFFFFF"/>
            </a:solidFill>
            <a:prstDash val="solid"/>
          </a:ln>
        </p:spPr>
      </p:sp>
      <p:sp>
        <p:nvSpPr>
          <p:cNvPr id="7" name="text"/>
          <p:cNvSpPr txBox="1"/>
          <p:nvPr/>
        </p:nvSpPr>
        <p:spPr>
          <a:xfrm>
            <a:off x="4224528" y="2057400"/>
            <a:ext cx="2980944"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7A7A7E"/>
                </a:solidFill>
                <a:latin typeface="Inter" pitchFamily="34" charset="0"/>
                <a:ea typeface="Inter" pitchFamily="34" charset="-122"/>
                <a:cs typeface="Inter" pitchFamily="34" charset="-120"/>
              </a:rPr>
              <a:t>COLLABORATIVE PARTNERSHIPS</a:t>
            </a:r>
            <a:endParaRPr lang="en-US" sz="750" dirty="0"/>
          </a:p>
        </p:txBody>
      </p:sp>
      <p:sp>
        <p:nvSpPr>
          <p:cNvPr id="8" name="num"/>
          <p:cNvSpPr/>
          <p:nvPr/>
        </p:nvSpPr>
        <p:spPr>
          <a:xfrm>
            <a:off x="4224528" y="2395728"/>
            <a:ext cx="274320" cy="274320"/>
          </a:xfrm>
          <a:prstGeom prst="ellipse">
            <a:avLst/>
          </a:prstGeom>
          <a:solidFill>
            <a:srgbClr val="D4FC00"/>
          </a:solidFill>
          <a:ln w="6350">
            <a:solidFill>
              <a:srgbClr val="D4FC00"/>
            </a:solidFill>
            <a:prstDash val="solid"/>
          </a:ln>
        </p:spPr>
      </p:sp>
      <p:sp>
        <p:nvSpPr>
          <p:cNvPr id="9" name="text"/>
          <p:cNvSpPr txBox="1"/>
          <p:nvPr/>
        </p:nvSpPr>
        <p:spPr>
          <a:xfrm>
            <a:off x="4224528" y="2395728"/>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1</a:t>
            </a:r>
            <a:endParaRPr lang="en-US" sz="950" dirty="0"/>
          </a:p>
        </p:txBody>
      </p:sp>
      <p:sp>
        <p:nvSpPr>
          <p:cNvPr id="10" name="text"/>
          <p:cNvSpPr txBox="1"/>
          <p:nvPr/>
        </p:nvSpPr>
        <p:spPr>
          <a:xfrm>
            <a:off x="4617720" y="2377440"/>
            <a:ext cx="2587752" cy="914400"/>
          </a:xfrm>
          <a:prstGeom prst="rect">
            <a:avLst/>
          </a:prstGeom>
          <a:noFill/>
          <a:ln/>
        </p:spPr>
        <p:txBody>
          <a:bodyPr wrap="square" lIns="0" tIns="0" rIns="0" bIns="0" rtlCol="0" anchor="t"/>
          <a:lstStyle/>
          <a:p>
            <a:pPr algn="l" indent="0" marL="0">
              <a:lnSpc>
                <a:spcPct val="112000"/>
              </a:lnSpc>
              <a:buNone/>
            </a:pPr>
            <a:r>
              <a:rPr lang="en-US" sz="950" b="1" dirty="0">
                <a:solidFill>
                  <a:srgbClr val="1C1C1E"/>
                </a:solidFill>
                <a:latin typeface="Inter" pitchFamily="34" charset="0"/>
                <a:ea typeface="Inter" pitchFamily="34" charset="-122"/>
                <a:cs typeface="Inter" pitchFamily="34" charset="-120"/>
              </a:rPr>
              <a:t>Outsource </a:t>
            </a:r>
            <a:pPr algn="l" indent="0" marL="0">
              <a:lnSpc>
                <a:spcPct val="112000"/>
              </a:lnSpc>
              <a:buNone/>
            </a:pPr>
            <a:r>
              <a:rPr lang="en-US" sz="950" dirty="0">
                <a:solidFill>
                  <a:srgbClr val="1C1C1E"/>
                </a:solidFill>
                <a:latin typeface="Inter" pitchFamily="34" charset="0"/>
                <a:ea typeface="Inter" pitchFamily="34" charset="-122"/>
                <a:cs typeface="Inter" pitchFamily="34" charset="-120"/>
              </a:rPr>
              <a:t>fungsi yang lemah ke pemasok kunci, agar fokus pada aktivitas inti.</a:t>
            </a:r>
            <a:endParaRPr lang="en-US" sz="950" dirty="0"/>
          </a:p>
        </p:txBody>
      </p:sp>
      <p:sp>
        <p:nvSpPr>
          <p:cNvPr id="11" name="num"/>
          <p:cNvSpPr/>
          <p:nvPr/>
        </p:nvSpPr>
        <p:spPr>
          <a:xfrm>
            <a:off x="4224528" y="3383280"/>
            <a:ext cx="274320" cy="274320"/>
          </a:xfrm>
          <a:prstGeom prst="ellipse">
            <a:avLst/>
          </a:prstGeom>
          <a:solidFill>
            <a:srgbClr val="D4FC00"/>
          </a:solidFill>
          <a:ln w="6350">
            <a:solidFill>
              <a:srgbClr val="D4FC00"/>
            </a:solidFill>
            <a:prstDash val="solid"/>
          </a:ln>
        </p:spPr>
      </p:sp>
      <p:sp>
        <p:nvSpPr>
          <p:cNvPr id="12" name="text"/>
          <p:cNvSpPr txBox="1"/>
          <p:nvPr/>
        </p:nvSpPr>
        <p:spPr>
          <a:xfrm>
            <a:off x="4224528" y="3383280"/>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2</a:t>
            </a:r>
            <a:endParaRPr lang="en-US" sz="950" dirty="0"/>
          </a:p>
        </p:txBody>
      </p:sp>
      <p:sp>
        <p:nvSpPr>
          <p:cNvPr id="13" name="text"/>
          <p:cNvSpPr txBox="1"/>
          <p:nvPr/>
        </p:nvSpPr>
        <p:spPr>
          <a:xfrm>
            <a:off x="4617720" y="3364992"/>
            <a:ext cx="2587752" cy="914400"/>
          </a:xfrm>
          <a:prstGeom prst="rect">
            <a:avLst/>
          </a:prstGeom>
          <a:noFill/>
          <a:ln/>
        </p:spPr>
        <p:txBody>
          <a:bodyPr wrap="square" lIns="0" tIns="0" rIns="0" bIns="0" rtlCol="0" anchor="t"/>
          <a:lstStyle/>
          <a:p>
            <a:pPr algn="l" indent="0" marL="0">
              <a:lnSpc>
                <a:spcPct val="112000"/>
              </a:lnSpc>
              <a:buNone/>
            </a:pPr>
            <a:r>
              <a:rPr lang="en-US" sz="950" b="1" dirty="0">
                <a:solidFill>
                  <a:srgbClr val="1C1C1E"/>
                </a:solidFill>
                <a:latin typeface="Inter" pitchFamily="34" charset="0"/>
                <a:ea typeface="Inter" pitchFamily="34" charset="-122"/>
                <a:cs typeface="Inter" pitchFamily="34" charset="-120"/>
              </a:rPr>
              <a:t>Berkolaborasi </a:t>
            </a:r>
            <a:pPr algn="l" indent="0" marL="0">
              <a:lnSpc>
                <a:spcPct val="112000"/>
              </a:lnSpc>
              <a:buNone/>
            </a:pPr>
            <a:r>
              <a:rPr lang="en-US" sz="950" dirty="0">
                <a:solidFill>
                  <a:srgbClr val="1C1C1E"/>
                </a:solidFill>
                <a:latin typeface="Inter" pitchFamily="34" charset="0"/>
                <a:ea typeface="Inter" pitchFamily="34" charset="-122"/>
                <a:cs typeface="Inter" pitchFamily="34" charset="-120"/>
              </a:rPr>
              <a:t>lewat joint venture atau aliansi; pilih mitra dari gaya manajemen dan budaya, bukan hanya aset.</a:t>
            </a:r>
            <a:endParaRPr lang="en-US" sz="950" dirty="0"/>
          </a:p>
        </p:txBody>
      </p:sp>
      <p:sp>
        <p:nvSpPr>
          <p:cNvPr id="14" name="num"/>
          <p:cNvSpPr/>
          <p:nvPr/>
        </p:nvSpPr>
        <p:spPr>
          <a:xfrm>
            <a:off x="4224528" y="4370832"/>
            <a:ext cx="274320" cy="274320"/>
          </a:xfrm>
          <a:prstGeom prst="ellipse">
            <a:avLst/>
          </a:prstGeom>
          <a:solidFill>
            <a:srgbClr val="D4FC00"/>
          </a:solidFill>
          <a:ln w="6350">
            <a:solidFill>
              <a:srgbClr val="D4FC00"/>
            </a:solidFill>
            <a:prstDash val="solid"/>
          </a:ln>
        </p:spPr>
      </p:sp>
      <p:sp>
        <p:nvSpPr>
          <p:cNvPr id="15" name="text"/>
          <p:cNvSpPr txBox="1"/>
          <p:nvPr/>
        </p:nvSpPr>
        <p:spPr>
          <a:xfrm>
            <a:off x="4224528" y="4370832"/>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3</a:t>
            </a:r>
            <a:endParaRPr lang="en-US" sz="950" dirty="0"/>
          </a:p>
        </p:txBody>
      </p:sp>
      <p:sp>
        <p:nvSpPr>
          <p:cNvPr id="16" name="text"/>
          <p:cNvSpPr txBox="1"/>
          <p:nvPr/>
        </p:nvSpPr>
        <p:spPr>
          <a:xfrm>
            <a:off x="4617720" y="4352544"/>
            <a:ext cx="2587752" cy="914400"/>
          </a:xfrm>
          <a:prstGeom prst="rect">
            <a:avLst/>
          </a:prstGeom>
          <a:noFill/>
          <a:ln/>
        </p:spPr>
        <p:txBody>
          <a:bodyPr wrap="square" lIns="0" tIns="0" rIns="0" bIns="0" rtlCol="0" anchor="t"/>
          <a:lstStyle/>
          <a:p>
            <a:pPr algn="l" indent="0" marL="0">
              <a:lnSpc>
                <a:spcPct val="112000"/>
              </a:lnSpc>
              <a:buNone/>
            </a:pPr>
            <a:r>
              <a:rPr lang="en-US" sz="950" b="1" dirty="0">
                <a:solidFill>
                  <a:srgbClr val="1C1C1E"/>
                </a:solidFill>
                <a:latin typeface="Inter" pitchFamily="34" charset="0"/>
                <a:ea typeface="Inter" pitchFamily="34" charset="-122"/>
                <a:cs typeface="Inter" pitchFamily="34" charset="-120"/>
              </a:rPr>
              <a:t>Belajar </a:t>
            </a:r>
            <a:pPr algn="l" indent="0" marL="0">
              <a:lnSpc>
                <a:spcPct val="112000"/>
              </a:lnSpc>
              <a:buNone/>
            </a:pPr>
            <a:r>
              <a:rPr lang="en-US" sz="950" dirty="0">
                <a:solidFill>
                  <a:srgbClr val="1C1C1E"/>
                </a:solidFill>
                <a:latin typeface="Inter" pitchFamily="34" charset="0"/>
                <a:ea typeface="Inter" pitchFamily="34" charset="-122"/>
                <a:cs typeface="Inter" pitchFamily="34" charset="-120"/>
              </a:rPr>
              <a:t>dari mitra lalu menginternalisasi. Harus dua arah; bila sepihak, kepercayaan rusak.</a:t>
            </a:r>
            <a:endParaRPr lang="en-US" sz="950" dirty="0"/>
          </a:p>
        </p:txBody>
      </p:sp>
      <p:pic>
        <p:nvPicPr>
          <p:cNvPr id="17" name="Foto insinyur dua perusahaan" descr="preencoded.png">    </p:cNvPr>
          <p:cNvPicPr>
            <a:picLocks noChangeAspect="1"/>
          </p:cNvPicPr>
          <p:nvPr/>
        </p:nvPicPr>
        <p:blipFill>
          <a:blip r:embed="rId1"/>
          <a:stretch>
            <a:fillRect/>
          </a:stretch>
        </p:blipFill>
        <p:spPr>
          <a:xfrm>
            <a:off x="7589520" y="1874520"/>
            <a:ext cx="4099255" cy="2697480"/>
          </a:xfrm>
          <a:prstGeom prst="rect">
            <a:avLst/>
          </a:prstGeom>
        </p:spPr>
      </p:pic>
      <p:sp>
        <p:nvSpPr>
          <p:cNvPr id="18" name="card"/>
          <p:cNvSpPr/>
          <p:nvPr/>
        </p:nvSpPr>
        <p:spPr>
          <a:xfrm>
            <a:off x="7589520" y="4709160"/>
            <a:ext cx="4099255" cy="914400"/>
          </a:xfrm>
          <a:prstGeom prst="roundRect">
            <a:avLst>
              <a:gd name="adj" fmla="val 10000"/>
            </a:avLst>
          </a:prstGeom>
          <a:solidFill>
            <a:srgbClr val="D4FC00"/>
          </a:solidFill>
          <a:ln w="6350">
            <a:solidFill>
              <a:srgbClr val="D4FC00"/>
            </a:solidFill>
            <a:prstDash val="solid"/>
          </a:ln>
        </p:spPr>
      </p:sp>
      <p:sp>
        <p:nvSpPr>
          <p:cNvPr id="19" name="text"/>
          <p:cNvSpPr txBox="1"/>
          <p:nvPr/>
        </p:nvSpPr>
        <p:spPr>
          <a:xfrm>
            <a:off x="7772400" y="4709160"/>
            <a:ext cx="3733495" cy="914400"/>
          </a:xfrm>
          <a:prstGeom prst="rect">
            <a:avLst/>
          </a:prstGeom>
          <a:noFill/>
          <a:ln/>
        </p:spPr>
        <p:txBody>
          <a:bodyPr wrap="square" lIns="0" tIns="0" rIns="0" bIns="0" rtlCol="0" anchor="ctr"/>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Kemitraan lintas industri lebih aman: produsen mobil bermitra dengan Waymo, Nvidia, dan Mobileye; Nike dengan Bluesign.</a:t>
            </a:r>
            <a:endParaRPr lang="en-US" sz="950" dirty="0"/>
          </a:p>
        </p:txBody>
      </p:sp>
      <p:sp>
        <p:nvSpPr>
          <p:cNvPr id="20" name="text"/>
          <p:cNvSpPr txBox="1"/>
          <p:nvPr/>
        </p:nvSpPr>
        <p:spPr>
          <a:xfrm>
            <a:off x="502920" y="5760720"/>
            <a:ext cx="11185855" cy="457200"/>
          </a:xfrm>
          <a:prstGeom prst="rect">
            <a:avLst/>
          </a:prstGeom>
          <a:noFill/>
          <a:ln/>
        </p:spPr>
        <p:txBody>
          <a:bodyPr wrap="square" lIns="0" tIns="0" rIns="0" bIns="0" rtlCol="0" anchor="t"/>
          <a:lstStyle/>
          <a:p>
            <a:pPr algn="l" indent="0" marL="0">
              <a:lnSpc>
                <a:spcPct val="112000"/>
              </a:lnSpc>
              <a:buNone/>
            </a:pPr>
            <a:r>
              <a:rPr lang="en-US" sz="1000" dirty="0">
                <a:solidFill>
                  <a:srgbClr val="7A7A7E"/>
                </a:solidFill>
                <a:latin typeface="Inter" pitchFamily="34" charset="0"/>
                <a:ea typeface="Inter" pitchFamily="34" charset="-122"/>
                <a:cs typeface="Inter" pitchFamily="34" charset="-120"/>
              </a:rPr>
              <a:t>Capability yang dibeli tetap harus ditanam ke rutinitas organisasi sendiri. Di situlah orang (aksi 1) dan struktur (aksi 3) menentukan.</a:t>
            </a:r>
            <a:endParaRPr lang="en-US" sz="100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EKSEKUSI YANG UNGGUL ADALAH KEUNGGULAN ITU SENDIRI</a:t>
            </a:r>
            <a:endParaRPr lang="en-US" sz="3000" dirty="0"/>
          </a:p>
        </p:txBody>
      </p:sp>
      <p:pic>
        <p:nvPicPr>
          <p:cNvPr id="3" name="Foto atelier busana" descr="preencoded.png">    </p:cNvPr>
          <p:cNvPicPr>
            <a:picLocks noChangeAspect="1"/>
          </p:cNvPicPr>
          <p:nvPr/>
        </p:nvPicPr>
        <p:blipFill>
          <a:blip r:embed="rId1"/>
          <a:stretch>
            <a:fillRect/>
          </a:stretch>
        </p:blipFill>
        <p:spPr>
          <a:xfrm>
            <a:off x="502920" y="1874520"/>
            <a:ext cx="4206240" cy="3154680"/>
          </a:xfrm>
          <a:prstGeom prst="rect">
            <a:avLst/>
          </a:prstGeom>
        </p:spPr>
      </p:pic>
      <p:sp>
        <p:nvSpPr>
          <p:cNvPr id="4" name="card"/>
          <p:cNvSpPr/>
          <p:nvPr/>
        </p:nvSpPr>
        <p:spPr>
          <a:xfrm>
            <a:off x="502920" y="5166360"/>
            <a:ext cx="4206240" cy="1188720"/>
          </a:xfrm>
          <a:prstGeom prst="roundRect">
            <a:avLst>
              <a:gd name="adj" fmla="val 7692"/>
            </a:avLst>
          </a:prstGeom>
          <a:solidFill>
            <a:srgbClr val="141417"/>
          </a:solidFill>
          <a:ln w="6350">
            <a:solidFill>
              <a:srgbClr val="141417"/>
            </a:solidFill>
            <a:prstDash val="solid"/>
          </a:ln>
        </p:spPr>
      </p:sp>
      <p:sp>
        <p:nvSpPr>
          <p:cNvPr id="5" name="text"/>
          <p:cNvSpPr txBox="1"/>
          <p:nvPr/>
        </p:nvSpPr>
        <p:spPr>
          <a:xfrm>
            <a:off x="685800" y="5166360"/>
            <a:ext cx="3840480" cy="1188720"/>
          </a:xfrm>
          <a:prstGeom prst="rect">
            <a:avLst/>
          </a:prstGeom>
          <a:noFill/>
          <a:ln/>
        </p:spPr>
        <p:txBody>
          <a:bodyPr wrap="square" lIns="0" tIns="0" rIns="0" bIns="0" rtlCol="0" anchor="ctr"/>
          <a:lstStyle/>
          <a:p>
            <a:pPr algn="l" indent="0" marL="0">
              <a:lnSpc>
                <a:spcPct val="112000"/>
              </a:lnSpc>
              <a:buNone/>
            </a:pPr>
            <a:r>
              <a:rPr lang="en-US" sz="950" dirty="0">
                <a:solidFill>
                  <a:srgbClr val="E8E8EA"/>
                </a:solidFill>
                <a:latin typeface="Inter" pitchFamily="34" charset="0"/>
                <a:ea typeface="Inter" pitchFamily="34" charset="-122"/>
                <a:cs typeface="Inter" pitchFamily="34" charset="-120"/>
              </a:rPr>
              <a:t>Mengapa bertahan: execution capability bersifat socially complex dan dibangun bertahun-tahun, sehingga sulit ditiru dan tidak tersubstitusi. Bila strategi mudah ditiru, jalan satu-satunya adalah out-execute pesaing.</a:t>
            </a:r>
            <a:endParaRPr lang="en-US" sz="950" dirty="0"/>
          </a:p>
        </p:txBody>
      </p:sp>
      <p:sp>
        <p:nvSpPr>
          <p:cNvPr id="6" name="card"/>
          <p:cNvSpPr/>
          <p:nvPr/>
        </p:nvSpPr>
        <p:spPr>
          <a:xfrm>
            <a:off x="4937760" y="1874520"/>
            <a:ext cx="3311500" cy="1371600"/>
          </a:xfrm>
          <a:prstGeom prst="roundRect">
            <a:avLst>
              <a:gd name="adj" fmla="val 6667"/>
            </a:avLst>
          </a:prstGeom>
          <a:solidFill>
            <a:srgbClr val="D4FC00"/>
          </a:solidFill>
          <a:ln w="6350">
            <a:solidFill>
              <a:srgbClr val="D4FC00"/>
            </a:solidFill>
            <a:prstDash val="solid"/>
          </a:ln>
        </p:spPr>
      </p:sp>
      <p:sp>
        <p:nvSpPr>
          <p:cNvPr id="7" name="text"/>
          <p:cNvSpPr txBox="1"/>
          <p:nvPr/>
        </p:nvSpPr>
        <p:spPr>
          <a:xfrm>
            <a:off x="5120640" y="1984248"/>
            <a:ext cx="2945740" cy="685800"/>
          </a:xfrm>
          <a:prstGeom prst="rect">
            <a:avLst/>
          </a:prstGeom>
          <a:noFill/>
          <a:ln/>
        </p:spPr>
        <p:txBody>
          <a:bodyPr wrap="square" lIns="0" tIns="0" rIns="0" bIns="0" rtlCol="0" anchor="t"/>
          <a:lstStyle/>
          <a:p>
            <a:pPr algn="l" indent="0" marL="0">
              <a:lnSpc>
                <a:spcPct val="112000"/>
              </a:lnSpc>
              <a:buNone/>
            </a:pPr>
            <a:r>
              <a:rPr lang="en-US" sz="2400" b="1" dirty="0">
                <a:solidFill>
                  <a:srgbClr val="141417"/>
                </a:solidFill>
                <a:latin typeface="Inter" pitchFamily="34" charset="0"/>
                <a:ea typeface="Inter" pitchFamily="34" charset="-122"/>
                <a:cs typeface="Inter" pitchFamily="34" charset="-120"/>
              </a:rPr>
              <a:t>4 minggu</a:t>
            </a:r>
            <a:endParaRPr lang="en-US" sz="2400" dirty="0"/>
          </a:p>
        </p:txBody>
      </p:sp>
      <p:sp>
        <p:nvSpPr>
          <p:cNvPr id="8" name="text"/>
          <p:cNvSpPr txBox="1"/>
          <p:nvPr/>
        </p:nvSpPr>
        <p:spPr>
          <a:xfrm>
            <a:off x="5120640" y="2578608"/>
            <a:ext cx="2945740" cy="594360"/>
          </a:xfrm>
          <a:prstGeom prst="rect">
            <a:avLst/>
          </a:prstGeom>
          <a:noFill/>
          <a:ln/>
        </p:spPr>
        <p:txBody>
          <a:bodyPr wrap="square" lIns="0" tIns="0" rIns="0" bIns="0" rtlCol="0" anchor="t"/>
          <a:lstStyle/>
          <a:p>
            <a:pPr algn="l" indent="0" marL="0">
              <a:lnSpc>
                <a:spcPct val="110000"/>
              </a:lnSpc>
              <a:buNone/>
            </a:pPr>
            <a:r>
              <a:rPr lang="en-US" sz="900" dirty="0">
                <a:solidFill>
                  <a:srgbClr val="1C1C1E"/>
                </a:solidFill>
                <a:latin typeface="Inter" pitchFamily="34" charset="0"/>
                <a:ea typeface="Inter" pitchFamily="34" charset="-122"/>
                <a:cs typeface="Inter" pitchFamily="34" charset="-120"/>
              </a:rPr>
              <a:t>dari desain sampai rak toko. Peritel lain: 6 bulan.</a:t>
            </a:r>
            <a:endParaRPr lang="en-US" sz="900" dirty="0"/>
          </a:p>
        </p:txBody>
      </p:sp>
      <p:sp>
        <p:nvSpPr>
          <p:cNvPr id="9" name="card"/>
          <p:cNvSpPr/>
          <p:nvPr/>
        </p:nvSpPr>
        <p:spPr>
          <a:xfrm>
            <a:off x="8377276" y="1874520"/>
            <a:ext cx="3311500" cy="1371600"/>
          </a:xfrm>
          <a:prstGeom prst="roundRect">
            <a:avLst>
              <a:gd name="adj" fmla="val 6667"/>
            </a:avLst>
          </a:prstGeom>
          <a:solidFill>
            <a:srgbClr val="FFFFFF"/>
          </a:solidFill>
          <a:ln w="6350">
            <a:solidFill>
              <a:srgbClr val="FFFFFF"/>
            </a:solidFill>
            <a:prstDash val="solid"/>
          </a:ln>
        </p:spPr>
      </p:sp>
      <p:sp>
        <p:nvSpPr>
          <p:cNvPr id="10" name="text"/>
          <p:cNvSpPr txBox="1"/>
          <p:nvPr/>
        </p:nvSpPr>
        <p:spPr>
          <a:xfrm>
            <a:off x="8560156" y="1984248"/>
            <a:ext cx="2945740" cy="685800"/>
          </a:xfrm>
          <a:prstGeom prst="rect">
            <a:avLst/>
          </a:prstGeom>
          <a:noFill/>
          <a:ln/>
        </p:spPr>
        <p:txBody>
          <a:bodyPr wrap="square" lIns="0" tIns="0" rIns="0" bIns="0" rtlCol="0" anchor="t"/>
          <a:lstStyle/>
          <a:p>
            <a:pPr algn="l" indent="0" marL="0">
              <a:lnSpc>
                <a:spcPct val="112000"/>
              </a:lnSpc>
              <a:buNone/>
            </a:pPr>
            <a:r>
              <a:rPr lang="en-US" sz="2400" b="1" dirty="0">
                <a:solidFill>
                  <a:srgbClr val="141417"/>
                </a:solidFill>
                <a:latin typeface="Inter" pitchFamily="34" charset="0"/>
                <a:ea typeface="Inter" pitchFamily="34" charset="-122"/>
                <a:cs typeface="Inter" pitchFamily="34" charset="-120"/>
              </a:rPr>
              <a:t>12.000</a:t>
            </a:r>
            <a:endParaRPr lang="en-US" sz="2400" dirty="0"/>
          </a:p>
        </p:txBody>
      </p:sp>
      <p:sp>
        <p:nvSpPr>
          <p:cNvPr id="11" name="text"/>
          <p:cNvSpPr txBox="1"/>
          <p:nvPr/>
        </p:nvSpPr>
        <p:spPr>
          <a:xfrm>
            <a:off x="8560156" y="2578608"/>
            <a:ext cx="2945740" cy="594360"/>
          </a:xfrm>
          <a:prstGeom prst="rect">
            <a:avLst/>
          </a:prstGeom>
          <a:noFill/>
          <a:ln/>
        </p:spPr>
        <p:txBody>
          <a:bodyPr wrap="square" lIns="0" tIns="0" rIns="0" bIns="0" rtlCol="0" anchor="t"/>
          <a:lstStyle/>
          <a:p>
            <a:pPr algn="l" indent="0" marL="0">
              <a:lnSpc>
                <a:spcPct val="110000"/>
              </a:lnSpc>
              <a:buNone/>
            </a:pPr>
            <a:r>
              <a:rPr lang="en-US" sz="900" dirty="0">
                <a:solidFill>
                  <a:srgbClr val="7A7A7E"/>
                </a:solidFill>
                <a:latin typeface="Inter" pitchFamily="34" charset="0"/>
                <a:ea typeface="Inter" pitchFamily="34" charset="-122"/>
                <a:cs typeface="Inter" pitchFamily="34" charset="-120"/>
              </a:rPr>
              <a:t>model baru per tahun. Rata-rata industri: 3.000.</a:t>
            </a:r>
            <a:endParaRPr lang="en-US" sz="900" dirty="0"/>
          </a:p>
        </p:txBody>
      </p:sp>
      <p:sp>
        <p:nvSpPr>
          <p:cNvPr id="12" name="card"/>
          <p:cNvSpPr/>
          <p:nvPr/>
        </p:nvSpPr>
        <p:spPr>
          <a:xfrm>
            <a:off x="4937760" y="3374136"/>
            <a:ext cx="3311500" cy="1371600"/>
          </a:xfrm>
          <a:prstGeom prst="roundRect">
            <a:avLst>
              <a:gd name="adj" fmla="val 6667"/>
            </a:avLst>
          </a:prstGeom>
          <a:solidFill>
            <a:srgbClr val="FFFFFF"/>
          </a:solidFill>
          <a:ln w="6350">
            <a:solidFill>
              <a:srgbClr val="FFFFFF"/>
            </a:solidFill>
            <a:prstDash val="solid"/>
          </a:ln>
        </p:spPr>
      </p:sp>
      <p:sp>
        <p:nvSpPr>
          <p:cNvPr id="13" name="text"/>
          <p:cNvSpPr txBox="1"/>
          <p:nvPr/>
        </p:nvSpPr>
        <p:spPr>
          <a:xfrm>
            <a:off x="5120640" y="3483864"/>
            <a:ext cx="2945740" cy="685800"/>
          </a:xfrm>
          <a:prstGeom prst="rect">
            <a:avLst/>
          </a:prstGeom>
          <a:noFill/>
          <a:ln/>
        </p:spPr>
        <p:txBody>
          <a:bodyPr wrap="square" lIns="0" tIns="0" rIns="0" bIns="0" rtlCol="0" anchor="t"/>
          <a:lstStyle/>
          <a:p>
            <a:pPr algn="l" indent="0" marL="0">
              <a:lnSpc>
                <a:spcPct val="112000"/>
              </a:lnSpc>
              <a:buNone/>
            </a:pPr>
            <a:r>
              <a:rPr lang="en-US" sz="2400" b="1" dirty="0">
                <a:solidFill>
                  <a:srgbClr val="141417"/>
                </a:solidFill>
                <a:latin typeface="Inter" pitchFamily="34" charset="0"/>
                <a:ea typeface="Inter" pitchFamily="34" charset="-122"/>
                <a:cs typeface="Inter" pitchFamily="34" charset="-120"/>
              </a:rPr>
              <a:t>17 kali</a:t>
            </a:r>
            <a:endParaRPr lang="en-US" sz="2400" dirty="0"/>
          </a:p>
        </p:txBody>
      </p:sp>
      <p:sp>
        <p:nvSpPr>
          <p:cNvPr id="14" name="text"/>
          <p:cNvSpPr txBox="1"/>
          <p:nvPr/>
        </p:nvSpPr>
        <p:spPr>
          <a:xfrm>
            <a:off x="5120640" y="4078224"/>
            <a:ext cx="2945740" cy="594360"/>
          </a:xfrm>
          <a:prstGeom prst="rect">
            <a:avLst/>
          </a:prstGeom>
          <a:noFill/>
          <a:ln/>
        </p:spPr>
        <p:txBody>
          <a:bodyPr wrap="square" lIns="0" tIns="0" rIns="0" bIns="0" rtlCol="0" anchor="t"/>
          <a:lstStyle/>
          <a:p>
            <a:pPr algn="l" indent="0" marL="0">
              <a:lnSpc>
                <a:spcPct val="110000"/>
              </a:lnSpc>
              <a:buNone/>
            </a:pPr>
            <a:r>
              <a:rPr lang="en-US" sz="900" dirty="0">
                <a:solidFill>
                  <a:srgbClr val="7A7A7E"/>
                </a:solidFill>
                <a:latin typeface="Inter" pitchFamily="34" charset="0"/>
                <a:ea typeface="Inter" pitchFamily="34" charset="-122"/>
                <a:cs typeface="Inter" pitchFamily="34" charset="-120"/>
              </a:rPr>
              <a:t>kunjungan pelanggan per tahun. Pesaing: 2 kali.</a:t>
            </a:r>
            <a:endParaRPr lang="en-US" sz="900" dirty="0"/>
          </a:p>
        </p:txBody>
      </p:sp>
      <p:sp>
        <p:nvSpPr>
          <p:cNvPr id="15" name="card"/>
          <p:cNvSpPr/>
          <p:nvPr/>
        </p:nvSpPr>
        <p:spPr>
          <a:xfrm>
            <a:off x="8377276" y="3374136"/>
            <a:ext cx="3311500" cy="1371600"/>
          </a:xfrm>
          <a:prstGeom prst="roundRect">
            <a:avLst>
              <a:gd name="adj" fmla="val 6667"/>
            </a:avLst>
          </a:prstGeom>
          <a:solidFill>
            <a:srgbClr val="D4FC00"/>
          </a:solidFill>
          <a:ln w="6350">
            <a:solidFill>
              <a:srgbClr val="D4FC00"/>
            </a:solidFill>
            <a:prstDash val="solid"/>
          </a:ln>
        </p:spPr>
      </p:sp>
      <p:sp>
        <p:nvSpPr>
          <p:cNvPr id="16" name="text"/>
          <p:cNvSpPr txBox="1"/>
          <p:nvPr/>
        </p:nvSpPr>
        <p:spPr>
          <a:xfrm>
            <a:off x="8560156" y="3483864"/>
            <a:ext cx="2945740" cy="685800"/>
          </a:xfrm>
          <a:prstGeom prst="rect">
            <a:avLst/>
          </a:prstGeom>
          <a:noFill/>
          <a:ln/>
        </p:spPr>
        <p:txBody>
          <a:bodyPr wrap="square" lIns="0" tIns="0" rIns="0" bIns="0" rtlCol="0" anchor="t"/>
          <a:lstStyle/>
          <a:p>
            <a:pPr algn="l" indent="0" marL="0">
              <a:lnSpc>
                <a:spcPct val="112000"/>
              </a:lnSpc>
              <a:buNone/>
            </a:pPr>
            <a:r>
              <a:rPr lang="en-US" sz="2400" b="1" dirty="0">
                <a:solidFill>
                  <a:srgbClr val="141417"/>
                </a:solidFill>
                <a:latin typeface="Inter" pitchFamily="34" charset="0"/>
                <a:ea typeface="Inter" pitchFamily="34" charset="-122"/>
                <a:cs typeface="Inter" pitchFamily="34" charset="-120"/>
              </a:rPr>
              <a:t>11 hari</a:t>
            </a:r>
            <a:endParaRPr lang="en-US" sz="2400" dirty="0"/>
          </a:p>
        </p:txBody>
      </p:sp>
      <p:sp>
        <p:nvSpPr>
          <p:cNvPr id="17" name="text"/>
          <p:cNvSpPr txBox="1"/>
          <p:nvPr/>
        </p:nvSpPr>
        <p:spPr>
          <a:xfrm>
            <a:off x="8560156" y="4078224"/>
            <a:ext cx="2945740" cy="594360"/>
          </a:xfrm>
          <a:prstGeom prst="rect">
            <a:avLst/>
          </a:prstGeom>
          <a:noFill/>
          <a:ln/>
        </p:spPr>
        <p:txBody>
          <a:bodyPr wrap="square" lIns="0" tIns="0" rIns="0" bIns="0" rtlCol="0" anchor="t"/>
          <a:lstStyle/>
          <a:p>
            <a:pPr algn="l" indent="0" marL="0">
              <a:lnSpc>
                <a:spcPct val="110000"/>
              </a:lnSpc>
              <a:buNone/>
            </a:pPr>
            <a:r>
              <a:rPr lang="en-US" sz="900" dirty="0">
                <a:solidFill>
                  <a:srgbClr val="1C1C1E"/>
                </a:solidFill>
                <a:latin typeface="Inter" pitchFamily="34" charset="0"/>
                <a:ea typeface="Inter" pitchFamily="34" charset="-122"/>
                <a:cs typeface="Inter" pitchFamily="34" charset="-120"/>
              </a:rPr>
              <a:t>umur rata-rata sebuah item di toko.</a:t>
            </a:r>
            <a:endParaRPr lang="en-US" sz="900" dirty="0"/>
          </a:p>
        </p:txBody>
      </p:sp>
      <p:sp>
        <p:nvSpPr>
          <p:cNvPr id="18" name="card"/>
          <p:cNvSpPr/>
          <p:nvPr/>
        </p:nvSpPr>
        <p:spPr>
          <a:xfrm>
            <a:off x="4937760" y="4873752"/>
            <a:ext cx="6751015" cy="1481328"/>
          </a:xfrm>
          <a:prstGeom prst="roundRect">
            <a:avLst>
              <a:gd name="adj" fmla="val 6173"/>
            </a:avLst>
          </a:prstGeom>
          <a:solidFill>
            <a:srgbClr val="FFFFFF"/>
          </a:solidFill>
          <a:ln w="6350">
            <a:solidFill>
              <a:srgbClr val="FFFFFF"/>
            </a:solidFill>
            <a:prstDash val="solid"/>
          </a:ln>
        </p:spPr>
      </p:sp>
      <p:sp>
        <p:nvSpPr>
          <p:cNvPr id="19" name="text"/>
          <p:cNvSpPr txBox="1"/>
          <p:nvPr/>
        </p:nvSpPr>
        <p:spPr>
          <a:xfrm>
            <a:off x="5120640" y="5010912"/>
            <a:ext cx="6385255"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7A7A7E"/>
                </a:solidFill>
                <a:latin typeface="Inter" pitchFamily="34" charset="0"/>
                <a:ea typeface="Inter" pitchFamily="34" charset="-122"/>
                <a:cs typeface="Inter" pitchFamily="34" charset="-120"/>
              </a:rPr>
              <a:t>ILLUSTRATION CAPSULE 10.3, ZARA</a:t>
            </a:r>
            <a:endParaRPr lang="en-US" sz="750" dirty="0"/>
          </a:p>
        </p:txBody>
      </p:sp>
      <p:sp>
        <p:nvSpPr>
          <p:cNvPr id="20" name="text"/>
          <p:cNvSpPr txBox="1"/>
          <p:nvPr/>
        </p:nvSpPr>
        <p:spPr>
          <a:xfrm>
            <a:off x="5120640" y="5257800"/>
            <a:ext cx="6385255" cy="1005840"/>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Strategi fast fashion Zara tidak unik. Keunggulannya ada pada eksekusi: produksi lot kecil dekat kantor pusat, rantai pasok terintegrasi tanpa gudang, nol iklan tetapi lokasi premium, dan pengiriman dua kali seminggu per toko. Tantangannya kini H&amp;M, Uniqlo, Shein, dan belanja daring.</a:t>
            </a:r>
            <a:endParaRPr lang="en-US" sz="9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STRUKTUR MENGIKUTI STRATEGI</a:t>
            </a:r>
            <a:endParaRPr lang="en-US" sz="3000" dirty="0"/>
          </a:p>
        </p:txBody>
      </p:sp>
      <p:sp>
        <p:nvSpPr>
          <p:cNvPr id="3" name="text"/>
          <p:cNvSpPr txBox="1"/>
          <p:nvPr/>
        </p:nvSpPr>
        <p:spPr>
          <a:xfrm>
            <a:off x="7589520" y="713232"/>
            <a:ext cx="4096512" cy="822960"/>
          </a:xfrm>
          <a:prstGeom prst="rect">
            <a:avLst/>
          </a:prstGeom>
          <a:noFill/>
          <a:ln/>
        </p:spPr>
        <p:txBody>
          <a:bodyPr wrap="square" lIns="0" tIns="0" rIns="0" bIns="0" rtlCol="0" anchor="t"/>
          <a:lstStyle/>
          <a:p>
            <a:pPr algn="l" indent="0" marL="0">
              <a:lnSpc>
                <a:spcPct val="112000"/>
              </a:lnSpc>
              <a:buNone/>
            </a:pPr>
            <a:r>
              <a:rPr lang="en-US" sz="1000" dirty="0">
                <a:solidFill>
                  <a:srgbClr val="7A7A7E"/>
                </a:solidFill>
                <a:latin typeface="Inter" pitchFamily="34" charset="0"/>
                <a:ea typeface="Inter" pitchFamily="34" charset="-122"/>
                <a:cs typeface="Inter" pitchFamily="34" charset="-120"/>
              </a:rPr>
              <a:t>Figure 10.3, digambar ulang. Lima keputusan menata pekerjaan bermuara pada satu hasil: struktur yang cocok dengan kebutuhan eksekusi (Chandler, 1962).</a:t>
            </a:r>
            <a:endParaRPr lang="en-US" sz="1000" dirty="0"/>
          </a:p>
        </p:txBody>
      </p:sp>
      <p:sp>
        <p:nvSpPr>
          <p:cNvPr id="4" name="arrow-box"/>
          <p:cNvSpPr/>
          <p:nvPr/>
        </p:nvSpPr>
        <p:spPr>
          <a:xfrm>
            <a:off x="502920" y="1874520"/>
            <a:ext cx="4754880" cy="768096"/>
          </a:xfrm>
          <a:prstGeom prst="homePlate">
            <a:avLst/>
          </a:prstGeom>
          <a:solidFill>
            <a:srgbClr val="141417"/>
          </a:solidFill>
          <a:ln w="6350">
            <a:solidFill>
              <a:srgbClr val="141417"/>
            </a:solidFill>
            <a:prstDash val="solid"/>
          </a:ln>
        </p:spPr>
      </p:sp>
      <p:sp>
        <p:nvSpPr>
          <p:cNvPr id="5" name="num"/>
          <p:cNvSpPr/>
          <p:nvPr/>
        </p:nvSpPr>
        <p:spPr>
          <a:xfrm>
            <a:off x="640080" y="2121408"/>
            <a:ext cx="274320" cy="274320"/>
          </a:xfrm>
          <a:prstGeom prst="ellipse">
            <a:avLst/>
          </a:prstGeom>
          <a:solidFill>
            <a:srgbClr val="D4FC00"/>
          </a:solidFill>
          <a:ln w="6350">
            <a:solidFill>
              <a:srgbClr val="D4FC00"/>
            </a:solidFill>
            <a:prstDash val="solid"/>
          </a:ln>
        </p:spPr>
      </p:sp>
      <p:sp>
        <p:nvSpPr>
          <p:cNvPr id="6" name="text"/>
          <p:cNvSpPr txBox="1"/>
          <p:nvPr/>
        </p:nvSpPr>
        <p:spPr>
          <a:xfrm>
            <a:off x="640080" y="2121408"/>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1</a:t>
            </a:r>
            <a:endParaRPr lang="en-US" sz="950" dirty="0"/>
          </a:p>
        </p:txBody>
      </p:sp>
      <p:sp>
        <p:nvSpPr>
          <p:cNvPr id="7" name="text"/>
          <p:cNvSpPr txBox="1"/>
          <p:nvPr/>
        </p:nvSpPr>
        <p:spPr>
          <a:xfrm>
            <a:off x="1033272" y="1874520"/>
            <a:ext cx="3657600" cy="768096"/>
          </a:xfrm>
          <a:prstGeom prst="rect">
            <a:avLst/>
          </a:prstGeom>
          <a:noFill/>
          <a:ln/>
        </p:spPr>
        <p:txBody>
          <a:bodyPr wrap="square" lIns="0" tIns="0" rIns="0" bIns="0" rtlCol="0" anchor="ctr"/>
          <a:lstStyle/>
          <a:p>
            <a:pPr algn="l" indent="0" marL="0">
              <a:lnSpc>
                <a:spcPct val="100000"/>
              </a:lnSpc>
              <a:buNone/>
            </a:pPr>
            <a:r>
              <a:rPr lang="en-US" sz="950" dirty="0">
                <a:solidFill>
                  <a:srgbClr val="FFFFFF"/>
                </a:solidFill>
                <a:latin typeface="Inter" pitchFamily="34" charset="0"/>
                <a:ea typeface="Inter" pitchFamily="34" charset="-122"/>
                <a:cs typeface="Inter" pitchFamily="34" charset="-120"/>
              </a:rPr>
              <a:t>Aktivitas mana dikerjakan sendiri, mana di-outsource</a:t>
            </a:r>
            <a:endParaRPr lang="en-US" sz="950" dirty="0"/>
          </a:p>
        </p:txBody>
      </p:sp>
      <p:sp>
        <p:nvSpPr>
          <p:cNvPr id="8" name="arrow-box"/>
          <p:cNvSpPr/>
          <p:nvPr/>
        </p:nvSpPr>
        <p:spPr>
          <a:xfrm>
            <a:off x="502920" y="2770632"/>
            <a:ext cx="4754880" cy="768096"/>
          </a:xfrm>
          <a:prstGeom prst="homePlate">
            <a:avLst/>
          </a:prstGeom>
          <a:solidFill>
            <a:srgbClr val="3A3A3E"/>
          </a:solidFill>
          <a:ln w="6350">
            <a:solidFill>
              <a:srgbClr val="3A3A3E"/>
            </a:solidFill>
            <a:prstDash val="solid"/>
          </a:ln>
        </p:spPr>
      </p:sp>
      <p:sp>
        <p:nvSpPr>
          <p:cNvPr id="9" name="num"/>
          <p:cNvSpPr/>
          <p:nvPr/>
        </p:nvSpPr>
        <p:spPr>
          <a:xfrm>
            <a:off x="640080" y="3017520"/>
            <a:ext cx="274320" cy="274320"/>
          </a:xfrm>
          <a:prstGeom prst="ellipse">
            <a:avLst/>
          </a:prstGeom>
          <a:solidFill>
            <a:srgbClr val="D4FC00"/>
          </a:solidFill>
          <a:ln w="6350">
            <a:solidFill>
              <a:srgbClr val="D4FC00"/>
            </a:solidFill>
            <a:prstDash val="solid"/>
          </a:ln>
        </p:spPr>
      </p:sp>
      <p:sp>
        <p:nvSpPr>
          <p:cNvPr id="10" name="text"/>
          <p:cNvSpPr txBox="1"/>
          <p:nvPr/>
        </p:nvSpPr>
        <p:spPr>
          <a:xfrm>
            <a:off x="640080" y="3017520"/>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2</a:t>
            </a:r>
            <a:endParaRPr lang="en-US" sz="950" dirty="0"/>
          </a:p>
        </p:txBody>
      </p:sp>
      <p:sp>
        <p:nvSpPr>
          <p:cNvPr id="11" name="text"/>
          <p:cNvSpPr txBox="1"/>
          <p:nvPr/>
        </p:nvSpPr>
        <p:spPr>
          <a:xfrm>
            <a:off x="1033272" y="2770632"/>
            <a:ext cx="3657600" cy="768096"/>
          </a:xfrm>
          <a:prstGeom prst="rect">
            <a:avLst/>
          </a:prstGeom>
          <a:noFill/>
          <a:ln/>
        </p:spPr>
        <p:txBody>
          <a:bodyPr wrap="square" lIns="0" tIns="0" rIns="0" bIns="0" rtlCol="0" anchor="ctr"/>
          <a:lstStyle/>
          <a:p>
            <a:pPr algn="l" indent="0" marL="0">
              <a:lnSpc>
                <a:spcPct val="100000"/>
              </a:lnSpc>
              <a:buNone/>
            </a:pPr>
            <a:r>
              <a:rPr lang="en-US" sz="950" dirty="0">
                <a:solidFill>
                  <a:srgbClr val="FFFFFF"/>
                </a:solidFill>
                <a:latin typeface="Inter" pitchFamily="34" charset="0"/>
                <a:ea typeface="Inter" pitchFamily="34" charset="-122"/>
                <a:cs typeface="Inter" pitchFamily="34" charset="-120"/>
              </a:rPr>
              <a:t>Menyelaraskan struktur organisasi dengan strategi</a:t>
            </a:r>
            <a:endParaRPr lang="en-US" sz="950" dirty="0"/>
          </a:p>
        </p:txBody>
      </p:sp>
      <p:sp>
        <p:nvSpPr>
          <p:cNvPr id="12" name="arrow-box"/>
          <p:cNvSpPr/>
          <p:nvPr/>
        </p:nvSpPr>
        <p:spPr>
          <a:xfrm>
            <a:off x="502920" y="3666744"/>
            <a:ext cx="4754880" cy="768096"/>
          </a:xfrm>
          <a:prstGeom prst="homePlate">
            <a:avLst/>
          </a:prstGeom>
          <a:solidFill>
            <a:srgbClr val="141417"/>
          </a:solidFill>
          <a:ln w="6350">
            <a:solidFill>
              <a:srgbClr val="141417"/>
            </a:solidFill>
            <a:prstDash val="solid"/>
          </a:ln>
        </p:spPr>
      </p:sp>
      <p:sp>
        <p:nvSpPr>
          <p:cNvPr id="13" name="num"/>
          <p:cNvSpPr/>
          <p:nvPr/>
        </p:nvSpPr>
        <p:spPr>
          <a:xfrm>
            <a:off x="640080" y="3913632"/>
            <a:ext cx="274320" cy="274320"/>
          </a:xfrm>
          <a:prstGeom prst="ellipse">
            <a:avLst/>
          </a:prstGeom>
          <a:solidFill>
            <a:srgbClr val="D4FC00"/>
          </a:solidFill>
          <a:ln w="6350">
            <a:solidFill>
              <a:srgbClr val="D4FC00"/>
            </a:solidFill>
            <a:prstDash val="solid"/>
          </a:ln>
        </p:spPr>
      </p:sp>
      <p:sp>
        <p:nvSpPr>
          <p:cNvPr id="14" name="text"/>
          <p:cNvSpPr txBox="1"/>
          <p:nvPr/>
        </p:nvSpPr>
        <p:spPr>
          <a:xfrm>
            <a:off x="640080" y="3913632"/>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3</a:t>
            </a:r>
            <a:endParaRPr lang="en-US" sz="950" dirty="0"/>
          </a:p>
        </p:txBody>
      </p:sp>
      <p:sp>
        <p:nvSpPr>
          <p:cNvPr id="15" name="text"/>
          <p:cNvSpPr txBox="1"/>
          <p:nvPr/>
        </p:nvSpPr>
        <p:spPr>
          <a:xfrm>
            <a:off x="1033272" y="3666744"/>
            <a:ext cx="3657600" cy="768096"/>
          </a:xfrm>
          <a:prstGeom prst="rect">
            <a:avLst/>
          </a:prstGeom>
          <a:noFill/>
          <a:ln/>
        </p:spPr>
        <p:txBody>
          <a:bodyPr wrap="square" lIns="0" tIns="0" rIns="0" bIns="0" rtlCol="0" anchor="ctr"/>
          <a:lstStyle/>
          <a:p>
            <a:pPr algn="l" indent="0" marL="0">
              <a:lnSpc>
                <a:spcPct val="100000"/>
              </a:lnSpc>
              <a:buNone/>
            </a:pPr>
            <a:r>
              <a:rPr lang="en-US" sz="950" dirty="0">
                <a:solidFill>
                  <a:srgbClr val="FFFFFF"/>
                </a:solidFill>
                <a:latin typeface="Inter" pitchFamily="34" charset="0"/>
                <a:ea typeface="Inter" pitchFamily="34" charset="-122"/>
                <a:cs typeface="Inter" pitchFamily="34" charset="-120"/>
              </a:rPr>
              <a:t>Seberapa besar wewenang dipusatkan, seberapa besar didelegasikan</a:t>
            </a:r>
            <a:endParaRPr lang="en-US" sz="950" dirty="0"/>
          </a:p>
        </p:txBody>
      </p:sp>
      <p:sp>
        <p:nvSpPr>
          <p:cNvPr id="16" name="arrow-box"/>
          <p:cNvSpPr/>
          <p:nvPr/>
        </p:nvSpPr>
        <p:spPr>
          <a:xfrm>
            <a:off x="502920" y="4562856"/>
            <a:ext cx="4754880" cy="768096"/>
          </a:xfrm>
          <a:prstGeom prst="homePlate">
            <a:avLst/>
          </a:prstGeom>
          <a:solidFill>
            <a:srgbClr val="3A3A3E"/>
          </a:solidFill>
          <a:ln w="6350">
            <a:solidFill>
              <a:srgbClr val="3A3A3E"/>
            </a:solidFill>
            <a:prstDash val="solid"/>
          </a:ln>
        </p:spPr>
      </p:sp>
      <p:sp>
        <p:nvSpPr>
          <p:cNvPr id="17" name="num"/>
          <p:cNvSpPr/>
          <p:nvPr/>
        </p:nvSpPr>
        <p:spPr>
          <a:xfrm>
            <a:off x="640080" y="4809744"/>
            <a:ext cx="274320" cy="274320"/>
          </a:xfrm>
          <a:prstGeom prst="ellipse">
            <a:avLst/>
          </a:prstGeom>
          <a:solidFill>
            <a:srgbClr val="D4FC00"/>
          </a:solidFill>
          <a:ln w="6350">
            <a:solidFill>
              <a:srgbClr val="D4FC00"/>
            </a:solidFill>
            <a:prstDash val="solid"/>
          </a:ln>
        </p:spPr>
      </p:sp>
      <p:sp>
        <p:nvSpPr>
          <p:cNvPr id="18" name="text"/>
          <p:cNvSpPr txBox="1"/>
          <p:nvPr/>
        </p:nvSpPr>
        <p:spPr>
          <a:xfrm>
            <a:off x="640080" y="4809744"/>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4</a:t>
            </a:r>
            <a:endParaRPr lang="en-US" sz="950" dirty="0"/>
          </a:p>
        </p:txBody>
      </p:sp>
      <p:sp>
        <p:nvSpPr>
          <p:cNvPr id="19" name="text"/>
          <p:cNvSpPr txBox="1"/>
          <p:nvPr/>
        </p:nvSpPr>
        <p:spPr>
          <a:xfrm>
            <a:off x="1033272" y="4562856"/>
            <a:ext cx="3657600" cy="768096"/>
          </a:xfrm>
          <a:prstGeom prst="rect">
            <a:avLst/>
          </a:prstGeom>
          <a:noFill/>
          <a:ln/>
        </p:spPr>
        <p:txBody>
          <a:bodyPr wrap="square" lIns="0" tIns="0" rIns="0" bIns="0" rtlCol="0" anchor="ctr"/>
          <a:lstStyle/>
          <a:p>
            <a:pPr algn="l" indent="0" marL="0">
              <a:lnSpc>
                <a:spcPct val="100000"/>
              </a:lnSpc>
              <a:buNone/>
            </a:pPr>
            <a:r>
              <a:rPr lang="en-US" sz="950" dirty="0">
                <a:solidFill>
                  <a:srgbClr val="FFFFFF"/>
                </a:solidFill>
                <a:latin typeface="Inter" pitchFamily="34" charset="0"/>
                <a:ea typeface="Inter" pitchFamily="34" charset="-122"/>
                <a:cs typeface="Inter" pitchFamily="34" charset="-120"/>
              </a:rPr>
              <a:t>Koordinasi lintas unit</a:t>
            </a:r>
            <a:endParaRPr lang="en-US" sz="950" dirty="0"/>
          </a:p>
        </p:txBody>
      </p:sp>
      <p:sp>
        <p:nvSpPr>
          <p:cNvPr id="20" name="arrow-box"/>
          <p:cNvSpPr/>
          <p:nvPr/>
        </p:nvSpPr>
        <p:spPr>
          <a:xfrm>
            <a:off x="502920" y="5458968"/>
            <a:ext cx="4754880" cy="768096"/>
          </a:xfrm>
          <a:prstGeom prst="homePlate">
            <a:avLst/>
          </a:prstGeom>
          <a:solidFill>
            <a:srgbClr val="141417"/>
          </a:solidFill>
          <a:ln w="6350">
            <a:solidFill>
              <a:srgbClr val="141417"/>
            </a:solidFill>
            <a:prstDash val="solid"/>
          </a:ln>
        </p:spPr>
      </p:sp>
      <p:sp>
        <p:nvSpPr>
          <p:cNvPr id="21" name="num"/>
          <p:cNvSpPr/>
          <p:nvPr/>
        </p:nvSpPr>
        <p:spPr>
          <a:xfrm>
            <a:off x="640080" y="5705856"/>
            <a:ext cx="274320" cy="274320"/>
          </a:xfrm>
          <a:prstGeom prst="ellipse">
            <a:avLst/>
          </a:prstGeom>
          <a:solidFill>
            <a:srgbClr val="D4FC00"/>
          </a:solidFill>
          <a:ln w="6350">
            <a:solidFill>
              <a:srgbClr val="D4FC00"/>
            </a:solidFill>
            <a:prstDash val="solid"/>
          </a:ln>
        </p:spPr>
      </p:sp>
      <p:sp>
        <p:nvSpPr>
          <p:cNvPr id="22" name="text"/>
          <p:cNvSpPr txBox="1"/>
          <p:nvPr/>
        </p:nvSpPr>
        <p:spPr>
          <a:xfrm>
            <a:off x="640080" y="5705856"/>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5</a:t>
            </a:r>
            <a:endParaRPr lang="en-US" sz="950" dirty="0"/>
          </a:p>
        </p:txBody>
      </p:sp>
      <p:sp>
        <p:nvSpPr>
          <p:cNvPr id="23" name="text"/>
          <p:cNvSpPr txBox="1"/>
          <p:nvPr/>
        </p:nvSpPr>
        <p:spPr>
          <a:xfrm>
            <a:off x="1033272" y="5458968"/>
            <a:ext cx="3657600" cy="768096"/>
          </a:xfrm>
          <a:prstGeom prst="rect">
            <a:avLst/>
          </a:prstGeom>
          <a:noFill/>
          <a:ln/>
        </p:spPr>
        <p:txBody>
          <a:bodyPr wrap="square" lIns="0" tIns="0" rIns="0" bIns="0" rtlCol="0" anchor="ctr"/>
          <a:lstStyle/>
          <a:p>
            <a:pPr algn="l" indent="0" marL="0">
              <a:lnSpc>
                <a:spcPct val="100000"/>
              </a:lnSpc>
              <a:buNone/>
            </a:pPr>
            <a:r>
              <a:rPr lang="en-US" sz="950" dirty="0">
                <a:solidFill>
                  <a:srgbClr val="FFFFFF"/>
                </a:solidFill>
                <a:latin typeface="Inter" pitchFamily="34" charset="0"/>
                <a:ea typeface="Inter" pitchFamily="34" charset="-122"/>
                <a:cs typeface="Inter" pitchFamily="34" charset="-120"/>
              </a:rPr>
              <a:t>Kolaborasi dengan mitra eksternal dan strategic allies</a:t>
            </a:r>
            <a:endParaRPr lang="en-US" sz="950" dirty="0"/>
          </a:p>
        </p:txBody>
      </p:sp>
      <p:sp>
        <p:nvSpPr>
          <p:cNvPr id="24" name="card"/>
          <p:cNvSpPr/>
          <p:nvPr/>
        </p:nvSpPr>
        <p:spPr>
          <a:xfrm>
            <a:off x="5532120" y="1874520"/>
            <a:ext cx="2194560" cy="4352544"/>
          </a:xfrm>
          <a:prstGeom prst="roundRect">
            <a:avLst>
              <a:gd name="adj" fmla="val 4167"/>
            </a:avLst>
          </a:prstGeom>
          <a:solidFill>
            <a:srgbClr val="D4FC00"/>
          </a:solidFill>
          <a:ln w="6350">
            <a:solidFill>
              <a:srgbClr val="D4FC00"/>
            </a:solidFill>
            <a:prstDash val="solid"/>
          </a:ln>
        </p:spPr>
      </p:sp>
      <p:sp>
        <p:nvSpPr>
          <p:cNvPr id="25" name="text"/>
          <p:cNvSpPr txBox="1"/>
          <p:nvPr/>
        </p:nvSpPr>
        <p:spPr>
          <a:xfrm>
            <a:off x="5715000" y="1874520"/>
            <a:ext cx="1828800" cy="4352544"/>
          </a:xfrm>
          <a:prstGeom prst="rect">
            <a:avLst/>
          </a:prstGeom>
          <a:noFill/>
          <a:ln/>
        </p:spPr>
        <p:txBody>
          <a:bodyPr wrap="square" lIns="0" tIns="0" rIns="0" bIns="0" rtlCol="0" anchor="ctr"/>
          <a:lstStyle/>
          <a:p>
            <a:pPr algn="ctr" indent="0" marL="0">
              <a:lnSpc>
                <a:spcPct val="112000"/>
              </a:lnSpc>
              <a:buNone/>
            </a:pPr>
            <a:r>
              <a:rPr lang="en-US" sz="1100" b="1" dirty="0">
                <a:solidFill>
                  <a:srgbClr val="1C1C1E"/>
                </a:solidFill>
                <a:latin typeface="Inter" pitchFamily="34" charset="0"/>
                <a:ea typeface="Inter" pitchFamily="34" charset="-122"/>
                <a:cs typeface="Inter" pitchFamily="34" charset="-120"/>
              </a:rPr>
              <a:t>An Organizational Structure Matched to the Requirements of Successful Strategy Execution</a:t>
            </a:r>
            <a:endParaRPr lang="en-US" sz="1100" dirty="0"/>
          </a:p>
        </p:txBody>
      </p:sp>
      <p:pic>
        <p:nvPicPr>
          <p:cNvPr id="26" name="Foto fasad gedung" descr="preencoded.png">    </p:cNvPr>
          <p:cNvPicPr>
            <a:picLocks noChangeAspect="1"/>
          </p:cNvPicPr>
          <p:nvPr/>
        </p:nvPicPr>
        <p:blipFill>
          <a:blip r:embed="rId1"/>
          <a:stretch>
            <a:fillRect/>
          </a:stretch>
        </p:blipFill>
        <p:spPr>
          <a:xfrm>
            <a:off x="8001000" y="1874520"/>
            <a:ext cx="3687775" cy="2876465"/>
          </a:xfrm>
          <a:prstGeom prst="rect">
            <a:avLst/>
          </a:prstGeom>
        </p:spPr>
      </p:pic>
      <p:sp>
        <p:nvSpPr>
          <p:cNvPr id="27" name="card"/>
          <p:cNvSpPr/>
          <p:nvPr/>
        </p:nvSpPr>
        <p:spPr>
          <a:xfrm>
            <a:off x="8001000" y="4879001"/>
            <a:ext cx="3687775" cy="1348063"/>
          </a:xfrm>
          <a:prstGeom prst="roundRect">
            <a:avLst>
              <a:gd name="adj" fmla="val 6783"/>
            </a:avLst>
          </a:prstGeom>
          <a:solidFill>
            <a:srgbClr val="FFFFFF"/>
          </a:solidFill>
          <a:ln w="6350">
            <a:solidFill>
              <a:srgbClr val="FFFFFF"/>
            </a:solidFill>
            <a:prstDash val="solid"/>
          </a:ln>
        </p:spPr>
      </p:sp>
      <p:sp>
        <p:nvSpPr>
          <p:cNvPr id="28" name="text"/>
          <p:cNvSpPr txBox="1"/>
          <p:nvPr/>
        </p:nvSpPr>
        <p:spPr>
          <a:xfrm>
            <a:off x="8183880" y="4879001"/>
            <a:ext cx="3322015" cy="1348063"/>
          </a:xfrm>
          <a:prstGeom prst="rect">
            <a:avLst/>
          </a:prstGeom>
          <a:noFill/>
          <a:ln/>
        </p:spPr>
        <p:txBody>
          <a:bodyPr wrap="square" lIns="0" tIns="0" rIns="0" bIns="0" rtlCol="0" anchor="ctr"/>
          <a:lstStyle/>
          <a:p>
            <a:pPr algn="l" indent="0" marL="0">
              <a:lnSpc>
                <a:spcPct val="112000"/>
              </a:lnSpc>
              <a:buNone/>
            </a:pPr>
            <a:r>
              <a:rPr lang="en-US" sz="900" dirty="0">
                <a:solidFill>
                  <a:srgbClr val="1C1C1E"/>
                </a:solidFill>
                <a:latin typeface="Inter" pitchFamily="34" charset="0"/>
                <a:ea typeface="Inter" pitchFamily="34" charset="-122"/>
                <a:cs typeface="Inter" pitchFamily="34" charset="-120"/>
              </a:rPr>
              <a:t>Struktur adalah pengaturan formal dan informal atas tugas, tanggung jawab, garis wewenang, dan pelaporan. Struktur yang tidak cocok menaikkan biaya birokrasi dan merusak koordinasi.</a:t>
            </a:r>
            <a:endParaRPr lang="en-US" sz="90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DIKERJAKAN SENDIRI ATAU DI-OUTSOURCE?</a:t>
            </a:r>
            <a:endParaRPr lang="en-US" sz="3000" dirty="0"/>
          </a:p>
        </p:txBody>
      </p:sp>
      <p:sp>
        <p:nvSpPr>
          <p:cNvPr id="3" name="card"/>
          <p:cNvSpPr/>
          <p:nvPr/>
        </p:nvSpPr>
        <p:spPr>
          <a:xfrm>
            <a:off x="502920" y="1874520"/>
            <a:ext cx="5760720" cy="987552"/>
          </a:xfrm>
          <a:prstGeom prst="roundRect">
            <a:avLst>
              <a:gd name="adj" fmla="val 9259"/>
            </a:avLst>
          </a:prstGeom>
          <a:solidFill>
            <a:srgbClr val="FFFFFF"/>
          </a:solidFill>
          <a:ln w="6350">
            <a:solidFill>
              <a:srgbClr val="FFFFFF"/>
            </a:solidFill>
            <a:prstDash val="solid"/>
          </a:ln>
        </p:spPr>
      </p:sp>
      <p:sp>
        <p:nvSpPr>
          <p:cNvPr id="4" name="icon-bg"/>
          <p:cNvSpPr/>
          <p:nvPr/>
        </p:nvSpPr>
        <p:spPr>
          <a:xfrm>
            <a:off x="667512" y="2148840"/>
            <a:ext cx="420624" cy="420624"/>
          </a:xfrm>
          <a:prstGeom prst="roundRect">
            <a:avLst>
              <a:gd name="adj" fmla="val 17391"/>
            </a:avLst>
          </a:prstGeom>
          <a:solidFill>
            <a:srgbClr val="141417"/>
          </a:solidFill>
          <a:ln w="6350">
            <a:solidFill>
              <a:srgbClr val="141417"/>
            </a:solidFill>
            <a:prstDash val="solid"/>
          </a:ln>
        </p:spPr>
      </p:sp>
      <p:pic>
        <p:nvPicPr>
          <p:cNvPr id="5" name="icon" descr="preencoded.png">    </p:cNvPr>
          <p:cNvPicPr>
            <a:picLocks noChangeAspect="1"/>
          </p:cNvPicPr>
          <p:nvPr/>
        </p:nvPicPr>
        <p:blipFill>
          <a:blip r:embed="rId1"/>
          <a:stretch>
            <a:fillRect/>
          </a:stretch>
        </p:blipFill>
        <p:spPr>
          <a:xfrm>
            <a:off x="772668" y="2253996"/>
            <a:ext cx="210312" cy="210312"/>
          </a:xfrm>
          <a:prstGeom prst="rect">
            <a:avLst/>
          </a:prstGeom>
        </p:spPr>
      </p:pic>
      <p:sp>
        <p:nvSpPr>
          <p:cNvPr id="6" name="text"/>
          <p:cNvSpPr txBox="1"/>
          <p:nvPr/>
        </p:nvSpPr>
        <p:spPr>
          <a:xfrm>
            <a:off x="1280160" y="2075688"/>
            <a:ext cx="4800600" cy="274320"/>
          </a:xfrm>
          <a:prstGeom prst="rect">
            <a:avLst/>
          </a:prstGeom>
          <a:noFill/>
          <a:ln/>
        </p:spPr>
        <p:txBody>
          <a:bodyPr wrap="square" lIns="0" tIns="0" rIns="0" bIns="0" rtlCol="0" anchor="t"/>
          <a:lstStyle/>
          <a:p>
            <a:pPr algn="l" indent="0" marL="0">
              <a:lnSpc>
                <a:spcPct val="112000"/>
              </a:lnSpc>
              <a:buNone/>
            </a:pPr>
            <a:r>
              <a:rPr lang="en-US" sz="1100" b="1" dirty="0">
                <a:solidFill>
                  <a:srgbClr val="1C1C1E"/>
                </a:solidFill>
                <a:latin typeface="Inter" pitchFamily="34" charset="0"/>
                <a:ea typeface="Inter" pitchFamily="34" charset="-122"/>
                <a:cs typeface="Inter" pitchFamily="34" charset="-120"/>
              </a:rPr>
              <a:t>Fokus lebih tajam</a:t>
            </a:r>
            <a:endParaRPr lang="en-US" sz="1100" dirty="0"/>
          </a:p>
        </p:txBody>
      </p:sp>
      <p:sp>
        <p:nvSpPr>
          <p:cNvPr id="7" name="text"/>
          <p:cNvSpPr txBox="1"/>
          <p:nvPr/>
        </p:nvSpPr>
        <p:spPr>
          <a:xfrm>
            <a:off x="1280160" y="2350008"/>
            <a:ext cx="4800600" cy="457200"/>
          </a:xfrm>
          <a:prstGeom prst="rect">
            <a:avLst/>
          </a:prstGeom>
          <a:noFill/>
          <a:ln/>
        </p:spPr>
        <p:txBody>
          <a:bodyPr wrap="square" lIns="0" tIns="0" rIns="0" bIns="0" rtlCol="0" anchor="t"/>
          <a:lstStyle/>
          <a:p>
            <a:pPr algn="l" indent="0" marL="0">
              <a:lnSpc>
                <a:spcPct val="112000"/>
              </a:lnSpc>
              <a:buNone/>
            </a:pPr>
            <a:r>
              <a:rPr lang="en-US" sz="950" dirty="0">
                <a:solidFill>
                  <a:srgbClr val="7A7A7E"/>
                </a:solidFill>
                <a:latin typeface="Inter" pitchFamily="34" charset="0"/>
                <a:ea typeface="Inter" pitchFamily="34" charset="-122"/>
                <a:cs typeface="Inter" pitchFamily="34" charset="-120"/>
              </a:rPr>
              <a:t>Energi terpusat pada aktivitas kritis, sehingga competence bisa naik menjadi distinctive competence.</a:t>
            </a:r>
            <a:endParaRPr lang="en-US" sz="950" dirty="0"/>
          </a:p>
        </p:txBody>
      </p:sp>
      <p:sp>
        <p:nvSpPr>
          <p:cNvPr id="8" name="card"/>
          <p:cNvSpPr/>
          <p:nvPr/>
        </p:nvSpPr>
        <p:spPr>
          <a:xfrm>
            <a:off x="502920" y="2990088"/>
            <a:ext cx="5760720" cy="987552"/>
          </a:xfrm>
          <a:prstGeom prst="roundRect">
            <a:avLst>
              <a:gd name="adj" fmla="val 9259"/>
            </a:avLst>
          </a:prstGeom>
          <a:solidFill>
            <a:srgbClr val="FFFFFF"/>
          </a:solidFill>
          <a:ln w="6350">
            <a:solidFill>
              <a:srgbClr val="FFFFFF"/>
            </a:solidFill>
            <a:prstDash val="solid"/>
          </a:ln>
        </p:spPr>
      </p:sp>
      <p:sp>
        <p:nvSpPr>
          <p:cNvPr id="9" name="icon-bg"/>
          <p:cNvSpPr/>
          <p:nvPr/>
        </p:nvSpPr>
        <p:spPr>
          <a:xfrm>
            <a:off x="667512" y="3264408"/>
            <a:ext cx="420624" cy="420624"/>
          </a:xfrm>
          <a:prstGeom prst="roundRect">
            <a:avLst>
              <a:gd name="adj" fmla="val 17391"/>
            </a:avLst>
          </a:prstGeom>
          <a:solidFill>
            <a:srgbClr val="141417"/>
          </a:solidFill>
          <a:ln w="6350">
            <a:solidFill>
              <a:srgbClr val="141417"/>
            </a:solidFill>
            <a:prstDash val="solid"/>
          </a:ln>
        </p:spPr>
      </p:sp>
      <p:pic>
        <p:nvPicPr>
          <p:cNvPr id="10" name="icon" descr="preencoded.png">    </p:cNvPr>
          <p:cNvPicPr>
            <a:picLocks noChangeAspect="1"/>
          </p:cNvPicPr>
          <p:nvPr/>
        </p:nvPicPr>
        <p:blipFill>
          <a:blip r:embed="rId2"/>
          <a:stretch>
            <a:fillRect/>
          </a:stretch>
        </p:blipFill>
        <p:spPr>
          <a:xfrm>
            <a:off x="772668" y="3369564"/>
            <a:ext cx="210312" cy="210312"/>
          </a:xfrm>
          <a:prstGeom prst="rect">
            <a:avLst/>
          </a:prstGeom>
        </p:spPr>
      </p:pic>
      <p:sp>
        <p:nvSpPr>
          <p:cNvPr id="11" name="text"/>
          <p:cNvSpPr txBox="1"/>
          <p:nvPr/>
        </p:nvSpPr>
        <p:spPr>
          <a:xfrm>
            <a:off x="1280160" y="3191256"/>
            <a:ext cx="4800600" cy="274320"/>
          </a:xfrm>
          <a:prstGeom prst="rect">
            <a:avLst/>
          </a:prstGeom>
          <a:noFill/>
          <a:ln/>
        </p:spPr>
        <p:txBody>
          <a:bodyPr wrap="square" lIns="0" tIns="0" rIns="0" bIns="0" rtlCol="0" anchor="t"/>
          <a:lstStyle/>
          <a:p>
            <a:pPr algn="l" indent="0" marL="0">
              <a:lnSpc>
                <a:spcPct val="112000"/>
              </a:lnSpc>
              <a:buNone/>
            </a:pPr>
            <a:r>
              <a:rPr lang="en-US" sz="1100" b="1" dirty="0">
                <a:solidFill>
                  <a:srgbClr val="1C1C1E"/>
                </a:solidFill>
                <a:latin typeface="Inter" pitchFamily="34" charset="0"/>
                <a:ea typeface="Inter" pitchFamily="34" charset="-122"/>
                <a:cs typeface="Inter" pitchFamily="34" charset="-120"/>
              </a:rPr>
              <a:t>Organisasi lebih ramping</a:t>
            </a:r>
            <a:endParaRPr lang="en-US" sz="1100" dirty="0"/>
          </a:p>
        </p:txBody>
      </p:sp>
      <p:sp>
        <p:nvSpPr>
          <p:cNvPr id="12" name="text"/>
          <p:cNvSpPr txBox="1"/>
          <p:nvPr/>
        </p:nvSpPr>
        <p:spPr>
          <a:xfrm>
            <a:off x="1280160" y="3465576"/>
            <a:ext cx="4800600" cy="457200"/>
          </a:xfrm>
          <a:prstGeom prst="rect">
            <a:avLst/>
          </a:prstGeom>
          <a:noFill/>
          <a:ln/>
        </p:spPr>
        <p:txBody>
          <a:bodyPr wrap="square" lIns="0" tIns="0" rIns="0" bIns="0" rtlCol="0" anchor="t"/>
          <a:lstStyle/>
          <a:p>
            <a:pPr algn="l" indent="0" marL="0">
              <a:lnSpc>
                <a:spcPct val="112000"/>
              </a:lnSpc>
              <a:buNone/>
            </a:pPr>
            <a:r>
              <a:rPr lang="en-US" sz="950" dirty="0">
                <a:solidFill>
                  <a:srgbClr val="7A7A7E"/>
                </a:solidFill>
                <a:latin typeface="Inter" pitchFamily="34" charset="0"/>
                <a:ea typeface="Inter" pitchFamily="34" charset="-122"/>
                <a:cs typeface="Inter" pitchFamily="34" charset="-120"/>
              </a:rPr>
              <a:t>Birokrasi berkurang, struktur lebih datar, respons pasar lebih cepat.</a:t>
            </a:r>
            <a:endParaRPr lang="en-US" sz="950" dirty="0"/>
          </a:p>
        </p:txBody>
      </p:sp>
      <p:sp>
        <p:nvSpPr>
          <p:cNvPr id="13" name="card"/>
          <p:cNvSpPr/>
          <p:nvPr/>
        </p:nvSpPr>
        <p:spPr>
          <a:xfrm>
            <a:off x="502920" y="4105656"/>
            <a:ext cx="5760720" cy="987552"/>
          </a:xfrm>
          <a:prstGeom prst="roundRect">
            <a:avLst>
              <a:gd name="adj" fmla="val 9259"/>
            </a:avLst>
          </a:prstGeom>
          <a:solidFill>
            <a:srgbClr val="FFFFFF"/>
          </a:solidFill>
          <a:ln w="6350">
            <a:solidFill>
              <a:srgbClr val="FFFFFF"/>
            </a:solidFill>
            <a:prstDash val="solid"/>
          </a:ln>
        </p:spPr>
      </p:sp>
      <p:sp>
        <p:nvSpPr>
          <p:cNvPr id="14" name="icon-bg"/>
          <p:cNvSpPr/>
          <p:nvPr/>
        </p:nvSpPr>
        <p:spPr>
          <a:xfrm>
            <a:off x="667512" y="4379976"/>
            <a:ext cx="420624" cy="420624"/>
          </a:xfrm>
          <a:prstGeom prst="roundRect">
            <a:avLst>
              <a:gd name="adj" fmla="val 17391"/>
            </a:avLst>
          </a:prstGeom>
          <a:solidFill>
            <a:srgbClr val="141417"/>
          </a:solidFill>
          <a:ln w="6350">
            <a:solidFill>
              <a:srgbClr val="141417"/>
            </a:solidFill>
            <a:prstDash val="solid"/>
          </a:ln>
        </p:spPr>
      </p:sp>
      <p:pic>
        <p:nvPicPr>
          <p:cNvPr id="15" name="icon" descr="preencoded.png">    </p:cNvPr>
          <p:cNvPicPr>
            <a:picLocks noChangeAspect="1"/>
          </p:cNvPicPr>
          <p:nvPr/>
        </p:nvPicPr>
        <p:blipFill>
          <a:blip r:embed="rId3"/>
          <a:stretch>
            <a:fillRect/>
          </a:stretch>
        </p:blipFill>
        <p:spPr>
          <a:xfrm>
            <a:off x="772668" y="4485132"/>
            <a:ext cx="210312" cy="210312"/>
          </a:xfrm>
          <a:prstGeom prst="rect">
            <a:avLst/>
          </a:prstGeom>
        </p:spPr>
      </p:pic>
      <p:sp>
        <p:nvSpPr>
          <p:cNvPr id="16" name="text"/>
          <p:cNvSpPr txBox="1"/>
          <p:nvPr/>
        </p:nvSpPr>
        <p:spPr>
          <a:xfrm>
            <a:off x="1280160" y="4306824"/>
            <a:ext cx="4800600" cy="274320"/>
          </a:xfrm>
          <a:prstGeom prst="rect">
            <a:avLst/>
          </a:prstGeom>
          <a:noFill/>
          <a:ln/>
        </p:spPr>
        <p:txBody>
          <a:bodyPr wrap="square" lIns="0" tIns="0" rIns="0" bIns="0" rtlCol="0" anchor="t"/>
          <a:lstStyle/>
          <a:p>
            <a:pPr algn="l" indent="0" marL="0">
              <a:lnSpc>
                <a:spcPct val="112000"/>
              </a:lnSpc>
              <a:buNone/>
            </a:pPr>
            <a:r>
              <a:rPr lang="en-US" sz="1100" b="1" dirty="0">
                <a:solidFill>
                  <a:srgbClr val="1C1C1E"/>
                </a:solidFill>
                <a:latin typeface="Inter" pitchFamily="34" charset="0"/>
                <a:ea typeface="Inter" pitchFamily="34" charset="-122"/>
                <a:cs typeface="Inter" pitchFamily="34" charset="-120"/>
              </a:rPr>
              <a:t>Capability mitra ikut terpakai</a:t>
            </a:r>
            <a:endParaRPr lang="en-US" sz="1100" dirty="0"/>
          </a:p>
        </p:txBody>
      </p:sp>
      <p:sp>
        <p:nvSpPr>
          <p:cNvPr id="17" name="text"/>
          <p:cNvSpPr txBox="1"/>
          <p:nvPr/>
        </p:nvSpPr>
        <p:spPr>
          <a:xfrm>
            <a:off x="1280160" y="4581144"/>
            <a:ext cx="4800600" cy="457200"/>
          </a:xfrm>
          <a:prstGeom prst="rect">
            <a:avLst/>
          </a:prstGeom>
          <a:noFill/>
          <a:ln/>
        </p:spPr>
        <p:txBody>
          <a:bodyPr wrap="square" lIns="0" tIns="0" rIns="0" bIns="0" rtlCol="0" anchor="t"/>
          <a:lstStyle/>
          <a:p>
            <a:pPr algn="l" indent="0" marL="0">
              <a:lnSpc>
                <a:spcPct val="112000"/>
              </a:lnSpc>
              <a:buNone/>
            </a:pPr>
            <a:r>
              <a:rPr lang="en-US" sz="950" dirty="0">
                <a:solidFill>
                  <a:srgbClr val="7A7A7E"/>
                </a:solidFill>
                <a:latin typeface="Inter" pitchFamily="34" charset="0"/>
                <a:ea typeface="Inter" pitchFamily="34" charset="-122"/>
                <a:cs typeface="Inter" pitchFamily="34" charset="-120"/>
              </a:rPr>
              <a:t>Jaringan pemasok yang baik sering mengungguli R&amp;D pusat (Boeing, Dell, Apple).</a:t>
            </a:r>
            <a:endParaRPr lang="en-US" sz="950" dirty="0"/>
          </a:p>
        </p:txBody>
      </p:sp>
      <p:sp>
        <p:nvSpPr>
          <p:cNvPr id="18" name="card"/>
          <p:cNvSpPr/>
          <p:nvPr/>
        </p:nvSpPr>
        <p:spPr>
          <a:xfrm>
            <a:off x="502920" y="5221224"/>
            <a:ext cx="5760720" cy="1133856"/>
          </a:xfrm>
          <a:prstGeom prst="roundRect">
            <a:avLst>
              <a:gd name="adj" fmla="val 8065"/>
            </a:avLst>
          </a:prstGeom>
          <a:solidFill>
            <a:srgbClr val="D4FC00"/>
          </a:solidFill>
          <a:ln w="6350">
            <a:solidFill>
              <a:srgbClr val="D4FC00"/>
            </a:solidFill>
            <a:prstDash val="solid"/>
          </a:ln>
        </p:spPr>
      </p:sp>
      <p:sp>
        <p:nvSpPr>
          <p:cNvPr id="19" name="text"/>
          <p:cNvSpPr txBox="1"/>
          <p:nvPr/>
        </p:nvSpPr>
        <p:spPr>
          <a:xfrm>
            <a:off x="685800" y="5221224"/>
            <a:ext cx="5394960" cy="1133856"/>
          </a:xfrm>
          <a:prstGeom prst="rect">
            <a:avLst/>
          </a:prstGeom>
          <a:noFill/>
          <a:ln/>
        </p:spPr>
        <p:txBody>
          <a:bodyPr wrap="square" lIns="0" tIns="0" rIns="0" bIns="0" rtlCol="0" anchor="ctr"/>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Batasnya (Bab 6): jangan sampai kehilangan keahlian pada aktivitas yang menopang keunggulan jangka panjang. Pertanyaannya bukan "bisakah di-outsource", melainkan "apakah ini inti strategi kami".</a:t>
            </a:r>
            <a:endParaRPr lang="en-US" sz="950" dirty="0"/>
          </a:p>
        </p:txBody>
      </p:sp>
      <p:pic>
        <p:nvPicPr>
          <p:cNvPr id="20" name="Foto lini perakitan elektronik" descr="preencoded.png">    </p:cNvPr>
          <p:cNvPicPr>
            <a:picLocks noChangeAspect="1"/>
          </p:cNvPicPr>
          <p:nvPr/>
        </p:nvPicPr>
        <p:blipFill>
          <a:blip r:embed="rId4"/>
          <a:stretch>
            <a:fillRect/>
          </a:stretch>
        </p:blipFill>
        <p:spPr>
          <a:xfrm>
            <a:off x="6492240" y="1874520"/>
            <a:ext cx="5196535" cy="2651760"/>
          </a:xfrm>
          <a:prstGeom prst="rect">
            <a:avLst/>
          </a:prstGeom>
        </p:spPr>
      </p:pic>
      <p:sp>
        <p:nvSpPr>
          <p:cNvPr id="21" name="card"/>
          <p:cNvSpPr/>
          <p:nvPr/>
        </p:nvSpPr>
        <p:spPr>
          <a:xfrm>
            <a:off x="6492240" y="4663440"/>
            <a:ext cx="5196535" cy="1691640"/>
          </a:xfrm>
          <a:prstGeom prst="roundRect">
            <a:avLst>
              <a:gd name="adj" fmla="val 5405"/>
            </a:avLst>
          </a:prstGeom>
          <a:solidFill>
            <a:srgbClr val="141417"/>
          </a:solidFill>
          <a:ln w="6350">
            <a:solidFill>
              <a:srgbClr val="141417"/>
            </a:solidFill>
            <a:prstDash val="solid"/>
          </a:ln>
        </p:spPr>
      </p:sp>
      <p:sp>
        <p:nvSpPr>
          <p:cNvPr id="22" name="text"/>
          <p:cNvSpPr txBox="1"/>
          <p:nvPr/>
        </p:nvSpPr>
        <p:spPr>
          <a:xfrm>
            <a:off x="6675120" y="4800600"/>
            <a:ext cx="4830775"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D4FC00"/>
                </a:solidFill>
                <a:latin typeface="Inter" pitchFamily="34" charset="0"/>
                <a:ea typeface="Inter" pitchFamily="34" charset="-122"/>
                <a:cs typeface="Inter" pitchFamily="34" charset="-120"/>
              </a:rPr>
              <a:t>ILLUSTRATION CAPSULE 10.4, APPLE</a:t>
            </a:r>
            <a:endParaRPr lang="en-US" sz="750" dirty="0"/>
          </a:p>
        </p:txBody>
      </p:sp>
      <p:sp>
        <p:nvSpPr>
          <p:cNvPr id="23" name="text"/>
          <p:cNvSpPr txBox="1"/>
          <p:nvPr/>
        </p:nvSpPr>
        <p:spPr>
          <a:xfrm>
            <a:off x="6675120" y="5029200"/>
            <a:ext cx="4830775" cy="1280160"/>
          </a:xfrm>
          <a:prstGeom prst="rect">
            <a:avLst/>
          </a:prstGeom>
          <a:noFill/>
          <a:ln/>
        </p:spPr>
        <p:txBody>
          <a:bodyPr wrap="square" lIns="0" tIns="0" rIns="0" bIns="0" rtlCol="0" anchor="t"/>
          <a:lstStyle/>
          <a:p>
            <a:pPr algn="l" indent="0" marL="0">
              <a:lnSpc>
                <a:spcPct val="112000"/>
              </a:lnSpc>
              <a:buNone/>
            </a:pPr>
            <a:r>
              <a:rPr lang="en-US" sz="950" dirty="0">
                <a:solidFill>
                  <a:srgbClr val="E8E8EA"/>
                </a:solidFill>
                <a:latin typeface="Inter" pitchFamily="34" charset="0"/>
                <a:ea typeface="Inter" pitchFamily="34" charset="-122"/>
                <a:cs typeface="Inter" pitchFamily="34" charset="-120"/>
              </a:rPr>
              <a:t>Desain dan pengembangan produk dikerjakan sendiri. Manufaktur diserahkan ke Foxconn (1,3 juta pekerja pada 2023). Harganya: kendali atas kondisi kerja berkurang, sehingga standar pemasok diperketat dan produksi mulai dipindah ke luar Tiongkok.</a:t>
            </a:r>
            <a:endParaRPr lang="en-US" sz="9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EMPAT TIPE STRUKTUR, SATU PRINSIP</a:t>
            </a:r>
            <a:endParaRPr lang="en-US" sz="3000" dirty="0"/>
          </a:p>
        </p:txBody>
      </p:sp>
      <p:sp>
        <p:nvSpPr>
          <p:cNvPr id="3" name="text"/>
          <p:cNvSpPr txBox="1"/>
          <p:nvPr/>
        </p:nvSpPr>
        <p:spPr>
          <a:xfrm>
            <a:off x="502920" y="1737360"/>
            <a:ext cx="6949440" cy="548640"/>
          </a:xfrm>
          <a:prstGeom prst="rect">
            <a:avLst/>
          </a:prstGeom>
          <a:noFill/>
          <a:ln/>
        </p:spPr>
        <p:txBody>
          <a:bodyPr wrap="square" lIns="0" tIns="0" rIns="0" bIns="0" rtlCol="0" anchor="t"/>
          <a:lstStyle/>
          <a:p>
            <a:pPr algn="l" indent="0" marL="0">
              <a:lnSpc>
                <a:spcPct val="112000"/>
              </a:lnSpc>
              <a:buNone/>
            </a:pPr>
            <a:r>
              <a:rPr lang="en-US" sz="1000" dirty="0">
                <a:solidFill>
                  <a:srgbClr val="7A7A7E"/>
                </a:solidFill>
                <a:latin typeface="Inter" pitchFamily="34" charset="0"/>
                <a:ea typeface="Inter" pitchFamily="34" charset="-122"/>
                <a:cs typeface="Inter" pitchFamily="34" charset="-120"/>
              </a:rPr>
              <a:t>Aktivitas yang kritis bagi strategi menjadi building blocks utama. Tipe struktur ditentukan oleh ukuran dan susunan bisnis, dan berevolusi seiring pertumbuhan.</a:t>
            </a:r>
            <a:endParaRPr lang="en-US" sz="1000" dirty="0"/>
          </a:p>
        </p:txBody>
      </p:sp>
      <p:pic>
        <p:nvPicPr>
          <p:cNvPr id="4" name="Foto kantor terbuka" descr="preencoded.png">    </p:cNvPr>
          <p:cNvPicPr>
            <a:picLocks noChangeAspect="1"/>
          </p:cNvPicPr>
          <p:nvPr/>
        </p:nvPicPr>
        <p:blipFill>
          <a:blip r:embed="rId1"/>
          <a:stretch>
            <a:fillRect/>
          </a:stretch>
        </p:blipFill>
        <p:spPr>
          <a:xfrm>
            <a:off x="7863840" y="658368"/>
            <a:ext cx="3822192" cy="1783080"/>
          </a:xfrm>
          <a:prstGeom prst="rect">
            <a:avLst/>
          </a:prstGeom>
        </p:spPr>
      </p:pic>
      <p:sp>
        <p:nvSpPr>
          <p:cNvPr id="5" name="card"/>
          <p:cNvSpPr/>
          <p:nvPr/>
        </p:nvSpPr>
        <p:spPr>
          <a:xfrm>
            <a:off x="502920" y="2423160"/>
            <a:ext cx="2700452" cy="3200400"/>
          </a:xfrm>
          <a:prstGeom prst="roundRect">
            <a:avLst>
              <a:gd name="adj" fmla="val 3386"/>
            </a:avLst>
          </a:prstGeom>
          <a:solidFill>
            <a:srgbClr val="FFFFFF"/>
          </a:solidFill>
          <a:ln w="6350">
            <a:solidFill>
              <a:srgbClr val="FFFFFF"/>
            </a:solidFill>
            <a:prstDash val="solid"/>
          </a:ln>
        </p:spPr>
      </p:sp>
      <p:sp>
        <p:nvSpPr>
          <p:cNvPr id="6" name="text"/>
          <p:cNvSpPr txBox="1"/>
          <p:nvPr/>
        </p:nvSpPr>
        <p:spPr>
          <a:xfrm>
            <a:off x="685800" y="2606040"/>
            <a:ext cx="2334692" cy="320040"/>
          </a:xfrm>
          <a:prstGeom prst="rect">
            <a:avLst/>
          </a:prstGeom>
          <a:noFill/>
          <a:ln/>
        </p:spPr>
        <p:txBody>
          <a:bodyPr wrap="square" lIns="0" tIns="0" rIns="0" bIns="0" rtlCol="0" anchor="t"/>
          <a:lstStyle/>
          <a:p>
            <a:pPr algn="l" indent="0" marL="0">
              <a:lnSpc>
                <a:spcPct val="112000"/>
              </a:lnSpc>
              <a:buNone/>
            </a:pPr>
            <a:r>
              <a:rPr lang="en-US" sz="1400" b="1" dirty="0">
                <a:solidFill>
                  <a:srgbClr val="141417"/>
                </a:solidFill>
                <a:latin typeface="Inter" pitchFamily="34" charset="0"/>
                <a:ea typeface="Inter" pitchFamily="34" charset="-122"/>
                <a:cs typeface="Inter" pitchFamily="34" charset="-120"/>
              </a:rPr>
              <a:t>Simple</a:t>
            </a:r>
            <a:endParaRPr lang="en-US" sz="1400" dirty="0"/>
          </a:p>
        </p:txBody>
      </p:sp>
      <p:sp>
        <p:nvSpPr>
          <p:cNvPr id="7" name="text"/>
          <p:cNvSpPr txBox="1"/>
          <p:nvPr/>
        </p:nvSpPr>
        <p:spPr>
          <a:xfrm>
            <a:off x="685800" y="2926080"/>
            <a:ext cx="2334692" cy="228600"/>
          </a:xfrm>
          <a:prstGeom prst="rect">
            <a:avLst/>
          </a:prstGeom>
          <a:noFill/>
          <a:ln/>
        </p:spPr>
        <p:txBody>
          <a:bodyPr wrap="square" lIns="0" tIns="0" rIns="0" bIns="0" rtlCol="0" anchor="t"/>
          <a:lstStyle/>
          <a:p>
            <a:pPr algn="l" indent="0" marL="0">
              <a:lnSpc>
                <a:spcPct val="112000"/>
              </a:lnSpc>
              <a:buNone/>
            </a:pPr>
            <a:r>
              <a:rPr lang="en-US" sz="850" i="1" dirty="0">
                <a:solidFill>
                  <a:srgbClr val="7A7A7E"/>
                </a:solidFill>
                <a:latin typeface="Inter" pitchFamily="34" charset="0"/>
                <a:ea typeface="Inter" pitchFamily="34" charset="-122"/>
                <a:cs typeface="Inter" pitchFamily="34" charset="-120"/>
              </a:rPr>
              <a:t>flat, line-and-staff</a:t>
            </a:r>
            <a:endParaRPr lang="en-US" sz="850" dirty="0"/>
          </a:p>
        </p:txBody>
      </p:sp>
      <p:sp>
        <p:nvSpPr>
          <p:cNvPr id="8" name="text"/>
          <p:cNvSpPr txBox="1"/>
          <p:nvPr/>
        </p:nvSpPr>
        <p:spPr>
          <a:xfrm>
            <a:off x="685800" y="3291840"/>
            <a:ext cx="2334692" cy="2240280"/>
          </a:xfrm>
          <a:prstGeom prst="rect">
            <a:avLst/>
          </a:prstGeom>
          <a:noFill/>
          <a:ln/>
        </p:spPr>
        <p:txBody>
          <a:bodyPr wrap="square" lIns="0" tIns="0" rIns="0" bIns="0" rtlCol="0" anchor="t"/>
          <a:lstStyle/>
          <a:p>
            <a:pPr algn="l" indent="0" marL="0">
              <a:lnSpc>
                <a:spcPct val="112000"/>
              </a:lnSpc>
              <a:buNone/>
            </a:pPr>
            <a:r>
              <a:rPr lang="en-US" sz="700" b="1" spc="100" kern="0" dirty="0">
                <a:solidFill>
                  <a:srgbClr val="7A7A7E"/>
                </a:solidFill>
                <a:latin typeface="Inter" pitchFamily="34" charset="0"/>
                <a:ea typeface="Inter" pitchFamily="34" charset="-122"/>
                <a:cs typeface="Inter" pitchFamily="34" charset="-120"/>
              </a:rPr>
              <a:t>COCOK UNTUK
</a:t>
            </a:r>
            <a:pPr algn="l" indent="0" marL="0">
              <a:lnSpc>
                <a:spcPct val="112000"/>
              </a:lnSpc>
              <a:spcAft>
                <a:spcPts val="600"/>
              </a:spcAft>
              <a:buNone/>
            </a:pPr>
            <a:r>
              <a:rPr lang="en-US" sz="950" dirty="0">
                <a:solidFill>
                  <a:srgbClr val="1C1C1E"/>
                </a:solidFill>
                <a:latin typeface="Inter" pitchFamily="34" charset="0"/>
                <a:ea typeface="Inter" pitchFamily="34" charset="-122"/>
                <a:cs typeface="Inter" pitchFamily="34" charset="-120"/>
              </a:rPr>
              <a:t>Perusahaan kecil dan startup</a:t>
            </a:r>
            <a:endParaRPr lang="en-US" sz="950" dirty="0"/>
          </a:p>
          <a:p>
            <a:pPr algn="l" indent="0" marL="0">
              <a:lnSpc>
                <a:spcPct val="112000"/>
              </a:lnSpc>
              <a:buNone/>
            </a:pPr>
            <a:r>
              <a:rPr lang="en-US" sz="700" b="1" spc="100" kern="0" dirty="0">
                <a:solidFill>
                  <a:srgbClr val="7A7A7E"/>
                </a:solidFill>
                <a:latin typeface="Inter" pitchFamily="34" charset="0"/>
                <a:ea typeface="Inter" pitchFamily="34" charset="-122"/>
                <a:cs typeface="Inter" pitchFamily="34" charset="-120"/>
              </a:rPr>
              <a:t>KELEBIHAN
</a:t>
            </a:r>
            <a:pPr algn="l" indent="0" marL="0">
              <a:lnSpc>
                <a:spcPct val="112000"/>
              </a:lnSpc>
              <a:spcAft>
                <a:spcPts val="600"/>
              </a:spcAft>
              <a:buNone/>
            </a:pPr>
            <a:r>
              <a:rPr lang="en-US" sz="950" dirty="0">
                <a:solidFill>
                  <a:srgbClr val="1C1C1E"/>
                </a:solidFill>
                <a:latin typeface="Inter" pitchFamily="34" charset="0"/>
                <a:ea typeface="Inter" pitchFamily="34" charset="-122"/>
                <a:cs typeface="Inter" pitchFamily="34" charset="-120"/>
              </a:rPr>
              <a:t>Murah, lentur, cepat memutuskan</a:t>
            </a:r>
            <a:endParaRPr lang="en-US" sz="950" dirty="0"/>
          </a:p>
          <a:p>
            <a:pPr algn="l" indent="0" marL="0">
              <a:lnSpc>
                <a:spcPct val="112000"/>
              </a:lnSpc>
              <a:buNone/>
            </a:pPr>
            <a:r>
              <a:rPr lang="en-US" sz="700" b="1" spc="100" kern="0" dirty="0">
                <a:solidFill>
                  <a:srgbClr val="7A7A7E"/>
                </a:solidFill>
                <a:latin typeface="Inter" pitchFamily="34" charset="0"/>
                <a:ea typeface="Inter" pitchFamily="34" charset="-122"/>
                <a:cs typeface="Inter" pitchFamily="34" charset="-120"/>
              </a:rPr>
              <a:t>KELEMAHAN
</a:t>
            </a:r>
            <a:pPr algn="l" indent="0" marL="0">
              <a:lnSpc>
                <a:spcPct val="112000"/>
              </a:lnSpc>
              <a:spcAft>
                <a:spcPts val="600"/>
              </a:spcAft>
              <a:buNone/>
            </a:pPr>
            <a:r>
              <a:rPr lang="en-US" sz="950" dirty="0">
                <a:solidFill>
                  <a:srgbClr val="1C1C1E"/>
                </a:solidFill>
                <a:latin typeface="Inter" pitchFamily="34" charset="0"/>
                <a:ea typeface="Inter" pitchFamily="34" charset="-122"/>
                <a:cs typeface="Inter" pitchFamily="34" charset="-120"/>
              </a:rPr>
              <a:t>Tidak memadai saat tumbuh</a:t>
            </a:r>
            <a:endParaRPr lang="en-US" sz="950" dirty="0"/>
          </a:p>
        </p:txBody>
      </p:sp>
      <p:sp>
        <p:nvSpPr>
          <p:cNvPr id="9" name="card"/>
          <p:cNvSpPr/>
          <p:nvPr/>
        </p:nvSpPr>
        <p:spPr>
          <a:xfrm>
            <a:off x="3331388" y="2423160"/>
            <a:ext cx="2700452" cy="3200400"/>
          </a:xfrm>
          <a:prstGeom prst="roundRect">
            <a:avLst>
              <a:gd name="adj" fmla="val 3386"/>
            </a:avLst>
          </a:prstGeom>
          <a:solidFill>
            <a:srgbClr val="D4FC00"/>
          </a:solidFill>
          <a:ln w="6350">
            <a:solidFill>
              <a:srgbClr val="D4FC00"/>
            </a:solidFill>
            <a:prstDash val="solid"/>
          </a:ln>
        </p:spPr>
      </p:sp>
      <p:sp>
        <p:nvSpPr>
          <p:cNvPr id="10" name="text"/>
          <p:cNvSpPr txBox="1"/>
          <p:nvPr/>
        </p:nvSpPr>
        <p:spPr>
          <a:xfrm>
            <a:off x="3514268" y="2606040"/>
            <a:ext cx="2334692" cy="320040"/>
          </a:xfrm>
          <a:prstGeom prst="rect">
            <a:avLst/>
          </a:prstGeom>
          <a:noFill/>
          <a:ln/>
        </p:spPr>
        <p:txBody>
          <a:bodyPr wrap="square" lIns="0" tIns="0" rIns="0" bIns="0" rtlCol="0" anchor="t"/>
          <a:lstStyle/>
          <a:p>
            <a:pPr algn="l" indent="0" marL="0">
              <a:lnSpc>
                <a:spcPct val="112000"/>
              </a:lnSpc>
              <a:buNone/>
            </a:pPr>
            <a:r>
              <a:rPr lang="en-US" sz="1400" b="1" dirty="0">
                <a:solidFill>
                  <a:srgbClr val="141417"/>
                </a:solidFill>
                <a:latin typeface="Inter" pitchFamily="34" charset="0"/>
                <a:ea typeface="Inter" pitchFamily="34" charset="-122"/>
                <a:cs typeface="Inter" pitchFamily="34" charset="-120"/>
              </a:rPr>
              <a:t>Functional</a:t>
            </a:r>
            <a:endParaRPr lang="en-US" sz="1400" dirty="0"/>
          </a:p>
        </p:txBody>
      </p:sp>
      <p:sp>
        <p:nvSpPr>
          <p:cNvPr id="11" name="text"/>
          <p:cNvSpPr txBox="1"/>
          <p:nvPr/>
        </p:nvSpPr>
        <p:spPr>
          <a:xfrm>
            <a:off x="3514268" y="2926080"/>
            <a:ext cx="2334692" cy="228600"/>
          </a:xfrm>
          <a:prstGeom prst="rect">
            <a:avLst/>
          </a:prstGeom>
          <a:noFill/>
          <a:ln/>
        </p:spPr>
        <p:txBody>
          <a:bodyPr wrap="square" lIns="0" tIns="0" rIns="0" bIns="0" rtlCol="0" anchor="t"/>
          <a:lstStyle/>
          <a:p>
            <a:pPr algn="l" indent="0" marL="0">
              <a:lnSpc>
                <a:spcPct val="112000"/>
              </a:lnSpc>
              <a:buNone/>
            </a:pPr>
            <a:r>
              <a:rPr lang="en-US" sz="850" i="1" dirty="0">
                <a:solidFill>
                  <a:srgbClr val="7A7A7E"/>
                </a:solidFill>
                <a:latin typeface="Inter" pitchFamily="34" charset="0"/>
                <a:ea typeface="Inter" pitchFamily="34" charset="-122"/>
                <a:cs typeface="Inter" pitchFamily="34" charset="-120"/>
              </a:rPr>
              <a:t>U-form</a:t>
            </a:r>
            <a:endParaRPr lang="en-US" sz="850" dirty="0"/>
          </a:p>
        </p:txBody>
      </p:sp>
      <p:sp>
        <p:nvSpPr>
          <p:cNvPr id="12" name="text"/>
          <p:cNvSpPr txBox="1"/>
          <p:nvPr/>
        </p:nvSpPr>
        <p:spPr>
          <a:xfrm>
            <a:off x="3514268" y="3291840"/>
            <a:ext cx="2334692" cy="2240280"/>
          </a:xfrm>
          <a:prstGeom prst="rect">
            <a:avLst/>
          </a:prstGeom>
          <a:noFill/>
          <a:ln/>
        </p:spPr>
        <p:txBody>
          <a:bodyPr wrap="square" lIns="0" tIns="0" rIns="0" bIns="0" rtlCol="0" anchor="t"/>
          <a:lstStyle/>
          <a:p>
            <a:pPr algn="l" indent="0" marL="0">
              <a:lnSpc>
                <a:spcPct val="112000"/>
              </a:lnSpc>
              <a:buNone/>
            </a:pPr>
            <a:r>
              <a:rPr lang="en-US" sz="700" b="1" spc="100" kern="0" dirty="0">
                <a:solidFill>
                  <a:srgbClr val="7A7A7E"/>
                </a:solidFill>
                <a:latin typeface="Inter" pitchFamily="34" charset="0"/>
                <a:ea typeface="Inter" pitchFamily="34" charset="-122"/>
                <a:cs typeface="Inter" pitchFamily="34" charset="-120"/>
              </a:rPr>
              <a:t>COCOK UNTUK
</a:t>
            </a:r>
            <a:pPr algn="l" indent="0" marL="0">
              <a:lnSpc>
                <a:spcPct val="112000"/>
              </a:lnSpc>
              <a:spcAft>
                <a:spcPts val="600"/>
              </a:spcAft>
              <a:buNone/>
            </a:pPr>
            <a:r>
              <a:rPr lang="en-US" sz="950" dirty="0">
                <a:solidFill>
                  <a:srgbClr val="1C1C1E"/>
                </a:solidFill>
                <a:latin typeface="Inter" pitchFamily="34" charset="0"/>
                <a:ea typeface="Inter" pitchFamily="34" charset="-122"/>
                <a:cs typeface="Inter" pitchFamily="34" charset="-120"/>
              </a:rPr>
              <a:t>Perusahaan satu bisnis (GM kini satu struktur untuk semua merek)</a:t>
            </a:r>
            <a:endParaRPr lang="en-US" sz="950" dirty="0"/>
          </a:p>
          <a:p>
            <a:pPr algn="l" indent="0" marL="0">
              <a:lnSpc>
                <a:spcPct val="112000"/>
              </a:lnSpc>
              <a:buNone/>
            </a:pPr>
            <a:r>
              <a:rPr lang="en-US" sz="700" b="1" spc="100" kern="0" dirty="0">
                <a:solidFill>
                  <a:srgbClr val="7A7A7E"/>
                </a:solidFill>
                <a:latin typeface="Inter" pitchFamily="34" charset="0"/>
                <a:ea typeface="Inter" pitchFamily="34" charset="-122"/>
                <a:cs typeface="Inter" pitchFamily="34" charset="-120"/>
              </a:rPr>
              <a:t>KELEBIHAN
</a:t>
            </a:r>
            <a:pPr algn="l" indent="0" marL="0">
              <a:lnSpc>
                <a:spcPct val="112000"/>
              </a:lnSpc>
              <a:spcAft>
                <a:spcPts val="600"/>
              </a:spcAft>
              <a:buNone/>
            </a:pPr>
            <a:r>
              <a:rPr lang="en-US" sz="950" dirty="0">
                <a:solidFill>
                  <a:srgbClr val="1C1C1E"/>
                </a:solidFill>
                <a:latin typeface="Inter" pitchFamily="34" charset="0"/>
                <a:ea typeface="Inter" pitchFamily="34" charset="-122"/>
                <a:cs typeface="Inter" pitchFamily="34" charset="-120"/>
              </a:rPr>
              <a:t>Spesialisasi dan skala ekonomi</a:t>
            </a:r>
            <a:endParaRPr lang="en-US" sz="950" dirty="0"/>
          </a:p>
          <a:p>
            <a:pPr algn="l" indent="0" marL="0">
              <a:lnSpc>
                <a:spcPct val="112000"/>
              </a:lnSpc>
              <a:buNone/>
            </a:pPr>
            <a:r>
              <a:rPr lang="en-US" sz="700" b="1" spc="100" kern="0" dirty="0">
                <a:solidFill>
                  <a:srgbClr val="7A7A7E"/>
                </a:solidFill>
                <a:latin typeface="Inter" pitchFamily="34" charset="0"/>
                <a:ea typeface="Inter" pitchFamily="34" charset="-122"/>
                <a:cs typeface="Inter" pitchFamily="34" charset="-120"/>
              </a:rPr>
              <a:t>KELEMAHAN
</a:t>
            </a:r>
            <a:pPr algn="l" indent="0" marL="0">
              <a:lnSpc>
                <a:spcPct val="112000"/>
              </a:lnSpc>
              <a:spcAft>
                <a:spcPts val="600"/>
              </a:spcAft>
              <a:buNone/>
            </a:pPr>
            <a:r>
              <a:rPr lang="en-US" sz="950" dirty="0">
                <a:solidFill>
                  <a:srgbClr val="1C1C1E"/>
                </a:solidFill>
                <a:latin typeface="Inter" pitchFamily="34" charset="0"/>
                <a:ea typeface="Inter" pitchFamily="34" charset="-122"/>
                <a:cs typeface="Inter" pitchFamily="34" charset="-120"/>
              </a:rPr>
              <a:t>Sekat antardepartemen</a:t>
            </a:r>
            <a:endParaRPr lang="en-US" sz="950" dirty="0"/>
          </a:p>
        </p:txBody>
      </p:sp>
      <p:sp>
        <p:nvSpPr>
          <p:cNvPr id="13" name="card"/>
          <p:cNvSpPr/>
          <p:nvPr/>
        </p:nvSpPr>
        <p:spPr>
          <a:xfrm>
            <a:off x="6159856" y="2423160"/>
            <a:ext cx="2700452" cy="3200400"/>
          </a:xfrm>
          <a:prstGeom prst="roundRect">
            <a:avLst>
              <a:gd name="adj" fmla="val 3386"/>
            </a:avLst>
          </a:prstGeom>
          <a:solidFill>
            <a:srgbClr val="FFFFFF"/>
          </a:solidFill>
          <a:ln w="6350">
            <a:solidFill>
              <a:srgbClr val="FFFFFF"/>
            </a:solidFill>
            <a:prstDash val="solid"/>
          </a:ln>
        </p:spPr>
      </p:sp>
      <p:sp>
        <p:nvSpPr>
          <p:cNvPr id="14" name="text"/>
          <p:cNvSpPr txBox="1"/>
          <p:nvPr/>
        </p:nvSpPr>
        <p:spPr>
          <a:xfrm>
            <a:off x="6342736" y="2606040"/>
            <a:ext cx="2334692" cy="320040"/>
          </a:xfrm>
          <a:prstGeom prst="rect">
            <a:avLst/>
          </a:prstGeom>
          <a:noFill/>
          <a:ln/>
        </p:spPr>
        <p:txBody>
          <a:bodyPr wrap="square" lIns="0" tIns="0" rIns="0" bIns="0" rtlCol="0" anchor="t"/>
          <a:lstStyle/>
          <a:p>
            <a:pPr algn="l" indent="0" marL="0">
              <a:lnSpc>
                <a:spcPct val="112000"/>
              </a:lnSpc>
              <a:buNone/>
            </a:pPr>
            <a:r>
              <a:rPr lang="en-US" sz="1400" b="1" dirty="0">
                <a:solidFill>
                  <a:srgbClr val="141417"/>
                </a:solidFill>
                <a:latin typeface="Inter" pitchFamily="34" charset="0"/>
                <a:ea typeface="Inter" pitchFamily="34" charset="-122"/>
                <a:cs typeface="Inter" pitchFamily="34" charset="-120"/>
              </a:rPr>
              <a:t>Multidivisional</a:t>
            </a:r>
            <a:endParaRPr lang="en-US" sz="1400" dirty="0"/>
          </a:p>
        </p:txBody>
      </p:sp>
      <p:sp>
        <p:nvSpPr>
          <p:cNvPr id="15" name="text"/>
          <p:cNvSpPr txBox="1"/>
          <p:nvPr/>
        </p:nvSpPr>
        <p:spPr>
          <a:xfrm>
            <a:off x="6342736" y="2926080"/>
            <a:ext cx="2334692" cy="228600"/>
          </a:xfrm>
          <a:prstGeom prst="rect">
            <a:avLst/>
          </a:prstGeom>
          <a:noFill/>
          <a:ln/>
        </p:spPr>
        <p:txBody>
          <a:bodyPr wrap="square" lIns="0" tIns="0" rIns="0" bIns="0" rtlCol="0" anchor="t"/>
          <a:lstStyle/>
          <a:p>
            <a:pPr algn="l" indent="0" marL="0">
              <a:lnSpc>
                <a:spcPct val="112000"/>
              </a:lnSpc>
              <a:buNone/>
            </a:pPr>
            <a:r>
              <a:rPr lang="en-US" sz="850" i="1" dirty="0">
                <a:solidFill>
                  <a:srgbClr val="7A7A7E"/>
                </a:solidFill>
                <a:latin typeface="Inter" pitchFamily="34" charset="0"/>
                <a:ea typeface="Inter" pitchFamily="34" charset="-122"/>
                <a:cs typeface="Inter" pitchFamily="34" charset="-120"/>
              </a:rPr>
              <a:t>M-form, SBU</a:t>
            </a:r>
            <a:endParaRPr lang="en-US" sz="850" dirty="0"/>
          </a:p>
        </p:txBody>
      </p:sp>
      <p:sp>
        <p:nvSpPr>
          <p:cNvPr id="16" name="text"/>
          <p:cNvSpPr txBox="1"/>
          <p:nvPr/>
        </p:nvSpPr>
        <p:spPr>
          <a:xfrm>
            <a:off x="6342736" y="3291840"/>
            <a:ext cx="2334692" cy="2240280"/>
          </a:xfrm>
          <a:prstGeom prst="rect">
            <a:avLst/>
          </a:prstGeom>
          <a:noFill/>
          <a:ln/>
        </p:spPr>
        <p:txBody>
          <a:bodyPr wrap="square" lIns="0" tIns="0" rIns="0" bIns="0" rtlCol="0" anchor="t"/>
          <a:lstStyle/>
          <a:p>
            <a:pPr algn="l" indent="0" marL="0">
              <a:lnSpc>
                <a:spcPct val="112000"/>
              </a:lnSpc>
              <a:buNone/>
            </a:pPr>
            <a:r>
              <a:rPr lang="en-US" sz="700" b="1" spc="100" kern="0" dirty="0">
                <a:solidFill>
                  <a:srgbClr val="7A7A7E"/>
                </a:solidFill>
                <a:latin typeface="Inter" pitchFamily="34" charset="0"/>
                <a:ea typeface="Inter" pitchFamily="34" charset="-122"/>
                <a:cs typeface="Inter" pitchFamily="34" charset="-120"/>
              </a:rPr>
              <a:t>COCOK UNTUK
</a:t>
            </a:r>
            <a:pPr algn="l" indent="0" marL="0">
              <a:lnSpc>
                <a:spcPct val="112000"/>
              </a:lnSpc>
              <a:spcAft>
                <a:spcPts val="600"/>
              </a:spcAft>
              <a:buNone/>
            </a:pPr>
            <a:r>
              <a:rPr lang="en-US" sz="950" dirty="0">
                <a:solidFill>
                  <a:srgbClr val="1C1C1E"/>
                </a:solidFill>
                <a:latin typeface="Inter" pitchFamily="34" charset="0"/>
                <a:ea typeface="Inter" pitchFamily="34" charset="-122"/>
                <a:cs typeface="Inter" pitchFamily="34" charset="-120"/>
              </a:rPr>
              <a:t>Diversifikasi, internasional, integrasi vertikal</a:t>
            </a:r>
            <a:endParaRPr lang="en-US" sz="950" dirty="0"/>
          </a:p>
          <a:p>
            <a:pPr algn="l" indent="0" marL="0">
              <a:lnSpc>
                <a:spcPct val="112000"/>
              </a:lnSpc>
              <a:buNone/>
            </a:pPr>
            <a:r>
              <a:rPr lang="en-US" sz="700" b="1" spc="100" kern="0" dirty="0">
                <a:solidFill>
                  <a:srgbClr val="7A7A7E"/>
                </a:solidFill>
                <a:latin typeface="Inter" pitchFamily="34" charset="0"/>
                <a:ea typeface="Inter" pitchFamily="34" charset="-122"/>
                <a:cs typeface="Inter" pitchFamily="34" charset="-120"/>
              </a:rPr>
              <a:t>KELEBIHAN
</a:t>
            </a:r>
            <a:pPr algn="l" indent="0" marL="0">
              <a:lnSpc>
                <a:spcPct val="112000"/>
              </a:lnSpc>
              <a:spcAft>
                <a:spcPts val="600"/>
              </a:spcAft>
              <a:buNone/>
            </a:pPr>
            <a:r>
              <a:rPr lang="en-US" sz="950" dirty="0">
                <a:solidFill>
                  <a:srgbClr val="1C1C1E"/>
                </a:solidFill>
                <a:latin typeface="Inter" pitchFamily="34" charset="0"/>
                <a:ea typeface="Inter" pitchFamily="34" charset="-122"/>
                <a:cs typeface="Inter" pitchFamily="34" charset="-120"/>
              </a:rPr>
              <a:t>Mengurangi beban puncak, insentif selaras</a:t>
            </a:r>
            <a:endParaRPr lang="en-US" sz="950" dirty="0"/>
          </a:p>
          <a:p>
            <a:pPr algn="l" indent="0" marL="0">
              <a:lnSpc>
                <a:spcPct val="112000"/>
              </a:lnSpc>
              <a:buNone/>
            </a:pPr>
            <a:r>
              <a:rPr lang="en-US" sz="700" b="1" spc="100" kern="0" dirty="0">
                <a:solidFill>
                  <a:srgbClr val="7A7A7E"/>
                </a:solidFill>
                <a:latin typeface="Inter" pitchFamily="34" charset="0"/>
                <a:ea typeface="Inter" pitchFamily="34" charset="-122"/>
                <a:cs typeface="Inter" pitchFamily="34" charset="-120"/>
              </a:rPr>
              <a:t>KELEMAHAN
</a:t>
            </a:r>
            <a:pPr algn="l" indent="0" marL="0">
              <a:lnSpc>
                <a:spcPct val="112000"/>
              </a:lnSpc>
              <a:spcAft>
                <a:spcPts val="600"/>
              </a:spcAft>
              <a:buNone/>
            </a:pPr>
            <a:r>
              <a:rPr lang="en-US" sz="950" dirty="0">
                <a:solidFill>
                  <a:srgbClr val="1C1C1E"/>
                </a:solidFill>
                <a:latin typeface="Inter" pitchFamily="34" charset="0"/>
                <a:ea typeface="Inter" pitchFamily="34" charset="-122"/>
                <a:cs typeface="Inter" pitchFamily="34" charset="-120"/>
              </a:rPr>
              <a:t>Sinergi lintas bisnis sulit</a:t>
            </a:r>
            <a:endParaRPr lang="en-US" sz="950" dirty="0"/>
          </a:p>
        </p:txBody>
      </p:sp>
      <p:sp>
        <p:nvSpPr>
          <p:cNvPr id="17" name="card"/>
          <p:cNvSpPr/>
          <p:nvPr/>
        </p:nvSpPr>
        <p:spPr>
          <a:xfrm>
            <a:off x="8988323" y="2423160"/>
            <a:ext cx="2700452" cy="3200400"/>
          </a:xfrm>
          <a:prstGeom prst="roundRect">
            <a:avLst>
              <a:gd name="adj" fmla="val 3386"/>
            </a:avLst>
          </a:prstGeom>
          <a:solidFill>
            <a:srgbClr val="141417"/>
          </a:solidFill>
          <a:ln w="6350">
            <a:solidFill>
              <a:srgbClr val="141417"/>
            </a:solidFill>
            <a:prstDash val="solid"/>
          </a:ln>
        </p:spPr>
      </p:sp>
      <p:sp>
        <p:nvSpPr>
          <p:cNvPr id="18" name="text"/>
          <p:cNvSpPr txBox="1"/>
          <p:nvPr/>
        </p:nvSpPr>
        <p:spPr>
          <a:xfrm>
            <a:off x="9171203" y="2606040"/>
            <a:ext cx="2334692" cy="320040"/>
          </a:xfrm>
          <a:prstGeom prst="rect">
            <a:avLst/>
          </a:prstGeom>
          <a:noFill/>
          <a:ln/>
        </p:spPr>
        <p:txBody>
          <a:bodyPr wrap="square" lIns="0" tIns="0" rIns="0" bIns="0" rtlCol="0" anchor="t"/>
          <a:lstStyle/>
          <a:p>
            <a:pPr algn="l" indent="0" marL="0">
              <a:lnSpc>
                <a:spcPct val="112000"/>
              </a:lnSpc>
              <a:buNone/>
            </a:pPr>
            <a:r>
              <a:rPr lang="en-US" sz="1400" b="1" dirty="0">
                <a:solidFill>
                  <a:srgbClr val="D4FC00"/>
                </a:solidFill>
                <a:latin typeface="Inter" pitchFamily="34" charset="0"/>
                <a:ea typeface="Inter" pitchFamily="34" charset="-122"/>
                <a:cs typeface="Inter" pitchFamily="34" charset="-120"/>
              </a:rPr>
              <a:t>Matrix</a:t>
            </a:r>
            <a:endParaRPr lang="en-US" sz="1400" dirty="0"/>
          </a:p>
        </p:txBody>
      </p:sp>
      <p:sp>
        <p:nvSpPr>
          <p:cNvPr id="19" name="text"/>
          <p:cNvSpPr txBox="1"/>
          <p:nvPr/>
        </p:nvSpPr>
        <p:spPr>
          <a:xfrm>
            <a:off x="9171203" y="2926080"/>
            <a:ext cx="2334692" cy="228600"/>
          </a:xfrm>
          <a:prstGeom prst="rect">
            <a:avLst/>
          </a:prstGeom>
          <a:noFill/>
          <a:ln/>
        </p:spPr>
        <p:txBody>
          <a:bodyPr wrap="square" lIns="0" tIns="0" rIns="0" bIns="0" rtlCol="0" anchor="t"/>
          <a:lstStyle/>
          <a:p>
            <a:pPr algn="l" indent="0" marL="0">
              <a:lnSpc>
                <a:spcPct val="112000"/>
              </a:lnSpc>
              <a:buNone/>
            </a:pPr>
            <a:r>
              <a:rPr lang="en-US" sz="850" i="1" dirty="0">
                <a:solidFill>
                  <a:srgbClr val="C9C9CC"/>
                </a:solidFill>
                <a:latin typeface="Inter" pitchFamily="34" charset="0"/>
                <a:ea typeface="Inter" pitchFamily="34" charset="-122"/>
                <a:cs typeface="Inter" pitchFamily="34" charset="-120"/>
              </a:rPr>
              <a:t>composite</a:t>
            </a:r>
            <a:endParaRPr lang="en-US" sz="850" dirty="0"/>
          </a:p>
        </p:txBody>
      </p:sp>
      <p:sp>
        <p:nvSpPr>
          <p:cNvPr id="20" name="text"/>
          <p:cNvSpPr txBox="1"/>
          <p:nvPr/>
        </p:nvSpPr>
        <p:spPr>
          <a:xfrm>
            <a:off x="9171203" y="3291840"/>
            <a:ext cx="2334692" cy="2240280"/>
          </a:xfrm>
          <a:prstGeom prst="rect">
            <a:avLst/>
          </a:prstGeom>
          <a:noFill/>
          <a:ln/>
        </p:spPr>
        <p:txBody>
          <a:bodyPr wrap="square" lIns="0" tIns="0" rIns="0" bIns="0" rtlCol="0" anchor="t"/>
          <a:lstStyle/>
          <a:p>
            <a:pPr algn="l" indent="0" marL="0">
              <a:lnSpc>
                <a:spcPct val="112000"/>
              </a:lnSpc>
              <a:buNone/>
            </a:pPr>
            <a:r>
              <a:rPr lang="en-US" sz="700" b="1" spc="100" kern="0" dirty="0">
                <a:solidFill>
                  <a:srgbClr val="D4FC00"/>
                </a:solidFill>
                <a:latin typeface="Inter" pitchFamily="34" charset="0"/>
                <a:ea typeface="Inter" pitchFamily="34" charset="-122"/>
                <a:cs typeface="Inter" pitchFamily="34" charset="-120"/>
              </a:rPr>
              <a:t>COCOK UNTUK
</a:t>
            </a:r>
            <a:pPr algn="l" indent="0" marL="0">
              <a:lnSpc>
                <a:spcPct val="112000"/>
              </a:lnSpc>
              <a:spcAft>
                <a:spcPts val="600"/>
              </a:spcAft>
              <a:buNone/>
            </a:pPr>
            <a:r>
              <a:rPr lang="en-US" sz="950" dirty="0">
                <a:solidFill>
                  <a:srgbClr val="E8E8EA"/>
                </a:solidFill>
                <a:latin typeface="Inter" pitchFamily="34" charset="0"/>
                <a:ea typeface="Inter" pitchFamily="34" charset="-122"/>
                <a:cs typeface="Inter" pitchFamily="34" charset="-120"/>
              </a:rPr>
              <a:t>Berbasis proyek dan capability lintas unit (Texas Instruments, Philips)</a:t>
            </a:r>
            <a:endParaRPr lang="en-US" sz="950" dirty="0"/>
          </a:p>
          <a:p>
            <a:pPr algn="l" indent="0" marL="0">
              <a:lnSpc>
                <a:spcPct val="112000"/>
              </a:lnSpc>
              <a:buNone/>
            </a:pPr>
            <a:r>
              <a:rPr lang="en-US" sz="700" b="1" spc="100" kern="0" dirty="0">
                <a:solidFill>
                  <a:srgbClr val="D4FC00"/>
                </a:solidFill>
                <a:latin typeface="Inter" pitchFamily="34" charset="0"/>
                <a:ea typeface="Inter" pitchFamily="34" charset="-122"/>
                <a:cs typeface="Inter" pitchFamily="34" charset="-120"/>
              </a:rPr>
              <a:t>KELEBIHAN
</a:t>
            </a:r>
            <a:pPr algn="l" indent="0" marL="0">
              <a:lnSpc>
                <a:spcPct val="112000"/>
              </a:lnSpc>
              <a:spcAft>
                <a:spcPts val="600"/>
              </a:spcAft>
              <a:buNone/>
            </a:pPr>
            <a:r>
              <a:rPr lang="en-US" sz="950" dirty="0">
                <a:solidFill>
                  <a:srgbClr val="E8E8EA"/>
                </a:solidFill>
                <a:latin typeface="Inter" pitchFamily="34" charset="0"/>
                <a:ea typeface="Inter" pitchFamily="34" charset="-122"/>
                <a:cs typeface="Inter" pitchFamily="34" charset="-120"/>
              </a:rPr>
              <a:t>Berbagi sumber daya, economies of scope</a:t>
            </a:r>
            <a:endParaRPr lang="en-US" sz="950" dirty="0"/>
          </a:p>
          <a:p>
            <a:pPr algn="l" indent="0" marL="0">
              <a:lnSpc>
                <a:spcPct val="112000"/>
              </a:lnSpc>
              <a:buNone/>
            </a:pPr>
            <a:r>
              <a:rPr lang="en-US" sz="700" b="1" spc="100" kern="0" dirty="0">
                <a:solidFill>
                  <a:srgbClr val="D4FC00"/>
                </a:solidFill>
                <a:latin typeface="Inter" pitchFamily="34" charset="0"/>
                <a:ea typeface="Inter" pitchFamily="34" charset="-122"/>
                <a:cs typeface="Inter" pitchFamily="34" charset="-120"/>
              </a:rPr>
              <a:t>KELEMAHAN
</a:t>
            </a:r>
            <a:pPr algn="l" indent="0" marL="0">
              <a:lnSpc>
                <a:spcPct val="112000"/>
              </a:lnSpc>
              <a:spcAft>
                <a:spcPts val="600"/>
              </a:spcAft>
              <a:buNone/>
            </a:pPr>
            <a:r>
              <a:rPr lang="en-US" sz="950" dirty="0">
                <a:solidFill>
                  <a:srgbClr val="E8E8EA"/>
                </a:solidFill>
                <a:latin typeface="Inter" pitchFamily="34" charset="0"/>
                <a:ea typeface="Inter" pitchFamily="34" charset="-122"/>
                <a:cs typeface="Inter" pitchFamily="34" charset="-120"/>
              </a:rPr>
              <a:t>Lapisan tambahan, dua atasan</a:t>
            </a:r>
            <a:endParaRPr lang="en-US" sz="950" dirty="0"/>
          </a:p>
        </p:txBody>
      </p:sp>
      <p:sp>
        <p:nvSpPr>
          <p:cNvPr id="21" name="tag"/>
          <p:cNvSpPr/>
          <p:nvPr/>
        </p:nvSpPr>
        <p:spPr>
          <a:xfrm>
            <a:off x="502920" y="5751576"/>
            <a:ext cx="2197532" cy="256032"/>
          </a:xfrm>
          <a:prstGeom prst="roundRect">
            <a:avLst>
              <a:gd name="adj" fmla="val 178571"/>
            </a:avLst>
          </a:prstGeom>
          <a:solidFill>
            <a:srgbClr val="E6E6E6"/>
          </a:solidFill>
          <a:ln w="9525">
            <a:solidFill>
              <a:srgbClr val="E6E6E6"/>
            </a:solidFill>
            <a:prstDash val="solid"/>
          </a:ln>
        </p:spPr>
      </p:sp>
      <p:sp>
        <p:nvSpPr>
          <p:cNvPr id="22" name="text"/>
          <p:cNvSpPr txBox="1"/>
          <p:nvPr/>
        </p:nvSpPr>
        <p:spPr>
          <a:xfrm>
            <a:off x="594360" y="5751576"/>
            <a:ext cx="2014652" cy="256032"/>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141417"/>
                </a:solidFill>
                <a:latin typeface="Inter" pitchFamily="34" charset="0"/>
                <a:ea typeface="Inter" pitchFamily="34" charset="-122"/>
                <a:cs typeface="Inter" pitchFamily="34" charset="-120"/>
              </a:rPr>
              <a:t>SIMPLE</a:t>
            </a:r>
            <a:endParaRPr lang="en-US" sz="750" dirty="0"/>
          </a:p>
        </p:txBody>
      </p:sp>
      <p:sp>
        <p:nvSpPr>
          <p:cNvPr id="23" name="arrow"/>
          <p:cNvSpPr/>
          <p:nvPr/>
        </p:nvSpPr>
        <p:spPr>
          <a:xfrm>
            <a:off x="2791892" y="5788152"/>
            <a:ext cx="292608" cy="182880"/>
          </a:xfrm>
          <a:prstGeom prst="rightArrow">
            <a:avLst/>
          </a:prstGeom>
          <a:solidFill>
            <a:srgbClr val="7A7A7E"/>
          </a:solidFill>
          <a:ln w="6350">
            <a:solidFill>
              <a:srgbClr val="7A7A7E"/>
            </a:solidFill>
            <a:prstDash val="solid"/>
          </a:ln>
        </p:spPr>
      </p:sp>
      <p:sp>
        <p:nvSpPr>
          <p:cNvPr id="24" name="tag"/>
          <p:cNvSpPr/>
          <p:nvPr/>
        </p:nvSpPr>
        <p:spPr>
          <a:xfrm>
            <a:off x="3331388" y="5751576"/>
            <a:ext cx="2197532" cy="256032"/>
          </a:xfrm>
          <a:prstGeom prst="roundRect">
            <a:avLst>
              <a:gd name="adj" fmla="val 178571"/>
            </a:avLst>
          </a:prstGeom>
          <a:solidFill>
            <a:srgbClr val="E6E6E6"/>
          </a:solidFill>
          <a:ln w="9525">
            <a:solidFill>
              <a:srgbClr val="E6E6E6"/>
            </a:solidFill>
            <a:prstDash val="solid"/>
          </a:ln>
        </p:spPr>
      </p:sp>
      <p:sp>
        <p:nvSpPr>
          <p:cNvPr id="25" name="text"/>
          <p:cNvSpPr txBox="1"/>
          <p:nvPr/>
        </p:nvSpPr>
        <p:spPr>
          <a:xfrm>
            <a:off x="3422828" y="5751576"/>
            <a:ext cx="2014652" cy="256032"/>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141417"/>
                </a:solidFill>
                <a:latin typeface="Inter" pitchFamily="34" charset="0"/>
                <a:ea typeface="Inter" pitchFamily="34" charset="-122"/>
                <a:cs typeface="Inter" pitchFamily="34" charset="-120"/>
              </a:rPr>
              <a:t>FUNCTIONAL</a:t>
            </a:r>
            <a:endParaRPr lang="en-US" sz="750" dirty="0"/>
          </a:p>
        </p:txBody>
      </p:sp>
      <p:sp>
        <p:nvSpPr>
          <p:cNvPr id="26" name="arrow"/>
          <p:cNvSpPr/>
          <p:nvPr/>
        </p:nvSpPr>
        <p:spPr>
          <a:xfrm>
            <a:off x="5620360" y="5788152"/>
            <a:ext cx="292608" cy="182880"/>
          </a:xfrm>
          <a:prstGeom prst="rightArrow">
            <a:avLst/>
          </a:prstGeom>
          <a:solidFill>
            <a:srgbClr val="7A7A7E"/>
          </a:solidFill>
          <a:ln w="6350">
            <a:solidFill>
              <a:srgbClr val="7A7A7E"/>
            </a:solidFill>
            <a:prstDash val="solid"/>
          </a:ln>
        </p:spPr>
      </p:sp>
      <p:sp>
        <p:nvSpPr>
          <p:cNvPr id="27" name="tag"/>
          <p:cNvSpPr/>
          <p:nvPr/>
        </p:nvSpPr>
        <p:spPr>
          <a:xfrm>
            <a:off x="6159856" y="5751576"/>
            <a:ext cx="2197532" cy="256032"/>
          </a:xfrm>
          <a:prstGeom prst="roundRect">
            <a:avLst>
              <a:gd name="adj" fmla="val 178571"/>
            </a:avLst>
          </a:prstGeom>
          <a:solidFill>
            <a:srgbClr val="E6E6E6"/>
          </a:solidFill>
          <a:ln w="9525">
            <a:solidFill>
              <a:srgbClr val="E6E6E6"/>
            </a:solidFill>
            <a:prstDash val="solid"/>
          </a:ln>
        </p:spPr>
      </p:sp>
      <p:sp>
        <p:nvSpPr>
          <p:cNvPr id="28" name="text"/>
          <p:cNvSpPr txBox="1"/>
          <p:nvPr/>
        </p:nvSpPr>
        <p:spPr>
          <a:xfrm>
            <a:off x="6251296" y="5751576"/>
            <a:ext cx="2014652" cy="256032"/>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141417"/>
                </a:solidFill>
                <a:latin typeface="Inter" pitchFamily="34" charset="0"/>
                <a:ea typeface="Inter" pitchFamily="34" charset="-122"/>
                <a:cs typeface="Inter" pitchFamily="34" charset="-120"/>
              </a:rPr>
              <a:t>MULTIDIVISIONAL</a:t>
            </a:r>
            <a:endParaRPr lang="en-US" sz="750" dirty="0"/>
          </a:p>
        </p:txBody>
      </p:sp>
      <p:sp>
        <p:nvSpPr>
          <p:cNvPr id="29" name="arrow"/>
          <p:cNvSpPr/>
          <p:nvPr/>
        </p:nvSpPr>
        <p:spPr>
          <a:xfrm>
            <a:off x="8448827" y="5788152"/>
            <a:ext cx="292608" cy="182880"/>
          </a:xfrm>
          <a:prstGeom prst="rightArrow">
            <a:avLst/>
          </a:prstGeom>
          <a:solidFill>
            <a:srgbClr val="7A7A7E"/>
          </a:solidFill>
          <a:ln w="6350">
            <a:solidFill>
              <a:srgbClr val="7A7A7E"/>
            </a:solidFill>
            <a:prstDash val="solid"/>
          </a:ln>
        </p:spPr>
      </p:sp>
      <p:sp>
        <p:nvSpPr>
          <p:cNvPr id="30" name="tag"/>
          <p:cNvSpPr/>
          <p:nvPr/>
        </p:nvSpPr>
        <p:spPr>
          <a:xfrm>
            <a:off x="8988323" y="5751576"/>
            <a:ext cx="2197532" cy="256032"/>
          </a:xfrm>
          <a:prstGeom prst="roundRect">
            <a:avLst>
              <a:gd name="adj" fmla="val 178571"/>
            </a:avLst>
          </a:prstGeom>
          <a:solidFill>
            <a:srgbClr val="141417"/>
          </a:solidFill>
          <a:ln w="9525">
            <a:solidFill>
              <a:srgbClr val="141417"/>
            </a:solidFill>
            <a:prstDash val="solid"/>
          </a:ln>
        </p:spPr>
      </p:sp>
      <p:sp>
        <p:nvSpPr>
          <p:cNvPr id="31" name="text"/>
          <p:cNvSpPr txBox="1"/>
          <p:nvPr/>
        </p:nvSpPr>
        <p:spPr>
          <a:xfrm>
            <a:off x="9079763" y="5751576"/>
            <a:ext cx="2014652" cy="256032"/>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D4FC00"/>
                </a:solidFill>
                <a:latin typeface="Inter" pitchFamily="34" charset="0"/>
                <a:ea typeface="Inter" pitchFamily="34" charset="-122"/>
                <a:cs typeface="Inter" pitchFamily="34" charset="-120"/>
              </a:rPr>
              <a:t>MATRIX</a:t>
            </a:r>
            <a:endParaRPr lang="en-US" sz="7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MEMUSATKAN ATAU MENDELEGASIKAN KEPUTUSAN?</a:t>
            </a:r>
            <a:endParaRPr lang="en-US" sz="3000" dirty="0"/>
          </a:p>
        </p:txBody>
      </p:sp>
      <p:graphicFrame>
        <p:nvGraphicFramePr>
          <p:cNvPr id="17" name="Table 10.1"/>
          <p:cNvGraphicFramePr>
            <a:graphicFrameLocks noGrp="1"/>
          </p:cNvGraphicFramePr>
          <p:nvPr>
            <p:extLst>
              <p:ext uri="{D42A27DB-BD31-4B8C-83A1-F6EECF244321}">
                <p14:modId xmlns:p14="http://schemas.microsoft.com/office/powerpoint/2010/main" val="1579011935"/>
              </p:ext>
            </p:extLst>
          </p:nvPr>
        </p:nvGraphicFramePr>
        <p:xfrm>
          <a:off x="502920" y="1874520"/>
          <a:ext cx="6949440" cy="914400"/>
        </p:xfrm>
        <a:graphic>
          <a:graphicData uri="http://schemas.openxmlformats.org/drawingml/2006/table">
            <a:tbl>
              <a:tblPr/>
              <a:tblGrid>
                <a:gridCol w="3474720"/>
                <a:gridCol w="3474720"/>
              </a:tblGrid>
              <a:tr h="0">
                <a:tc>
                  <a:txBody>
                    <a:bodyPr/>
                    <a:lstStyle/>
                    <a:p>
                      <a:pPr indent="0" marL="0">
                        <a:buNone/>
                      </a:pPr>
                      <a:r>
                        <a:rPr lang="en-US" sz="1100" b="1" dirty="0">
                          <a:solidFill>
                            <a:srgbClr val="D4FC00"/>
                          </a:solidFill>
                          <a:latin typeface="Inter" pitchFamily="34" charset="0"/>
                          <a:ea typeface="Inter" pitchFamily="34" charset="-122"/>
                          <a:cs typeface="Inter" pitchFamily="34" charset="-120"/>
                        </a:rPr>
                        <a:t>Centralized</a:t>
                      </a:r>
                      <a:endParaRPr lang="en-US" sz="1100" dirty="0">
                        <a:latin typeface="Inter" charset="0"/>
                        <a:ea typeface="Inter" charset="0"/>
                        <a:cs typeface="Inter" charset="0"/>
                      </a:endParaRPr>
                    </a:p>
                  </a:txBody>
                  <a:tcPr marL="101600" marR="101600" marT="76200" marB="76200">
                    <a:lnL w="9525" cap="flat" cmpd="sng" algn="ctr">
                      <a:solidFill>
                        <a:srgbClr val="DCDCDC"/>
                      </a:solidFill>
                      <a:prstDash val="solid"/>
                      <a:round/>
                      <a:headEnd type="none" w="med" len="med"/>
                      <a:tailEnd type="none" w="med" len="med"/>
                    </a:lnL>
                    <a:lnR w="9525" cap="flat" cmpd="sng" algn="ctr">
                      <a:solidFill>
                        <a:srgbClr val="DCDCDC"/>
                      </a:solidFill>
                      <a:prstDash val="solid"/>
                      <a:round/>
                      <a:headEnd type="none" w="med" len="med"/>
                      <a:tailEnd type="none" w="med" len="med"/>
                    </a:lnR>
                    <a:lnT w="9525" cap="flat" cmpd="sng" algn="ctr">
                      <a:solidFill>
                        <a:srgbClr val="DCDCDC"/>
                      </a:solidFill>
                      <a:prstDash val="solid"/>
                      <a:round/>
                      <a:headEnd type="none" w="med" len="med"/>
                      <a:tailEnd type="none" w="med" len="med"/>
                    </a:lnT>
                    <a:lnB w="9525" cap="flat" cmpd="sng" algn="ctr">
                      <a:solidFill>
                        <a:srgbClr val="DCDCDC"/>
                      </a:solidFill>
                      <a:prstDash val="solid"/>
                      <a:round/>
                      <a:headEnd type="none" w="med" len="med"/>
                      <a:tailEnd type="none" w="med" len="med"/>
                    </a:lnB>
                    <a:solidFill>
                      <a:srgbClr val="141417"/>
                    </a:solidFill>
                  </a:tcPr>
                </a:tc>
                <a:tc>
                  <a:txBody>
                    <a:bodyPr/>
                    <a:lstStyle/>
                    <a:p>
                      <a:pPr indent="0" marL="0">
                        <a:buNone/>
                      </a:pPr>
                      <a:r>
                        <a:rPr lang="en-US" sz="1100" b="1" dirty="0">
                          <a:solidFill>
                            <a:srgbClr val="141417"/>
                          </a:solidFill>
                          <a:latin typeface="Inter" pitchFamily="34" charset="0"/>
                          <a:ea typeface="Inter" pitchFamily="34" charset="-122"/>
                          <a:cs typeface="Inter" pitchFamily="34" charset="-120"/>
                        </a:rPr>
                        <a:t>Decentralized</a:t>
                      </a:r>
                      <a:endParaRPr lang="en-US" sz="1100" dirty="0">
                        <a:latin typeface="Inter" charset="0"/>
                        <a:ea typeface="Inter" charset="0"/>
                        <a:cs typeface="Inter" charset="0"/>
                      </a:endParaRPr>
                    </a:p>
                  </a:txBody>
                  <a:tcPr marL="101600" marR="101600" marT="76200" marB="76200">
                    <a:lnL w="9525" cap="flat" cmpd="sng" algn="ctr">
                      <a:solidFill>
                        <a:srgbClr val="DCDCDC"/>
                      </a:solidFill>
                      <a:prstDash val="solid"/>
                      <a:round/>
                      <a:headEnd type="none" w="med" len="med"/>
                      <a:tailEnd type="none" w="med" len="med"/>
                    </a:lnL>
                    <a:lnR w="9525" cap="flat" cmpd="sng" algn="ctr">
                      <a:solidFill>
                        <a:srgbClr val="DCDCDC"/>
                      </a:solidFill>
                      <a:prstDash val="solid"/>
                      <a:round/>
                      <a:headEnd type="none" w="med" len="med"/>
                      <a:tailEnd type="none" w="med" len="med"/>
                    </a:lnR>
                    <a:lnT w="9525" cap="flat" cmpd="sng" algn="ctr">
                      <a:solidFill>
                        <a:srgbClr val="DCDCDC"/>
                      </a:solidFill>
                      <a:prstDash val="solid"/>
                      <a:round/>
                      <a:headEnd type="none" w="med" len="med"/>
                      <a:tailEnd type="none" w="med" len="med"/>
                    </a:lnT>
                    <a:lnB w="9525" cap="flat" cmpd="sng" algn="ctr">
                      <a:solidFill>
                        <a:srgbClr val="DCDCDC"/>
                      </a:solidFill>
                      <a:prstDash val="solid"/>
                      <a:round/>
                      <a:headEnd type="none" w="med" len="med"/>
                      <a:tailEnd type="none" w="med" len="med"/>
                    </a:lnB>
                    <a:solidFill>
                      <a:srgbClr val="D4FC00"/>
                    </a:solidFill>
                  </a:tcPr>
                </a:tc>
              </a:tr>
              <a:tr h="0">
                <a:tc>
                  <a:txBody>
                    <a:bodyPr/>
                    <a:lstStyle/>
                    <a:p>
                      <a:pPr indent="0" marL="0">
                        <a:buNone/>
                      </a:pPr>
                      <a:r>
                        <a:rPr lang="en-US" sz="700" b="1" spc="100" kern="0" dirty="0">
                          <a:solidFill>
                            <a:srgbClr val="7A7A7E"/>
                          </a:solidFill>
                          <a:latin typeface="Inter" pitchFamily="34" charset="0"/>
                          <a:ea typeface="Inter" pitchFamily="34" charset="-122"/>
                          <a:cs typeface="Inter" pitchFamily="34" charset="-120"/>
                        </a:rPr>
                        <a:t>BASIC TENETS
</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Keputusan penting di tangan manajemen puncak yang berpengalaman</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Kontrol kuat dari atas adalah cara terbaik mengoordinasikan tindakan</a:t>
                      </a:r>
                      <a:endParaRPr lang="en-US" sz="900" dirty="0">
                        <a:latin typeface="Inter" charset="0"/>
                        <a:ea typeface="Inter" charset="0"/>
                        <a:cs typeface="Inter" charset="0"/>
                      </a:endParaRPr>
                    </a:p>
                  </a:txBody>
                  <a:tcPr marL="88900" marR="88900" marT="63500" marB="63500" anchor="t">
                    <a:lnL w="9525" cap="flat" cmpd="sng" algn="ctr">
                      <a:solidFill>
                        <a:srgbClr val="DCDCDC"/>
                      </a:solidFill>
                      <a:prstDash val="solid"/>
                      <a:round/>
                      <a:headEnd type="none" w="med" len="med"/>
                      <a:tailEnd type="none" w="med" len="med"/>
                    </a:lnL>
                    <a:lnR w="9525" cap="flat" cmpd="sng" algn="ctr">
                      <a:solidFill>
                        <a:srgbClr val="DCDCDC"/>
                      </a:solidFill>
                      <a:prstDash val="solid"/>
                      <a:round/>
                      <a:headEnd type="none" w="med" len="med"/>
                      <a:tailEnd type="none" w="med" len="med"/>
                    </a:lnR>
                    <a:lnT w="9525" cap="flat" cmpd="sng" algn="ctr">
                      <a:solidFill>
                        <a:srgbClr val="DCDCDC"/>
                      </a:solidFill>
                      <a:prstDash val="solid"/>
                      <a:round/>
                      <a:headEnd type="none" w="med" len="med"/>
                      <a:tailEnd type="none" w="med" len="med"/>
                    </a:lnT>
                    <a:lnB w="9525" cap="flat" cmpd="sng" algn="ctr">
                      <a:solidFill>
                        <a:srgbClr val="DCDCDC"/>
                      </a:solidFill>
                      <a:prstDash val="solid"/>
                      <a:round/>
                      <a:headEnd type="none" w="med" len="med"/>
                      <a:tailEnd type="none" w="med" len="med"/>
                    </a:lnB>
                    <a:solidFill>
                      <a:srgbClr val="FFFFFF"/>
                    </a:solidFill>
                  </a:tcPr>
                </a:tc>
                <a:tc>
                  <a:txBody>
                    <a:bodyPr/>
                    <a:lstStyle/>
                    <a:p>
                      <a:pPr indent="0" marL="0">
                        <a:buNone/>
                      </a:pPr>
                      <a:r>
                        <a:rPr lang="en-US" sz="700" b="1" spc="100" kern="0" dirty="0">
                          <a:solidFill>
                            <a:srgbClr val="7A7A7E"/>
                          </a:solidFill>
                          <a:latin typeface="Inter" pitchFamily="34" charset="0"/>
                          <a:ea typeface="Inter" pitchFamily="34" charset="-122"/>
                          <a:cs typeface="Inter" pitchFamily="34" charset="-120"/>
                        </a:rPr>
                        <a:t>BASIC TENETS
</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Wewenang pada orang yang paling dekat dengan situasi, yang dilatih untuk menilai</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Intellectual capital seluruh karyawan mengungguli command-and-control</a:t>
                      </a:r>
                      <a:endParaRPr lang="en-US" sz="900" dirty="0">
                        <a:latin typeface="Inter" charset="0"/>
                        <a:ea typeface="Inter" charset="0"/>
                        <a:cs typeface="Inter" charset="0"/>
                      </a:endParaRPr>
                    </a:p>
                  </a:txBody>
                  <a:tcPr marL="88900" marR="88900" marT="63500" marB="63500" anchor="t">
                    <a:lnL w="9525" cap="flat" cmpd="sng" algn="ctr">
                      <a:solidFill>
                        <a:srgbClr val="DCDCDC"/>
                      </a:solidFill>
                      <a:prstDash val="solid"/>
                      <a:round/>
                      <a:headEnd type="none" w="med" len="med"/>
                      <a:tailEnd type="none" w="med" len="med"/>
                    </a:lnL>
                    <a:lnR w="9525" cap="flat" cmpd="sng" algn="ctr">
                      <a:solidFill>
                        <a:srgbClr val="DCDCDC"/>
                      </a:solidFill>
                      <a:prstDash val="solid"/>
                      <a:round/>
                      <a:headEnd type="none" w="med" len="med"/>
                      <a:tailEnd type="none" w="med" len="med"/>
                    </a:lnR>
                    <a:lnT w="9525" cap="flat" cmpd="sng" algn="ctr">
                      <a:solidFill>
                        <a:srgbClr val="DCDCDC"/>
                      </a:solidFill>
                      <a:prstDash val="solid"/>
                      <a:round/>
                      <a:headEnd type="none" w="med" len="med"/>
                      <a:tailEnd type="none" w="med" len="med"/>
                    </a:lnT>
                    <a:lnB w="9525" cap="flat" cmpd="sng" algn="ctr">
                      <a:solidFill>
                        <a:srgbClr val="DCDCDC"/>
                      </a:solidFill>
                      <a:prstDash val="solid"/>
                      <a:round/>
                      <a:headEnd type="none" w="med" len="med"/>
                      <a:tailEnd type="none" w="med" len="med"/>
                    </a:lnB>
                    <a:solidFill>
                      <a:srgbClr val="FFFFFF"/>
                    </a:solidFill>
                  </a:tcPr>
                </a:tc>
              </a:tr>
              <a:tr h="0">
                <a:tc>
                  <a:txBody>
                    <a:bodyPr/>
                    <a:lstStyle/>
                    <a:p>
                      <a:pPr indent="0" marL="0">
                        <a:buNone/>
                      </a:pPr>
                      <a:r>
                        <a:rPr lang="en-US" sz="700" b="1" spc="100" kern="0" dirty="0">
                          <a:solidFill>
                            <a:srgbClr val="7A7A7E"/>
                          </a:solidFill>
                          <a:latin typeface="Inter" pitchFamily="34" charset="0"/>
                          <a:ea typeface="Inter" pitchFamily="34" charset="-122"/>
                          <a:cs typeface="Inter" pitchFamily="34" charset="-120"/>
                        </a:rPr>
                        <a:t>CHIEF ADVANTAGES
</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Akuntabilitas jelas</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Tidak ada tujuan yang saling bertentangan</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Cepat dan tegas saat krisis</a:t>
                      </a:r>
                      <a:endParaRPr lang="en-US" sz="900" dirty="0">
                        <a:latin typeface="Inter" charset="0"/>
                        <a:ea typeface="Inter" charset="0"/>
                        <a:cs typeface="Inter" charset="0"/>
                      </a:endParaRPr>
                    </a:p>
                  </a:txBody>
                  <a:tcPr marL="88900" marR="88900" marT="63500" marB="63500" anchor="t">
                    <a:lnL w="9525" cap="flat" cmpd="sng" algn="ctr">
                      <a:solidFill>
                        <a:srgbClr val="DCDCDC"/>
                      </a:solidFill>
                      <a:prstDash val="solid"/>
                      <a:round/>
                      <a:headEnd type="none" w="med" len="med"/>
                      <a:tailEnd type="none" w="med" len="med"/>
                    </a:lnL>
                    <a:lnR w="9525" cap="flat" cmpd="sng" algn="ctr">
                      <a:solidFill>
                        <a:srgbClr val="DCDCDC"/>
                      </a:solidFill>
                      <a:prstDash val="solid"/>
                      <a:round/>
                      <a:headEnd type="none" w="med" len="med"/>
                      <a:tailEnd type="none" w="med" len="med"/>
                    </a:lnR>
                    <a:lnT w="9525" cap="flat" cmpd="sng" algn="ctr">
                      <a:solidFill>
                        <a:srgbClr val="DCDCDC"/>
                      </a:solidFill>
                      <a:prstDash val="solid"/>
                      <a:round/>
                      <a:headEnd type="none" w="med" len="med"/>
                      <a:tailEnd type="none" w="med" len="med"/>
                    </a:lnT>
                    <a:lnB w="9525" cap="flat" cmpd="sng" algn="ctr">
                      <a:solidFill>
                        <a:srgbClr val="DCDCDC"/>
                      </a:solidFill>
                      <a:prstDash val="solid"/>
                      <a:round/>
                      <a:headEnd type="none" w="med" len="med"/>
                      <a:tailEnd type="none" w="med" len="med"/>
                    </a:lnB>
                    <a:solidFill>
                      <a:srgbClr val="FFFFFF"/>
                    </a:solidFill>
                  </a:tcPr>
                </a:tc>
                <a:tc>
                  <a:txBody>
                    <a:bodyPr/>
                    <a:lstStyle/>
                    <a:p>
                      <a:pPr indent="0" marL="0">
                        <a:buNone/>
                      </a:pPr>
                      <a:r>
                        <a:rPr lang="en-US" sz="700" b="1" spc="100" kern="0" dirty="0">
                          <a:solidFill>
                            <a:srgbClr val="7A7A7E"/>
                          </a:solidFill>
                          <a:latin typeface="Inter" pitchFamily="34" charset="0"/>
                          <a:ea typeface="Inter" pitchFamily="34" charset="-122"/>
                          <a:cs typeface="Inter" pitchFamily="34" charset="-120"/>
                        </a:rPr>
                        <a:t>CHIEF ADVANTAGES
</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Inisiatif dan tanggung jawab tumbuh</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Ide baru dan respons pasar cepat</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Lapisan manajemen lebih sedikit</a:t>
                      </a:r>
                      <a:endParaRPr lang="en-US" sz="900" dirty="0">
                        <a:latin typeface="Inter" charset="0"/>
                        <a:ea typeface="Inter" charset="0"/>
                        <a:cs typeface="Inter" charset="0"/>
                      </a:endParaRPr>
                    </a:p>
                  </a:txBody>
                  <a:tcPr marL="88900" marR="88900" marT="63500" marB="63500" anchor="t">
                    <a:lnL w="9525" cap="flat" cmpd="sng" algn="ctr">
                      <a:solidFill>
                        <a:srgbClr val="DCDCDC"/>
                      </a:solidFill>
                      <a:prstDash val="solid"/>
                      <a:round/>
                      <a:headEnd type="none" w="med" len="med"/>
                      <a:tailEnd type="none" w="med" len="med"/>
                    </a:lnL>
                    <a:lnR w="9525" cap="flat" cmpd="sng" algn="ctr">
                      <a:solidFill>
                        <a:srgbClr val="DCDCDC"/>
                      </a:solidFill>
                      <a:prstDash val="solid"/>
                      <a:round/>
                      <a:headEnd type="none" w="med" len="med"/>
                      <a:tailEnd type="none" w="med" len="med"/>
                    </a:lnR>
                    <a:lnT w="9525" cap="flat" cmpd="sng" algn="ctr">
                      <a:solidFill>
                        <a:srgbClr val="DCDCDC"/>
                      </a:solidFill>
                      <a:prstDash val="solid"/>
                      <a:round/>
                      <a:headEnd type="none" w="med" len="med"/>
                      <a:tailEnd type="none" w="med" len="med"/>
                    </a:lnT>
                    <a:lnB w="9525" cap="flat" cmpd="sng" algn="ctr">
                      <a:solidFill>
                        <a:srgbClr val="DCDCDC"/>
                      </a:solidFill>
                      <a:prstDash val="solid"/>
                      <a:round/>
                      <a:headEnd type="none" w="med" len="med"/>
                      <a:tailEnd type="none" w="med" len="med"/>
                    </a:lnB>
                    <a:solidFill>
                      <a:srgbClr val="FFFFFF"/>
                    </a:solidFill>
                  </a:tcPr>
                </a:tc>
              </a:tr>
              <a:tr h="0">
                <a:tc>
                  <a:txBody>
                    <a:bodyPr/>
                    <a:lstStyle/>
                    <a:p>
                      <a:pPr indent="0" marL="0">
                        <a:buNone/>
                      </a:pPr>
                      <a:r>
                        <a:rPr lang="en-US" sz="700" b="1" spc="100" kern="0" dirty="0">
                          <a:solidFill>
                            <a:srgbClr val="7A7A7E"/>
                          </a:solidFill>
                          <a:latin typeface="Inter" pitchFamily="34" charset="0"/>
                          <a:ea typeface="Inter" pitchFamily="34" charset="-122"/>
                          <a:cs typeface="Inter" pitchFamily="34" charset="-120"/>
                        </a:rPr>
                        <a:t>PRIMARY DISADVANTAGES
</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Respons lambat karena menunggu persetujuan</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Inisiatif di lini bawah mati</a:t>
                      </a:r>
                      <a:endParaRPr lang="en-US" sz="900" dirty="0">
                        <a:latin typeface="Inter" charset="0"/>
                        <a:ea typeface="Inter" charset="0"/>
                        <a:cs typeface="Inter" charset="0"/>
                      </a:endParaRPr>
                    </a:p>
                  </a:txBody>
                  <a:tcPr marL="88900" marR="88900" marT="63500" marB="63500" anchor="t">
                    <a:lnL w="9525" cap="flat" cmpd="sng" algn="ctr">
                      <a:solidFill>
                        <a:srgbClr val="DCDCDC"/>
                      </a:solidFill>
                      <a:prstDash val="solid"/>
                      <a:round/>
                      <a:headEnd type="none" w="med" len="med"/>
                      <a:tailEnd type="none" w="med" len="med"/>
                    </a:lnL>
                    <a:lnR w="9525" cap="flat" cmpd="sng" algn="ctr">
                      <a:solidFill>
                        <a:srgbClr val="DCDCDC"/>
                      </a:solidFill>
                      <a:prstDash val="solid"/>
                      <a:round/>
                      <a:headEnd type="none" w="med" len="med"/>
                      <a:tailEnd type="none" w="med" len="med"/>
                    </a:lnR>
                    <a:lnT w="9525" cap="flat" cmpd="sng" algn="ctr">
                      <a:solidFill>
                        <a:srgbClr val="DCDCDC"/>
                      </a:solidFill>
                      <a:prstDash val="solid"/>
                      <a:round/>
                      <a:headEnd type="none" w="med" len="med"/>
                      <a:tailEnd type="none" w="med" len="med"/>
                    </a:lnT>
                    <a:lnB w="9525" cap="flat" cmpd="sng" algn="ctr">
                      <a:solidFill>
                        <a:srgbClr val="DCDCDC"/>
                      </a:solidFill>
                      <a:prstDash val="solid"/>
                      <a:round/>
                      <a:headEnd type="none" w="med" len="med"/>
                      <a:tailEnd type="none" w="med" len="med"/>
                    </a:lnB>
                    <a:solidFill>
                      <a:srgbClr val="FFFFFF"/>
                    </a:solidFill>
                  </a:tcPr>
                </a:tc>
                <a:tc>
                  <a:txBody>
                    <a:bodyPr/>
                    <a:lstStyle/>
                    <a:p>
                      <a:pPr indent="0" marL="0">
                        <a:buNone/>
                      </a:pPr>
                      <a:r>
                        <a:rPr lang="en-US" sz="700" b="1" spc="100" kern="0" dirty="0">
                          <a:solidFill>
                            <a:srgbClr val="7A7A7E"/>
                          </a:solidFill>
                          <a:latin typeface="Inter" pitchFamily="34" charset="0"/>
                          <a:ea typeface="Inter" pitchFamily="34" charset="-122"/>
                          <a:cs typeface="Inter" pitchFamily="34" charset="-120"/>
                        </a:rPr>
                        <a:t>PRIMARY DISADVANTAGES
</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Puncak bisa tidak tahu tindakan bawahan</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Pendekatan tidak konsisten, kolaborasi lintas unit terganggu</a:t>
                      </a:r>
                      <a:endParaRPr lang="en-US" sz="900" dirty="0">
                        <a:latin typeface="Inter" charset="0"/>
                        <a:ea typeface="Inter" charset="0"/>
                        <a:cs typeface="Inter" charset="0"/>
                      </a:endParaRPr>
                    </a:p>
                  </a:txBody>
                  <a:tcPr marL="88900" marR="88900" marT="63500" marB="63500" anchor="t">
                    <a:lnL w="9525" cap="flat" cmpd="sng" algn="ctr">
                      <a:solidFill>
                        <a:srgbClr val="DCDCDC"/>
                      </a:solidFill>
                      <a:prstDash val="solid"/>
                      <a:round/>
                      <a:headEnd type="none" w="med" len="med"/>
                      <a:tailEnd type="none" w="med" len="med"/>
                    </a:lnL>
                    <a:lnR w="9525" cap="flat" cmpd="sng" algn="ctr">
                      <a:solidFill>
                        <a:srgbClr val="DCDCDC"/>
                      </a:solidFill>
                      <a:prstDash val="solid"/>
                      <a:round/>
                      <a:headEnd type="none" w="med" len="med"/>
                      <a:tailEnd type="none" w="med" len="med"/>
                    </a:lnR>
                    <a:lnT w="9525" cap="flat" cmpd="sng" algn="ctr">
                      <a:solidFill>
                        <a:srgbClr val="DCDCDC"/>
                      </a:solidFill>
                      <a:prstDash val="solid"/>
                      <a:round/>
                      <a:headEnd type="none" w="med" len="med"/>
                      <a:tailEnd type="none" w="med" len="med"/>
                    </a:lnT>
                    <a:lnB w="9525" cap="flat" cmpd="sng" algn="ctr">
                      <a:solidFill>
                        <a:srgbClr val="DCDCDC"/>
                      </a:solidFill>
                      <a:prstDash val="solid"/>
                      <a:round/>
                      <a:headEnd type="none" w="med" len="med"/>
                      <a:tailEnd type="none" w="med" len="med"/>
                    </a:lnB>
                    <a:solidFill>
                      <a:srgbClr val="FFFFFF"/>
                    </a:solidFill>
                  </a:tcPr>
                </a:tc>
              </a:tr>
            </a:tbl>
          </a:graphicData>
        </a:graphic>
      </p:graphicFrame>
      <p:pic>
        <p:nvPicPr>
          <p:cNvPr id="4" name="Foto barista" descr="preencoded.png">    </p:cNvPr>
          <p:cNvPicPr>
            <a:picLocks noChangeAspect="1"/>
          </p:cNvPicPr>
          <p:nvPr/>
        </p:nvPicPr>
        <p:blipFill>
          <a:blip r:embed="rId1"/>
          <a:stretch>
            <a:fillRect/>
          </a:stretch>
        </p:blipFill>
        <p:spPr>
          <a:xfrm>
            <a:off x="7680960" y="1874520"/>
            <a:ext cx="4007815" cy="2560320"/>
          </a:xfrm>
          <a:prstGeom prst="rect">
            <a:avLst/>
          </a:prstGeom>
        </p:spPr>
      </p:pic>
      <p:sp>
        <p:nvSpPr>
          <p:cNvPr id="5" name="card"/>
          <p:cNvSpPr/>
          <p:nvPr/>
        </p:nvSpPr>
        <p:spPr>
          <a:xfrm>
            <a:off x="7680960" y="4572000"/>
            <a:ext cx="4007815" cy="1783080"/>
          </a:xfrm>
          <a:prstGeom prst="roundRect">
            <a:avLst>
              <a:gd name="adj" fmla="val 5128"/>
            </a:avLst>
          </a:prstGeom>
          <a:solidFill>
            <a:srgbClr val="141417"/>
          </a:solidFill>
          <a:ln w="6350">
            <a:solidFill>
              <a:srgbClr val="141417"/>
            </a:solidFill>
            <a:prstDash val="solid"/>
          </a:ln>
        </p:spPr>
      </p:sp>
      <p:sp>
        <p:nvSpPr>
          <p:cNvPr id="6" name="text"/>
          <p:cNvSpPr txBox="1"/>
          <p:nvPr/>
        </p:nvSpPr>
        <p:spPr>
          <a:xfrm>
            <a:off x="7863840" y="4572000"/>
            <a:ext cx="3642055" cy="1783080"/>
          </a:xfrm>
          <a:prstGeom prst="rect">
            <a:avLst/>
          </a:prstGeom>
          <a:noFill/>
          <a:ln/>
        </p:spPr>
        <p:txBody>
          <a:bodyPr wrap="square" lIns="0" tIns="0" rIns="0" bIns="0" rtlCol="0" anchor="ctr"/>
          <a:lstStyle/>
          <a:p>
            <a:pPr algn="l" indent="0" marL="0">
              <a:lnSpc>
                <a:spcPct val="112000"/>
              </a:lnSpc>
              <a:buNone/>
            </a:pPr>
            <a:r>
              <a:rPr lang="en-US" sz="950" dirty="0">
                <a:solidFill>
                  <a:srgbClr val="E8E8EA"/>
                </a:solidFill>
                <a:latin typeface="Inter" pitchFamily="34" charset="0"/>
                <a:ea typeface="Inter" pitchFamily="34" charset="-122"/>
                <a:cs typeface="Inter" pitchFamily="34" charset="-120"/>
              </a:rPr>
              <a:t>Delegasi bukan berarti tanpa kendali. Kendali dijaga lewat batas wewenang, strategic control systems, akuntabilitas, insentif, dan budaya (Simons, 1995). Contoh: karyawan Starbucks membagikan kopi gratis saat kasir offline; buyer TJX memangkas anggarannya sendiri.</a:t>
            </a:r>
            <a:endParaRPr lang="en-US" sz="950" dirty="0"/>
          </a:p>
        </p:txBody>
      </p:sp>
      <p:sp>
        <p:nvSpPr>
          <p:cNvPr id="7" name="text"/>
          <p:cNvSpPr txBox="1"/>
          <p:nvPr/>
        </p:nvSpPr>
        <p:spPr>
          <a:xfrm>
            <a:off x="502920" y="5806440"/>
            <a:ext cx="6949440" cy="457200"/>
          </a:xfrm>
          <a:prstGeom prst="rect">
            <a:avLst/>
          </a:prstGeom>
          <a:noFill/>
          <a:ln/>
        </p:spPr>
        <p:txBody>
          <a:bodyPr wrap="square" lIns="0" tIns="0" rIns="0" bIns="0" rtlCol="0" anchor="t"/>
          <a:lstStyle/>
          <a:p>
            <a:pPr algn="l" indent="0" marL="0">
              <a:lnSpc>
                <a:spcPct val="112000"/>
              </a:lnSpc>
              <a:buNone/>
            </a:pPr>
            <a:r>
              <a:rPr lang="en-US" sz="950" i="1" dirty="0">
                <a:solidFill>
                  <a:srgbClr val="7A7A7E"/>
                </a:solidFill>
                <a:latin typeface="Inter" pitchFamily="34" charset="0"/>
                <a:ea typeface="Inter" pitchFamily="34" charset="-122"/>
                <a:cs typeface="Inter" pitchFamily="34" charset="-120"/>
              </a:rPr>
              <a:t>Tren beberapa dekade terakhir: struktur makin datar dan terdesentralisasi, karena aset paling bernilai kini adalah intellectual capital yang melekat pada karyawan.</a:t>
            </a:r>
            <a:endParaRPr lang="en-US" sz="9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KOORDINASI KE DALAM DAN KE LUAR</a:t>
            </a:r>
            <a:endParaRPr lang="en-US" sz="3000" dirty="0"/>
          </a:p>
        </p:txBody>
      </p:sp>
      <p:sp>
        <p:nvSpPr>
          <p:cNvPr id="3" name="card"/>
          <p:cNvSpPr/>
          <p:nvPr/>
        </p:nvSpPr>
        <p:spPr>
          <a:xfrm>
            <a:off x="502920" y="1874520"/>
            <a:ext cx="3429000" cy="3657600"/>
          </a:xfrm>
          <a:prstGeom prst="roundRect">
            <a:avLst>
              <a:gd name="adj" fmla="val 2667"/>
            </a:avLst>
          </a:prstGeom>
          <a:solidFill>
            <a:srgbClr val="FFFFFF"/>
          </a:solidFill>
          <a:ln w="6350">
            <a:solidFill>
              <a:srgbClr val="FFFFFF"/>
            </a:solidFill>
            <a:prstDash val="solid"/>
          </a:ln>
        </p:spPr>
      </p:sp>
      <p:sp>
        <p:nvSpPr>
          <p:cNvPr id="4" name="icon-bg"/>
          <p:cNvSpPr/>
          <p:nvPr/>
        </p:nvSpPr>
        <p:spPr>
          <a:xfrm>
            <a:off x="685800" y="2057400"/>
            <a:ext cx="384048" cy="384048"/>
          </a:xfrm>
          <a:prstGeom prst="roundRect">
            <a:avLst>
              <a:gd name="adj" fmla="val 19048"/>
            </a:avLst>
          </a:prstGeom>
          <a:solidFill>
            <a:srgbClr val="141417"/>
          </a:solidFill>
          <a:ln w="6350">
            <a:solidFill>
              <a:srgbClr val="141417"/>
            </a:solidFill>
            <a:prstDash val="solid"/>
          </a:ln>
        </p:spPr>
      </p:sp>
      <p:pic>
        <p:nvPicPr>
          <p:cNvPr id="5" name="icon" descr="preencoded.png">    </p:cNvPr>
          <p:cNvPicPr>
            <a:picLocks noChangeAspect="1"/>
          </p:cNvPicPr>
          <p:nvPr/>
        </p:nvPicPr>
        <p:blipFill>
          <a:blip r:embed="rId1"/>
          <a:stretch>
            <a:fillRect/>
          </a:stretch>
        </p:blipFill>
        <p:spPr>
          <a:xfrm>
            <a:off x="781812" y="2153412"/>
            <a:ext cx="192024" cy="192024"/>
          </a:xfrm>
          <a:prstGeom prst="rect">
            <a:avLst/>
          </a:prstGeom>
        </p:spPr>
      </p:pic>
      <p:sp>
        <p:nvSpPr>
          <p:cNvPr id="6" name="text"/>
          <p:cNvSpPr txBox="1"/>
          <p:nvPr/>
        </p:nvSpPr>
        <p:spPr>
          <a:xfrm>
            <a:off x="1188720" y="2112264"/>
            <a:ext cx="2560320" cy="274320"/>
          </a:xfrm>
          <a:prstGeom prst="rect">
            <a:avLst/>
          </a:prstGeom>
          <a:noFill/>
          <a:ln/>
        </p:spPr>
        <p:txBody>
          <a:bodyPr wrap="square" lIns="0" tIns="0" rIns="0" bIns="0" rtlCol="0" anchor="t"/>
          <a:lstStyle/>
          <a:p>
            <a:pPr algn="l" indent="0" marL="0">
              <a:lnSpc>
                <a:spcPct val="112000"/>
              </a:lnSpc>
              <a:buNone/>
            </a:pPr>
            <a:r>
              <a:rPr lang="en-US" sz="1150" b="1" dirty="0">
                <a:solidFill>
                  <a:srgbClr val="1C1C1E"/>
                </a:solidFill>
                <a:latin typeface="Inter" pitchFamily="34" charset="0"/>
                <a:ea typeface="Inter" pitchFamily="34" charset="-122"/>
                <a:cs typeface="Inter" pitchFamily="34" charset="-120"/>
              </a:rPr>
              <a:t>Lintas unit internal</a:t>
            </a:r>
            <a:endParaRPr lang="en-US" sz="1150" dirty="0"/>
          </a:p>
        </p:txBody>
      </p:sp>
      <p:sp>
        <p:nvSpPr>
          <p:cNvPr id="7" name="text"/>
          <p:cNvSpPr txBox="1"/>
          <p:nvPr/>
        </p:nvSpPr>
        <p:spPr>
          <a:xfrm>
            <a:off x="685800" y="2606040"/>
            <a:ext cx="3063240" cy="2834640"/>
          </a:xfrm>
          <a:prstGeom prst="rect">
            <a:avLst/>
          </a:prstGeom>
          <a:noFill/>
          <a:ln/>
        </p:spPr>
        <p:txBody>
          <a:bodyPr wrap="square" lIns="0" tIns="0" rIns="0" bIns="0" rtlCol="0" anchor="t"/>
          <a:lstStyle/>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Capability seperti speed-to-market melintasi R&amp;D, produksi, dan pemasaran, sehingga butuh kerja sama antarunit.</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Alat: komitmen bersama, tindak lanjut eksekutif, komite lintas fungsi, tim proyek.</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Paling efektif: kompensasi yang terikat pada kinerja kelompok lintas unit.</a:t>
            </a:r>
            <a:endParaRPr lang="en-US" sz="950" dirty="0"/>
          </a:p>
        </p:txBody>
      </p:sp>
      <p:sp>
        <p:nvSpPr>
          <p:cNvPr id="8" name="card"/>
          <p:cNvSpPr/>
          <p:nvPr/>
        </p:nvSpPr>
        <p:spPr>
          <a:xfrm>
            <a:off x="4069080" y="1874520"/>
            <a:ext cx="3429000" cy="3657600"/>
          </a:xfrm>
          <a:prstGeom prst="roundRect">
            <a:avLst>
              <a:gd name="adj" fmla="val 2667"/>
            </a:avLst>
          </a:prstGeom>
          <a:solidFill>
            <a:srgbClr val="141417"/>
          </a:solidFill>
          <a:ln w="6350">
            <a:solidFill>
              <a:srgbClr val="141417"/>
            </a:solidFill>
            <a:prstDash val="solid"/>
          </a:ln>
        </p:spPr>
      </p:sp>
      <p:sp>
        <p:nvSpPr>
          <p:cNvPr id="9" name="icon-bg"/>
          <p:cNvSpPr/>
          <p:nvPr/>
        </p:nvSpPr>
        <p:spPr>
          <a:xfrm>
            <a:off x="4251960" y="2057400"/>
            <a:ext cx="384048" cy="384048"/>
          </a:xfrm>
          <a:prstGeom prst="roundRect">
            <a:avLst>
              <a:gd name="adj" fmla="val 19048"/>
            </a:avLst>
          </a:prstGeom>
          <a:solidFill>
            <a:srgbClr val="D4FC00"/>
          </a:solidFill>
          <a:ln w="6350">
            <a:solidFill>
              <a:srgbClr val="D4FC00"/>
            </a:solidFill>
            <a:prstDash val="solid"/>
          </a:ln>
        </p:spPr>
      </p:sp>
      <p:pic>
        <p:nvPicPr>
          <p:cNvPr id="10" name="icon" descr="preencoded.png">    </p:cNvPr>
          <p:cNvPicPr>
            <a:picLocks noChangeAspect="1"/>
          </p:cNvPicPr>
          <p:nvPr/>
        </p:nvPicPr>
        <p:blipFill>
          <a:blip r:embed="rId2"/>
          <a:stretch>
            <a:fillRect/>
          </a:stretch>
        </p:blipFill>
        <p:spPr>
          <a:xfrm>
            <a:off x="4347972" y="2153412"/>
            <a:ext cx="192024" cy="192024"/>
          </a:xfrm>
          <a:prstGeom prst="rect">
            <a:avLst/>
          </a:prstGeom>
        </p:spPr>
      </p:pic>
      <p:sp>
        <p:nvSpPr>
          <p:cNvPr id="11" name="text"/>
          <p:cNvSpPr txBox="1"/>
          <p:nvPr/>
        </p:nvSpPr>
        <p:spPr>
          <a:xfrm>
            <a:off x="4754880" y="2112264"/>
            <a:ext cx="2560320" cy="274320"/>
          </a:xfrm>
          <a:prstGeom prst="rect">
            <a:avLst/>
          </a:prstGeom>
          <a:noFill/>
          <a:ln/>
        </p:spPr>
        <p:txBody>
          <a:bodyPr wrap="square" lIns="0" tIns="0" rIns="0" bIns="0" rtlCol="0" anchor="t"/>
          <a:lstStyle/>
          <a:p>
            <a:pPr algn="l" indent="0" marL="0">
              <a:lnSpc>
                <a:spcPct val="112000"/>
              </a:lnSpc>
              <a:buNone/>
            </a:pPr>
            <a:r>
              <a:rPr lang="en-US" sz="1150" b="1" dirty="0">
                <a:solidFill>
                  <a:srgbClr val="D4FC00"/>
                </a:solidFill>
                <a:latin typeface="Inter" pitchFamily="34" charset="0"/>
                <a:ea typeface="Inter" pitchFamily="34" charset="-122"/>
                <a:cs typeface="Inter" pitchFamily="34" charset="-120"/>
              </a:rPr>
              <a:t>Mitra eksternal</a:t>
            </a:r>
            <a:endParaRPr lang="en-US" sz="1150" dirty="0"/>
          </a:p>
        </p:txBody>
      </p:sp>
      <p:sp>
        <p:nvSpPr>
          <p:cNvPr id="12" name="text"/>
          <p:cNvSpPr txBox="1"/>
          <p:nvPr/>
        </p:nvSpPr>
        <p:spPr>
          <a:xfrm>
            <a:off x="4251960" y="2606040"/>
            <a:ext cx="3063240" cy="2834640"/>
          </a:xfrm>
          <a:prstGeom prst="rect">
            <a:avLst/>
          </a:prstGeom>
          <a:noFill/>
          <a:ln/>
        </p:spPr>
        <p:txBody>
          <a:bodyPr wrap="square" lIns="0" tIns="0" rIns="0" bIns="0" rtlCol="0" anchor="t"/>
          <a:lstStyle/>
          <a:p>
            <a:pPr algn="l" marL="127000" indent="-127000">
              <a:lnSpc>
                <a:spcPct val="112000"/>
              </a:lnSpc>
              <a:spcAft>
                <a:spcPts val="500"/>
              </a:spcAft>
              <a:buSzPct val="100000"/>
              <a:buChar char="•"/>
            </a:pPr>
            <a:r>
              <a:rPr lang="en-US" sz="950" dirty="0">
                <a:solidFill>
                  <a:srgbClr val="E8E8EA"/>
                </a:solidFill>
                <a:latin typeface="Inter" pitchFamily="34" charset="0"/>
                <a:ea typeface="Inter" pitchFamily="34" charset="-122"/>
                <a:cs typeface="Inter" pitchFamily="34" charset="-120"/>
              </a:rPr>
              <a:t>Kemitraan tanpa pengelolaan aktif tidak menghasilkan nilai; tunjuk relationship managers.</a:t>
            </a:r>
            <a:endParaRPr lang="en-US" sz="950" dirty="0"/>
          </a:p>
          <a:p>
            <a:pPr algn="l" marL="127000" indent="-127000">
              <a:lnSpc>
                <a:spcPct val="112000"/>
              </a:lnSpc>
              <a:spcAft>
                <a:spcPts val="500"/>
              </a:spcAft>
              <a:buSzPct val="100000"/>
              <a:buChar char="•"/>
            </a:pPr>
            <a:r>
              <a:rPr lang="en-US" sz="950" dirty="0">
                <a:solidFill>
                  <a:srgbClr val="E8E8EA"/>
                </a:solidFill>
                <a:latin typeface="Inter" pitchFamily="34" charset="0"/>
                <a:ea typeface="Inter" pitchFamily="34" charset="-122"/>
                <a:cs typeface="Inter" pitchFamily="34" charset="-120"/>
              </a:rPr>
              <a:t>Network: ikatan kontraktual yang diatur satu perusahaan pusat, seperti Ducati dan pemasoknya.</a:t>
            </a:r>
            <a:endParaRPr lang="en-US" sz="950" dirty="0"/>
          </a:p>
          <a:p>
            <a:pPr algn="l" marL="127000" indent="-127000">
              <a:lnSpc>
                <a:spcPct val="112000"/>
              </a:lnSpc>
              <a:spcAft>
                <a:spcPts val="500"/>
              </a:spcAft>
              <a:buSzPct val="100000"/>
              <a:buChar char="•"/>
            </a:pPr>
            <a:r>
              <a:rPr lang="en-US" sz="950" dirty="0">
                <a:solidFill>
                  <a:srgbClr val="E8E8EA"/>
                </a:solidFill>
                <a:latin typeface="Inter" pitchFamily="34" charset="0"/>
                <a:ea typeface="Inter" pitchFamily="34" charset="-122"/>
                <a:cs typeface="Inter" pitchFamily="34" charset="-120"/>
              </a:rPr>
              <a:t>Ecosystem: ikatan longgar dan non-kontraktual antara banyak jenis organisasi, seperti Silicon Valley.</a:t>
            </a:r>
            <a:endParaRPr lang="en-US" sz="950" dirty="0"/>
          </a:p>
        </p:txBody>
      </p:sp>
      <p:pic>
        <p:nvPicPr>
          <p:cNvPr id="13" name="Foto tim gudang" descr="preencoded.png">    </p:cNvPr>
          <p:cNvPicPr>
            <a:picLocks noChangeAspect="1"/>
          </p:cNvPicPr>
          <p:nvPr/>
        </p:nvPicPr>
        <p:blipFill>
          <a:blip r:embed="rId3"/>
          <a:stretch>
            <a:fillRect/>
          </a:stretch>
        </p:blipFill>
        <p:spPr>
          <a:xfrm>
            <a:off x="7726680" y="1874520"/>
            <a:ext cx="3962095" cy="2606040"/>
          </a:xfrm>
          <a:prstGeom prst="rect">
            <a:avLst/>
          </a:prstGeom>
        </p:spPr>
      </p:pic>
      <p:sp>
        <p:nvSpPr>
          <p:cNvPr id="14" name="card"/>
          <p:cNvSpPr/>
          <p:nvPr/>
        </p:nvSpPr>
        <p:spPr>
          <a:xfrm>
            <a:off x="7726680" y="4617720"/>
            <a:ext cx="3962095" cy="914400"/>
          </a:xfrm>
          <a:prstGeom prst="roundRect">
            <a:avLst>
              <a:gd name="adj" fmla="val 10000"/>
            </a:avLst>
          </a:prstGeom>
          <a:solidFill>
            <a:srgbClr val="D4FC00"/>
          </a:solidFill>
          <a:ln w="6350">
            <a:solidFill>
              <a:srgbClr val="D4FC00"/>
            </a:solidFill>
            <a:prstDash val="solid"/>
          </a:ln>
        </p:spPr>
      </p:sp>
      <p:sp>
        <p:nvSpPr>
          <p:cNvPr id="15" name="text"/>
          <p:cNvSpPr txBox="1"/>
          <p:nvPr/>
        </p:nvSpPr>
        <p:spPr>
          <a:xfrm>
            <a:off x="7909560" y="4617720"/>
            <a:ext cx="3596335" cy="914400"/>
          </a:xfrm>
          <a:prstGeom prst="rect">
            <a:avLst/>
          </a:prstGeom>
          <a:noFill/>
          <a:ln/>
        </p:spPr>
        <p:txBody>
          <a:bodyPr wrap="square" lIns="0" tIns="0" rIns="0" bIns="0" rtlCol="0" anchor="ctr"/>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Membangun organisasi berarti merajut upaya orang dan kelompok secara sadar. Ini tugas manajemen senior, tidak bisa didelegasikan sepenuhnya.</a:t>
            </a:r>
            <a:endParaRPr lang="en-US" sz="9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SINTESIS: ORGANISASI YANG MAMPU MENGEKSEKUSI</a:t>
            </a:r>
            <a:endParaRPr lang="en-US" sz="3000" dirty="0"/>
          </a:p>
        </p:txBody>
      </p:sp>
      <p:sp>
        <p:nvSpPr>
          <p:cNvPr id="3" name="card"/>
          <p:cNvSpPr/>
          <p:nvPr/>
        </p:nvSpPr>
        <p:spPr>
          <a:xfrm>
            <a:off x="502920" y="1874520"/>
            <a:ext cx="1973824" cy="1051560"/>
          </a:xfrm>
          <a:prstGeom prst="roundRect">
            <a:avLst>
              <a:gd name="adj" fmla="val 8696"/>
            </a:avLst>
          </a:prstGeom>
          <a:solidFill>
            <a:srgbClr val="FFFFFF"/>
          </a:solidFill>
          <a:ln w="6350">
            <a:solidFill>
              <a:srgbClr val="FFFFFF"/>
            </a:solidFill>
            <a:prstDash val="solid"/>
          </a:ln>
        </p:spPr>
      </p:sp>
      <p:sp>
        <p:nvSpPr>
          <p:cNvPr id="4" name="num"/>
          <p:cNvSpPr/>
          <p:nvPr/>
        </p:nvSpPr>
        <p:spPr>
          <a:xfrm>
            <a:off x="667512" y="2039112"/>
            <a:ext cx="274320" cy="274320"/>
          </a:xfrm>
          <a:prstGeom prst="ellipse">
            <a:avLst/>
          </a:prstGeom>
          <a:solidFill>
            <a:srgbClr val="D4FC00"/>
          </a:solidFill>
          <a:ln w="6350">
            <a:solidFill>
              <a:srgbClr val="D4FC00"/>
            </a:solidFill>
            <a:prstDash val="solid"/>
          </a:ln>
        </p:spPr>
      </p:sp>
      <p:sp>
        <p:nvSpPr>
          <p:cNvPr id="5" name="text"/>
          <p:cNvSpPr txBox="1"/>
          <p:nvPr/>
        </p:nvSpPr>
        <p:spPr>
          <a:xfrm>
            <a:off x="667512" y="2039112"/>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1</a:t>
            </a:r>
            <a:endParaRPr lang="en-US" sz="950" dirty="0"/>
          </a:p>
        </p:txBody>
      </p:sp>
      <p:sp>
        <p:nvSpPr>
          <p:cNvPr id="6" name="text"/>
          <p:cNvSpPr txBox="1"/>
          <p:nvPr/>
        </p:nvSpPr>
        <p:spPr>
          <a:xfrm>
            <a:off x="1033272" y="2029968"/>
            <a:ext cx="1333744" cy="320040"/>
          </a:xfrm>
          <a:prstGeom prst="rect">
            <a:avLst/>
          </a:prstGeom>
          <a:noFill/>
          <a:ln/>
        </p:spPr>
        <p:txBody>
          <a:bodyPr wrap="square" lIns="0" tIns="0" rIns="0" bIns="0" rtlCol="0" anchor="ctr"/>
          <a:lstStyle/>
          <a:p>
            <a:pPr algn="l" indent="0" marL="0">
              <a:lnSpc>
                <a:spcPct val="112000"/>
              </a:lnSpc>
              <a:buNone/>
            </a:pPr>
            <a:r>
              <a:rPr lang="en-US" sz="1150" b="1" dirty="0">
                <a:solidFill>
                  <a:srgbClr val="141417"/>
                </a:solidFill>
                <a:latin typeface="Inter" pitchFamily="34" charset="0"/>
                <a:ea typeface="Inter" pitchFamily="34" charset="-122"/>
                <a:cs typeface="Inter" pitchFamily="34" charset="-120"/>
              </a:rPr>
              <a:t>Staffing</a:t>
            </a:r>
            <a:endParaRPr lang="en-US" sz="1150" dirty="0"/>
          </a:p>
        </p:txBody>
      </p:sp>
      <p:sp>
        <p:nvSpPr>
          <p:cNvPr id="7" name="text"/>
          <p:cNvSpPr txBox="1"/>
          <p:nvPr/>
        </p:nvSpPr>
        <p:spPr>
          <a:xfrm>
            <a:off x="667512" y="2441448"/>
            <a:ext cx="1644640" cy="45720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orang yang tepat</a:t>
            </a:r>
            <a:endParaRPr lang="en-US" sz="900" dirty="0"/>
          </a:p>
        </p:txBody>
      </p:sp>
      <p:sp>
        <p:nvSpPr>
          <p:cNvPr id="8" name="arrow"/>
          <p:cNvSpPr/>
          <p:nvPr/>
        </p:nvSpPr>
        <p:spPr>
          <a:xfrm>
            <a:off x="2522464" y="2290572"/>
            <a:ext cx="237744" cy="219456"/>
          </a:xfrm>
          <a:prstGeom prst="rightArrow">
            <a:avLst/>
          </a:prstGeom>
          <a:solidFill>
            <a:srgbClr val="7A7A7E"/>
          </a:solidFill>
          <a:ln w="6350">
            <a:solidFill>
              <a:srgbClr val="7A7A7E"/>
            </a:solidFill>
            <a:prstDash val="solid"/>
          </a:ln>
        </p:spPr>
      </p:sp>
      <p:sp>
        <p:nvSpPr>
          <p:cNvPr id="9" name="card"/>
          <p:cNvSpPr/>
          <p:nvPr/>
        </p:nvSpPr>
        <p:spPr>
          <a:xfrm>
            <a:off x="2805928" y="1874520"/>
            <a:ext cx="1973824" cy="1051560"/>
          </a:xfrm>
          <a:prstGeom prst="roundRect">
            <a:avLst>
              <a:gd name="adj" fmla="val 8696"/>
            </a:avLst>
          </a:prstGeom>
          <a:solidFill>
            <a:srgbClr val="FFFFFF"/>
          </a:solidFill>
          <a:ln w="6350">
            <a:solidFill>
              <a:srgbClr val="FFFFFF"/>
            </a:solidFill>
            <a:prstDash val="solid"/>
          </a:ln>
        </p:spPr>
      </p:sp>
      <p:sp>
        <p:nvSpPr>
          <p:cNvPr id="10" name="num"/>
          <p:cNvSpPr/>
          <p:nvPr/>
        </p:nvSpPr>
        <p:spPr>
          <a:xfrm>
            <a:off x="2970520" y="2039112"/>
            <a:ext cx="274320" cy="274320"/>
          </a:xfrm>
          <a:prstGeom prst="ellipse">
            <a:avLst/>
          </a:prstGeom>
          <a:solidFill>
            <a:srgbClr val="D4FC00"/>
          </a:solidFill>
          <a:ln w="6350">
            <a:solidFill>
              <a:srgbClr val="D4FC00"/>
            </a:solidFill>
            <a:prstDash val="solid"/>
          </a:ln>
        </p:spPr>
      </p:sp>
      <p:sp>
        <p:nvSpPr>
          <p:cNvPr id="11" name="text"/>
          <p:cNvSpPr txBox="1"/>
          <p:nvPr/>
        </p:nvSpPr>
        <p:spPr>
          <a:xfrm>
            <a:off x="2970520" y="2039112"/>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2</a:t>
            </a:r>
            <a:endParaRPr lang="en-US" sz="950" dirty="0"/>
          </a:p>
        </p:txBody>
      </p:sp>
      <p:sp>
        <p:nvSpPr>
          <p:cNvPr id="12" name="text"/>
          <p:cNvSpPr txBox="1"/>
          <p:nvPr/>
        </p:nvSpPr>
        <p:spPr>
          <a:xfrm>
            <a:off x="3336280" y="2029968"/>
            <a:ext cx="1333744" cy="320040"/>
          </a:xfrm>
          <a:prstGeom prst="rect">
            <a:avLst/>
          </a:prstGeom>
          <a:noFill/>
          <a:ln/>
        </p:spPr>
        <p:txBody>
          <a:bodyPr wrap="square" lIns="0" tIns="0" rIns="0" bIns="0" rtlCol="0" anchor="ctr"/>
          <a:lstStyle/>
          <a:p>
            <a:pPr algn="l" indent="0" marL="0">
              <a:lnSpc>
                <a:spcPct val="112000"/>
              </a:lnSpc>
              <a:buNone/>
            </a:pPr>
            <a:r>
              <a:rPr lang="en-US" sz="1150" b="1" dirty="0">
                <a:solidFill>
                  <a:srgbClr val="141417"/>
                </a:solidFill>
                <a:latin typeface="Inter" pitchFamily="34" charset="0"/>
                <a:ea typeface="Inter" pitchFamily="34" charset="-122"/>
                <a:cs typeface="Inter" pitchFamily="34" charset="-120"/>
              </a:rPr>
              <a:t>Capabilities</a:t>
            </a:r>
            <a:endParaRPr lang="en-US" sz="1150" dirty="0"/>
          </a:p>
        </p:txBody>
      </p:sp>
      <p:sp>
        <p:nvSpPr>
          <p:cNvPr id="13" name="text"/>
          <p:cNvSpPr txBox="1"/>
          <p:nvPr/>
        </p:nvSpPr>
        <p:spPr>
          <a:xfrm>
            <a:off x="2970520" y="2441448"/>
            <a:ext cx="1644640" cy="45720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kemampuan yang siap</a:t>
            </a:r>
            <a:endParaRPr lang="en-US" sz="900" dirty="0"/>
          </a:p>
        </p:txBody>
      </p:sp>
      <p:sp>
        <p:nvSpPr>
          <p:cNvPr id="14" name="arrow"/>
          <p:cNvSpPr/>
          <p:nvPr/>
        </p:nvSpPr>
        <p:spPr>
          <a:xfrm>
            <a:off x="4825472" y="2290572"/>
            <a:ext cx="237744" cy="219456"/>
          </a:xfrm>
          <a:prstGeom prst="rightArrow">
            <a:avLst/>
          </a:prstGeom>
          <a:solidFill>
            <a:srgbClr val="7A7A7E"/>
          </a:solidFill>
          <a:ln w="6350">
            <a:solidFill>
              <a:srgbClr val="7A7A7E"/>
            </a:solidFill>
            <a:prstDash val="solid"/>
          </a:ln>
        </p:spPr>
      </p:sp>
      <p:sp>
        <p:nvSpPr>
          <p:cNvPr id="15" name="card"/>
          <p:cNvSpPr/>
          <p:nvPr/>
        </p:nvSpPr>
        <p:spPr>
          <a:xfrm>
            <a:off x="5108936" y="1874520"/>
            <a:ext cx="1973824" cy="1051560"/>
          </a:xfrm>
          <a:prstGeom prst="roundRect">
            <a:avLst>
              <a:gd name="adj" fmla="val 8696"/>
            </a:avLst>
          </a:prstGeom>
          <a:solidFill>
            <a:srgbClr val="FFFFFF"/>
          </a:solidFill>
          <a:ln w="6350">
            <a:solidFill>
              <a:srgbClr val="FFFFFF"/>
            </a:solidFill>
            <a:prstDash val="solid"/>
          </a:ln>
        </p:spPr>
      </p:sp>
      <p:sp>
        <p:nvSpPr>
          <p:cNvPr id="16" name="num"/>
          <p:cNvSpPr/>
          <p:nvPr/>
        </p:nvSpPr>
        <p:spPr>
          <a:xfrm>
            <a:off x="5273528" y="2039112"/>
            <a:ext cx="274320" cy="274320"/>
          </a:xfrm>
          <a:prstGeom prst="ellipse">
            <a:avLst/>
          </a:prstGeom>
          <a:solidFill>
            <a:srgbClr val="D4FC00"/>
          </a:solidFill>
          <a:ln w="6350">
            <a:solidFill>
              <a:srgbClr val="D4FC00"/>
            </a:solidFill>
            <a:prstDash val="solid"/>
          </a:ln>
        </p:spPr>
      </p:sp>
      <p:sp>
        <p:nvSpPr>
          <p:cNvPr id="17" name="text"/>
          <p:cNvSpPr txBox="1"/>
          <p:nvPr/>
        </p:nvSpPr>
        <p:spPr>
          <a:xfrm>
            <a:off x="5273528" y="2039112"/>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3</a:t>
            </a:r>
            <a:endParaRPr lang="en-US" sz="950" dirty="0"/>
          </a:p>
        </p:txBody>
      </p:sp>
      <p:sp>
        <p:nvSpPr>
          <p:cNvPr id="18" name="text"/>
          <p:cNvSpPr txBox="1"/>
          <p:nvPr/>
        </p:nvSpPr>
        <p:spPr>
          <a:xfrm>
            <a:off x="5639288" y="2029968"/>
            <a:ext cx="1333744" cy="320040"/>
          </a:xfrm>
          <a:prstGeom prst="rect">
            <a:avLst/>
          </a:prstGeom>
          <a:noFill/>
          <a:ln/>
        </p:spPr>
        <p:txBody>
          <a:bodyPr wrap="square" lIns="0" tIns="0" rIns="0" bIns="0" rtlCol="0" anchor="ctr"/>
          <a:lstStyle/>
          <a:p>
            <a:pPr algn="l" indent="0" marL="0">
              <a:lnSpc>
                <a:spcPct val="112000"/>
              </a:lnSpc>
              <a:buNone/>
            </a:pPr>
            <a:r>
              <a:rPr lang="en-US" sz="1150" b="1" dirty="0">
                <a:solidFill>
                  <a:srgbClr val="141417"/>
                </a:solidFill>
                <a:latin typeface="Inter" pitchFamily="34" charset="0"/>
                <a:ea typeface="Inter" pitchFamily="34" charset="-122"/>
                <a:cs typeface="Inter" pitchFamily="34" charset="-120"/>
              </a:rPr>
              <a:t>Structure</a:t>
            </a:r>
            <a:endParaRPr lang="en-US" sz="1150" dirty="0"/>
          </a:p>
        </p:txBody>
      </p:sp>
      <p:sp>
        <p:nvSpPr>
          <p:cNvPr id="19" name="text"/>
          <p:cNvSpPr txBox="1"/>
          <p:nvPr/>
        </p:nvSpPr>
        <p:spPr>
          <a:xfrm>
            <a:off x="5273528" y="2441448"/>
            <a:ext cx="1644640" cy="45720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tata kerja yang selaras</a:t>
            </a:r>
            <a:endParaRPr lang="en-US" sz="900" dirty="0"/>
          </a:p>
        </p:txBody>
      </p:sp>
      <p:sp>
        <p:nvSpPr>
          <p:cNvPr id="20" name="arrow"/>
          <p:cNvSpPr/>
          <p:nvPr/>
        </p:nvSpPr>
        <p:spPr>
          <a:xfrm>
            <a:off x="7128480" y="2290572"/>
            <a:ext cx="237744" cy="219456"/>
          </a:xfrm>
          <a:prstGeom prst="rightArrow">
            <a:avLst/>
          </a:prstGeom>
          <a:solidFill>
            <a:srgbClr val="141417"/>
          </a:solidFill>
          <a:ln w="6350">
            <a:solidFill>
              <a:srgbClr val="141417"/>
            </a:solidFill>
            <a:prstDash val="solid"/>
          </a:ln>
        </p:spPr>
      </p:sp>
      <p:sp>
        <p:nvSpPr>
          <p:cNvPr id="21" name="card"/>
          <p:cNvSpPr/>
          <p:nvPr/>
        </p:nvSpPr>
        <p:spPr>
          <a:xfrm>
            <a:off x="7411944" y="1874520"/>
            <a:ext cx="1973824" cy="1051560"/>
          </a:xfrm>
          <a:prstGeom prst="roundRect">
            <a:avLst>
              <a:gd name="adj" fmla="val 8696"/>
            </a:avLst>
          </a:prstGeom>
          <a:solidFill>
            <a:srgbClr val="D4FC00"/>
          </a:solidFill>
          <a:ln w="6350">
            <a:solidFill>
              <a:srgbClr val="D4FC00"/>
            </a:solidFill>
            <a:prstDash val="solid"/>
          </a:ln>
        </p:spPr>
      </p:sp>
      <p:sp>
        <p:nvSpPr>
          <p:cNvPr id="22" name="text"/>
          <p:cNvSpPr txBox="1"/>
          <p:nvPr/>
        </p:nvSpPr>
        <p:spPr>
          <a:xfrm>
            <a:off x="7576536" y="2029968"/>
            <a:ext cx="1644640" cy="320040"/>
          </a:xfrm>
          <a:prstGeom prst="rect">
            <a:avLst/>
          </a:prstGeom>
          <a:noFill/>
          <a:ln/>
        </p:spPr>
        <p:txBody>
          <a:bodyPr wrap="square" lIns="0" tIns="0" rIns="0" bIns="0" rtlCol="0" anchor="ctr"/>
          <a:lstStyle/>
          <a:p>
            <a:pPr algn="l" indent="0" marL="0">
              <a:lnSpc>
                <a:spcPct val="112000"/>
              </a:lnSpc>
              <a:buNone/>
            </a:pPr>
            <a:r>
              <a:rPr lang="en-US" sz="1150" b="1" dirty="0">
                <a:solidFill>
                  <a:srgbClr val="141417"/>
                </a:solidFill>
                <a:latin typeface="Inter" pitchFamily="34" charset="0"/>
                <a:ea typeface="Inter" pitchFamily="34" charset="-122"/>
                <a:cs typeface="Inter" pitchFamily="34" charset="-120"/>
              </a:rPr>
              <a:t>Proficient execution</a:t>
            </a:r>
            <a:endParaRPr lang="en-US" sz="1150" dirty="0"/>
          </a:p>
        </p:txBody>
      </p:sp>
      <p:sp>
        <p:nvSpPr>
          <p:cNvPr id="23" name="text"/>
          <p:cNvSpPr txBox="1"/>
          <p:nvPr/>
        </p:nvSpPr>
        <p:spPr>
          <a:xfrm>
            <a:off x="7576536" y="2441448"/>
            <a:ext cx="1644640" cy="45720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target tercapai, aktivitas kritis mahir</a:t>
            </a:r>
            <a:endParaRPr lang="en-US" sz="900" dirty="0"/>
          </a:p>
        </p:txBody>
      </p:sp>
      <p:sp>
        <p:nvSpPr>
          <p:cNvPr id="24" name="arrow"/>
          <p:cNvSpPr/>
          <p:nvPr/>
        </p:nvSpPr>
        <p:spPr>
          <a:xfrm>
            <a:off x="9431487" y="2290572"/>
            <a:ext cx="237744" cy="219456"/>
          </a:xfrm>
          <a:prstGeom prst="rightArrow">
            <a:avLst/>
          </a:prstGeom>
          <a:solidFill>
            <a:srgbClr val="141417"/>
          </a:solidFill>
          <a:ln w="6350">
            <a:solidFill>
              <a:srgbClr val="141417"/>
            </a:solidFill>
            <a:prstDash val="solid"/>
          </a:ln>
        </p:spPr>
      </p:sp>
      <p:sp>
        <p:nvSpPr>
          <p:cNvPr id="25" name="card"/>
          <p:cNvSpPr/>
          <p:nvPr/>
        </p:nvSpPr>
        <p:spPr>
          <a:xfrm>
            <a:off x="9714951" y="1874520"/>
            <a:ext cx="1973824" cy="1051560"/>
          </a:xfrm>
          <a:prstGeom prst="roundRect">
            <a:avLst>
              <a:gd name="adj" fmla="val 8696"/>
            </a:avLst>
          </a:prstGeom>
          <a:solidFill>
            <a:srgbClr val="141417"/>
          </a:solidFill>
          <a:ln w="6350">
            <a:solidFill>
              <a:srgbClr val="141417"/>
            </a:solidFill>
            <a:prstDash val="solid"/>
          </a:ln>
        </p:spPr>
      </p:sp>
      <p:sp>
        <p:nvSpPr>
          <p:cNvPr id="26" name="text"/>
          <p:cNvSpPr txBox="1"/>
          <p:nvPr/>
        </p:nvSpPr>
        <p:spPr>
          <a:xfrm>
            <a:off x="9879543" y="2029968"/>
            <a:ext cx="1644640" cy="320040"/>
          </a:xfrm>
          <a:prstGeom prst="rect">
            <a:avLst/>
          </a:prstGeom>
          <a:noFill/>
          <a:ln/>
        </p:spPr>
        <p:txBody>
          <a:bodyPr wrap="square" lIns="0" tIns="0" rIns="0" bIns="0" rtlCol="0" anchor="ctr"/>
          <a:lstStyle/>
          <a:p>
            <a:pPr algn="l" indent="0" marL="0">
              <a:lnSpc>
                <a:spcPct val="112000"/>
              </a:lnSpc>
              <a:buNone/>
            </a:pPr>
            <a:r>
              <a:rPr lang="en-US" sz="1150" b="1" dirty="0">
                <a:solidFill>
                  <a:srgbClr val="D4FC00"/>
                </a:solidFill>
                <a:latin typeface="Inter" pitchFamily="34" charset="0"/>
                <a:ea typeface="Inter" pitchFamily="34" charset="-122"/>
                <a:cs typeface="Inter" pitchFamily="34" charset="-120"/>
              </a:rPr>
              <a:t>Sustainable advantage</a:t>
            </a:r>
            <a:endParaRPr lang="en-US" sz="1150" dirty="0"/>
          </a:p>
        </p:txBody>
      </p:sp>
      <p:sp>
        <p:nvSpPr>
          <p:cNvPr id="27" name="text"/>
          <p:cNvSpPr txBox="1"/>
          <p:nvPr/>
        </p:nvSpPr>
        <p:spPr>
          <a:xfrm>
            <a:off x="9879543" y="2441448"/>
            <a:ext cx="1644640" cy="457200"/>
          </a:xfrm>
          <a:prstGeom prst="rect">
            <a:avLst/>
          </a:prstGeom>
          <a:noFill/>
          <a:ln/>
        </p:spPr>
        <p:txBody>
          <a:bodyPr wrap="square" lIns="0" tIns="0" rIns="0" bIns="0" rtlCol="0" anchor="t"/>
          <a:lstStyle/>
          <a:p>
            <a:pPr algn="l" indent="0" marL="0">
              <a:lnSpc>
                <a:spcPct val="112000"/>
              </a:lnSpc>
              <a:buNone/>
            </a:pPr>
            <a:r>
              <a:rPr lang="en-US" sz="900" dirty="0">
                <a:solidFill>
                  <a:srgbClr val="E8E8EA"/>
                </a:solidFill>
                <a:latin typeface="Inter" pitchFamily="34" charset="0"/>
                <a:ea typeface="Inter" pitchFamily="34" charset="-122"/>
                <a:cs typeface="Inter" pitchFamily="34" charset="-120"/>
              </a:rPr>
              <a:t>out-execute pesaing</a:t>
            </a:r>
            <a:endParaRPr lang="en-US" sz="900" dirty="0"/>
          </a:p>
        </p:txBody>
      </p:sp>
      <p:pic>
        <p:nvPicPr>
          <p:cNvPr id="28" name="Foto kapal di laut lepas" descr="preencoded.png">    </p:cNvPr>
          <p:cNvPicPr>
            <a:picLocks noChangeAspect="1"/>
          </p:cNvPicPr>
          <p:nvPr/>
        </p:nvPicPr>
        <p:blipFill>
          <a:blip r:embed="rId1"/>
          <a:stretch>
            <a:fillRect/>
          </a:stretch>
        </p:blipFill>
        <p:spPr>
          <a:xfrm>
            <a:off x="502920" y="3108960"/>
            <a:ext cx="5394960" cy="3246120"/>
          </a:xfrm>
          <a:prstGeom prst="rect">
            <a:avLst/>
          </a:prstGeom>
        </p:spPr>
      </p:pic>
      <p:sp>
        <p:nvSpPr>
          <p:cNvPr id="29" name="card"/>
          <p:cNvSpPr/>
          <p:nvPr/>
        </p:nvSpPr>
        <p:spPr>
          <a:xfrm>
            <a:off x="6126480" y="3108960"/>
            <a:ext cx="5562295" cy="1051560"/>
          </a:xfrm>
          <a:prstGeom prst="roundRect">
            <a:avLst>
              <a:gd name="adj" fmla="val 8696"/>
            </a:avLst>
          </a:prstGeom>
          <a:solidFill>
            <a:srgbClr val="E6E6E6"/>
          </a:solidFill>
          <a:ln w="6350">
            <a:solidFill>
              <a:srgbClr val="E6E6E6"/>
            </a:solidFill>
            <a:prstDash val="solid"/>
          </a:ln>
        </p:spPr>
      </p:sp>
      <p:sp>
        <p:nvSpPr>
          <p:cNvPr id="30" name="text"/>
          <p:cNvSpPr txBox="1"/>
          <p:nvPr/>
        </p:nvSpPr>
        <p:spPr>
          <a:xfrm>
            <a:off x="6309360" y="3108960"/>
            <a:ext cx="5196535" cy="1051560"/>
          </a:xfrm>
          <a:prstGeom prst="rect">
            <a:avLst/>
          </a:prstGeom>
          <a:noFill/>
          <a:ln/>
        </p:spPr>
        <p:txBody>
          <a:bodyPr wrap="square" lIns="0" tIns="0" rIns="0" bIns="0" rtlCol="0" anchor="ctr"/>
          <a:lstStyle/>
          <a:p>
            <a:pPr algn="l" indent="0" marL="0">
              <a:lnSpc>
                <a:spcPct val="112000"/>
              </a:lnSpc>
              <a:buNone/>
            </a:pPr>
            <a:r>
              <a:rPr lang="en-US" sz="1000" dirty="0">
                <a:solidFill>
                  <a:srgbClr val="1C1C1E"/>
                </a:solidFill>
                <a:latin typeface="Inter" pitchFamily="34" charset="0"/>
                <a:ea typeface="Inter" pitchFamily="34" charset="-122"/>
                <a:cs typeface="Inter" pitchFamily="34" charset="-120"/>
              </a:rPr>
              <a:t>Strategi sebaik apa pun hanya setengah pekerjaan. Keunggulan yang bertahan lahir ketika orang, capability, dan struktur dibangun untuk menjalankan strategi lebih baik daripada pesaing.</a:t>
            </a:r>
            <a:endParaRPr lang="en-US" sz="1000" dirty="0"/>
          </a:p>
        </p:txBody>
      </p:sp>
      <p:sp>
        <p:nvSpPr>
          <p:cNvPr id="31" name="card"/>
          <p:cNvSpPr/>
          <p:nvPr/>
        </p:nvSpPr>
        <p:spPr>
          <a:xfrm>
            <a:off x="6126480" y="4297680"/>
            <a:ext cx="5562295" cy="640080"/>
          </a:xfrm>
          <a:prstGeom prst="roundRect">
            <a:avLst>
              <a:gd name="adj" fmla="val 14286"/>
            </a:avLst>
          </a:prstGeom>
          <a:solidFill>
            <a:srgbClr val="FFFFFF"/>
          </a:solidFill>
          <a:ln w="6350">
            <a:solidFill>
              <a:srgbClr val="FFFFFF"/>
            </a:solidFill>
            <a:prstDash val="solid"/>
          </a:ln>
        </p:spPr>
      </p:sp>
      <p:sp>
        <p:nvSpPr>
          <p:cNvPr id="32" name="text"/>
          <p:cNvSpPr txBox="1"/>
          <p:nvPr/>
        </p:nvSpPr>
        <p:spPr>
          <a:xfrm>
            <a:off x="6309360" y="4297680"/>
            <a:ext cx="914400" cy="640080"/>
          </a:xfrm>
          <a:prstGeom prst="rect">
            <a:avLst/>
          </a:prstGeom>
          <a:noFill/>
          <a:ln/>
        </p:spPr>
        <p:txBody>
          <a:bodyPr wrap="square" lIns="0" tIns="0" rIns="0" bIns="0" rtlCol="0" anchor="ctr"/>
          <a:lstStyle/>
          <a:p>
            <a:pPr algn="l" indent="0" marL="0">
              <a:lnSpc>
                <a:spcPct val="112000"/>
              </a:lnSpc>
              <a:buNone/>
            </a:pPr>
            <a:r>
              <a:rPr lang="en-US" sz="1100" b="1" dirty="0">
                <a:solidFill>
                  <a:srgbClr val="1C1C1E"/>
                </a:solidFill>
                <a:latin typeface="Inter" pitchFamily="34" charset="0"/>
                <a:ea typeface="Inter" pitchFamily="34" charset="-122"/>
                <a:cs typeface="Inter" pitchFamily="34" charset="-120"/>
              </a:rPr>
              <a:t>Bab 11</a:t>
            </a:r>
            <a:endParaRPr lang="en-US" sz="1100" dirty="0"/>
          </a:p>
        </p:txBody>
      </p:sp>
      <p:sp>
        <p:nvSpPr>
          <p:cNvPr id="33" name="text"/>
          <p:cNvSpPr txBox="1"/>
          <p:nvPr/>
        </p:nvSpPr>
        <p:spPr>
          <a:xfrm>
            <a:off x="7223760" y="4297680"/>
            <a:ext cx="4282135" cy="640080"/>
          </a:xfrm>
          <a:prstGeom prst="rect">
            <a:avLst/>
          </a:prstGeom>
          <a:noFill/>
          <a:ln/>
        </p:spPr>
        <p:txBody>
          <a:bodyPr wrap="square" lIns="0" tIns="0" rIns="0" bIns="0" rtlCol="0" anchor="ctr"/>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Menggerakkan organisasi: sumber daya, kebijakan, proses, sistem, imbalan (tugas 4 sampai 8).</a:t>
            </a:r>
            <a:endParaRPr lang="en-US" sz="900" dirty="0"/>
          </a:p>
        </p:txBody>
      </p:sp>
      <p:sp>
        <p:nvSpPr>
          <p:cNvPr id="34" name="card"/>
          <p:cNvSpPr/>
          <p:nvPr/>
        </p:nvSpPr>
        <p:spPr>
          <a:xfrm>
            <a:off x="6126480" y="5010912"/>
            <a:ext cx="5562295" cy="640080"/>
          </a:xfrm>
          <a:prstGeom prst="roundRect">
            <a:avLst>
              <a:gd name="adj" fmla="val 14286"/>
            </a:avLst>
          </a:prstGeom>
          <a:solidFill>
            <a:srgbClr val="FFFFFF"/>
          </a:solidFill>
          <a:ln w="6350">
            <a:solidFill>
              <a:srgbClr val="FFFFFF"/>
            </a:solidFill>
            <a:prstDash val="solid"/>
          </a:ln>
        </p:spPr>
      </p:sp>
      <p:sp>
        <p:nvSpPr>
          <p:cNvPr id="35" name="text"/>
          <p:cNvSpPr txBox="1"/>
          <p:nvPr/>
        </p:nvSpPr>
        <p:spPr>
          <a:xfrm>
            <a:off x="6309360" y="5010912"/>
            <a:ext cx="914400" cy="640080"/>
          </a:xfrm>
          <a:prstGeom prst="rect">
            <a:avLst/>
          </a:prstGeom>
          <a:noFill/>
          <a:ln/>
        </p:spPr>
        <p:txBody>
          <a:bodyPr wrap="square" lIns="0" tIns="0" rIns="0" bIns="0" rtlCol="0" anchor="ctr"/>
          <a:lstStyle/>
          <a:p>
            <a:pPr algn="l" indent="0" marL="0">
              <a:lnSpc>
                <a:spcPct val="112000"/>
              </a:lnSpc>
              <a:buNone/>
            </a:pPr>
            <a:r>
              <a:rPr lang="en-US" sz="1100" b="1" dirty="0">
                <a:solidFill>
                  <a:srgbClr val="1C1C1E"/>
                </a:solidFill>
                <a:latin typeface="Inter" pitchFamily="34" charset="0"/>
                <a:ea typeface="Inter" pitchFamily="34" charset="-122"/>
                <a:cs typeface="Inter" pitchFamily="34" charset="-120"/>
              </a:rPr>
              <a:t>Bab 12</a:t>
            </a:r>
            <a:endParaRPr lang="en-US" sz="1100" dirty="0"/>
          </a:p>
        </p:txBody>
      </p:sp>
      <p:sp>
        <p:nvSpPr>
          <p:cNvPr id="36" name="text"/>
          <p:cNvSpPr txBox="1"/>
          <p:nvPr/>
        </p:nvSpPr>
        <p:spPr>
          <a:xfrm>
            <a:off x="7223760" y="5010912"/>
            <a:ext cx="4282135" cy="640080"/>
          </a:xfrm>
          <a:prstGeom prst="rect">
            <a:avLst/>
          </a:prstGeom>
          <a:noFill/>
          <a:ln/>
        </p:spPr>
        <p:txBody>
          <a:bodyPr wrap="square" lIns="0" tIns="0" rIns="0" bIns="0" rtlCol="0" anchor="ctr"/>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Menopangnya dengan budaya dan kepemimpinan (tugas 9 dan 10).</a:t>
            </a:r>
            <a:endParaRPr lang="en-US" sz="900" dirty="0"/>
          </a:p>
        </p:txBody>
      </p:sp>
      <p:sp>
        <p:nvSpPr>
          <p:cNvPr id="37" name="card"/>
          <p:cNvSpPr/>
          <p:nvPr/>
        </p:nvSpPr>
        <p:spPr>
          <a:xfrm>
            <a:off x="6126480" y="5724144"/>
            <a:ext cx="5562295" cy="640080"/>
          </a:xfrm>
          <a:prstGeom prst="roundRect">
            <a:avLst>
              <a:gd name="adj" fmla="val 14286"/>
            </a:avLst>
          </a:prstGeom>
          <a:solidFill>
            <a:srgbClr val="D4FC00"/>
          </a:solidFill>
          <a:ln w="6350">
            <a:solidFill>
              <a:srgbClr val="D4FC00"/>
            </a:solidFill>
            <a:prstDash val="solid"/>
          </a:ln>
        </p:spPr>
      </p:sp>
      <p:sp>
        <p:nvSpPr>
          <p:cNvPr id="38" name="text"/>
          <p:cNvSpPr txBox="1"/>
          <p:nvPr/>
        </p:nvSpPr>
        <p:spPr>
          <a:xfrm>
            <a:off x="6309360" y="5724144"/>
            <a:ext cx="914400" cy="640080"/>
          </a:xfrm>
          <a:prstGeom prst="rect">
            <a:avLst/>
          </a:prstGeom>
          <a:noFill/>
          <a:ln/>
        </p:spPr>
        <p:txBody>
          <a:bodyPr wrap="square" lIns="0" tIns="0" rIns="0" bIns="0" rtlCol="0" anchor="ctr"/>
          <a:lstStyle/>
          <a:p>
            <a:pPr algn="l" indent="0" marL="0">
              <a:lnSpc>
                <a:spcPct val="112000"/>
              </a:lnSpc>
              <a:buNone/>
            </a:pPr>
            <a:r>
              <a:rPr lang="en-US" sz="1100" b="1" dirty="0">
                <a:solidFill>
                  <a:srgbClr val="1C1C1E"/>
                </a:solidFill>
                <a:latin typeface="Inter" pitchFamily="34" charset="0"/>
                <a:ea typeface="Inter" pitchFamily="34" charset="-122"/>
                <a:cs typeface="Inter" pitchFamily="34" charset="-120"/>
              </a:rPr>
              <a:t>4DX</a:t>
            </a:r>
            <a:endParaRPr lang="en-US" sz="1100" dirty="0"/>
          </a:p>
        </p:txBody>
      </p:sp>
      <p:sp>
        <p:nvSpPr>
          <p:cNvPr id="39" name="text"/>
          <p:cNvSpPr txBox="1"/>
          <p:nvPr/>
        </p:nvSpPr>
        <p:spPr>
          <a:xfrm>
            <a:off x="7223760" y="5724144"/>
            <a:ext cx="4282135" cy="640080"/>
          </a:xfrm>
          <a:prstGeom prst="rect">
            <a:avLst/>
          </a:prstGeom>
          <a:noFill/>
          <a:ln/>
        </p:spPr>
        <p:txBody>
          <a:bodyPr wrap="square" lIns="0" tIns="0" rIns="0" bIns="0" rtlCol="0" anchor="ctr"/>
          <a:lstStyle/>
          <a:p>
            <a:pPr algn="l" indent="0" marL="0">
              <a:lnSpc>
                <a:spcPct val="112000"/>
              </a:lnSpc>
              <a:buNone/>
            </a:pPr>
            <a:r>
              <a:rPr lang="en-US" sz="900" dirty="0">
                <a:solidFill>
                  <a:srgbClr val="1C1C1E"/>
                </a:solidFill>
                <a:latin typeface="Inter" pitchFamily="34" charset="0"/>
                <a:ea typeface="Inter" pitchFamily="34" charset="-122"/>
                <a:cs typeface="Inter" pitchFamily="34" charset="-120"/>
              </a:rPr>
              <a:t>Disiplin eksekusi: fokus pada yang terpenting, lead measures, scoreboard, akuntabilitas berkala. Presentasi framework Kelompok 3.</a:t>
            </a:r>
            <a:endParaRPr lang="en-US" sz="90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BAHAN RENUNGAN UNTUK DISKUSI</a:t>
            </a:r>
            <a:endParaRPr lang="en-US" sz="3000" dirty="0"/>
          </a:p>
        </p:txBody>
      </p:sp>
      <p:sp>
        <p:nvSpPr>
          <p:cNvPr id="3" name="card"/>
          <p:cNvSpPr/>
          <p:nvPr/>
        </p:nvSpPr>
        <p:spPr>
          <a:xfrm>
            <a:off x="502920" y="1874520"/>
            <a:ext cx="3730752" cy="2176272"/>
          </a:xfrm>
          <a:prstGeom prst="roundRect">
            <a:avLst>
              <a:gd name="adj" fmla="val 4202"/>
            </a:avLst>
          </a:prstGeom>
          <a:solidFill>
            <a:srgbClr val="D4FC00"/>
          </a:solidFill>
          <a:ln w="6350">
            <a:solidFill>
              <a:srgbClr val="D4FC00"/>
            </a:solidFill>
            <a:prstDash val="solid"/>
          </a:ln>
        </p:spPr>
      </p:sp>
      <p:sp>
        <p:nvSpPr>
          <p:cNvPr id="4" name="icon-bg"/>
          <p:cNvSpPr/>
          <p:nvPr/>
        </p:nvSpPr>
        <p:spPr>
          <a:xfrm>
            <a:off x="685800" y="2057400"/>
            <a:ext cx="384048" cy="384048"/>
          </a:xfrm>
          <a:prstGeom prst="roundRect">
            <a:avLst>
              <a:gd name="adj" fmla="val 19048"/>
            </a:avLst>
          </a:prstGeom>
          <a:solidFill>
            <a:srgbClr val="141417"/>
          </a:solidFill>
          <a:ln w="6350">
            <a:solidFill>
              <a:srgbClr val="141417"/>
            </a:solidFill>
            <a:prstDash val="solid"/>
          </a:ln>
        </p:spPr>
      </p:sp>
      <p:pic>
        <p:nvPicPr>
          <p:cNvPr id="5" name="icon" descr="preencoded.png">    </p:cNvPr>
          <p:cNvPicPr>
            <a:picLocks noChangeAspect="1"/>
          </p:cNvPicPr>
          <p:nvPr/>
        </p:nvPicPr>
        <p:blipFill>
          <a:blip r:embed="rId1"/>
          <a:stretch>
            <a:fillRect/>
          </a:stretch>
        </p:blipFill>
        <p:spPr>
          <a:xfrm>
            <a:off x="781812" y="2153412"/>
            <a:ext cx="192024" cy="192024"/>
          </a:xfrm>
          <a:prstGeom prst="rect">
            <a:avLst/>
          </a:prstGeom>
        </p:spPr>
      </p:pic>
      <p:sp>
        <p:nvSpPr>
          <p:cNvPr id="6" name="text"/>
          <p:cNvSpPr txBox="1"/>
          <p:nvPr/>
        </p:nvSpPr>
        <p:spPr>
          <a:xfrm>
            <a:off x="1188720" y="2112264"/>
            <a:ext cx="2862072" cy="274320"/>
          </a:xfrm>
          <a:prstGeom prst="rect">
            <a:avLst/>
          </a:prstGeom>
          <a:noFill/>
          <a:ln/>
        </p:spPr>
        <p:txBody>
          <a:bodyPr wrap="square" lIns="0" tIns="0" rIns="0" bIns="0" rtlCol="0" anchor="t"/>
          <a:lstStyle/>
          <a:p>
            <a:pPr algn="l" indent="0" marL="0">
              <a:lnSpc>
                <a:spcPct val="112000"/>
              </a:lnSpc>
              <a:buNone/>
            </a:pPr>
            <a:r>
              <a:rPr lang="en-US" sz="1150" b="1" dirty="0">
                <a:solidFill>
                  <a:srgbClr val="141417"/>
                </a:solidFill>
                <a:latin typeface="Inter" pitchFamily="34" charset="0"/>
                <a:ea typeface="Inter" pitchFamily="34" charset="-122"/>
                <a:cs typeface="Inter" pitchFamily="34" charset="-120"/>
              </a:rPr>
              <a:t>Awak kapal</a:t>
            </a:r>
            <a:endParaRPr lang="en-US" sz="1150" dirty="0"/>
          </a:p>
        </p:txBody>
      </p:sp>
      <p:sp>
        <p:nvSpPr>
          <p:cNvPr id="7" name="text"/>
          <p:cNvSpPr txBox="1"/>
          <p:nvPr/>
        </p:nvSpPr>
        <p:spPr>
          <a:xfrm>
            <a:off x="685800" y="2606040"/>
            <a:ext cx="3364992" cy="1353312"/>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Layar dan haluan sudah ada. Apa yang terjadi bila awak tidak terlatih atau garis komando tidak jelas? Cukupkah strategi yang tepat?</a:t>
            </a:r>
            <a:endParaRPr lang="en-US" sz="950" dirty="0"/>
          </a:p>
        </p:txBody>
      </p:sp>
      <p:sp>
        <p:nvSpPr>
          <p:cNvPr id="8" name="card"/>
          <p:cNvSpPr/>
          <p:nvPr/>
        </p:nvSpPr>
        <p:spPr>
          <a:xfrm>
            <a:off x="4361688" y="1874520"/>
            <a:ext cx="3730752" cy="2176272"/>
          </a:xfrm>
          <a:prstGeom prst="roundRect">
            <a:avLst>
              <a:gd name="adj" fmla="val 4202"/>
            </a:avLst>
          </a:prstGeom>
          <a:solidFill>
            <a:srgbClr val="FFFFFF"/>
          </a:solidFill>
          <a:ln w="6350">
            <a:solidFill>
              <a:srgbClr val="FFFFFF"/>
            </a:solidFill>
            <a:prstDash val="solid"/>
          </a:ln>
        </p:spPr>
      </p:sp>
      <p:sp>
        <p:nvSpPr>
          <p:cNvPr id="9" name="icon-bg"/>
          <p:cNvSpPr/>
          <p:nvPr/>
        </p:nvSpPr>
        <p:spPr>
          <a:xfrm>
            <a:off x="4544568" y="2057400"/>
            <a:ext cx="384048" cy="384048"/>
          </a:xfrm>
          <a:prstGeom prst="roundRect">
            <a:avLst>
              <a:gd name="adj" fmla="val 19048"/>
            </a:avLst>
          </a:prstGeom>
          <a:solidFill>
            <a:srgbClr val="141417"/>
          </a:solidFill>
          <a:ln w="6350">
            <a:solidFill>
              <a:srgbClr val="141417"/>
            </a:solidFill>
            <a:prstDash val="solid"/>
          </a:ln>
        </p:spPr>
      </p:sp>
      <p:pic>
        <p:nvPicPr>
          <p:cNvPr id="10" name="icon" descr="preencoded.png">    </p:cNvPr>
          <p:cNvPicPr>
            <a:picLocks noChangeAspect="1"/>
          </p:cNvPicPr>
          <p:nvPr/>
        </p:nvPicPr>
        <p:blipFill>
          <a:blip r:embed="rId2"/>
          <a:stretch>
            <a:fillRect/>
          </a:stretch>
        </p:blipFill>
        <p:spPr>
          <a:xfrm>
            <a:off x="4640580" y="2153412"/>
            <a:ext cx="192024" cy="192024"/>
          </a:xfrm>
          <a:prstGeom prst="rect">
            <a:avLst/>
          </a:prstGeom>
        </p:spPr>
      </p:pic>
      <p:sp>
        <p:nvSpPr>
          <p:cNvPr id="11" name="text"/>
          <p:cNvSpPr txBox="1"/>
          <p:nvPr/>
        </p:nvSpPr>
        <p:spPr>
          <a:xfrm>
            <a:off x="5047488" y="2112264"/>
            <a:ext cx="2862072" cy="274320"/>
          </a:xfrm>
          <a:prstGeom prst="rect">
            <a:avLst/>
          </a:prstGeom>
          <a:noFill/>
          <a:ln/>
        </p:spPr>
        <p:txBody>
          <a:bodyPr wrap="square" lIns="0" tIns="0" rIns="0" bIns="0" rtlCol="0" anchor="t"/>
          <a:lstStyle/>
          <a:p>
            <a:pPr algn="l" indent="0" marL="0">
              <a:lnSpc>
                <a:spcPct val="112000"/>
              </a:lnSpc>
              <a:buNone/>
            </a:pPr>
            <a:r>
              <a:rPr lang="en-US" sz="1150" b="1" dirty="0">
                <a:solidFill>
                  <a:srgbClr val="141417"/>
                </a:solidFill>
                <a:latin typeface="Inter" pitchFamily="34" charset="0"/>
                <a:ea typeface="Inter" pitchFamily="34" charset="-122"/>
                <a:cs typeface="Inter" pitchFamily="34" charset="-120"/>
              </a:rPr>
              <a:t>Strategi yang mudah ditiru</a:t>
            </a:r>
            <a:endParaRPr lang="en-US" sz="1150" dirty="0"/>
          </a:p>
        </p:txBody>
      </p:sp>
      <p:sp>
        <p:nvSpPr>
          <p:cNvPr id="12" name="text"/>
          <p:cNvSpPr txBox="1"/>
          <p:nvPr/>
        </p:nvSpPr>
        <p:spPr>
          <a:xfrm>
            <a:off x="4544568" y="2606040"/>
            <a:ext cx="3364992" cy="1353312"/>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Dua jaringan minimarket di Indonesia menjalankan strategi yang nyaris sama. Di aktivitas eksekusi mana keunggulan bisa dibangun, dan bagaimana mengukurnya terhadap pembanding industri?</a:t>
            </a:r>
            <a:endParaRPr lang="en-US" sz="950" dirty="0"/>
          </a:p>
        </p:txBody>
      </p:sp>
      <p:sp>
        <p:nvSpPr>
          <p:cNvPr id="13" name="card"/>
          <p:cNvSpPr/>
          <p:nvPr/>
        </p:nvSpPr>
        <p:spPr>
          <a:xfrm>
            <a:off x="502920" y="4178808"/>
            <a:ext cx="3730752" cy="2176272"/>
          </a:xfrm>
          <a:prstGeom prst="roundRect">
            <a:avLst>
              <a:gd name="adj" fmla="val 4202"/>
            </a:avLst>
          </a:prstGeom>
          <a:solidFill>
            <a:srgbClr val="FFFFFF"/>
          </a:solidFill>
          <a:ln w="6350">
            <a:solidFill>
              <a:srgbClr val="FFFFFF"/>
            </a:solidFill>
            <a:prstDash val="solid"/>
          </a:ln>
        </p:spPr>
      </p:sp>
      <p:sp>
        <p:nvSpPr>
          <p:cNvPr id="14" name="icon-bg"/>
          <p:cNvSpPr/>
          <p:nvPr/>
        </p:nvSpPr>
        <p:spPr>
          <a:xfrm>
            <a:off x="685800" y="4361688"/>
            <a:ext cx="384048" cy="384048"/>
          </a:xfrm>
          <a:prstGeom prst="roundRect">
            <a:avLst>
              <a:gd name="adj" fmla="val 19048"/>
            </a:avLst>
          </a:prstGeom>
          <a:solidFill>
            <a:srgbClr val="141417"/>
          </a:solidFill>
          <a:ln w="6350">
            <a:solidFill>
              <a:srgbClr val="141417"/>
            </a:solidFill>
            <a:prstDash val="solid"/>
          </a:ln>
        </p:spPr>
      </p:sp>
      <p:pic>
        <p:nvPicPr>
          <p:cNvPr id="15" name="icon" descr="preencoded.png">    </p:cNvPr>
          <p:cNvPicPr>
            <a:picLocks noChangeAspect="1"/>
          </p:cNvPicPr>
          <p:nvPr/>
        </p:nvPicPr>
        <p:blipFill>
          <a:blip r:embed="rId3"/>
          <a:stretch>
            <a:fillRect/>
          </a:stretch>
        </p:blipFill>
        <p:spPr>
          <a:xfrm>
            <a:off x="781812" y="4457700"/>
            <a:ext cx="192024" cy="192024"/>
          </a:xfrm>
          <a:prstGeom prst="rect">
            <a:avLst/>
          </a:prstGeom>
        </p:spPr>
      </p:pic>
      <p:sp>
        <p:nvSpPr>
          <p:cNvPr id="16" name="text"/>
          <p:cNvSpPr txBox="1"/>
          <p:nvPr/>
        </p:nvSpPr>
        <p:spPr>
          <a:xfrm>
            <a:off x="1188720" y="4416552"/>
            <a:ext cx="2862072" cy="274320"/>
          </a:xfrm>
          <a:prstGeom prst="rect">
            <a:avLst/>
          </a:prstGeom>
          <a:noFill/>
          <a:ln/>
        </p:spPr>
        <p:txBody>
          <a:bodyPr wrap="square" lIns="0" tIns="0" rIns="0" bIns="0" rtlCol="0" anchor="t"/>
          <a:lstStyle/>
          <a:p>
            <a:pPr algn="l" indent="0" marL="0">
              <a:lnSpc>
                <a:spcPct val="112000"/>
              </a:lnSpc>
              <a:buNone/>
            </a:pPr>
            <a:r>
              <a:rPr lang="en-US" sz="1150" b="1" dirty="0">
                <a:solidFill>
                  <a:srgbClr val="141417"/>
                </a:solidFill>
                <a:latin typeface="Inter" pitchFamily="34" charset="0"/>
                <a:ea typeface="Inter" pitchFamily="34" charset="-122"/>
                <a:cs typeface="Inter" pitchFamily="34" charset="-120"/>
              </a:rPr>
              <a:t>Membeli capability</a:t>
            </a:r>
            <a:endParaRPr lang="en-US" sz="1150" dirty="0"/>
          </a:p>
        </p:txBody>
      </p:sp>
      <p:sp>
        <p:nvSpPr>
          <p:cNvPr id="17" name="text"/>
          <p:cNvSpPr txBox="1"/>
          <p:nvPr/>
        </p:nvSpPr>
        <p:spPr>
          <a:xfrm>
            <a:off x="685800" y="4910328"/>
            <a:ext cx="3364992" cy="1353312"/>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Merger Gojek dan Tokopedia (2021) menggabungkan capability dua organisasi. Mengapa capability yang tacit sulit dipindahkan, dan apa syarat integrasinya berhasil?</a:t>
            </a:r>
            <a:endParaRPr lang="en-US" sz="950" dirty="0"/>
          </a:p>
        </p:txBody>
      </p:sp>
      <p:sp>
        <p:nvSpPr>
          <p:cNvPr id="18" name="card"/>
          <p:cNvSpPr/>
          <p:nvPr/>
        </p:nvSpPr>
        <p:spPr>
          <a:xfrm>
            <a:off x="4361688" y="4178808"/>
            <a:ext cx="3730752" cy="2176272"/>
          </a:xfrm>
          <a:prstGeom prst="roundRect">
            <a:avLst>
              <a:gd name="adj" fmla="val 4202"/>
            </a:avLst>
          </a:prstGeom>
          <a:solidFill>
            <a:srgbClr val="141417"/>
          </a:solidFill>
          <a:ln w="6350">
            <a:solidFill>
              <a:srgbClr val="141417"/>
            </a:solidFill>
            <a:prstDash val="solid"/>
          </a:ln>
        </p:spPr>
      </p:sp>
      <p:sp>
        <p:nvSpPr>
          <p:cNvPr id="19" name="icon-bg"/>
          <p:cNvSpPr/>
          <p:nvPr/>
        </p:nvSpPr>
        <p:spPr>
          <a:xfrm>
            <a:off x="4544568" y="4361688"/>
            <a:ext cx="384048" cy="384048"/>
          </a:xfrm>
          <a:prstGeom prst="roundRect">
            <a:avLst>
              <a:gd name="adj" fmla="val 19048"/>
            </a:avLst>
          </a:prstGeom>
          <a:solidFill>
            <a:srgbClr val="D4FC00"/>
          </a:solidFill>
          <a:ln w="6350">
            <a:solidFill>
              <a:srgbClr val="D4FC00"/>
            </a:solidFill>
            <a:prstDash val="solid"/>
          </a:ln>
        </p:spPr>
      </p:sp>
      <p:pic>
        <p:nvPicPr>
          <p:cNvPr id="20" name="icon" descr="preencoded.png">    </p:cNvPr>
          <p:cNvPicPr>
            <a:picLocks noChangeAspect="1"/>
          </p:cNvPicPr>
          <p:nvPr/>
        </p:nvPicPr>
        <p:blipFill>
          <a:blip r:embed="rId4"/>
          <a:stretch>
            <a:fillRect/>
          </a:stretch>
        </p:blipFill>
        <p:spPr>
          <a:xfrm>
            <a:off x="4640580" y="4457700"/>
            <a:ext cx="192024" cy="192024"/>
          </a:xfrm>
          <a:prstGeom prst="rect">
            <a:avLst/>
          </a:prstGeom>
        </p:spPr>
      </p:pic>
      <p:sp>
        <p:nvSpPr>
          <p:cNvPr id="21" name="text"/>
          <p:cNvSpPr txBox="1"/>
          <p:nvPr/>
        </p:nvSpPr>
        <p:spPr>
          <a:xfrm>
            <a:off x="5047488" y="4416552"/>
            <a:ext cx="2862072" cy="274320"/>
          </a:xfrm>
          <a:prstGeom prst="rect">
            <a:avLst/>
          </a:prstGeom>
          <a:noFill/>
          <a:ln/>
        </p:spPr>
        <p:txBody>
          <a:bodyPr wrap="square" lIns="0" tIns="0" rIns="0" bIns="0" rtlCol="0" anchor="t"/>
          <a:lstStyle/>
          <a:p>
            <a:pPr algn="l" indent="0" marL="0">
              <a:lnSpc>
                <a:spcPct val="112000"/>
              </a:lnSpc>
              <a:buNone/>
            </a:pPr>
            <a:r>
              <a:rPr lang="en-US" sz="1150" b="1" dirty="0">
                <a:solidFill>
                  <a:srgbClr val="D4FC00"/>
                </a:solidFill>
                <a:latin typeface="Inter" pitchFamily="34" charset="0"/>
                <a:ea typeface="Inter" pitchFamily="34" charset="-122"/>
                <a:cs typeface="Inter" pitchFamily="34" charset="-120"/>
              </a:rPr>
              <a:t>Kendali atau inisiatif</a:t>
            </a:r>
            <a:endParaRPr lang="en-US" sz="1150" dirty="0"/>
          </a:p>
        </p:txBody>
      </p:sp>
      <p:sp>
        <p:nvSpPr>
          <p:cNvPr id="22" name="text"/>
          <p:cNvSpPr txBox="1"/>
          <p:nvPr/>
        </p:nvSpPr>
        <p:spPr>
          <a:xfrm>
            <a:off x="4544568" y="4910328"/>
            <a:ext cx="3364992" cy="1353312"/>
          </a:xfrm>
          <a:prstGeom prst="rect">
            <a:avLst/>
          </a:prstGeom>
          <a:noFill/>
          <a:ln/>
        </p:spPr>
        <p:txBody>
          <a:bodyPr wrap="square" lIns="0" tIns="0" rIns="0" bIns="0" rtlCol="0" anchor="t"/>
          <a:lstStyle/>
          <a:p>
            <a:pPr algn="l" indent="0" marL="0">
              <a:lnSpc>
                <a:spcPct val="112000"/>
              </a:lnSpc>
              <a:buNone/>
            </a:pPr>
            <a:r>
              <a:rPr lang="en-US" sz="950" dirty="0">
                <a:solidFill>
                  <a:srgbClr val="E8E8EA"/>
                </a:solidFill>
                <a:latin typeface="Inter" pitchFamily="34" charset="0"/>
                <a:ea typeface="Inter" pitchFamily="34" charset="-122"/>
                <a:cs typeface="Inter" pitchFamily="34" charset="-120"/>
              </a:rPr>
              <a:t>Kapan memusatkan keputusan lebih baik daripada mendelegasikannya? Bandingkan situasi krisis dengan kebutuhan inovasi.</a:t>
            </a:r>
            <a:endParaRPr lang="en-US" sz="950" dirty="0"/>
          </a:p>
        </p:txBody>
      </p:sp>
      <p:pic>
        <p:nvPicPr>
          <p:cNvPr id="23" name="Foto diskusi kelas" descr="preencoded.png">    </p:cNvPr>
          <p:cNvPicPr>
            <a:picLocks noChangeAspect="1"/>
          </p:cNvPicPr>
          <p:nvPr/>
        </p:nvPicPr>
        <p:blipFill>
          <a:blip r:embed="rId5"/>
          <a:stretch>
            <a:fillRect/>
          </a:stretch>
        </p:blipFill>
        <p:spPr>
          <a:xfrm>
            <a:off x="8321040" y="1874520"/>
            <a:ext cx="3367735" cy="4480560"/>
          </a:xfrm>
          <a:prstGeom prst="rect">
            <a:avLst/>
          </a:prstGeom>
        </p:spPr>
      </p:pic>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REFERENSI</a:t>
            </a:r>
            <a:endParaRPr lang="en-US" sz="3000" dirty="0"/>
          </a:p>
        </p:txBody>
      </p:sp>
      <p:sp>
        <p:nvSpPr>
          <p:cNvPr id="3" name="card"/>
          <p:cNvSpPr/>
          <p:nvPr/>
        </p:nvSpPr>
        <p:spPr>
          <a:xfrm>
            <a:off x="502920" y="1874520"/>
            <a:ext cx="7680960" cy="4480560"/>
          </a:xfrm>
          <a:prstGeom prst="roundRect">
            <a:avLst>
              <a:gd name="adj" fmla="val 2041"/>
            </a:avLst>
          </a:prstGeom>
          <a:solidFill>
            <a:srgbClr val="FFFFFF"/>
          </a:solidFill>
          <a:ln w="6350">
            <a:solidFill>
              <a:srgbClr val="FFFFFF"/>
            </a:solidFill>
            <a:prstDash val="solid"/>
          </a:ln>
        </p:spPr>
      </p:sp>
      <p:sp>
        <p:nvSpPr>
          <p:cNvPr id="4" name="text"/>
          <p:cNvSpPr txBox="1"/>
          <p:nvPr/>
        </p:nvSpPr>
        <p:spPr>
          <a:xfrm>
            <a:off x="777240" y="2148840"/>
            <a:ext cx="7132320" cy="4023360"/>
          </a:xfrm>
          <a:prstGeom prst="rect">
            <a:avLst/>
          </a:prstGeom>
          <a:noFill/>
          <a:ln/>
        </p:spPr>
        <p:txBody>
          <a:bodyPr wrap="square" lIns="0" tIns="0" rIns="0" bIns="0" rtlCol="0" anchor="t"/>
          <a:lstStyle/>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Thompson, A. A., Peteraf, M. A., Gamble, J. E., &amp; Strickland III, A. J. (2024). Crafting &amp; Executing Strategy: The Quest for Competitive Advantage, Concepts and Cases (2024 Release, ISE). McGraw Hill. Bab 10, hlm. 294 sampai 325.</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Thompson, A. A., &amp; Strickland III, A. J. (2019). Strategic Management: Concepts and Cases (22nd ed.). McGraw-Hill/Irwin.</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Chandler, A. D. (1962). Strategy and Structure. MIT Press.</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Sull, D., Homkes, R., &amp; Sull, C. (2015). Why strategy execution unravels, and what to do about it. Harvard Business Review, 93(3).</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Collins, J. (2001). Good to Great. HarperBusiness.</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Bossidy, L., &amp; Charan, R. (2002). Execution: The Discipline of Getting Things Done. Crown Business.</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Bartlett, C. A., &amp; Ghoshal, S. (2002). Building competitive advantage through people. MIT Sloan Management Review, 43(2), 34 sampai 41.</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Helfat, C. E., &amp; Peteraf, M. A. (2003). The dynamic resource-based view: Capability lifecycles. Strategic Management Journal, 24(10), 997 sampai 1010.</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Simons, R. (1995). Control in an age of empowerment. Harvard Business Review, 73(2), 80 sampai 88.</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McChesney, C., Covey, S., &amp; Huling, J. (2012). The 4 Disciplines of Execution. Free Press.</a:t>
            </a:r>
            <a:endParaRPr lang="en-US" sz="950" dirty="0"/>
          </a:p>
        </p:txBody>
      </p:sp>
      <p:pic>
        <p:nvPicPr>
          <p:cNvPr id="5" name="Foto buku" descr="preencoded.png">    </p:cNvPr>
          <p:cNvPicPr>
            <a:picLocks noChangeAspect="1"/>
          </p:cNvPicPr>
          <p:nvPr/>
        </p:nvPicPr>
        <p:blipFill>
          <a:blip r:embed="rId1"/>
          <a:stretch>
            <a:fillRect/>
          </a:stretch>
        </p:blipFill>
        <p:spPr>
          <a:xfrm>
            <a:off x="8412480" y="1874520"/>
            <a:ext cx="3276295" cy="4480560"/>
          </a:xfrm>
          <a:prstGeom prst="rect">
            <a:avLst/>
          </a:prstGeom>
        </p:spPr>
      </p:pic>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Foto penutup"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p:cNvSpPr txBox="1"/>
          <p:nvPr/>
        </p:nvSpPr>
        <p:spPr>
          <a:xfrm>
            <a:off x="0" y="2743200"/>
            <a:ext cx="12191695" cy="1188720"/>
          </a:xfrm>
          <a:prstGeom prst="rect">
            <a:avLst/>
          </a:prstGeom>
          <a:noFill/>
          <a:ln/>
        </p:spPr>
        <p:txBody>
          <a:bodyPr wrap="square" lIns="0" tIns="0" rIns="0" bIns="0" rtlCol="0" anchor="ctr"/>
          <a:lstStyle/>
          <a:p>
            <a:pPr algn="ctr" indent="0" marL="0">
              <a:lnSpc>
                <a:spcPct val="112000"/>
              </a:lnSpc>
              <a:buNone/>
            </a:pPr>
            <a:r>
              <a:rPr lang="en-US" sz="5400" b="1" dirty="0">
                <a:solidFill>
                  <a:srgbClr val="FFFFFF"/>
                </a:solidFill>
                <a:latin typeface="Inter" pitchFamily="34" charset="0"/>
                <a:ea typeface="Inter" pitchFamily="34" charset="-122"/>
                <a:cs typeface="Inter" pitchFamily="34" charset="-120"/>
              </a:rPr>
              <a:t>Terima Kasih</a:t>
            </a:r>
            <a:endParaRPr lang="en-US" sz="5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an Organization Capable of Good Strategy Execution</dc:title>
  <dc:subject>PptxGenJS Presentation</dc:subject>
  <dc:creator>Kelompok 3</dc:creator>
  <cp:lastModifiedBy>Kelompok 3</cp:lastModifiedBy>
  <cp:revision>1</cp:revision>
  <dcterms:created xsi:type="dcterms:W3CDTF">2026-10-31T03:52:28Z</dcterms:created>
  <dcterms:modified xsi:type="dcterms:W3CDTF">2026-10-31T03:52:28Z</dcterms:modified>
</cp:coreProperties>
</file>