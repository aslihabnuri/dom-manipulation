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0448b6c9-1807-b258-121e-f99d9c4dbaa5}">
          <p14:sldIdLst>
            <p14:sldId id="256"/>
            <p14:sldId id="257"/>
            <p14:sldId id="258"/>
          </p14:sldIdLst>
        </p14:section>
        <p14:section name="01 Landasan" id="{ccc430f1-f856-e881-5545-68578734f27c}">
          <p14:sldIdLst>
            <p14:sldId id="259"/>
            <p14:sldId id="260"/>
            <p14:sldId id="261"/>
            <p14:sldId id="262"/>
          </p14:sldIdLst>
        </p14:section>
        <p14:section name="02 Staffing" id="{182c2eb5-c940-4707-8abb-ac8f9f770bf8}">
          <p14:sldIdLst>
            <p14:sldId id="263"/>
            <p14:sldId id="264"/>
          </p14:sldIdLst>
        </p14:section>
        <p14:section name="03 Capabilities" id="{0c903910-85d9-98af-54f9-f763393bd894}">
          <p14:sldIdLst>
            <p14:sldId id="265"/>
            <p14:sldId id="266"/>
            <p14:sldId id="267"/>
            <p14:sldId id="268"/>
          </p14:sldIdLst>
        </p14:section>
        <p14:section name="04 Structure" id="{e10c7b55-0a19-71a0-39ff-2a31daa4fb35}">
          <p14:sldIdLst>
            <p14:sldId id="269"/>
            <p14:sldId id="270"/>
            <p14:sldId id="271"/>
            <p14:sldId id="272"/>
            <p14:sldId id="273"/>
          </p14:sldIdLst>
        </p14:section>
        <p14:section name="05 Sintesis" id="{59b96189-4946-6ac6-614c-a5e9f0bfc5fe}">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7 dan 19 sampai 20), Tifani (8 sampai 9), Happy (10 sampai 13), Dara (14 sampai 18). Sekitar 15 menit. Bila waktu dipotong, lewati slide 5 dan 11; slide 6 dan 7 dapat digabung menjadi satu penjelasan. Slide 19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kerangka bab, sesuai kebiasaan Pak Rangga yang meminta kerangka dibahas lebih dulu. Figure 10.1 di slide 6, Figure 10.2 di slide 7, Figure 10.3 di slide 14, Table 10.1 di slide 17. Tiga jalan capability di slide 10, empat tipe struktur di slide 16, tiga jalur kemitraan di slide 12, dua tanda eksekusi di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3.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3"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oggle"/>
          <p:cNvSpPr/>
          <p:nvPr/>
        </p:nvSpPr>
        <p:spPr>
          <a:xfrm>
            <a:off x="502920" y="566928"/>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804672" y="603504"/>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845820" y="644652"/>
            <a:ext cx="118872" cy="118872"/>
          </a:xfrm>
          <a:prstGeom prst="rect">
            <a:avLst/>
          </a:prstGeom>
        </p:spPr>
      </p:pic>
      <p:sp>
        <p:nvSpPr>
          <p:cNvPr id="12" name="text"/>
          <p:cNvSpPr txBox="1"/>
          <p:nvPr/>
        </p:nvSpPr>
        <p:spPr>
          <a:xfrm>
            <a:off x="502920" y="960120"/>
            <a:ext cx="5394960" cy="219456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BUILDING AN ORGANIZATION CAPABLE OF GOOD STRATEGY EXECUTION</a:t>
            </a:r>
            <a:endParaRPr lang="en-US" sz="3400" dirty="0"/>
          </a:p>
        </p:txBody>
      </p:sp>
      <p:sp>
        <p:nvSpPr>
          <p:cNvPr id="13" name="dot"/>
          <p:cNvSpPr/>
          <p:nvPr/>
        </p:nvSpPr>
        <p:spPr>
          <a:xfrm>
            <a:off x="521208" y="3429000"/>
            <a:ext cx="82296" cy="82296"/>
          </a:xfrm>
          <a:prstGeom prst="ellipse">
            <a:avLst/>
          </a:prstGeom>
          <a:solidFill>
            <a:srgbClr val="C9C9CE"/>
          </a:solidFill>
          <a:ln w="6350">
            <a:solidFill>
              <a:srgbClr val="C9C9CE"/>
            </a:solidFill>
            <a:prstDash val="solid"/>
          </a:ln>
        </p:spPr>
      </p:sp>
      <p:sp>
        <p:nvSpPr>
          <p:cNvPr id="14" name="dot"/>
          <p:cNvSpPr/>
          <p:nvPr/>
        </p:nvSpPr>
        <p:spPr>
          <a:xfrm>
            <a:off x="795528" y="3429000"/>
            <a:ext cx="82296" cy="82296"/>
          </a:xfrm>
          <a:prstGeom prst="ellipse">
            <a:avLst/>
          </a:prstGeom>
          <a:solidFill>
            <a:srgbClr val="C9C9CE"/>
          </a:solidFill>
          <a:ln w="6350">
            <a:solidFill>
              <a:srgbClr val="C9C9CE"/>
            </a:solidFill>
            <a:prstDash val="solid"/>
          </a:ln>
        </p:spPr>
      </p:sp>
      <p:sp>
        <p:nvSpPr>
          <p:cNvPr id="15" name="dot"/>
          <p:cNvSpPr/>
          <p:nvPr/>
        </p:nvSpPr>
        <p:spPr>
          <a:xfrm>
            <a:off x="1069848" y="3429000"/>
            <a:ext cx="82296" cy="82296"/>
          </a:xfrm>
          <a:prstGeom prst="ellipse">
            <a:avLst/>
          </a:prstGeom>
          <a:solidFill>
            <a:srgbClr val="C9C9CE"/>
          </a:solidFill>
          <a:ln w="6350">
            <a:solidFill>
              <a:srgbClr val="C9C9CE"/>
            </a:solidFill>
            <a:prstDash val="solid"/>
          </a:ln>
        </p:spPr>
      </p:sp>
      <p:sp>
        <p:nvSpPr>
          <p:cNvPr id="16" name="dot"/>
          <p:cNvSpPr/>
          <p:nvPr/>
        </p:nvSpPr>
        <p:spPr>
          <a:xfrm>
            <a:off x="1344168" y="3429000"/>
            <a:ext cx="82296" cy="82296"/>
          </a:xfrm>
          <a:prstGeom prst="ellipse">
            <a:avLst/>
          </a:prstGeom>
          <a:solidFill>
            <a:srgbClr val="C9C9CE"/>
          </a:solidFill>
          <a:ln w="6350">
            <a:solidFill>
              <a:srgbClr val="C9C9CE"/>
            </a:solidFill>
            <a:prstDash val="solid"/>
          </a:ln>
        </p:spPr>
      </p:sp>
      <p:sp>
        <p:nvSpPr>
          <p:cNvPr id="17" name="dot"/>
          <p:cNvSpPr/>
          <p:nvPr/>
        </p:nvSpPr>
        <p:spPr>
          <a:xfrm>
            <a:off x="1618488" y="3429000"/>
            <a:ext cx="82296" cy="82296"/>
          </a:xfrm>
          <a:prstGeom prst="ellipse">
            <a:avLst/>
          </a:prstGeom>
          <a:solidFill>
            <a:srgbClr val="C9C9CE"/>
          </a:solidFill>
          <a:ln w="6350">
            <a:solidFill>
              <a:srgbClr val="C9C9CE"/>
            </a:solidFill>
            <a:prstDash val="solid"/>
          </a:ln>
        </p:spPr>
      </p:sp>
      <p:sp>
        <p:nvSpPr>
          <p:cNvPr id="18" name="dot"/>
          <p:cNvSpPr/>
          <p:nvPr/>
        </p:nvSpPr>
        <p:spPr>
          <a:xfrm>
            <a:off x="1892808" y="3429000"/>
            <a:ext cx="82296" cy="82296"/>
          </a:xfrm>
          <a:prstGeom prst="ellipse">
            <a:avLst/>
          </a:prstGeom>
          <a:solidFill>
            <a:srgbClr val="C9C9CE"/>
          </a:solidFill>
          <a:ln w="6350">
            <a:solidFill>
              <a:srgbClr val="C9C9CE"/>
            </a:solidFill>
            <a:prstDash val="solid"/>
          </a:ln>
        </p:spPr>
      </p:sp>
      <p:sp>
        <p:nvSpPr>
          <p:cNvPr id="19" name="dot"/>
          <p:cNvSpPr/>
          <p:nvPr/>
        </p:nvSpPr>
        <p:spPr>
          <a:xfrm>
            <a:off x="2167128" y="3429000"/>
            <a:ext cx="82296" cy="82296"/>
          </a:xfrm>
          <a:prstGeom prst="ellipse">
            <a:avLst/>
          </a:prstGeom>
          <a:solidFill>
            <a:srgbClr val="C9C9CE"/>
          </a:solidFill>
          <a:ln w="6350">
            <a:solidFill>
              <a:srgbClr val="C9C9CE"/>
            </a:solidFill>
            <a:prstDash val="solid"/>
          </a:ln>
        </p:spPr>
      </p:sp>
      <p:sp>
        <p:nvSpPr>
          <p:cNvPr id="20" name="dot"/>
          <p:cNvSpPr/>
          <p:nvPr/>
        </p:nvSpPr>
        <p:spPr>
          <a:xfrm>
            <a:off x="2441448" y="3429000"/>
            <a:ext cx="82296" cy="82296"/>
          </a:xfrm>
          <a:prstGeom prst="ellipse">
            <a:avLst/>
          </a:prstGeom>
          <a:solidFill>
            <a:srgbClr val="C9C9CE"/>
          </a:solidFill>
          <a:ln w="6350">
            <a:solidFill>
              <a:srgbClr val="C9C9CE"/>
            </a:solidFill>
            <a:prstDash val="solid"/>
          </a:ln>
        </p:spPr>
      </p:sp>
      <p:sp>
        <p:nvSpPr>
          <p:cNvPr id="21" name="dot"/>
          <p:cNvSpPr/>
          <p:nvPr/>
        </p:nvSpPr>
        <p:spPr>
          <a:xfrm>
            <a:off x="2715768" y="3429000"/>
            <a:ext cx="82296" cy="82296"/>
          </a:xfrm>
          <a:prstGeom prst="ellipse">
            <a:avLst/>
          </a:prstGeom>
          <a:solidFill>
            <a:srgbClr val="C9C9CE"/>
          </a:solidFill>
          <a:ln w="6350">
            <a:solidFill>
              <a:srgbClr val="C9C9CE"/>
            </a:solidFill>
            <a:prstDash val="solid"/>
          </a:ln>
        </p:spPr>
      </p:sp>
      <p:sp>
        <p:nvSpPr>
          <p:cNvPr id="22" name="dot"/>
          <p:cNvSpPr/>
          <p:nvPr/>
        </p:nvSpPr>
        <p:spPr>
          <a:xfrm>
            <a:off x="521208" y="3703320"/>
            <a:ext cx="82296" cy="82296"/>
          </a:xfrm>
          <a:prstGeom prst="ellipse">
            <a:avLst/>
          </a:prstGeom>
          <a:solidFill>
            <a:srgbClr val="C9C9CE"/>
          </a:solidFill>
          <a:ln w="6350">
            <a:solidFill>
              <a:srgbClr val="C9C9CE"/>
            </a:solidFill>
            <a:prstDash val="solid"/>
          </a:ln>
        </p:spPr>
      </p:sp>
      <p:sp>
        <p:nvSpPr>
          <p:cNvPr id="23" name="dot"/>
          <p:cNvSpPr/>
          <p:nvPr/>
        </p:nvSpPr>
        <p:spPr>
          <a:xfrm>
            <a:off x="795528" y="3703320"/>
            <a:ext cx="82296" cy="82296"/>
          </a:xfrm>
          <a:prstGeom prst="ellipse">
            <a:avLst/>
          </a:prstGeom>
          <a:solidFill>
            <a:srgbClr val="C9C9CE"/>
          </a:solidFill>
          <a:ln w="6350">
            <a:solidFill>
              <a:srgbClr val="C9C9CE"/>
            </a:solidFill>
            <a:prstDash val="solid"/>
          </a:ln>
        </p:spPr>
      </p:sp>
      <p:sp>
        <p:nvSpPr>
          <p:cNvPr id="24" name="dot"/>
          <p:cNvSpPr/>
          <p:nvPr/>
        </p:nvSpPr>
        <p:spPr>
          <a:xfrm>
            <a:off x="1069848" y="3703320"/>
            <a:ext cx="82296" cy="82296"/>
          </a:xfrm>
          <a:prstGeom prst="ellipse">
            <a:avLst/>
          </a:prstGeom>
          <a:solidFill>
            <a:srgbClr val="C9C9CE"/>
          </a:solidFill>
          <a:ln w="6350">
            <a:solidFill>
              <a:srgbClr val="C9C9CE"/>
            </a:solidFill>
            <a:prstDash val="solid"/>
          </a:ln>
        </p:spPr>
      </p:sp>
      <p:sp>
        <p:nvSpPr>
          <p:cNvPr id="25" name="dot"/>
          <p:cNvSpPr/>
          <p:nvPr/>
        </p:nvSpPr>
        <p:spPr>
          <a:xfrm>
            <a:off x="1344168" y="3703320"/>
            <a:ext cx="82296" cy="82296"/>
          </a:xfrm>
          <a:prstGeom prst="ellipse">
            <a:avLst/>
          </a:prstGeom>
          <a:solidFill>
            <a:srgbClr val="C9C9CE"/>
          </a:solidFill>
          <a:ln w="6350">
            <a:solidFill>
              <a:srgbClr val="C9C9CE"/>
            </a:solidFill>
            <a:prstDash val="solid"/>
          </a:ln>
        </p:spPr>
      </p:sp>
      <p:sp>
        <p:nvSpPr>
          <p:cNvPr id="26" name="dot"/>
          <p:cNvSpPr/>
          <p:nvPr/>
        </p:nvSpPr>
        <p:spPr>
          <a:xfrm>
            <a:off x="1618488" y="3703320"/>
            <a:ext cx="82296" cy="82296"/>
          </a:xfrm>
          <a:prstGeom prst="ellipse">
            <a:avLst/>
          </a:prstGeom>
          <a:solidFill>
            <a:srgbClr val="C9C9CE"/>
          </a:solidFill>
          <a:ln w="6350">
            <a:solidFill>
              <a:srgbClr val="C9C9CE"/>
            </a:solidFill>
            <a:prstDash val="solid"/>
          </a:ln>
        </p:spPr>
      </p:sp>
      <p:sp>
        <p:nvSpPr>
          <p:cNvPr id="27" name="dot"/>
          <p:cNvSpPr/>
          <p:nvPr/>
        </p:nvSpPr>
        <p:spPr>
          <a:xfrm>
            <a:off x="1892808" y="3703320"/>
            <a:ext cx="82296" cy="82296"/>
          </a:xfrm>
          <a:prstGeom prst="ellipse">
            <a:avLst/>
          </a:prstGeom>
          <a:solidFill>
            <a:srgbClr val="C9C9CE"/>
          </a:solidFill>
          <a:ln w="6350">
            <a:solidFill>
              <a:srgbClr val="C9C9CE"/>
            </a:solidFill>
            <a:prstDash val="solid"/>
          </a:ln>
        </p:spPr>
      </p:sp>
      <p:sp>
        <p:nvSpPr>
          <p:cNvPr id="28" name="dot"/>
          <p:cNvSpPr/>
          <p:nvPr/>
        </p:nvSpPr>
        <p:spPr>
          <a:xfrm>
            <a:off x="2167128" y="3703320"/>
            <a:ext cx="82296" cy="82296"/>
          </a:xfrm>
          <a:prstGeom prst="ellipse">
            <a:avLst/>
          </a:prstGeom>
          <a:solidFill>
            <a:srgbClr val="C9C9CE"/>
          </a:solidFill>
          <a:ln w="6350">
            <a:solidFill>
              <a:srgbClr val="C9C9CE"/>
            </a:solidFill>
            <a:prstDash val="solid"/>
          </a:ln>
        </p:spPr>
      </p:sp>
      <p:sp>
        <p:nvSpPr>
          <p:cNvPr id="29" name="dot"/>
          <p:cNvSpPr/>
          <p:nvPr/>
        </p:nvSpPr>
        <p:spPr>
          <a:xfrm>
            <a:off x="2441448" y="3703320"/>
            <a:ext cx="82296" cy="82296"/>
          </a:xfrm>
          <a:prstGeom prst="ellipse">
            <a:avLst/>
          </a:prstGeom>
          <a:solidFill>
            <a:srgbClr val="C9C9CE"/>
          </a:solidFill>
          <a:ln w="6350">
            <a:solidFill>
              <a:srgbClr val="C9C9CE"/>
            </a:solidFill>
            <a:prstDash val="solid"/>
          </a:ln>
        </p:spPr>
      </p:sp>
      <p:sp>
        <p:nvSpPr>
          <p:cNvPr id="30" name="dot"/>
          <p:cNvSpPr/>
          <p:nvPr/>
        </p:nvSpPr>
        <p:spPr>
          <a:xfrm>
            <a:off x="2715768" y="3703320"/>
            <a:ext cx="82296" cy="82296"/>
          </a:xfrm>
          <a:prstGeom prst="ellipse">
            <a:avLst/>
          </a:prstGeom>
          <a:solidFill>
            <a:srgbClr val="C9C9CE"/>
          </a:solidFill>
          <a:ln w="6350">
            <a:solidFill>
              <a:srgbClr val="C9C9CE"/>
            </a:solidFill>
            <a:prstDash val="solid"/>
          </a:ln>
        </p:spPr>
      </p:sp>
      <p:sp>
        <p:nvSpPr>
          <p:cNvPr id="31" name="text"/>
          <p:cNvSpPr txBox="1"/>
          <p:nvPr/>
        </p:nvSpPr>
        <p:spPr>
          <a:xfrm>
            <a:off x="502920" y="4343400"/>
            <a:ext cx="365760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5A5A5F"/>
                </a:solidFill>
                <a:latin typeface="Outfit Medium" pitchFamily="34" charset="0"/>
                <a:ea typeface="Outfit Medium" pitchFamily="34" charset="-122"/>
                <a:cs typeface="Outfit Medium" pitchFamily="34" charset="-120"/>
              </a:rPr>
              <a:t>KELOMPOK 3</a:t>
            </a:r>
            <a:endParaRPr lang="en-US" sz="1400" dirty="0"/>
          </a:p>
        </p:txBody>
      </p:sp>
      <p:sp>
        <p:nvSpPr>
          <p:cNvPr id="32" name="text"/>
          <p:cNvSpPr txBox="1"/>
          <p:nvPr/>
        </p:nvSpPr>
        <p:spPr>
          <a:xfrm>
            <a:off x="502920" y="4709160"/>
            <a:ext cx="2560320" cy="310896"/>
          </a:xfrm>
          <a:prstGeom prst="rect">
            <a:avLst/>
          </a:prstGeom>
          <a:noFill/>
          <a:ln/>
        </p:spPr>
        <p:txBody>
          <a:bodyPr wrap="square" lIns="0" tIns="0" rIns="0" bIns="0" rtlCol="0" anchor="t"/>
          <a:lstStyle/>
          <a:p>
            <a:pPr algn="l" indent="0" marL="0">
              <a:lnSpc>
                <a:spcPct val="122000"/>
              </a:lnSpc>
              <a:buNone/>
            </a:pPr>
            <a:r>
              <a:rPr lang="en-US" sz="1500" dirty="0">
                <a:solidFill>
                  <a:srgbClr val="1A1A1C"/>
                </a:solidFill>
                <a:latin typeface="Outfit Medium" pitchFamily="34" charset="0"/>
                <a:ea typeface="Outfit Medium" pitchFamily="34" charset="-122"/>
                <a:cs typeface="Outfit Medium" pitchFamily="34" charset="-120"/>
              </a:rPr>
              <a:t>Aslih Abnuri</a:t>
            </a:r>
            <a:endParaRPr lang="en-US" sz="1500" dirty="0"/>
          </a:p>
        </p:txBody>
      </p:sp>
      <p:sp>
        <p:nvSpPr>
          <p:cNvPr id="33" name="text"/>
          <p:cNvSpPr txBox="1"/>
          <p:nvPr/>
        </p:nvSpPr>
        <p:spPr>
          <a:xfrm>
            <a:off x="502920" y="5056632"/>
            <a:ext cx="2560320" cy="274320"/>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25/574338/PEK/31801</a:t>
            </a:r>
            <a:endParaRPr lang="en-US" sz="1300" dirty="0"/>
          </a:p>
        </p:txBody>
      </p:sp>
      <p:sp>
        <p:nvSpPr>
          <p:cNvPr id="34" name="text"/>
          <p:cNvSpPr txBox="1"/>
          <p:nvPr/>
        </p:nvSpPr>
        <p:spPr>
          <a:xfrm>
            <a:off x="3200400" y="4709160"/>
            <a:ext cx="2560320" cy="310896"/>
          </a:xfrm>
          <a:prstGeom prst="rect">
            <a:avLst/>
          </a:prstGeom>
          <a:noFill/>
          <a:ln/>
        </p:spPr>
        <p:txBody>
          <a:bodyPr wrap="square" lIns="0" tIns="0" rIns="0" bIns="0" rtlCol="0" anchor="t"/>
          <a:lstStyle/>
          <a:p>
            <a:pPr algn="l" indent="0" marL="0">
              <a:lnSpc>
                <a:spcPct val="122000"/>
              </a:lnSpc>
              <a:buNone/>
            </a:pPr>
            <a:r>
              <a:rPr lang="en-US" sz="1500" dirty="0">
                <a:solidFill>
                  <a:srgbClr val="1A1A1C"/>
                </a:solidFill>
                <a:latin typeface="Outfit Medium" pitchFamily="34" charset="0"/>
                <a:ea typeface="Outfit Medium" pitchFamily="34" charset="-122"/>
                <a:cs typeface="Outfit Medium" pitchFamily="34" charset="-120"/>
              </a:rPr>
              <a:t>Tifani Puspita</a:t>
            </a:r>
            <a:endParaRPr lang="en-US" sz="1500" dirty="0"/>
          </a:p>
        </p:txBody>
      </p:sp>
      <p:sp>
        <p:nvSpPr>
          <p:cNvPr id="35" name="text"/>
          <p:cNvSpPr txBox="1"/>
          <p:nvPr/>
        </p:nvSpPr>
        <p:spPr>
          <a:xfrm>
            <a:off x="3200400" y="5056632"/>
            <a:ext cx="2560320" cy="274320"/>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25/574443/PEK/31851</a:t>
            </a:r>
            <a:endParaRPr lang="en-US" sz="1300" dirty="0"/>
          </a:p>
        </p:txBody>
      </p:sp>
      <p:sp>
        <p:nvSpPr>
          <p:cNvPr id="36" name="text"/>
          <p:cNvSpPr txBox="1"/>
          <p:nvPr/>
        </p:nvSpPr>
        <p:spPr>
          <a:xfrm>
            <a:off x="502920" y="5577840"/>
            <a:ext cx="2560320" cy="310896"/>
          </a:xfrm>
          <a:prstGeom prst="rect">
            <a:avLst/>
          </a:prstGeom>
          <a:noFill/>
          <a:ln/>
        </p:spPr>
        <p:txBody>
          <a:bodyPr wrap="square" lIns="0" tIns="0" rIns="0" bIns="0" rtlCol="0" anchor="t"/>
          <a:lstStyle/>
          <a:p>
            <a:pPr algn="l" indent="0" marL="0">
              <a:lnSpc>
                <a:spcPct val="122000"/>
              </a:lnSpc>
              <a:buNone/>
            </a:pPr>
            <a:r>
              <a:rPr lang="en-US" sz="1500" dirty="0">
                <a:solidFill>
                  <a:srgbClr val="1A1A1C"/>
                </a:solidFill>
                <a:latin typeface="Outfit Medium" pitchFamily="34" charset="0"/>
                <a:ea typeface="Outfit Medium" pitchFamily="34" charset="-122"/>
                <a:cs typeface="Outfit Medium" pitchFamily="34" charset="-120"/>
              </a:rPr>
              <a:t>Happy Dinithasari</a:t>
            </a:r>
            <a:endParaRPr lang="en-US" sz="1500" dirty="0"/>
          </a:p>
        </p:txBody>
      </p:sp>
      <p:sp>
        <p:nvSpPr>
          <p:cNvPr id="37" name="text"/>
          <p:cNvSpPr txBox="1"/>
          <p:nvPr/>
        </p:nvSpPr>
        <p:spPr>
          <a:xfrm>
            <a:off x="502920" y="5925312"/>
            <a:ext cx="2560320" cy="274320"/>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25/574400/PEK/31831</a:t>
            </a:r>
            <a:endParaRPr lang="en-US" sz="1300" dirty="0"/>
          </a:p>
        </p:txBody>
      </p:sp>
      <p:sp>
        <p:nvSpPr>
          <p:cNvPr id="38" name="text"/>
          <p:cNvSpPr txBox="1"/>
          <p:nvPr/>
        </p:nvSpPr>
        <p:spPr>
          <a:xfrm>
            <a:off x="3200400" y="5577840"/>
            <a:ext cx="2560320" cy="310896"/>
          </a:xfrm>
          <a:prstGeom prst="rect">
            <a:avLst/>
          </a:prstGeom>
          <a:noFill/>
          <a:ln/>
        </p:spPr>
        <p:txBody>
          <a:bodyPr wrap="square" lIns="0" tIns="0" rIns="0" bIns="0" rtlCol="0" anchor="t"/>
          <a:lstStyle/>
          <a:p>
            <a:pPr algn="l" indent="0" marL="0">
              <a:lnSpc>
                <a:spcPct val="122000"/>
              </a:lnSpc>
              <a:buNone/>
            </a:pPr>
            <a:r>
              <a:rPr lang="en-US" sz="1500" dirty="0">
                <a:solidFill>
                  <a:srgbClr val="1A1A1C"/>
                </a:solidFill>
                <a:latin typeface="Outfit Medium" pitchFamily="34" charset="0"/>
                <a:ea typeface="Outfit Medium" pitchFamily="34" charset="-122"/>
                <a:cs typeface="Outfit Medium" pitchFamily="34" charset="-120"/>
              </a:rPr>
              <a:t>Dara Astrini Rahayu K</a:t>
            </a:r>
            <a:endParaRPr lang="en-US" sz="1500" dirty="0"/>
          </a:p>
        </p:txBody>
      </p:sp>
      <p:sp>
        <p:nvSpPr>
          <p:cNvPr id="39" name="text"/>
          <p:cNvSpPr txBox="1"/>
          <p:nvPr/>
        </p:nvSpPr>
        <p:spPr>
          <a:xfrm>
            <a:off x="3200400" y="5925312"/>
            <a:ext cx="2560320" cy="274320"/>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25/574437/PEK/31847</a:t>
            </a:r>
            <a:endParaRPr lang="en-US" sz="1300" dirty="0"/>
          </a:p>
        </p:txBody>
      </p:sp>
      <p:pic>
        <p:nvPicPr>
          <p:cNvPr id="40" name="Tiga bola putih" descr="preencoded.png">    </p:cNvPr>
          <p:cNvPicPr>
            <a:picLocks noChangeAspect="1"/>
          </p:cNvPicPr>
          <p:nvPr/>
        </p:nvPicPr>
        <p:blipFill>
          <a:blip r:embed="rId2"/>
          <a:stretch>
            <a:fillRect/>
          </a:stretch>
        </p:blipFill>
        <p:spPr>
          <a:xfrm>
            <a:off x="6035040" y="914400"/>
            <a:ext cx="2926080" cy="6217920"/>
          </a:xfrm>
          <a:prstGeom prst="rect">
            <a:avLst/>
          </a:prstGeom>
        </p:spPr>
      </p:pic>
      <p:sp>
        <p:nvSpPr>
          <p:cNvPr id="41" name="card"/>
          <p:cNvSpPr/>
          <p:nvPr/>
        </p:nvSpPr>
        <p:spPr>
          <a:xfrm>
            <a:off x="9738360" y="960120"/>
            <a:ext cx="777240" cy="777240"/>
          </a:xfrm>
          <a:prstGeom prst="roundRect">
            <a:avLst>
              <a:gd name="adj" fmla="val 18824"/>
            </a:avLst>
          </a:prstGeom>
          <a:solidFill>
            <a:srgbClr val="141417"/>
          </a:solidFill>
          <a:ln w="6350">
            <a:solidFill>
              <a:srgbClr val="141417"/>
            </a:solidFill>
            <a:prstDash val="solid"/>
          </a:ln>
        </p:spPr>
      </p:sp>
      <p:pic>
        <p:nvPicPr>
          <p:cNvPr id="42" name="star" descr="preencoded.png">    </p:cNvPr>
          <p:cNvPicPr>
            <a:picLocks noChangeAspect="1"/>
          </p:cNvPicPr>
          <p:nvPr/>
        </p:nvPicPr>
        <p:blipFill>
          <a:blip r:embed="rId3"/>
          <a:stretch>
            <a:fillRect/>
          </a:stretch>
        </p:blipFill>
        <p:spPr>
          <a:xfrm>
            <a:off x="9932670" y="1154430"/>
            <a:ext cx="388620" cy="388620"/>
          </a:xfrm>
          <a:prstGeom prst="rect">
            <a:avLst/>
          </a:prstGeom>
        </p:spPr>
      </p:pic>
      <p:sp>
        <p:nvSpPr>
          <p:cNvPr id="43" name="badge"/>
          <p:cNvSpPr/>
          <p:nvPr/>
        </p:nvSpPr>
        <p:spPr>
          <a:xfrm>
            <a:off x="8458200" y="1143000"/>
            <a:ext cx="274320" cy="274320"/>
          </a:xfrm>
          <a:prstGeom prst="ellipse">
            <a:avLst/>
          </a:prstGeom>
          <a:solidFill>
            <a:srgbClr val="D4FC00"/>
          </a:solidFill>
          <a:ln w="6350">
            <a:solidFill>
              <a:srgbClr val="D4FC00"/>
            </a:solidFill>
            <a:prstDash val="solid"/>
          </a:ln>
        </p:spPr>
      </p:sp>
      <p:sp>
        <p:nvSpPr>
          <p:cNvPr id="44" name="icon-circle"/>
          <p:cNvSpPr/>
          <p:nvPr/>
        </p:nvSpPr>
        <p:spPr>
          <a:xfrm>
            <a:off x="9802368" y="4069080"/>
            <a:ext cx="658368" cy="658368"/>
          </a:xfrm>
          <a:prstGeom prst="ellipse">
            <a:avLst/>
          </a:prstGeom>
          <a:solidFill>
            <a:srgbClr val="141417"/>
          </a:solidFill>
          <a:ln w="6350">
            <a:solidFill>
              <a:srgbClr val="141417"/>
            </a:solidFill>
            <a:prstDash val="solid"/>
          </a:ln>
        </p:spPr>
      </p:sp>
      <p:pic>
        <p:nvPicPr>
          <p:cNvPr id="45" name="icon" descr="preencoded.png">    </p:cNvPr>
          <p:cNvPicPr>
            <a:picLocks noChangeAspect="1"/>
          </p:cNvPicPr>
          <p:nvPr/>
        </p:nvPicPr>
        <p:blipFill>
          <a:blip r:embed="rId4"/>
          <a:stretch>
            <a:fillRect/>
          </a:stretch>
        </p:blipFill>
        <p:spPr>
          <a:xfrm>
            <a:off x="9973544" y="4240256"/>
            <a:ext cx="316017" cy="316017"/>
          </a:xfrm>
          <a:prstGeom prst="rect">
            <a:avLst/>
          </a:prstGeom>
        </p:spPr>
      </p:pic>
      <p:sp>
        <p:nvSpPr>
          <p:cNvPr id="46" name="icon-circle"/>
          <p:cNvSpPr/>
          <p:nvPr/>
        </p:nvSpPr>
        <p:spPr>
          <a:xfrm>
            <a:off x="9802368" y="4937760"/>
            <a:ext cx="658368" cy="658368"/>
          </a:xfrm>
          <a:prstGeom prst="ellipse">
            <a:avLst/>
          </a:prstGeom>
          <a:solidFill>
            <a:srgbClr val="141417"/>
          </a:solidFill>
          <a:ln w="6350">
            <a:solidFill>
              <a:srgbClr val="141417"/>
            </a:solidFill>
            <a:prstDash val="solid"/>
          </a:ln>
        </p:spPr>
      </p:sp>
      <p:pic>
        <p:nvPicPr>
          <p:cNvPr id="47" name="icon" descr="preencoded.png">    </p:cNvPr>
          <p:cNvPicPr>
            <a:picLocks noChangeAspect="1"/>
          </p:cNvPicPr>
          <p:nvPr/>
        </p:nvPicPr>
        <p:blipFill>
          <a:blip r:embed="rId5"/>
          <a:stretch>
            <a:fillRect/>
          </a:stretch>
        </p:blipFill>
        <p:spPr>
          <a:xfrm>
            <a:off x="9973544" y="5108936"/>
            <a:ext cx="316017" cy="316017"/>
          </a:xfrm>
          <a:prstGeom prst="rect">
            <a:avLst/>
          </a:prstGeom>
        </p:spPr>
      </p:pic>
      <p:sp>
        <p:nvSpPr>
          <p:cNvPr id="48" name="icon-circle"/>
          <p:cNvSpPr/>
          <p:nvPr/>
        </p:nvSpPr>
        <p:spPr>
          <a:xfrm>
            <a:off x="9802368" y="5806440"/>
            <a:ext cx="658368" cy="658368"/>
          </a:xfrm>
          <a:prstGeom prst="ellipse">
            <a:avLst/>
          </a:prstGeom>
          <a:solidFill>
            <a:srgbClr val="141417"/>
          </a:solidFill>
          <a:ln w="6350">
            <a:solidFill>
              <a:srgbClr val="141417"/>
            </a:solidFill>
            <a:prstDash val="solid"/>
          </a:ln>
        </p:spPr>
      </p:sp>
      <p:pic>
        <p:nvPicPr>
          <p:cNvPr id="49" name="icon" descr="preencoded.png">    </p:cNvPr>
          <p:cNvPicPr>
            <a:picLocks noChangeAspect="1"/>
          </p:cNvPicPr>
          <p:nvPr/>
        </p:nvPicPr>
        <p:blipFill>
          <a:blip r:embed="rId6"/>
          <a:stretch>
            <a:fillRect/>
          </a:stretch>
        </p:blipFill>
        <p:spPr>
          <a:xfrm>
            <a:off x="9973544" y="5977616"/>
            <a:ext cx="316017" cy="31601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ALUR PEMBAHASAN</a:t>
            </a:r>
            <a:endParaRPr lang="en-US" sz="3800" dirty="0"/>
          </a:p>
        </p:txBody>
      </p:sp>
      <p:sp>
        <p:nvSpPr>
          <p:cNvPr id="9"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2"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3"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a:t>
            </a:r>
            <a:endParaRPr lang="en-US" sz="1600" dirty="0"/>
          </a:p>
        </p:txBody>
      </p:sp>
      <p:sp>
        <p:nvSpPr>
          <p:cNvPr id="14"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5"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FOUNDATION</a:t>
            </a:r>
            <a:endParaRPr lang="en-US" sz="1400" dirty="0"/>
          </a:p>
        </p:txBody>
      </p:sp>
      <p:sp>
        <p:nvSpPr>
          <p:cNvPr id="16"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7"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8"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9"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a:t>
            </a:r>
            <a:endParaRPr lang="en-US" sz="1400" dirty="0"/>
          </a:p>
        </p:txBody>
      </p:sp>
      <p:sp>
        <p:nvSpPr>
          <p:cNvPr id="20"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1"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a:t>
            </a:r>
            <a:endParaRPr lang="en-US" sz="1600" dirty="0"/>
          </a:p>
        </p:txBody>
      </p:sp>
      <p:sp>
        <p:nvSpPr>
          <p:cNvPr id="22"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Tiga jalan membangun capability.</a:t>
            </a:r>
            <a:endParaRPr lang="en-US" sz="1800" dirty="0"/>
          </a:p>
        </p:txBody>
      </p:sp>
      <p:sp>
        <p:nvSpPr>
          <p:cNvPr id="23"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CAPABILITIES</a:t>
            </a:r>
            <a:endParaRPr lang="en-US" sz="1400" dirty="0"/>
          </a:p>
        </p:txBody>
      </p:sp>
      <p:sp>
        <p:nvSpPr>
          <p:cNvPr id="24"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5"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a:t>
            </a:r>
            <a:endParaRPr lang="en-US" sz="1600" dirty="0"/>
          </a:p>
        </p:txBody>
      </p:sp>
      <p:sp>
        <p:nvSpPr>
          <p:cNvPr id="26"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7"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STRUCTURE</a:t>
            </a:r>
            <a:endParaRPr lang="en-US" sz="1400" dirty="0"/>
          </a:p>
        </p:txBody>
      </p:sp>
      <p:sp>
        <p:nvSpPr>
          <p:cNvPr id="28" name="text"/>
          <p:cNvSpPr txBox="1"/>
          <p:nvPr/>
        </p:nvSpPr>
        <p:spPr>
          <a:xfrm>
            <a:off x="502920" y="5696712"/>
            <a:ext cx="716249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ORANG, CAPABILITY, STRUKTUR: SATU RANGKAIAN</a:t>
            </a:r>
            <a:endParaRPr lang="en-US" sz="1500" dirty="0"/>
          </a:p>
        </p:txBody>
      </p:sp>
      <p:sp>
        <p:nvSpPr>
          <p:cNvPr id="29"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30"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05 · SINTESIS</a:t>
            </a:r>
            <a:endParaRPr lang="en-US" sz="1200" dirty="0"/>
          </a:p>
        </p:txBody>
      </p:sp>
      <p:sp>
        <p:nvSpPr>
          <p:cNvPr id="3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KERANGKA YANG DIPAKAI BAB 10</a:t>
            </a:r>
            <a:endParaRPr lang="en-US" sz="3800" dirty="0"/>
          </a:p>
        </p:txBody>
      </p:sp>
      <p:sp>
        <p:nvSpPr>
          <p:cNvPr id="9"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2"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3"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10.1</a:t>
            </a:r>
            <a:endParaRPr lang="en-US" sz="1600" dirty="0"/>
          </a:p>
        </p:txBody>
      </p:sp>
      <p:sp>
        <p:nvSpPr>
          <p:cNvPr id="14"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The action agenda for executing strategy.</a:t>
            </a:r>
            <a:endParaRPr lang="en-US" sz="1800" dirty="0"/>
          </a:p>
        </p:txBody>
      </p:sp>
      <p:sp>
        <p:nvSpPr>
          <p:cNvPr id="15"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SEPULUH TUGAS</a:t>
            </a:r>
            <a:endParaRPr lang="en-US" sz="1400" dirty="0"/>
          </a:p>
        </p:txBody>
      </p:sp>
      <p:sp>
        <p:nvSpPr>
          <p:cNvPr id="16"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7"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10.2</a:t>
            </a:r>
            <a:endParaRPr lang="en-US" sz="1600" dirty="0"/>
          </a:p>
        </p:txBody>
      </p:sp>
      <p:sp>
        <p:nvSpPr>
          <p:cNvPr id="18"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Staffing, capabilities, structure.</a:t>
            </a:r>
            <a:endParaRPr lang="en-US" sz="1800" dirty="0"/>
          </a:p>
        </p:txBody>
      </p:sp>
      <p:sp>
        <p:nvSpPr>
          <p:cNvPr id="19"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TIGA AKSI KUNCI</a:t>
            </a:r>
            <a:endParaRPr lang="en-US" sz="1400" dirty="0"/>
          </a:p>
        </p:txBody>
      </p:sp>
      <p:sp>
        <p:nvSpPr>
          <p:cNvPr id="20"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1"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10.3</a:t>
            </a:r>
            <a:endParaRPr lang="en-US" sz="1600" dirty="0"/>
          </a:p>
        </p:txBody>
      </p:sp>
      <p:sp>
        <p:nvSpPr>
          <p:cNvPr id="22"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Outsourcing, tipe, delegasi, koordinasi, mitra.</a:t>
            </a:r>
            <a:endParaRPr lang="en-US" sz="1800" dirty="0"/>
          </a:p>
        </p:txBody>
      </p:sp>
      <p:sp>
        <p:nvSpPr>
          <p:cNvPr id="23"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LIMA KEPUTUSAN</a:t>
            </a:r>
            <a:endParaRPr lang="en-US" sz="1400" dirty="0"/>
          </a:p>
        </p:txBody>
      </p:sp>
      <p:sp>
        <p:nvSpPr>
          <p:cNvPr id="24"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5"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Table 10.1</a:t>
            </a:r>
            <a:endParaRPr lang="en-US" sz="1600" dirty="0"/>
          </a:p>
        </p:txBody>
      </p:sp>
      <p:sp>
        <p:nvSpPr>
          <p:cNvPr id="26"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Centralized vs decentralized: asumsi, untung, rugi.</a:t>
            </a:r>
            <a:endParaRPr lang="en-US" sz="1800" dirty="0"/>
          </a:p>
        </p:txBody>
      </p:sp>
      <p:sp>
        <p:nvSpPr>
          <p:cNvPr id="27"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DELEGASI WEWENANG</a:t>
            </a:r>
            <a:endParaRPr lang="en-US" sz="1400" dirty="0"/>
          </a:p>
        </p:txBody>
      </p:sp>
      <p:sp>
        <p:nvSpPr>
          <p:cNvPr id="28" name="pill"/>
          <p:cNvSpPr/>
          <p:nvPr/>
        </p:nvSpPr>
        <p:spPr>
          <a:xfrm>
            <a:off x="502920" y="5715000"/>
            <a:ext cx="2659304"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612648"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JALAN CAPABILITY</a:t>
            </a:r>
            <a:endParaRPr lang="en-US" sz="1300" dirty="0"/>
          </a:p>
        </p:txBody>
      </p:sp>
      <p:sp>
        <p:nvSpPr>
          <p:cNvPr id="30" name="pill"/>
          <p:cNvSpPr/>
          <p:nvPr/>
        </p:nvSpPr>
        <p:spPr>
          <a:xfrm>
            <a:off x="3345104" y="5715000"/>
            <a:ext cx="2659304" cy="420624"/>
          </a:xfrm>
          <a:prstGeom prst="roundRect">
            <a:avLst>
              <a:gd name="adj" fmla="val 108696"/>
            </a:avLst>
          </a:prstGeom>
          <a:solidFill>
            <a:srgbClr val="F4F4F4"/>
          </a:solidFill>
          <a:ln w="9525">
            <a:solidFill>
              <a:srgbClr val="141417"/>
            </a:solidFill>
            <a:prstDash val="solid"/>
          </a:ln>
        </p:spPr>
      </p:sp>
      <p:sp>
        <p:nvSpPr>
          <p:cNvPr id="31" name="text"/>
          <p:cNvSpPr txBox="1"/>
          <p:nvPr/>
        </p:nvSpPr>
        <p:spPr>
          <a:xfrm>
            <a:off x="3454832"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4 TIPE STRUKTUR</a:t>
            </a:r>
            <a:endParaRPr lang="en-US" sz="1300" dirty="0"/>
          </a:p>
        </p:txBody>
      </p:sp>
      <p:sp>
        <p:nvSpPr>
          <p:cNvPr id="32" name="pill"/>
          <p:cNvSpPr/>
          <p:nvPr/>
        </p:nvSpPr>
        <p:spPr>
          <a:xfrm>
            <a:off x="6187288" y="5715000"/>
            <a:ext cx="2659304" cy="420624"/>
          </a:xfrm>
          <a:prstGeom prst="roundRect">
            <a:avLst>
              <a:gd name="adj" fmla="val 108696"/>
            </a:avLst>
          </a:prstGeom>
          <a:solidFill>
            <a:srgbClr val="F4F4F4"/>
          </a:solidFill>
          <a:ln w="9525">
            <a:solidFill>
              <a:srgbClr val="141417"/>
            </a:solidFill>
            <a:prstDash val="solid"/>
          </a:ln>
        </p:spPr>
      </p:sp>
      <p:sp>
        <p:nvSpPr>
          <p:cNvPr id="33" name="text"/>
          <p:cNvSpPr txBox="1"/>
          <p:nvPr/>
        </p:nvSpPr>
        <p:spPr>
          <a:xfrm>
            <a:off x="6297016"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JALUR KEMITRAAN</a:t>
            </a:r>
            <a:endParaRPr lang="en-US" sz="1300" dirty="0"/>
          </a:p>
        </p:txBody>
      </p:sp>
      <p:sp>
        <p:nvSpPr>
          <p:cNvPr id="34" name="pill"/>
          <p:cNvSpPr/>
          <p:nvPr/>
        </p:nvSpPr>
        <p:spPr>
          <a:xfrm>
            <a:off x="9029471" y="5715000"/>
            <a:ext cx="2659304" cy="420624"/>
          </a:xfrm>
          <a:prstGeom prst="roundRect">
            <a:avLst>
              <a:gd name="adj" fmla="val 108696"/>
            </a:avLst>
          </a:prstGeom>
          <a:solidFill>
            <a:srgbClr val="F4F4F4"/>
          </a:solidFill>
          <a:ln w="9525">
            <a:solidFill>
              <a:srgbClr val="141417"/>
            </a:solidFill>
            <a:prstDash val="solid"/>
          </a:ln>
        </p:spPr>
      </p:sp>
      <p:sp>
        <p:nvSpPr>
          <p:cNvPr id="35" name="text"/>
          <p:cNvSpPr txBox="1"/>
          <p:nvPr/>
        </p:nvSpPr>
        <p:spPr>
          <a:xfrm>
            <a:off x="9139199"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2 TANDA EKSEKUSI</a:t>
            </a:r>
            <a:endParaRPr lang="en-US" sz="1300" dirty="0"/>
          </a:p>
        </p:txBody>
      </p:sp>
      <p:sp>
        <p:nvSpPr>
          <p:cNvPr id="3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10"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3"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4"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DARI MERUMUSKAN KE MENGEKSEKUSI STRATEGI</a:t>
            </a:r>
            <a:endParaRPr lang="en-US" sz="3200" dirty="0"/>
          </a:p>
        </p:txBody>
      </p:sp>
      <p:sp>
        <p:nvSpPr>
          <p:cNvPr id="15"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6" name="text"/>
          <p:cNvSpPr txBox="1"/>
          <p:nvPr/>
        </p:nvSpPr>
        <p:spPr>
          <a:xfrm>
            <a:off x="731520" y="4023360"/>
            <a:ext cx="11887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1/2</a:t>
            </a:r>
            <a:endParaRPr lang="en-US" sz="3000" dirty="0"/>
          </a:p>
        </p:txBody>
      </p:sp>
      <p:sp>
        <p:nvSpPr>
          <p:cNvPr id="17" name="text"/>
          <p:cNvSpPr txBox="1"/>
          <p:nvPr/>
        </p:nvSpPr>
        <p:spPr>
          <a:xfrm>
            <a:off x="2011680" y="4023360"/>
            <a:ext cx="21488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(Lecuona)</a:t>
            </a:r>
            <a:endParaRPr lang="en-US" sz="1400" dirty="0"/>
          </a:p>
        </p:txBody>
      </p:sp>
      <p:sp>
        <p:nvSpPr>
          <p:cNvPr id="18"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9"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20"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Merumuskan strategi, Bab 1 sampai 9</a:t>
            </a:r>
            <a:endParaRPr lang="en-US" sz="1400" dirty="0"/>
          </a:p>
        </p:txBody>
      </p:sp>
      <p:sp>
        <p:nvSpPr>
          <p:cNvPr id="21"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2"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3"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Mengeksekusi strategi, Bab 10 sampai 12</a:t>
            </a:r>
            <a:endParaRPr lang="en-US" sz="1400" dirty="0"/>
          </a:p>
        </p:txBody>
      </p:sp>
      <p:sp>
        <p:nvSpPr>
          <p:cNvPr id="24" name="card"/>
          <p:cNvSpPr/>
          <p:nvPr/>
        </p:nvSpPr>
        <p:spPr>
          <a:xfrm>
            <a:off x="10012680" y="4023360"/>
            <a:ext cx="1508760" cy="1508760"/>
          </a:xfrm>
          <a:prstGeom prst="roundRect">
            <a:avLst>
              <a:gd name="adj" fmla="val 9697"/>
            </a:avLst>
          </a:prstGeom>
          <a:solidFill>
            <a:srgbClr val="141417"/>
          </a:solidFill>
          <a:ln w="6350">
            <a:solidFill>
              <a:srgbClr val="141417"/>
            </a:solidFill>
            <a:prstDash val="solid"/>
          </a:ln>
        </p:spPr>
      </p:sp>
      <p:pic>
        <p:nvPicPr>
          <p:cNvPr id="25" name="star" descr="preencoded.png">    </p:cNvPr>
          <p:cNvPicPr>
            <a:picLocks noChangeAspect="1"/>
          </p:cNvPicPr>
          <p:nvPr/>
        </p:nvPicPr>
        <p:blipFill>
          <a:blip r:embed="rId3"/>
          <a:stretch>
            <a:fillRect/>
          </a:stretch>
        </p:blipFill>
        <p:spPr>
          <a:xfrm>
            <a:off x="10389870" y="4400550"/>
            <a:ext cx="754380" cy="754380"/>
          </a:xfrm>
          <a:prstGeom prst="rect">
            <a:avLst/>
          </a:prstGeom>
        </p:spPr>
      </p:pic>
      <p:sp>
        <p:nvSpPr>
          <p:cNvPr id="26"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Bab 10 bertanya siapa awaknya.</a:t>
            </a:r>
            <a:endParaRPr lang="en-US" sz="1800" dirty="0"/>
          </a:p>
        </p:txBody>
      </p:sp>
      <p:sp>
        <p:nvSpPr>
          <p:cNvPr id="2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10"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TANTANGAN NOMOR SATU</a:t>
            </a:r>
            <a:endParaRPr lang="en-US" sz="1400" dirty="0"/>
          </a:p>
        </p:txBody>
      </p:sp>
      <p:sp>
        <p:nvSpPr>
          <p:cNvPr id="11"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Survei 400 CEO: executional excellence (Sull dkk., 2015).</a:t>
            </a:r>
            <a:endParaRPr lang="en-US" sz="1800" dirty="0"/>
          </a:p>
        </p:txBody>
      </p:sp>
      <p:sp>
        <p:nvSpPr>
          <p:cNvPr id="12"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4"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5"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SALING BERGANTUNG</a:t>
            </a:r>
            <a:endParaRPr lang="en-US" sz="1400" dirty="0"/>
          </a:p>
        </p:txBody>
      </p:sp>
      <p:sp>
        <p:nvSpPr>
          <p:cNvPr id="16"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7"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9"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20"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TIDAK ADA RESEP TUNGGAL</a:t>
            </a:r>
            <a:endParaRPr lang="en-US" sz="1400" dirty="0"/>
          </a:p>
        </p:txBody>
      </p:sp>
      <p:sp>
        <p:nvSpPr>
          <p:cNvPr id="21"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Agenda tindakan mengikuti situasi perusahaan.</a:t>
            </a:r>
            <a:endParaRPr lang="en-US" sz="1800" dirty="0"/>
          </a:p>
        </p:txBody>
      </p:sp>
      <p:sp>
        <p:nvSpPr>
          <p:cNvPr id="22"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4"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5"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DUA TANDA EKSEKUSI BAIK</a:t>
            </a:r>
            <a:endParaRPr lang="en-US" sz="1400" dirty="0"/>
          </a:p>
        </p:txBody>
      </p:sp>
      <p:sp>
        <p:nvSpPr>
          <p:cNvPr id="26"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Target tercapai; aktivitas kritis dijalankan mahir.</a:t>
            </a:r>
            <a:endParaRPr lang="en-US" sz="1800" dirty="0"/>
          </a:p>
        </p:txBody>
      </p:sp>
      <p:sp>
        <p:nvSpPr>
          <p:cNvPr id="27"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9"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30"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ADALAH UJIAN YANG SESUNGGUHNYA</a:t>
            </a:r>
            <a:endParaRPr lang="en-US" sz="3200" dirty="0"/>
          </a:p>
        </p:txBody>
      </p:sp>
      <p:sp>
        <p:nvSpPr>
          <p:cNvPr id="31"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10"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11"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12"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13"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14"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15"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16"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7"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SEPULUH TUGAS EKSEKUSI</a:t>
            </a:r>
            <a:endParaRPr lang="en-US" sz="3400" dirty="0"/>
          </a:p>
        </p:txBody>
      </p:sp>
      <p:sp>
        <p:nvSpPr>
          <p:cNvPr id="18"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9" name="connector"/>
          <p:cNvSpPr/>
          <p:nvPr/>
        </p:nvSpPr>
        <p:spPr>
          <a:xfrm flipH="1">
            <a:off x="3749040" y="2739030"/>
            <a:ext cx="777054" cy="1695810"/>
          </a:xfrm>
          <a:prstGeom prst="line">
            <a:avLst/>
          </a:prstGeom>
          <a:noFill/>
          <a:ln w="12700">
            <a:solidFill>
              <a:srgbClr val="C9C9CC"/>
            </a:solidFill>
            <a:prstDash val="solid"/>
          </a:ln>
        </p:spPr>
      </p:sp>
      <p:sp>
        <p:nvSpPr>
          <p:cNvPr id="20" name="connector"/>
          <p:cNvSpPr/>
          <p:nvPr/>
        </p:nvSpPr>
        <p:spPr>
          <a:xfrm flipH="1">
            <a:off x="3749040" y="3386772"/>
            <a:ext cx="2034354" cy="1048068"/>
          </a:xfrm>
          <a:prstGeom prst="line">
            <a:avLst/>
          </a:prstGeom>
          <a:noFill/>
          <a:ln w="12700">
            <a:solidFill>
              <a:srgbClr val="C9C9CC"/>
            </a:solidFill>
            <a:prstDash val="solid"/>
          </a:ln>
        </p:spPr>
      </p:sp>
      <p:sp>
        <p:nvSpPr>
          <p:cNvPr id="21" name="connector"/>
          <p:cNvSpPr/>
          <p:nvPr/>
        </p:nvSpPr>
        <p:spPr>
          <a:xfrm>
            <a:off x="3749040" y="4434840"/>
            <a:ext cx="2514600" cy="0"/>
          </a:xfrm>
          <a:prstGeom prst="line">
            <a:avLst/>
          </a:prstGeom>
          <a:noFill/>
          <a:ln w="12700">
            <a:solidFill>
              <a:srgbClr val="C9C9CC"/>
            </a:solidFill>
            <a:prstDash val="solid"/>
          </a:ln>
        </p:spPr>
      </p:sp>
      <p:sp>
        <p:nvSpPr>
          <p:cNvPr id="22" name="connector"/>
          <p:cNvSpPr/>
          <p:nvPr/>
        </p:nvSpPr>
        <p:spPr>
          <a:xfrm>
            <a:off x="3749040" y="4434840"/>
            <a:ext cx="2034354" cy="1048068"/>
          </a:xfrm>
          <a:prstGeom prst="line">
            <a:avLst/>
          </a:prstGeom>
          <a:noFill/>
          <a:ln w="12700">
            <a:solidFill>
              <a:srgbClr val="C9C9CC"/>
            </a:solidFill>
            <a:prstDash val="solid"/>
          </a:ln>
        </p:spPr>
      </p:sp>
      <p:sp>
        <p:nvSpPr>
          <p:cNvPr id="23" name="connector"/>
          <p:cNvSpPr/>
          <p:nvPr/>
        </p:nvSpPr>
        <p:spPr>
          <a:xfrm>
            <a:off x="3749040" y="4434840"/>
            <a:ext cx="777054" cy="1695810"/>
          </a:xfrm>
          <a:prstGeom prst="line">
            <a:avLst/>
          </a:prstGeom>
          <a:noFill/>
          <a:ln w="12700">
            <a:solidFill>
              <a:srgbClr val="C9C9CC"/>
            </a:solidFill>
            <a:prstDash val="solid"/>
          </a:ln>
        </p:spPr>
      </p:sp>
      <p:sp>
        <p:nvSpPr>
          <p:cNvPr id="24" name="connector"/>
          <p:cNvSpPr/>
          <p:nvPr/>
        </p:nvSpPr>
        <p:spPr>
          <a:xfrm flipH="1">
            <a:off x="2971986" y="4434840"/>
            <a:ext cx="777054" cy="1695810"/>
          </a:xfrm>
          <a:prstGeom prst="line">
            <a:avLst/>
          </a:prstGeom>
          <a:noFill/>
          <a:ln w="12700">
            <a:solidFill>
              <a:srgbClr val="C9C9CC"/>
            </a:solidFill>
            <a:prstDash val="solid"/>
          </a:ln>
        </p:spPr>
      </p:sp>
      <p:sp>
        <p:nvSpPr>
          <p:cNvPr id="25" name="connector"/>
          <p:cNvSpPr/>
          <p:nvPr/>
        </p:nvSpPr>
        <p:spPr>
          <a:xfrm flipH="1">
            <a:off x="1714686" y="4434840"/>
            <a:ext cx="2034354" cy="1048068"/>
          </a:xfrm>
          <a:prstGeom prst="line">
            <a:avLst/>
          </a:prstGeom>
          <a:noFill/>
          <a:ln w="12700">
            <a:solidFill>
              <a:srgbClr val="C9C9CC"/>
            </a:solidFill>
            <a:prstDash val="solid"/>
          </a:ln>
        </p:spPr>
      </p:sp>
      <p:sp>
        <p:nvSpPr>
          <p:cNvPr id="26" name="connector"/>
          <p:cNvSpPr/>
          <p:nvPr/>
        </p:nvSpPr>
        <p:spPr>
          <a:xfrm flipH="1">
            <a:off x="1234440" y="4434840"/>
            <a:ext cx="2514600" cy="0"/>
          </a:xfrm>
          <a:prstGeom prst="line">
            <a:avLst/>
          </a:prstGeom>
          <a:noFill/>
          <a:ln w="12700">
            <a:solidFill>
              <a:srgbClr val="C9C9CC"/>
            </a:solidFill>
            <a:prstDash val="solid"/>
          </a:ln>
        </p:spPr>
      </p:sp>
      <p:sp>
        <p:nvSpPr>
          <p:cNvPr id="27" name="connector"/>
          <p:cNvSpPr/>
          <p:nvPr/>
        </p:nvSpPr>
        <p:spPr>
          <a:xfrm>
            <a:off x="1714686" y="3386772"/>
            <a:ext cx="2034354" cy="1048068"/>
          </a:xfrm>
          <a:prstGeom prst="line">
            <a:avLst/>
          </a:prstGeom>
          <a:noFill/>
          <a:ln w="12700">
            <a:solidFill>
              <a:srgbClr val="C9C9CC"/>
            </a:solidFill>
            <a:prstDash val="solid"/>
          </a:ln>
        </p:spPr>
      </p:sp>
      <p:sp>
        <p:nvSpPr>
          <p:cNvPr id="28" name="connector"/>
          <p:cNvSpPr/>
          <p:nvPr/>
        </p:nvSpPr>
        <p:spPr>
          <a:xfrm>
            <a:off x="2971986" y="2739030"/>
            <a:ext cx="777054" cy="1695810"/>
          </a:xfrm>
          <a:prstGeom prst="line">
            <a:avLst/>
          </a:prstGeom>
          <a:noFill/>
          <a:ln w="12700">
            <a:solidFill>
              <a:srgbClr val="C9C9CC"/>
            </a:solidFill>
            <a:prstDash val="solid"/>
          </a:ln>
        </p:spPr>
      </p:sp>
      <p:sp>
        <p:nvSpPr>
          <p:cNvPr id="29" name="pusat"/>
          <p:cNvSpPr/>
          <p:nvPr/>
        </p:nvSpPr>
        <p:spPr>
          <a:xfrm>
            <a:off x="2880360" y="3657600"/>
            <a:ext cx="1737360" cy="1554480"/>
          </a:xfrm>
          <a:prstGeom prst="hexagon">
            <a:avLst/>
          </a:prstGeom>
          <a:solidFill>
            <a:srgbClr val="141417"/>
          </a:solidFill>
          <a:ln w="6350">
            <a:solidFill>
              <a:srgbClr val="141417"/>
            </a:solidFill>
            <a:prstDash val="solid"/>
          </a:ln>
        </p:spPr>
      </p:sp>
      <p:sp>
        <p:nvSpPr>
          <p:cNvPr id="30" name="text"/>
          <p:cNvSpPr txBox="1"/>
          <p:nvPr/>
        </p:nvSpPr>
        <p:spPr>
          <a:xfrm>
            <a:off x="3072384" y="3904488"/>
            <a:ext cx="1353312" cy="1060704"/>
          </a:xfrm>
          <a:prstGeom prst="rect">
            <a:avLst/>
          </a:prstGeom>
          <a:noFill/>
          <a:ln/>
        </p:spPr>
        <p:txBody>
          <a:bodyPr wrap="square" lIns="0" tIns="0" rIns="0" bIns="0" rtlCol="0" anchor="ctr"/>
          <a:lstStyle/>
          <a:p>
            <a:pPr algn="ctr" indent="0" marL="0">
              <a:lnSpc>
                <a:spcPct val="122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31" name="card"/>
          <p:cNvSpPr/>
          <p:nvPr/>
        </p:nvSpPr>
        <p:spPr>
          <a:xfrm>
            <a:off x="3840294" y="2418990"/>
            <a:ext cx="1371600" cy="640080"/>
          </a:xfrm>
          <a:prstGeom prst="roundRect">
            <a:avLst>
              <a:gd name="adj" fmla="val 17143"/>
            </a:avLst>
          </a:prstGeom>
          <a:solidFill>
            <a:srgbClr val="D4FC00"/>
          </a:solidFill>
          <a:ln w="6350">
            <a:solidFill>
              <a:srgbClr val="D4FC00"/>
            </a:solidFill>
            <a:prstDash val="solid"/>
          </a:ln>
        </p:spPr>
      </p:sp>
      <p:sp>
        <p:nvSpPr>
          <p:cNvPr id="32" name="text"/>
          <p:cNvSpPr txBox="1"/>
          <p:nvPr/>
        </p:nvSpPr>
        <p:spPr>
          <a:xfrm>
            <a:off x="3950022"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33" name="text"/>
          <p:cNvSpPr txBox="1"/>
          <p:nvPr/>
        </p:nvSpPr>
        <p:spPr>
          <a:xfrm>
            <a:off x="4242630"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4" name="card"/>
          <p:cNvSpPr/>
          <p:nvPr/>
        </p:nvSpPr>
        <p:spPr>
          <a:xfrm>
            <a:off x="5097594" y="3066732"/>
            <a:ext cx="1371600" cy="640080"/>
          </a:xfrm>
          <a:prstGeom prst="roundRect">
            <a:avLst>
              <a:gd name="adj" fmla="val 17143"/>
            </a:avLst>
          </a:prstGeom>
          <a:solidFill>
            <a:srgbClr val="D4FC00"/>
          </a:solidFill>
          <a:ln w="6350">
            <a:solidFill>
              <a:srgbClr val="D4FC00"/>
            </a:solidFill>
            <a:prstDash val="solid"/>
          </a:ln>
        </p:spPr>
      </p:sp>
      <p:sp>
        <p:nvSpPr>
          <p:cNvPr id="35" name="text"/>
          <p:cNvSpPr txBox="1"/>
          <p:nvPr/>
        </p:nvSpPr>
        <p:spPr>
          <a:xfrm>
            <a:off x="5207322"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6" name="text"/>
          <p:cNvSpPr txBox="1"/>
          <p:nvPr/>
        </p:nvSpPr>
        <p:spPr>
          <a:xfrm>
            <a:off x="5499930"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7" name="card"/>
          <p:cNvSpPr/>
          <p:nvPr/>
        </p:nvSpPr>
        <p:spPr>
          <a:xfrm>
            <a:off x="5577840" y="4114800"/>
            <a:ext cx="1371600" cy="640080"/>
          </a:xfrm>
          <a:prstGeom prst="roundRect">
            <a:avLst>
              <a:gd name="adj" fmla="val 17143"/>
            </a:avLst>
          </a:prstGeom>
          <a:solidFill>
            <a:srgbClr val="D4FC00"/>
          </a:solidFill>
          <a:ln w="6350">
            <a:solidFill>
              <a:srgbClr val="D4FC00"/>
            </a:solidFill>
            <a:prstDash val="solid"/>
          </a:ln>
        </p:spPr>
      </p:sp>
      <p:sp>
        <p:nvSpPr>
          <p:cNvPr id="38" name="text"/>
          <p:cNvSpPr txBox="1"/>
          <p:nvPr/>
        </p:nvSpPr>
        <p:spPr>
          <a:xfrm>
            <a:off x="56875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9" name="text"/>
          <p:cNvSpPr txBox="1"/>
          <p:nvPr/>
        </p:nvSpPr>
        <p:spPr>
          <a:xfrm>
            <a:off x="59801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40" name="card"/>
          <p:cNvSpPr/>
          <p:nvPr/>
        </p:nvSpPr>
        <p:spPr>
          <a:xfrm>
            <a:off x="5097594" y="5162868"/>
            <a:ext cx="1371600" cy="640080"/>
          </a:xfrm>
          <a:prstGeom prst="roundRect">
            <a:avLst>
              <a:gd name="adj" fmla="val 17143"/>
            </a:avLst>
          </a:prstGeom>
          <a:solidFill>
            <a:srgbClr val="E8E8E8"/>
          </a:solidFill>
          <a:ln w="6350">
            <a:solidFill>
              <a:srgbClr val="E8E8E8"/>
            </a:solidFill>
            <a:prstDash val="solid"/>
          </a:ln>
        </p:spPr>
      </p:sp>
      <p:sp>
        <p:nvSpPr>
          <p:cNvPr id="41" name="text"/>
          <p:cNvSpPr txBox="1"/>
          <p:nvPr/>
        </p:nvSpPr>
        <p:spPr>
          <a:xfrm>
            <a:off x="5207322"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42" name="text"/>
          <p:cNvSpPr txBox="1"/>
          <p:nvPr/>
        </p:nvSpPr>
        <p:spPr>
          <a:xfrm>
            <a:off x="5499930"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43" name="card"/>
          <p:cNvSpPr/>
          <p:nvPr/>
        </p:nvSpPr>
        <p:spPr>
          <a:xfrm>
            <a:off x="3840294" y="5810610"/>
            <a:ext cx="1371600" cy="640080"/>
          </a:xfrm>
          <a:prstGeom prst="roundRect">
            <a:avLst>
              <a:gd name="adj" fmla="val 17143"/>
            </a:avLst>
          </a:prstGeom>
          <a:solidFill>
            <a:srgbClr val="E8E8E8"/>
          </a:solidFill>
          <a:ln w="6350">
            <a:solidFill>
              <a:srgbClr val="E8E8E8"/>
            </a:solidFill>
            <a:prstDash val="solid"/>
          </a:ln>
        </p:spPr>
      </p:sp>
      <p:sp>
        <p:nvSpPr>
          <p:cNvPr id="44" name="text"/>
          <p:cNvSpPr txBox="1"/>
          <p:nvPr/>
        </p:nvSpPr>
        <p:spPr>
          <a:xfrm>
            <a:off x="3950022"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5" name="text"/>
          <p:cNvSpPr txBox="1"/>
          <p:nvPr/>
        </p:nvSpPr>
        <p:spPr>
          <a:xfrm>
            <a:off x="4242630"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6" name="card"/>
          <p:cNvSpPr/>
          <p:nvPr/>
        </p:nvSpPr>
        <p:spPr>
          <a:xfrm>
            <a:off x="2286186" y="5810610"/>
            <a:ext cx="1371600" cy="640080"/>
          </a:xfrm>
          <a:prstGeom prst="roundRect">
            <a:avLst>
              <a:gd name="adj" fmla="val 17143"/>
            </a:avLst>
          </a:prstGeom>
          <a:solidFill>
            <a:srgbClr val="E8E8E8"/>
          </a:solidFill>
          <a:ln w="6350">
            <a:solidFill>
              <a:srgbClr val="E8E8E8"/>
            </a:solidFill>
            <a:prstDash val="solid"/>
          </a:ln>
        </p:spPr>
      </p:sp>
      <p:sp>
        <p:nvSpPr>
          <p:cNvPr id="47" name="text"/>
          <p:cNvSpPr txBox="1"/>
          <p:nvPr/>
        </p:nvSpPr>
        <p:spPr>
          <a:xfrm>
            <a:off x="2395914"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8" name="text"/>
          <p:cNvSpPr txBox="1"/>
          <p:nvPr/>
        </p:nvSpPr>
        <p:spPr>
          <a:xfrm>
            <a:off x="2688522"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9" name="card"/>
          <p:cNvSpPr/>
          <p:nvPr/>
        </p:nvSpPr>
        <p:spPr>
          <a:xfrm>
            <a:off x="1028886" y="5162868"/>
            <a:ext cx="1371600" cy="640080"/>
          </a:xfrm>
          <a:prstGeom prst="roundRect">
            <a:avLst>
              <a:gd name="adj" fmla="val 17143"/>
            </a:avLst>
          </a:prstGeom>
          <a:solidFill>
            <a:srgbClr val="E8E8E8"/>
          </a:solidFill>
          <a:ln w="6350">
            <a:solidFill>
              <a:srgbClr val="E8E8E8"/>
            </a:solidFill>
            <a:prstDash val="solid"/>
          </a:ln>
        </p:spPr>
      </p:sp>
      <p:sp>
        <p:nvSpPr>
          <p:cNvPr id="50" name="text"/>
          <p:cNvSpPr txBox="1"/>
          <p:nvPr/>
        </p:nvSpPr>
        <p:spPr>
          <a:xfrm>
            <a:off x="1138614"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51" name="text"/>
          <p:cNvSpPr txBox="1"/>
          <p:nvPr/>
        </p:nvSpPr>
        <p:spPr>
          <a:xfrm>
            <a:off x="1431222"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52" name="card"/>
          <p:cNvSpPr/>
          <p:nvPr/>
        </p:nvSpPr>
        <p:spPr>
          <a:xfrm>
            <a:off x="548640" y="4114800"/>
            <a:ext cx="1371600" cy="640080"/>
          </a:xfrm>
          <a:prstGeom prst="roundRect">
            <a:avLst>
              <a:gd name="adj" fmla="val 17143"/>
            </a:avLst>
          </a:prstGeom>
          <a:solidFill>
            <a:srgbClr val="E8E8E8"/>
          </a:solidFill>
          <a:ln w="6350">
            <a:solidFill>
              <a:srgbClr val="E8E8E8"/>
            </a:solidFill>
            <a:prstDash val="solid"/>
          </a:ln>
        </p:spPr>
      </p:sp>
      <p:sp>
        <p:nvSpPr>
          <p:cNvPr id="53" name="text"/>
          <p:cNvSpPr txBox="1"/>
          <p:nvPr/>
        </p:nvSpPr>
        <p:spPr>
          <a:xfrm>
            <a:off x="6583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4" name="text"/>
          <p:cNvSpPr txBox="1"/>
          <p:nvPr/>
        </p:nvSpPr>
        <p:spPr>
          <a:xfrm>
            <a:off x="9509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5" name="card"/>
          <p:cNvSpPr/>
          <p:nvPr/>
        </p:nvSpPr>
        <p:spPr>
          <a:xfrm>
            <a:off x="1028886" y="3066732"/>
            <a:ext cx="1371600" cy="640080"/>
          </a:xfrm>
          <a:prstGeom prst="roundRect">
            <a:avLst>
              <a:gd name="adj" fmla="val 17143"/>
            </a:avLst>
          </a:prstGeom>
          <a:solidFill>
            <a:srgbClr val="141417"/>
          </a:solidFill>
          <a:ln w="6350">
            <a:solidFill>
              <a:srgbClr val="141417"/>
            </a:solidFill>
            <a:prstDash val="solid"/>
          </a:ln>
        </p:spPr>
      </p:sp>
      <p:sp>
        <p:nvSpPr>
          <p:cNvPr id="56" name="text"/>
          <p:cNvSpPr txBox="1"/>
          <p:nvPr/>
        </p:nvSpPr>
        <p:spPr>
          <a:xfrm>
            <a:off x="1138614"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7" name="text"/>
          <p:cNvSpPr txBox="1"/>
          <p:nvPr/>
        </p:nvSpPr>
        <p:spPr>
          <a:xfrm>
            <a:off x="1431222"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8" name="card"/>
          <p:cNvSpPr/>
          <p:nvPr/>
        </p:nvSpPr>
        <p:spPr>
          <a:xfrm>
            <a:off x="2286186" y="2418990"/>
            <a:ext cx="1371600" cy="640080"/>
          </a:xfrm>
          <a:prstGeom prst="roundRect">
            <a:avLst>
              <a:gd name="adj" fmla="val 17143"/>
            </a:avLst>
          </a:prstGeom>
          <a:solidFill>
            <a:srgbClr val="141417"/>
          </a:solidFill>
          <a:ln w="6350">
            <a:solidFill>
              <a:srgbClr val="141417"/>
            </a:solidFill>
            <a:prstDash val="solid"/>
          </a:ln>
        </p:spPr>
      </p:sp>
      <p:sp>
        <p:nvSpPr>
          <p:cNvPr id="59" name="text"/>
          <p:cNvSpPr txBox="1"/>
          <p:nvPr/>
        </p:nvSpPr>
        <p:spPr>
          <a:xfrm>
            <a:off x="2395914"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60" name="text"/>
          <p:cNvSpPr txBox="1"/>
          <p:nvPr/>
        </p:nvSpPr>
        <p:spPr>
          <a:xfrm>
            <a:off x="2688522"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61"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62"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63"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4"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5"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D4FC00"/>
                </a:solidFill>
                <a:latin typeface="Outfit Medium" pitchFamily="34" charset="0"/>
                <a:ea typeface="Outfit Medium" pitchFamily="34" charset="-122"/>
                <a:cs typeface="Outfit Medium" pitchFamily="34" charset="-120"/>
              </a:rPr>
              <a:t>BAB 10 · TUGAS 1 SAMPAI 3</a:t>
            </a:r>
            <a:endParaRPr lang="en-US" sz="1200" dirty="0"/>
          </a:p>
        </p:txBody>
      </p:sp>
      <p:sp>
        <p:nvSpPr>
          <p:cNvPr id="66" name="pill"/>
          <p:cNvSpPr/>
          <p:nvPr/>
        </p:nvSpPr>
        <p:spPr>
          <a:xfrm>
            <a:off x="9418320" y="4215384"/>
            <a:ext cx="2286000" cy="420624"/>
          </a:xfrm>
          <a:prstGeom prst="roundRect">
            <a:avLst>
              <a:gd name="adj" fmla="val 108696"/>
            </a:avLst>
          </a:prstGeom>
          <a:solidFill>
            <a:srgbClr val="D4FC00"/>
          </a:solidFill>
          <a:ln w="9525">
            <a:solidFill>
              <a:srgbClr val="141417"/>
            </a:solidFill>
            <a:prstDash val="solid"/>
          </a:ln>
        </p:spPr>
      </p:sp>
      <p:sp>
        <p:nvSpPr>
          <p:cNvPr id="67" name="text"/>
          <p:cNvSpPr txBox="1"/>
          <p:nvPr/>
        </p:nvSpPr>
        <p:spPr>
          <a:xfrm>
            <a:off x="9528048" y="4215384"/>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TUGAS 4 SAMPAI 8</a:t>
            </a:r>
            <a:endParaRPr lang="en-US" sz="1200" dirty="0"/>
          </a:p>
        </p:txBody>
      </p:sp>
      <p:sp>
        <p:nvSpPr>
          <p:cNvPr id="68" name="pill"/>
          <p:cNvSpPr/>
          <p:nvPr/>
        </p:nvSpPr>
        <p:spPr>
          <a:xfrm>
            <a:off x="9418320" y="4818888"/>
            <a:ext cx="2286000" cy="420624"/>
          </a:xfrm>
          <a:prstGeom prst="roundRect">
            <a:avLst>
              <a:gd name="adj" fmla="val 108696"/>
            </a:avLst>
          </a:prstGeom>
          <a:solidFill>
            <a:srgbClr val="D4FC00"/>
          </a:solidFill>
          <a:ln w="9525">
            <a:solidFill>
              <a:srgbClr val="141417"/>
            </a:solidFill>
            <a:prstDash val="solid"/>
          </a:ln>
        </p:spPr>
      </p:sp>
      <p:sp>
        <p:nvSpPr>
          <p:cNvPr id="69" name="text"/>
          <p:cNvSpPr txBox="1"/>
          <p:nvPr/>
        </p:nvSpPr>
        <p:spPr>
          <a:xfrm>
            <a:off x="9528048" y="4818888"/>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TIGA AKSI KUNCI MEMBANGUN ORGANISASI YANG MAMPU</a:t>
            </a:r>
            <a:endParaRPr lang="en-US" sz="3400" dirty="0"/>
          </a:p>
        </p:txBody>
      </p:sp>
      <p:sp>
        <p:nvSpPr>
          <p:cNvPr id="10"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11" name="card"/>
          <p:cNvSpPr/>
          <p:nvPr/>
        </p:nvSpPr>
        <p:spPr>
          <a:xfrm>
            <a:off x="502920" y="2560320"/>
            <a:ext cx="6766560" cy="1143000"/>
          </a:xfrm>
          <a:prstGeom prst="roundRect">
            <a:avLst>
              <a:gd name="adj" fmla="val 16000"/>
            </a:avLst>
          </a:prstGeom>
          <a:solidFill>
            <a:srgbClr val="D4FC00"/>
          </a:solidFill>
          <a:ln w="6350">
            <a:solidFill>
              <a:srgbClr val="D4FC00"/>
            </a:solidFill>
            <a:prstDash val="solid"/>
          </a:ln>
        </p:spPr>
      </p:sp>
      <p:sp>
        <p:nvSpPr>
          <p:cNvPr id="12"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3" name="text"/>
          <p:cNvSpPr txBox="1"/>
          <p:nvPr/>
        </p:nvSpPr>
        <p:spPr>
          <a:xfrm>
            <a:off x="1188720" y="281635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 THE ORGANIZATION</a:t>
            </a:r>
            <a:endParaRPr lang="en-US" sz="1400" dirty="0"/>
          </a:p>
        </p:txBody>
      </p:sp>
      <p:sp>
        <p:nvSpPr>
          <p:cNvPr id="14" name="text"/>
          <p:cNvSpPr txBox="1"/>
          <p:nvPr/>
        </p:nvSpPr>
        <p:spPr>
          <a:xfrm>
            <a:off x="3611880" y="277977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5" name="dot"/>
          <p:cNvSpPr/>
          <p:nvPr/>
        </p:nvSpPr>
        <p:spPr>
          <a:xfrm>
            <a:off x="6702552" y="2994660"/>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1"/>
          <a:stretch>
            <a:fillRect/>
          </a:stretch>
        </p:blipFill>
        <p:spPr>
          <a:xfrm>
            <a:off x="6762902" y="3055010"/>
            <a:ext cx="153619" cy="153619"/>
          </a:xfrm>
          <a:prstGeom prst="rect">
            <a:avLst/>
          </a:prstGeom>
        </p:spPr>
      </p:pic>
      <p:sp>
        <p:nvSpPr>
          <p:cNvPr id="17" name="card"/>
          <p:cNvSpPr/>
          <p:nvPr/>
        </p:nvSpPr>
        <p:spPr>
          <a:xfrm>
            <a:off x="502920" y="3886200"/>
            <a:ext cx="6766560" cy="1143000"/>
          </a:xfrm>
          <a:prstGeom prst="roundRect">
            <a:avLst>
              <a:gd name="adj" fmla="val 16000"/>
            </a:avLst>
          </a:prstGeom>
          <a:solidFill>
            <a:srgbClr val="E8E8E8"/>
          </a:solidFill>
          <a:ln w="6350">
            <a:solidFill>
              <a:srgbClr val="E8E8E8"/>
            </a:solidFill>
            <a:prstDash val="solid"/>
          </a:ln>
        </p:spPr>
      </p:sp>
      <p:sp>
        <p:nvSpPr>
          <p:cNvPr id="18" name="text"/>
          <p:cNvSpPr txBox="1"/>
          <p:nvPr/>
        </p:nvSpPr>
        <p:spPr>
          <a:xfrm>
            <a:off x="777240" y="411480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9" name="text"/>
          <p:cNvSpPr txBox="1"/>
          <p:nvPr/>
        </p:nvSpPr>
        <p:spPr>
          <a:xfrm>
            <a:off x="1188720" y="414223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DEVELOPING CAPABILITIES</a:t>
            </a:r>
            <a:endParaRPr lang="en-US" sz="1400" dirty="0"/>
          </a:p>
        </p:txBody>
      </p:sp>
      <p:sp>
        <p:nvSpPr>
          <p:cNvPr id="20" name="text"/>
          <p:cNvSpPr txBox="1"/>
          <p:nvPr/>
        </p:nvSpPr>
        <p:spPr>
          <a:xfrm>
            <a:off x="3611880" y="410565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dan memperbarui capability sesuai strategi.</a:t>
            </a:r>
            <a:endParaRPr lang="en-US" sz="1700" dirty="0"/>
          </a:p>
        </p:txBody>
      </p:sp>
      <p:sp>
        <p:nvSpPr>
          <p:cNvPr id="21" name="dot"/>
          <p:cNvSpPr/>
          <p:nvPr/>
        </p:nvSpPr>
        <p:spPr>
          <a:xfrm>
            <a:off x="6702552" y="4320540"/>
            <a:ext cx="274320" cy="274320"/>
          </a:xfrm>
          <a:prstGeom prst="ellipse">
            <a:avLst/>
          </a:prstGeom>
          <a:solidFill>
            <a:srgbClr val="141417"/>
          </a:solidFill>
          <a:ln w="6350">
            <a:solidFill>
              <a:srgbClr val="141417"/>
            </a:solidFill>
            <a:prstDash val="solid"/>
          </a:ln>
        </p:spPr>
      </p:sp>
      <p:pic>
        <p:nvPicPr>
          <p:cNvPr id="22" name="dot-icon" descr="preencoded.png">    </p:cNvPr>
          <p:cNvPicPr>
            <a:picLocks noChangeAspect="1"/>
          </p:cNvPicPr>
          <p:nvPr/>
        </p:nvPicPr>
        <p:blipFill>
          <a:blip r:embed="rId2"/>
          <a:stretch>
            <a:fillRect/>
          </a:stretch>
        </p:blipFill>
        <p:spPr>
          <a:xfrm>
            <a:off x="6762902" y="4380890"/>
            <a:ext cx="153619" cy="153619"/>
          </a:xfrm>
          <a:prstGeom prst="rect">
            <a:avLst/>
          </a:prstGeom>
        </p:spPr>
      </p:pic>
      <p:sp>
        <p:nvSpPr>
          <p:cNvPr id="23" name="card"/>
          <p:cNvSpPr/>
          <p:nvPr/>
        </p:nvSpPr>
        <p:spPr>
          <a:xfrm>
            <a:off x="502920" y="5212080"/>
            <a:ext cx="6766560" cy="1143000"/>
          </a:xfrm>
          <a:prstGeom prst="roundRect">
            <a:avLst>
              <a:gd name="adj" fmla="val 16000"/>
            </a:avLst>
          </a:prstGeom>
          <a:solidFill>
            <a:srgbClr val="141417"/>
          </a:solidFill>
          <a:ln w="6350">
            <a:solidFill>
              <a:srgbClr val="141417"/>
            </a:solidFill>
            <a:prstDash val="solid"/>
          </a:ln>
        </p:spPr>
      </p:sp>
      <p:sp>
        <p:nvSpPr>
          <p:cNvPr id="24" name="text"/>
          <p:cNvSpPr txBox="1"/>
          <p:nvPr/>
        </p:nvSpPr>
        <p:spPr>
          <a:xfrm>
            <a:off x="777240" y="544068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5" name="text"/>
          <p:cNvSpPr txBox="1"/>
          <p:nvPr/>
        </p:nvSpPr>
        <p:spPr>
          <a:xfrm>
            <a:off x="1188720" y="546811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STRUCTURING THE ORGANIZATION</a:t>
            </a:r>
            <a:endParaRPr lang="en-US" sz="1400" dirty="0"/>
          </a:p>
        </p:txBody>
      </p:sp>
      <p:sp>
        <p:nvSpPr>
          <p:cNvPr id="26" name="text"/>
          <p:cNvSpPr txBox="1"/>
          <p:nvPr/>
        </p:nvSpPr>
        <p:spPr>
          <a:xfrm>
            <a:off x="3611880" y="543153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7" name="dot"/>
          <p:cNvSpPr/>
          <p:nvPr/>
        </p:nvSpPr>
        <p:spPr>
          <a:xfrm>
            <a:off x="6702552" y="5646420"/>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3"/>
          <a:stretch>
            <a:fillRect/>
          </a:stretch>
        </p:blipFill>
        <p:spPr>
          <a:xfrm>
            <a:off x="6762902" y="5706770"/>
            <a:ext cx="153619" cy="153619"/>
          </a:xfrm>
          <a:prstGeom prst="rect">
            <a:avLst/>
          </a:prstGeom>
        </p:spPr>
      </p:pic>
      <p:sp>
        <p:nvSpPr>
          <p:cNvPr id="29" name="card"/>
          <p:cNvSpPr/>
          <p:nvPr/>
        </p:nvSpPr>
        <p:spPr>
          <a:xfrm>
            <a:off x="7726680" y="2560320"/>
            <a:ext cx="3962095" cy="2130552"/>
          </a:xfrm>
          <a:prstGeom prst="roundRect">
            <a:avLst>
              <a:gd name="adj" fmla="val 8584"/>
            </a:avLst>
          </a:prstGeom>
          <a:solidFill>
            <a:srgbClr val="D4FC00"/>
          </a:solidFill>
          <a:ln w="6350">
            <a:solidFill>
              <a:srgbClr val="D4FC00"/>
            </a:solidFill>
            <a:prstDash val="solid"/>
          </a:ln>
        </p:spPr>
      </p:sp>
      <p:sp>
        <p:nvSpPr>
          <p:cNvPr id="30"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HASIL AKSI 1 DAN 2</a:t>
            </a:r>
            <a:endParaRPr lang="en-US" sz="1400" dirty="0"/>
          </a:p>
        </p:txBody>
      </p:sp>
      <p:sp>
        <p:nvSpPr>
          <p:cNvPr id="31" name="text"/>
          <p:cNvSpPr txBox="1"/>
          <p:nvPr/>
        </p:nvSpPr>
        <p:spPr>
          <a:xfrm>
            <a:off x="8001000" y="3200400"/>
            <a:ext cx="3413455" cy="1353312"/>
          </a:xfrm>
          <a:prstGeom prst="rect">
            <a:avLst/>
          </a:prstGeom>
          <a:noFill/>
          <a:ln/>
        </p:spPr>
        <p:txBody>
          <a:bodyPr wrap="square" lIns="0" tIns="0" rIns="0" bIns="0" rtlCol="0" anchor="t"/>
          <a:lstStyle/>
          <a:p>
            <a:pPr algn="l" indent="0" marL="0">
              <a:lnSpc>
                <a:spcPct val="110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2" name="card"/>
          <p:cNvSpPr/>
          <p:nvPr/>
        </p:nvSpPr>
        <p:spPr>
          <a:xfrm>
            <a:off x="7726680" y="5148072"/>
            <a:ext cx="3962095" cy="1207008"/>
          </a:xfrm>
          <a:prstGeom prst="roundRect">
            <a:avLst>
              <a:gd name="adj" fmla="val 15152"/>
            </a:avLst>
          </a:prstGeom>
          <a:solidFill>
            <a:srgbClr val="141417"/>
          </a:solidFill>
          <a:ln w="6350">
            <a:solidFill>
              <a:srgbClr val="141417"/>
            </a:solidFill>
            <a:prstDash val="solid"/>
          </a:ln>
        </p:spPr>
      </p:sp>
      <p:sp>
        <p:nvSpPr>
          <p:cNvPr id="33" name="text"/>
          <p:cNvSpPr txBox="1"/>
          <p:nvPr/>
        </p:nvSpPr>
        <p:spPr>
          <a:xfrm>
            <a:off x="8001000" y="5330952"/>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HASIL AKSI 3</a:t>
            </a:r>
            <a:endParaRPr lang="en-US" sz="1400" dirty="0"/>
          </a:p>
        </p:txBody>
      </p:sp>
      <p:sp>
        <p:nvSpPr>
          <p:cNvPr id="34" name="text"/>
          <p:cNvSpPr txBox="1"/>
          <p:nvPr/>
        </p:nvSpPr>
        <p:spPr>
          <a:xfrm>
            <a:off x="8001000" y="5605272"/>
            <a:ext cx="3413455" cy="594360"/>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600" dirty="0"/>
          </a:p>
        </p:txBody>
      </p:sp>
      <p:sp>
        <p:nvSpPr>
          <p:cNvPr id="35" name="saling menopang"/>
          <p:cNvSpPr/>
          <p:nvPr/>
        </p:nvSpPr>
        <p:spPr>
          <a:xfrm>
            <a:off x="9570568" y="4791456"/>
            <a:ext cx="274320" cy="256032"/>
          </a:xfrm>
          <a:prstGeom prst="upDownArrow">
            <a:avLst/>
          </a:prstGeom>
          <a:solidFill>
            <a:srgbClr val="141417"/>
          </a:solidFill>
          <a:ln w="6350">
            <a:solidFill>
              <a:srgbClr val="141417"/>
            </a:solidFill>
            <a:prstDash val="solid"/>
          </a:ln>
        </p:spPr>
      </p:sp>
      <p:sp>
        <p:nvSpPr>
          <p:cNvPr id="3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card"/>
          <p:cNvSpPr/>
          <p:nvPr/>
        </p:nvSpPr>
        <p:spPr>
          <a:xfrm>
            <a:off x="5376672" y="173736"/>
            <a:ext cx="1179576" cy="329184"/>
          </a:xfrm>
          <a:prstGeom prst="roundRect">
            <a:avLst>
              <a:gd name="adj" fmla="val 138889"/>
            </a:avLst>
          </a:prstGeom>
          <a:solidFill>
            <a:srgbClr val="D4FC00"/>
          </a:solidFill>
          <a:ln w="6350">
            <a:solidFill>
              <a:srgbClr val="D4FC00"/>
            </a:solidFill>
            <a:prstDash val="solid"/>
          </a:ln>
        </p:spPr>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100000"/>
              </a:lnSpc>
              <a:buNone/>
            </a:pPr>
            <a:r>
              <a:rPr lang="en-US" sz="3600" dirty="0">
                <a:solidFill>
                  <a:srgbClr val="141417"/>
                </a:solidFill>
                <a:latin typeface="Outfit SemiBold" pitchFamily="34" charset="0"/>
                <a:ea typeface="Outfit SemiBold" pitchFamily="34" charset="-122"/>
                <a:cs typeface="Outfit SemiBold" pitchFamily="34" charset="-120"/>
              </a:rPr>
              <a:t>MENYUSUN TIM MANAJEMEN YANG KUAT</a:t>
            </a:r>
            <a:endParaRPr lang="en-US" sz="3600" dirty="0"/>
          </a:p>
        </p:txBody>
      </p:sp>
      <p:sp>
        <p:nvSpPr>
          <p:cNvPr id="10"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3"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4"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5"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PROFIL YANG DICARI</a:t>
            </a:r>
            <a:endParaRPr lang="en-US" sz="1400" dirty="0"/>
          </a:p>
        </p:txBody>
      </p:sp>
      <p:sp>
        <p:nvSpPr>
          <p:cNvPr id="16" name="text"/>
          <p:cNvSpPr txBox="1"/>
          <p:nvPr/>
        </p:nvSpPr>
        <p:spPr>
          <a:xfrm>
            <a:off x="795528"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7"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8"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9"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CARA MEMPERKUAT TIM</a:t>
            </a:r>
            <a:endParaRPr lang="en-US" sz="1400" dirty="0"/>
          </a:p>
        </p:txBody>
      </p:sp>
      <p:sp>
        <p:nvSpPr>
          <p:cNvPr id="20" name="text"/>
          <p:cNvSpPr txBox="1"/>
          <p:nvPr/>
        </p:nvSpPr>
        <p:spPr>
          <a:xfrm>
            <a:off x="4603394"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21"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2"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3"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TUJUANNYA</a:t>
            </a:r>
            <a:endParaRPr lang="en-US" sz="1400" dirty="0"/>
          </a:p>
        </p:txBody>
      </p:sp>
      <p:sp>
        <p:nvSpPr>
          <p:cNvPr id="24" name="text"/>
          <p:cNvSpPr txBox="1"/>
          <p:nvPr/>
        </p:nvSpPr>
        <p:spPr>
          <a:xfrm>
            <a:off x="8411261"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card"/>
          <p:cNvSpPr/>
          <p:nvPr/>
        </p:nvSpPr>
        <p:spPr>
          <a:xfrm>
            <a:off x="5376672" y="173736"/>
            <a:ext cx="1179576" cy="329184"/>
          </a:xfrm>
          <a:prstGeom prst="roundRect">
            <a:avLst>
              <a:gd name="adj" fmla="val 138889"/>
            </a:avLst>
          </a:prstGeom>
          <a:solidFill>
            <a:srgbClr val="D4FC00"/>
          </a:solidFill>
          <a:ln w="6350">
            <a:solidFill>
              <a:srgbClr val="D4FC00"/>
            </a:solidFill>
            <a:prstDash val="solid"/>
          </a:ln>
        </p:spPr>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10"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SELEKSI DAN PENUGASAN</a:t>
            </a:r>
            <a:endParaRPr lang="en-US" sz="1400" dirty="0"/>
          </a:p>
        </p:txBody>
      </p:sp>
      <p:sp>
        <p:nvSpPr>
          <p:cNvPr id="11"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Saring ketat; Southwest menerima sekitar 3% pelamar.</a:t>
            </a:r>
            <a:endParaRPr lang="en-US" sz="1800" dirty="0"/>
          </a:p>
        </p:txBody>
      </p:sp>
      <p:sp>
        <p:nvSpPr>
          <p:cNvPr id="12"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4"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5"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PELATIHAN DAN ROTASI</a:t>
            </a:r>
            <a:endParaRPr lang="en-US" sz="1400" dirty="0"/>
          </a:p>
        </p:txBody>
      </p:sp>
      <p:sp>
        <p:nvSpPr>
          <p:cNvPr id="16"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Pelatihan naik ke puncak agenda bila strategi menuntut skill baru.</a:t>
            </a:r>
            <a:endParaRPr lang="en-US" sz="1800" dirty="0"/>
          </a:p>
        </p:txBody>
      </p:sp>
      <p:sp>
        <p:nvSpPr>
          <p:cNvPr id="17"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9"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20"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LINGKUNGAN DAN SUARA</a:t>
            </a:r>
            <a:endParaRPr lang="en-US" sz="1400" dirty="0"/>
          </a:p>
        </p:txBody>
      </p:sp>
      <p:sp>
        <p:nvSpPr>
          <p:cNvPr id="21"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2"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4"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5"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RETENSI DAN PEMBINAAN</a:t>
            </a:r>
            <a:endParaRPr lang="en-US" sz="1400" dirty="0"/>
          </a:p>
        </p:txBody>
      </p:sp>
      <p:sp>
        <p:nvSpPr>
          <p:cNvPr id="26"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Promosi, bonus, equity; bina yang rata-rata.</a:t>
            </a:r>
            <a:endParaRPr lang="en-US" sz="1800" dirty="0"/>
          </a:p>
        </p:txBody>
      </p:sp>
      <p:sp>
        <p:nvSpPr>
          <p:cNvPr id="27"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9"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30"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2800" dirty="0">
                <a:solidFill>
                  <a:srgbClr val="141417"/>
                </a:solidFill>
                <a:latin typeface="Outfit SemiBold" pitchFamily="34" charset="0"/>
                <a:ea typeface="Outfit SemiBold" pitchFamily="34" charset="-122"/>
                <a:cs typeface="Outfit SemiBold" pitchFamily="34" charset="-120"/>
              </a:rPr>
              <a:t>MEREKRUT, MELATIH, DAN MEMPERTAHANKAN KARYAWAN</a:t>
            </a:r>
            <a:endParaRPr lang="en-US" sz="2800" dirty="0"/>
          </a:p>
        </p:txBody>
      </p:sp>
      <p:sp>
        <p:nvSpPr>
          <p:cNvPr id="31"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Deloitte (IC 10.2): jalur jelas menuju partner, milestone school, sponsorship.</a:t>
            </a:r>
            <a:endParaRPr lang="en-US" sz="16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TIGA JALAN MEMBANGUN ORGANIZATIONAL CAPABILITIES</a:t>
            </a:r>
            <a:endParaRPr lang="en-US" sz="3800" dirty="0"/>
          </a:p>
        </p:txBody>
      </p:sp>
      <p:sp>
        <p:nvSpPr>
          <p:cNvPr id="10" name="pill"/>
          <p:cNvSpPr/>
          <p:nvPr/>
        </p:nvSpPr>
        <p:spPr>
          <a:xfrm>
            <a:off x="502920" y="3429000"/>
            <a:ext cx="4023360" cy="402336"/>
          </a:xfrm>
          <a:prstGeom prst="roundRect">
            <a:avLst>
              <a:gd name="adj" fmla="val 113636"/>
            </a:avLst>
          </a:prstGeom>
          <a:solidFill>
            <a:srgbClr val="F4F4F4"/>
          </a:solidFill>
          <a:ln w="9525">
            <a:solidFill>
              <a:srgbClr val="141417"/>
            </a:solidFill>
            <a:prstDash val="solid"/>
          </a:ln>
        </p:spPr>
      </p:sp>
      <p:sp>
        <p:nvSpPr>
          <p:cNvPr id="11" name="text"/>
          <p:cNvSpPr txBox="1"/>
          <p:nvPr/>
        </p:nvSpPr>
        <p:spPr>
          <a:xfrm>
            <a:off x="612648" y="34290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BAB 4: VRIN DAN DYNAMIC CAPABILITIES</a:t>
            </a:r>
            <a:endParaRPr lang="en-US" sz="1300" dirty="0"/>
          </a:p>
        </p:txBody>
      </p:sp>
      <p:sp>
        <p:nvSpPr>
          <p:cNvPr id="12"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3"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4"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Bertahap; kendali penuh.</a:t>
            </a:r>
            <a:endParaRPr lang="en-US" sz="1400" dirty="0"/>
          </a:p>
        </p:txBody>
      </p:sp>
      <p:sp>
        <p:nvSpPr>
          <p:cNvPr id="15"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6"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7"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Cepat; risiko integrasi.</a:t>
            </a:r>
            <a:endParaRPr lang="en-US" sz="1400" dirty="0"/>
          </a:p>
        </p:txBody>
      </p:sp>
      <p:sp>
        <p:nvSpPr>
          <p:cNvPr id="18"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9"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20"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Outsourcing, aliansi, belajar.</a:t>
            </a:r>
            <a:endParaRPr lang="en-US" sz="1400" dirty="0"/>
          </a:p>
        </p:txBody>
      </p:sp>
      <p:sp>
        <p:nvSpPr>
          <p:cNvPr id="21" name="text"/>
          <p:cNvSpPr txBox="1"/>
          <p:nvPr/>
        </p:nvSpPr>
        <p:spPr>
          <a:xfrm>
            <a:off x="502920" y="5806440"/>
            <a:ext cx="6858000" cy="640080"/>
          </a:xfrm>
          <a:prstGeom prst="rect">
            <a:avLst/>
          </a:prstGeom>
          <a:noFill/>
          <a:ln/>
        </p:spPr>
        <p:txBody>
          <a:bodyPr wrap="square" lIns="0" tIns="0" rIns="0" bIns="0" rtlCol="0" anchor="t"/>
          <a:lstStyle/>
          <a:p>
            <a:pPr algn="l" indent="0" marL="0">
              <a:lnSpc>
                <a:spcPct val="115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2"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CAPABILITY TUMBUH BERTAHAP</a:t>
            </a:r>
            <a:endParaRPr lang="en-US" sz="3800" dirty="0"/>
          </a:p>
        </p:txBody>
      </p:sp>
      <p:sp>
        <p:nvSpPr>
          <p:cNvPr id="10" name="text"/>
          <p:cNvSpPr txBox="1"/>
          <p:nvPr/>
        </p:nvSpPr>
        <p:spPr>
          <a:xfrm>
            <a:off x="6400800" y="868680"/>
            <a:ext cx="5257800" cy="21945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dan insentif mempercepatnya.</a:t>
            </a:r>
            <a:endParaRPr lang="en-US" sz="1800" dirty="0"/>
          </a:p>
        </p:txBody>
      </p:sp>
      <p:sp>
        <p:nvSpPr>
          <p:cNvPr id="11"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2"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22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3" name="text"/>
          <p:cNvSpPr txBox="1"/>
          <p:nvPr/>
        </p:nvSpPr>
        <p:spPr>
          <a:xfrm>
            <a:off x="822960" y="3794760"/>
            <a:ext cx="3566160" cy="1146658"/>
          </a:xfrm>
          <a:prstGeom prst="rect">
            <a:avLst/>
          </a:prstGeom>
          <a:noFill/>
          <a:ln/>
        </p:spPr>
        <p:txBody>
          <a:bodyPr wrap="square" lIns="0" tIns="0" rIns="0" bIns="0" rtlCol="0" anchor="ctr"/>
          <a:lstStyle/>
          <a:p>
            <a:pPr algn="l" indent="0" marL="0">
              <a:lnSpc>
                <a:spcPct val="122000"/>
              </a:lnSpc>
              <a:buNone/>
            </a:pPr>
            <a:r>
              <a:rPr lang="en-US" sz="440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4"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5" name="track"/>
          <p:cNvSpPr/>
          <p:nvPr/>
        </p:nvSpPr>
        <p:spPr>
          <a:xfrm>
            <a:off x="5806440" y="3154680"/>
            <a:ext cx="384048" cy="1920240"/>
          </a:xfrm>
          <a:prstGeom prst="roundRect">
            <a:avLst>
              <a:gd name="adj" fmla="val 119048"/>
            </a:avLst>
          </a:prstGeom>
          <a:solidFill>
            <a:srgbClr val="E8E8E8"/>
          </a:solidFill>
          <a:ln w="6350">
            <a:solidFill>
              <a:srgbClr val="E8E8E8"/>
            </a:solidFill>
            <a:prstDash val="solid"/>
          </a:ln>
        </p:spPr>
      </p:sp>
      <p:sp>
        <p:nvSpPr>
          <p:cNvPr id="16" name="bar"/>
          <p:cNvSpPr/>
          <p:nvPr/>
        </p:nvSpPr>
        <p:spPr>
          <a:xfrm>
            <a:off x="5806440" y="4402836"/>
            <a:ext cx="384048" cy="672084"/>
          </a:xfrm>
          <a:prstGeom prst="roundRect">
            <a:avLst>
              <a:gd name="adj" fmla="val 119048"/>
            </a:avLst>
          </a:prstGeom>
          <a:solidFill>
            <a:srgbClr val="D4FC00"/>
          </a:solidFill>
          <a:ln w="6350">
            <a:solidFill>
              <a:srgbClr val="D4FC00"/>
            </a:solidFill>
            <a:prstDash val="solid"/>
          </a:ln>
        </p:spPr>
      </p:sp>
      <p:sp>
        <p:nvSpPr>
          <p:cNvPr id="17" name="text"/>
          <p:cNvSpPr txBox="1"/>
          <p:nvPr/>
        </p:nvSpPr>
        <p:spPr>
          <a:xfrm>
            <a:off x="6355080" y="4402836"/>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8" name="text"/>
          <p:cNvSpPr txBox="1"/>
          <p:nvPr/>
        </p:nvSpPr>
        <p:spPr>
          <a:xfrm>
            <a:off x="6355080" y="4768596"/>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bereksperimen</a:t>
            </a:r>
            <a:endParaRPr lang="en-US" sz="1400" dirty="0"/>
          </a:p>
        </p:txBody>
      </p:sp>
      <p:sp>
        <p:nvSpPr>
          <p:cNvPr id="19" name="track"/>
          <p:cNvSpPr/>
          <p:nvPr/>
        </p:nvSpPr>
        <p:spPr>
          <a:xfrm>
            <a:off x="7726680" y="3154680"/>
            <a:ext cx="384048" cy="1920240"/>
          </a:xfrm>
          <a:prstGeom prst="roundRect">
            <a:avLst>
              <a:gd name="adj" fmla="val 119048"/>
            </a:avLst>
          </a:prstGeom>
          <a:solidFill>
            <a:srgbClr val="E8E8E8"/>
          </a:solidFill>
          <a:ln w="6350">
            <a:solidFill>
              <a:srgbClr val="E8E8E8"/>
            </a:solidFill>
            <a:prstDash val="solid"/>
          </a:ln>
        </p:spPr>
      </p:sp>
      <p:sp>
        <p:nvSpPr>
          <p:cNvPr id="20" name="bar"/>
          <p:cNvSpPr/>
          <p:nvPr/>
        </p:nvSpPr>
        <p:spPr>
          <a:xfrm>
            <a:off x="7726680" y="3826764"/>
            <a:ext cx="384048" cy="1248156"/>
          </a:xfrm>
          <a:prstGeom prst="roundRect">
            <a:avLst>
              <a:gd name="adj" fmla="val 119048"/>
            </a:avLst>
          </a:prstGeom>
          <a:solidFill>
            <a:srgbClr val="D4FC00"/>
          </a:solidFill>
          <a:ln w="6350">
            <a:solidFill>
              <a:srgbClr val="D4FC00"/>
            </a:solidFill>
            <a:prstDash val="solid"/>
          </a:ln>
        </p:spPr>
      </p:sp>
      <p:sp>
        <p:nvSpPr>
          <p:cNvPr id="21" name="text"/>
          <p:cNvSpPr txBox="1"/>
          <p:nvPr/>
        </p:nvSpPr>
        <p:spPr>
          <a:xfrm>
            <a:off x="8275320" y="3826764"/>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2" name="text"/>
          <p:cNvSpPr txBox="1"/>
          <p:nvPr/>
        </p:nvSpPr>
        <p:spPr>
          <a:xfrm>
            <a:off x="8275320" y="4192524"/>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konsisten</a:t>
            </a:r>
            <a:endParaRPr lang="en-US" sz="1400" dirty="0"/>
          </a:p>
        </p:txBody>
      </p:sp>
      <p:sp>
        <p:nvSpPr>
          <p:cNvPr id="23" name="track"/>
          <p:cNvSpPr/>
          <p:nvPr/>
        </p:nvSpPr>
        <p:spPr>
          <a:xfrm>
            <a:off x="9646920" y="3154680"/>
            <a:ext cx="384048" cy="1920240"/>
          </a:xfrm>
          <a:prstGeom prst="roundRect">
            <a:avLst>
              <a:gd name="adj" fmla="val 119048"/>
            </a:avLst>
          </a:prstGeom>
          <a:solidFill>
            <a:srgbClr val="E8E8E8"/>
          </a:solidFill>
          <a:ln w="6350">
            <a:solidFill>
              <a:srgbClr val="E8E8E8"/>
            </a:solidFill>
            <a:prstDash val="solid"/>
          </a:ln>
        </p:spPr>
      </p:sp>
      <p:sp>
        <p:nvSpPr>
          <p:cNvPr id="24" name="bar"/>
          <p:cNvSpPr/>
          <p:nvPr/>
        </p:nvSpPr>
        <p:spPr>
          <a:xfrm>
            <a:off x="9646920" y="3250692"/>
            <a:ext cx="384048" cy="1824228"/>
          </a:xfrm>
          <a:prstGeom prst="roundRect">
            <a:avLst>
              <a:gd name="adj" fmla="val 119048"/>
            </a:avLst>
          </a:prstGeom>
          <a:solidFill>
            <a:srgbClr val="D4FC00"/>
          </a:solidFill>
          <a:ln w="6350">
            <a:solidFill>
              <a:srgbClr val="D4FC00"/>
            </a:solidFill>
            <a:prstDash val="solid"/>
          </a:ln>
        </p:spPr>
      </p:sp>
      <p:sp>
        <p:nvSpPr>
          <p:cNvPr id="25" name="text"/>
          <p:cNvSpPr txBox="1"/>
          <p:nvPr/>
        </p:nvSpPr>
        <p:spPr>
          <a:xfrm>
            <a:off x="10195560" y="3250692"/>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6" name="text"/>
          <p:cNvSpPr txBox="1"/>
          <p:nvPr/>
        </p:nvSpPr>
        <p:spPr>
          <a:xfrm>
            <a:off x="10195560" y="3616452"/>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dynamic capability</a:t>
            </a:r>
            <a:endParaRPr lang="en-US" sz="1400" dirty="0"/>
          </a:p>
        </p:txBody>
      </p:sp>
      <p:sp>
        <p:nvSpPr>
          <p:cNvPr id="27" name="text"/>
          <p:cNvSpPr txBox="1"/>
          <p:nvPr/>
        </p:nvSpPr>
        <p:spPr>
          <a:xfrm>
            <a:off x="6035040" y="5577840"/>
            <a:ext cx="5559552" cy="548640"/>
          </a:xfrm>
          <a:prstGeom prst="rect">
            <a:avLst/>
          </a:prstGeom>
          <a:noFill/>
          <a:ln/>
        </p:spPr>
        <p:txBody>
          <a:bodyPr wrap="square" lIns="0" tIns="0" rIns="0" bIns="0" rtlCol="0" anchor="t"/>
          <a:lstStyle/>
          <a:p>
            <a:pPr algn="l" indent="0" marL="0">
              <a:lnSpc>
                <a:spcPct val="115000"/>
              </a:lnSpc>
              <a:buNone/>
            </a:pPr>
            <a:r>
              <a:rPr lang="en-US" sz="1500" dirty="0">
                <a:solidFill>
                  <a:srgbClr val="1A1A1C"/>
                </a:solidFill>
                <a:latin typeface="Outfit" pitchFamily="34" charset="0"/>
                <a:ea typeface="Outfit" pitchFamily="34" charset="-122"/>
                <a:cs typeface="Outfit" pitchFamily="34" charset="-120"/>
              </a:rPr>
              <a:t>Contoh: Williams-Sonoma (katalog ke e-commerce), Toyota (TPS).</a:t>
            </a:r>
            <a:endParaRPr lang="en-US" sz="1500" dirty="0"/>
          </a:p>
        </p:txBody>
      </p:sp>
      <p:sp>
        <p:nvSpPr>
          <p:cNvPr id="2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10"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11"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2"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3"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4"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5"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akuisisi teknologi Meta</a:t>
            </a:r>
            <a:endParaRPr lang="en-US" sz="1300" dirty="0"/>
          </a:p>
        </p:txBody>
      </p:sp>
      <p:sp>
        <p:nvSpPr>
          <p:cNvPr id="16"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AKUISISI DAN KEMITRAAN MEMBELI WAKTU, BUKAN INTEGRASI</a:t>
            </a:r>
            <a:endParaRPr lang="en-US" sz="3400" dirty="0"/>
          </a:p>
        </p:txBody>
      </p:sp>
      <p:sp>
        <p:nvSpPr>
          <p:cNvPr id="17"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Tiga jalur kemitraan: outsource, aliansi, belajar dari mitra.</a:t>
            </a:r>
            <a:endParaRPr lang="en-US" sz="18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10"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3"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4"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YANG UNGGUL ADALAH KEUNGGULAN ITU SENDIRI</a:t>
            </a:r>
            <a:endParaRPr lang="en-US" sz="3200" dirty="0"/>
          </a:p>
        </p:txBody>
      </p:sp>
      <p:sp>
        <p:nvSpPr>
          <p:cNvPr id="15"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6" name="text"/>
          <p:cNvSpPr txBox="1"/>
          <p:nvPr/>
        </p:nvSpPr>
        <p:spPr>
          <a:xfrm>
            <a:off x="731520" y="4023360"/>
            <a:ext cx="18745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4 minggu</a:t>
            </a:r>
            <a:endParaRPr lang="en-US" sz="3000" dirty="0"/>
          </a:p>
        </p:txBody>
      </p:sp>
      <p:sp>
        <p:nvSpPr>
          <p:cNvPr id="17" name="text"/>
          <p:cNvSpPr txBox="1"/>
          <p:nvPr/>
        </p:nvSpPr>
        <p:spPr>
          <a:xfrm>
            <a:off x="2697480" y="4023360"/>
            <a:ext cx="14630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desain sampai rak toko; pesaing 6 bulan</a:t>
            </a:r>
            <a:endParaRPr lang="en-US" sz="1400" dirty="0"/>
          </a:p>
        </p:txBody>
      </p:sp>
      <p:sp>
        <p:nvSpPr>
          <p:cNvPr id="18"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9"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20"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model per tahun; industri 3.000</a:t>
            </a:r>
            <a:endParaRPr lang="en-US" sz="1400" dirty="0"/>
          </a:p>
        </p:txBody>
      </p:sp>
      <p:sp>
        <p:nvSpPr>
          <p:cNvPr id="21"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2"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3"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kunjungan per tahun; pesaing 2 kali</a:t>
            </a:r>
            <a:endParaRPr lang="en-US" sz="1400" dirty="0"/>
          </a:p>
        </p:txBody>
      </p:sp>
      <p:sp>
        <p:nvSpPr>
          <p:cNvPr id="24" name="card"/>
          <p:cNvSpPr/>
          <p:nvPr/>
        </p:nvSpPr>
        <p:spPr>
          <a:xfrm>
            <a:off x="10012680" y="4023360"/>
            <a:ext cx="1676095" cy="1508760"/>
          </a:xfrm>
          <a:prstGeom prst="roundRect">
            <a:avLst>
              <a:gd name="adj" fmla="val 12121"/>
            </a:avLst>
          </a:prstGeom>
          <a:solidFill>
            <a:srgbClr val="141417"/>
          </a:solidFill>
          <a:ln w="6350">
            <a:solidFill>
              <a:srgbClr val="141417"/>
            </a:solidFill>
            <a:prstDash val="solid"/>
          </a:ln>
        </p:spPr>
      </p:sp>
      <p:sp>
        <p:nvSpPr>
          <p:cNvPr id="25" name="text"/>
          <p:cNvSpPr txBox="1"/>
          <p:nvPr/>
        </p:nvSpPr>
        <p:spPr>
          <a:xfrm>
            <a:off x="10268712" y="4206240"/>
            <a:ext cx="1164031"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6" name="text"/>
          <p:cNvSpPr txBox="1"/>
          <p:nvPr/>
        </p:nvSpPr>
        <p:spPr>
          <a:xfrm>
            <a:off x="10268712" y="4809744"/>
            <a:ext cx="1164031" cy="64008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umur item di toko</a:t>
            </a:r>
            <a:endParaRPr lang="en-US" sz="1400" dirty="0"/>
          </a:p>
        </p:txBody>
      </p:sp>
      <p:sp>
        <p:nvSpPr>
          <p:cNvPr id="27"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Strategi Zara tidak unik; keunggulannya pada eksekusi yang sulit ditiru. Bila strategi mudah ditiru, jalannya adalah out-execute.</a:t>
            </a:r>
            <a:endParaRPr lang="en-US" sz="1800" dirty="0"/>
          </a:p>
        </p:txBody>
      </p:sp>
      <p:sp>
        <p:nvSpPr>
          <p:cNvPr id="2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991210"/>
          </a:xfrm>
          <a:prstGeom prst="roundRect">
            <a:avLst>
              <a:gd name="adj" fmla="val 18450"/>
            </a:avLst>
          </a:prstGeom>
          <a:solidFill>
            <a:srgbClr val="D4FC00"/>
          </a:solidFill>
          <a:ln w="6350">
            <a:solidFill>
              <a:srgbClr val="D4FC00"/>
            </a:solidFill>
            <a:prstDash val="solid"/>
          </a:ln>
        </p:spPr>
      </p:sp>
      <p:sp>
        <p:nvSpPr>
          <p:cNvPr id="10" name="text"/>
          <p:cNvSpPr txBox="1"/>
          <p:nvPr/>
        </p:nvSpPr>
        <p:spPr>
          <a:xfrm>
            <a:off x="822960" y="93268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01 OUTSOURCING</a:t>
            </a:r>
            <a:endParaRPr lang="en-US" sz="1400" dirty="0"/>
          </a:p>
        </p:txBody>
      </p:sp>
      <p:sp>
        <p:nvSpPr>
          <p:cNvPr id="11" name="text"/>
          <p:cNvSpPr txBox="1"/>
          <p:nvPr/>
        </p:nvSpPr>
        <p:spPr>
          <a:xfrm>
            <a:off x="2788920" y="89611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Dikerjakan sendiri atau diserahkan.</a:t>
            </a:r>
            <a:endParaRPr lang="en-US" sz="1800" dirty="0"/>
          </a:p>
        </p:txBody>
      </p:sp>
      <p:sp>
        <p:nvSpPr>
          <p:cNvPr id="12" name="dot"/>
          <p:cNvSpPr/>
          <p:nvPr/>
        </p:nvSpPr>
        <p:spPr>
          <a:xfrm>
            <a:off x="6611112" y="1016813"/>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077163"/>
            <a:ext cx="153619" cy="153619"/>
          </a:xfrm>
          <a:prstGeom prst="rect">
            <a:avLst/>
          </a:prstGeom>
        </p:spPr>
      </p:pic>
      <p:sp>
        <p:nvSpPr>
          <p:cNvPr id="14" name="card"/>
          <p:cNvSpPr/>
          <p:nvPr/>
        </p:nvSpPr>
        <p:spPr>
          <a:xfrm>
            <a:off x="502920" y="1850746"/>
            <a:ext cx="6675120" cy="991210"/>
          </a:xfrm>
          <a:prstGeom prst="roundRect">
            <a:avLst>
              <a:gd name="adj" fmla="val 18450"/>
            </a:avLst>
          </a:prstGeom>
          <a:solidFill>
            <a:srgbClr val="E8E8E8"/>
          </a:solidFill>
          <a:ln w="6350">
            <a:solidFill>
              <a:srgbClr val="E8E8E8"/>
            </a:solidFill>
            <a:prstDash val="solid"/>
          </a:ln>
        </p:spPr>
      </p:sp>
      <p:sp>
        <p:nvSpPr>
          <p:cNvPr id="15" name="text"/>
          <p:cNvSpPr txBox="1"/>
          <p:nvPr/>
        </p:nvSpPr>
        <p:spPr>
          <a:xfrm>
            <a:off x="822960" y="2125066"/>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02 TIPE STRUKTUR</a:t>
            </a:r>
            <a:endParaRPr lang="en-US" sz="1400" dirty="0"/>
          </a:p>
        </p:txBody>
      </p:sp>
      <p:sp>
        <p:nvSpPr>
          <p:cNvPr id="16" name="text"/>
          <p:cNvSpPr txBox="1"/>
          <p:nvPr/>
        </p:nvSpPr>
        <p:spPr>
          <a:xfrm>
            <a:off x="2788920" y="2088490"/>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Bentuk organisasi selaras strategi.</a:t>
            </a:r>
            <a:endParaRPr lang="en-US" sz="1800" dirty="0"/>
          </a:p>
        </p:txBody>
      </p:sp>
      <p:sp>
        <p:nvSpPr>
          <p:cNvPr id="17" name="dot"/>
          <p:cNvSpPr/>
          <p:nvPr/>
        </p:nvSpPr>
        <p:spPr>
          <a:xfrm>
            <a:off x="6611112" y="2209190"/>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269541"/>
            <a:ext cx="153619" cy="153619"/>
          </a:xfrm>
          <a:prstGeom prst="rect">
            <a:avLst/>
          </a:prstGeom>
        </p:spPr>
      </p:pic>
      <p:sp>
        <p:nvSpPr>
          <p:cNvPr id="19" name="card"/>
          <p:cNvSpPr/>
          <p:nvPr/>
        </p:nvSpPr>
        <p:spPr>
          <a:xfrm>
            <a:off x="502920" y="3043123"/>
            <a:ext cx="6675120" cy="991210"/>
          </a:xfrm>
          <a:prstGeom prst="roundRect">
            <a:avLst>
              <a:gd name="adj" fmla="val 18450"/>
            </a:avLst>
          </a:prstGeom>
          <a:solidFill>
            <a:srgbClr val="D4FC00"/>
          </a:solidFill>
          <a:ln w="6350">
            <a:solidFill>
              <a:srgbClr val="D4FC00"/>
            </a:solidFill>
            <a:prstDash val="solid"/>
          </a:ln>
        </p:spPr>
      </p:sp>
      <p:sp>
        <p:nvSpPr>
          <p:cNvPr id="20" name="text"/>
          <p:cNvSpPr txBox="1"/>
          <p:nvPr/>
        </p:nvSpPr>
        <p:spPr>
          <a:xfrm>
            <a:off x="822960" y="3317443"/>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03 DELEGASI</a:t>
            </a:r>
            <a:endParaRPr lang="en-US" sz="1400" dirty="0"/>
          </a:p>
        </p:txBody>
      </p:sp>
      <p:sp>
        <p:nvSpPr>
          <p:cNvPr id="21" name="text"/>
          <p:cNvSpPr txBox="1"/>
          <p:nvPr/>
        </p:nvSpPr>
        <p:spPr>
          <a:xfrm>
            <a:off x="2788920" y="3280867"/>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Dipusatkan atau didelegasikan.</a:t>
            </a:r>
            <a:endParaRPr lang="en-US" sz="1800" dirty="0"/>
          </a:p>
        </p:txBody>
      </p:sp>
      <p:sp>
        <p:nvSpPr>
          <p:cNvPr id="22"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4" name="card"/>
          <p:cNvSpPr/>
          <p:nvPr/>
        </p:nvSpPr>
        <p:spPr>
          <a:xfrm>
            <a:off x="502920" y="4235501"/>
            <a:ext cx="6675120" cy="991210"/>
          </a:xfrm>
          <a:prstGeom prst="roundRect">
            <a:avLst>
              <a:gd name="adj" fmla="val 18450"/>
            </a:avLst>
          </a:prstGeom>
          <a:solidFill>
            <a:srgbClr val="E8E8E8"/>
          </a:solidFill>
          <a:ln w="6350">
            <a:solidFill>
              <a:srgbClr val="E8E8E8"/>
            </a:solidFill>
            <a:prstDash val="solid"/>
          </a:ln>
        </p:spPr>
      </p:sp>
      <p:sp>
        <p:nvSpPr>
          <p:cNvPr id="25" name="text"/>
          <p:cNvSpPr txBox="1"/>
          <p:nvPr/>
        </p:nvSpPr>
        <p:spPr>
          <a:xfrm>
            <a:off x="822960" y="4509821"/>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04 KOORDINASI</a:t>
            </a:r>
            <a:endParaRPr lang="en-US" sz="1400" dirty="0"/>
          </a:p>
        </p:txBody>
      </p:sp>
      <p:sp>
        <p:nvSpPr>
          <p:cNvPr id="26" name="text"/>
          <p:cNvSpPr txBox="1"/>
          <p:nvPr/>
        </p:nvSpPr>
        <p:spPr>
          <a:xfrm>
            <a:off x="2788920" y="4473245"/>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7" name="dot"/>
          <p:cNvSpPr/>
          <p:nvPr/>
        </p:nvSpPr>
        <p:spPr>
          <a:xfrm>
            <a:off x="6611112" y="4593946"/>
            <a:ext cx="274320" cy="274320"/>
          </a:xfrm>
          <a:prstGeom prst="ellipse">
            <a:avLst/>
          </a:prstGeom>
          <a:solidFill>
            <a:srgbClr val="141417"/>
          </a:solidFill>
          <a:ln w="6350">
            <a:solidFill>
              <a:srgbClr val="141417"/>
            </a:solidFill>
            <a:prstDash val="solid"/>
          </a:ln>
        </p:spPr>
      </p:sp>
      <p:pic>
        <p:nvPicPr>
          <p:cNvPr id="28" name="dot-icon" descr="preencoded.png">    </p:cNvPr>
          <p:cNvPicPr>
            <a:picLocks noChangeAspect="1"/>
          </p:cNvPicPr>
          <p:nvPr/>
        </p:nvPicPr>
        <p:blipFill>
          <a:blip r:embed="rId4"/>
          <a:stretch>
            <a:fillRect/>
          </a:stretch>
        </p:blipFill>
        <p:spPr>
          <a:xfrm>
            <a:off x="6671462" y="4654296"/>
            <a:ext cx="153619" cy="153619"/>
          </a:xfrm>
          <a:prstGeom prst="rect">
            <a:avLst/>
          </a:prstGeom>
        </p:spPr>
      </p:pic>
      <p:sp>
        <p:nvSpPr>
          <p:cNvPr id="29" name="card"/>
          <p:cNvSpPr/>
          <p:nvPr/>
        </p:nvSpPr>
        <p:spPr>
          <a:xfrm>
            <a:off x="502920" y="5427878"/>
            <a:ext cx="6675120" cy="991210"/>
          </a:xfrm>
          <a:prstGeom prst="roundRect">
            <a:avLst>
              <a:gd name="adj" fmla="val 18450"/>
            </a:avLst>
          </a:prstGeom>
          <a:solidFill>
            <a:srgbClr val="141417"/>
          </a:solidFill>
          <a:ln w="6350">
            <a:solidFill>
              <a:srgbClr val="141417"/>
            </a:solidFill>
            <a:prstDash val="solid"/>
          </a:ln>
        </p:spPr>
      </p:sp>
      <p:sp>
        <p:nvSpPr>
          <p:cNvPr id="30" name="text"/>
          <p:cNvSpPr txBox="1"/>
          <p:nvPr/>
        </p:nvSpPr>
        <p:spPr>
          <a:xfrm>
            <a:off x="822960" y="570219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05 MITRA EKSTERNAL</a:t>
            </a:r>
            <a:endParaRPr lang="en-US" sz="1400" dirty="0"/>
          </a:p>
        </p:txBody>
      </p:sp>
      <p:sp>
        <p:nvSpPr>
          <p:cNvPr id="31" name="text"/>
          <p:cNvSpPr txBox="1"/>
          <p:nvPr/>
        </p:nvSpPr>
        <p:spPr>
          <a:xfrm>
            <a:off x="2788920" y="566562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Pemasok, aliansi, jaringan.</a:t>
            </a:r>
            <a:endParaRPr lang="en-US" sz="1800" dirty="0"/>
          </a:p>
        </p:txBody>
      </p:sp>
      <p:sp>
        <p:nvSpPr>
          <p:cNvPr id="32" name="dot"/>
          <p:cNvSpPr/>
          <p:nvPr/>
        </p:nvSpPr>
        <p:spPr>
          <a:xfrm>
            <a:off x="6611112" y="5786323"/>
            <a:ext cx="274320" cy="274320"/>
          </a:xfrm>
          <a:prstGeom prst="ellipse">
            <a:avLst/>
          </a:prstGeom>
          <a:solidFill>
            <a:srgbClr val="D4FC00"/>
          </a:solidFill>
          <a:ln w="6350">
            <a:solidFill>
              <a:srgbClr val="D4FC00"/>
            </a:solidFill>
            <a:prstDash val="solid"/>
          </a:ln>
        </p:spPr>
      </p:sp>
      <p:pic>
        <p:nvPicPr>
          <p:cNvPr id="33" name="dot-icon" descr="preencoded.png">    </p:cNvPr>
          <p:cNvPicPr>
            <a:picLocks noChangeAspect="1"/>
          </p:cNvPicPr>
          <p:nvPr/>
        </p:nvPicPr>
        <p:blipFill>
          <a:blip r:embed="rId5"/>
          <a:stretch>
            <a:fillRect/>
          </a:stretch>
        </p:blipFill>
        <p:spPr>
          <a:xfrm>
            <a:off x="6671462" y="5846674"/>
            <a:ext cx="153619" cy="153619"/>
          </a:xfrm>
          <a:prstGeom prst="rect">
            <a:avLst/>
          </a:prstGeom>
        </p:spPr>
      </p:pic>
      <p:pic>
        <p:nvPicPr>
          <p:cNvPr id="34"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5"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STRUKTUR MENGIKUTI STRATEGI</a:t>
            </a:r>
            <a:endParaRPr lang="en-US" sz="3400" dirty="0"/>
          </a:p>
        </p:txBody>
      </p:sp>
      <p:sp>
        <p:nvSpPr>
          <p:cNvPr id="36"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10"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11"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12"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13"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14" name="card"/>
          <p:cNvSpPr/>
          <p:nvPr/>
        </p:nvSpPr>
        <p:spPr>
          <a:xfrm>
            <a:off x="7891272" y="173736"/>
            <a:ext cx="1271016" cy="329184"/>
          </a:xfrm>
          <a:prstGeom prst="roundRect">
            <a:avLst>
              <a:gd name="adj" fmla="val 138889"/>
            </a:avLst>
          </a:prstGeom>
          <a:solidFill>
            <a:srgbClr val="141417"/>
          </a:solidFill>
          <a:ln w="6350">
            <a:solidFill>
              <a:srgbClr val="141417"/>
            </a:solidFill>
            <a:prstDash val="solid"/>
          </a:ln>
        </p:spPr>
      </p:sp>
      <p:sp>
        <p:nvSpPr>
          <p:cNvPr id="15"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D4FC00"/>
                </a:solidFill>
                <a:latin typeface="Outfit SemiBold" pitchFamily="34" charset="0"/>
                <a:ea typeface="Outfit SemiBold" pitchFamily="34" charset="-122"/>
                <a:cs typeface="Outfit SemiBold" pitchFamily="34" charset="-120"/>
              </a:rPr>
              <a:t>Structure</a:t>
            </a:r>
            <a:endParaRPr lang="en-US" sz="1050" dirty="0"/>
          </a:p>
        </p:txBody>
      </p:sp>
      <p:sp>
        <p:nvSpPr>
          <p:cNvPr id="16"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7"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DIKERJAKAN SENDIRI ATAU DI-OUTSOURCE</a:t>
            </a:r>
            <a:endParaRPr lang="en-US" sz="3800" dirty="0"/>
          </a:p>
        </p:txBody>
      </p:sp>
      <p:sp>
        <p:nvSpPr>
          <p:cNvPr id="18"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9"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20"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21" name="text"/>
          <p:cNvSpPr txBox="1"/>
          <p:nvPr/>
        </p:nvSpPr>
        <p:spPr>
          <a:xfrm>
            <a:off x="502920" y="3611880"/>
            <a:ext cx="5212080" cy="12801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22" name="Bekerja di laptop" descr="preencoded.png">    </p:cNvPr>
          <p:cNvPicPr>
            <a:picLocks noChangeAspect="1"/>
          </p:cNvPicPr>
          <p:nvPr/>
        </p:nvPicPr>
        <p:blipFill>
          <a:blip r:embed="rId2"/>
          <a:stretch>
            <a:fillRect/>
          </a:stretch>
        </p:blipFill>
        <p:spPr>
          <a:xfrm>
            <a:off x="502920" y="5029200"/>
            <a:ext cx="2377440" cy="1371600"/>
          </a:xfrm>
          <a:prstGeom prst="rect">
            <a:avLst/>
          </a:prstGeom>
        </p:spPr>
      </p:pic>
      <p:sp>
        <p:nvSpPr>
          <p:cNvPr id="23" name="badge"/>
          <p:cNvSpPr/>
          <p:nvPr/>
        </p:nvSpPr>
        <p:spPr>
          <a:xfrm>
            <a:off x="2514600" y="5166360"/>
            <a:ext cx="256032" cy="256032"/>
          </a:xfrm>
          <a:prstGeom prst="ellipse">
            <a:avLst/>
          </a:prstGeom>
          <a:solidFill>
            <a:srgbClr val="D4FC00"/>
          </a:solidFill>
          <a:ln w="6350">
            <a:solidFill>
              <a:srgbClr val="D4FC00"/>
            </a:solidFill>
            <a:prstDash val="solid"/>
          </a:ln>
        </p:spPr>
      </p:sp>
      <p:pic>
        <p:nvPicPr>
          <p:cNvPr id="24"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5"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6"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7" name="pill"/>
          <p:cNvSpPr/>
          <p:nvPr/>
        </p:nvSpPr>
        <p:spPr>
          <a:xfrm>
            <a:off x="9006840" y="4434840"/>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4434840"/>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FOKUS LEBIH TAJAM</a:t>
            </a:r>
            <a:endParaRPr lang="en-US" sz="1200" dirty="0"/>
          </a:p>
        </p:txBody>
      </p:sp>
      <p:sp>
        <p:nvSpPr>
          <p:cNvPr id="29" name="pill"/>
          <p:cNvSpPr/>
          <p:nvPr/>
        </p:nvSpPr>
        <p:spPr>
          <a:xfrm>
            <a:off x="9006840" y="5038344"/>
            <a:ext cx="2788920" cy="420624"/>
          </a:xfrm>
          <a:prstGeom prst="roundRect">
            <a:avLst>
              <a:gd name="adj" fmla="val 108696"/>
            </a:avLst>
          </a:prstGeom>
          <a:solidFill>
            <a:srgbClr val="D4FC00"/>
          </a:solidFill>
          <a:ln w="9525">
            <a:solidFill>
              <a:srgbClr val="141417"/>
            </a:solidFill>
            <a:prstDash val="solid"/>
          </a:ln>
        </p:spPr>
      </p:sp>
      <p:sp>
        <p:nvSpPr>
          <p:cNvPr id="30" name="text"/>
          <p:cNvSpPr txBox="1"/>
          <p:nvPr/>
        </p:nvSpPr>
        <p:spPr>
          <a:xfrm>
            <a:off x="9116568" y="5038344"/>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ORGANISASI LEBIH RAMPING</a:t>
            </a:r>
            <a:endParaRPr lang="en-US" sz="1200" dirty="0"/>
          </a:p>
        </p:txBody>
      </p:sp>
      <p:sp>
        <p:nvSpPr>
          <p:cNvPr id="31" name="pill"/>
          <p:cNvSpPr/>
          <p:nvPr/>
        </p:nvSpPr>
        <p:spPr>
          <a:xfrm>
            <a:off x="9006840" y="5641848"/>
            <a:ext cx="2788920" cy="420624"/>
          </a:xfrm>
          <a:prstGeom prst="roundRect">
            <a:avLst>
              <a:gd name="adj" fmla="val 108696"/>
            </a:avLst>
          </a:prstGeom>
          <a:solidFill>
            <a:srgbClr val="D4FC00"/>
          </a:solidFill>
          <a:ln w="9525">
            <a:solidFill>
              <a:srgbClr val="141417"/>
            </a:solidFill>
            <a:prstDash val="solid"/>
          </a:ln>
        </p:spPr>
      </p:sp>
      <p:sp>
        <p:nvSpPr>
          <p:cNvPr id="32" name="text"/>
          <p:cNvSpPr txBox="1"/>
          <p:nvPr/>
        </p:nvSpPr>
        <p:spPr>
          <a:xfrm>
            <a:off x="9116568" y="5641848"/>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EMPAT TIPE STRUKTUR</a:t>
            </a:r>
            <a:endParaRPr lang="en-US" sz="3800" dirty="0"/>
          </a:p>
        </p:txBody>
      </p:sp>
      <p:sp>
        <p:nvSpPr>
          <p:cNvPr id="10"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3"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4"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 · line-and-staff</a:t>
            </a:r>
            <a:endParaRPr lang="en-US" sz="1600" dirty="0"/>
          </a:p>
        </p:txBody>
      </p:sp>
      <p:sp>
        <p:nvSpPr>
          <p:cNvPr id="15"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6"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SIMPLE</a:t>
            </a:r>
            <a:endParaRPr lang="en-US" sz="1400" dirty="0"/>
          </a:p>
        </p:txBody>
      </p:sp>
      <p:sp>
        <p:nvSpPr>
          <p:cNvPr id="17"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8"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 · U-form</a:t>
            </a:r>
            <a:endParaRPr lang="en-US" sz="1600" dirty="0"/>
          </a:p>
        </p:txBody>
      </p:sp>
      <p:sp>
        <p:nvSpPr>
          <p:cNvPr id="19"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Departemen per fungsi untuk satu bisnis. Bersekat.</a:t>
            </a:r>
            <a:endParaRPr lang="en-US" sz="1800" dirty="0"/>
          </a:p>
        </p:txBody>
      </p:sp>
      <p:sp>
        <p:nvSpPr>
          <p:cNvPr id="20"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FUNCTIONAL</a:t>
            </a:r>
            <a:endParaRPr lang="en-US" sz="1400" dirty="0"/>
          </a:p>
        </p:txBody>
      </p:sp>
      <p:sp>
        <p:nvSpPr>
          <p:cNvPr id="21"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2"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 · M-form</a:t>
            </a:r>
            <a:endParaRPr lang="en-US" sz="1600" dirty="0"/>
          </a:p>
        </p:txBody>
      </p:sp>
      <p:sp>
        <p:nvSpPr>
          <p:cNvPr id="23"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Divisi sebagai profit center. Sinergi lintas bisnis sulit.</a:t>
            </a:r>
            <a:endParaRPr lang="en-US" sz="1800" dirty="0"/>
          </a:p>
        </p:txBody>
      </p:sp>
      <p:sp>
        <p:nvSpPr>
          <p:cNvPr id="24"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MULTIDIVISIONAL</a:t>
            </a:r>
            <a:endParaRPr lang="en-US" sz="1400" dirty="0"/>
          </a:p>
        </p:txBody>
      </p:sp>
      <p:sp>
        <p:nvSpPr>
          <p:cNvPr id="25"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6"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 · composite</a:t>
            </a:r>
            <a:endParaRPr lang="en-US" sz="1600" dirty="0"/>
          </a:p>
        </p:txBody>
      </p:sp>
      <p:sp>
        <p:nvSpPr>
          <p:cNvPr id="27"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Dua dimensi atau lebih, beberapa atasan.</a:t>
            </a:r>
            <a:endParaRPr lang="en-US" sz="1800" dirty="0"/>
          </a:p>
        </p:txBody>
      </p:sp>
      <p:sp>
        <p:nvSpPr>
          <p:cNvPr id="28"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MATRIX</a:t>
            </a:r>
            <a:endParaRPr lang="en-US" sz="1400" dirty="0"/>
          </a:p>
        </p:txBody>
      </p:sp>
      <p:sp>
        <p:nvSpPr>
          <p:cNvPr id="29" name="text"/>
          <p:cNvSpPr txBox="1"/>
          <p:nvPr/>
        </p:nvSpPr>
        <p:spPr>
          <a:xfrm>
            <a:off x="502920" y="5696712"/>
            <a:ext cx="569945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SATU PRINSIP: AKTIVITAS KRITIS MENJADI BUILDING BLOCKS</a:t>
            </a:r>
            <a:endParaRPr lang="en-US" sz="1500" dirty="0"/>
          </a:p>
        </p:txBody>
      </p:sp>
      <p:sp>
        <p:nvSpPr>
          <p:cNvPr id="30" name="pill"/>
          <p:cNvSpPr/>
          <p:nvPr/>
        </p:nvSpPr>
        <p:spPr>
          <a:xfrm>
            <a:off x="6568135" y="5715000"/>
            <a:ext cx="5120640" cy="420624"/>
          </a:xfrm>
          <a:prstGeom prst="roundRect">
            <a:avLst>
              <a:gd name="adj" fmla="val 108696"/>
            </a:avLst>
          </a:prstGeom>
          <a:solidFill>
            <a:srgbClr val="F4F4F4"/>
          </a:solidFill>
          <a:ln w="9525">
            <a:solidFill>
              <a:srgbClr val="141417"/>
            </a:solidFill>
            <a:prstDash val="solid"/>
          </a:ln>
        </p:spPr>
      </p:sp>
      <p:sp>
        <p:nvSpPr>
          <p:cNvPr id="31" name="text"/>
          <p:cNvSpPr txBox="1"/>
          <p:nvPr/>
        </p:nvSpPr>
        <p:spPr>
          <a:xfrm>
            <a:off x="6677863" y="5715000"/>
            <a:ext cx="490118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SIMPLE → FUNCTIONAL → MULTIDIVISIONAL → MATRIX</a:t>
            </a:r>
            <a:endParaRPr lang="en-US" sz="12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7315200" cy="11887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MEMUSATKAN ATAU MENDELEGASIKAN KEPUTUSAN</a:t>
            </a:r>
            <a:endParaRPr lang="en-US" sz="3400" dirty="0"/>
          </a:p>
        </p:txBody>
      </p:sp>
      <p:sp>
        <p:nvSpPr>
          <p:cNvPr id="10" name="card"/>
          <p:cNvSpPr/>
          <p:nvPr/>
        </p:nvSpPr>
        <p:spPr>
          <a:xfrm>
            <a:off x="502920" y="3063240"/>
            <a:ext cx="3429000" cy="3246120"/>
          </a:xfrm>
          <a:prstGeom prst="roundRect">
            <a:avLst>
              <a:gd name="adj" fmla="val 5634"/>
            </a:avLst>
          </a:prstGeom>
          <a:solidFill>
            <a:srgbClr val="141417"/>
          </a:solidFill>
          <a:ln w="6350">
            <a:solidFill>
              <a:srgbClr val="141417"/>
            </a:solidFill>
            <a:prstDash val="solid"/>
          </a:ln>
        </p:spPr>
      </p:sp>
      <p:sp>
        <p:nvSpPr>
          <p:cNvPr id="11" name="text"/>
          <p:cNvSpPr txBox="1"/>
          <p:nvPr/>
        </p:nvSpPr>
        <p:spPr>
          <a:xfrm>
            <a:off x="795528"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2" name="text"/>
          <p:cNvSpPr txBox="1"/>
          <p:nvPr/>
        </p:nvSpPr>
        <p:spPr>
          <a:xfrm>
            <a:off x="795528"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Asumsi: puncak paling tahu</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Akuntabel, tegas saat krisis</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mati</a:t>
            </a:r>
            <a:endParaRPr lang="en-US" sz="1700" dirty="0"/>
          </a:p>
        </p:txBody>
      </p:sp>
      <p:sp>
        <p:nvSpPr>
          <p:cNvPr id="13" name="text"/>
          <p:cNvSpPr txBox="1"/>
          <p:nvPr/>
        </p:nvSpPr>
        <p:spPr>
          <a:xfrm>
            <a:off x="777240"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a:t>
            </a:r>
            <a:endParaRPr lang="en-US" sz="1400" dirty="0"/>
          </a:p>
        </p:txBody>
      </p:sp>
      <p:sp>
        <p:nvSpPr>
          <p:cNvPr id="14" name="card"/>
          <p:cNvSpPr/>
          <p:nvPr/>
        </p:nvSpPr>
        <p:spPr>
          <a:xfrm>
            <a:off x="4087368" y="3063240"/>
            <a:ext cx="3429000" cy="3246120"/>
          </a:xfrm>
          <a:prstGeom prst="roundRect">
            <a:avLst>
              <a:gd name="adj" fmla="val 5634"/>
            </a:avLst>
          </a:prstGeom>
          <a:solidFill>
            <a:srgbClr val="D4FC00"/>
          </a:solidFill>
          <a:ln w="6350">
            <a:solidFill>
              <a:srgbClr val="D4FC00"/>
            </a:solidFill>
            <a:prstDash val="solid"/>
          </a:ln>
        </p:spPr>
      </p:sp>
      <p:sp>
        <p:nvSpPr>
          <p:cNvPr id="15" name="text"/>
          <p:cNvSpPr txBox="1"/>
          <p:nvPr/>
        </p:nvSpPr>
        <p:spPr>
          <a:xfrm>
            <a:off x="4379976"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6" name="text"/>
          <p:cNvSpPr txBox="1"/>
          <p:nvPr/>
        </p:nvSpPr>
        <p:spPr>
          <a:xfrm>
            <a:off x="4379976"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Asumsi: lini depan paling tahu</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Inisiatif dan respons cepat</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Risiko koordinasi lemah</a:t>
            </a:r>
            <a:endParaRPr lang="en-US" sz="1700" dirty="0"/>
          </a:p>
        </p:txBody>
      </p:sp>
      <p:sp>
        <p:nvSpPr>
          <p:cNvPr id="17" name="text"/>
          <p:cNvSpPr txBox="1"/>
          <p:nvPr/>
        </p:nvSpPr>
        <p:spPr>
          <a:xfrm>
            <a:off x="4361688"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DECENTRALIZED</a:t>
            </a:r>
            <a:endParaRPr lang="en-US" sz="1400" dirty="0"/>
          </a:p>
        </p:txBody>
      </p:sp>
      <p:pic>
        <p:nvPicPr>
          <p:cNvPr id="18"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9" name="text"/>
          <p:cNvSpPr txBox="1"/>
          <p:nvPr/>
        </p:nvSpPr>
        <p:spPr>
          <a:xfrm>
            <a:off x="502920" y="2148840"/>
            <a:ext cx="7040880" cy="868680"/>
          </a:xfrm>
          <a:prstGeom prst="rect">
            <a:avLst/>
          </a:prstGeom>
          <a:noFill/>
          <a:ln/>
        </p:spPr>
        <p:txBody>
          <a:bodyPr wrap="square" lIns="0" tIns="0" rIns="0" bIns="0" rtlCol="0" anchor="t"/>
          <a:lstStyle/>
          <a:p>
            <a:pPr algn="l" indent="0" marL="0">
              <a:lnSpc>
                <a:spcPct val="115000"/>
              </a:lnSpc>
              <a:buNone/>
            </a:pPr>
            <a:r>
              <a:rPr lang="en-US" sz="1600" dirty="0">
                <a:solidFill>
                  <a:srgbClr val="1A1A1C"/>
                </a:solidFill>
                <a:latin typeface="Outfit" pitchFamily="34" charset="0"/>
                <a:ea typeface="Outfit" pitchFamily="34" charset="-122"/>
                <a:cs typeface="Outfit" pitchFamily="34" charset="-120"/>
              </a:rPr>
              <a:t>Table 10.1, dipadatkan. Delegasi tetap dikendalikan lewat batas wewenang, control systems, insentif, dan budaya; sinergi lintas bisnis dipusatkan.</a:t>
            </a:r>
            <a:endParaRPr lang="en-US" sz="1600" dirty="0"/>
          </a:p>
        </p:txBody>
      </p:sp>
      <p:sp>
        <p:nvSpPr>
          <p:cNvPr id="2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10"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11"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2"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3"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4"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5"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network dan ecosystem</a:t>
            </a:r>
            <a:endParaRPr lang="en-US" sz="1300" dirty="0"/>
          </a:p>
        </p:txBody>
      </p:sp>
      <p:sp>
        <p:nvSpPr>
          <p:cNvPr id="16"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KOORDINASI KE DALAM DAN KE LUAR</a:t>
            </a:r>
            <a:endParaRPr lang="en-US" sz="3400" dirty="0"/>
          </a:p>
        </p:txBody>
      </p:sp>
      <p:sp>
        <p:nvSpPr>
          <p:cNvPr id="17"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ORGANISASI YANG MAMPU MENGEKSEKUSI</a:t>
            </a:r>
            <a:endParaRPr lang="en-US" sz="3800" dirty="0"/>
          </a:p>
        </p:txBody>
      </p:sp>
      <p:sp>
        <p:nvSpPr>
          <p:cNvPr id="9"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0"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1"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Manajer dan karyawan yang tepat</a:t>
            </a:r>
            <a:endParaRPr lang="en-US" sz="1400" dirty="0"/>
          </a:p>
        </p:txBody>
      </p:sp>
      <p:sp>
        <p:nvSpPr>
          <p:cNvPr id="12"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3"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4"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5"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6"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7"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Lima keputusan menata kerja</a:t>
            </a:r>
            <a:endParaRPr lang="en-US" sz="1400" dirty="0"/>
          </a:p>
        </p:txBody>
      </p:sp>
      <p:sp>
        <p:nvSpPr>
          <p:cNvPr id="18" name="text"/>
          <p:cNvSpPr txBox="1"/>
          <p:nvPr/>
        </p:nvSpPr>
        <p:spPr>
          <a:xfrm>
            <a:off x="502920" y="2880360"/>
            <a:ext cx="6766560" cy="10058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Capability yang tacit adalah pengetahuan yang sulit ditiru; network dan ecosystem menggeser competitive advantage menuju collaborative advantage (Kanter, 1994).</a:t>
            </a:r>
            <a:endParaRPr lang="en-US" sz="1600" dirty="0"/>
          </a:p>
        </p:txBody>
      </p:sp>
      <p:sp>
        <p:nvSpPr>
          <p:cNvPr id="19" name="pill"/>
          <p:cNvSpPr/>
          <p:nvPr/>
        </p:nvSpPr>
        <p:spPr>
          <a:xfrm>
            <a:off x="502920" y="5897880"/>
            <a:ext cx="2194560" cy="420624"/>
          </a:xfrm>
          <a:prstGeom prst="roundRect">
            <a:avLst>
              <a:gd name="adj" fmla="val 108696"/>
            </a:avLst>
          </a:prstGeom>
          <a:solidFill>
            <a:srgbClr val="F4F4F4"/>
          </a:solidFill>
          <a:ln w="9525">
            <a:solidFill>
              <a:srgbClr val="141417"/>
            </a:solidFill>
            <a:prstDash val="solid"/>
          </a:ln>
        </p:spPr>
      </p:sp>
      <p:sp>
        <p:nvSpPr>
          <p:cNvPr id="20" name="text"/>
          <p:cNvSpPr txBox="1"/>
          <p:nvPr/>
        </p:nvSpPr>
        <p:spPr>
          <a:xfrm>
            <a:off x="61264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MENGGERAKKAN</a:t>
            </a:r>
            <a:endParaRPr lang="en-US" sz="1200" dirty="0"/>
          </a:p>
        </p:txBody>
      </p:sp>
      <p:sp>
        <p:nvSpPr>
          <p:cNvPr id="21" name="pill"/>
          <p:cNvSpPr/>
          <p:nvPr/>
        </p:nvSpPr>
        <p:spPr>
          <a:xfrm>
            <a:off x="2880360" y="5897880"/>
            <a:ext cx="2194560" cy="420624"/>
          </a:xfrm>
          <a:prstGeom prst="roundRect">
            <a:avLst>
              <a:gd name="adj" fmla="val 108696"/>
            </a:avLst>
          </a:prstGeom>
          <a:solidFill>
            <a:srgbClr val="F4F4F4"/>
          </a:solidFill>
          <a:ln w="9525">
            <a:solidFill>
              <a:srgbClr val="141417"/>
            </a:solidFill>
            <a:prstDash val="solid"/>
          </a:ln>
        </p:spPr>
      </p:sp>
      <p:sp>
        <p:nvSpPr>
          <p:cNvPr id="22" name="text"/>
          <p:cNvSpPr txBox="1"/>
          <p:nvPr/>
        </p:nvSpPr>
        <p:spPr>
          <a:xfrm>
            <a:off x="299008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MENOPANG</a:t>
            </a:r>
            <a:endParaRPr lang="en-US" sz="1200" dirty="0"/>
          </a:p>
        </p:txBody>
      </p:sp>
      <p:sp>
        <p:nvSpPr>
          <p:cNvPr id="23" name="pill"/>
          <p:cNvSpPr/>
          <p:nvPr/>
        </p:nvSpPr>
        <p:spPr>
          <a:xfrm>
            <a:off x="5257800" y="5897880"/>
            <a:ext cx="219456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536752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4DX · DISIPLIN EKSEKUSI</a:t>
            </a:r>
            <a:endParaRPr lang="en-US" sz="1200" dirty="0"/>
          </a:p>
        </p:txBody>
      </p:sp>
      <p:pic>
        <p:nvPicPr>
          <p:cNvPr id="25"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100000"/>
              </a:lnSpc>
              <a:buNone/>
            </a:pPr>
            <a:r>
              <a:rPr lang="en-US" sz="4000" dirty="0">
                <a:solidFill>
                  <a:srgbClr val="141417"/>
                </a:solidFill>
                <a:latin typeface="Outfit SemiBold" pitchFamily="34" charset="0"/>
                <a:ea typeface="Outfit SemiBold" pitchFamily="34" charset="-122"/>
                <a:cs typeface="Outfit SemiBold"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2026-10-31T06:36:07Z</dcterms:created>
  <dcterms:modified xsi:type="dcterms:W3CDTF">2026-10-31T06:36:07Z</dcterms:modified>
</cp:coreProperties>
</file>