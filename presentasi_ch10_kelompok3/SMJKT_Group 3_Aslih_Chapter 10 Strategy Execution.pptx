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9aeddfb4-afee-ba3e-c5d9-0b5310370ef6}">
          <p14:sldIdLst>
            <p14:sldId id="256"/>
            <p14:sldId id="257"/>
          </p14:sldIdLst>
        </p14:section>
        <p14:section name="01 Landasan" id="{c11de35b-54fc-2e9d-6986-9dfc48fdeade}">
          <p14:sldIdLst>
            <p14:sldId id="258"/>
            <p14:sldId id="259"/>
            <p14:sldId id="260"/>
            <p14:sldId id="261"/>
          </p14:sldIdLst>
        </p14:section>
        <p14:section name="02 Staffing the Organization" id="{9e13a2b3-7c7b-8ca8-58be-cac03ec32b9e}">
          <p14:sldIdLst>
            <p14:sldId id="262"/>
            <p14:sldId id="263"/>
          </p14:sldIdLst>
        </p14:section>
        <p14:section name="03 Building Resources &amp; Capabilities" id="{68941c5e-d74c-fce5-e62c-046d91bf162e}">
          <p14:sldIdLst>
            <p14:sldId id="264"/>
            <p14:sldId id="265"/>
            <p14:sldId id="266"/>
            <p14:sldId id="267"/>
          </p14:sldIdLst>
        </p14:section>
        <p14:section name="04 Structuring the Organization" id="{e6646745-f001-6aa9-2bb5-45fc443c4d56}">
          <p14:sldIdLst>
            <p14:sldId id="268"/>
            <p14:sldId id="269"/>
            <p14:sldId id="270"/>
            <p14:sldId id="271"/>
            <p14:sldId id="272"/>
          </p14:sldIdLst>
        </p14:section>
        <p14:section name="05 Sintesis" id="{4051008b-70aa-a8a0-62f0-5b603fd441bd}">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pembuka. Perkenalkan kelompok, sebutkan topik: Bab 10 Thompson dkk., bagian pertama dari tiga bab tentang eksekusi strategi (Bab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landasan (mengapa eksekusi), lalu tiga aksi kunci Bab 10 secara berurutan, ditutup sintesis. Tegaskan bahwa tiap bagian saling bertaut: orang membangun capability, struktur menata orang dan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sesi-sesi sebelumnya melalui analogi kapal Pak Rangga. Tegaskan perbedaan sifat pekerjaan: merumuskan bersifat analitis, mengeksekusi bersifat operasional dan menyangkut orang.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why: eksekusi lebih sulit karena menyangkut banyak orang dan aktivitas yang saling bergantung, serta tidak ada resep tunggal. Dua tanda eksekusi yang baik menjadi alat diagnosis: bila kinerja meleset, periksa strategi, eksekusi,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dari buku: heksagon pusat The Action Agenda for Executing Strategy dikelilingi sepuluh tugas. Lime = Bab 10 (tugas 1-3), putih = Bab 11 (4-8), abu gelap = Bab 12 (9-10). Urutan ini bermakna: organisasi dibangun lebih dulu, baru digerakkan dengan sistem, insentif, budaya, dan kepemimpinan.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digambar ulang dari buku: tiga panah aksi di kiri, dua kotak keluaran di kanan, panah dua arah menandakan capability dan struktur saling menopang. Ini peta jalan Bab 10; tiga bagian berikutnya membahas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Jawab why (biaya dari tim yang lemah) dan how (profil manajer, cara memperkuat tim). Tujuan akhir bukan satu bintang, melainkan critical mass manajer yang saling memperkuat.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perusahaan yang serius menempatkan orang terbaik. Angka Southwest dan Cisco menunjukkan seleksi yang sangat ketat sebagai pilihan strategis, bukan sekadar HR. Training adalah bagian dari eksekusi strategi, bukan biaya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Hubungkan dengan Bab 4 (VRIN, dynamic capabilities). Tiga pendekatan dibedakan berdasarkan kecepatan, kendali, dan risiko; baris trade-off adalah sintesis penyaji dari uraian buku. Tiga slide berikutnya memperdalam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evolusioner menjelaskan why capability tidak bisa dibeli semalam: ia tumbuh dari ability menjadi competence lalu dijaga sebagai capability yang terus diperbarui. Analogi buku: mempelajari Shaun White tidak membuat seseorang juara halfpipe.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Tekankan paradoks akuisisi: yang dibeli adalah rutinitas yang tacit, sehingga integrasi menjadi titik rawan. Untuk kemitraan, tiga jalur meningkat dari transaksional (outsource) ke relasional (learn). Benang merah menautkan kembali ke aksi 1 dan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Zara membuktikan klaim bab: eksekusi bisa menjadi sumber keunggulan langsung. Semua angka diberi pembanding (benchmark) agar tidak menjadi klaim kosong. Tautkan kembali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10.3 digambar ulang dari buku: lima keputusan penataan kerja bermuara pada satu keluaran, struktur yang selaras dengan kebutuhan eksekusi. Tegaskan prinsip Chandler: structure follows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dan satu batasnya. Kasus Apple memperlihatkan logika: yang inti dipegang, yang bukan inti diserahkan, dengan biaya kendali yang harus dikelola.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struktur dibaca sebagai spektrum evolusi: dari simple ke functional ketika firma tumbuh, ke multidivisional ketika terdiversifikasi, ke matrix ketika sinergi lintas unit menjadi kritis. Tipe tidak ditentukan oleh generic strategy, melainkan oleh ukuran dan susunan bisnis.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10.1 digambar ulang dari buku dalam palet referensi. Keduanya punya logika; pilihan bergantung pada di mana pengetahuan relevan berada dan seberapa cepat respons dibutuhkan. Poin how: desentralisasi tidak berarti tanpa kendali.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Struktur formal saja tidak cukup; koordinasi harus dirancang, baik ke dalam (insentif kelompok) maupun ke luar (relationship managers, network,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langsung ke sini. Bacakan rangkaian logika dari kiri ke kanan, lalu tegaskan saling ketergantungan tiga aksi dan jembatan ke dua bab berikutnya serta kerangka 4DX.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bergaya sokratik untuk membuka diskusi. Pertanyaan 1 menguji tesis Lecuona; 2 menguji klaim out-execute dengan benchmark; 3 menguji risiko akuisisi capability; 4 menguji Table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utama adalah buku teks; sumber sekunder adalah rujukan yang dikutip bab tersebut.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4F2"/>
        </a:solidFill>
      </p:bgPr>
    </p:bg>
    <p:spTree>
      <p:nvGrpSpPr>
        <p:cNvPr id="1" name=""/>
        <p:cNvGrpSpPr/>
        <p:nvPr/>
      </p:nvGrpSpPr>
      <p:grpSpPr>
        <a:xfrm>
          <a:off x="0" y="0"/>
          <a:ext cx="0" cy="0"/>
          <a:chOff x="0" y="0"/>
          <a:chExt cx="0" cy="0"/>
        </a:xfrm>
      </p:grpSpPr>
      <p:sp>
        <p:nvSpPr>
          <p:cNvPr id="2" name="Text 0"/>
          <p:cNvSpPr/>
          <p:nvPr/>
        </p:nvSpPr>
        <p:spPr>
          <a:xfrm>
            <a:off x="548640" y="182880"/>
            <a:ext cx="2011680" cy="237744"/>
          </a:xfrm>
          <a:prstGeom prst="rect">
            <a:avLst/>
          </a:prstGeom>
          <a:noFill/>
          <a:ln/>
        </p:spPr>
        <p:txBody>
          <a:bodyPr wrap="square" lIns="0" tIns="0" rIns="0" bIns="0" rtlCol="0" anchor="ctr"/>
          <a:lstStyle/>
          <a:p>
            <a:pPr indent="0" marL="0">
              <a:buNone/>
            </a:pPr>
            <a:r>
              <a:rPr lang="en-US" sz="900" b="1" spc="200" kern="0" dirty="0">
                <a:solidFill>
                  <a:srgbClr val="141414"/>
                </a:solidFill>
                <a:latin typeface="Arial" pitchFamily="34" charset="0"/>
                <a:ea typeface="Arial" pitchFamily="34" charset="-122"/>
                <a:cs typeface="Arial" pitchFamily="34" charset="-120"/>
              </a:rPr>
              <a:t>KELOMPOK 3</a:t>
            </a:r>
            <a:endParaRPr lang="en-US" sz="900" dirty="0"/>
          </a:p>
        </p:txBody>
      </p:sp>
      <p:sp>
        <p:nvSpPr>
          <p:cNvPr id="3" name="Text 1"/>
          <p:cNvSpPr/>
          <p:nvPr/>
        </p:nvSpPr>
        <p:spPr>
          <a:xfrm>
            <a:off x="3657600" y="182880"/>
            <a:ext cx="182880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Strategic Management</a:t>
            </a:r>
            <a:endParaRPr lang="en-US" sz="900" dirty="0"/>
          </a:p>
        </p:txBody>
      </p:sp>
      <p:sp>
        <p:nvSpPr>
          <p:cNvPr id="4" name="Text 2"/>
          <p:cNvSpPr/>
          <p:nvPr/>
        </p:nvSpPr>
        <p:spPr>
          <a:xfrm>
            <a:off x="5669280" y="182880"/>
            <a:ext cx="128016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Chapter 10</a:t>
            </a:r>
            <a:endParaRPr lang="en-US" sz="900" dirty="0"/>
          </a:p>
        </p:txBody>
      </p:sp>
      <p:sp>
        <p:nvSpPr>
          <p:cNvPr id="5" name="Text 3"/>
          <p:cNvSpPr/>
          <p:nvPr/>
        </p:nvSpPr>
        <p:spPr>
          <a:xfrm>
            <a:off x="7132320" y="182880"/>
            <a:ext cx="219456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MM FEB UGM  ·  2026</a:t>
            </a:r>
            <a:endParaRPr lang="en-US" sz="900" dirty="0"/>
          </a:p>
        </p:txBody>
      </p:sp>
      <p:sp>
        <p:nvSpPr>
          <p:cNvPr id="6" name="Text 4"/>
          <p:cNvSpPr/>
          <p:nvPr/>
        </p:nvSpPr>
        <p:spPr>
          <a:xfrm>
            <a:off x="548640" y="6473952"/>
            <a:ext cx="9601200" cy="219456"/>
          </a:xfrm>
          <a:prstGeom prst="rect">
            <a:avLst/>
          </a:prstGeom>
          <a:noFill/>
          <a:ln/>
        </p:spPr>
        <p:txBody>
          <a:bodyPr wrap="square" lIns="0" tIns="0" rIns="0" bIns="0" rtlCol="0" anchor="ctr"/>
          <a:lstStyle/>
          <a:p>
            <a:pPr indent="0" marL="0">
              <a:buNone/>
            </a:pPr>
            <a:r>
              <a:rPr lang="en-US" sz="800" dirty="0">
                <a:solidFill>
                  <a:srgbClr val="6E6E6E"/>
                </a:solidFill>
                <a:latin typeface="Calibri" pitchFamily="34" charset="0"/>
                <a:ea typeface="Calibri" pitchFamily="34" charset="-122"/>
                <a:cs typeface="Calibri" pitchFamily="34" charset="-120"/>
              </a:rPr>
              <a:t>Thompson, Peteraf, Gamble &amp; Strickland (2024), Crafting &amp; Executing Strategy, Chapter 10</a:t>
            </a:r>
            <a:endParaRPr lang="en-US" sz="800" dirty="0"/>
          </a:p>
        </p:txBody>
      </p:sp>
      <p:sp>
        <p:nvSpPr>
          <p:cNvPr id="7" name="Text 5"/>
          <p:cNvSpPr/>
          <p:nvPr>
            <p:ph idx="105" type="body" hasCustomPrompt="1"/>
          </p:nvPr>
        </p:nvSpPr>
        <p:spPr>
          <a:xfrm>
            <a:off x="548640" y="548640"/>
            <a:ext cx="11094415" cy="256032"/>
          </a:xfrm>
          <a:prstGeom prst="rect">
            <a:avLst/>
          </a:prstGeom>
          <a:noFill/>
          <a:ln/>
        </p:spPr>
        <p:txBody>
          <a:bodyPr wrap="square" rtlCol="0"/>
          <a:lstStyle>
            <a:lvl1pPr indent="0" marL="0">
              <a:buNone/>
              <a:defRPr lang="en-US" sz="1000" b="1" spc="200" kern="0" dirty="0">
                <a:solidFill>
                  <a:srgbClr val="6E6E6E"/>
                </a:solidFill>
                <a:latin typeface="Arial" pitchFamily="34" charset="0"/>
                <a:ea typeface="Arial" pitchFamily="34" charset="-122"/>
                <a:cs typeface="Arial" pitchFamily="34" charset="-120"/>
              </a:defRPr>
            </a:lvl1pPr>
          </a:lstStyle>
          <a:p>
            <a:pPr indent="0" marL="0">
              <a:buNone/>
            </a:pPr>
            <a:endParaRPr lang="en-US" sz="1000" dirty="0"/>
          </a:p>
        </p:txBody>
      </p:sp>
      <p:sp>
        <p:nvSpPr>
          <p:cNvPr id="8" name="Text 5"/>
          <p:cNvSpPr/>
          <p:nvPr>
            <p:ph idx="106" type="title" hasCustomPrompt="1"/>
          </p:nvPr>
        </p:nvSpPr>
        <p:spPr>
          <a:xfrm>
            <a:off x="548640" y="822960"/>
            <a:ext cx="11094415" cy="731520"/>
          </a:xfrm>
          <a:prstGeom prst="rect">
            <a:avLst/>
          </a:prstGeom>
          <a:noFill/>
          <a:ln/>
        </p:spPr>
        <p:txBody>
          <a:bodyPr wrap="square" rtlCol="0"/>
          <a:lstStyle>
            <a:lvl1pPr algn="l" indent="0" marL="0">
              <a:buNone/>
              <a:defRPr lang="en-US" sz="2400" b="1" dirty="0">
                <a:solidFill>
                  <a:srgbClr val="141414"/>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82880"/>
            <a:ext cx="2011680" cy="237744"/>
          </a:xfrm>
          <a:prstGeom prst="rect">
            <a:avLst/>
          </a:prstGeom>
          <a:noFill/>
          <a:ln/>
        </p:spPr>
        <p:txBody>
          <a:bodyPr wrap="square" lIns="0" tIns="0" rIns="0" bIns="0" rtlCol="0" anchor="ctr"/>
          <a:lstStyle/>
          <a:p>
            <a:pPr indent="0" marL="0">
              <a:buNone/>
            </a:pPr>
            <a:r>
              <a:rPr lang="en-US" sz="900" b="1" spc="200" kern="0" dirty="0">
                <a:solidFill>
                  <a:srgbClr val="141414"/>
                </a:solidFill>
                <a:latin typeface="Arial" pitchFamily="34" charset="0"/>
                <a:ea typeface="Arial" pitchFamily="34" charset="-122"/>
                <a:cs typeface="Arial" pitchFamily="34" charset="-120"/>
              </a:rPr>
              <a:t>KELOMPOK 3</a:t>
            </a:r>
            <a:endParaRPr lang="en-US" sz="900" dirty="0"/>
          </a:p>
        </p:txBody>
      </p:sp>
      <p:sp>
        <p:nvSpPr>
          <p:cNvPr id="3" name="Text 1"/>
          <p:cNvSpPr txBox="1"/>
          <p:nvPr/>
        </p:nvSpPr>
        <p:spPr>
          <a:xfrm>
            <a:off x="3657600" y="182880"/>
            <a:ext cx="182880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Strategic Management</a:t>
            </a:r>
            <a:endParaRPr lang="en-US" sz="900" dirty="0"/>
          </a:p>
        </p:txBody>
      </p:sp>
      <p:sp>
        <p:nvSpPr>
          <p:cNvPr id="4" name="Text 2"/>
          <p:cNvSpPr txBox="1"/>
          <p:nvPr/>
        </p:nvSpPr>
        <p:spPr>
          <a:xfrm>
            <a:off x="5669280" y="182880"/>
            <a:ext cx="128016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Chapter 10</a:t>
            </a:r>
            <a:endParaRPr lang="en-US" sz="900" dirty="0"/>
          </a:p>
        </p:txBody>
      </p:sp>
      <p:sp>
        <p:nvSpPr>
          <p:cNvPr id="5" name="Text 3"/>
          <p:cNvSpPr txBox="1"/>
          <p:nvPr/>
        </p:nvSpPr>
        <p:spPr>
          <a:xfrm>
            <a:off x="7132320" y="182880"/>
            <a:ext cx="2194560" cy="237744"/>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MM FEB UGM  ·  2026</a:t>
            </a:r>
            <a:endParaRPr lang="en-US" sz="900" dirty="0"/>
          </a:p>
        </p:txBody>
      </p:sp>
      <p:sp>
        <p:nvSpPr>
          <p:cNvPr id="6" name="text"/>
          <p:cNvSpPr txBox="1"/>
          <p:nvPr/>
        </p:nvSpPr>
        <p:spPr>
          <a:xfrm>
            <a:off x="9418320" y="182880"/>
            <a:ext cx="2221992" cy="237744"/>
          </a:xfrm>
          <a:prstGeom prst="rect">
            <a:avLst/>
          </a:prstGeom>
          <a:noFill/>
          <a:ln/>
        </p:spPr>
        <p:txBody>
          <a:bodyPr wrap="square" lIns="0" tIns="0" rIns="0" bIns="0" rtlCol="0" anchor="t"/>
          <a:lstStyle/>
          <a:p>
            <a:pPr algn="r" indent="0" marL="0">
              <a:lnSpc>
                <a:spcPct val="108000"/>
              </a:lnSpc>
              <a:buNone/>
            </a:pPr>
            <a:r>
              <a:rPr lang="en-US" sz="900" dirty="0">
                <a:solidFill>
                  <a:srgbClr val="6E6E6E"/>
                </a:solidFill>
                <a:latin typeface="Arial" pitchFamily="34" charset="0"/>
                <a:ea typeface="Arial" pitchFamily="34" charset="-122"/>
                <a:cs typeface="Arial" pitchFamily="34" charset="-120"/>
              </a:rPr>
              <a:t>Chapter Presentation</a:t>
            </a:r>
            <a:endParaRPr lang="en-US" sz="900" dirty="0"/>
          </a:p>
        </p:txBody>
      </p:sp>
      <p:sp>
        <p:nvSpPr>
          <p:cNvPr id="7" name="card"/>
          <p:cNvSpPr/>
          <p:nvPr/>
        </p:nvSpPr>
        <p:spPr>
          <a:xfrm>
            <a:off x="548640" y="685800"/>
            <a:ext cx="3291840" cy="329184"/>
          </a:xfrm>
          <a:prstGeom prst="roundRect">
            <a:avLst>
              <a:gd name="adj" fmla="val 61111"/>
            </a:avLst>
          </a:prstGeom>
          <a:solidFill>
            <a:srgbClr val="D7F544"/>
          </a:solidFill>
          <a:ln w="6350">
            <a:solidFill>
              <a:srgbClr val="D7F544"/>
            </a:solidFill>
            <a:prstDash val="solid"/>
          </a:ln>
        </p:spPr>
      </p:sp>
      <p:sp>
        <p:nvSpPr>
          <p:cNvPr id="8" name="text"/>
          <p:cNvSpPr txBox="1"/>
          <p:nvPr/>
        </p:nvSpPr>
        <p:spPr>
          <a:xfrm>
            <a:off x="658368" y="685800"/>
            <a:ext cx="3072384" cy="329184"/>
          </a:xfrm>
          <a:prstGeom prst="rect">
            <a:avLst/>
          </a:prstGeom>
          <a:noFill/>
          <a:ln/>
        </p:spPr>
        <p:txBody>
          <a:bodyPr wrap="square" lIns="0" tIns="0" rIns="0" bIns="0" rtlCol="0" anchor="ctr"/>
          <a:lstStyle/>
          <a:p>
            <a:pPr algn="ctr" indent="0" marL="0">
              <a:lnSpc>
                <a:spcPct val="108000"/>
              </a:lnSpc>
              <a:buNone/>
            </a:pPr>
            <a:r>
              <a:rPr lang="en-US" sz="900" b="1" spc="100" kern="0" dirty="0">
                <a:solidFill>
                  <a:srgbClr val="141414"/>
                </a:solidFill>
                <a:latin typeface="Arial" pitchFamily="34" charset="0"/>
                <a:ea typeface="Arial" pitchFamily="34" charset="-122"/>
                <a:cs typeface="Arial" pitchFamily="34" charset="-120"/>
              </a:rPr>
              <a:t>CHAPTER 10  ·  STRATEGIC MANAGEMENT</a:t>
            </a:r>
            <a:endParaRPr lang="en-US" sz="900" dirty="0"/>
          </a:p>
        </p:txBody>
      </p:sp>
      <p:sp>
        <p:nvSpPr>
          <p:cNvPr id="9" name="text"/>
          <p:cNvSpPr txBox="1"/>
          <p:nvPr/>
        </p:nvSpPr>
        <p:spPr>
          <a:xfrm>
            <a:off x="548640" y="1188720"/>
            <a:ext cx="5577840" cy="2377440"/>
          </a:xfrm>
          <a:prstGeom prst="rect">
            <a:avLst/>
          </a:prstGeom>
          <a:noFill/>
          <a:ln/>
        </p:spPr>
        <p:txBody>
          <a:bodyPr wrap="square" lIns="0" tIns="0" rIns="0" bIns="0" rtlCol="0" anchor="t"/>
          <a:lstStyle/>
          <a:p>
            <a:pPr algn="l" indent="0" marL="0">
              <a:lnSpc>
                <a:spcPct val="100000"/>
              </a:lnSpc>
              <a:buNone/>
            </a:pPr>
            <a:r>
              <a:rPr lang="en-US" sz="3400" b="1" dirty="0">
                <a:solidFill>
                  <a:srgbClr val="141414"/>
                </a:solidFill>
                <a:latin typeface="Arial" pitchFamily="34" charset="0"/>
                <a:ea typeface="Arial" pitchFamily="34" charset="-122"/>
                <a:cs typeface="Arial" pitchFamily="34" charset="-120"/>
              </a:rPr>
              <a:t>BUILDING AN ORGANIZATION CAPABLE OF GOOD STRATEGY EXECUTION</a:t>
            </a:r>
            <a:endParaRPr lang="en-US" sz="3400" dirty="0"/>
          </a:p>
        </p:txBody>
      </p:sp>
      <p:sp>
        <p:nvSpPr>
          <p:cNvPr id="10" name="text"/>
          <p:cNvSpPr txBox="1"/>
          <p:nvPr/>
        </p:nvSpPr>
        <p:spPr>
          <a:xfrm>
            <a:off x="548640" y="3611880"/>
            <a:ext cx="5577840" cy="365760"/>
          </a:xfrm>
          <a:prstGeom prst="rect">
            <a:avLst/>
          </a:prstGeom>
          <a:noFill/>
          <a:ln/>
        </p:spPr>
        <p:txBody>
          <a:bodyPr wrap="square" lIns="0" tIns="0" rIns="0" bIns="0" rtlCol="0" anchor="t"/>
          <a:lstStyle/>
          <a:p>
            <a:pPr algn="l" indent="0" marL="0">
              <a:lnSpc>
                <a:spcPct val="108000"/>
              </a:lnSpc>
              <a:buNone/>
            </a:pPr>
            <a:r>
              <a:rPr lang="en-US" sz="1700" i="1" dirty="0">
                <a:solidFill>
                  <a:srgbClr val="6E6E6E"/>
                </a:solidFill>
                <a:latin typeface="Calibri" pitchFamily="34" charset="0"/>
                <a:ea typeface="Calibri" pitchFamily="34" charset="-122"/>
                <a:cs typeface="Calibri" pitchFamily="34" charset="-120"/>
              </a:rPr>
              <a:t>People, Capabilities, and Structure</a:t>
            </a:r>
            <a:endParaRPr lang="en-US" sz="1700" dirty="0"/>
          </a:p>
        </p:txBody>
      </p:sp>
      <p:sp>
        <p:nvSpPr>
          <p:cNvPr id="11" name="card"/>
          <p:cNvSpPr/>
          <p:nvPr/>
        </p:nvSpPr>
        <p:spPr>
          <a:xfrm>
            <a:off x="548640" y="4114800"/>
            <a:ext cx="1463040" cy="384048"/>
          </a:xfrm>
          <a:prstGeom prst="roundRect">
            <a:avLst>
              <a:gd name="adj" fmla="val 52381"/>
            </a:avLst>
          </a:prstGeom>
          <a:solidFill>
            <a:srgbClr val="141414"/>
          </a:solidFill>
          <a:ln w="6350">
            <a:solidFill>
              <a:srgbClr val="141414"/>
            </a:solidFill>
            <a:prstDash val="solid"/>
          </a:ln>
        </p:spPr>
      </p:sp>
      <p:sp>
        <p:nvSpPr>
          <p:cNvPr id="12" name="text"/>
          <p:cNvSpPr txBox="1"/>
          <p:nvPr/>
        </p:nvSpPr>
        <p:spPr>
          <a:xfrm>
            <a:off x="658368" y="4114800"/>
            <a:ext cx="1243584" cy="384048"/>
          </a:xfrm>
          <a:prstGeom prst="rect">
            <a:avLst/>
          </a:prstGeom>
          <a:noFill/>
          <a:ln/>
        </p:spPr>
        <p:txBody>
          <a:bodyPr wrap="square" lIns="0" tIns="0" rIns="0" bIns="0" rtlCol="0" anchor="ctr"/>
          <a:lstStyle/>
          <a:p>
            <a:pPr algn="ctr" indent="0" marL="0">
              <a:lnSpc>
                <a:spcPct val="108000"/>
              </a:lnSpc>
              <a:buNone/>
            </a:pPr>
            <a:r>
              <a:rPr lang="en-US" sz="1000" b="1" dirty="0">
                <a:solidFill>
                  <a:srgbClr val="D7F544"/>
                </a:solidFill>
                <a:latin typeface="Arial" pitchFamily="34" charset="0"/>
                <a:ea typeface="Arial" pitchFamily="34" charset="-122"/>
                <a:cs typeface="Arial" pitchFamily="34" charset="-120"/>
              </a:rPr>
              <a:t>KELOMPOK 3</a:t>
            </a:r>
            <a:endParaRPr lang="en-US" sz="1000" dirty="0"/>
          </a:p>
        </p:txBody>
      </p:sp>
      <p:sp>
        <p:nvSpPr>
          <p:cNvPr id="13" name="card"/>
          <p:cNvSpPr/>
          <p:nvPr/>
        </p:nvSpPr>
        <p:spPr>
          <a:xfrm>
            <a:off x="2121408" y="4114800"/>
            <a:ext cx="3931920" cy="384048"/>
          </a:xfrm>
          <a:prstGeom prst="roundRect">
            <a:avLst>
              <a:gd name="adj" fmla="val 52381"/>
            </a:avLst>
          </a:prstGeom>
          <a:solidFill>
            <a:srgbClr val="FFFFFF"/>
          </a:solidFill>
          <a:ln w="6350">
            <a:solidFill>
              <a:srgbClr val="E2E2DE"/>
            </a:solidFill>
            <a:prstDash val="solid"/>
          </a:ln>
        </p:spPr>
      </p:sp>
      <p:sp>
        <p:nvSpPr>
          <p:cNvPr id="14" name="text"/>
          <p:cNvSpPr txBox="1"/>
          <p:nvPr/>
        </p:nvSpPr>
        <p:spPr>
          <a:xfrm>
            <a:off x="2231136" y="4114800"/>
            <a:ext cx="3712464" cy="384048"/>
          </a:xfrm>
          <a:prstGeom prst="rect">
            <a:avLst/>
          </a:prstGeom>
          <a:noFill/>
          <a:ln/>
        </p:spPr>
        <p:txBody>
          <a:bodyPr wrap="square" lIns="0" tIns="0" rIns="0" bIns="0" rtlCol="0" anchor="ctr"/>
          <a:lstStyle/>
          <a:p>
            <a:pPr algn="ctr" indent="0" marL="0">
              <a:lnSpc>
                <a:spcPct val="108000"/>
              </a:lnSpc>
              <a:buNone/>
            </a:pPr>
            <a:r>
              <a:rPr lang="en-US" sz="1000" dirty="0">
                <a:solidFill>
                  <a:srgbClr val="1C1C1C"/>
                </a:solidFill>
                <a:latin typeface="Calibri" pitchFamily="34" charset="0"/>
                <a:ea typeface="Calibri" pitchFamily="34" charset="-122"/>
                <a:cs typeface="Calibri" pitchFamily="34" charset="-120"/>
              </a:rPr>
              <a:t>Magister Manajemen FEB Universitas Gadjah Mada</a:t>
            </a:r>
            <a:endParaRPr lang="en-US" sz="1000" dirty="0"/>
          </a:p>
        </p:txBody>
      </p:sp>
      <p:sp>
        <p:nvSpPr>
          <p:cNvPr id="15" name="card"/>
          <p:cNvSpPr/>
          <p:nvPr/>
        </p:nvSpPr>
        <p:spPr>
          <a:xfrm>
            <a:off x="548640" y="4590288"/>
            <a:ext cx="4206240" cy="384048"/>
          </a:xfrm>
          <a:prstGeom prst="roundRect">
            <a:avLst>
              <a:gd name="adj" fmla="val 52381"/>
            </a:avLst>
          </a:prstGeom>
          <a:solidFill>
            <a:srgbClr val="FFFFFF"/>
          </a:solidFill>
          <a:ln w="6350">
            <a:solidFill>
              <a:srgbClr val="E2E2DE"/>
            </a:solidFill>
            <a:prstDash val="solid"/>
          </a:ln>
        </p:spPr>
      </p:sp>
      <p:sp>
        <p:nvSpPr>
          <p:cNvPr id="16" name="text"/>
          <p:cNvSpPr txBox="1"/>
          <p:nvPr/>
        </p:nvSpPr>
        <p:spPr>
          <a:xfrm>
            <a:off x="658368" y="4590288"/>
            <a:ext cx="3986784" cy="384048"/>
          </a:xfrm>
          <a:prstGeom prst="rect">
            <a:avLst/>
          </a:prstGeom>
          <a:noFill/>
          <a:ln/>
        </p:spPr>
        <p:txBody>
          <a:bodyPr wrap="square" lIns="0" tIns="0" rIns="0" bIns="0" rtlCol="0" anchor="ctr"/>
          <a:lstStyle/>
          <a:p>
            <a:pPr algn="ctr" indent="0" marL="0">
              <a:lnSpc>
                <a:spcPct val="108000"/>
              </a:lnSpc>
              <a:buNone/>
            </a:pPr>
            <a:r>
              <a:rPr lang="en-US" sz="1000" dirty="0">
                <a:solidFill>
                  <a:srgbClr val="1C1C1C"/>
                </a:solidFill>
                <a:latin typeface="Calibri" pitchFamily="34" charset="0"/>
                <a:ea typeface="Calibri" pitchFamily="34" charset="-122"/>
                <a:cs typeface="Calibri" pitchFamily="34" charset="-120"/>
              </a:rPr>
              <a:t>Dosen Pengampu: Dr. Rangga Almahendra, S.T., M.M.</a:t>
            </a:r>
            <a:endParaRPr lang="en-US" sz="1000" dirty="0"/>
          </a:p>
        </p:txBody>
      </p:sp>
      <p:pic>
        <p:nvPicPr>
          <p:cNvPr id="17" name="Foto tim manajemen" descr="preencoded.png">    </p:cNvPr>
          <p:cNvPicPr>
            <a:picLocks noChangeAspect="1"/>
          </p:cNvPicPr>
          <p:nvPr/>
        </p:nvPicPr>
        <p:blipFill>
          <a:blip r:embed="rId1"/>
          <a:stretch>
            <a:fillRect/>
          </a:stretch>
        </p:blipFill>
        <p:spPr>
          <a:xfrm>
            <a:off x="6355080" y="594360"/>
            <a:ext cx="5285232" cy="4187952"/>
          </a:xfrm>
          <a:prstGeom prst="rect">
            <a:avLst/>
          </a:prstGeom>
        </p:spPr>
      </p:pic>
      <p:sp>
        <p:nvSpPr>
          <p:cNvPr id="18" name="card"/>
          <p:cNvSpPr/>
          <p:nvPr/>
        </p:nvSpPr>
        <p:spPr>
          <a:xfrm>
            <a:off x="548640" y="5230368"/>
            <a:ext cx="2650160" cy="960120"/>
          </a:xfrm>
          <a:prstGeom prst="roundRect">
            <a:avLst>
              <a:gd name="adj" fmla="val 1142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9" name="icon-bg"/>
          <p:cNvSpPr/>
          <p:nvPr/>
        </p:nvSpPr>
        <p:spPr>
          <a:xfrm>
            <a:off x="713232" y="5477256"/>
            <a:ext cx="457200" cy="457200"/>
          </a:xfrm>
          <a:prstGeom prst="ellipse">
            <a:avLst/>
          </a:prstGeom>
          <a:solidFill>
            <a:srgbClr val="D7F544"/>
          </a:solidFill>
          <a:ln w="6350">
            <a:solidFill>
              <a:srgbClr val="D7F544"/>
            </a:solidFill>
            <a:prstDash val="solid"/>
          </a:ln>
        </p:spPr>
      </p:sp>
      <p:pic>
        <p:nvPicPr>
          <p:cNvPr id="20" name="icon" descr="preencoded.png">    </p:cNvPr>
          <p:cNvPicPr>
            <a:picLocks noChangeAspect="1"/>
          </p:cNvPicPr>
          <p:nvPr/>
        </p:nvPicPr>
        <p:blipFill>
          <a:blip r:embed="rId2"/>
          <a:stretch>
            <a:fillRect/>
          </a:stretch>
        </p:blipFill>
        <p:spPr>
          <a:xfrm>
            <a:off x="822960" y="5586984"/>
            <a:ext cx="237744" cy="237744"/>
          </a:xfrm>
          <a:prstGeom prst="rect">
            <a:avLst/>
          </a:prstGeom>
        </p:spPr>
      </p:pic>
      <p:sp>
        <p:nvSpPr>
          <p:cNvPr id="21" name="text"/>
          <p:cNvSpPr txBox="1"/>
          <p:nvPr/>
        </p:nvSpPr>
        <p:spPr>
          <a:xfrm>
            <a:off x="1298448" y="5431536"/>
            <a:ext cx="178148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Aslih Abnuri</a:t>
            </a:r>
            <a:endParaRPr lang="en-US" sz="1300" dirty="0"/>
          </a:p>
        </p:txBody>
      </p:sp>
      <p:sp>
        <p:nvSpPr>
          <p:cNvPr id="22" name="text"/>
          <p:cNvSpPr txBox="1"/>
          <p:nvPr/>
        </p:nvSpPr>
        <p:spPr>
          <a:xfrm>
            <a:off x="1298448" y="5733288"/>
            <a:ext cx="1781480" cy="27432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25/574338/PEK/31801</a:t>
            </a:r>
            <a:endParaRPr lang="en-US" sz="1100" dirty="0"/>
          </a:p>
        </p:txBody>
      </p:sp>
      <p:sp>
        <p:nvSpPr>
          <p:cNvPr id="23" name="card"/>
          <p:cNvSpPr/>
          <p:nvPr/>
        </p:nvSpPr>
        <p:spPr>
          <a:xfrm>
            <a:off x="3363392" y="5230368"/>
            <a:ext cx="2650160" cy="960120"/>
          </a:xfrm>
          <a:prstGeom prst="roundRect">
            <a:avLst>
              <a:gd name="adj" fmla="val 1142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4" name="icon-bg"/>
          <p:cNvSpPr/>
          <p:nvPr/>
        </p:nvSpPr>
        <p:spPr>
          <a:xfrm>
            <a:off x="3527984" y="5477256"/>
            <a:ext cx="457200" cy="457200"/>
          </a:xfrm>
          <a:prstGeom prst="ellipse">
            <a:avLst/>
          </a:prstGeom>
          <a:solidFill>
            <a:srgbClr val="141414"/>
          </a:solidFill>
          <a:ln w="6350">
            <a:solidFill>
              <a:srgbClr val="141414"/>
            </a:solidFill>
            <a:prstDash val="solid"/>
          </a:ln>
        </p:spPr>
      </p:sp>
      <p:pic>
        <p:nvPicPr>
          <p:cNvPr id="25" name="icon" descr="preencoded.png">    </p:cNvPr>
          <p:cNvPicPr>
            <a:picLocks noChangeAspect="1"/>
          </p:cNvPicPr>
          <p:nvPr/>
        </p:nvPicPr>
        <p:blipFill>
          <a:blip r:embed="rId3"/>
          <a:stretch>
            <a:fillRect/>
          </a:stretch>
        </p:blipFill>
        <p:spPr>
          <a:xfrm>
            <a:off x="3637712" y="5586984"/>
            <a:ext cx="237744" cy="237744"/>
          </a:xfrm>
          <a:prstGeom prst="rect">
            <a:avLst/>
          </a:prstGeom>
        </p:spPr>
      </p:pic>
      <p:sp>
        <p:nvSpPr>
          <p:cNvPr id="26" name="text"/>
          <p:cNvSpPr txBox="1"/>
          <p:nvPr/>
        </p:nvSpPr>
        <p:spPr>
          <a:xfrm>
            <a:off x="4113200" y="5431536"/>
            <a:ext cx="178148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Tifani Puspita</a:t>
            </a:r>
            <a:endParaRPr lang="en-US" sz="1300" dirty="0"/>
          </a:p>
        </p:txBody>
      </p:sp>
      <p:sp>
        <p:nvSpPr>
          <p:cNvPr id="27" name="text"/>
          <p:cNvSpPr txBox="1"/>
          <p:nvPr/>
        </p:nvSpPr>
        <p:spPr>
          <a:xfrm>
            <a:off x="4113200" y="5733288"/>
            <a:ext cx="1781480" cy="27432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25/574443/PEK/31851</a:t>
            </a:r>
            <a:endParaRPr lang="en-US" sz="1100" dirty="0"/>
          </a:p>
        </p:txBody>
      </p:sp>
      <p:sp>
        <p:nvSpPr>
          <p:cNvPr id="28" name="card"/>
          <p:cNvSpPr/>
          <p:nvPr/>
        </p:nvSpPr>
        <p:spPr>
          <a:xfrm>
            <a:off x="6178144" y="5230368"/>
            <a:ext cx="2650160" cy="960120"/>
          </a:xfrm>
          <a:prstGeom prst="roundRect">
            <a:avLst>
              <a:gd name="adj" fmla="val 1142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9" name="icon-bg"/>
          <p:cNvSpPr/>
          <p:nvPr/>
        </p:nvSpPr>
        <p:spPr>
          <a:xfrm>
            <a:off x="6342736" y="5477256"/>
            <a:ext cx="457200" cy="457200"/>
          </a:xfrm>
          <a:prstGeom prst="ellipse">
            <a:avLst/>
          </a:prstGeom>
          <a:solidFill>
            <a:srgbClr val="141414"/>
          </a:solidFill>
          <a:ln w="6350">
            <a:solidFill>
              <a:srgbClr val="141414"/>
            </a:solidFill>
            <a:prstDash val="solid"/>
          </a:ln>
        </p:spPr>
      </p:sp>
      <p:pic>
        <p:nvPicPr>
          <p:cNvPr id="30" name="icon" descr="preencoded.png">    </p:cNvPr>
          <p:cNvPicPr>
            <a:picLocks noChangeAspect="1"/>
          </p:cNvPicPr>
          <p:nvPr/>
        </p:nvPicPr>
        <p:blipFill>
          <a:blip r:embed="rId4"/>
          <a:stretch>
            <a:fillRect/>
          </a:stretch>
        </p:blipFill>
        <p:spPr>
          <a:xfrm>
            <a:off x="6452464" y="5586984"/>
            <a:ext cx="237744" cy="237744"/>
          </a:xfrm>
          <a:prstGeom prst="rect">
            <a:avLst/>
          </a:prstGeom>
        </p:spPr>
      </p:pic>
      <p:sp>
        <p:nvSpPr>
          <p:cNvPr id="31" name="text"/>
          <p:cNvSpPr txBox="1"/>
          <p:nvPr/>
        </p:nvSpPr>
        <p:spPr>
          <a:xfrm>
            <a:off x="6927952" y="5431536"/>
            <a:ext cx="178148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Happy Dinithasari</a:t>
            </a:r>
            <a:endParaRPr lang="en-US" sz="1300" dirty="0"/>
          </a:p>
        </p:txBody>
      </p:sp>
      <p:sp>
        <p:nvSpPr>
          <p:cNvPr id="32" name="text"/>
          <p:cNvSpPr txBox="1"/>
          <p:nvPr/>
        </p:nvSpPr>
        <p:spPr>
          <a:xfrm>
            <a:off x="6927952" y="5733288"/>
            <a:ext cx="1781480" cy="27432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25/574400/PEK/31831</a:t>
            </a:r>
            <a:endParaRPr lang="en-US" sz="1100" dirty="0"/>
          </a:p>
        </p:txBody>
      </p:sp>
      <p:sp>
        <p:nvSpPr>
          <p:cNvPr id="33" name="card"/>
          <p:cNvSpPr/>
          <p:nvPr/>
        </p:nvSpPr>
        <p:spPr>
          <a:xfrm>
            <a:off x="8992895" y="5230368"/>
            <a:ext cx="2650160" cy="960120"/>
          </a:xfrm>
          <a:prstGeom prst="roundRect">
            <a:avLst>
              <a:gd name="adj" fmla="val 1142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34" name="icon-bg"/>
          <p:cNvSpPr/>
          <p:nvPr/>
        </p:nvSpPr>
        <p:spPr>
          <a:xfrm>
            <a:off x="9157487" y="5477256"/>
            <a:ext cx="457200" cy="457200"/>
          </a:xfrm>
          <a:prstGeom prst="ellipse">
            <a:avLst/>
          </a:prstGeom>
          <a:solidFill>
            <a:srgbClr val="141414"/>
          </a:solidFill>
          <a:ln w="6350">
            <a:solidFill>
              <a:srgbClr val="141414"/>
            </a:solidFill>
            <a:prstDash val="solid"/>
          </a:ln>
        </p:spPr>
      </p:sp>
      <p:pic>
        <p:nvPicPr>
          <p:cNvPr id="35" name="icon" descr="preencoded.png">    </p:cNvPr>
          <p:cNvPicPr>
            <a:picLocks noChangeAspect="1"/>
          </p:cNvPicPr>
          <p:nvPr/>
        </p:nvPicPr>
        <p:blipFill>
          <a:blip r:embed="rId5"/>
          <a:stretch>
            <a:fillRect/>
          </a:stretch>
        </p:blipFill>
        <p:spPr>
          <a:xfrm>
            <a:off x="9267215" y="5586984"/>
            <a:ext cx="237744" cy="237744"/>
          </a:xfrm>
          <a:prstGeom prst="rect">
            <a:avLst/>
          </a:prstGeom>
        </p:spPr>
      </p:pic>
      <p:sp>
        <p:nvSpPr>
          <p:cNvPr id="36" name="text"/>
          <p:cNvSpPr txBox="1"/>
          <p:nvPr/>
        </p:nvSpPr>
        <p:spPr>
          <a:xfrm>
            <a:off x="9742703" y="5431536"/>
            <a:ext cx="178148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Dara Astrini Rahayu K</a:t>
            </a:r>
            <a:endParaRPr lang="en-US" sz="1300" dirty="0"/>
          </a:p>
        </p:txBody>
      </p:sp>
      <p:sp>
        <p:nvSpPr>
          <p:cNvPr id="37" name="text"/>
          <p:cNvSpPr txBox="1"/>
          <p:nvPr/>
        </p:nvSpPr>
        <p:spPr>
          <a:xfrm>
            <a:off x="9742703" y="5733288"/>
            <a:ext cx="1781480" cy="27432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25/574437/PEK/31847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TABLE OF CONTENT</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ALUR PEMBAHASAN</a:t>
            </a:r>
            <a:endParaRPr lang="en-US" sz="2400" dirty="0"/>
          </a:p>
        </p:txBody>
      </p:sp>
      <p:sp>
        <p:nvSpPr>
          <p:cNvPr id="4" name="card"/>
          <p:cNvSpPr/>
          <p:nvPr/>
        </p:nvSpPr>
        <p:spPr>
          <a:xfrm>
            <a:off x="548640" y="1828800"/>
            <a:ext cx="2650160" cy="3063240"/>
          </a:xfrm>
          <a:prstGeom prst="roundRect">
            <a:avLst>
              <a:gd name="adj" fmla="val 414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 name="text"/>
          <p:cNvSpPr txBox="1"/>
          <p:nvPr/>
        </p:nvSpPr>
        <p:spPr>
          <a:xfrm>
            <a:off x="777240" y="2029968"/>
            <a:ext cx="1097280" cy="457200"/>
          </a:xfrm>
          <a:prstGeom prst="rect">
            <a:avLst/>
          </a:prstGeom>
          <a:noFill/>
          <a:ln/>
        </p:spPr>
        <p:txBody>
          <a:bodyPr wrap="square" lIns="0" tIns="0" rIns="0" bIns="0" rtlCol="0" anchor="t"/>
          <a:lstStyle/>
          <a:p>
            <a:pPr algn="l" indent="0" marL="0">
              <a:lnSpc>
                <a:spcPct val="108000"/>
              </a:lnSpc>
              <a:buNone/>
            </a:pPr>
            <a:r>
              <a:rPr lang="en-US" sz="2800" b="1" dirty="0">
                <a:solidFill>
                  <a:srgbClr val="6E6E6E"/>
                </a:solidFill>
                <a:latin typeface="Arial" pitchFamily="34" charset="0"/>
                <a:ea typeface="Arial" pitchFamily="34" charset="-122"/>
                <a:cs typeface="Arial" pitchFamily="34" charset="-120"/>
              </a:rPr>
              <a:t>01</a:t>
            </a:r>
            <a:endParaRPr lang="en-US" sz="2800" dirty="0"/>
          </a:p>
        </p:txBody>
      </p:sp>
      <p:sp>
        <p:nvSpPr>
          <p:cNvPr id="6" name="icon-bg"/>
          <p:cNvSpPr/>
          <p:nvPr/>
        </p:nvSpPr>
        <p:spPr>
          <a:xfrm>
            <a:off x="2467280" y="2057400"/>
            <a:ext cx="502920" cy="502920"/>
          </a:xfrm>
          <a:prstGeom prst="ellipse">
            <a:avLst/>
          </a:prstGeom>
          <a:solidFill>
            <a:srgbClr val="141414"/>
          </a:solidFill>
          <a:ln w="6350">
            <a:solidFill>
              <a:srgbClr val="141414"/>
            </a:solidFill>
            <a:prstDash val="solid"/>
          </a:ln>
        </p:spPr>
      </p:sp>
      <p:pic>
        <p:nvPicPr>
          <p:cNvPr id="7" name="icon" descr="preencoded.png">    </p:cNvPr>
          <p:cNvPicPr>
            <a:picLocks noChangeAspect="1"/>
          </p:cNvPicPr>
          <p:nvPr/>
        </p:nvPicPr>
        <p:blipFill>
          <a:blip r:embed="rId1"/>
          <a:stretch>
            <a:fillRect/>
          </a:stretch>
        </p:blipFill>
        <p:spPr>
          <a:xfrm>
            <a:off x="2587981" y="2178101"/>
            <a:ext cx="261518" cy="261518"/>
          </a:xfrm>
          <a:prstGeom prst="rect">
            <a:avLst/>
          </a:prstGeom>
        </p:spPr>
      </p:pic>
      <p:sp>
        <p:nvSpPr>
          <p:cNvPr id="8" name="text"/>
          <p:cNvSpPr txBox="1"/>
          <p:nvPr/>
        </p:nvSpPr>
        <p:spPr>
          <a:xfrm>
            <a:off x="777240" y="2743200"/>
            <a:ext cx="2192960" cy="685800"/>
          </a:xfrm>
          <a:prstGeom prst="rect">
            <a:avLst/>
          </a:prstGeom>
          <a:noFill/>
          <a:ln/>
        </p:spPr>
        <p:txBody>
          <a:bodyPr wrap="square" lIns="0" tIns="0" rIns="0" bIns="0" rtlCol="0" anchor="t"/>
          <a:lstStyle/>
          <a:p>
            <a:pPr algn="l" indent="0" marL="0">
              <a:lnSpc>
                <a:spcPct val="108000"/>
              </a:lnSpc>
              <a:buNone/>
            </a:pPr>
            <a:r>
              <a:rPr lang="en-US" sz="1500" b="1" dirty="0">
                <a:solidFill>
                  <a:srgbClr val="1C1C1C"/>
                </a:solidFill>
                <a:latin typeface="Arial" pitchFamily="34" charset="0"/>
                <a:ea typeface="Arial" pitchFamily="34" charset="-122"/>
                <a:cs typeface="Arial" pitchFamily="34" charset="-120"/>
              </a:rPr>
              <a:t>Landasan</a:t>
            </a:r>
            <a:endParaRPr lang="en-US" sz="1500" dirty="0"/>
          </a:p>
        </p:txBody>
      </p:sp>
      <p:sp>
        <p:nvSpPr>
          <p:cNvPr id="9" name="text"/>
          <p:cNvSpPr txBox="1"/>
          <p:nvPr/>
        </p:nvSpPr>
        <p:spPr>
          <a:xfrm>
            <a:off x="777240" y="3474720"/>
            <a:ext cx="2192960" cy="1325880"/>
          </a:xfrm>
          <a:prstGeom prst="rect">
            <a:avLst/>
          </a:prstGeom>
          <a:noFill/>
          <a:ln/>
        </p:spPr>
        <p:txBody>
          <a:bodyPr wrap="square" lIns="0" tIns="0" rIns="0" bIns="0" rtlCol="0" anchor="t"/>
          <a:lstStyle/>
          <a:p>
            <a:pPr algn="l" indent="0" marL="0">
              <a:lnSpc>
                <a:spcPct val="108000"/>
              </a:lnSpc>
              <a:buNone/>
            </a:pPr>
            <a:r>
              <a:rPr lang="en-US" sz="1250" dirty="0">
                <a:solidFill>
                  <a:srgbClr val="6E6E6E"/>
                </a:solidFill>
                <a:latin typeface="Calibri" pitchFamily="34" charset="0"/>
                <a:ea typeface="Calibri" pitchFamily="34" charset="-122"/>
                <a:cs typeface="Calibri" pitchFamily="34" charset="-120"/>
              </a:rPr>
              <a:t>Dari crafting ke executing strategy; mengapa eksekusi menjadi ujian sesungguhnya; kerangka 10 tugas dan tiga aksi kunci.</a:t>
            </a:r>
            <a:endParaRPr lang="en-US" sz="1250" dirty="0"/>
          </a:p>
        </p:txBody>
      </p:sp>
      <p:sp>
        <p:nvSpPr>
          <p:cNvPr id="10" name="card"/>
          <p:cNvSpPr/>
          <p:nvPr/>
        </p:nvSpPr>
        <p:spPr>
          <a:xfrm>
            <a:off x="3363392" y="1828800"/>
            <a:ext cx="2650160" cy="3063240"/>
          </a:xfrm>
          <a:prstGeom prst="roundRect">
            <a:avLst>
              <a:gd name="adj" fmla="val 4140"/>
            </a:avLst>
          </a:prstGeom>
          <a:solidFill>
            <a:srgbClr val="D7F544"/>
          </a:solidFill>
          <a:ln w="6350">
            <a:solidFill>
              <a:srgbClr val="D7F544"/>
            </a:solidFill>
            <a:prstDash val="solid"/>
          </a:ln>
        </p:spPr>
      </p:sp>
      <p:sp>
        <p:nvSpPr>
          <p:cNvPr id="11" name="text"/>
          <p:cNvSpPr txBox="1"/>
          <p:nvPr/>
        </p:nvSpPr>
        <p:spPr>
          <a:xfrm>
            <a:off x="3591992" y="2029968"/>
            <a:ext cx="1097280" cy="457200"/>
          </a:xfrm>
          <a:prstGeom prst="rect">
            <a:avLst/>
          </a:prstGeom>
          <a:noFill/>
          <a:ln/>
        </p:spPr>
        <p:txBody>
          <a:bodyPr wrap="square" lIns="0" tIns="0" rIns="0" bIns="0" rtlCol="0" anchor="t"/>
          <a:lstStyle/>
          <a:p>
            <a:pPr algn="l" indent="0" marL="0">
              <a:lnSpc>
                <a:spcPct val="108000"/>
              </a:lnSpc>
              <a:buNone/>
            </a:pPr>
            <a:r>
              <a:rPr lang="en-US" sz="2800" b="1" dirty="0">
                <a:solidFill>
                  <a:srgbClr val="141414"/>
                </a:solidFill>
                <a:latin typeface="Arial" pitchFamily="34" charset="0"/>
                <a:ea typeface="Arial" pitchFamily="34" charset="-122"/>
                <a:cs typeface="Arial" pitchFamily="34" charset="-120"/>
              </a:rPr>
              <a:t>02</a:t>
            </a:r>
            <a:endParaRPr lang="en-US" sz="2800" dirty="0"/>
          </a:p>
        </p:txBody>
      </p:sp>
      <p:sp>
        <p:nvSpPr>
          <p:cNvPr id="12" name="icon-bg"/>
          <p:cNvSpPr/>
          <p:nvPr/>
        </p:nvSpPr>
        <p:spPr>
          <a:xfrm>
            <a:off x="5282032" y="2057400"/>
            <a:ext cx="502920" cy="502920"/>
          </a:xfrm>
          <a:prstGeom prst="ellipse">
            <a:avLst/>
          </a:prstGeom>
          <a:solidFill>
            <a:srgbClr val="141414"/>
          </a:solidFill>
          <a:ln w="6350">
            <a:solidFill>
              <a:srgbClr val="141414"/>
            </a:solidFill>
            <a:prstDash val="solid"/>
          </a:ln>
        </p:spPr>
      </p:sp>
      <p:pic>
        <p:nvPicPr>
          <p:cNvPr id="13" name="icon" descr="preencoded.png">    </p:cNvPr>
          <p:cNvPicPr>
            <a:picLocks noChangeAspect="1"/>
          </p:cNvPicPr>
          <p:nvPr/>
        </p:nvPicPr>
        <p:blipFill>
          <a:blip r:embed="rId2"/>
          <a:stretch>
            <a:fillRect/>
          </a:stretch>
        </p:blipFill>
        <p:spPr>
          <a:xfrm>
            <a:off x="5402732" y="2178101"/>
            <a:ext cx="261518" cy="261518"/>
          </a:xfrm>
          <a:prstGeom prst="rect">
            <a:avLst/>
          </a:prstGeom>
        </p:spPr>
      </p:pic>
      <p:sp>
        <p:nvSpPr>
          <p:cNvPr id="14" name="text"/>
          <p:cNvSpPr txBox="1"/>
          <p:nvPr/>
        </p:nvSpPr>
        <p:spPr>
          <a:xfrm>
            <a:off x="3591992" y="2743200"/>
            <a:ext cx="2192960" cy="685800"/>
          </a:xfrm>
          <a:prstGeom prst="rect">
            <a:avLst/>
          </a:prstGeom>
          <a:noFill/>
          <a:ln/>
        </p:spPr>
        <p:txBody>
          <a:bodyPr wrap="square" lIns="0" tIns="0" rIns="0" bIns="0" rtlCol="0" anchor="t"/>
          <a:lstStyle/>
          <a:p>
            <a:pPr algn="l" indent="0" marL="0">
              <a:lnSpc>
                <a:spcPct val="108000"/>
              </a:lnSpc>
              <a:buNone/>
            </a:pPr>
            <a:r>
              <a:rPr lang="en-US" sz="1500" b="1" dirty="0">
                <a:solidFill>
                  <a:srgbClr val="141414"/>
                </a:solidFill>
                <a:latin typeface="Arial" pitchFamily="34" charset="0"/>
                <a:ea typeface="Arial" pitchFamily="34" charset="-122"/>
                <a:cs typeface="Arial" pitchFamily="34" charset="-120"/>
              </a:rPr>
              <a:t>Staffing the Organization</a:t>
            </a:r>
            <a:endParaRPr lang="en-US" sz="1500" dirty="0"/>
          </a:p>
        </p:txBody>
      </p:sp>
      <p:sp>
        <p:nvSpPr>
          <p:cNvPr id="15" name="text"/>
          <p:cNvSpPr txBox="1"/>
          <p:nvPr/>
        </p:nvSpPr>
        <p:spPr>
          <a:xfrm>
            <a:off x="3591992" y="3474720"/>
            <a:ext cx="2192960" cy="1325880"/>
          </a:xfrm>
          <a:prstGeom prst="rect">
            <a:avLst/>
          </a:prstGeom>
          <a:noFill/>
          <a:ln/>
        </p:spPr>
        <p:txBody>
          <a:bodyPr wrap="square" lIns="0" tIns="0" rIns="0" bIns="0" rtlCol="0" anchor="t"/>
          <a:lstStyle/>
          <a:p>
            <a:pPr algn="l" indent="0" marL="0">
              <a:lnSpc>
                <a:spcPct val="108000"/>
              </a:lnSpc>
              <a:buNone/>
            </a:pPr>
            <a:r>
              <a:rPr lang="en-US" sz="1250" dirty="0">
                <a:solidFill>
                  <a:srgbClr val="1C1C1C"/>
                </a:solidFill>
                <a:latin typeface="Calibri" pitchFamily="34" charset="0"/>
                <a:ea typeface="Calibri" pitchFamily="34" charset="-122"/>
                <a:cs typeface="Calibri" pitchFamily="34" charset="-120"/>
              </a:rPr>
              <a:t>Menyusun tim manajemen yang kuat; merekrut, melatih, dan mempertahankan karyawan berbakat.</a:t>
            </a:r>
            <a:endParaRPr lang="en-US" sz="1250" dirty="0"/>
          </a:p>
        </p:txBody>
      </p:sp>
      <p:sp>
        <p:nvSpPr>
          <p:cNvPr id="16" name="card"/>
          <p:cNvSpPr/>
          <p:nvPr/>
        </p:nvSpPr>
        <p:spPr>
          <a:xfrm>
            <a:off x="6178144" y="1828800"/>
            <a:ext cx="2650160" cy="3063240"/>
          </a:xfrm>
          <a:prstGeom prst="roundRect">
            <a:avLst>
              <a:gd name="adj" fmla="val 414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7" name="text"/>
          <p:cNvSpPr txBox="1"/>
          <p:nvPr/>
        </p:nvSpPr>
        <p:spPr>
          <a:xfrm>
            <a:off x="6406744" y="2029968"/>
            <a:ext cx="1097280" cy="457200"/>
          </a:xfrm>
          <a:prstGeom prst="rect">
            <a:avLst/>
          </a:prstGeom>
          <a:noFill/>
          <a:ln/>
        </p:spPr>
        <p:txBody>
          <a:bodyPr wrap="square" lIns="0" tIns="0" rIns="0" bIns="0" rtlCol="0" anchor="t"/>
          <a:lstStyle/>
          <a:p>
            <a:pPr algn="l" indent="0" marL="0">
              <a:lnSpc>
                <a:spcPct val="108000"/>
              </a:lnSpc>
              <a:buNone/>
            </a:pPr>
            <a:r>
              <a:rPr lang="en-US" sz="2800" b="1" dirty="0">
                <a:solidFill>
                  <a:srgbClr val="6E6E6E"/>
                </a:solidFill>
                <a:latin typeface="Arial" pitchFamily="34" charset="0"/>
                <a:ea typeface="Arial" pitchFamily="34" charset="-122"/>
                <a:cs typeface="Arial" pitchFamily="34" charset="-120"/>
              </a:rPr>
              <a:t>03</a:t>
            </a:r>
            <a:endParaRPr lang="en-US" sz="2800" dirty="0"/>
          </a:p>
        </p:txBody>
      </p:sp>
      <p:sp>
        <p:nvSpPr>
          <p:cNvPr id="18" name="icon-bg"/>
          <p:cNvSpPr/>
          <p:nvPr/>
        </p:nvSpPr>
        <p:spPr>
          <a:xfrm>
            <a:off x="8096783" y="2057400"/>
            <a:ext cx="502920" cy="502920"/>
          </a:xfrm>
          <a:prstGeom prst="ellipse">
            <a:avLst/>
          </a:prstGeom>
          <a:solidFill>
            <a:srgbClr val="141414"/>
          </a:solidFill>
          <a:ln w="6350">
            <a:solidFill>
              <a:srgbClr val="141414"/>
            </a:solidFill>
            <a:prstDash val="solid"/>
          </a:ln>
        </p:spPr>
      </p:sp>
      <p:pic>
        <p:nvPicPr>
          <p:cNvPr id="19" name="icon" descr="preencoded.png">    </p:cNvPr>
          <p:cNvPicPr>
            <a:picLocks noChangeAspect="1"/>
          </p:cNvPicPr>
          <p:nvPr/>
        </p:nvPicPr>
        <p:blipFill>
          <a:blip r:embed="rId3"/>
          <a:stretch>
            <a:fillRect/>
          </a:stretch>
        </p:blipFill>
        <p:spPr>
          <a:xfrm>
            <a:off x="8217484" y="2178101"/>
            <a:ext cx="261518" cy="261518"/>
          </a:xfrm>
          <a:prstGeom prst="rect">
            <a:avLst/>
          </a:prstGeom>
        </p:spPr>
      </p:pic>
      <p:sp>
        <p:nvSpPr>
          <p:cNvPr id="20" name="text"/>
          <p:cNvSpPr txBox="1"/>
          <p:nvPr/>
        </p:nvSpPr>
        <p:spPr>
          <a:xfrm>
            <a:off x="6406744" y="2743200"/>
            <a:ext cx="2192960" cy="685800"/>
          </a:xfrm>
          <a:prstGeom prst="rect">
            <a:avLst/>
          </a:prstGeom>
          <a:noFill/>
          <a:ln/>
        </p:spPr>
        <p:txBody>
          <a:bodyPr wrap="square" lIns="0" tIns="0" rIns="0" bIns="0" rtlCol="0" anchor="t"/>
          <a:lstStyle/>
          <a:p>
            <a:pPr algn="l" indent="0" marL="0">
              <a:lnSpc>
                <a:spcPct val="108000"/>
              </a:lnSpc>
              <a:buNone/>
            </a:pPr>
            <a:r>
              <a:rPr lang="en-US" sz="1500" b="1" dirty="0">
                <a:solidFill>
                  <a:srgbClr val="1C1C1C"/>
                </a:solidFill>
                <a:latin typeface="Arial" pitchFamily="34" charset="0"/>
                <a:ea typeface="Arial" pitchFamily="34" charset="-122"/>
                <a:cs typeface="Arial" pitchFamily="34" charset="-120"/>
              </a:rPr>
              <a:t>Building Resources &amp; Capabilities</a:t>
            </a:r>
            <a:endParaRPr lang="en-US" sz="1500" dirty="0"/>
          </a:p>
        </p:txBody>
      </p:sp>
      <p:sp>
        <p:nvSpPr>
          <p:cNvPr id="21" name="text"/>
          <p:cNvSpPr txBox="1"/>
          <p:nvPr/>
        </p:nvSpPr>
        <p:spPr>
          <a:xfrm>
            <a:off x="6406744" y="3474720"/>
            <a:ext cx="2192960" cy="1325880"/>
          </a:xfrm>
          <a:prstGeom prst="rect">
            <a:avLst/>
          </a:prstGeom>
          <a:noFill/>
          <a:ln/>
        </p:spPr>
        <p:txBody>
          <a:bodyPr wrap="square" lIns="0" tIns="0" rIns="0" bIns="0" rtlCol="0" anchor="t"/>
          <a:lstStyle/>
          <a:p>
            <a:pPr algn="l" indent="0" marL="0">
              <a:lnSpc>
                <a:spcPct val="108000"/>
              </a:lnSpc>
              <a:buNone/>
            </a:pPr>
            <a:r>
              <a:rPr lang="en-US" sz="1250" dirty="0">
                <a:solidFill>
                  <a:srgbClr val="6E6E6E"/>
                </a:solidFill>
                <a:latin typeface="Calibri" pitchFamily="34" charset="0"/>
                <a:ea typeface="Calibri" pitchFamily="34" charset="-122"/>
                <a:cs typeface="Calibri" pitchFamily="34" charset="-120"/>
              </a:rPr>
              <a:t>Tiga pendekatan membangun organizational capabilities; execution capability sebagai sumber competitive advantage.</a:t>
            </a:r>
            <a:endParaRPr lang="en-US" sz="1250" dirty="0"/>
          </a:p>
        </p:txBody>
      </p:sp>
      <p:sp>
        <p:nvSpPr>
          <p:cNvPr id="22" name="card"/>
          <p:cNvSpPr/>
          <p:nvPr/>
        </p:nvSpPr>
        <p:spPr>
          <a:xfrm>
            <a:off x="8992895" y="1828800"/>
            <a:ext cx="2650160" cy="3063240"/>
          </a:xfrm>
          <a:prstGeom prst="roundRect">
            <a:avLst>
              <a:gd name="adj" fmla="val 4140"/>
            </a:avLst>
          </a:prstGeom>
          <a:solidFill>
            <a:srgbClr val="141414"/>
          </a:solidFill>
          <a:ln w="6350">
            <a:solidFill>
              <a:srgbClr val="141414"/>
            </a:solidFill>
            <a:prstDash val="solid"/>
          </a:ln>
        </p:spPr>
      </p:sp>
      <p:sp>
        <p:nvSpPr>
          <p:cNvPr id="23" name="text"/>
          <p:cNvSpPr txBox="1"/>
          <p:nvPr/>
        </p:nvSpPr>
        <p:spPr>
          <a:xfrm>
            <a:off x="9221495" y="2029968"/>
            <a:ext cx="1097280" cy="457200"/>
          </a:xfrm>
          <a:prstGeom prst="rect">
            <a:avLst/>
          </a:prstGeom>
          <a:noFill/>
          <a:ln/>
        </p:spPr>
        <p:txBody>
          <a:bodyPr wrap="square" lIns="0" tIns="0" rIns="0" bIns="0" rtlCol="0" anchor="t"/>
          <a:lstStyle/>
          <a:p>
            <a:pPr algn="l" indent="0" marL="0">
              <a:lnSpc>
                <a:spcPct val="108000"/>
              </a:lnSpc>
              <a:buNone/>
            </a:pPr>
            <a:r>
              <a:rPr lang="en-US" sz="2800" b="1" dirty="0">
                <a:solidFill>
                  <a:srgbClr val="D7F544"/>
                </a:solidFill>
                <a:latin typeface="Arial" pitchFamily="34" charset="0"/>
                <a:ea typeface="Arial" pitchFamily="34" charset="-122"/>
                <a:cs typeface="Arial" pitchFamily="34" charset="-120"/>
              </a:rPr>
              <a:t>04</a:t>
            </a:r>
            <a:endParaRPr lang="en-US" sz="2800" dirty="0"/>
          </a:p>
        </p:txBody>
      </p:sp>
      <p:sp>
        <p:nvSpPr>
          <p:cNvPr id="24" name="icon-bg"/>
          <p:cNvSpPr/>
          <p:nvPr/>
        </p:nvSpPr>
        <p:spPr>
          <a:xfrm>
            <a:off x="10911535" y="2057400"/>
            <a:ext cx="502920" cy="502920"/>
          </a:xfrm>
          <a:prstGeom prst="ellipse">
            <a:avLst/>
          </a:prstGeom>
          <a:solidFill>
            <a:srgbClr val="D7F544"/>
          </a:solidFill>
          <a:ln w="6350">
            <a:solidFill>
              <a:srgbClr val="D7F544"/>
            </a:solidFill>
            <a:prstDash val="solid"/>
          </a:ln>
        </p:spPr>
      </p:sp>
      <p:pic>
        <p:nvPicPr>
          <p:cNvPr id="25" name="icon" descr="preencoded.png">    </p:cNvPr>
          <p:cNvPicPr>
            <a:picLocks noChangeAspect="1"/>
          </p:cNvPicPr>
          <p:nvPr/>
        </p:nvPicPr>
        <p:blipFill>
          <a:blip r:embed="rId4"/>
          <a:stretch>
            <a:fillRect/>
          </a:stretch>
        </p:blipFill>
        <p:spPr>
          <a:xfrm>
            <a:off x="11032236" y="2178101"/>
            <a:ext cx="261518" cy="261518"/>
          </a:xfrm>
          <a:prstGeom prst="rect">
            <a:avLst/>
          </a:prstGeom>
        </p:spPr>
      </p:pic>
      <p:sp>
        <p:nvSpPr>
          <p:cNvPr id="26" name="text"/>
          <p:cNvSpPr txBox="1"/>
          <p:nvPr/>
        </p:nvSpPr>
        <p:spPr>
          <a:xfrm>
            <a:off x="9221495" y="2743200"/>
            <a:ext cx="2192960" cy="685800"/>
          </a:xfrm>
          <a:prstGeom prst="rect">
            <a:avLst/>
          </a:prstGeom>
          <a:noFill/>
          <a:ln/>
        </p:spPr>
        <p:txBody>
          <a:bodyPr wrap="square" lIns="0" tIns="0" rIns="0" bIns="0" rtlCol="0" anchor="t"/>
          <a:lstStyle/>
          <a:p>
            <a:pPr algn="l" indent="0" marL="0">
              <a:lnSpc>
                <a:spcPct val="108000"/>
              </a:lnSpc>
              <a:buNone/>
            </a:pPr>
            <a:r>
              <a:rPr lang="en-US" sz="1500" b="1" dirty="0">
                <a:solidFill>
                  <a:srgbClr val="FFFFFF"/>
                </a:solidFill>
                <a:latin typeface="Arial" pitchFamily="34" charset="0"/>
                <a:ea typeface="Arial" pitchFamily="34" charset="-122"/>
                <a:cs typeface="Arial" pitchFamily="34" charset="-120"/>
              </a:rPr>
              <a:t>Structuring the Organization</a:t>
            </a:r>
            <a:endParaRPr lang="en-US" sz="1500" dirty="0"/>
          </a:p>
        </p:txBody>
      </p:sp>
      <p:sp>
        <p:nvSpPr>
          <p:cNvPr id="27" name="text"/>
          <p:cNvSpPr txBox="1"/>
          <p:nvPr/>
        </p:nvSpPr>
        <p:spPr>
          <a:xfrm>
            <a:off x="9221495" y="3474720"/>
            <a:ext cx="2192960" cy="1325880"/>
          </a:xfrm>
          <a:prstGeom prst="rect">
            <a:avLst/>
          </a:prstGeom>
          <a:noFill/>
          <a:ln/>
        </p:spPr>
        <p:txBody>
          <a:bodyPr wrap="square" lIns="0" tIns="0" rIns="0" bIns="0" rtlCol="0" anchor="t"/>
          <a:lstStyle/>
          <a:p>
            <a:pPr algn="l" indent="0" marL="0">
              <a:lnSpc>
                <a:spcPct val="108000"/>
              </a:lnSpc>
              <a:buNone/>
            </a:pPr>
            <a:r>
              <a:rPr lang="en-US" sz="1250" dirty="0">
                <a:solidFill>
                  <a:srgbClr val="D9D9D9"/>
                </a:solidFill>
                <a:latin typeface="Calibri" pitchFamily="34" charset="0"/>
                <a:ea typeface="Calibri" pitchFamily="34" charset="-122"/>
                <a:cs typeface="Calibri" pitchFamily="34" charset="-120"/>
              </a:rPr>
              <a:t>Outsourcing, empat tipe struktur, sentralisasi vs desentralisasi, koordinasi lintas unit dan mitra eksternal.</a:t>
            </a:r>
            <a:endParaRPr lang="en-US" sz="1250" dirty="0"/>
          </a:p>
        </p:txBody>
      </p:sp>
      <p:sp>
        <p:nvSpPr>
          <p:cNvPr id="28" name="card"/>
          <p:cNvSpPr/>
          <p:nvPr/>
        </p:nvSpPr>
        <p:spPr>
          <a:xfrm>
            <a:off x="548640" y="5166360"/>
            <a:ext cx="6766560" cy="457200"/>
          </a:xfrm>
          <a:prstGeom prst="roundRect">
            <a:avLst>
              <a:gd name="adj" fmla="val 44000"/>
            </a:avLst>
          </a:prstGeom>
          <a:solidFill>
            <a:srgbClr val="D7F544"/>
          </a:solidFill>
          <a:ln w="6350">
            <a:solidFill>
              <a:srgbClr val="D7F544"/>
            </a:solidFill>
            <a:prstDash val="solid"/>
          </a:ln>
        </p:spPr>
      </p:sp>
      <p:sp>
        <p:nvSpPr>
          <p:cNvPr id="29" name="text"/>
          <p:cNvSpPr txBox="1"/>
          <p:nvPr/>
        </p:nvSpPr>
        <p:spPr>
          <a:xfrm>
            <a:off x="658368" y="5166360"/>
            <a:ext cx="6547104" cy="457200"/>
          </a:xfrm>
          <a:prstGeom prst="rect">
            <a:avLst/>
          </a:prstGeom>
          <a:noFill/>
          <a:ln/>
        </p:spPr>
        <p:txBody>
          <a:bodyPr wrap="square" lIns="0" tIns="0" rIns="0" bIns="0" rtlCol="0" anchor="ctr"/>
          <a:lstStyle/>
          <a:p>
            <a:pPr algn="ctr" indent="0" marL="0">
              <a:lnSpc>
                <a:spcPct val="108000"/>
              </a:lnSpc>
              <a:buNone/>
            </a:pPr>
            <a:r>
              <a:rPr lang="en-US" sz="1000" b="1" spc="100" kern="0" dirty="0">
                <a:solidFill>
                  <a:srgbClr val="141414"/>
                </a:solidFill>
                <a:latin typeface="Arial" pitchFamily="34" charset="0"/>
                <a:ea typeface="Arial" pitchFamily="34" charset="-122"/>
                <a:cs typeface="Arial" pitchFamily="34" charset="-120"/>
              </a:rPr>
              <a:t>05  ·  SINTESIS, BAHAN RENUNGAN, DAN JEMBATAN KE BAB 11–12 SERTA KERANGKA 4DX</a:t>
            </a:r>
            <a:endParaRPr lang="en-US" sz="1000" dirty="0"/>
          </a:p>
        </p:txBody>
      </p:sp>
      <p:sp>
        <p:nvSpPr>
          <p:cNvPr id="30" name="text"/>
          <p:cNvSpPr txBox="1"/>
          <p:nvPr/>
        </p:nvSpPr>
        <p:spPr>
          <a:xfrm>
            <a:off x="7543800" y="5166360"/>
            <a:ext cx="4114800" cy="457200"/>
          </a:xfrm>
          <a:prstGeom prst="rect">
            <a:avLst/>
          </a:prstGeom>
          <a:noFill/>
          <a:ln/>
        </p:spPr>
        <p:txBody>
          <a:bodyPr wrap="square" lIns="0" tIns="0" rIns="0" bIns="0" rtlCol="0" anchor="ctr"/>
          <a:lstStyle/>
          <a:p>
            <a:pPr algn="l" indent="0" marL="0">
              <a:lnSpc>
                <a:spcPct val="108000"/>
              </a:lnSpc>
              <a:buNone/>
            </a:pPr>
            <a:r>
              <a:rPr lang="en-US" sz="1100" i="1" dirty="0">
                <a:solidFill>
                  <a:srgbClr val="6E6E6E"/>
                </a:solidFill>
                <a:latin typeface="Calibri" pitchFamily="34" charset="0"/>
                <a:ea typeface="Calibri" pitchFamily="34" charset="-122"/>
                <a:cs typeface="Calibri" pitchFamily="34" charset="-120"/>
              </a:rPr>
              <a:t>Durasi ± 15 menit  ·  penekanan pada how dan why, bukan sekadar what</a:t>
            </a:r>
            <a:endParaRPr lang="en-US" sz="11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01  ·  LANDASAN</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DARI MERUMUSKAN KE MENGEKSEKUSI STRATEGI</a:t>
            </a:r>
            <a:endParaRPr lang="en-US" sz="2400" dirty="0"/>
          </a:p>
        </p:txBody>
      </p:sp>
      <p:pic>
        <p:nvPicPr>
          <p:cNvPr id="4" name="Foto awak kapal" descr="preencoded.png">    </p:cNvPr>
          <p:cNvPicPr>
            <a:picLocks noChangeAspect="1"/>
          </p:cNvPicPr>
          <p:nvPr/>
        </p:nvPicPr>
        <p:blipFill>
          <a:blip r:embed="rId1"/>
          <a:stretch>
            <a:fillRect/>
          </a:stretch>
        </p:blipFill>
        <p:spPr>
          <a:xfrm>
            <a:off x="548640" y="1737360"/>
            <a:ext cx="4754880" cy="2743200"/>
          </a:xfrm>
          <a:prstGeom prst="rect">
            <a:avLst/>
          </a:prstGeom>
        </p:spPr>
      </p:pic>
      <p:sp>
        <p:nvSpPr>
          <p:cNvPr id="5" name="card"/>
          <p:cNvSpPr/>
          <p:nvPr/>
        </p:nvSpPr>
        <p:spPr>
          <a:xfrm>
            <a:off x="548640" y="4617720"/>
            <a:ext cx="4754880" cy="1691640"/>
          </a:xfrm>
          <a:prstGeom prst="roundRect">
            <a:avLst>
              <a:gd name="adj" fmla="val 6486"/>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6" name="text"/>
          <p:cNvSpPr txBox="1"/>
          <p:nvPr/>
        </p:nvSpPr>
        <p:spPr>
          <a:xfrm>
            <a:off x="749808" y="4754880"/>
            <a:ext cx="4352544" cy="146304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Calibri" pitchFamily="34" charset="0"/>
                <a:ea typeface="Calibri" pitchFamily="34" charset="-122"/>
                <a:cs typeface="Calibri" pitchFamily="34" charset="-120"/>
              </a:rPr>
              <a:t>Analogi kapal. </a:t>
            </a:r>
            <a:pPr algn="l" indent="0" marL="0">
              <a:lnSpc>
                <a:spcPct val="108000"/>
              </a:lnSpc>
              <a:buNone/>
            </a:pPr>
            <a:r>
              <a:rPr lang="en-US" sz="1250" dirty="0">
                <a:solidFill>
                  <a:srgbClr val="1C1C1C"/>
                </a:solidFill>
                <a:latin typeface="Calibri" pitchFamily="34" charset="0"/>
                <a:ea typeface="Calibri" pitchFamily="34" charset="-122"/>
                <a:cs typeface="Calibri" pitchFamily="34" charset="-120"/>
              </a:rPr>
              <a:t>Visi adalah bintang penunjuk arah (Bab 1–2), lingkungan eksternal adalah arah angin (Bab 3), resources dan capabilities adalah layar dan mesin (Bab 4), pilihan strategi adalah haluan (Bab 5–8). Bab 10 bertanya: siapa awak kapalnya, apa yang mereka kuasai, dan bagaimana mereka ditata di geladak.</a:t>
            </a:r>
            <a:endParaRPr lang="en-US" sz="1250" dirty="0"/>
          </a:p>
        </p:txBody>
      </p:sp>
      <p:sp>
        <p:nvSpPr>
          <p:cNvPr id="7" name="card"/>
          <p:cNvSpPr/>
          <p:nvPr/>
        </p:nvSpPr>
        <p:spPr>
          <a:xfrm>
            <a:off x="5577840" y="1737360"/>
            <a:ext cx="2950312" cy="1965960"/>
          </a:xfrm>
          <a:prstGeom prst="roundRect">
            <a:avLst>
              <a:gd name="adj" fmla="val 558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8" name="text"/>
          <p:cNvSpPr txBox="1"/>
          <p:nvPr/>
        </p:nvSpPr>
        <p:spPr>
          <a:xfrm>
            <a:off x="5779008" y="1901952"/>
            <a:ext cx="2584552"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CRAFTING STRATEGY</a:t>
            </a:r>
            <a:endParaRPr lang="en-US" sz="1200" dirty="0"/>
          </a:p>
        </p:txBody>
      </p:sp>
      <p:sp>
        <p:nvSpPr>
          <p:cNvPr id="9" name="text"/>
          <p:cNvSpPr txBox="1"/>
          <p:nvPr/>
        </p:nvSpPr>
        <p:spPr>
          <a:xfrm>
            <a:off x="5779008" y="2240280"/>
            <a:ext cx="2584552" cy="1417320"/>
          </a:xfrm>
          <a:prstGeom prst="rect">
            <a:avLst/>
          </a:prstGeom>
          <a:noFill/>
          <a:ln/>
        </p:spPr>
        <p:txBody>
          <a:bodyPr wrap="square" lIns="0" tIns="0" rIns="0" bIns="0" rtlCol="0" anchor="t"/>
          <a:lstStyle/>
          <a:p>
            <a:pPr algn="l" marL="139700" indent="-139700">
              <a:lnSpc>
                <a:spcPct val="108000"/>
              </a:lnSpc>
              <a:spcAft>
                <a:spcPts val="400"/>
              </a:spcAft>
              <a:buSzPct val="100000"/>
              <a:buChar char="•"/>
            </a:pPr>
            <a:r>
              <a:rPr lang="en-US" sz="1250" dirty="0">
                <a:solidFill>
                  <a:srgbClr val="1C1C1C"/>
                </a:solidFill>
                <a:latin typeface="Calibri" pitchFamily="34" charset="0"/>
                <a:ea typeface="Calibri" pitchFamily="34" charset="-122"/>
                <a:cs typeface="Calibri" pitchFamily="34" charset="-120"/>
              </a:rPr>
              <a:t>Bersifat analysis-driven</a:t>
            </a:r>
            <a:endParaRPr lang="en-US" sz="1250" dirty="0"/>
          </a:p>
          <a:p>
            <a:pPr algn="l" marL="139700" indent="-139700">
              <a:lnSpc>
                <a:spcPct val="108000"/>
              </a:lnSpc>
              <a:spcAft>
                <a:spcPts val="400"/>
              </a:spcAft>
              <a:buSzPct val="100000"/>
              <a:buChar char="•"/>
            </a:pPr>
            <a:r>
              <a:rPr lang="en-US" sz="1250" dirty="0">
                <a:solidFill>
                  <a:srgbClr val="1C1C1C"/>
                </a:solidFill>
                <a:latin typeface="Calibri" pitchFamily="34" charset="0"/>
                <a:ea typeface="Calibri" pitchFamily="34" charset="-122"/>
                <a:cs typeface="Calibri" pitchFamily="34" charset="-120"/>
              </a:rPr>
              <a:t>Fokus pada kondisi pasar serta resources dan capabilities perusahaan</a:t>
            </a:r>
            <a:endParaRPr lang="en-US" sz="1250" dirty="0"/>
          </a:p>
          <a:p>
            <a:pPr algn="l" marL="139700" indent="-139700">
              <a:lnSpc>
                <a:spcPct val="108000"/>
              </a:lnSpc>
              <a:spcAft>
                <a:spcPts val="400"/>
              </a:spcAft>
              <a:buSzPct val="100000"/>
              <a:buChar char="•"/>
            </a:pPr>
            <a:r>
              <a:rPr lang="en-US" sz="1250" dirty="0">
                <a:solidFill>
                  <a:srgbClr val="1C1C1C"/>
                </a:solidFill>
                <a:latin typeface="Calibri" pitchFamily="34" charset="0"/>
                <a:ea typeface="Calibri" pitchFamily="34" charset="-122"/>
                <a:cs typeface="Calibri" pitchFamily="34" charset="-120"/>
              </a:rPr>
              <a:t>Pertanyaan: ke mana dan bagaimana bersaing</a:t>
            </a:r>
            <a:endParaRPr lang="en-US" sz="1250" dirty="0"/>
          </a:p>
        </p:txBody>
      </p:sp>
      <p:sp>
        <p:nvSpPr>
          <p:cNvPr id="10" name="card"/>
          <p:cNvSpPr/>
          <p:nvPr/>
        </p:nvSpPr>
        <p:spPr>
          <a:xfrm>
            <a:off x="8692744" y="1737360"/>
            <a:ext cx="2950312" cy="1965960"/>
          </a:xfrm>
          <a:prstGeom prst="roundRect">
            <a:avLst>
              <a:gd name="adj" fmla="val 5581"/>
            </a:avLst>
          </a:prstGeom>
          <a:solidFill>
            <a:srgbClr val="141414"/>
          </a:solidFill>
          <a:ln w="6350">
            <a:solidFill>
              <a:srgbClr val="141414"/>
            </a:solidFill>
            <a:prstDash val="solid"/>
          </a:ln>
        </p:spPr>
      </p:sp>
      <p:sp>
        <p:nvSpPr>
          <p:cNvPr id="11" name="text"/>
          <p:cNvSpPr txBox="1"/>
          <p:nvPr/>
        </p:nvSpPr>
        <p:spPr>
          <a:xfrm>
            <a:off x="8893912" y="1901952"/>
            <a:ext cx="2584552"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D7F544"/>
                </a:solidFill>
                <a:latin typeface="Arial" pitchFamily="34" charset="0"/>
                <a:ea typeface="Arial" pitchFamily="34" charset="-122"/>
                <a:cs typeface="Arial" pitchFamily="34" charset="-120"/>
              </a:rPr>
              <a:t>EXECUTING STRATEGY</a:t>
            </a:r>
            <a:endParaRPr lang="en-US" sz="1200" dirty="0"/>
          </a:p>
        </p:txBody>
      </p:sp>
      <p:sp>
        <p:nvSpPr>
          <p:cNvPr id="12" name="text"/>
          <p:cNvSpPr txBox="1"/>
          <p:nvPr/>
        </p:nvSpPr>
        <p:spPr>
          <a:xfrm>
            <a:off x="8893912" y="2240280"/>
            <a:ext cx="2584552" cy="1417320"/>
          </a:xfrm>
          <a:prstGeom prst="rect">
            <a:avLst/>
          </a:prstGeom>
          <a:noFill/>
          <a:ln/>
        </p:spPr>
        <p:txBody>
          <a:bodyPr wrap="square" lIns="0" tIns="0" rIns="0" bIns="0" rtlCol="0" anchor="t"/>
          <a:lstStyle/>
          <a:p>
            <a:pPr algn="l" marL="139700" indent="-139700">
              <a:lnSpc>
                <a:spcPct val="108000"/>
              </a:lnSpc>
              <a:spcAft>
                <a:spcPts val="400"/>
              </a:spcAft>
              <a:buSzPct val="100000"/>
              <a:buChar char="•"/>
            </a:pPr>
            <a:r>
              <a:rPr lang="en-US" sz="1250" dirty="0">
                <a:solidFill>
                  <a:srgbClr val="E6E6E6"/>
                </a:solidFill>
                <a:latin typeface="Calibri" pitchFamily="34" charset="0"/>
                <a:ea typeface="Calibri" pitchFamily="34" charset="-122"/>
                <a:cs typeface="Calibri" pitchFamily="34" charset="-120"/>
              </a:rPr>
              <a:t>Bersifat operations-driven</a:t>
            </a:r>
            <a:endParaRPr lang="en-US" sz="1250" dirty="0"/>
          </a:p>
          <a:p>
            <a:pPr algn="l" marL="139700" indent="-139700">
              <a:lnSpc>
                <a:spcPct val="108000"/>
              </a:lnSpc>
              <a:spcAft>
                <a:spcPts val="400"/>
              </a:spcAft>
              <a:buSzPct val="100000"/>
              <a:buChar char="•"/>
            </a:pPr>
            <a:r>
              <a:rPr lang="en-US" sz="1250" dirty="0">
                <a:solidFill>
                  <a:srgbClr val="E6E6E6"/>
                </a:solidFill>
                <a:latin typeface="Calibri" pitchFamily="34" charset="0"/>
                <a:ea typeface="Calibri" pitchFamily="34" charset="-122"/>
                <a:cs typeface="Calibri" pitchFamily="34" charset="-120"/>
              </a:rPr>
              <a:t>Mengelola people, resources, business processes, dan organizational structure</a:t>
            </a:r>
            <a:endParaRPr lang="en-US" sz="1250" dirty="0"/>
          </a:p>
          <a:p>
            <a:pPr algn="l" marL="139700" indent="-139700">
              <a:lnSpc>
                <a:spcPct val="108000"/>
              </a:lnSpc>
              <a:spcAft>
                <a:spcPts val="400"/>
              </a:spcAft>
              <a:buSzPct val="100000"/>
              <a:buChar char="•"/>
            </a:pPr>
            <a:r>
              <a:rPr lang="en-US" sz="1250" dirty="0">
                <a:solidFill>
                  <a:srgbClr val="E6E6E6"/>
                </a:solidFill>
                <a:latin typeface="Calibri" pitchFamily="34" charset="0"/>
                <a:ea typeface="Calibri" pitchFamily="34" charset="-122"/>
                <a:cs typeface="Calibri" pitchFamily="34" charset="-120"/>
              </a:rPr>
              <a:t>Pertanyaan: bagaimana membuat organisasi bergerak serentak</a:t>
            </a:r>
            <a:endParaRPr lang="en-US" sz="1250" dirty="0"/>
          </a:p>
        </p:txBody>
      </p:sp>
      <p:sp>
        <p:nvSpPr>
          <p:cNvPr id="13" name="card"/>
          <p:cNvSpPr/>
          <p:nvPr/>
        </p:nvSpPr>
        <p:spPr>
          <a:xfrm>
            <a:off x="5577840" y="3867912"/>
            <a:ext cx="6065215" cy="1005840"/>
          </a:xfrm>
          <a:prstGeom prst="roundRect">
            <a:avLst>
              <a:gd name="adj" fmla="val 10909"/>
            </a:avLst>
          </a:prstGeom>
          <a:solidFill>
            <a:srgbClr val="D7F544"/>
          </a:solidFill>
          <a:ln w="6350">
            <a:solidFill>
              <a:srgbClr val="D7F544"/>
            </a:solidFill>
            <a:prstDash val="solid"/>
          </a:ln>
        </p:spPr>
      </p:sp>
      <p:sp>
        <p:nvSpPr>
          <p:cNvPr id="14" name="text"/>
          <p:cNvSpPr txBox="1"/>
          <p:nvPr/>
        </p:nvSpPr>
        <p:spPr>
          <a:xfrm>
            <a:off x="5806440" y="3867912"/>
            <a:ext cx="5608015" cy="1005840"/>
          </a:xfrm>
          <a:prstGeom prst="rect">
            <a:avLst/>
          </a:prstGeom>
          <a:noFill/>
          <a:ln/>
        </p:spPr>
        <p:txBody>
          <a:bodyPr wrap="square" lIns="0" tIns="0" rIns="0" bIns="0" rtlCol="0" anchor="ctr"/>
          <a:lstStyle/>
          <a:p>
            <a:pPr algn="l" indent="0" marL="0">
              <a:lnSpc>
                <a:spcPct val="108000"/>
              </a:lnSpc>
              <a:buNone/>
            </a:pPr>
            <a:r>
              <a:rPr lang="en-US" sz="1300" i="1" dirty="0">
                <a:solidFill>
                  <a:srgbClr val="1C1C1C"/>
                </a:solidFill>
                <a:latin typeface="Calibri" pitchFamily="34" charset="0"/>
                <a:ea typeface="Calibri" pitchFamily="34" charset="-122"/>
                <a:cs typeface="Calibri" pitchFamily="34" charset="-120"/>
              </a:rPr>
              <a:t>“Crafting a good strategy is half of the job; the other half is to build an organization to roll it out.”</a:t>
            </a:r>
            <a:pPr algn="l" indent="0" marL="0">
              <a:lnSpc>
                <a:spcPct val="108000"/>
              </a:lnSpc>
              <a:buNone/>
            </a:pPr>
            <a:r>
              <a:rPr lang="en-US" sz="1300" b="1" dirty="0">
                <a:solidFill>
                  <a:srgbClr val="1C1C1C"/>
                </a:solidFill>
                <a:latin typeface="Calibri" pitchFamily="34" charset="0"/>
                <a:ea typeface="Calibri" pitchFamily="34" charset="-122"/>
                <a:cs typeface="Calibri" pitchFamily="34" charset="-120"/>
              </a:rPr>
              <a:t>  — J. Ramon Lecuona</a:t>
            </a:r>
            <a:endParaRPr lang="en-US" sz="1300" dirty="0"/>
          </a:p>
        </p:txBody>
      </p:sp>
      <p:sp>
        <p:nvSpPr>
          <p:cNvPr id="15" name="card"/>
          <p:cNvSpPr/>
          <p:nvPr/>
        </p:nvSpPr>
        <p:spPr>
          <a:xfrm>
            <a:off x="5577840" y="5029200"/>
            <a:ext cx="6065215" cy="1280160"/>
          </a:xfrm>
          <a:prstGeom prst="roundRect">
            <a:avLst>
              <a:gd name="adj" fmla="val 857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6" name="text"/>
          <p:cNvSpPr txBox="1"/>
          <p:nvPr/>
        </p:nvSpPr>
        <p:spPr>
          <a:xfrm>
            <a:off x="5779008" y="5138928"/>
            <a:ext cx="5662879" cy="109728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Calibri" pitchFamily="34" charset="0"/>
                <a:ea typeface="Calibri" pitchFamily="34" charset="-122"/>
                <a:cs typeface="Calibri" pitchFamily="34" charset="-120"/>
              </a:rPr>
              <a:t>Posisi dalam strategy-making, strategy-executing process (Bab 2). </a:t>
            </a:r>
            <a:pPr algn="l" indent="0" marL="0">
              <a:lnSpc>
                <a:spcPct val="108000"/>
              </a:lnSpc>
              <a:buNone/>
            </a:pPr>
            <a:r>
              <a:rPr lang="en-US" sz="1250" dirty="0">
                <a:solidFill>
                  <a:srgbClr val="1C1C1C"/>
                </a:solidFill>
                <a:latin typeface="Calibri" pitchFamily="34" charset="0"/>
                <a:ea typeface="Calibri" pitchFamily="34" charset="-122"/>
                <a:cs typeface="Calibri" pitchFamily="34" charset="-120"/>
              </a:rPr>
              <a:t>Tahap keempat, executing the strategy, menuntut keterampilan manajerial yang berbeda dari tahap perumusan. Bab 10–12 membahas sepuluh tugas eksekusi; Bab 10 menangani tiga tugas pertama yang membentuk organisasi yang mampu.</a:t>
            </a:r>
            <a:endParaRPr lang="en-US" sz="12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01  ·  LANDASAN</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MENGAPA EKSEKUSI MENJADI UJIAN SESUNGGUHNYA</a:t>
            </a:r>
            <a:endParaRPr lang="en-US" sz="2400" dirty="0"/>
          </a:p>
        </p:txBody>
      </p:sp>
      <p:sp>
        <p:nvSpPr>
          <p:cNvPr id="4" name="card"/>
          <p:cNvSpPr/>
          <p:nvPr/>
        </p:nvSpPr>
        <p:spPr>
          <a:xfrm>
            <a:off x="548640" y="1737360"/>
            <a:ext cx="3383280" cy="2148840"/>
          </a:xfrm>
          <a:prstGeom prst="roundRect">
            <a:avLst>
              <a:gd name="adj" fmla="val 5106"/>
            </a:avLst>
          </a:prstGeom>
          <a:solidFill>
            <a:srgbClr val="141414"/>
          </a:solidFill>
          <a:ln w="6350">
            <a:solidFill>
              <a:srgbClr val="141414"/>
            </a:solidFill>
            <a:prstDash val="solid"/>
          </a:ln>
        </p:spPr>
      </p:sp>
      <p:sp>
        <p:nvSpPr>
          <p:cNvPr id="5" name="text"/>
          <p:cNvSpPr txBox="1"/>
          <p:nvPr/>
        </p:nvSpPr>
        <p:spPr>
          <a:xfrm>
            <a:off x="777240" y="1874520"/>
            <a:ext cx="2926080" cy="685800"/>
          </a:xfrm>
          <a:prstGeom prst="rect">
            <a:avLst/>
          </a:prstGeom>
          <a:noFill/>
          <a:ln/>
        </p:spPr>
        <p:txBody>
          <a:bodyPr wrap="square" lIns="0" tIns="0" rIns="0" bIns="0" rtlCol="0" anchor="t"/>
          <a:lstStyle/>
          <a:p>
            <a:pPr algn="l" indent="0" marL="0">
              <a:lnSpc>
                <a:spcPct val="108000"/>
              </a:lnSpc>
              <a:buNone/>
            </a:pPr>
            <a:r>
              <a:rPr lang="en-US" sz="4000" b="1" dirty="0">
                <a:solidFill>
                  <a:srgbClr val="D7F544"/>
                </a:solidFill>
                <a:latin typeface="Arial" pitchFamily="34" charset="0"/>
                <a:ea typeface="Arial" pitchFamily="34" charset="-122"/>
                <a:cs typeface="Arial" pitchFamily="34" charset="-120"/>
              </a:rPr>
              <a:t>No. 1</a:t>
            </a:r>
            <a:endParaRPr lang="en-US" sz="4000" dirty="0"/>
          </a:p>
        </p:txBody>
      </p:sp>
      <p:sp>
        <p:nvSpPr>
          <p:cNvPr id="6" name="text"/>
          <p:cNvSpPr txBox="1"/>
          <p:nvPr/>
        </p:nvSpPr>
        <p:spPr>
          <a:xfrm>
            <a:off x="777240" y="2651760"/>
            <a:ext cx="2926080" cy="1188720"/>
          </a:xfrm>
          <a:prstGeom prst="rect">
            <a:avLst/>
          </a:prstGeom>
          <a:noFill/>
          <a:ln/>
        </p:spPr>
        <p:txBody>
          <a:bodyPr wrap="square" lIns="0" tIns="0" rIns="0" bIns="0" rtlCol="0" anchor="t"/>
          <a:lstStyle/>
          <a:p>
            <a:pPr algn="l" indent="0" marL="0">
              <a:lnSpc>
                <a:spcPct val="108000"/>
              </a:lnSpc>
              <a:buNone/>
            </a:pPr>
            <a:r>
              <a:rPr lang="en-US" sz="1200" dirty="0">
                <a:solidFill>
                  <a:srgbClr val="E6E6E6"/>
                </a:solidFill>
                <a:latin typeface="Calibri" pitchFamily="34" charset="0"/>
                <a:ea typeface="Calibri" pitchFamily="34" charset="-122"/>
                <a:cs typeface="Calibri" pitchFamily="34" charset="-120"/>
              </a:rPr>
              <a:t>Survei 400 CEO di Amerika Serikat, Eropa, dan Asia: executional excellence adalah tantangan nomor satu perusahaan mereka (Sull, Homkes &amp; Sull, HBR 2015).</a:t>
            </a:r>
            <a:endParaRPr lang="en-US" sz="1200" dirty="0"/>
          </a:p>
        </p:txBody>
      </p:sp>
      <p:sp>
        <p:nvSpPr>
          <p:cNvPr id="7" name="card"/>
          <p:cNvSpPr/>
          <p:nvPr/>
        </p:nvSpPr>
        <p:spPr>
          <a:xfrm>
            <a:off x="548640" y="4023360"/>
            <a:ext cx="3383280" cy="2286000"/>
          </a:xfrm>
          <a:prstGeom prst="roundRect">
            <a:avLst>
              <a:gd name="adj" fmla="val 4800"/>
            </a:avLst>
          </a:prstGeom>
          <a:solidFill>
            <a:srgbClr val="D7F544"/>
          </a:solidFill>
          <a:ln w="6350">
            <a:solidFill>
              <a:srgbClr val="D7F544"/>
            </a:solidFill>
            <a:prstDash val="solid"/>
          </a:ln>
        </p:spPr>
      </p:sp>
      <p:sp>
        <p:nvSpPr>
          <p:cNvPr id="8" name="text"/>
          <p:cNvSpPr txBox="1"/>
          <p:nvPr/>
        </p:nvSpPr>
        <p:spPr>
          <a:xfrm>
            <a:off x="777240" y="4160520"/>
            <a:ext cx="2926080" cy="457200"/>
          </a:xfrm>
          <a:prstGeom prst="rect">
            <a:avLst/>
          </a:prstGeom>
          <a:noFill/>
          <a:ln/>
        </p:spPr>
        <p:txBody>
          <a:bodyPr wrap="square" lIns="0" tIns="0" rIns="0" bIns="0" rtlCol="0" anchor="t"/>
          <a:lstStyle/>
          <a:p>
            <a:pPr algn="l" indent="0" marL="0">
              <a:lnSpc>
                <a:spcPct val="108000"/>
              </a:lnSpc>
              <a:buNone/>
            </a:pPr>
            <a:r>
              <a:rPr lang="en-US" sz="2200" b="1" dirty="0">
                <a:solidFill>
                  <a:srgbClr val="1C1C1C"/>
                </a:solidFill>
                <a:latin typeface="Arial" pitchFamily="34" charset="0"/>
                <a:ea typeface="Arial" pitchFamily="34" charset="-122"/>
                <a:cs typeface="Arial" pitchFamily="34" charset="-120"/>
              </a:rPr>
              <a:t>Bulan → Tahun</a:t>
            </a:r>
            <a:endParaRPr lang="en-US" sz="2200" dirty="0"/>
          </a:p>
        </p:txBody>
      </p:sp>
      <p:sp>
        <p:nvSpPr>
          <p:cNvPr id="9" name="text"/>
          <p:cNvSpPr txBox="1"/>
          <p:nvPr/>
        </p:nvSpPr>
        <p:spPr>
          <a:xfrm>
            <a:off x="777240" y="4663440"/>
            <a:ext cx="2926080" cy="1600200"/>
          </a:xfrm>
          <a:prstGeom prst="rect">
            <a:avLst/>
          </a:prstGeom>
          <a:noFill/>
          <a:ln/>
        </p:spPr>
        <p:txBody>
          <a:bodyPr wrap="square" lIns="0" tIns="0" rIns="0" bIns="0" rtlCol="0" anchor="t"/>
          <a:lstStyle/>
          <a:p>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Implementasi perubahan strategi memakan waktu berbulan-bulan hingga bertahun-tahun; mencapai eksekusi yang benar-benar mahir memerlukan waktu lebih lama lagi. Mengumumkan strategi baru tidak otomatis membuat organisasi bergerak.</a:t>
            </a:r>
            <a:endParaRPr lang="en-US" sz="1200" dirty="0"/>
          </a:p>
        </p:txBody>
      </p:sp>
      <p:sp>
        <p:nvSpPr>
          <p:cNvPr id="10" name="text"/>
          <p:cNvSpPr txBox="1"/>
          <p:nvPr/>
        </p:nvSpPr>
        <p:spPr>
          <a:xfrm>
            <a:off x="4114800" y="1737360"/>
            <a:ext cx="7528255"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MENGAPA LEBIH SULIT DARIPADA MERUMUSKAN</a:t>
            </a:r>
            <a:endParaRPr lang="en-US" sz="1200" dirty="0"/>
          </a:p>
        </p:txBody>
      </p:sp>
      <p:sp>
        <p:nvSpPr>
          <p:cNvPr id="11" name="card"/>
          <p:cNvSpPr/>
          <p:nvPr/>
        </p:nvSpPr>
        <p:spPr>
          <a:xfrm>
            <a:off x="4114800" y="2121408"/>
            <a:ext cx="7528255"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2" name="icon-bg"/>
          <p:cNvSpPr/>
          <p:nvPr/>
        </p:nvSpPr>
        <p:spPr>
          <a:xfrm>
            <a:off x="4279392" y="2368296"/>
            <a:ext cx="493776" cy="493776"/>
          </a:xfrm>
          <a:prstGeom prst="ellipse">
            <a:avLst/>
          </a:prstGeom>
          <a:solidFill>
            <a:srgbClr val="141414"/>
          </a:solidFill>
          <a:ln w="6350">
            <a:solidFill>
              <a:srgbClr val="141414"/>
            </a:solidFill>
            <a:prstDash val="solid"/>
          </a:ln>
        </p:spPr>
      </p:sp>
      <p:pic>
        <p:nvPicPr>
          <p:cNvPr id="13" name="icon" descr="preencoded.png">    </p:cNvPr>
          <p:cNvPicPr>
            <a:picLocks noChangeAspect="1"/>
          </p:cNvPicPr>
          <p:nvPr/>
        </p:nvPicPr>
        <p:blipFill>
          <a:blip r:embed="rId1"/>
          <a:stretch>
            <a:fillRect/>
          </a:stretch>
        </p:blipFill>
        <p:spPr>
          <a:xfrm>
            <a:off x="4397898" y="2486802"/>
            <a:ext cx="256764" cy="256764"/>
          </a:xfrm>
          <a:prstGeom prst="rect">
            <a:avLst/>
          </a:prstGeom>
        </p:spPr>
      </p:pic>
      <p:sp>
        <p:nvSpPr>
          <p:cNvPr id="14" name="text"/>
          <p:cNvSpPr txBox="1"/>
          <p:nvPr/>
        </p:nvSpPr>
        <p:spPr>
          <a:xfrm>
            <a:off x="4937760" y="2249424"/>
            <a:ext cx="6522415"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Rentang aktivitas manajerial yang luas dan saling bergantung</a:t>
            </a:r>
            <a:endParaRPr lang="en-US" sz="1300" dirty="0"/>
          </a:p>
        </p:txBody>
      </p:sp>
      <p:sp>
        <p:nvSpPr>
          <p:cNvPr id="15" name="text"/>
          <p:cNvSpPr txBox="1"/>
          <p:nvPr/>
        </p:nvSpPr>
        <p:spPr>
          <a:xfrm>
            <a:off x="4937760" y="2532888"/>
            <a:ext cx="6522415"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Eksekusi melibatkan seluruh value chain activities dan semua work groups, dari manajemen puncak hingga lini depan.</a:t>
            </a:r>
            <a:endParaRPr lang="en-US" sz="1150" dirty="0"/>
          </a:p>
        </p:txBody>
      </p:sp>
      <p:sp>
        <p:nvSpPr>
          <p:cNvPr id="16" name="card"/>
          <p:cNvSpPr/>
          <p:nvPr/>
        </p:nvSpPr>
        <p:spPr>
          <a:xfrm>
            <a:off x="4114800" y="3218688"/>
            <a:ext cx="7528255"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7" name="icon-bg"/>
          <p:cNvSpPr/>
          <p:nvPr/>
        </p:nvSpPr>
        <p:spPr>
          <a:xfrm>
            <a:off x="4279392" y="3465576"/>
            <a:ext cx="493776" cy="493776"/>
          </a:xfrm>
          <a:prstGeom prst="ellipse">
            <a:avLst/>
          </a:prstGeom>
          <a:solidFill>
            <a:srgbClr val="141414"/>
          </a:solidFill>
          <a:ln w="6350">
            <a:solidFill>
              <a:srgbClr val="141414"/>
            </a:solidFill>
            <a:prstDash val="solid"/>
          </a:ln>
        </p:spPr>
      </p:sp>
      <p:pic>
        <p:nvPicPr>
          <p:cNvPr id="18" name="icon" descr="preencoded.png">    </p:cNvPr>
          <p:cNvPicPr>
            <a:picLocks noChangeAspect="1"/>
          </p:cNvPicPr>
          <p:nvPr/>
        </p:nvPicPr>
        <p:blipFill>
          <a:blip r:embed="rId2"/>
          <a:stretch>
            <a:fillRect/>
          </a:stretch>
        </p:blipFill>
        <p:spPr>
          <a:xfrm>
            <a:off x="4397898" y="3584082"/>
            <a:ext cx="256764" cy="256764"/>
          </a:xfrm>
          <a:prstGeom prst="rect">
            <a:avLst/>
          </a:prstGeom>
        </p:spPr>
      </p:pic>
      <p:sp>
        <p:nvSpPr>
          <p:cNvPr id="19" name="text"/>
          <p:cNvSpPr txBox="1"/>
          <p:nvPr/>
        </p:nvSpPr>
        <p:spPr>
          <a:xfrm>
            <a:off x="4937760" y="3346704"/>
            <a:ext cx="6522415"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Tidak ada resep tunggal; action agenda harus disesuaikan</a:t>
            </a:r>
            <a:endParaRPr lang="en-US" sz="1300" dirty="0"/>
          </a:p>
        </p:txBody>
      </p:sp>
      <p:sp>
        <p:nvSpPr>
          <p:cNvPr id="20" name="text"/>
          <p:cNvSpPr txBox="1"/>
          <p:nvPr/>
        </p:nvSpPr>
        <p:spPr>
          <a:xfrm>
            <a:off x="4937760" y="3630168"/>
            <a:ext cx="6522415"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Mengeksekusi low-cost leadership berbeda dari differentiation; perubahan minor berbeda dari radikal; perusahaan krisis berbeda dari yang sehat. Setiap manajer bertanya: apa yang harus dilakukan di area saya?</a:t>
            </a:r>
            <a:endParaRPr lang="en-US" sz="1150" dirty="0"/>
          </a:p>
        </p:txBody>
      </p:sp>
      <p:sp>
        <p:nvSpPr>
          <p:cNvPr id="21" name="card"/>
          <p:cNvSpPr/>
          <p:nvPr/>
        </p:nvSpPr>
        <p:spPr>
          <a:xfrm>
            <a:off x="4114800" y="4315968"/>
            <a:ext cx="7528255"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2" name="icon-bg"/>
          <p:cNvSpPr/>
          <p:nvPr/>
        </p:nvSpPr>
        <p:spPr>
          <a:xfrm>
            <a:off x="4279392" y="4562856"/>
            <a:ext cx="493776" cy="493776"/>
          </a:xfrm>
          <a:prstGeom prst="ellipse">
            <a:avLst/>
          </a:prstGeom>
          <a:solidFill>
            <a:srgbClr val="141414"/>
          </a:solidFill>
          <a:ln w="6350">
            <a:solidFill>
              <a:srgbClr val="141414"/>
            </a:solidFill>
            <a:prstDash val="solid"/>
          </a:ln>
        </p:spPr>
      </p:sp>
      <p:pic>
        <p:nvPicPr>
          <p:cNvPr id="23" name="icon" descr="preencoded.png">    </p:cNvPr>
          <p:cNvPicPr>
            <a:picLocks noChangeAspect="1"/>
          </p:cNvPicPr>
          <p:nvPr/>
        </p:nvPicPr>
        <p:blipFill>
          <a:blip r:embed="rId3"/>
          <a:stretch>
            <a:fillRect/>
          </a:stretch>
        </p:blipFill>
        <p:spPr>
          <a:xfrm>
            <a:off x="4397898" y="4681362"/>
            <a:ext cx="256764" cy="256764"/>
          </a:xfrm>
          <a:prstGeom prst="rect">
            <a:avLst/>
          </a:prstGeom>
        </p:spPr>
      </p:pic>
      <p:sp>
        <p:nvSpPr>
          <p:cNvPr id="24" name="text"/>
          <p:cNvSpPr txBox="1"/>
          <p:nvPr/>
        </p:nvSpPr>
        <p:spPr>
          <a:xfrm>
            <a:off x="4937760" y="4443984"/>
            <a:ext cx="6522415"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Perubahan harus diterima “in their heads and hearts”</a:t>
            </a:r>
            <a:endParaRPr lang="en-US" sz="1300" dirty="0"/>
          </a:p>
        </p:txBody>
      </p:sp>
      <p:sp>
        <p:nvSpPr>
          <p:cNvPr id="25" name="text"/>
          <p:cNvSpPr txBox="1"/>
          <p:nvPr/>
        </p:nvSpPr>
        <p:spPr>
          <a:xfrm>
            <a:off x="4937760" y="4727448"/>
            <a:ext cx="6522415"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Personel perlu memahami mengapa arah baru diperlukan; kepemimpinan dibutuhkan untuk mengatasi keraguan dan membangun konsensus.</a:t>
            </a:r>
            <a:endParaRPr lang="en-US" sz="1150" dirty="0"/>
          </a:p>
        </p:txBody>
      </p:sp>
      <p:sp>
        <p:nvSpPr>
          <p:cNvPr id="26" name="card"/>
          <p:cNvSpPr/>
          <p:nvPr/>
        </p:nvSpPr>
        <p:spPr>
          <a:xfrm>
            <a:off x="4114800" y="5431536"/>
            <a:ext cx="7528255" cy="1216152"/>
          </a:xfrm>
          <a:prstGeom prst="roundRect">
            <a:avLst>
              <a:gd name="adj" fmla="val 9023"/>
            </a:avLst>
          </a:prstGeom>
          <a:solidFill>
            <a:srgbClr val="E9E9E5"/>
          </a:solidFill>
          <a:ln w="6350">
            <a:solidFill>
              <a:srgbClr val="E9E9E5"/>
            </a:solidFill>
            <a:prstDash val="solid"/>
          </a:ln>
        </p:spPr>
      </p:sp>
      <p:sp>
        <p:nvSpPr>
          <p:cNvPr id="27" name="text"/>
          <p:cNvSpPr txBox="1"/>
          <p:nvPr/>
        </p:nvSpPr>
        <p:spPr>
          <a:xfrm>
            <a:off x="4315968" y="5522976"/>
            <a:ext cx="7125919" cy="1051560"/>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Dua tanda good strategy execution: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(1) target kinerja tercapai atau terlampaui; (2) proficiency nyata pada strategy-critical value chain activities. Shortfall kinerja menandakan strategi lemah, eksekusi lemah, atau keduanya.  </a:t>
            </a:r>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Core concept: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eksekusi adalah team effort; semua manajer bertanggung jawab di area wewenangnya, semua karyawan adalah partisipan aktif.</a:t>
            </a:r>
            <a:endParaRPr lang="en-US" sz="12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01  ·  LANDASAN  ·  FIGURE 10.1 (DIGAMBAR ULANG)</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SEPULUH TUGAS DASAR DALAM PROSES STRATEGY EXECUTION</a:t>
            </a:r>
            <a:endParaRPr lang="en-US" sz="2400" dirty="0"/>
          </a:p>
        </p:txBody>
      </p:sp>
      <p:sp>
        <p:nvSpPr>
          <p:cNvPr id="4" name="connector"/>
          <p:cNvSpPr/>
          <p:nvPr/>
        </p:nvSpPr>
        <p:spPr>
          <a:xfrm flipH="1">
            <a:off x="6172200" y="2212848"/>
            <a:ext cx="0" cy="1828800"/>
          </a:xfrm>
          <a:prstGeom prst="line">
            <a:avLst/>
          </a:prstGeom>
          <a:noFill/>
          <a:ln w="15875">
            <a:solidFill>
              <a:srgbClr val="B5B5B0"/>
            </a:solidFill>
            <a:prstDash val="solid"/>
          </a:ln>
        </p:spPr>
      </p:sp>
      <p:sp>
        <p:nvSpPr>
          <p:cNvPr id="5" name="connector"/>
          <p:cNvSpPr/>
          <p:nvPr/>
        </p:nvSpPr>
        <p:spPr>
          <a:xfrm flipH="1">
            <a:off x="6172200" y="2562118"/>
            <a:ext cx="2552986" cy="1479530"/>
          </a:xfrm>
          <a:prstGeom prst="line">
            <a:avLst/>
          </a:prstGeom>
          <a:noFill/>
          <a:ln w="15875">
            <a:solidFill>
              <a:srgbClr val="B5B5B0"/>
            </a:solidFill>
            <a:prstDash val="solid"/>
          </a:ln>
        </p:spPr>
      </p:sp>
      <p:sp>
        <p:nvSpPr>
          <p:cNvPr id="6" name="connector"/>
          <p:cNvSpPr/>
          <p:nvPr/>
        </p:nvSpPr>
        <p:spPr>
          <a:xfrm flipH="1">
            <a:off x="6172200" y="3476518"/>
            <a:ext cx="4130819" cy="565130"/>
          </a:xfrm>
          <a:prstGeom prst="line">
            <a:avLst/>
          </a:prstGeom>
          <a:noFill/>
          <a:ln w="15875">
            <a:solidFill>
              <a:srgbClr val="B5B5B0"/>
            </a:solidFill>
            <a:prstDash val="solid"/>
          </a:ln>
        </p:spPr>
      </p:sp>
      <p:sp>
        <p:nvSpPr>
          <p:cNvPr id="7" name="connector"/>
          <p:cNvSpPr/>
          <p:nvPr/>
        </p:nvSpPr>
        <p:spPr>
          <a:xfrm>
            <a:off x="6172200" y="4041648"/>
            <a:ext cx="4130819" cy="565130"/>
          </a:xfrm>
          <a:prstGeom prst="line">
            <a:avLst/>
          </a:prstGeom>
          <a:noFill/>
          <a:ln w="15875">
            <a:solidFill>
              <a:srgbClr val="B5B5B0"/>
            </a:solidFill>
            <a:prstDash val="solid"/>
          </a:ln>
        </p:spPr>
      </p:sp>
      <p:sp>
        <p:nvSpPr>
          <p:cNvPr id="8" name="connector"/>
          <p:cNvSpPr/>
          <p:nvPr/>
        </p:nvSpPr>
        <p:spPr>
          <a:xfrm>
            <a:off x="6172200" y="4041648"/>
            <a:ext cx="2552986" cy="1479530"/>
          </a:xfrm>
          <a:prstGeom prst="line">
            <a:avLst/>
          </a:prstGeom>
          <a:noFill/>
          <a:ln w="15875">
            <a:solidFill>
              <a:srgbClr val="B5B5B0"/>
            </a:solidFill>
            <a:prstDash val="solid"/>
          </a:ln>
        </p:spPr>
      </p:sp>
      <p:sp>
        <p:nvSpPr>
          <p:cNvPr id="9" name="connector"/>
          <p:cNvSpPr/>
          <p:nvPr/>
        </p:nvSpPr>
        <p:spPr>
          <a:xfrm>
            <a:off x="6172200" y="4041648"/>
            <a:ext cx="0" cy="1828800"/>
          </a:xfrm>
          <a:prstGeom prst="line">
            <a:avLst/>
          </a:prstGeom>
          <a:noFill/>
          <a:ln w="15875">
            <a:solidFill>
              <a:srgbClr val="B5B5B0"/>
            </a:solidFill>
            <a:prstDash val="solid"/>
          </a:ln>
        </p:spPr>
      </p:sp>
      <p:sp>
        <p:nvSpPr>
          <p:cNvPr id="10" name="connector"/>
          <p:cNvSpPr/>
          <p:nvPr/>
        </p:nvSpPr>
        <p:spPr>
          <a:xfrm flipH="1">
            <a:off x="3619214" y="4041648"/>
            <a:ext cx="2552986" cy="1479530"/>
          </a:xfrm>
          <a:prstGeom prst="line">
            <a:avLst/>
          </a:prstGeom>
          <a:noFill/>
          <a:ln w="15875">
            <a:solidFill>
              <a:srgbClr val="B5B5B0"/>
            </a:solidFill>
            <a:prstDash val="solid"/>
          </a:ln>
        </p:spPr>
      </p:sp>
      <p:sp>
        <p:nvSpPr>
          <p:cNvPr id="11" name="connector"/>
          <p:cNvSpPr/>
          <p:nvPr/>
        </p:nvSpPr>
        <p:spPr>
          <a:xfrm flipH="1">
            <a:off x="2041381" y="4041648"/>
            <a:ext cx="4130819" cy="565130"/>
          </a:xfrm>
          <a:prstGeom prst="line">
            <a:avLst/>
          </a:prstGeom>
          <a:noFill/>
          <a:ln w="15875">
            <a:solidFill>
              <a:srgbClr val="B5B5B0"/>
            </a:solidFill>
            <a:prstDash val="solid"/>
          </a:ln>
        </p:spPr>
      </p:sp>
      <p:sp>
        <p:nvSpPr>
          <p:cNvPr id="12" name="connector"/>
          <p:cNvSpPr/>
          <p:nvPr/>
        </p:nvSpPr>
        <p:spPr>
          <a:xfrm>
            <a:off x="2041381" y="3476518"/>
            <a:ext cx="4130819" cy="565130"/>
          </a:xfrm>
          <a:prstGeom prst="line">
            <a:avLst/>
          </a:prstGeom>
          <a:noFill/>
          <a:ln w="15875">
            <a:solidFill>
              <a:srgbClr val="B5B5B0"/>
            </a:solidFill>
            <a:prstDash val="solid"/>
          </a:ln>
        </p:spPr>
      </p:sp>
      <p:sp>
        <p:nvSpPr>
          <p:cNvPr id="13" name="connector"/>
          <p:cNvSpPr/>
          <p:nvPr/>
        </p:nvSpPr>
        <p:spPr>
          <a:xfrm>
            <a:off x="3619214" y="2562118"/>
            <a:ext cx="2552986" cy="1479530"/>
          </a:xfrm>
          <a:prstGeom prst="line">
            <a:avLst/>
          </a:prstGeom>
          <a:noFill/>
          <a:ln w="15875">
            <a:solidFill>
              <a:srgbClr val="B5B5B0"/>
            </a:solidFill>
            <a:prstDash val="solid"/>
          </a:ln>
        </p:spPr>
      </p:sp>
      <p:sp>
        <p:nvSpPr>
          <p:cNvPr id="14" name="Pusat: action agenda"/>
          <p:cNvSpPr/>
          <p:nvPr/>
        </p:nvSpPr>
        <p:spPr>
          <a:xfrm>
            <a:off x="5212080" y="3172968"/>
            <a:ext cx="1920240" cy="1737360"/>
          </a:xfrm>
          <a:prstGeom prst="hexagon">
            <a:avLst/>
          </a:prstGeom>
          <a:solidFill>
            <a:srgbClr val="141414"/>
          </a:solidFill>
          <a:ln w="6350">
            <a:solidFill>
              <a:srgbClr val="141414"/>
            </a:solidFill>
            <a:prstDash val="solid"/>
          </a:ln>
        </p:spPr>
      </p:sp>
      <p:sp>
        <p:nvSpPr>
          <p:cNvPr id="15" name="text"/>
          <p:cNvSpPr txBox="1"/>
          <p:nvPr/>
        </p:nvSpPr>
        <p:spPr>
          <a:xfrm>
            <a:off x="5394960" y="3401568"/>
            <a:ext cx="1554480" cy="1280160"/>
          </a:xfrm>
          <a:prstGeom prst="rect">
            <a:avLst/>
          </a:prstGeom>
          <a:noFill/>
          <a:ln/>
        </p:spPr>
        <p:txBody>
          <a:bodyPr wrap="square" lIns="0" tIns="0" rIns="0" bIns="0" rtlCol="0" anchor="ctr"/>
          <a:lstStyle/>
          <a:p>
            <a:pPr algn="ctr" indent="0" marL="0">
              <a:lnSpc>
                <a:spcPct val="108000"/>
              </a:lnSpc>
              <a:buNone/>
            </a:pPr>
            <a:r>
              <a:rPr lang="en-US" sz="1200" b="1" dirty="0">
                <a:solidFill>
                  <a:srgbClr val="D7F544"/>
                </a:solidFill>
                <a:latin typeface="Arial" pitchFamily="34" charset="0"/>
                <a:ea typeface="Arial" pitchFamily="34" charset="-122"/>
                <a:cs typeface="Arial" pitchFamily="34" charset="-120"/>
              </a:rPr>
              <a:t>The Action Agenda for Executing Strategy</a:t>
            </a:r>
            <a:endParaRPr lang="en-US" sz="1200" dirty="0"/>
          </a:p>
        </p:txBody>
      </p:sp>
      <p:sp>
        <p:nvSpPr>
          <p:cNvPr id="16" name="Tugas 1"/>
          <p:cNvSpPr/>
          <p:nvPr/>
        </p:nvSpPr>
        <p:spPr>
          <a:xfrm>
            <a:off x="5189220" y="1856232"/>
            <a:ext cx="1965960" cy="713232"/>
          </a:xfrm>
          <a:prstGeom prst="roundRect">
            <a:avLst>
              <a:gd name="adj" fmla="val 12821"/>
            </a:avLst>
          </a:prstGeom>
          <a:solidFill>
            <a:srgbClr val="D7F544"/>
          </a:solidFill>
          <a:ln w="6350">
            <a:solidFill>
              <a:srgbClr val="D7F544"/>
            </a:solidFill>
            <a:prstDash val="solid"/>
          </a:ln>
        </p:spPr>
      </p:sp>
      <p:sp>
        <p:nvSpPr>
          <p:cNvPr id="17" name="num"/>
          <p:cNvSpPr/>
          <p:nvPr/>
        </p:nvSpPr>
        <p:spPr>
          <a:xfrm>
            <a:off x="5262372" y="2057400"/>
            <a:ext cx="310896" cy="310896"/>
          </a:xfrm>
          <a:prstGeom prst="ellipse">
            <a:avLst/>
          </a:prstGeom>
          <a:solidFill>
            <a:srgbClr val="141414"/>
          </a:solidFill>
          <a:ln w="6350">
            <a:solidFill>
              <a:srgbClr val="141414"/>
            </a:solidFill>
            <a:prstDash val="solid"/>
          </a:ln>
        </p:spPr>
      </p:sp>
      <p:sp>
        <p:nvSpPr>
          <p:cNvPr id="18" name="text"/>
          <p:cNvSpPr txBox="1"/>
          <p:nvPr/>
        </p:nvSpPr>
        <p:spPr>
          <a:xfrm>
            <a:off x="5262372" y="205740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D7F544"/>
                </a:solidFill>
                <a:latin typeface="Arial" pitchFamily="34" charset="0"/>
                <a:ea typeface="Arial" pitchFamily="34" charset="-122"/>
                <a:cs typeface="Arial" pitchFamily="34" charset="-120"/>
              </a:rPr>
              <a:t>1</a:t>
            </a:r>
            <a:endParaRPr lang="en-US" sz="1100" dirty="0"/>
          </a:p>
        </p:txBody>
      </p:sp>
      <p:sp>
        <p:nvSpPr>
          <p:cNvPr id="19" name="text"/>
          <p:cNvSpPr txBox="1"/>
          <p:nvPr/>
        </p:nvSpPr>
        <p:spPr>
          <a:xfrm>
            <a:off x="5646420" y="189280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Menempatkan orang yang tepat untuk mengeksekusi strategi</a:t>
            </a:r>
            <a:endParaRPr lang="en-US" sz="1000" dirty="0"/>
          </a:p>
        </p:txBody>
      </p:sp>
      <p:sp>
        <p:nvSpPr>
          <p:cNvPr id="20" name="Tugas 2"/>
          <p:cNvSpPr/>
          <p:nvPr/>
        </p:nvSpPr>
        <p:spPr>
          <a:xfrm>
            <a:off x="7742206" y="2205502"/>
            <a:ext cx="1965960" cy="713232"/>
          </a:xfrm>
          <a:prstGeom prst="roundRect">
            <a:avLst>
              <a:gd name="adj" fmla="val 12821"/>
            </a:avLst>
          </a:prstGeom>
          <a:solidFill>
            <a:srgbClr val="D7F544"/>
          </a:solidFill>
          <a:ln w="6350">
            <a:solidFill>
              <a:srgbClr val="D7F544"/>
            </a:solidFill>
            <a:prstDash val="solid"/>
          </a:ln>
        </p:spPr>
      </p:sp>
      <p:sp>
        <p:nvSpPr>
          <p:cNvPr id="21" name="num"/>
          <p:cNvSpPr/>
          <p:nvPr/>
        </p:nvSpPr>
        <p:spPr>
          <a:xfrm>
            <a:off x="7815358" y="2406670"/>
            <a:ext cx="310896" cy="310896"/>
          </a:xfrm>
          <a:prstGeom prst="ellipse">
            <a:avLst/>
          </a:prstGeom>
          <a:solidFill>
            <a:srgbClr val="141414"/>
          </a:solidFill>
          <a:ln w="6350">
            <a:solidFill>
              <a:srgbClr val="141414"/>
            </a:solidFill>
            <a:prstDash val="solid"/>
          </a:ln>
        </p:spPr>
      </p:sp>
      <p:sp>
        <p:nvSpPr>
          <p:cNvPr id="22" name="text"/>
          <p:cNvSpPr txBox="1"/>
          <p:nvPr/>
        </p:nvSpPr>
        <p:spPr>
          <a:xfrm>
            <a:off x="7815358" y="240667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D7F544"/>
                </a:solidFill>
                <a:latin typeface="Arial" pitchFamily="34" charset="0"/>
                <a:ea typeface="Arial" pitchFamily="34" charset="-122"/>
                <a:cs typeface="Arial" pitchFamily="34" charset="-120"/>
              </a:rPr>
              <a:t>2</a:t>
            </a:r>
            <a:endParaRPr lang="en-US" sz="1100" dirty="0"/>
          </a:p>
        </p:txBody>
      </p:sp>
      <p:sp>
        <p:nvSpPr>
          <p:cNvPr id="23" name="text"/>
          <p:cNvSpPr txBox="1"/>
          <p:nvPr/>
        </p:nvSpPr>
        <p:spPr>
          <a:xfrm>
            <a:off x="8199406" y="224207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Mengembangkan resources dan capabilities yang dibutuhkan</a:t>
            </a:r>
            <a:endParaRPr lang="en-US" sz="1000" dirty="0"/>
          </a:p>
        </p:txBody>
      </p:sp>
      <p:sp>
        <p:nvSpPr>
          <p:cNvPr id="24" name="Tugas 3"/>
          <p:cNvSpPr/>
          <p:nvPr/>
        </p:nvSpPr>
        <p:spPr>
          <a:xfrm>
            <a:off x="9320039" y="3119902"/>
            <a:ext cx="1965960" cy="713232"/>
          </a:xfrm>
          <a:prstGeom prst="roundRect">
            <a:avLst>
              <a:gd name="adj" fmla="val 12821"/>
            </a:avLst>
          </a:prstGeom>
          <a:solidFill>
            <a:srgbClr val="D7F544"/>
          </a:solidFill>
          <a:ln w="6350">
            <a:solidFill>
              <a:srgbClr val="D7F544"/>
            </a:solidFill>
            <a:prstDash val="solid"/>
          </a:ln>
        </p:spPr>
      </p:sp>
      <p:sp>
        <p:nvSpPr>
          <p:cNvPr id="25" name="num"/>
          <p:cNvSpPr/>
          <p:nvPr/>
        </p:nvSpPr>
        <p:spPr>
          <a:xfrm>
            <a:off x="9393191" y="3321070"/>
            <a:ext cx="310896" cy="310896"/>
          </a:xfrm>
          <a:prstGeom prst="ellipse">
            <a:avLst/>
          </a:prstGeom>
          <a:solidFill>
            <a:srgbClr val="141414"/>
          </a:solidFill>
          <a:ln w="6350">
            <a:solidFill>
              <a:srgbClr val="141414"/>
            </a:solidFill>
            <a:prstDash val="solid"/>
          </a:ln>
        </p:spPr>
      </p:sp>
      <p:sp>
        <p:nvSpPr>
          <p:cNvPr id="26" name="text"/>
          <p:cNvSpPr txBox="1"/>
          <p:nvPr/>
        </p:nvSpPr>
        <p:spPr>
          <a:xfrm>
            <a:off x="9393191" y="332107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D7F544"/>
                </a:solidFill>
                <a:latin typeface="Arial" pitchFamily="34" charset="0"/>
                <a:ea typeface="Arial" pitchFamily="34" charset="-122"/>
                <a:cs typeface="Arial" pitchFamily="34" charset="-120"/>
              </a:rPr>
              <a:t>3</a:t>
            </a:r>
            <a:endParaRPr lang="en-US" sz="1100" dirty="0"/>
          </a:p>
        </p:txBody>
      </p:sp>
      <p:sp>
        <p:nvSpPr>
          <p:cNvPr id="27" name="text"/>
          <p:cNvSpPr txBox="1"/>
          <p:nvPr/>
        </p:nvSpPr>
        <p:spPr>
          <a:xfrm>
            <a:off x="9777239" y="315647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Membangun organizational structure yang mendukung strategi</a:t>
            </a:r>
            <a:endParaRPr lang="en-US" sz="1000" dirty="0"/>
          </a:p>
        </p:txBody>
      </p:sp>
      <p:sp>
        <p:nvSpPr>
          <p:cNvPr id="28" name="Tugas 4"/>
          <p:cNvSpPr/>
          <p:nvPr/>
        </p:nvSpPr>
        <p:spPr>
          <a:xfrm>
            <a:off x="9320039" y="4250162"/>
            <a:ext cx="1965960" cy="713232"/>
          </a:xfrm>
          <a:prstGeom prst="roundRect">
            <a:avLst>
              <a:gd name="adj" fmla="val 12821"/>
            </a:avLst>
          </a:prstGeom>
          <a:solidFill>
            <a:srgbClr val="FFFFFF"/>
          </a:solidFill>
          <a:ln w="6350">
            <a:solidFill>
              <a:srgbClr val="B5B5B0"/>
            </a:solidFill>
            <a:prstDash val="solid"/>
          </a:ln>
          <a:effectLst>
            <a:outerShdw sx="100000" sy="100000" kx="0" ky="0" algn="bl" rotWithShape="0" blurRad="101600" dist="25400" dir="5400000">
              <a:srgbClr val="000000">
                <a:alpha val="10000"/>
              </a:srgbClr>
            </a:outerShdw>
          </a:effectLst>
        </p:spPr>
      </p:sp>
      <p:sp>
        <p:nvSpPr>
          <p:cNvPr id="29" name="num"/>
          <p:cNvSpPr/>
          <p:nvPr/>
        </p:nvSpPr>
        <p:spPr>
          <a:xfrm>
            <a:off x="9393191" y="4451330"/>
            <a:ext cx="310896" cy="310896"/>
          </a:xfrm>
          <a:prstGeom prst="ellipse">
            <a:avLst/>
          </a:prstGeom>
          <a:solidFill>
            <a:srgbClr val="141414"/>
          </a:solidFill>
          <a:ln w="6350">
            <a:solidFill>
              <a:srgbClr val="141414"/>
            </a:solidFill>
            <a:prstDash val="solid"/>
          </a:ln>
        </p:spPr>
      </p:sp>
      <p:sp>
        <p:nvSpPr>
          <p:cNvPr id="30" name="text"/>
          <p:cNvSpPr txBox="1"/>
          <p:nvPr/>
        </p:nvSpPr>
        <p:spPr>
          <a:xfrm>
            <a:off x="9393191" y="445133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1" name="text"/>
          <p:cNvSpPr txBox="1"/>
          <p:nvPr/>
        </p:nvSpPr>
        <p:spPr>
          <a:xfrm>
            <a:off x="9777239" y="428673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Mengalokasikan sumber daya yang memadai untuk eksekusi</a:t>
            </a:r>
            <a:endParaRPr lang="en-US" sz="1000" dirty="0"/>
          </a:p>
        </p:txBody>
      </p:sp>
      <p:sp>
        <p:nvSpPr>
          <p:cNvPr id="32" name="Tugas 5"/>
          <p:cNvSpPr/>
          <p:nvPr/>
        </p:nvSpPr>
        <p:spPr>
          <a:xfrm>
            <a:off x="7742206" y="5164562"/>
            <a:ext cx="1965960" cy="713232"/>
          </a:xfrm>
          <a:prstGeom prst="roundRect">
            <a:avLst>
              <a:gd name="adj" fmla="val 12821"/>
            </a:avLst>
          </a:prstGeom>
          <a:solidFill>
            <a:srgbClr val="FFFFFF"/>
          </a:solidFill>
          <a:ln w="6350">
            <a:solidFill>
              <a:srgbClr val="B5B5B0"/>
            </a:solidFill>
            <a:prstDash val="solid"/>
          </a:ln>
          <a:effectLst>
            <a:outerShdw sx="100000" sy="100000" kx="0" ky="0" algn="bl" rotWithShape="0" blurRad="101600" dist="25400" dir="5400000">
              <a:srgbClr val="000000">
                <a:alpha val="10000"/>
              </a:srgbClr>
            </a:outerShdw>
          </a:effectLst>
        </p:spPr>
      </p:sp>
      <p:sp>
        <p:nvSpPr>
          <p:cNvPr id="33" name="num"/>
          <p:cNvSpPr/>
          <p:nvPr/>
        </p:nvSpPr>
        <p:spPr>
          <a:xfrm>
            <a:off x="7815358" y="5365730"/>
            <a:ext cx="310896" cy="310896"/>
          </a:xfrm>
          <a:prstGeom prst="ellipse">
            <a:avLst/>
          </a:prstGeom>
          <a:solidFill>
            <a:srgbClr val="141414"/>
          </a:solidFill>
          <a:ln w="6350">
            <a:solidFill>
              <a:srgbClr val="141414"/>
            </a:solidFill>
            <a:prstDash val="solid"/>
          </a:ln>
        </p:spPr>
      </p:sp>
      <p:sp>
        <p:nvSpPr>
          <p:cNvPr id="34" name="text"/>
          <p:cNvSpPr txBox="1"/>
          <p:nvPr/>
        </p:nvSpPr>
        <p:spPr>
          <a:xfrm>
            <a:off x="7815358" y="536573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p:cNvSpPr txBox="1"/>
          <p:nvPr/>
        </p:nvSpPr>
        <p:spPr>
          <a:xfrm>
            <a:off x="8199406" y="520113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Menetapkan policies and procedures yang memfasilitasi eksekusi</a:t>
            </a:r>
            <a:endParaRPr lang="en-US" sz="1000" dirty="0"/>
          </a:p>
        </p:txBody>
      </p:sp>
      <p:sp>
        <p:nvSpPr>
          <p:cNvPr id="36" name="Tugas 6"/>
          <p:cNvSpPr/>
          <p:nvPr/>
        </p:nvSpPr>
        <p:spPr>
          <a:xfrm>
            <a:off x="5189220" y="5513832"/>
            <a:ext cx="1965960" cy="713232"/>
          </a:xfrm>
          <a:prstGeom prst="roundRect">
            <a:avLst>
              <a:gd name="adj" fmla="val 12821"/>
            </a:avLst>
          </a:prstGeom>
          <a:solidFill>
            <a:srgbClr val="FFFFFF"/>
          </a:solidFill>
          <a:ln w="6350">
            <a:solidFill>
              <a:srgbClr val="B5B5B0"/>
            </a:solidFill>
            <a:prstDash val="solid"/>
          </a:ln>
          <a:effectLst>
            <a:outerShdw sx="100000" sy="100000" kx="0" ky="0" algn="bl" rotWithShape="0" blurRad="101600" dist="25400" dir="5400000">
              <a:srgbClr val="000000">
                <a:alpha val="10000"/>
              </a:srgbClr>
            </a:outerShdw>
          </a:effectLst>
        </p:spPr>
      </p:sp>
      <p:sp>
        <p:nvSpPr>
          <p:cNvPr id="37" name="num"/>
          <p:cNvSpPr/>
          <p:nvPr/>
        </p:nvSpPr>
        <p:spPr>
          <a:xfrm>
            <a:off x="5262372" y="5715000"/>
            <a:ext cx="310896" cy="310896"/>
          </a:xfrm>
          <a:prstGeom prst="ellipse">
            <a:avLst/>
          </a:prstGeom>
          <a:solidFill>
            <a:srgbClr val="141414"/>
          </a:solidFill>
          <a:ln w="6350">
            <a:solidFill>
              <a:srgbClr val="141414"/>
            </a:solidFill>
            <a:prstDash val="solid"/>
          </a:ln>
        </p:spPr>
      </p:sp>
      <p:sp>
        <p:nvSpPr>
          <p:cNvPr id="38" name="text"/>
          <p:cNvSpPr txBox="1"/>
          <p:nvPr/>
        </p:nvSpPr>
        <p:spPr>
          <a:xfrm>
            <a:off x="5262372" y="571500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39" name="text"/>
          <p:cNvSpPr txBox="1"/>
          <p:nvPr/>
        </p:nvSpPr>
        <p:spPr>
          <a:xfrm>
            <a:off x="5646420" y="555040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Mengadopsi business processes yang mendorong continuous improvement</a:t>
            </a:r>
            <a:endParaRPr lang="en-US" sz="1000" dirty="0"/>
          </a:p>
        </p:txBody>
      </p:sp>
      <p:sp>
        <p:nvSpPr>
          <p:cNvPr id="40" name="Tugas 7"/>
          <p:cNvSpPr/>
          <p:nvPr/>
        </p:nvSpPr>
        <p:spPr>
          <a:xfrm>
            <a:off x="2636234" y="5164562"/>
            <a:ext cx="1965960" cy="713232"/>
          </a:xfrm>
          <a:prstGeom prst="roundRect">
            <a:avLst>
              <a:gd name="adj" fmla="val 12821"/>
            </a:avLst>
          </a:prstGeom>
          <a:solidFill>
            <a:srgbClr val="FFFFFF"/>
          </a:solidFill>
          <a:ln w="6350">
            <a:solidFill>
              <a:srgbClr val="B5B5B0"/>
            </a:solidFill>
            <a:prstDash val="solid"/>
          </a:ln>
          <a:effectLst>
            <a:outerShdw sx="100000" sy="100000" kx="0" ky="0" algn="bl" rotWithShape="0" blurRad="101600" dist="25400" dir="5400000">
              <a:srgbClr val="000000">
                <a:alpha val="10000"/>
              </a:srgbClr>
            </a:outerShdw>
          </a:effectLst>
        </p:spPr>
      </p:sp>
      <p:sp>
        <p:nvSpPr>
          <p:cNvPr id="41" name="num"/>
          <p:cNvSpPr/>
          <p:nvPr/>
        </p:nvSpPr>
        <p:spPr>
          <a:xfrm>
            <a:off x="2709386" y="5365730"/>
            <a:ext cx="310896" cy="310896"/>
          </a:xfrm>
          <a:prstGeom prst="ellipse">
            <a:avLst/>
          </a:prstGeom>
          <a:solidFill>
            <a:srgbClr val="141414"/>
          </a:solidFill>
          <a:ln w="6350">
            <a:solidFill>
              <a:srgbClr val="141414"/>
            </a:solidFill>
            <a:prstDash val="solid"/>
          </a:ln>
        </p:spPr>
      </p:sp>
      <p:sp>
        <p:nvSpPr>
          <p:cNvPr id="42" name="text"/>
          <p:cNvSpPr txBox="1"/>
          <p:nvPr/>
        </p:nvSpPr>
        <p:spPr>
          <a:xfrm>
            <a:off x="2709386" y="536573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FFFFFF"/>
                </a:solidFill>
                <a:latin typeface="Arial" pitchFamily="34" charset="0"/>
                <a:ea typeface="Arial" pitchFamily="34" charset="-122"/>
                <a:cs typeface="Arial" pitchFamily="34" charset="-120"/>
              </a:rPr>
              <a:t>7</a:t>
            </a:r>
            <a:endParaRPr lang="en-US" sz="1100" dirty="0"/>
          </a:p>
        </p:txBody>
      </p:sp>
      <p:sp>
        <p:nvSpPr>
          <p:cNvPr id="43" name="text"/>
          <p:cNvSpPr txBox="1"/>
          <p:nvPr/>
        </p:nvSpPr>
        <p:spPr>
          <a:xfrm>
            <a:off x="3093434" y="520113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Memasang information and operating systems pendukung eksekusi</a:t>
            </a:r>
            <a:endParaRPr lang="en-US" sz="1000" dirty="0"/>
          </a:p>
        </p:txBody>
      </p:sp>
      <p:sp>
        <p:nvSpPr>
          <p:cNvPr id="44" name="Tugas 8"/>
          <p:cNvSpPr/>
          <p:nvPr/>
        </p:nvSpPr>
        <p:spPr>
          <a:xfrm>
            <a:off x="1058401" y="4250162"/>
            <a:ext cx="1965960" cy="713232"/>
          </a:xfrm>
          <a:prstGeom prst="roundRect">
            <a:avLst>
              <a:gd name="adj" fmla="val 12821"/>
            </a:avLst>
          </a:prstGeom>
          <a:solidFill>
            <a:srgbClr val="FFFFFF"/>
          </a:solidFill>
          <a:ln w="6350">
            <a:solidFill>
              <a:srgbClr val="B5B5B0"/>
            </a:solidFill>
            <a:prstDash val="solid"/>
          </a:ln>
          <a:effectLst>
            <a:outerShdw sx="100000" sy="100000" kx="0" ky="0" algn="bl" rotWithShape="0" blurRad="101600" dist="25400" dir="5400000">
              <a:srgbClr val="000000">
                <a:alpha val="10000"/>
              </a:srgbClr>
            </a:outerShdw>
          </a:effectLst>
        </p:spPr>
      </p:sp>
      <p:sp>
        <p:nvSpPr>
          <p:cNvPr id="45" name="num"/>
          <p:cNvSpPr/>
          <p:nvPr/>
        </p:nvSpPr>
        <p:spPr>
          <a:xfrm>
            <a:off x="1131553" y="4451330"/>
            <a:ext cx="310896" cy="310896"/>
          </a:xfrm>
          <a:prstGeom prst="ellipse">
            <a:avLst/>
          </a:prstGeom>
          <a:solidFill>
            <a:srgbClr val="141414"/>
          </a:solidFill>
          <a:ln w="6350">
            <a:solidFill>
              <a:srgbClr val="141414"/>
            </a:solidFill>
            <a:prstDash val="solid"/>
          </a:ln>
        </p:spPr>
      </p:sp>
      <p:sp>
        <p:nvSpPr>
          <p:cNvPr id="46" name="text"/>
          <p:cNvSpPr txBox="1"/>
          <p:nvPr/>
        </p:nvSpPr>
        <p:spPr>
          <a:xfrm>
            <a:off x="1131553" y="445133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FFFFFF"/>
                </a:solidFill>
                <a:latin typeface="Arial" pitchFamily="34" charset="0"/>
                <a:ea typeface="Arial" pitchFamily="34" charset="-122"/>
                <a:cs typeface="Arial" pitchFamily="34" charset="-120"/>
              </a:rPr>
              <a:t>8</a:t>
            </a:r>
            <a:endParaRPr lang="en-US" sz="1100" dirty="0"/>
          </a:p>
        </p:txBody>
      </p:sp>
      <p:sp>
        <p:nvSpPr>
          <p:cNvPr id="47" name="text"/>
          <p:cNvSpPr txBox="1"/>
          <p:nvPr/>
        </p:nvSpPr>
        <p:spPr>
          <a:xfrm>
            <a:off x="1515601" y="428673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1C1C1C"/>
                </a:solidFill>
                <a:latin typeface="Calibri" pitchFamily="34" charset="0"/>
                <a:ea typeface="Calibri" pitchFamily="34" charset="-122"/>
                <a:cs typeface="Calibri" pitchFamily="34" charset="-120"/>
              </a:rPr>
              <a:t>Mengaitkan rewards langsung dengan performance objectives</a:t>
            </a:r>
            <a:endParaRPr lang="en-US" sz="1000" dirty="0"/>
          </a:p>
        </p:txBody>
      </p:sp>
      <p:sp>
        <p:nvSpPr>
          <p:cNvPr id="48" name="Tugas 9"/>
          <p:cNvSpPr/>
          <p:nvPr/>
        </p:nvSpPr>
        <p:spPr>
          <a:xfrm>
            <a:off x="1058401" y="3119902"/>
            <a:ext cx="1965960" cy="713232"/>
          </a:xfrm>
          <a:prstGeom prst="roundRect">
            <a:avLst>
              <a:gd name="adj" fmla="val 12821"/>
            </a:avLst>
          </a:prstGeom>
          <a:solidFill>
            <a:srgbClr val="555555"/>
          </a:solidFill>
          <a:ln w="6350">
            <a:solidFill>
              <a:srgbClr val="555555"/>
            </a:solidFill>
            <a:prstDash val="solid"/>
          </a:ln>
        </p:spPr>
      </p:sp>
      <p:sp>
        <p:nvSpPr>
          <p:cNvPr id="49" name="num"/>
          <p:cNvSpPr/>
          <p:nvPr/>
        </p:nvSpPr>
        <p:spPr>
          <a:xfrm>
            <a:off x="1131553" y="3321070"/>
            <a:ext cx="310896" cy="310896"/>
          </a:xfrm>
          <a:prstGeom prst="ellipse">
            <a:avLst/>
          </a:prstGeom>
          <a:solidFill>
            <a:srgbClr val="D7F544"/>
          </a:solidFill>
          <a:ln w="6350">
            <a:solidFill>
              <a:srgbClr val="D7F544"/>
            </a:solidFill>
            <a:prstDash val="solid"/>
          </a:ln>
        </p:spPr>
      </p:sp>
      <p:sp>
        <p:nvSpPr>
          <p:cNvPr id="50" name="text"/>
          <p:cNvSpPr txBox="1"/>
          <p:nvPr/>
        </p:nvSpPr>
        <p:spPr>
          <a:xfrm>
            <a:off x="1131553" y="332107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9</a:t>
            </a:r>
            <a:endParaRPr lang="en-US" sz="1100" dirty="0"/>
          </a:p>
        </p:txBody>
      </p:sp>
      <p:sp>
        <p:nvSpPr>
          <p:cNvPr id="51" name="text"/>
          <p:cNvSpPr txBox="1"/>
          <p:nvPr/>
        </p:nvSpPr>
        <p:spPr>
          <a:xfrm>
            <a:off x="1515601" y="315647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FFFFFF"/>
                </a:solidFill>
                <a:latin typeface="Calibri" pitchFamily="34" charset="0"/>
                <a:ea typeface="Calibri" pitchFamily="34" charset="-122"/>
                <a:cs typeface="Calibri" pitchFamily="34" charset="-120"/>
              </a:rPr>
              <a:t>Menumbuhkan corporate culture yang mendorong eksekusi</a:t>
            </a:r>
            <a:endParaRPr lang="en-US" sz="1000" dirty="0"/>
          </a:p>
        </p:txBody>
      </p:sp>
      <p:sp>
        <p:nvSpPr>
          <p:cNvPr id="52" name="Tugas 10"/>
          <p:cNvSpPr/>
          <p:nvPr/>
        </p:nvSpPr>
        <p:spPr>
          <a:xfrm>
            <a:off x="2636234" y="2205502"/>
            <a:ext cx="1965960" cy="713232"/>
          </a:xfrm>
          <a:prstGeom prst="roundRect">
            <a:avLst>
              <a:gd name="adj" fmla="val 12821"/>
            </a:avLst>
          </a:prstGeom>
          <a:solidFill>
            <a:srgbClr val="555555"/>
          </a:solidFill>
          <a:ln w="6350">
            <a:solidFill>
              <a:srgbClr val="555555"/>
            </a:solidFill>
            <a:prstDash val="solid"/>
          </a:ln>
        </p:spPr>
      </p:sp>
      <p:sp>
        <p:nvSpPr>
          <p:cNvPr id="53" name="num"/>
          <p:cNvSpPr/>
          <p:nvPr/>
        </p:nvSpPr>
        <p:spPr>
          <a:xfrm>
            <a:off x="2709386" y="2406670"/>
            <a:ext cx="310896" cy="310896"/>
          </a:xfrm>
          <a:prstGeom prst="ellipse">
            <a:avLst/>
          </a:prstGeom>
          <a:solidFill>
            <a:srgbClr val="D7F544"/>
          </a:solidFill>
          <a:ln w="6350">
            <a:solidFill>
              <a:srgbClr val="D7F544"/>
            </a:solidFill>
            <a:prstDash val="solid"/>
          </a:ln>
        </p:spPr>
      </p:sp>
      <p:sp>
        <p:nvSpPr>
          <p:cNvPr id="54" name="text"/>
          <p:cNvSpPr txBox="1"/>
          <p:nvPr/>
        </p:nvSpPr>
        <p:spPr>
          <a:xfrm>
            <a:off x="2709386" y="2406670"/>
            <a:ext cx="310896" cy="310896"/>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10</a:t>
            </a:r>
            <a:endParaRPr lang="en-US" sz="1100" dirty="0"/>
          </a:p>
        </p:txBody>
      </p:sp>
      <p:sp>
        <p:nvSpPr>
          <p:cNvPr id="55" name="text"/>
          <p:cNvSpPr txBox="1"/>
          <p:nvPr/>
        </p:nvSpPr>
        <p:spPr>
          <a:xfrm>
            <a:off x="3093434" y="2242078"/>
            <a:ext cx="1435608" cy="640080"/>
          </a:xfrm>
          <a:prstGeom prst="rect">
            <a:avLst/>
          </a:prstGeom>
          <a:noFill/>
          <a:ln/>
        </p:spPr>
        <p:txBody>
          <a:bodyPr wrap="square" lIns="0" tIns="0" rIns="0" bIns="0" rtlCol="0" anchor="ctr"/>
          <a:lstStyle/>
          <a:p>
            <a:pPr algn="l" indent="0" marL="0">
              <a:lnSpc>
                <a:spcPct val="100000"/>
              </a:lnSpc>
              <a:buNone/>
            </a:pPr>
            <a:r>
              <a:rPr lang="en-US" sz="1000" dirty="0">
                <a:solidFill>
                  <a:srgbClr val="FFFFFF"/>
                </a:solidFill>
                <a:latin typeface="Calibri" pitchFamily="34" charset="0"/>
                <a:ea typeface="Calibri" pitchFamily="34" charset="-122"/>
                <a:cs typeface="Calibri" pitchFamily="34" charset="-120"/>
              </a:rPr>
              <a:t>Menjalankan leadership yang mendorong eksekusi ke depan</a:t>
            </a:r>
            <a:endParaRPr lang="en-US" sz="1000" dirty="0"/>
          </a:p>
        </p:txBody>
      </p:sp>
      <p:sp>
        <p:nvSpPr>
          <p:cNvPr id="56" name="legend"/>
          <p:cNvSpPr/>
          <p:nvPr/>
        </p:nvSpPr>
        <p:spPr>
          <a:xfrm>
            <a:off x="548640" y="1828800"/>
            <a:ext cx="310896" cy="182880"/>
          </a:xfrm>
          <a:prstGeom prst="roundRect">
            <a:avLst>
              <a:gd name="adj" fmla="val 20000"/>
            </a:avLst>
          </a:prstGeom>
          <a:solidFill>
            <a:srgbClr val="D7F544"/>
          </a:solidFill>
          <a:ln w="6350">
            <a:solidFill>
              <a:srgbClr val="D7F544"/>
            </a:solidFill>
            <a:prstDash val="solid"/>
          </a:ln>
        </p:spPr>
      </p:sp>
      <p:sp>
        <p:nvSpPr>
          <p:cNvPr id="57" name="text"/>
          <p:cNvSpPr txBox="1"/>
          <p:nvPr/>
        </p:nvSpPr>
        <p:spPr>
          <a:xfrm>
            <a:off x="960120" y="1783080"/>
            <a:ext cx="2011680" cy="274320"/>
          </a:xfrm>
          <a:prstGeom prst="rect">
            <a:avLst/>
          </a:prstGeom>
          <a:noFill/>
          <a:ln/>
        </p:spPr>
        <p:txBody>
          <a:bodyPr wrap="square" lIns="0" tIns="0" rIns="0" bIns="0" rtlCol="0" anchor="ctr"/>
          <a:lstStyle/>
          <a:p>
            <a:pPr algn="l" indent="0" marL="0">
              <a:lnSpc>
                <a:spcPct val="108000"/>
              </a:lnSpc>
              <a:buNone/>
            </a:pPr>
            <a:r>
              <a:rPr lang="en-US" sz="950" dirty="0">
                <a:solidFill>
                  <a:srgbClr val="6E6E6E"/>
                </a:solidFill>
                <a:latin typeface="Calibri" pitchFamily="34" charset="0"/>
                <a:ea typeface="Calibri" pitchFamily="34" charset="-122"/>
                <a:cs typeface="Calibri" pitchFamily="34" charset="-120"/>
              </a:rPr>
              <a:t>Tugas 1–3 · Bab 10 (sesi ini)</a:t>
            </a:r>
            <a:endParaRPr lang="en-US" sz="950" dirty="0"/>
          </a:p>
        </p:txBody>
      </p:sp>
      <p:sp>
        <p:nvSpPr>
          <p:cNvPr id="58" name="legend"/>
          <p:cNvSpPr/>
          <p:nvPr/>
        </p:nvSpPr>
        <p:spPr>
          <a:xfrm>
            <a:off x="548640" y="2121408"/>
            <a:ext cx="310896" cy="182880"/>
          </a:xfrm>
          <a:prstGeom prst="roundRect">
            <a:avLst>
              <a:gd name="adj" fmla="val 20000"/>
            </a:avLst>
          </a:prstGeom>
          <a:solidFill>
            <a:srgbClr val="FFFFFF"/>
          </a:solidFill>
          <a:ln w="6350">
            <a:solidFill>
              <a:srgbClr val="B5B5B0"/>
            </a:solidFill>
            <a:prstDash val="solid"/>
          </a:ln>
        </p:spPr>
      </p:sp>
      <p:sp>
        <p:nvSpPr>
          <p:cNvPr id="59" name="text"/>
          <p:cNvSpPr txBox="1"/>
          <p:nvPr/>
        </p:nvSpPr>
        <p:spPr>
          <a:xfrm>
            <a:off x="960120" y="2075688"/>
            <a:ext cx="2011680" cy="274320"/>
          </a:xfrm>
          <a:prstGeom prst="rect">
            <a:avLst/>
          </a:prstGeom>
          <a:noFill/>
          <a:ln/>
        </p:spPr>
        <p:txBody>
          <a:bodyPr wrap="square" lIns="0" tIns="0" rIns="0" bIns="0" rtlCol="0" anchor="ctr"/>
          <a:lstStyle/>
          <a:p>
            <a:pPr algn="l" indent="0" marL="0">
              <a:lnSpc>
                <a:spcPct val="108000"/>
              </a:lnSpc>
              <a:buNone/>
            </a:pPr>
            <a:r>
              <a:rPr lang="en-US" sz="950" dirty="0">
                <a:solidFill>
                  <a:srgbClr val="6E6E6E"/>
                </a:solidFill>
                <a:latin typeface="Calibri" pitchFamily="34" charset="0"/>
                <a:ea typeface="Calibri" pitchFamily="34" charset="-122"/>
                <a:cs typeface="Calibri" pitchFamily="34" charset="-120"/>
              </a:rPr>
              <a:t>Tugas 4–8 · Bab 11</a:t>
            </a:r>
            <a:endParaRPr lang="en-US" sz="950" dirty="0"/>
          </a:p>
        </p:txBody>
      </p:sp>
      <p:sp>
        <p:nvSpPr>
          <p:cNvPr id="60" name="legend"/>
          <p:cNvSpPr/>
          <p:nvPr/>
        </p:nvSpPr>
        <p:spPr>
          <a:xfrm>
            <a:off x="548640" y="2414016"/>
            <a:ext cx="310896" cy="182880"/>
          </a:xfrm>
          <a:prstGeom prst="roundRect">
            <a:avLst>
              <a:gd name="adj" fmla="val 20000"/>
            </a:avLst>
          </a:prstGeom>
          <a:solidFill>
            <a:srgbClr val="555555"/>
          </a:solidFill>
          <a:ln w="6350">
            <a:solidFill>
              <a:srgbClr val="555555"/>
            </a:solidFill>
            <a:prstDash val="solid"/>
          </a:ln>
        </p:spPr>
      </p:sp>
      <p:sp>
        <p:nvSpPr>
          <p:cNvPr id="61" name="text"/>
          <p:cNvSpPr txBox="1"/>
          <p:nvPr/>
        </p:nvSpPr>
        <p:spPr>
          <a:xfrm>
            <a:off x="960120" y="2368296"/>
            <a:ext cx="2011680" cy="274320"/>
          </a:xfrm>
          <a:prstGeom prst="rect">
            <a:avLst/>
          </a:prstGeom>
          <a:noFill/>
          <a:ln/>
        </p:spPr>
        <p:txBody>
          <a:bodyPr wrap="square" lIns="0" tIns="0" rIns="0" bIns="0" rtlCol="0" anchor="ctr"/>
          <a:lstStyle/>
          <a:p>
            <a:pPr algn="l" indent="0" marL="0">
              <a:lnSpc>
                <a:spcPct val="108000"/>
              </a:lnSpc>
              <a:buNone/>
            </a:pPr>
            <a:r>
              <a:rPr lang="en-US" sz="950" dirty="0">
                <a:solidFill>
                  <a:srgbClr val="6E6E6E"/>
                </a:solidFill>
                <a:latin typeface="Calibri" pitchFamily="34" charset="0"/>
                <a:ea typeface="Calibri" pitchFamily="34" charset="-122"/>
                <a:cs typeface="Calibri" pitchFamily="34" charset="-120"/>
              </a:rPr>
              <a:t>Tugas 9–10 · Bab 12</a:t>
            </a:r>
            <a:endParaRPr lang="en-US" sz="950" dirty="0"/>
          </a:p>
        </p:txBody>
      </p:sp>
      <p:sp>
        <p:nvSpPr>
          <p:cNvPr id="62" name="text"/>
          <p:cNvSpPr txBox="1"/>
          <p:nvPr/>
        </p:nvSpPr>
        <p:spPr>
          <a:xfrm>
            <a:off x="9829800" y="5257800"/>
            <a:ext cx="1810512" cy="1097280"/>
          </a:xfrm>
          <a:prstGeom prst="rect">
            <a:avLst/>
          </a:prstGeom>
          <a:noFill/>
          <a:ln/>
        </p:spPr>
        <p:txBody>
          <a:bodyPr wrap="square" lIns="0" tIns="0" rIns="0" bIns="0" rtlCol="0" anchor="t"/>
          <a:lstStyle/>
          <a:p>
            <a:pPr algn="l" indent="0" marL="0">
              <a:lnSpc>
                <a:spcPct val="108000"/>
              </a:lnSpc>
              <a:buNone/>
            </a:pPr>
            <a:r>
              <a:rPr lang="en-US" sz="1000" i="1" dirty="0">
                <a:solidFill>
                  <a:srgbClr val="6E6E6E"/>
                </a:solidFill>
                <a:latin typeface="Calibri" pitchFamily="34" charset="0"/>
                <a:ea typeface="Calibri" pitchFamily="34" charset="-122"/>
                <a:cs typeface="Calibri" pitchFamily="34" charset="-120"/>
              </a:rPr>
              <a:t>Sepuluh tugas yang harus dipenuhi apa pun situasinya. Tiga tugas pertama membentuk organisasi yang mampu; tujuh berikutnya menggerakkan dan menopangnya.</a:t>
            </a:r>
            <a:endParaRPr lang="en-US" sz="10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01  ·  LANDASAN  ·  FIGURE 10.2 (DIGAMBAR ULANG)</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TIGA AKSI KUNCI MEMBANGUN ORGANISASI YANG MAMPU</a:t>
            </a:r>
            <a:endParaRPr lang="en-US" sz="2400" dirty="0"/>
          </a:p>
        </p:txBody>
      </p:sp>
      <p:sp>
        <p:nvSpPr>
          <p:cNvPr id="4" name="Aksi 1"/>
          <p:cNvSpPr/>
          <p:nvPr/>
        </p:nvSpPr>
        <p:spPr>
          <a:xfrm>
            <a:off x="548640" y="1737360"/>
            <a:ext cx="6675120" cy="914400"/>
          </a:xfrm>
          <a:prstGeom prst="homePlate">
            <a:avLst/>
          </a:prstGeom>
          <a:solidFill>
            <a:srgbClr val="141414"/>
          </a:solidFill>
          <a:ln w="9525">
            <a:solidFill>
              <a:srgbClr val="141414"/>
            </a:solidFill>
            <a:prstDash val="solid"/>
          </a:ln>
        </p:spPr>
      </p:sp>
      <p:sp>
        <p:nvSpPr>
          <p:cNvPr id="5" name="text"/>
          <p:cNvSpPr txBox="1"/>
          <p:nvPr/>
        </p:nvSpPr>
        <p:spPr>
          <a:xfrm>
            <a:off x="777240" y="1847088"/>
            <a:ext cx="5486400" cy="457200"/>
          </a:xfrm>
          <a:prstGeom prst="rect">
            <a:avLst/>
          </a:prstGeom>
          <a:noFill/>
          <a:ln/>
        </p:spPr>
        <p:txBody>
          <a:bodyPr wrap="square" lIns="0" tIns="0" rIns="0" bIns="0" rtlCol="0" anchor="t"/>
          <a:lstStyle/>
          <a:p>
            <a:pPr algn="l" indent="0" marL="0">
              <a:lnSpc>
                <a:spcPct val="108000"/>
              </a:lnSpc>
              <a:buNone/>
            </a:pPr>
            <a:r>
              <a:rPr lang="en-US" sz="1200" b="1" dirty="0">
                <a:solidFill>
                  <a:srgbClr val="D7F544"/>
                </a:solidFill>
                <a:latin typeface="Arial" pitchFamily="34" charset="0"/>
                <a:ea typeface="Arial" pitchFamily="34" charset="-122"/>
                <a:cs typeface="Arial" pitchFamily="34" charset="-120"/>
              </a:rPr>
              <a:t>Staffing the Organization</a:t>
            </a:r>
            <a:endParaRPr lang="en-US" sz="1200" dirty="0"/>
          </a:p>
        </p:txBody>
      </p:sp>
      <p:sp>
        <p:nvSpPr>
          <p:cNvPr id="6" name="text"/>
          <p:cNvSpPr txBox="1"/>
          <p:nvPr/>
        </p:nvSpPr>
        <p:spPr>
          <a:xfrm>
            <a:off x="777240" y="2194560"/>
            <a:ext cx="5486400" cy="365760"/>
          </a:xfrm>
          <a:prstGeom prst="rect">
            <a:avLst/>
          </a:prstGeom>
          <a:noFill/>
          <a:ln/>
        </p:spPr>
        <p:txBody>
          <a:bodyPr wrap="square" lIns="0" tIns="0" rIns="0" bIns="0" rtlCol="0" anchor="t"/>
          <a:lstStyle/>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Menyusun tim manajemen yang kuat</a:t>
            </a:r>
            <a:endParaRPr lang="en-US" sz="1050" dirty="0"/>
          </a:p>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Merekrut, melatih, dan mempertahankan karyawan berbakat</a:t>
            </a:r>
            <a:endParaRPr lang="en-US" sz="1050" dirty="0"/>
          </a:p>
        </p:txBody>
      </p:sp>
      <p:sp>
        <p:nvSpPr>
          <p:cNvPr id="7" name="Aksi 2"/>
          <p:cNvSpPr/>
          <p:nvPr/>
        </p:nvSpPr>
        <p:spPr>
          <a:xfrm>
            <a:off x="548640" y="2779776"/>
            <a:ext cx="6675120" cy="1371600"/>
          </a:xfrm>
          <a:prstGeom prst="homePlate">
            <a:avLst/>
          </a:prstGeom>
          <a:solidFill>
            <a:srgbClr val="4A4A4A"/>
          </a:solidFill>
          <a:ln w="9525">
            <a:solidFill>
              <a:srgbClr val="4A4A4A"/>
            </a:solidFill>
            <a:prstDash val="solid"/>
          </a:ln>
        </p:spPr>
      </p:sp>
      <p:sp>
        <p:nvSpPr>
          <p:cNvPr id="8" name="text"/>
          <p:cNvSpPr txBox="1"/>
          <p:nvPr/>
        </p:nvSpPr>
        <p:spPr>
          <a:xfrm>
            <a:off x="777240" y="2889504"/>
            <a:ext cx="5486400" cy="457200"/>
          </a:xfrm>
          <a:prstGeom prst="rect">
            <a:avLst/>
          </a:prstGeom>
          <a:noFill/>
          <a:ln/>
        </p:spPr>
        <p:txBody>
          <a:bodyPr wrap="square" lIns="0" tIns="0" rIns="0" bIns="0" rtlCol="0" anchor="t"/>
          <a:lstStyle/>
          <a:p>
            <a:pPr algn="l" indent="0" marL="0">
              <a:lnSpc>
                <a:spcPct val="108000"/>
              </a:lnSpc>
              <a:buNone/>
            </a:pPr>
            <a:r>
              <a:rPr lang="en-US" sz="1200" b="1" dirty="0">
                <a:solidFill>
                  <a:srgbClr val="D7F544"/>
                </a:solidFill>
                <a:latin typeface="Arial" pitchFamily="34" charset="0"/>
                <a:ea typeface="Arial" pitchFamily="34" charset="-122"/>
                <a:cs typeface="Arial" pitchFamily="34" charset="-120"/>
              </a:rPr>
              <a:t>Acquiring, Developing, and Strengthening Key Resources and Organizational Capabilities</a:t>
            </a:r>
            <a:endParaRPr lang="en-US" sz="1200" dirty="0"/>
          </a:p>
        </p:txBody>
      </p:sp>
      <p:sp>
        <p:nvSpPr>
          <p:cNvPr id="9" name="text"/>
          <p:cNvSpPr txBox="1"/>
          <p:nvPr/>
        </p:nvSpPr>
        <p:spPr>
          <a:xfrm>
            <a:off x="777240" y="3346704"/>
            <a:ext cx="5486400" cy="822960"/>
          </a:xfrm>
          <a:prstGeom prst="rect">
            <a:avLst/>
          </a:prstGeom>
          <a:noFill/>
          <a:ln/>
        </p:spPr>
        <p:txBody>
          <a:bodyPr wrap="square" lIns="0" tIns="0" rIns="0" bIns="0" rtlCol="0" anchor="t"/>
          <a:lstStyle/>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Mengembangkan resources dan capabilities yang sesuai dengan strategi saat ini</a:t>
            </a:r>
            <a:endParaRPr lang="en-US" sz="1050" dirty="0"/>
          </a:p>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Memperbarui keduanya ketika kondisi eksternal dan strategi berubah</a:t>
            </a:r>
            <a:endParaRPr lang="en-US" sz="1050" dirty="0"/>
          </a:p>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Melatih dan mempertahankan personel demi capability berbasis pengetahuan dan keterampilan</a:t>
            </a:r>
            <a:endParaRPr lang="en-US" sz="1050" dirty="0"/>
          </a:p>
        </p:txBody>
      </p:sp>
      <p:sp>
        <p:nvSpPr>
          <p:cNvPr id="10" name="Aksi 3"/>
          <p:cNvSpPr/>
          <p:nvPr/>
        </p:nvSpPr>
        <p:spPr>
          <a:xfrm>
            <a:off x="548640" y="4279392"/>
            <a:ext cx="6675120" cy="1097280"/>
          </a:xfrm>
          <a:prstGeom prst="homePlate">
            <a:avLst/>
          </a:prstGeom>
          <a:solidFill>
            <a:srgbClr val="141414"/>
          </a:solidFill>
          <a:ln w="9525">
            <a:solidFill>
              <a:srgbClr val="141414"/>
            </a:solidFill>
            <a:prstDash val="solid"/>
          </a:ln>
        </p:spPr>
      </p:sp>
      <p:sp>
        <p:nvSpPr>
          <p:cNvPr id="11" name="text"/>
          <p:cNvSpPr txBox="1"/>
          <p:nvPr/>
        </p:nvSpPr>
        <p:spPr>
          <a:xfrm>
            <a:off x="777240" y="4389120"/>
            <a:ext cx="5486400" cy="457200"/>
          </a:xfrm>
          <a:prstGeom prst="rect">
            <a:avLst/>
          </a:prstGeom>
          <a:noFill/>
          <a:ln/>
        </p:spPr>
        <p:txBody>
          <a:bodyPr wrap="square" lIns="0" tIns="0" rIns="0" bIns="0" rtlCol="0" anchor="t"/>
          <a:lstStyle/>
          <a:p>
            <a:pPr algn="l" indent="0" marL="0">
              <a:lnSpc>
                <a:spcPct val="108000"/>
              </a:lnSpc>
              <a:buNone/>
            </a:pPr>
            <a:r>
              <a:rPr lang="en-US" sz="1200" b="1" dirty="0">
                <a:solidFill>
                  <a:srgbClr val="D7F544"/>
                </a:solidFill>
                <a:latin typeface="Arial" pitchFamily="34" charset="0"/>
                <a:ea typeface="Arial" pitchFamily="34" charset="-122"/>
                <a:cs typeface="Arial" pitchFamily="34" charset="-120"/>
              </a:rPr>
              <a:t>Structuring the Organization and Work Effort</a:t>
            </a:r>
            <a:endParaRPr lang="en-US" sz="1200" dirty="0"/>
          </a:p>
        </p:txBody>
      </p:sp>
      <p:sp>
        <p:nvSpPr>
          <p:cNvPr id="12" name="text"/>
          <p:cNvSpPr txBox="1"/>
          <p:nvPr/>
        </p:nvSpPr>
        <p:spPr>
          <a:xfrm>
            <a:off x="777240" y="4846320"/>
            <a:ext cx="5486400" cy="548640"/>
          </a:xfrm>
          <a:prstGeom prst="rect">
            <a:avLst/>
          </a:prstGeom>
          <a:noFill/>
          <a:ln/>
        </p:spPr>
        <p:txBody>
          <a:bodyPr wrap="square" lIns="0" tIns="0" rIns="0" bIns="0" rtlCol="0" anchor="t"/>
          <a:lstStyle/>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Menetapkan pengaturan organisasi yang memfasilitasi eksekusi</a:t>
            </a:r>
            <a:endParaRPr lang="en-US" sz="1050" dirty="0"/>
          </a:p>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Menetapkan lines of authority dan reporting relationships</a:t>
            </a:r>
            <a:endParaRPr lang="en-US" sz="1050" dirty="0"/>
          </a:p>
          <a:p>
            <a:pPr algn="l" marL="139700" indent="-139700">
              <a:lnSpc>
                <a:spcPct val="100000"/>
              </a:lnSpc>
              <a:spcAft>
                <a:spcPts val="200"/>
              </a:spcAft>
              <a:buSzPct val="100000"/>
              <a:buChar char="•"/>
            </a:pPr>
            <a:r>
              <a:rPr lang="en-US" sz="1050" dirty="0">
                <a:solidFill>
                  <a:srgbClr val="FFFFFF"/>
                </a:solidFill>
                <a:latin typeface="Calibri" pitchFamily="34" charset="0"/>
                <a:ea typeface="Calibri" pitchFamily="34" charset="-122"/>
                <a:cs typeface="Calibri" pitchFamily="34" charset="-120"/>
              </a:rPr>
              <a:t>Memutuskan seberapa besar wewenang didelegasikan</a:t>
            </a:r>
            <a:endParaRPr lang="en-US" sz="1050" dirty="0"/>
          </a:p>
        </p:txBody>
      </p:sp>
      <p:sp>
        <p:nvSpPr>
          <p:cNvPr id="13" name="card"/>
          <p:cNvSpPr/>
          <p:nvPr/>
        </p:nvSpPr>
        <p:spPr>
          <a:xfrm>
            <a:off x="7635240" y="1874520"/>
            <a:ext cx="4007815" cy="2139696"/>
          </a:xfrm>
          <a:prstGeom prst="roundRect">
            <a:avLst>
              <a:gd name="adj" fmla="val 3419"/>
            </a:avLst>
          </a:prstGeom>
          <a:solidFill>
            <a:srgbClr val="D7F544"/>
          </a:solidFill>
          <a:ln w="6350">
            <a:solidFill>
              <a:srgbClr val="D7F544"/>
            </a:solidFill>
            <a:prstDash val="solid"/>
          </a:ln>
        </p:spPr>
      </p:sp>
      <p:sp>
        <p:nvSpPr>
          <p:cNvPr id="14" name="text"/>
          <p:cNvSpPr txBox="1"/>
          <p:nvPr/>
        </p:nvSpPr>
        <p:spPr>
          <a:xfrm>
            <a:off x="7818120" y="1874520"/>
            <a:ext cx="3642055" cy="2139696"/>
          </a:xfrm>
          <a:prstGeom prst="rect">
            <a:avLst/>
          </a:prstGeom>
          <a:noFill/>
          <a:ln/>
        </p:spPr>
        <p:txBody>
          <a:bodyPr wrap="square" lIns="0" tIns="0" rIns="0" bIns="0" rtlCol="0" anchor="ctr"/>
          <a:lstStyle/>
          <a:p>
            <a:pPr algn="ctr" indent="0" marL="0">
              <a:lnSpc>
                <a:spcPct val="108000"/>
              </a:lnSpc>
              <a:buNone/>
            </a:pPr>
            <a:r>
              <a:rPr lang="en-US" sz="1300" b="1" dirty="0">
                <a:solidFill>
                  <a:srgbClr val="1C1C1C"/>
                </a:solidFill>
                <a:latin typeface="Arial" pitchFamily="34" charset="0"/>
                <a:ea typeface="Arial" pitchFamily="34" charset="-122"/>
                <a:cs typeface="Arial" pitchFamily="34" charset="-120"/>
              </a:rPr>
              <a:t>Strategy-Supportive Resources and Organizational Capabilities</a:t>
            </a:r>
            <a:endParaRPr lang="en-US" sz="1300" dirty="0"/>
          </a:p>
        </p:txBody>
      </p:sp>
      <p:sp>
        <p:nvSpPr>
          <p:cNvPr id="15" name="card"/>
          <p:cNvSpPr/>
          <p:nvPr/>
        </p:nvSpPr>
        <p:spPr>
          <a:xfrm>
            <a:off x="7635240" y="4279392"/>
            <a:ext cx="4007815" cy="1097280"/>
          </a:xfrm>
          <a:prstGeom prst="roundRect">
            <a:avLst>
              <a:gd name="adj" fmla="val 6667"/>
            </a:avLst>
          </a:prstGeom>
          <a:solidFill>
            <a:srgbClr val="555555"/>
          </a:solidFill>
          <a:ln w="6350">
            <a:solidFill>
              <a:srgbClr val="555555"/>
            </a:solidFill>
            <a:prstDash val="solid"/>
          </a:ln>
        </p:spPr>
      </p:sp>
      <p:sp>
        <p:nvSpPr>
          <p:cNvPr id="16" name="text"/>
          <p:cNvSpPr txBox="1"/>
          <p:nvPr/>
        </p:nvSpPr>
        <p:spPr>
          <a:xfrm>
            <a:off x="7818120" y="4279392"/>
            <a:ext cx="3642055" cy="1097280"/>
          </a:xfrm>
          <a:prstGeom prst="rect">
            <a:avLst/>
          </a:prstGeom>
          <a:noFill/>
          <a:ln/>
        </p:spPr>
        <p:txBody>
          <a:bodyPr wrap="square" lIns="0" tIns="0" rIns="0" bIns="0" rtlCol="0" anchor="ctr"/>
          <a:lstStyle/>
          <a:p>
            <a:pPr algn="ctr" indent="0" marL="0">
              <a:lnSpc>
                <a:spcPct val="108000"/>
              </a:lnSpc>
              <a:buNone/>
            </a:pPr>
            <a:r>
              <a:rPr lang="en-US" sz="1300" b="1" dirty="0">
                <a:solidFill>
                  <a:srgbClr val="FFFFFF"/>
                </a:solidFill>
                <a:latin typeface="Arial" pitchFamily="34" charset="0"/>
                <a:ea typeface="Arial" pitchFamily="34" charset="-122"/>
                <a:cs typeface="Arial" pitchFamily="34" charset="-120"/>
              </a:rPr>
              <a:t>Strategy-Supportive Organizational Structure</a:t>
            </a:r>
            <a:endParaRPr lang="en-US" sz="1300" dirty="0"/>
          </a:p>
        </p:txBody>
      </p:sp>
      <p:sp>
        <p:nvSpPr>
          <p:cNvPr id="17" name="saling mendukung"/>
          <p:cNvSpPr/>
          <p:nvPr/>
        </p:nvSpPr>
        <p:spPr>
          <a:xfrm>
            <a:off x="9492844" y="4059936"/>
            <a:ext cx="292608" cy="310896"/>
          </a:xfrm>
          <a:prstGeom prst="upDownArrow">
            <a:avLst/>
          </a:prstGeom>
          <a:solidFill>
            <a:srgbClr val="141414"/>
          </a:solidFill>
          <a:ln w="6350">
            <a:solidFill>
              <a:srgbClr val="141414"/>
            </a:solidFill>
            <a:prstDash val="solid"/>
          </a:ln>
        </p:spPr>
      </p:sp>
      <p:sp>
        <p:nvSpPr>
          <p:cNvPr id="18" name="card"/>
          <p:cNvSpPr/>
          <p:nvPr/>
        </p:nvSpPr>
        <p:spPr>
          <a:xfrm>
            <a:off x="548640" y="5577840"/>
            <a:ext cx="11094415" cy="777240"/>
          </a:xfrm>
          <a:prstGeom prst="roundRect">
            <a:avLst>
              <a:gd name="adj" fmla="val 14118"/>
            </a:avLst>
          </a:prstGeom>
          <a:solidFill>
            <a:srgbClr val="E9E9E5"/>
          </a:solidFill>
          <a:ln w="6350">
            <a:solidFill>
              <a:srgbClr val="E9E9E5"/>
            </a:solidFill>
            <a:prstDash val="solid"/>
          </a:ln>
        </p:spPr>
      </p:sp>
      <p:sp>
        <p:nvSpPr>
          <p:cNvPr id="19" name="text"/>
          <p:cNvSpPr txBox="1"/>
          <p:nvPr/>
        </p:nvSpPr>
        <p:spPr>
          <a:xfrm>
            <a:off x="749808" y="5632704"/>
            <a:ext cx="10692079" cy="667512"/>
          </a:xfrm>
          <a:prstGeom prst="rect">
            <a:avLst/>
          </a:prstGeom>
          <a:noFill/>
          <a:ln/>
        </p:spPr>
        <p:txBody>
          <a:bodyPr wrap="square" lIns="0" tIns="0" rIns="0" bIns="0" rtlCol="0" anchor="ctr"/>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Cara membaca: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aksi 1 dan 2 menghasilkan resources dan capabilities yang mendukung strategi; aksi 3 menghasilkan struktur yang mendukung strategi; keduanya saling menopang (panah dua arah). </a:t>
            </a:r>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Mengapa didahulukan?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Eksekusi yang mahir bergantung pertama-tama pada organisasi yang mampu; strategic assets terdepresiasi, sehingga pembaruan diperlukan bahkan ketika strategi tidak berubah.</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02  ·  STAFFING THE ORGANIZATION</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MENYUSUN TIM MANAJEMEN YANG KUAT</a:t>
            </a:r>
            <a:endParaRPr lang="en-US" sz="2400" dirty="0"/>
          </a:p>
        </p:txBody>
      </p:sp>
      <p:pic>
        <p:nvPicPr>
          <p:cNvPr id="4" name="Foto seleksi talenta" descr="preencoded.png">    </p:cNvPr>
          <p:cNvPicPr>
            <a:picLocks noChangeAspect="1"/>
          </p:cNvPicPr>
          <p:nvPr/>
        </p:nvPicPr>
        <p:blipFill>
          <a:blip r:embed="rId1"/>
          <a:stretch>
            <a:fillRect/>
          </a:stretch>
        </p:blipFill>
        <p:spPr>
          <a:xfrm>
            <a:off x="548640" y="1737360"/>
            <a:ext cx="3931920" cy="2743200"/>
          </a:xfrm>
          <a:prstGeom prst="rect">
            <a:avLst/>
          </a:prstGeom>
        </p:spPr>
      </p:pic>
      <p:sp>
        <p:nvSpPr>
          <p:cNvPr id="5" name="card"/>
          <p:cNvSpPr/>
          <p:nvPr/>
        </p:nvSpPr>
        <p:spPr>
          <a:xfrm>
            <a:off x="548640" y="4617720"/>
            <a:ext cx="3931920" cy="1691640"/>
          </a:xfrm>
          <a:prstGeom prst="roundRect">
            <a:avLst>
              <a:gd name="adj" fmla="val 6486"/>
            </a:avLst>
          </a:prstGeom>
          <a:solidFill>
            <a:srgbClr val="D7F544"/>
          </a:solidFill>
          <a:ln w="6350">
            <a:solidFill>
              <a:srgbClr val="D7F544"/>
            </a:solidFill>
            <a:prstDash val="solid"/>
          </a:ln>
        </p:spPr>
      </p:sp>
      <p:sp>
        <p:nvSpPr>
          <p:cNvPr id="6" name="text"/>
          <p:cNvSpPr txBox="1"/>
          <p:nvPr/>
        </p:nvSpPr>
        <p:spPr>
          <a:xfrm>
            <a:off x="749808" y="4727448"/>
            <a:ext cx="3529584" cy="1508760"/>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Why.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Tanpa tim manajemen yang kapabel dan results-oriented, implementasi terhambat oleh missed deadlines, upaya yang salah arah, dan ketidakcakapan manajerial; mutu kerja di bawah eksekutif yang lemah ikut merosot.</a:t>
            </a:r>
            <a:endParaRPr lang="en-US" sz="1200" dirty="0"/>
          </a:p>
        </p:txBody>
      </p:sp>
      <p:sp>
        <p:nvSpPr>
          <p:cNvPr id="7" name="card"/>
          <p:cNvSpPr/>
          <p:nvPr/>
        </p:nvSpPr>
        <p:spPr>
          <a:xfrm>
            <a:off x="4663440" y="1737360"/>
            <a:ext cx="6979615" cy="2057400"/>
          </a:xfrm>
          <a:prstGeom prst="roundRect">
            <a:avLst>
              <a:gd name="adj" fmla="val 5333"/>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8" name="text"/>
          <p:cNvSpPr txBox="1"/>
          <p:nvPr/>
        </p:nvSpPr>
        <p:spPr>
          <a:xfrm>
            <a:off x="4864608" y="1874520"/>
            <a:ext cx="6577279"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PROFIL MANAJER PELAKSANA STRATEGI (HOW)</a:t>
            </a:r>
            <a:endParaRPr lang="en-US" sz="1200" dirty="0"/>
          </a:p>
        </p:txBody>
      </p:sp>
      <p:sp>
        <p:nvSpPr>
          <p:cNvPr id="9" name="text"/>
          <p:cNvSpPr txBox="1"/>
          <p:nvPr/>
        </p:nvSpPr>
        <p:spPr>
          <a:xfrm>
            <a:off x="4864608" y="2194560"/>
            <a:ext cx="6577279" cy="1554480"/>
          </a:xfrm>
          <a:prstGeom prst="rect">
            <a:avLst/>
          </a:prstGeom>
          <a:noFill/>
          <a:ln/>
        </p:spPr>
        <p:txBody>
          <a:bodyPr wrap="square" lIns="0" tIns="0" rIns="0" bIns="0" rtlCol="0" anchor="t"/>
          <a:lstStyle/>
          <a:p>
            <a:pPr algn="l" marL="139700" indent="-139700">
              <a:lnSpc>
                <a:spcPct val="108000"/>
              </a:lnSpc>
              <a:spcAft>
                <a:spcPts val="400"/>
              </a:spcAft>
              <a:buSzPct val="100000"/>
              <a:buChar char="•"/>
            </a:pPr>
            <a:r>
              <a:rPr lang="en-US" sz="1200" dirty="0">
                <a:solidFill>
                  <a:srgbClr val="1C1C1C"/>
                </a:solidFill>
                <a:latin typeface="Calibri" pitchFamily="34" charset="0"/>
                <a:ea typeface="Calibri" pitchFamily="34" charset="-122"/>
                <a:cs typeface="Calibri" pitchFamily="34" charset="-120"/>
              </a:rPr>
              <a:t>Clear thinkers yang cepat memahami apa yang harus dilakukan dan mahir getting things done melalui orang lain</a:t>
            </a:r>
            <a:endParaRPr lang="en-US" sz="1200" dirty="0"/>
          </a:p>
          <a:p>
            <a:pPr algn="l" marL="139700" indent="-139700">
              <a:lnSpc>
                <a:spcPct val="108000"/>
              </a:lnSpc>
              <a:spcAft>
                <a:spcPts val="400"/>
              </a:spcAft>
              <a:buSzPct val="100000"/>
              <a:buChar char="•"/>
            </a:pPr>
            <a:r>
              <a:rPr lang="en-US" sz="1200" dirty="0">
                <a:solidFill>
                  <a:srgbClr val="1C1C1C"/>
                </a:solidFill>
                <a:latin typeface="Calibri" pitchFamily="34" charset="0"/>
                <a:ea typeface="Calibri" pitchFamily="34" charset="-122"/>
                <a:cs typeface="Calibri" pitchFamily="34" charset="-120"/>
              </a:rPr>
              <a:t>Mengajukan pertanyaan yang tajam dan cukup paham detail bisnis untuk menilai kelayakan permintaan sumber daya</a:t>
            </a:r>
            <a:endParaRPr lang="en-US" sz="1200" dirty="0"/>
          </a:p>
          <a:p>
            <a:pPr algn="l" marL="139700" indent="-139700">
              <a:lnSpc>
                <a:spcPct val="108000"/>
              </a:lnSpc>
              <a:spcAft>
                <a:spcPts val="400"/>
              </a:spcAft>
              <a:buSzPct val="100000"/>
              <a:buChar char="•"/>
            </a:pPr>
            <a:r>
              <a:rPr lang="en-US" sz="1200" dirty="0">
                <a:solidFill>
                  <a:srgbClr val="1C1C1C"/>
                </a:solidFill>
                <a:latin typeface="Calibri" pitchFamily="34" charset="0"/>
                <a:ea typeface="Calibri" pitchFamily="34" charset="-122"/>
                <a:cs typeface="Calibri" pitchFamily="34" charset="-120"/>
              </a:rPr>
              <a:t>Social skills dan emotional intelligence tinggi; konsisten follow through, memantau kemajuan, dan menyesuaikan</a:t>
            </a:r>
            <a:endParaRPr lang="en-US" sz="1200" dirty="0"/>
          </a:p>
        </p:txBody>
      </p:sp>
      <p:sp>
        <p:nvSpPr>
          <p:cNvPr id="10" name="card"/>
          <p:cNvSpPr/>
          <p:nvPr/>
        </p:nvSpPr>
        <p:spPr>
          <a:xfrm>
            <a:off x="4663440" y="3931920"/>
            <a:ext cx="3407512" cy="2377440"/>
          </a:xfrm>
          <a:prstGeom prst="roundRect">
            <a:avLst>
              <a:gd name="adj" fmla="val 4615"/>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1" name="text"/>
          <p:cNvSpPr txBox="1"/>
          <p:nvPr/>
        </p:nvSpPr>
        <p:spPr>
          <a:xfrm>
            <a:off x="4864608" y="4069080"/>
            <a:ext cx="3005176"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MEMPERKUAT TIM</a:t>
            </a:r>
            <a:endParaRPr lang="en-US" sz="1200" dirty="0"/>
          </a:p>
        </p:txBody>
      </p:sp>
      <p:sp>
        <p:nvSpPr>
          <p:cNvPr id="12" name="text"/>
          <p:cNvSpPr txBox="1"/>
          <p:nvPr/>
        </p:nvSpPr>
        <p:spPr>
          <a:xfrm>
            <a:off x="4864608" y="4389120"/>
            <a:ext cx="3005176" cy="1874520"/>
          </a:xfrm>
          <a:prstGeom prst="rect">
            <a:avLst/>
          </a:prstGeom>
          <a:noFill/>
          <a:ln/>
        </p:spPr>
        <p:txBody>
          <a:bodyPr wrap="square" lIns="0" tIns="0" rIns="0" bIns="0" rtlCol="0" anchor="t"/>
          <a:lstStyle/>
          <a:p>
            <a:pPr algn="l" marL="139700" indent="-139700">
              <a:lnSpc>
                <a:spcPct val="108000"/>
              </a:lnSpc>
              <a:spcAft>
                <a:spcPts val="400"/>
              </a:spcAft>
              <a:buSzPct val="100000"/>
              <a:buChar char="•"/>
            </a:pPr>
            <a:r>
              <a:rPr lang="en-US" sz="1150" dirty="0">
                <a:solidFill>
                  <a:srgbClr val="1C1C1C"/>
                </a:solidFill>
                <a:latin typeface="Calibri" pitchFamily="34" charset="0"/>
                <a:ea typeface="Calibri" pitchFamily="34" charset="-122"/>
                <a:cs typeface="Calibri" pitchFamily="34" charset="-120"/>
              </a:rPr>
              <a:t>Promosi dari dalam atau mendatangkan outsider dengan pengalaman dan gaya kepemimpinan yang lebih sesuai</a:t>
            </a:r>
            <a:endParaRPr lang="en-US" sz="1150" dirty="0"/>
          </a:p>
          <a:p>
            <a:pPr algn="l" marL="139700" indent="-139700">
              <a:lnSpc>
                <a:spcPct val="108000"/>
              </a:lnSpc>
              <a:spcAft>
                <a:spcPts val="400"/>
              </a:spcAft>
              <a:buSzPct val="100000"/>
              <a:buChar char="•"/>
            </a:pPr>
            <a:r>
              <a:rPr lang="en-US" sz="1150" dirty="0">
                <a:solidFill>
                  <a:srgbClr val="1C1C1C"/>
                </a:solidFill>
                <a:latin typeface="Calibri" pitchFamily="34" charset="0"/>
                <a:ea typeface="Calibri" pitchFamily="34" charset="-122"/>
                <a:cs typeface="Calibri" pitchFamily="34" charset="-120"/>
              </a:rPr>
              <a:t>Perekrutan eksternal menjadi standar pada situasi turnaround, rapid growth, atau ketika know-how tidak tersedia</a:t>
            </a:r>
            <a:endParaRPr lang="en-US" sz="1150" dirty="0"/>
          </a:p>
          <a:p>
            <a:pPr algn="l" marL="139700" indent="-139700">
              <a:lnSpc>
                <a:spcPct val="108000"/>
              </a:lnSpc>
              <a:spcAft>
                <a:spcPts val="400"/>
              </a:spcAft>
              <a:buSzPct val="100000"/>
              <a:buChar char="•"/>
            </a:pPr>
            <a:r>
              <a:rPr lang="en-US" sz="1150" dirty="0">
                <a:solidFill>
                  <a:srgbClr val="1C1C1C"/>
                </a:solidFill>
                <a:latin typeface="Calibri" pitchFamily="34" charset="0"/>
                <a:ea typeface="Calibri" pitchFamily="34" charset="-122"/>
                <a:cs typeface="Calibri" pitchFamily="34" charset="-120"/>
              </a:rPr>
              <a:t>Mengganti manajer yang tidak mampu melakukan perubahan secara tepat waktu dan efisien</a:t>
            </a:r>
            <a:endParaRPr lang="en-US" sz="1150" dirty="0"/>
          </a:p>
        </p:txBody>
      </p:sp>
      <p:sp>
        <p:nvSpPr>
          <p:cNvPr id="13" name="card"/>
          <p:cNvSpPr/>
          <p:nvPr/>
        </p:nvSpPr>
        <p:spPr>
          <a:xfrm>
            <a:off x="8235544" y="3931920"/>
            <a:ext cx="3407512" cy="2377440"/>
          </a:xfrm>
          <a:prstGeom prst="roundRect">
            <a:avLst>
              <a:gd name="adj" fmla="val 4615"/>
            </a:avLst>
          </a:prstGeom>
          <a:solidFill>
            <a:srgbClr val="141414"/>
          </a:solidFill>
          <a:ln w="6350">
            <a:solidFill>
              <a:srgbClr val="141414"/>
            </a:solidFill>
            <a:prstDash val="solid"/>
          </a:ln>
        </p:spPr>
      </p:sp>
      <p:sp>
        <p:nvSpPr>
          <p:cNvPr id="14" name="text"/>
          <p:cNvSpPr txBox="1"/>
          <p:nvPr/>
        </p:nvSpPr>
        <p:spPr>
          <a:xfrm>
            <a:off x="8436712" y="4069080"/>
            <a:ext cx="3005176"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D7F544"/>
                </a:solidFill>
                <a:latin typeface="Arial" pitchFamily="34" charset="0"/>
                <a:ea typeface="Arial" pitchFamily="34" charset="-122"/>
                <a:cs typeface="Arial" pitchFamily="34" charset="-120"/>
              </a:rPr>
              <a:t>TUJUAN AKHIR</a:t>
            </a:r>
            <a:endParaRPr lang="en-US" sz="1200" dirty="0"/>
          </a:p>
        </p:txBody>
      </p:sp>
      <p:sp>
        <p:nvSpPr>
          <p:cNvPr id="15" name="text"/>
          <p:cNvSpPr txBox="1"/>
          <p:nvPr/>
        </p:nvSpPr>
        <p:spPr>
          <a:xfrm>
            <a:off x="8436712" y="4389120"/>
            <a:ext cx="3005176" cy="1874520"/>
          </a:xfrm>
          <a:prstGeom prst="rect">
            <a:avLst/>
          </a:prstGeom>
          <a:noFill/>
          <a:ln/>
        </p:spPr>
        <p:txBody>
          <a:bodyPr wrap="square" lIns="0" tIns="0" rIns="0" bIns="0" rtlCol="0" anchor="t"/>
          <a:lstStyle/>
          <a:p>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Critical mass manajer berbakat yang berfungsi sebagai </a:t>
            </a:r>
            <a:pPr algn="l" indent="0" marL="0">
              <a:lnSpc>
                <a:spcPct val="108000"/>
              </a:lnSpc>
              <a:buNone/>
            </a:pPr>
            <a:r>
              <a:rPr lang="en-US" sz="1150" b="1" dirty="0">
                <a:solidFill>
                  <a:srgbClr val="E6E6E6"/>
                </a:solidFill>
                <a:latin typeface="Calibri" pitchFamily="34" charset="0"/>
                <a:ea typeface="Calibri" pitchFamily="34" charset="-122"/>
                <a:cs typeface="Calibri" pitchFamily="34" charset="-120"/>
              </a:rPr>
              <a:t>agents of change</a:t>
            </a:r>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 Manajer kelas satu yang bekerja sama menghasilkan keluaran yang jauh melampaui jumlah upaya individual (Collins, Good to Great). Tim puncak yang beragam memperkaya pengambilan keputusan (IC 10.1: Mary Barra di GM, Satya Nadella di Microsoft, Rosalind Brewer di Walgreens).</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02  ·  STAFFING THE ORGANIZATION</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MEREKRUT, MELATIH, DAN MEMPERTAHANKAN KARYAWAN</a:t>
            </a:r>
            <a:endParaRPr lang="en-US" sz="2400" dirty="0"/>
          </a:p>
        </p:txBody>
      </p:sp>
      <p:sp>
        <p:nvSpPr>
          <p:cNvPr id="4" name="text"/>
          <p:cNvSpPr txBox="1"/>
          <p:nvPr/>
        </p:nvSpPr>
        <p:spPr>
          <a:xfrm>
            <a:off x="548640" y="1691640"/>
            <a:ext cx="7498080" cy="59436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Calibri" pitchFamily="34" charset="0"/>
                <a:ea typeface="Calibri" pitchFamily="34" charset="-122"/>
                <a:cs typeface="Calibri" pitchFamily="34" charset="-120"/>
              </a:rPr>
              <a:t>Tim manajemen saja tidak cukup. </a:t>
            </a:r>
            <a:pPr algn="l" indent="0" marL="0">
              <a:lnSpc>
                <a:spcPct val="108000"/>
              </a:lnSpc>
              <a:buNone/>
            </a:pPr>
            <a:r>
              <a:rPr lang="en-US" sz="1250" dirty="0">
                <a:solidFill>
                  <a:srgbClr val="1C1C1C"/>
                </a:solidFill>
                <a:latin typeface="Calibri" pitchFamily="34" charset="0"/>
                <a:ea typeface="Calibri" pitchFamily="34" charset="-122"/>
                <a:cs typeface="Calibri" pitchFamily="34" charset="-120"/>
              </a:rPr>
              <a:t>Di banyak industri, menambah talent base dan membangun intellectual capital lebih menentukan daripada tambahan investasi capital projects. Sasarannya: seluruh workforce menjadi genuine competitive asset.</a:t>
            </a:r>
            <a:endParaRPr lang="en-US" sz="1250" dirty="0"/>
          </a:p>
        </p:txBody>
      </p:sp>
      <p:sp>
        <p:nvSpPr>
          <p:cNvPr id="5" name="card"/>
          <p:cNvSpPr/>
          <p:nvPr/>
        </p:nvSpPr>
        <p:spPr>
          <a:xfrm>
            <a:off x="548640" y="242316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6" name="icon-bg"/>
          <p:cNvSpPr/>
          <p:nvPr/>
        </p:nvSpPr>
        <p:spPr>
          <a:xfrm>
            <a:off x="685800" y="2560320"/>
            <a:ext cx="384048" cy="384048"/>
          </a:xfrm>
          <a:prstGeom prst="ellipse">
            <a:avLst/>
          </a:prstGeom>
          <a:solidFill>
            <a:srgbClr val="D7F544"/>
          </a:solidFill>
          <a:ln w="6350">
            <a:solidFill>
              <a:srgbClr val="D7F544"/>
            </a:solidFill>
            <a:prstDash val="solid"/>
          </a:ln>
        </p:spPr>
      </p:sp>
      <p:pic>
        <p:nvPicPr>
          <p:cNvPr id="7" name="icon" descr="preencoded.png">    </p:cNvPr>
          <p:cNvPicPr>
            <a:picLocks noChangeAspect="1"/>
          </p:cNvPicPr>
          <p:nvPr/>
        </p:nvPicPr>
        <p:blipFill>
          <a:blip r:embed="rId1"/>
          <a:stretch>
            <a:fillRect/>
          </a:stretch>
        </p:blipFill>
        <p:spPr>
          <a:xfrm>
            <a:off x="777972" y="2652492"/>
            <a:ext cx="199705" cy="199705"/>
          </a:xfrm>
          <a:prstGeom prst="rect">
            <a:avLst/>
          </a:prstGeom>
        </p:spPr>
      </p:pic>
      <p:sp>
        <p:nvSpPr>
          <p:cNvPr id="8" name="text"/>
          <p:cNvSpPr txBox="1"/>
          <p:nvPr/>
        </p:nvSpPr>
        <p:spPr>
          <a:xfrm>
            <a:off x="685800" y="299008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Seleksi ketat</a:t>
            </a:r>
            <a:endParaRPr lang="en-US" sz="1100" dirty="0"/>
          </a:p>
        </p:txBody>
      </p:sp>
      <p:sp>
        <p:nvSpPr>
          <p:cNvPr id="9" name="text"/>
          <p:cNvSpPr txBox="1"/>
          <p:nvPr/>
        </p:nvSpPr>
        <p:spPr>
          <a:xfrm>
            <a:off x="685800" y="339242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skill, energi, inisiatif, judgment, dan kecocokan dengan budaya</a:t>
            </a:r>
            <a:endParaRPr lang="en-US" sz="1050" dirty="0"/>
          </a:p>
        </p:txBody>
      </p:sp>
      <p:sp>
        <p:nvSpPr>
          <p:cNvPr id="10" name="card"/>
          <p:cNvSpPr/>
          <p:nvPr/>
        </p:nvSpPr>
        <p:spPr>
          <a:xfrm>
            <a:off x="2452878" y="242316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1" name="icon-bg"/>
          <p:cNvSpPr/>
          <p:nvPr/>
        </p:nvSpPr>
        <p:spPr>
          <a:xfrm>
            <a:off x="2590038" y="2560320"/>
            <a:ext cx="384048" cy="384048"/>
          </a:xfrm>
          <a:prstGeom prst="ellipse">
            <a:avLst/>
          </a:prstGeom>
          <a:solidFill>
            <a:srgbClr val="D7F544"/>
          </a:solidFill>
          <a:ln w="6350">
            <a:solidFill>
              <a:srgbClr val="D7F544"/>
            </a:solidFill>
            <a:prstDash val="solid"/>
          </a:ln>
        </p:spPr>
      </p:sp>
      <p:pic>
        <p:nvPicPr>
          <p:cNvPr id="12" name="icon" descr="preencoded.png">    </p:cNvPr>
          <p:cNvPicPr>
            <a:picLocks noChangeAspect="1"/>
          </p:cNvPicPr>
          <p:nvPr/>
        </p:nvPicPr>
        <p:blipFill>
          <a:blip r:embed="rId2"/>
          <a:stretch>
            <a:fillRect/>
          </a:stretch>
        </p:blipFill>
        <p:spPr>
          <a:xfrm>
            <a:off x="2682210" y="2652492"/>
            <a:ext cx="199705" cy="199705"/>
          </a:xfrm>
          <a:prstGeom prst="rect">
            <a:avLst/>
          </a:prstGeom>
        </p:spPr>
      </p:pic>
      <p:sp>
        <p:nvSpPr>
          <p:cNvPr id="13" name="text"/>
          <p:cNvSpPr txBox="1"/>
          <p:nvPr/>
        </p:nvSpPr>
        <p:spPr>
          <a:xfrm>
            <a:off x="2590038" y="299008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Pelatihan berkelanjutan</a:t>
            </a:r>
            <a:endParaRPr lang="en-US" sz="1100" dirty="0"/>
          </a:p>
        </p:txBody>
      </p:sp>
      <p:sp>
        <p:nvSpPr>
          <p:cNvPr id="14" name="text"/>
          <p:cNvSpPr txBox="1"/>
          <p:nvPr/>
        </p:nvSpPr>
        <p:spPr>
          <a:xfrm>
            <a:off x="2590038" y="339242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program training sepanjang karier</a:t>
            </a:r>
            <a:endParaRPr lang="en-US" sz="1050" dirty="0"/>
          </a:p>
        </p:txBody>
      </p:sp>
      <p:sp>
        <p:nvSpPr>
          <p:cNvPr id="15" name="card"/>
          <p:cNvSpPr/>
          <p:nvPr/>
        </p:nvSpPr>
        <p:spPr>
          <a:xfrm>
            <a:off x="4357116" y="242316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6" name="icon-bg"/>
          <p:cNvSpPr/>
          <p:nvPr/>
        </p:nvSpPr>
        <p:spPr>
          <a:xfrm>
            <a:off x="4494276" y="2560320"/>
            <a:ext cx="384048" cy="384048"/>
          </a:xfrm>
          <a:prstGeom prst="ellipse">
            <a:avLst/>
          </a:prstGeom>
          <a:solidFill>
            <a:srgbClr val="D7F544"/>
          </a:solidFill>
          <a:ln w="6350">
            <a:solidFill>
              <a:srgbClr val="D7F544"/>
            </a:solidFill>
            <a:prstDash val="solid"/>
          </a:ln>
        </p:spPr>
      </p:sp>
      <p:pic>
        <p:nvPicPr>
          <p:cNvPr id="17" name="icon" descr="preencoded.png">    </p:cNvPr>
          <p:cNvPicPr>
            <a:picLocks noChangeAspect="1"/>
          </p:cNvPicPr>
          <p:nvPr/>
        </p:nvPicPr>
        <p:blipFill>
          <a:blip r:embed="rId3"/>
          <a:stretch>
            <a:fillRect/>
          </a:stretch>
        </p:blipFill>
        <p:spPr>
          <a:xfrm>
            <a:off x="4586448" y="2652492"/>
            <a:ext cx="199705" cy="199705"/>
          </a:xfrm>
          <a:prstGeom prst="rect">
            <a:avLst/>
          </a:prstGeom>
        </p:spPr>
      </p:pic>
      <p:sp>
        <p:nvSpPr>
          <p:cNvPr id="18" name="text"/>
          <p:cNvSpPr txBox="1"/>
          <p:nvPr/>
        </p:nvSpPr>
        <p:spPr>
          <a:xfrm>
            <a:off x="4494276" y="299008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Penugasan menantang</a:t>
            </a:r>
            <a:endParaRPr lang="en-US" sz="1100" dirty="0"/>
          </a:p>
        </p:txBody>
      </p:sp>
      <p:sp>
        <p:nvSpPr>
          <p:cNvPr id="19" name="text"/>
          <p:cNvSpPr txBox="1"/>
          <p:nvPr/>
        </p:nvSpPr>
        <p:spPr>
          <a:xfrm>
            <a:off x="4494276" y="339242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assignment yang skill-stretching bagi karyawan potensial</a:t>
            </a:r>
            <a:endParaRPr lang="en-US" sz="1050" dirty="0"/>
          </a:p>
        </p:txBody>
      </p:sp>
      <p:sp>
        <p:nvSpPr>
          <p:cNvPr id="20" name="card"/>
          <p:cNvSpPr/>
          <p:nvPr/>
        </p:nvSpPr>
        <p:spPr>
          <a:xfrm>
            <a:off x="6261354" y="242316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1" name="icon-bg"/>
          <p:cNvSpPr/>
          <p:nvPr/>
        </p:nvSpPr>
        <p:spPr>
          <a:xfrm>
            <a:off x="6398514" y="2560320"/>
            <a:ext cx="384048" cy="384048"/>
          </a:xfrm>
          <a:prstGeom prst="ellipse">
            <a:avLst/>
          </a:prstGeom>
          <a:solidFill>
            <a:srgbClr val="D7F544"/>
          </a:solidFill>
          <a:ln w="6350">
            <a:solidFill>
              <a:srgbClr val="D7F544"/>
            </a:solidFill>
            <a:prstDash val="solid"/>
          </a:ln>
        </p:spPr>
      </p:sp>
      <p:pic>
        <p:nvPicPr>
          <p:cNvPr id="22" name="icon" descr="preencoded.png">    </p:cNvPr>
          <p:cNvPicPr>
            <a:picLocks noChangeAspect="1"/>
          </p:cNvPicPr>
          <p:nvPr/>
        </p:nvPicPr>
        <p:blipFill>
          <a:blip r:embed="rId4"/>
          <a:stretch>
            <a:fillRect/>
          </a:stretch>
        </p:blipFill>
        <p:spPr>
          <a:xfrm>
            <a:off x="6490686" y="2652492"/>
            <a:ext cx="199705" cy="199705"/>
          </a:xfrm>
          <a:prstGeom prst="rect">
            <a:avLst/>
          </a:prstGeom>
        </p:spPr>
      </p:pic>
      <p:sp>
        <p:nvSpPr>
          <p:cNvPr id="23" name="text"/>
          <p:cNvSpPr txBox="1"/>
          <p:nvPr/>
        </p:nvSpPr>
        <p:spPr>
          <a:xfrm>
            <a:off x="6398514" y="299008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Rotasi lintas batas</a:t>
            </a:r>
            <a:endParaRPr lang="en-US" sz="1100" dirty="0"/>
          </a:p>
        </p:txBody>
      </p:sp>
      <p:sp>
        <p:nvSpPr>
          <p:cNvPr id="24" name="text"/>
          <p:cNvSpPr txBox="1"/>
          <p:nvPr/>
        </p:nvSpPr>
        <p:spPr>
          <a:xfrm>
            <a:off x="6398514" y="339242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fungsi dan geografi, termasuk penugasan internasional</a:t>
            </a:r>
            <a:endParaRPr lang="en-US" sz="1050" dirty="0"/>
          </a:p>
        </p:txBody>
      </p:sp>
      <p:sp>
        <p:nvSpPr>
          <p:cNvPr id="25" name="card"/>
          <p:cNvSpPr/>
          <p:nvPr/>
        </p:nvSpPr>
        <p:spPr>
          <a:xfrm>
            <a:off x="548640" y="411480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6" name="icon-bg"/>
          <p:cNvSpPr/>
          <p:nvPr/>
        </p:nvSpPr>
        <p:spPr>
          <a:xfrm>
            <a:off x="685800" y="4251960"/>
            <a:ext cx="384048" cy="384048"/>
          </a:xfrm>
          <a:prstGeom prst="ellipse">
            <a:avLst/>
          </a:prstGeom>
          <a:solidFill>
            <a:srgbClr val="D7F544"/>
          </a:solidFill>
          <a:ln w="6350">
            <a:solidFill>
              <a:srgbClr val="D7F544"/>
            </a:solidFill>
            <a:prstDash val="solid"/>
          </a:ln>
        </p:spPr>
      </p:sp>
      <p:pic>
        <p:nvPicPr>
          <p:cNvPr id="27" name="icon" descr="preencoded.png">    </p:cNvPr>
          <p:cNvPicPr>
            <a:picLocks noChangeAspect="1"/>
          </p:cNvPicPr>
          <p:nvPr/>
        </p:nvPicPr>
        <p:blipFill>
          <a:blip r:embed="rId5"/>
          <a:stretch>
            <a:fillRect/>
          </a:stretch>
        </p:blipFill>
        <p:spPr>
          <a:xfrm>
            <a:off x="777972" y="4344132"/>
            <a:ext cx="199705" cy="199705"/>
          </a:xfrm>
          <a:prstGeom prst="rect">
            <a:avLst/>
          </a:prstGeom>
        </p:spPr>
      </p:pic>
      <p:sp>
        <p:nvSpPr>
          <p:cNvPr id="28" name="text"/>
          <p:cNvSpPr txBox="1"/>
          <p:nvPr/>
        </p:nvSpPr>
        <p:spPr>
          <a:xfrm>
            <a:off x="685800" y="468172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Lingkungan yang menstimulasi</a:t>
            </a:r>
            <a:endParaRPr lang="en-US" sz="1100" dirty="0"/>
          </a:p>
        </p:txBody>
      </p:sp>
      <p:sp>
        <p:nvSpPr>
          <p:cNvPr id="29" name="text"/>
          <p:cNvSpPr txBox="1"/>
          <p:nvPr/>
        </p:nvSpPr>
        <p:spPr>
          <a:xfrm>
            <a:off x="685800" y="508406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perusahaan dipandang sebagai great place to work</a:t>
            </a:r>
            <a:endParaRPr lang="en-US" sz="1050" dirty="0"/>
          </a:p>
        </p:txBody>
      </p:sp>
      <p:sp>
        <p:nvSpPr>
          <p:cNvPr id="30" name="card"/>
          <p:cNvSpPr/>
          <p:nvPr/>
        </p:nvSpPr>
        <p:spPr>
          <a:xfrm>
            <a:off x="2452878" y="411480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31" name="icon-bg"/>
          <p:cNvSpPr/>
          <p:nvPr/>
        </p:nvSpPr>
        <p:spPr>
          <a:xfrm>
            <a:off x="2590038" y="4251960"/>
            <a:ext cx="384048" cy="384048"/>
          </a:xfrm>
          <a:prstGeom prst="ellipse">
            <a:avLst/>
          </a:prstGeom>
          <a:solidFill>
            <a:srgbClr val="D7F544"/>
          </a:solidFill>
          <a:ln w="6350">
            <a:solidFill>
              <a:srgbClr val="D7F544"/>
            </a:solidFill>
            <a:prstDash val="solid"/>
          </a:ln>
        </p:spPr>
      </p:sp>
      <p:pic>
        <p:nvPicPr>
          <p:cNvPr id="32" name="icon" descr="preencoded.png">    </p:cNvPr>
          <p:cNvPicPr>
            <a:picLocks noChangeAspect="1"/>
          </p:cNvPicPr>
          <p:nvPr/>
        </p:nvPicPr>
        <p:blipFill>
          <a:blip r:embed="rId6"/>
          <a:stretch>
            <a:fillRect/>
          </a:stretch>
        </p:blipFill>
        <p:spPr>
          <a:xfrm>
            <a:off x="2682210" y="4344132"/>
            <a:ext cx="199705" cy="199705"/>
          </a:xfrm>
          <a:prstGeom prst="rect">
            <a:avLst/>
          </a:prstGeom>
        </p:spPr>
      </p:pic>
      <p:sp>
        <p:nvSpPr>
          <p:cNvPr id="33" name="text"/>
          <p:cNvSpPr txBox="1"/>
          <p:nvPr/>
        </p:nvSpPr>
        <p:spPr>
          <a:xfrm>
            <a:off x="2590038" y="468172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Menantang cara lama</a:t>
            </a:r>
            <a:endParaRPr lang="en-US" sz="1100" dirty="0"/>
          </a:p>
        </p:txBody>
      </p:sp>
      <p:sp>
        <p:nvSpPr>
          <p:cNvPr id="34" name="text"/>
          <p:cNvSpPr txBox="1"/>
          <p:nvPr/>
        </p:nvSpPr>
        <p:spPr>
          <a:xfrm>
            <a:off x="2590038" y="508406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usulan dan ide karyawan dihargai</a:t>
            </a:r>
            <a:endParaRPr lang="en-US" sz="1050" dirty="0"/>
          </a:p>
        </p:txBody>
      </p:sp>
      <p:sp>
        <p:nvSpPr>
          <p:cNvPr id="35" name="card"/>
          <p:cNvSpPr/>
          <p:nvPr/>
        </p:nvSpPr>
        <p:spPr>
          <a:xfrm>
            <a:off x="4357116" y="411480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36" name="icon-bg"/>
          <p:cNvSpPr/>
          <p:nvPr/>
        </p:nvSpPr>
        <p:spPr>
          <a:xfrm>
            <a:off x="4494276" y="4251960"/>
            <a:ext cx="384048" cy="384048"/>
          </a:xfrm>
          <a:prstGeom prst="ellipse">
            <a:avLst/>
          </a:prstGeom>
          <a:solidFill>
            <a:srgbClr val="D7F544"/>
          </a:solidFill>
          <a:ln w="6350">
            <a:solidFill>
              <a:srgbClr val="D7F544"/>
            </a:solidFill>
            <a:prstDash val="solid"/>
          </a:ln>
        </p:spPr>
      </p:sp>
      <p:pic>
        <p:nvPicPr>
          <p:cNvPr id="37" name="icon" descr="preencoded.png">    </p:cNvPr>
          <p:cNvPicPr>
            <a:picLocks noChangeAspect="1"/>
          </p:cNvPicPr>
          <p:nvPr/>
        </p:nvPicPr>
        <p:blipFill>
          <a:blip r:embed="rId7"/>
          <a:stretch>
            <a:fillRect/>
          </a:stretch>
        </p:blipFill>
        <p:spPr>
          <a:xfrm>
            <a:off x="4586448" y="4344132"/>
            <a:ext cx="199705" cy="199705"/>
          </a:xfrm>
          <a:prstGeom prst="rect">
            <a:avLst/>
          </a:prstGeom>
        </p:spPr>
      </p:pic>
      <p:sp>
        <p:nvSpPr>
          <p:cNvPr id="38" name="text"/>
          <p:cNvSpPr txBox="1"/>
          <p:nvPr/>
        </p:nvSpPr>
        <p:spPr>
          <a:xfrm>
            <a:off x="4494276" y="468172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Retensi talenta</a:t>
            </a:r>
            <a:endParaRPr lang="en-US" sz="1100" dirty="0"/>
          </a:p>
        </p:txBody>
      </p:sp>
      <p:sp>
        <p:nvSpPr>
          <p:cNvPr id="39" name="text"/>
          <p:cNvSpPr txBox="1"/>
          <p:nvPr/>
        </p:nvSpPr>
        <p:spPr>
          <a:xfrm>
            <a:off x="4494276" y="508406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promosi, bonus, equity, benefit, fleksibilitas kerja</a:t>
            </a:r>
            <a:endParaRPr lang="en-US" sz="1050" dirty="0"/>
          </a:p>
        </p:txBody>
      </p:sp>
      <p:sp>
        <p:nvSpPr>
          <p:cNvPr id="40" name="card"/>
          <p:cNvSpPr/>
          <p:nvPr/>
        </p:nvSpPr>
        <p:spPr>
          <a:xfrm>
            <a:off x="6261354" y="4114800"/>
            <a:ext cx="1785366" cy="1572768"/>
          </a:xfrm>
          <a:prstGeom prst="roundRect">
            <a:avLst>
              <a:gd name="adj" fmla="val 6977"/>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41" name="icon-bg"/>
          <p:cNvSpPr/>
          <p:nvPr/>
        </p:nvSpPr>
        <p:spPr>
          <a:xfrm>
            <a:off x="6398514" y="4251960"/>
            <a:ext cx="384048" cy="384048"/>
          </a:xfrm>
          <a:prstGeom prst="ellipse">
            <a:avLst/>
          </a:prstGeom>
          <a:solidFill>
            <a:srgbClr val="D7F544"/>
          </a:solidFill>
          <a:ln w="6350">
            <a:solidFill>
              <a:srgbClr val="D7F544"/>
            </a:solidFill>
            <a:prstDash val="solid"/>
          </a:ln>
        </p:spPr>
      </p:sp>
      <p:pic>
        <p:nvPicPr>
          <p:cNvPr id="42" name="icon" descr="preencoded.png">    </p:cNvPr>
          <p:cNvPicPr>
            <a:picLocks noChangeAspect="1"/>
          </p:cNvPicPr>
          <p:nvPr/>
        </p:nvPicPr>
        <p:blipFill>
          <a:blip r:embed="rId8"/>
          <a:stretch>
            <a:fillRect/>
          </a:stretch>
        </p:blipFill>
        <p:spPr>
          <a:xfrm>
            <a:off x="6490686" y="4344132"/>
            <a:ext cx="199705" cy="199705"/>
          </a:xfrm>
          <a:prstGeom prst="rect">
            <a:avLst/>
          </a:prstGeom>
        </p:spPr>
      </p:pic>
      <p:sp>
        <p:nvSpPr>
          <p:cNvPr id="43" name="text"/>
          <p:cNvSpPr txBox="1"/>
          <p:nvPr/>
        </p:nvSpPr>
        <p:spPr>
          <a:xfrm>
            <a:off x="6398514" y="4681728"/>
            <a:ext cx="1511046" cy="384048"/>
          </a:xfrm>
          <a:prstGeom prst="rect">
            <a:avLst/>
          </a:prstGeom>
          <a:noFill/>
          <a:ln/>
        </p:spPr>
        <p:txBody>
          <a:bodyPr wrap="square" lIns="0" tIns="0" rIns="0" bIns="0" rtlCol="0" anchor="t"/>
          <a:lstStyle/>
          <a:p>
            <a:pPr algn="l" indent="0" marL="0">
              <a:lnSpc>
                <a:spcPct val="100000"/>
              </a:lnSpc>
              <a:buNone/>
            </a:pPr>
            <a:r>
              <a:rPr lang="en-US" sz="1100" b="1" dirty="0">
                <a:solidFill>
                  <a:srgbClr val="1C1C1C"/>
                </a:solidFill>
                <a:latin typeface="Arial" pitchFamily="34" charset="0"/>
                <a:ea typeface="Arial" pitchFamily="34" charset="-122"/>
                <a:cs typeface="Arial" pitchFamily="34" charset="-120"/>
              </a:rPr>
              <a:t>Coaching dan weeding out</a:t>
            </a:r>
            <a:endParaRPr lang="en-US" sz="1100" dirty="0"/>
          </a:p>
        </p:txBody>
      </p:sp>
      <p:sp>
        <p:nvSpPr>
          <p:cNvPr id="44" name="text"/>
          <p:cNvSpPr txBox="1"/>
          <p:nvPr/>
        </p:nvSpPr>
        <p:spPr>
          <a:xfrm>
            <a:off x="6398514" y="5084064"/>
            <a:ext cx="1511046" cy="566928"/>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tingkatkan yang rata-rata, lepaskan underperformers</a:t>
            </a:r>
            <a:endParaRPr lang="en-US" sz="1050" dirty="0"/>
          </a:p>
        </p:txBody>
      </p:sp>
      <p:sp>
        <p:nvSpPr>
          <p:cNvPr id="45" name="card"/>
          <p:cNvSpPr/>
          <p:nvPr/>
        </p:nvSpPr>
        <p:spPr>
          <a:xfrm>
            <a:off x="8229600" y="1691640"/>
            <a:ext cx="3413455" cy="1207008"/>
          </a:xfrm>
          <a:prstGeom prst="roundRect">
            <a:avLst>
              <a:gd name="adj" fmla="val 9091"/>
            </a:avLst>
          </a:prstGeom>
          <a:solidFill>
            <a:srgbClr val="141414"/>
          </a:solidFill>
          <a:ln w="6350">
            <a:solidFill>
              <a:srgbClr val="141414"/>
            </a:solidFill>
            <a:prstDash val="solid"/>
          </a:ln>
        </p:spPr>
      </p:sp>
      <p:sp>
        <p:nvSpPr>
          <p:cNvPr id="46" name="text"/>
          <p:cNvSpPr txBox="1"/>
          <p:nvPr/>
        </p:nvSpPr>
        <p:spPr>
          <a:xfrm>
            <a:off x="8412480" y="1783080"/>
            <a:ext cx="3047695" cy="457200"/>
          </a:xfrm>
          <a:prstGeom prst="rect">
            <a:avLst/>
          </a:prstGeom>
          <a:noFill/>
          <a:ln/>
        </p:spPr>
        <p:txBody>
          <a:bodyPr wrap="square" lIns="0" tIns="0" rIns="0" bIns="0" rtlCol="0" anchor="t"/>
          <a:lstStyle/>
          <a:p>
            <a:pPr algn="l" indent="0" marL="0">
              <a:lnSpc>
                <a:spcPct val="108000"/>
              </a:lnSpc>
              <a:buNone/>
            </a:pPr>
            <a:r>
              <a:rPr lang="en-US" sz="2200" b="1" dirty="0">
                <a:solidFill>
                  <a:srgbClr val="D7F544"/>
                </a:solidFill>
                <a:latin typeface="Arial" pitchFamily="34" charset="0"/>
                <a:ea typeface="Arial" pitchFamily="34" charset="-122"/>
                <a:cs typeface="Arial" pitchFamily="34" charset="-120"/>
              </a:rPr>
              <a:t>3%</a:t>
            </a:r>
            <a:endParaRPr lang="en-US" sz="2200" dirty="0"/>
          </a:p>
        </p:txBody>
      </p:sp>
      <p:sp>
        <p:nvSpPr>
          <p:cNvPr id="47" name="text"/>
          <p:cNvSpPr txBox="1"/>
          <p:nvPr/>
        </p:nvSpPr>
        <p:spPr>
          <a:xfrm>
            <a:off x="8412480" y="2240280"/>
            <a:ext cx="3047695" cy="640080"/>
          </a:xfrm>
          <a:prstGeom prst="rect">
            <a:avLst/>
          </a:prstGeom>
          <a:noFill/>
          <a:ln/>
        </p:spPr>
        <p:txBody>
          <a:bodyPr wrap="square" lIns="0" tIns="0" rIns="0" bIns="0" rtlCol="0" anchor="t"/>
          <a:lstStyle/>
          <a:p>
            <a:pPr algn="l" indent="0" marL="0">
              <a:lnSpc>
                <a:spcPct val="108000"/>
              </a:lnSpc>
              <a:buNone/>
            </a:pPr>
            <a:r>
              <a:rPr lang="en-US" sz="1050" dirty="0">
                <a:solidFill>
                  <a:srgbClr val="E6E6E6"/>
                </a:solidFill>
                <a:latin typeface="Calibri" pitchFamily="34" charset="0"/>
                <a:ea typeface="Calibri" pitchFamily="34" charset="-122"/>
                <a:cs typeface="Calibri" pitchFamily="34" charset="-120"/>
              </a:rPr>
              <a:t>pelamar yang diterima Southwest Airlines; seleksi kepribadian disesuaikan dengan strategi layanan fun-loving</a:t>
            </a:r>
            <a:endParaRPr lang="en-US" sz="1050" dirty="0"/>
          </a:p>
        </p:txBody>
      </p:sp>
      <p:sp>
        <p:nvSpPr>
          <p:cNvPr id="48" name="card"/>
          <p:cNvSpPr/>
          <p:nvPr/>
        </p:nvSpPr>
        <p:spPr>
          <a:xfrm>
            <a:off x="8229600" y="2990088"/>
            <a:ext cx="3413455" cy="1207008"/>
          </a:xfrm>
          <a:prstGeom prst="roundRect">
            <a:avLst>
              <a:gd name="adj" fmla="val 9091"/>
            </a:avLst>
          </a:prstGeom>
          <a:solidFill>
            <a:srgbClr val="D7F544"/>
          </a:solidFill>
          <a:ln w="6350">
            <a:solidFill>
              <a:srgbClr val="D7F544"/>
            </a:solidFill>
            <a:prstDash val="solid"/>
          </a:ln>
        </p:spPr>
      </p:sp>
      <p:sp>
        <p:nvSpPr>
          <p:cNvPr id="49" name="text"/>
          <p:cNvSpPr txBox="1"/>
          <p:nvPr/>
        </p:nvSpPr>
        <p:spPr>
          <a:xfrm>
            <a:off x="8412480" y="3081528"/>
            <a:ext cx="3047695" cy="457200"/>
          </a:xfrm>
          <a:prstGeom prst="rect">
            <a:avLst/>
          </a:prstGeom>
          <a:noFill/>
          <a:ln/>
        </p:spPr>
        <p:txBody>
          <a:bodyPr wrap="square" lIns="0" tIns="0" rIns="0" bIns="0" rtlCol="0" anchor="t"/>
          <a:lstStyle/>
          <a:p>
            <a:pPr algn="l" indent="0" marL="0">
              <a:lnSpc>
                <a:spcPct val="108000"/>
              </a:lnSpc>
              <a:buNone/>
            </a:pPr>
            <a:r>
              <a:rPr lang="en-US" sz="2200" b="1" dirty="0">
                <a:solidFill>
                  <a:srgbClr val="141414"/>
                </a:solidFill>
                <a:latin typeface="Arial" pitchFamily="34" charset="0"/>
                <a:ea typeface="Arial" pitchFamily="34" charset="-122"/>
                <a:cs typeface="Arial" pitchFamily="34" charset="-120"/>
              </a:rPr>
              <a:t>Top 10%</a:t>
            </a:r>
            <a:endParaRPr lang="en-US" sz="2200" dirty="0"/>
          </a:p>
        </p:txBody>
      </p:sp>
      <p:sp>
        <p:nvSpPr>
          <p:cNvPr id="50" name="text"/>
          <p:cNvSpPr txBox="1"/>
          <p:nvPr/>
        </p:nvSpPr>
        <p:spPr>
          <a:xfrm>
            <a:off x="8412480" y="3538728"/>
            <a:ext cx="3047695" cy="640080"/>
          </a:xfrm>
          <a:prstGeom prst="rect">
            <a:avLst/>
          </a:prstGeom>
          <a:noFill/>
          <a:ln/>
        </p:spPr>
        <p:txBody>
          <a:bodyPr wrap="square" lIns="0" tIns="0" rIns="0" bIns="0" rtlCol="0" anchor="t"/>
          <a:lstStyle/>
          <a:p>
            <a:pPr algn="l" indent="0" marL="0">
              <a:lnSpc>
                <a:spcPct val="108000"/>
              </a:lnSpc>
              <a:buNone/>
            </a:pPr>
            <a:r>
              <a:rPr lang="en-US" sz="1050" dirty="0">
                <a:solidFill>
                  <a:srgbClr val="1C1C1C"/>
                </a:solidFill>
                <a:latin typeface="Calibri" pitchFamily="34" charset="0"/>
                <a:ea typeface="Calibri" pitchFamily="34" charset="-122"/>
                <a:cs typeface="Calibri" pitchFamily="34" charset="-120"/>
              </a:rPr>
              <a:t>Cisco membidik 10 persen talenta terbaik, termasuk mempertahankan orang kunci dari perusahaan yang diakuisisi</a:t>
            </a:r>
            <a:endParaRPr lang="en-US" sz="1050" dirty="0"/>
          </a:p>
        </p:txBody>
      </p:sp>
      <p:sp>
        <p:nvSpPr>
          <p:cNvPr id="51" name="card"/>
          <p:cNvSpPr/>
          <p:nvPr/>
        </p:nvSpPr>
        <p:spPr>
          <a:xfrm>
            <a:off x="8229600" y="4288536"/>
            <a:ext cx="3413455" cy="1207008"/>
          </a:xfrm>
          <a:prstGeom prst="roundRect">
            <a:avLst>
              <a:gd name="adj" fmla="val 909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2" name="text"/>
          <p:cNvSpPr txBox="1"/>
          <p:nvPr/>
        </p:nvSpPr>
        <p:spPr>
          <a:xfrm>
            <a:off x="8412480" y="4379976"/>
            <a:ext cx="3047695" cy="457200"/>
          </a:xfrm>
          <a:prstGeom prst="rect">
            <a:avLst/>
          </a:prstGeom>
          <a:noFill/>
          <a:ln/>
        </p:spPr>
        <p:txBody>
          <a:bodyPr wrap="square" lIns="0" tIns="0" rIns="0" bIns="0" rtlCol="0" anchor="t"/>
          <a:lstStyle/>
          <a:p>
            <a:pPr algn="l" indent="0" marL="0">
              <a:lnSpc>
                <a:spcPct val="108000"/>
              </a:lnSpc>
              <a:buNone/>
            </a:pPr>
            <a:r>
              <a:rPr lang="en-US" sz="2200" b="1" dirty="0">
                <a:solidFill>
                  <a:srgbClr val="141414"/>
                </a:solidFill>
                <a:latin typeface="Arial" pitchFamily="34" charset="0"/>
                <a:ea typeface="Arial" pitchFamily="34" charset="-122"/>
                <a:cs typeface="Arial" pitchFamily="34" charset="-120"/>
              </a:rPr>
              <a:t>Deloitte</a:t>
            </a:r>
            <a:endParaRPr lang="en-US" sz="2200" dirty="0"/>
          </a:p>
        </p:txBody>
      </p:sp>
      <p:sp>
        <p:nvSpPr>
          <p:cNvPr id="53" name="text"/>
          <p:cNvSpPr txBox="1"/>
          <p:nvPr/>
        </p:nvSpPr>
        <p:spPr>
          <a:xfrm>
            <a:off x="8412480" y="4837176"/>
            <a:ext cx="3047695" cy="640080"/>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IC 10.2: clear path to partnership, milestone school, dan sponsorship (bukan sekadar mentorship)</a:t>
            </a:r>
            <a:endParaRPr lang="en-US" sz="1050" dirty="0"/>
          </a:p>
        </p:txBody>
      </p:sp>
      <p:sp>
        <p:nvSpPr>
          <p:cNvPr id="54" name="card"/>
          <p:cNvSpPr/>
          <p:nvPr/>
        </p:nvSpPr>
        <p:spPr>
          <a:xfrm>
            <a:off x="548640" y="5852160"/>
            <a:ext cx="11094415" cy="502920"/>
          </a:xfrm>
          <a:prstGeom prst="roundRect">
            <a:avLst>
              <a:gd name="adj" fmla="val 21818"/>
            </a:avLst>
          </a:prstGeom>
          <a:solidFill>
            <a:srgbClr val="E9E9E5"/>
          </a:solidFill>
          <a:ln w="6350">
            <a:solidFill>
              <a:srgbClr val="E9E9E5"/>
            </a:solidFill>
            <a:prstDash val="solid"/>
          </a:ln>
        </p:spPr>
      </p:sp>
      <p:sp>
        <p:nvSpPr>
          <p:cNvPr id="55" name="text"/>
          <p:cNvSpPr txBox="1"/>
          <p:nvPr/>
        </p:nvSpPr>
        <p:spPr>
          <a:xfrm>
            <a:off x="749808" y="5888736"/>
            <a:ext cx="10692079" cy="438912"/>
          </a:xfrm>
          <a:prstGeom prst="rect">
            <a:avLst/>
          </a:prstGeom>
          <a:noFill/>
          <a:ln/>
        </p:spPr>
        <p:txBody>
          <a:bodyPr wrap="square" lIns="0" tIns="0" rIns="0" bIns="0" rtlCol="0" anchor="ctr"/>
          <a:lstStyle/>
          <a:p>
            <a:pPr algn="l" indent="0" marL="0">
              <a:lnSpc>
                <a:spcPct val="108000"/>
              </a:lnSpc>
              <a:buNone/>
            </a:pPr>
            <a:r>
              <a:rPr lang="en-US" sz="1100" b="1" dirty="0">
                <a:solidFill>
                  <a:srgbClr val="1C1C1C"/>
                </a:solidFill>
                <a:latin typeface="Calibri" pitchFamily="34" charset="0"/>
                <a:ea typeface="Calibri" pitchFamily="34" charset="-122"/>
                <a:cs typeface="Calibri" pitchFamily="34" charset="-120"/>
              </a:rPr>
              <a:t>Peran strategis training. </a:t>
            </a:r>
            <a:pPr algn="l" indent="0" marL="0">
              <a:lnSpc>
                <a:spcPct val="108000"/>
              </a:lnSpc>
              <a:buNone/>
            </a:pPr>
            <a:r>
              <a:rPr lang="en-US" sz="1100" dirty="0">
                <a:solidFill>
                  <a:srgbClr val="1C1C1C"/>
                </a:solidFill>
                <a:latin typeface="Calibri" pitchFamily="34" charset="0"/>
                <a:ea typeface="Calibri" pitchFamily="34" charset="-122"/>
                <a:cs typeface="Calibri" pitchFamily="34" charset="-120"/>
              </a:rPr>
              <a:t>Lebih dari 4.000 perusahaan memiliki corporate university (GE di Crotonville, Hamburger University McDonald’s). Ketika strategi menuntut skill baru atau capability baru, training harus didanai memadai dan ditempatkan di puncak action agenda.</a:t>
            </a:r>
            <a:endParaRPr lang="en-US" sz="11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03  ·  BUILDING RESOURCES &amp; CAPABILITIES</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MEMBANGUN RESOURCES DAN ORGANIZATIONAL CAPABILITIES</a:t>
            </a:r>
            <a:endParaRPr lang="en-US" sz="2400" dirty="0"/>
          </a:p>
        </p:txBody>
      </p:sp>
      <p:pic>
        <p:nvPicPr>
          <p:cNvPr id="4" name="Foto pembelajaran tim" descr="preencoded.png">    </p:cNvPr>
          <p:cNvPicPr>
            <a:picLocks noChangeAspect="1"/>
          </p:cNvPicPr>
          <p:nvPr/>
        </p:nvPicPr>
        <p:blipFill>
          <a:blip r:embed="rId1"/>
          <a:stretch>
            <a:fillRect/>
          </a:stretch>
        </p:blipFill>
        <p:spPr>
          <a:xfrm>
            <a:off x="548640" y="1737360"/>
            <a:ext cx="3931920" cy="2651760"/>
          </a:xfrm>
          <a:prstGeom prst="rect">
            <a:avLst/>
          </a:prstGeom>
        </p:spPr>
      </p:pic>
      <p:sp>
        <p:nvSpPr>
          <p:cNvPr id="5" name="card"/>
          <p:cNvSpPr/>
          <p:nvPr/>
        </p:nvSpPr>
        <p:spPr>
          <a:xfrm>
            <a:off x="548640" y="4526280"/>
            <a:ext cx="3931920" cy="1783080"/>
          </a:xfrm>
          <a:prstGeom prst="roundRect">
            <a:avLst>
              <a:gd name="adj" fmla="val 6154"/>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6" name="text"/>
          <p:cNvSpPr txBox="1"/>
          <p:nvPr/>
        </p:nvSpPr>
        <p:spPr>
          <a:xfrm>
            <a:off x="749808" y="4636008"/>
            <a:ext cx="3529584" cy="160020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Tautan ke Bab 4.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Sustainable competitive advantage bergantung pada kaliber portofolio resources dan capabilities (uji VRIN). Perumusan strategi mengidentifikasi capability yang dibutuhkan; eksekusi berarti memperoleh, menempatkan, dan terus menyegarkannya, karena strategi baru menuntut competency baru dan kondisi selalu berubah.</a:t>
            </a:r>
            <a:endParaRPr lang="en-US" sz="1150" dirty="0"/>
          </a:p>
        </p:txBody>
      </p:sp>
      <p:sp>
        <p:nvSpPr>
          <p:cNvPr id="7" name="card"/>
          <p:cNvSpPr/>
          <p:nvPr/>
        </p:nvSpPr>
        <p:spPr>
          <a:xfrm>
            <a:off x="4663440" y="1737360"/>
            <a:ext cx="2229002" cy="3291840"/>
          </a:xfrm>
          <a:prstGeom prst="roundRect">
            <a:avLst>
              <a:gd name="adj" fmla="val 4923"/>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8" name="icon-bg"/>
          <p:cNvSpPr/>
          <p:nvPr/>
        </p:nvSpPr>
        <p:spPr>
          <a:xfrm>
            <a:off x="4846320" y="1920240"/>
            <a:ext cx="457200" cy="457200"/>
          </a:xfrm>
          <a:prstGeom prst="ellipse">
            <a:avLst/>
          </a:prstGeom>
          <a:solidFill>
            <a:srgbClr val="141414"/>
          </a:solidFill>
          <a:ln w="6350">
            <a:solidFill>
              <a:srgbClr val="141414"/>
            </a:solidFill>
            <a:prstDash val="solid"/>
          </a:ln>
        </p:spPr>
      </p:sp>
      <p:pic>
        <p:nvPicPr>
          <p:cNvPr id="9" name="icon" descr="preencoded.png">    </p:cNvPr>
          <p:cNvPicPr>
            <a:picLocks noChangeAspect="1"/>
          </p:cNvPicPr>
          <p:nvPr/>
        </p:nvPicPr>
        <p:blipFill>
          <a:blip r:embed="rId2"/>
          <a:stretch>
            <a:fillRect/>
          </a:stretch>
        </p:blipFill>
        <p:spPr>
          <a:xfrm>
            <a:off x="4956048" y="2029968"/>
            <a:ext cx="237744" cy="237744"/>
          </a:xfrm>
          <a:prstGeom prst="rect">
            <a:avLst/>
          </a:prstGeom>
        </p:spPr>
      </p:pic>
      <p:sp>
        <p:nvSpPr>
          <p:cNvPr id="10" name="text"/>
          <p:cNvSpPr txBox="1"/>
          <p:nvPr/>
        </p:nvSpPr>
        <p:spPr>
          <a:xfrm>
            <a:off x="4846320" y="2468880"/>
            <a:ext cx="1863242" cy="685800"/>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Arial" pitchFamily="34" charset="0"/>
                <a:ea typeface="Arial" pitchFamily="34" charset="-122"/>
                <a:cs typeface="Arial" pitchFamily="34" charset="-120"/>
              </a:rPr>
              <a:t>Developing Capabilities Internally</a:t>
            </a:r>
            <a:endParaRPr lang="en-US" sz="1200" dirty="0"/>
          </a:p>
        </p:txBody>
      </p:sp>
      <p:sp>
        <p:nvSpPr>
          <p:cNvPr id="11" name="text"/>
          <p:cNvSpPr txBox="1"/>
          <p:nvPr/>
        </p:nvSpPr>
        <p:spPr>
          <a:xfrm>
            <a:off x="4846320" y="3200400"/>
            <a:ext cx="1863242" cy="1737360"/>
          </a:xfrm>
          <a:prstGeom prst="rect">
            <a:avLst/>
          </a:prstGeom>
          <a:noFill/>
          <a:ln/>
        </p:spPr>
        <p:txBody>
          <a:bodyPr wrap="square" lIns="0" tIns="0" rIns="0" bIns="0" rtlCol="0" anchor="t"/>
          <a:lstStyle/>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Berkembang secara inkremental dan evolusioner melalui langkah yang disengaja</a:t>
            </a:r>
            <a:endParaRPr lang="en-US" sz="1050" dirty="0"/>
          </a:p>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Capability adalah bundel skill dan know-how yang tertanam dalam organizational routines lintas fungsi</a:t>
            </a:r>
            <a:endParaRPr lang="en-US" sz="1050" dirty="0"/>
          </a:p>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Kendali penuh, namun paling memakan waktu</a:t>
            </a:r>
            <a:endParaRPr lang="en-US" sz="1050" dirty="0"/>
          </a:p>
        </p:txBody>
      </p:sp>
      <p:sp>
        <p:nvSpPr>
          <p:cNvPr id="12" name="card"/>
          <p:cNvSpPr/>
          <p:nvPr/>
        </p:nvSpPr>
        <p:spPr>
          <a:xfrm>
            <a:off x="7038746" y="1737360"/>
            <a:ext cx="2229002" cy="3291840"/>
          </a:xfrm>
          <a:prstGeom prst="roundRect">
            <a:avLst>
              <a:gd name="adj" fmla="val 4923"/>
            </a:avLst>
          </a:prstGeom>
          <a:solidFill>
            <a:srgbClr val="D7F544"/>
          </a:solidFill>
          <a:ln w="6350">
            <a:solidFill>
              <a:srgbClr val="D7F544"/>
            </a:solidFill>
            <a:prstDash val="solid"/>
          </a:ln>
        </p:spPr>
      </p:sp>
      <p:sp>
        <p:nvSpPr>
          <p:cNvPr id="13" name="icon-bg"/>
          <p:cNvSpPr/>
          <p:nvPr/>
        </p:nvSpPr>
        <p:spPr>
          <a:xfrm>
            <a:off x="7221626" y="1920240"/>
            <a:ext cx="457200" cy="457200"/>
          </a:xfrm>
          <a:prstGeom prst="ellipse">
            <a:avLst/>
          </a:prstGeom>
          <a:solidFill>
            <a:srgbClr val="141414"/>
          </a:solidFill>
          <a:ln w="6350">
            <a:solidFill>
              <a:srgbClr val="141414"/>
            </a:solidFill>
            <a:prstDash val="solid"/>
          </a:ln>
        </p:spPr>
      </p:sp>
      <p:pic>
        <p:nvPicPr>
          <p:cNvPr id="14" name="icon" descr="preencoded.png">    </p:cNvPr>
          <p:cNvPicPr>
            <a:picLocks noChangeAspect="1"/>
          </p:cNvPicPr>
          <p:nvPr/>
        </p:nvPicPr>
        <p:blipFill>
          <a:blip r:embed="rId3"/>
          <a:stretch>
            <a:fillRect/>
          </a:stretch>
        </p:blipFill>
        <p:spPr>
          <a:xfrm>
            <a:off x="7331354" y="2029968"/>
            <a:ext cx="237744" cy="237744"/>
          </a:xfrm>
          <a:prstGeom prst="rect">
            <a:avLst/>
          </a:prstGeom>
        </p:spPr>
      </p:pic>
      <p:sp>
        <p:nvSpPr>
          <p:cNvPr id="15" name="text"/>
          <p:cNvSpPr txBox="1"/>
          <p:nvPr/>
        </p:nvSpPr>
        <p:spPr>
          <a:xfrm>
            <a:off x="7221626" y="2468880"/>
            <a:ext cx="1863242" cy="685800"/>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Arial" pitchFamily="34" charset="0"/>
                <a:ea typeface="Arial" pitchFamily="34" charset="-122"/>
                <a:cs typeface="Arial" pitchFamily="34" charset="-120"/>
              </a:rPr>
              <a:t>Acquiring Capabilities through Mergers and Acquisitions</a:t>
            </a:r>
            <a:endParaRPr lang="en-US" sz="1200" dirty="0"/>
          </a:p>
        </p:txBody>
      </p:sp>
      <p:sp>
        <p:nvSpPr>
          <p:cNvPr id="16" name="text"/>
          <p:cNvSpPr txBox="1"/>
          <p:nvPr/>
        </p:nvSpPr>
        <p:spPr>
          <a:xfrm>
            <a:off x="7221626" y="3200400"/>
            <a:ext cx="1863242" cy="1737360"/>
          </a:xfrm>
          <a:prstGeom prst="rect">
            <a:avLst/>
          </a:prstGeom>
          <a:noFill/>
          <a:ln/>
        </p:spPr>
        <p:txBody>
          <a:bodyPr wrap="square" lIns="0" tIns="0" rIns="0" bIns="0" rtlCol="0" anchor="t"/>
          <a:lstStyle/>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Keunggulan utama: kecepatan</a:t>
            </a:r>
            <a:endParaRPr lang="en-US" sz="1050" dirty="0"/>
          </a:p>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Esensial bila capability terlalu jauh dari basis yang ada, atau waktu sangat menentukan</a:t>
            </a:r>
            <a:endParaRPr lang="en-US" sz="1050" dirty="0"/>
          </a:p>
          <a:p>
            <a:pPr algn="l" marL="139700" indent="-139700">
              <a:lnSpc>
                <a:spcPct val="108000"/>
              </a:lnSpc>
              <a:spcAft>
                <a:spcPts val="300"/>
              </a:spcAft>
              <a:buSzPct val="100000"/>
              <a:buChar char="•"/>
            </a:pPr>
            <a:r>
              <a:rPr lang="en-US" sz="1050" dirty="0">
                <a:solidFill>
                  <a:srgbClr val="1C1C1C"/>
                </a:solidFill>
                <a:latin typeface="Calibri" pitchFamily="34" charset="0"/>
                <a:ea typeface="Calibri" pitchFamily="34" charset="-122"/>
                <a:cs typeface="Calibri" pitchFamily="34" charset="-120"/>
              </a:rPr>
              <a:t>Risiko: tacit knowledge dan complex routines tidak mudah dipindahkan</a:t>
            </a:r>
            <a:endParaRPr lang="en-US" sz="1050" dirty="0"/>
          </a:p>
        </p:txBody>
      </p:sp>
      <p:sp>
        <p:nvSpPr>
          <p:cNvPr id="17" name="card"/>
          <p:cNvSpPr/>
          <p:nvPr/>
        </p:nvSpPr>
        <p:spPr>
          <a:xfrm>
            <a:off x="9414053" y="1737360"/>
            <a:ext cx="2229002" cy="3291840"/>
          </a:xfrm>
          <a:prstGeom prst="roundRect">
            <a:avLst>
              <a:gd name="adj" fmla="val 4923"/>
            </a:avLst>
          </a:prstGeom>
          <a:solidFill>
            <a:srgbClr val="141414"/>
          </a:solidFill>
          <a:ln w="6350">
            <a:solidFill>
              <a:srgbClr val="141414"/>
            </a:solidFill>
            <a:prstDash val="solid"/>
          </a:ln>
        </p:spPr>
      </p:sp>
      <p:sp>
        <p:nvSpPr>
          <p:cNvPr id="18" name="icon-bg"/>
          <p:cNvSpPr/>
          <p:nvPr/>
        </p:nvSpPr>
        <p:spPr>
          <a:xfrm>
            <a:off x="9596933" y="1920240"/>
            <a:ext cx="457200" cy="457200"/>
          </a:xfrm>
          <a:prstGeom prst="ellipse">
            <a:avLst/>
          </a:prstGeom>
          <a:solidFill>
            <a:srgbClr val="D7F544"/>
          </a:solidFill>
          <a:ln w="6350">
            <a:solidFill>
              <a:srgbClr val="D7F544"/>
            </a:solidFill>
            <a:prstDash val="solid"/>
          </a:ln>
        </p:spPr>
      </p:sp>
      <p:pic>
        <p:nvPicPr>
          <p:cNvPr id="19" name="icon" descr="preencoded.png">    </p:cNvPr>
          <p:cNvPicPr>
            <a:picLocks noChangeAspect="1"/>
          </p:cNvPicPr>
          <p:nvPr/>
        </p:nvPicPr>
        <p:blipFill>
          <a:blip r:embed="rId4"/>
          <a:stretch>
            <a:fillRect/>
          </a:stretch>
        </p:blipFill>
        <p:spPr>
          <a:xfrm>
            <a:off x="9706661" y="2029968"/>
            <a:ext cx="237744" cy="237744"/>
          </a:xfrm>
          <a:prstGeom prst="rect">
            <a:avLst/>
          </a:prstGeom>
        </p:spPr>
      </p:pic>
      <p:sp>
        <p:nvSpPr>
          <p:cNvPr id="20" name="text"/>
          <p:cNvSpPr txBox="1"/>
          <p:nvPr/>
        </p:nvSpPr>
        <p:spPr>
          <a:xfrm>
            <a:off x="9596933" y="2468880"/>
            <a:ext cx="1863242" cy="685800"/>
          </a:xfrm>
          <a:prstGeom prst="rect">
            <a:avLst/>
          </a:prstGeom>
          <a:noFill/>
          <a:ln/>
        </p:spPr>
        <p:txBody>
          <a:bodyPr wrap="square" lIns="0" tIns="0" rIns="0" bIns="0" rtlCol="0" anchor="t"/>
          <a:lstStyle/>
          <a:p>
            <a:pPr algn="l" indent="0" marL="0">
              <a:lnSpc>
                <a:spcPct val="108000"/>
              </a:lnSpc>
              <a:buNone/>
            </a:pPr>
            <a:r>
              <a:rPr lang="en-US" sz="1200" b="1" dirty="0">
                <a:solidFill>
                  <a:srgbClr val="D7F544"/>
                </a:solidFill>
                <a:latin typeface="Arial" pitchFamily="34" charset="0"/>
                <a:ea typeface="Arial" pitchFamily="34" charset="-122"/>
                <a:cs typeface="Arial" pitchFamily="34" charset="-120"/>
              </a:rPr>
              <a:t>Accessing Capabilities via Collaborative Partnerships</a:t>
            </a:r>
            <a:endParaRPr lang="en-US" sz="1200" dirty="0"/>
          </a:p>
        </p:txBody>
      </p:sp>
      <p:sp>
        <p:nvSpPr>
          <p:cNvPr id="21" name="text"/>
          <p:cNvSpPr txBox="1"/>
          <p:nvPr/>
        </p:nvSpPr>
        <p:spPr>
          <a:xfrm>
            <a:off x="9596933" y="3200400"/>
            <a:ext cx="1863242" cy="1737360"/>
          </a:xfrm>
          <a:prstGeom prst="rect">
            <a:avLst/>
          </a:prstGeom>
          <a:noFill/>
          <a:ln/>
        </p:spPr>
        <p:txBody>
          <a:bodyPr wrap="square" lIns="0" tIns="0" rIns="0" bIns="0" rtlCol="0" anchor="t"/>
          <a:lstStyle/>
          <a:p>
            <a:pPr algn="l" marL="139700" indent="-139700">
              <a:lnSpc>
                <a:spcPct val="108000"/>
              </a:lnSpc>
              <a:spcAft>
                <a:spcPts val="300"/>
              </a:spcAft>
              <a:buSzPct val="100000"/>
              <a:buChar char="•"/>
            </a:pPr>
            <a:r>
              <a:rPr lang="en-US" sz="1050" dirty="0">
                <a:solidFill>
                  <a:srgbClr val="E6E6E6"/>
                </a:solidFill>
                <a:latin typeface="Calibri" pitchFamily="34" charset="0"/>
                <a:ea typeface="Calibri" pitchFamily="34" charset="-122"/>
                <a:cs typeface="Calibri" pitchFamily="34" charset="-120"/>
              </a:rPr>
              <a:t>Tiga jalur: outsourcing, joint venture atau strategic alliance, dan learning partnership</a:t>
            </a:r>
            <a:endParaRPr lang="en-US" sz="1050" dirty="0"/>
          </a:p>
          <a:p>
            <a:pPr algn="l" marL="139700" indent="-139700">
              <a:lnSpc>
                <a:spcPct val="108000"/>
              </a:lnSpc>
              <a:spcAft>
                <a:spcPts val="300"/>
              </a:spcAft>
              <a:buSzPct val="100000"/>
              <a:buChar char="•"/>
            </a:pPr>
            <a:r>
              <a:rPr lang="en-US" sz="1050" dirty="0">
                <a:solidFill>
                  <a:srgbClr val="E6E6E6"/>
                </a:solidFill>
                <a:latin typeface="Calibri" pitchFamily="34" charset="0"/>
                <a:ea typeface="Calibri" pitchFamily="34" charset="-122"/>
                <a:cs typeface="Calibri" pitchFamily="34" charset="-120"/>
              </a:rPr>
              <a:t>Menghemat sumber daya, cocok untuk perusahaan yang terbatas</a:t>
            </a:r>
            <a:endParaRPr lang="en-US" sz="1050" dirty="0"/>
          </a:p>
          <a:p>
            <a:pPr algn="l" marL="139700" indent="-139700">
              <a:lnSpc>
                <a:spcPct val="108000"/>
              </a:lnSpc>
              <a:spcAft>
                <a:spcPts val="300"/>
              </a:spcAft>
              <a:buSzPct val="100000"/>
              <a:buChar char="•"/>
            </a:pPr>
            <a:r>
              <a:rPr lang="en-US" sz="1050" dirty="0">
                <a:solidFill>
                  <a:srgbClr val="E6E6E6"/>
                </a:solidFill>
                <a:latin typeface="Calibri" pitchFamily="34" charset="0"/>
                <a:ea typeface="Calibri" pitchFamily="34" charset="-122"/>
                <a:cs typeface="Calibri" pitchFamily="34" charset="-120"/>
              </a:rPr>
              <a:t>Risiko: ketergantungan dan pembelajaran sepihak</a:t>
            </a:r>
            <a:endParaRPr lang="en-US" sz="1050" dirty="0"/>
          </a:p>
        </p:txBody>
      </p:sp>
      <p:sp>
        <p:nvSpPr>
          <p:cNvPr id="22" name="card"/>
          <p:cNvSpPr/>
          <p:nvPr/>
        </p:nvSpPr>
        <p:spPr>
          <a:xfrm>
            <a:off x="4663440" y="5166360"/>
            <a:ext cx="6979615" cy="1188720"/>
          </a:xfrm>
          <a:prstGeom prst="roundRect">
            <a:avLst>
              <a:gd name="adj" fmla="val 9231"/>
            </a:avLst>
          </a:prstGeom>
          <a:solidFill>
            <a:srgbClr val="E9E9E5"/>
          </a:solidFill>
          <a:ln w="6350">
            <a:solidFill>
              <a:srgbClr val="E9E9E5"/>
            </a:solidFill>
            <a:prstDash val="solid"/>
          </a:ln>
        </p:spPr>
      </p:sp>
      <p:sp>
        <p:nvSpPr>
          <p:cNvPr id="23" name="text"/>
          <p:cNvSpPr txBox="1"/>
          <p:nvPr/>
        </p:nvSpPr>
        <p:spPr>
          <a:xfrm>
            <a:off x="4864608" y="5248656"/>
            <a:ext cx="6577279" cy="256032"/>
          </a:xfrm>
          <a:prstGeom prst="rect">
            <a:avLst/>
          </a:prstGeom>
          <a:noFill/>
          <a:ln/>
        </p:spPr>
        <p:txBody>
          <a:bodyPr wrap="square" lIns="0" tIns="0" rIns="0" bIns="0" rtlCol="0" anchor="t"/>
          <a:lstStyle/>
          <a:p>
            <a:pPr algn="l" indent="0" marL="0">
              <a:lnSpc>
                <a:spcPct val="108000"/>
              </a:lnSpc>
              <a:buNone/>
            </a:pPr>
            <a:r>
              <a:rPr lang="en-US" sz="1100" b="1" spc="100" kern="0" dirty="0">
                <a:solidFill>
                  <a:srgbClr val="1C1C1C"/>
                </a:solidFill>
                <a:latin typeface="Arial" pitchFamily="34" charset="0"/>
                <a:ea typeface="Arial" pitchFamily="34" charset="-122"/>
                <a:cs typeface="Arial" pitchFamily="34" charset="-120"/>
              </a:rPr>
              <a:t>TRADE-OFF ANTARPENDEKATAN</a:t>
            </a:r>
            <a:endParaRPr lang="en-US" sz="1100" dirty="0"/>
          </a:p>
        </p:txBody>
      </p:sp>
      <p:sp>
        <p:nvSpPr>
          <p:cNvPr id="24" name="text"/>
          <p:cNvSpPr txBox="1"/>
          <p:nvPr/>
        </p:nvSpPr>
        <p:spPr>
          <a:xfrm>
            <a:off x="4864608" y="5532120"/>
            <a:ext cx="2100986" cy="777240"/>
          </a:xfrm>
          <a:prstGeom prst="rect">
            <a:avLst/>
          </a:prstGeom>
          <a:noFill/>
          <a:ln/>
        </p:spPr>
        <p:txBody>
          <a:bodyPr wrap="square" lIns="0" tIns="0" rIns="0" bIns="0" rtlCol="0" anchor="t"/>
          <a:lstStyle/>
          <a:p>
            <a:pPr algn="l" indent="0" marL="0">
              <a:lnSpc>
                <a:spcPct val="108000"/>
              </a:lnSpc>
              <a:buNone/>
            </a:pPr>
            <a:r>
              <a:rPr lang="en-US" sz="1050" b="1" dirty="0">
                <a:solidFill>
                  <a:srgbClr val="1C1C1C"/>
                </a:solidFill>
                <a:latin typeface="Calibri" pitchFamily="34" charset="0"/>
                <a:ea typeface="Calibri" pitchFamily="34" charset="-122"/>
                <a:cs typeface="Calibri" pitchFamily="34" charset="-120"/>
              </a:rPr>
              <a:t>Internal
</a:t>
            </a:r>
            <a:pPr algn="l" indent="0" marL="0">
              <a:lnSpc>
                <a:spcPct val="108000"/>
              </a:lnSpc>
              <a:buNone/>
            </a:pPr>
            <a:r>
              <a:rPr lang="en-US" sz="1050" dirty="0">
                <a:solidFill>
                  <a:srgbClr val="1C1C1C"/>
                </a:solidFill>
                <a:latin typeface="Calibri" pitchFamily="34" charset="0"/>
                <a:ea typeface="Calibri" pitchFamily="34" charset="-122"/>
                <a:cs typeface="Calibri" pitchFamily="34" charset="-120"/>
              </a:rPr>
              <a:t>lambat  ·  kendali tinggi  ·  risiko integrasi rendah</a:t>
            </a:r>
            <a:endParaRPr lang="en-US" sz="1050" dirty="0"/>
          </a:p>
        </p:txBody>
      </p:sp>
      <p:sp>
        <p:nvSpPr>
          <p:cNvPr id="25" name="text"/>
          <p:cNvSpPr txBox="1"/>
          <p:nvPr/>
        </p:nvSpPr>
        <p:spPr>
          <a:xfrm>
            <a:off x="7057034" y="5532120"/>
            <a:ext cx="2100986" cy="777240"/>
          </a:xfrm>
          <a:prstGeom prst="rect">
            <a:avLst/>
          </a:prstGeom>
          <a:noFill/>
          <a:ln/>
        </p:spPr>
        <p:txBody>
          <a:bodyPr wrap="square" lIns="0" tIns="0" rIns="0" bIns="0" rtlCol="0" anchor="t"/>
          <a:lstStyle/>
          <a:p>
            <a:pPr algn="l" indent="0" marL="0">
              <a:lnSpc>
                <a:spcPct val="108000"/>
              </a:lnSpc>
              <a:buNone/>
            </a:pPr>
            <a:r>
              <a:rPr lang="en-US" sz="1050" b="1" dirty="0">
                <a:solidFill>
                  <a:srgbClr val="1C1C1C"/>
                </a:solidFill>
                <a:latin typeface="Calibri" pitchFamily="34" charset="0"/>
                <a:ea typeface="Calibri" pitchFamily="34" charset="-122"/>
                <a:cs typeface="Calibri" pitchFamily="34" charset="-120"/>
              </a:rPr>
              <a:t>M&amp;A
</a:t>
            </a:r>
            <a:pPr algn="l" indent="0" marL="0">
              <a:lnSpc>
                <a:spcPct val="108000"/>
              </a:lnSpc>
              <a:buNone/>
            </a:pPr>
            <a:r>
              <a:rPr lang="en-US" sz="1050" dirty="0">
                <a:solidFill>
                  <a:srgbClr val="1C1C1C"/>
                </a:solidFill>
                <a:latin typeface="Calibri" pitchFamily="34" charset="0"/>
                <a:ea typeface="Calibri" pitchFamily="34" charset="-122"/>
                <a:cs typeface="Calibri" pitchFamily="34" charset="-120"/>
              </a:rPr>
              <a:t>cepat  ·  kendali setelah integrasi  ·  risiko integrasi tinggi</a:t>
            </a:r>
            <a:endParaRPr lang="en-US" sz="1050" dirty="0"/>
          </a:p>
        </p:txBody>
      </p:sp>
      <p:sp>
        <p:nvSpPr>
          <p:cNvPr id="26" name="text"/>
          <p:cNvSpPr txBox="1"/>
          <p:nvPr/>
        </p:nvSpPr>
        <p:spPr>
          <a:xfrm>
            <a:off x="9249461" y="5532120"/>
            <a:ext cx="2100986" cy="777240"/>
          </a:xfrm>
          <a:prstGeom prst="rect">
            <a:avLst/>
          </a:prstGeom>
          <a:noFill/>
          <a:ln/>
        </p:spPr>
        <p:txBody>
          <a:bodyPr wrap="square" lIns="0" tIns="0" rIns="0" bIns="0" rtlCol="0" anchor="t"/>
          <a:lstStyle/>
          <a:p>
            <a:pPr algn="l" indent="0" marL="0">
              <a:lnSpc>
                <a:spcPct val="108000"/>
              </a:lnSpc>
              <a:buNone/>
            </a:pPr>
            <a:r>
              <a:rPr lang="en-US" sz="1050" b="1" dirty="0">
                <a:solidFill>
                  <a:srgbClr val="1C1C1C"/>
                </a:solidFill>
                <a:latin typeface="Calibri" pitchFamily="34" charset="0"/>
                <a:ea typeface="Calibri" pitchFamily="34" charset="-122"/>
                <a:cs typeface="Calibri" pitchFamily="34" charset="-120"/>
              </a:rPr>
              <a:t>Partnership
</a:t>
            </a:r>
            <a:pPr algn="l" indent="0" marL="0">
              <a:lnSpc>
                <a:spcPct val="108000"/>
              </a:lnSpc>
              <a:buNone/>
            </a:pPr>
            <a:r>
              <a:rPr lang="en-US" sz="1050" dirty="0">
                <a:solidFill>
                  <a:srgbClr val="1C1C1C"/>
                </a:solidFill>
                <a:latin typeface="Calibri" pitchFamily="34" charset="0"/>
                <a:ea typeface="Calibri" pitchFamily="34" charset="-122"/>
                <a:cs typeface="Calibri" pitchFamily="34" charset="-120"/>
              </a:rPr>
              <a:t>cepat  ·  kendali terbagi  ·  risiko ketergantungan</a:t>
            </a:r>
            <a:endParaRPr lang="en-US" sz="10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03  ·  BUILDING RESOURCES &amp; CAPABILITIES</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JALUR EVOLUSIONER PENGEMBANGAN CAPABILITY INTERNAL</a:t>
            </a:r>
            <a:endParaRPr lang="en-US" sz="2400" dirty="0"/>
          </a:p>
        </p:txBody>
      </p:sp>
      <p:sp>
        <p:nvSpPr>
          <p:cNvPr id="4" name="card"/>
          <p:cNvSpPr/>
          <p:nvPr/>
        </p:nvSpPr>
        <p:spPr>
          <a:xfrm>
            <a:off x="548640" y="1737360"/>
            <a:ext cx="3362858" cy="2331720"/>
          </a:xfrm>
          <a:prstGeom prst="roundRect">
            <a:avLst>
              <a:gd name="adj" fmla="val 4706"/>
            </a:avLst>
          </a:prstGeom>
          <a:solidFill>
            <a:srgbClr val="D7F544"/>
          </a:solidFill>
          <a:ln w="6350">
            <a:solidFill>
              <a:srgbClr val="D7F544"/>
            </a:solidFill>
            <a:prstDash val="solid"/>
          </a:ln>
        </p:spPr>
      </p:sp>
      <p:sp>
        <p:nvSpPr>
          <p:cNvPr id="5" name="num"/>
          <p:cNvSpPr/>
          <p:nvPr/>
        </p:nvSpPr>
        <p:spPr>
          <a:xfrm>
            <a:off x="749808" y="1938528"/>
            <a:ext cx="457200" cy="457200"/>
          </a:xfrm>
          <a:prstGeom prst="ellipse">
            <a:avLst/>
          </a:prstGeom>
          <a:solidFill>
            <a:srgbClr val="141414"/>
          </a:solidFill>
          <a:ln w="6350">
            <a:solidFill>
              <a:srgbClr val="141414"/>
            </a:solidFill>
            <a:prstDash val="solid"/>
          </a:ln>
        </p:spPr>
      </p:sp>
      <p:sp>
        <p:nvSpPr>
          <p:cNvPr id="6" name="text"/>
          <p:cNvSpPr txBox="1"/>
          <p:nvPr/>
        </p:nvSpPr>
        <p:spPr>
          <a:xfrm>
            <a:off x="749808" y="1938528"/>
            <a:ext cx="457200" cy="457200"/>
          </a:xfrm>
          <a:prstGeom prst="rect">
            <a:avLst/>
          </a:prstGeom>
          <a:noFill/>
          <a:ln/>
        </p:spPr>
        <p:txBody>
          <a:bodyPr wrap="square" lIns="0" tIns="0" rIns="0" bIns="0" rtlCol="0" anchor="ctr"/>
          <a:lstStyle/>
          <a:p>
            <a:pPr algn="ctr" indent="0" marL="0">
              <a:lnSpc>
                <a:spcPct val="108000"/>
              </a:lnSpc>
              <a:buNone/>
            </a:pPr>
            <a:r>
              <a:rPr lang="en-US" sz="1300" b="1" dirty="0">
                <a:solidFill>
                  <a:srgbClr val="D7F544"/>
                </a:solidFill>
                <a:latin typeface="Arial" pitchFamily="34" charset="0"/>
                <a:ea typeface="Arial" pitchFamily="34" charset="-122"/>
                <a:cs typeface="Arial" pitchFamily="34" charset="-120"/>
              </a:rPr>
              <a:t>1</a:t>
            </a:r>
            <a:endParaRPr lang="en-US" sz="1300" dirty="0"/>
          </a:p>
        </p:txBody>
      </p:sp>
      <p:sp>
        <p:nvSpPr>
          <p:cNvPr id="7" name="text"/>
          <p:cNvSpPr txBox="1"/>
          <p:nvPr/>
        </p:nvSpPr>
        <p:spPr>
          <a:xfrm>
            <a:off x="1325880" y="1965960"/>
            <a:ext cx="2402738" cy="411480"/>
          </a:xfrm>
          <a:prstGeom prst="rect">
            <a:avLst/>
          </a:prstGeom>
          <a:noFill/>
          <a:ln/>
        </p:spPr>
        <p:txBody>
          <a:bodyPr wrap="square" lIns="0" tIns="0" rIns="0" bIns="0" rtlCol="0" anchor="ctr"/>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Ability</a:t>
            </a:r>
            <a:endParaRPr lang="en-US" sz="1400" dirty="0"/>
          </a:p>
        </p:txBody>
      </p:sp>
      <p:sp>
        <p:nvSpPr>
          <p:cNvPr id="8" name="text"/>
          <p:cNvSpPr txBox="1"/>
          <p:nvPr/>
        </p:nvSpPr>
        <p:spPr>
          <a:xfrm>
            <a:off x="749808" y="2560320"/>
            <a:ext cx="2960522" cy="1417320"/>
          </a:xfrm>
          <a:prstGeom prst="rect">
            <a:avLst/>
          </a:prstGeom>
          <a:noFill/>
          <a:ln/>
        </p:spPr>
        <p:txBody>
          <a:bodyPr wrap="square" lIns="0" tIns="0" rIns="0" bIns="0" rtlCol="0" anchor="t"/>
          <a:lstStyle/>
          <a:p>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Mampu melakukan sesuatu, meski belum sempurna atau efisien: memilih orang dengan skill yang relevan, bereksperimen, mencari alternatif, dan belajar lewat trial and error. Kemajuan masih tersendat.</a:t>
            </a:r>
            <a:endParaRPr lang="en-US" sz="1150" dirty="0"/>
          </a:p>
        </p:txBody>
      </p:sp>
      <p:sp>
        <p:nvSpPr>
          <p:cNvPr id="9" name="arrow"/>
          <p:cNvSpPr/>
          <p:nvPr/>
        </p:nvSpPr>
        <p:spPr>
          <a:xfrm>
            <a:off x="3984650" y="2720340"/>
            <a:ext cx="356616" cy="365760"/>
          </a:xfrm>
          <a:prstGeom prst="rightArrow">
            <a:avLst/>
          </a:prstGeom>
          <a:solidFill>
            <a:srgbClr val="141414"/>
          </a:solidFill>
          <a:ln w="6350">
            <a:solidFill>
              <a:srgbClr val="141414"/>
            </a:solidFill>
            <a:prstDash val="solid"/>
          </a:ln>
        </p:spPr>
      </p:sp>
      <p:sp>
        <p:nvSpPr>
          <p:cNvPr id="10" name="card"/>
          <p:cNvSpPr/>
          <p:nvPr/>
        </p:nvSpPr>
        <p:spPr>
          <a:xfrm>
            <a:off x="4414418" y="1737360"/>
            <a:ext cx="3362858" cy="2331720"/>
          </a:xfrm>
          <a:prstGeom prst="roundRect">
            <a:avLst>
              <a:gd name="adj" fmla="val 4706"/>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1" name="num"/>
          <p:cNvSpPr/>
          <p:nvPr/>
        </p:nvSpPr>
        <p:spPr>
          <a:xfrm>
            <a:off x="4615586" y="1938528"/>
            <a:ext cx="457200" cy="457200"/>
          </a:xfrm>
          <a:prstGeom prst="ellipse">
            <a:avLst/>
          </a:prstGeom>
          <a:solidFill>
            <a:srgbClr val="141414"/>
          </a:solidFill>
          <a:ln w="6350">
            <a:solidFill>
              <a:srgbClr val="141414"/>
            </a:solidFill>
            <a:prstDash val="solid"/>
          </a:ln>
        </p:spPr>
      </p:sp>
      <p:sp>
        <p:nvSpPr>
          <p:cNvPr id="12" name="text"/>
          <p:cNvSpPr txBox="1"/>
          <p:nvPr/>
        </p:nvSpPr>
        <p:spPr>
          <a:xfrm>
            <a:off x="4615586" y="1938528"/>
            <a:ext cx="457200" cy="457200"/>
          </a:xfrm>
          <a:prstGeom prst="rect">
            <a:avLst/>
          </a:prstGeom>
          <a:noFill/>
          <a:ln/>
        </p:spPr>
        <p:txBody>
          <a:bodyPr wrap="square" lIns="0" tIns="0" rIns="0" bIns="0" rtlCol="0" anchor="ctr"/>
          <a:lstStyle/>
          <a:p>
            <a:pPr algn="ctr" indent="0" marL="0">
              <a:lnSpc>
                <a:spcPct val="108000"/>
              </a:lnSpc>
              <a:buNone/>
            </a:pPr>
            <a:r>
              <a:rPr lang="en-US" sz="1300" b="1" dirty="0">
                <a:solidFill>
                  <a:srgbClr val="D7F544"/>
                </a:solidFill>
                <a:latin typeface="Arial" pitchFamily="34" charset="0"/>
                <a:ea typeface="Arial" pitchFamily="34" charset="-122"/>
                <a:cs typeface="Arial" pitchFamily="34" charset="-120"/>
              </a:rPr>
              <a:t>2</a:t>
            </a:r>
            <a:endParaRPr lang="en-US" sz="1300" dirty="0"/>
          </a:p>
        </p:txBody>
      </p:sp>
      <p:sp>
        <p:nvSpPr>
          <p:cNvPr id="13" name="text"/>
          <p:cNvSpPr txBox="1"/>
          <p:nvPr/>
        </p:nvSpPr>
        <p:spPr>
          <a:xfrm>
            <a:off x="5191658" y="1965960"/>
            <a:ext cx="2402738" cy="411480"/>
          </a:xfrm>
          <a:prstGeom prst="rect">
            <a:avLst/>
          </a:prstGeom>
          <a:noFill/>
          <a:ln/>
        </p:spPr>
        <p:txBody>
          <a:bodyPr wrap="square" lIns="0" tIns="0" rIns="0" bIns="0" rtlCol="0" anchor="ctr"/>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Tried-and-True Competence</a:t>
            </a:r>
            <a:endParaRPr lang="en-US" sz="1400" dirty="0"/>
          </a:p>
        </p:txBody>
      </p:sp>
      <p:sp>
        <p:nvSpPr>
          <p:cNvPr id="14" name="text"/>
          <p:cNvSpPr txBox="1"/>
          <p:nvPr/>
        </p:nvSpPr>
        <p:spPr>
          <a:xfrm>
            <a:off x="4615586" y="2560320"/>
            <a:ext cx="2960522" cy="1417320"/>
          </a:xfrm>
          <a:prstGeom prst="rect">
            <a:avLst/>
          </a:prstGeom>
          <a:noFill/>
          <a:ln/>
        </p:spPr>
        <p:txBody>
          <a:bodyPr wrap="square" lIns="0" tIns="0" rIns="0" bIns="0" rtlCol="0" anchor="t"/>
          <a:lstStyle/>
          <a:p>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Aktivitas dijalankan secara konsisten pada biaya yang dapat diterima berkat task repetition dan learning by doing; menuntut investasi berkelanjutan dan pemecahan masalah yang kreatif.</a:t>
            </a:r>
            <a:endParaRPr lang="en-US" sz="1150" dirty="0"/>
          </a:p>
        </p:txBody>
      </p:sp>
      <p:sp>
        <p:nvSpPr>
          <p:cNvPr id="15" name="arrow"/>
          <p:cNvSpPr/>
          <p:nvPr/>
        </p:nvSpPr>
        <p:spPr>
          <a:xfrm>
            <a:off x="7850429" y="2720340"/>
            <a:ext cx="356616" cy="365760"/>
          </a:xfrm>
          <a:prstGeom prst="rightArrow">
            <a:avLst/>
          </a:prstGeom>
          <a:solidFill>
            <a:srgbClr val="141414"/>
          </a:solidFill>
          <a:ln w="6350">
            <a:solidFill>
              <a:srgbClr val="141414"/>
            </a:solidFill>
            <a:prstDash val="solid"/>
          </a:ln>
        </p:spPr>
      </p:sp>
      <p:sp>
        <p:nvSpPr>
          <p:cNvPr id="16" name="card"/>
          <p:cNvSpPr/>
          <p:nvPr/>
        </p:nvSpPr>
        <p:spPr>
          <a:xfrm>
            <a:off x="8280197" y="1737360"/>
            <a:ext cx="3362858" cy="2331720"/>
          </a:xfrm>
          <a:prstGeom prst="roundRect">
            <a:avLst>
              <a:gd name="adj" fmla="val 4706"/>
            </a:avLst>
          </a:prstGeom>
          <a:solidFill>
            <a:srgbClr val="141414"/>
          </a:solidFill>
          <a:ln w="6350">
            <a:solidFill>
              <a:srgbClr val="141414"/>
            </a:solidFill>
            <a:prstDash val="solid"/>
          </a:ln>
        </p:spPr>
      </p:sp>
      <p:sp>
        <p:nvSpPr>
          <p:cNvPr id="17" name="num"/>
          <p:cNvSpPr/>
          <p:nvPr/>
        </p:nvSpPr>
        <p:spPr>
          <a:xfrm>
            <a:off x="8481365" y="1938528"/>
            <a:ext cx="457200" cy="457200"/>
          </a:xfrm>
          <a:prstGeom prst="ellipse">
            <a:avLst/>
          </a:prstGeom>
          <a:solidFill>
            <a:srgbClr val="D7F544"/>
          </a:solidFill>
          <a:ln w="6350">
            <a:solidFill>
              <a:srgbClr val="D7F544"/>
            </a:solidFill>
            <a:prstDash val="solid"/>
          </a:ln>
        </p:spPr>
      </p:sp>
      <p:sp>
        <p:nvSpPr>
          <p:cNvPr id="18" name="text"/>
          <p:cNvSpPr txBox="1"/>
          <p:nvPr/>
        </p:nvSpPr>
        <p:spPr>
          <a:xfrm>
            <a:off x="8481365" y="1938528"/>
            <a:ext cx="457200" cy="457200"/>
          </a:xfrm>
          <a:prstGeom prst="rect">
            <a:avLst/>
          </a:prstGeom>
          <a:noFill/>
          <a:ln/>
        </p:spPr>
        <p:txBody>
          <a:bodyPr wrap="square" lIns="0" tIns="0" rIns="0" bIns="0" rtlCol="0" anchor="ctr"/>
          <a:lstStyle/>
          <a:p>
            <a:pPr algn="ctr" indent="0" marL="0">
              <a:lnSpc>
                <a:spcPct val="108000"/>
              </a:lnSpc>
              <a:buNone/>
            </a:pPr>
            <a:r>
              <a:rPr lang="en-US" sz="1300" b="1" dirty="0">
                <a:solidFill>
                  <a:srgbClr val="141414"/>
                </a:solidFill>
                <a:latin typeface="Arial" pitchFamily="34" charset="0"/>
                <a:ea typeface="Arial" pitchFamily="34" charset="-122"/>
                <a:cs typeface="Arial" pitchFamily="34" charset="-120"/>
              </a:rPr>
              <a:t>3</a:t>
            </a:r>
            <a:endParaRPr lang="en-US" sz="1300" dirty="0"/>
          </a:p>
        </p:txBody>
      </p:sp>
      <p:sp>
        <p:nvSpPr>
          <p:cNvPr id="19" name="text"/>
          <p:cNvSpPr txBox="1"/>
          <p:nvPr/>
        </p:nvSpPr>
        <p:spPr>
          <a:xfrm>
            <a:off x="9057437" y="1965960"/>
            <a:ext cx="2402738" cy="411480"/>
          </a:xfrm>
          <a:prstGeom prst="rect">
            <a:avLst/>
          </a:prstGeom>
          <a:noFill/>
          <a:ln/>
        </p:spPr>
        <p:txBody>
          <a:bodyPr wrap="square" lIns="0" tIns="0" rIns="0" bIns="0" rtlCol="0" anchor="ctr"/>
          <a:lstStyle/>
          <a:p>
            <a:pPr algn="l" indent="0" marL="0">
              <a:lnSpc>
                <a:spcPct val="108000"/>
              </a:lnSpc>
              <a:buNone/>
            </a:pPr>
            <a:r>
              <a:rPr lang="en-US" sz="1400" b="1" dirty="0">
                <a:solidFill>
                  <a:srgbClr val="D7F544"/>
                </a:solidFill>
                <a:latin typeface="Arial" pitchFamily="34" charset="0"/>
                <a:ea typeface="Arial" pitchFamily="34" charset="-122"/>
                <a:cs typeface="Arial" pitchFamily="34" charset="-120"/>
              </a:rPr>
              <a:t>Continually Refreshed Capability</a:t>
            </a:r>
            <a:endParaRPr lang="en-US" sz="1400" dirty="0"/>
          </a:p>
        </p:txBody>
      </p:sp>
      <p:sp>
        <p:nvSpPr>
          <p:cNvPr id="20" name="text"/>
          <p:cNvSpPr txBox="1"/>
          <p:nvPr/>
        </p:nvSpPr>
        <p:spPr>
          <a:xfrm>
            <a:off x="8481365" y="2560320"/>
            <a:ext cx="2960522" cy="1417320"/>
          </a:xfrm>
          <a:prstGeom prst="rect">
            <a:avLst/>
          </a:prstGeom>
          <a:noFill/>
          <a:ln/>
        </p:spPr>
        <p:txBody>
          <a:bodyPr wrap="square" lIns="0" tIns="0" rIns="0" bIns="0" rtlCol="0" anchor="t"/>
          <a:lstStyle/>
          <a:p>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Diperbarui agar tetap selaras dengan ekspektasi pelanggan, kondisi persaingan, dan inisiatif strategis baru (dynamic capability, Bab 4). Merekombinasi capability yang ada lebih mudah daripada membangun dari nol.</a:t>
            </a:r>
            <a:endParaRPr lang="en-US" sz="1150" dirty="0"/>
          </a:p>
        </p:txBody>
      </p:sp>
      <p:sp>
        <p:nvSpPr>
          <p:cNvPr id="21" name="card"/>
          <p:cNvSpPr/>
          <p:nvPr/>
        </p:nvSpPr>
        <p:spPr>
          <a:xfrm>
            <a:off x="548640" y="4206240"/>
            <a:ext cx="11094415" cy="384048"/>
          </a:xfrm>
          <a:prstGeom prst="roundRect">
            <a:avLst>
              <a:gd name="adj" fmla="val 52381"/>
            </a:avLst>
          </a:prstGeom>
          <a:solidFill>
            <a:srgbClr val="D7F544"/>
          </a:solidFill>
          <a:ln w="6350">
            <a:solidFill>
              <a:srgbClr val="D7F544"/>
            </a:solidFill>
            <a:prstDash val="solid"/>
          </a:ln>
        </p:spPr>
      </p:sp>
      <p:sp>
        <p:nvSpPr>
          <p:cNvPr id="22" name="text"/>
          <p:cNvSpPr txBox="1"/>
          <p:nvPr/>
        </p:nvSpPr>
        <p:spPr>
          <a:xfrm>
            <a:off x="658368" y="4206240"/>
            <a:ext cx="10874959" cy="384048"/>
          </a:xfrm>
          <a:prstGeom prst="rect">
            <a:avLst/>
          </a:prstGeom>
          <a:noFill/>
          <a:ln/>
        </p:spPr>
        <p:txBody>
          <a:bodyPr wrap="square" lIns="0" tIns="0" rIns="0" bIns="0" rtlCol="0" anchor="ctr"/>
          <a:lstStyle/>
          <a:p>
            <a:pPr algn="ctr" indent="0" marL="0">
              <a:lnSpc>
                <a:spcPct val="108000"/>
              </a:lnSpc>
              <a:buNone/>
            </a:pPr>
            <a:r>
              <a:rPr lang="en-US" sz="1000" b="1" spc="100" kern="0" dirty="0">
                <a:solidFill>
                  <a:srgbClr val="141414"/>
                </a:solidFill>
                <a:latin typeface="Arial" pitchFamily="34" charset="0"/>
                <a:ea typeface="Arial" pitchFamily="34" charset="-122"/>
                <a:cs typeface="Arial" pitchFamily="34" charset="-120"/>
              </a:rPr>
              <a:t>AKSELERATOR: JADIKAN LEARNING UPAYA YANG DISENGAJA  +  BERIKAN INSENTIF YANG MEMOTIVASI PENCAPAIAN</a:t>
            </a:r>
            <a:endParaRPr lang="en-US" sz="1000" dirty="0"/>
          </a:p>
        </p:txBody>
      </p:sp>
      <p:sp>
        <p:nvSpPr>
          <p:cNvPr id="23" name="card"/>
          <p:cNvSpPr/>
          <p:nvPr/>
        </p:nvSpPr>
        <p:spPr>
          <a:xfrm>
            <a:off x="548640" y="4727448"/>
            <a:ext cx="5464912" cy="1627632"/>
          </a:xfrm>
          <a:prstGeom prst="roundRect">
            <a:avLst>
              <a:gd name="adj" fmla="val 6742"/>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4" name="text"/>
          <p:cNvSpPr txBox="1"/>
          <p:nvPr/>
        </p:nvSpPr>
        <p:spPr>
          <a:xfrm>
            <a:off x="749808" y="4855464"/>
            <a:ext cx="5062576" cy="256032"/>
          </a:xfrm>
          <a:prstGeom prst="rect">
            <a:avLst/>
          </a:prstGeom>
          <a:noFill/>
          <a:ln/>
        </p:spPr>
        <p:txBody>
          <a:bodyPr wrap="square" lIns="0" tIns="0" rIns="0" bIns="0" rtlCol="0" anchor="t"/>
          <a:lstStyle/>
          <a:p>
            <a:pPr algn="l" indent="0" marL="0">
              <a:lnSpc>
                <a:spcPct val="108000"/>
              </a:lnSpc>
              <a:buNone/>
            </a:pPr>
            <a:r>
              <a:rPr lang="en-US" sz="1150" b="1" spc="100" kern="0" dirty="0">
                <a:solidFill>
                  <a:srgbClr val="1C1C1C"/>
                </a:solidFill>
                <a:latin typeface="Arial" pitchFamily="34" charset="0"/>
                <a:ea typeface="Arial" pitchFamily="34" charset="-122"/>
                <a:cs typeface="Arial" pitchFamily="34" charset="-120"/>
              </a:rPr>
              <a:t>DUA BENTUK TINDAKAN MANAJERIAL</a:t>
            </a:r>
            <a:endParaRPr lang="en-US" sz="1150" dirty="0"/>
          </a:p>
        </p:txBody>
      </p:sp>
      <p:sp>
        <p:nvSpPr>
          <p:cNvPr id="25" name="text"/>
          <p:cNvSpPr txBox="1"/>
          <p:nvPr/>
        </p:nvSpPr>
        <p:spPr>
          <a:xfrm>
            <a:off x="749808" y="5166360"/>
            <a:ext cx="5062576" cy="1124712"/>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Memperkuat basis skill, knowledge, dan experience</a:t>
            </a:r>
            <a:pPr algn="l" indent="0" marL="0">
              <a:lnSpc>
                <a:spcPct val="108000"/>
              </a:lnSpc>
              <a:spcAft>
                <a:spcPts val="400"/>
              </a:spcAft>
              <a:buNone/>
            </a:pPr>
            <a:r>
              <a:rPr lang="en-US" sz="1150" dirty="0">
                <a:solidFill>
                  <a:srgbClr val="1C1C1C"/>
                </a:solidFill>
                <a:latin typeface="Calibri" pitchFamily="34" charset="0"/>
                <a:ea typeface="Calibri" pitchFamily="34" charset="-122"/>
                <a:cs typeface="Calibri" pitchFamily="34" charset="-120"/>
              </a:rPr>
              <a:t> — dapat dilakukan di semua tingkat manajerial</a:t>
            </a:r>
            <a:endParaRPr lang="en-US" sz="1150" dirty="0"/>
          </a:p>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Mengoordinasikan dan mengintegrasikan work groups dan departemen</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 — paling baik diorkestrasi eksekutif senior yang memiliki clout untuk menegakkan kerja sama</a:t>
            </a:r>
            <a:endParaRPr lang="en-US" sz="1150" dirty="0"/>
          </a:p>
        </p:txBody>
      </p:sp>
      <p:sp>
        <p:nvSpPr>
          <p:cNvPr id="26" name="card"/>
          <p:cNvSpPr/>
          <p:nvPr/>
        </p:nvSpPr>
        <p:spPr>
          <a:xfrm>
            <a:off x="6178144" y="4727448"/>
            <a:ext cx="5464912" cy="1627632"/>
          </a:xfrm>
          <a:prstGeom prst="roundRect">
            <a:avLst>
              <a:gd name="adj" fmla="val 6742"/>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7" name="text"/>
          <p:cNvSpPr txBox="1"/>
          <p:nvPr/>
        </p:nvSpPr>
        <p:spPr>
          <a:xfrm>
            <a:off x="6379312" y="4855464"/>
            <a:ext cx="5062576" cy="256032"/>
          </a:xfrm>
          <a:prstGeom prst="rect">
            <a:avLst/>
          </a:prstGeom>
          <a:noFill/>
          <a:ln/>
        </p:spPr>
        <p:txBody>
          <a:bodyPr wrap="square" lIns="0" tIns="0" rIns="0" bIns="0" rtlCol="0" anchor="t"/>
          <a:lstStyle/>
          <a:p>
            <a:pPr algn="l" indent="0" marL="0">
              <a:lnSpc>
                <a:spcPct val="108000"/>
              </a:lnSpc>
              <a:buNone/>
            </a:pPr>
            <a:r>
              <a:rPr lang="en-US" sz="1150" b="1" spc="100" kern="0" dirty="0">
                <a:solidFill>
                  <a:srgbClr val="1C1C1C"/>
                </a:solidFill>
                <a:latin typeface="Arial" pitchFamily="34" charset="0"/>
                <a:ea typeface="Arial" pitchFamily="34" charset="-122"/>
                <a:cs typeface="Arial" pitchFamily="34" charset="-120"/>
              </a:rPr>
              <a:t>CONTOH PEMBARUAN CAPABILITY</a:t>
            </a:r>
            <a:endParaRPr lang="en-US" sz="1150" dirty="0"/>
          </a:p>
        </p:txBody>
      </p:sp>
      <p:sp>
        <p:nvSpPr>
          <p:cNvPr id="28" name="text"/>
          <p:cNvSpPr txBox="1"/>
          <p:nvPr/>
        </p:nvSpPr>
        <p:spPr>
          <a:xfrm>
            <a:off x="6379312" y="5166360"/>
            <a:ext cx="5062576" cy="1124712"/>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Williams-Sonoma: </a:t>
            </a:r>
            <a:pPr algn="l" indent="0" marL="0">
              <a:lnSpc>
                <a:spcPct val="108000"/>
              </a:lnSpc>
              <a:spcAft>
                <a:spcPts val="400"/>
              </a:spcAft>
              <a:buNone/>
            </a:pPr>
            <a:r>
              <a:rPr lang="en-US" sz="1150" dirty="0">
                <a:solidFill>
                  <a:srgbClr val="1C1C1C"/>
                </a:solidFill>
                <a:latin typeface="Calibri" pitchFamily="34" charset="0"/>
                <a:ea typeface="Calibri" pitchFamily="34" charset="-122"/>
                <a:cs typeface="Calibri" pitchFamily="34" charset="-120"/>
              </a:rPr>
              <a:t>katalog (1970) → akuisisi Pottery Barn → e-commerce (2000) → Fortune 500 (2019), pendapatan US$8,7 miliar (2022).</a:t>
            </a:r>
            <a:endParaRPr lang="en-US" sz="1150" dirty="0"/>
          </a:p>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Toyota: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upgrade agresif teknologi hybrid dan penyempurnaan terus-menerus Toyota Production System hingga melampaui General Motors.</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03  ·  BUILDING RESOURCES &amp; CAPABILITIES</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AKUISISI DAN KEMITRAAN: CEPAT, NAMUN BERISIKO</a:t>
            </a:r>
            <a:endParaRPr lang="en-US" sz="2400" dirty="0"/>
          </a:p>
        </p:txBody>
      </p:sp>
      <p:sp>
        <p:nvSpPr>
          <p:cNvPr id="4" name="card"/>
          <p:cNvSpPr/>
          <p:nvPr/>
        </p:nvSpPr>
        <p:spPr>
          <a:xfrm>
            <a:off x="548640" y="1737360"/>
            <a:ext cx="5455768" cy="3931920"/>
          </a:xfrm>
          <a:prstGeom prst="roundRect">
            <a:avLst>
              <a:gd name="adj" fmla="val 2791"/>
            </a:avLst>
          </a:prstGeom>
          <a:solidFill>
            <a:srgbClr val="141414"/>
          </a:solidFill>
          <a:ln w="6350">
            <a:solidFill>
              <a:srgbClr val="141414"/>
            </a:solidFill>
            <a:prstDash val="solid"/>
          </a:ln>
        </p:spPr>
      </p:sp>
      <p:sp>
        <p:nvSpPr>
          <p:cNvPr id="5" name="text"/>
          <p:cNvSpPr txBox="1"/>
          <p:nvPr/>
        </p:nvSpPr>
        <p:spPr>
          <a:xfrm>
            <a:off x="777240" y="1920240"/>
            <a:ext cx="4998568"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D7F544"/>
                </a:solidFill>
                <a:latin typeface="Arial" pitchFamily="34" charset="0"/>
                <a:ea typeface="Arial" pitchFamily="34" charset="-122"/>
                <a:cs typeface="Arial" pitchFamily="34" charset="-120"/>
              </a:rPr>
              <a:t>MERGERS AND ACQUISITIONS</a:t>
            </a:r>
            <a:endParaRPr lang="en-US" sz="1200" dirty="0"/>
          </a:p>
        </p:txBody>
      </p:sp>
      <p:sp>
        <p:nvSpPr>
          <p:cNvPr id="6" name="text"/>
          <p:cNvSpPr txBox="1"/>
          <p:nvPr/>
        </p:nvSpPr>
        <p:spPr>
          <a:xfrm>
            <a:off x="777240" y="2286000"/>
            <a:ext cx="4998568" cy="3291840"/>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Kapan esensial: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(1) capability terlalu jauh dari basis yang ada; (2) industri, teknologi, atau pesaing bergerak begitu cepat sehingga waktu menjadi penentu.</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Keunggulan: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kecepatan; akuisisi demi capability sama bernilainya dengan akuisisi demi produk baru.</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Risiko: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tacit knowledge dan complex routines tidak mudah dipindahkan; inkompatibilitas sistem dan proses; di bawah manajemen baru produktivitas dapat menurun; dalam kasus terburuk akuisisi justru merusak capability yang diincar.</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Contoh: </a:t>
            </a:r>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Meta mengeluarkan lebih dari US$25 miliar untuk mengakuisisi teknologi AR, voice recognition, dan translation; mengintegrasikannya ke organisasi Meta terbukti “easier said than done”.</a:t>
            </a:r>
            <a:endParaRPr lang="en-US" sz="1150" dirty="0"/>
          </a:p>
        </p:txBody>
      </p:sp>
      <p:sp>
        <p:nvSpPr>
          <p:cNvPr id="7" name="card"/>
          <p:cNvSpPr/>
          <p:nvPr/>
        </p:nvSpPr>
        <p:spPr>
          <a:xfrm>
            <a:off x="6187288" y="1737360"/>
            <a:ext cx="5455768" cy="3931920"/>
          </a:xfrm>
          <a:prstGeom prst="roundRect">
            <a:avLst>
              <a:gd name="adj" fmla="val 279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8" name="text"/>
          <p:cNvSpPr txBox="1"/>
          <p:nvPr/>
        </p:nvSpPr>
        <p:spPr>
          <a:xfrm>
            <a:off x="6415888" y="1920240"/>
            <a:ext cx="4998568"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COLLABORATIVE PARTNERSHIPS: TIGA JALUR</a:t>
            </a:r>
            <a:endParaRPr lang="en-US" sz="1200" dirty="0"/>
          </a:p>
        </p:txBody>
      </p:sp>
      <p:sp>
        <p:nvSpPr>
          <p:cNvPr id="9" name="num"/>
          <p:cNvSpPr/>
          <p:nvPr/>
        </p:nvSpPr>
        <p:spPr>
          <a:xfrm>
            <a:off x="6415888" y="2322576"/>
            <a:ext cx="365760" cy="365760"/>
          </a:xfrm>
          <a:prstGeom prst="ellipse">
            <a:avLst/>
          </a:prstGeom>
          <a:solidFill>
            <a:srgbClr val="D7F544"/>
          </a:solidFill>
          <a:ln w="6350">
            <a:solidFill>
              <a:srgbClr val="D7F544"/>
            </a:solidFill>
            <a:prstDash val="solid"/>
          </a:ln>
        </p:spPr>
      </p:sp>
      <p:sp>
        <p:nvSpPr>
          <p:cNvPr id="10" name="text"/>
          <p:cNvSpPr txBox="1"/>
          <p:nvPr/>
        </p:nvSpPr>
        <p:spPr>
          <a:xfrm>
            <a:off x="6415888" y="2322576"/>
            <a:ext cx="365760" cy="365760"/>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1</a:t>
            </a:r>
            <a:endParaRPr lang="en-US" sz="1100" dirty="0"/>
          </a:p>
        </p:txBody>
      </p:sp>
      <p:sp>
        <p:nvSpPr>
          <p:cNvPr id="11" name="text"/>
          <p:cNvSpPr txBox="1"/>
          <p:nvPr/>
        </p:nvSpPr>
        <p:spPr>
          <a:xfrm>
            <a:off x="6900520" y="2304288"/>
            <a:ext cx="4495648" cy="91440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Outsource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fungsi yang lemah ke pemasok kunci; menghemat sumber daya untuk aktivitas inti (Bab 6); cocok bagi perusahaan kecil.</a:t>
            </a:r>
            <a:endParaRPr lang="en-US" sz="1150" dirty="0"/>
          </a:p>
        </p:txBody>
      </p:sp>
      <p:sp>
        <p:nvSpPr>
          <p:cNvPr id="12" name="num"/>
          <p:cNvSpPr/>
          <p:nvPr/>
        </p:nvSpPr>
        <p:spPr>
          <a:xfrm>
            <a:off x="6415888" y="3255264"/>
            <a:ext cx="365760" cy="365760"/>
          </a:xfrm>
          <a:prstGeom prst="ellipse">
            <a:avLst/>
          </a:prstGeom>
          <a:solidFill>
            <a:srgbClr val="D7F544"/>
          </a:solidFill>
          <a:ln w="6350">
            <a:solidFill>
              <a:srgbClr val="D7F544"/>
            </a:solidFill>
            <a:prstDash val="solid"/>
          </a:ln>
        </p:spPr>
      </p:sp>
      <p:sp>
        <p:nvSpPr>
          <p:cNvPr id="13" name="text"/>
          <p:cNvSpPr txBox="1"/>
          <p:nvPr/>
        </p:nvSpPr>
        <p:spPr>
          <a:xfrm>
            <a:off x="6415888" y="3255264"/>
            <a:ext cx="365760" cy="365760"/>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2</a:t>
            </a:r>
            <a:endParaRPr lang="en-US" sz="1100" dirty="0"/>
          </a:p>
        </p:txBody>
      </p:sp>
      <p:sp>
        <p:nvSpPr>
          <p:cNvPr id="14" name="text"/>
          <p:cNvSpPr txBox="1"/>
          <p:nvPr/>
        </p:nvSpPr>
        <p:spPr>
          <a:xfrm>
            <a:off x="6900520" y="3236976"/>
            <a:ext cx="4495648" cy="91440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Collaborate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melalui joint venture atau strategic alliance dengan mitra komplementer; pilih mitra berdasarkan management style, culture, dan goals, bukan hanya resources.</a:t>
            </a:r>
            <a:endParaRPr lang="en-US" sz="1150" dirty="0"/>
          </a:p>
        </p:txBody>
      </p:sp>
      <p:sp>
        <p:nvSpPr>
          <p:cNvPr id="15" name="num"/>
          <p:cNvSpPr/>
          <p:nvPr/>
        </p:nvSpPr>
        <p:spPr>
          <a:xfrm>
            <a:off x="6415888" y="4187952"/>
            <a:ext cx="365760" cy="365760"/>
          </a:xfrm>
          <a:prstGeom prst="ellipse">
            <a:avLst/>
          </a:prstGeom>
          <a:solidFill>
            <a:srgbClr val="D7F544"/>
          </a:solidFill>
          <a:ln w="6350">
            <a:solidFill>
              <a:srgbClr val="D7F544"/>
            </a:solidFill>
            <a:prstDash val="solid"/>
          </a:ln>
        </p:spPr>
      </p:sp>
      <p:sp>
        <p:nvSpPr>
          <p:cNvPr id="16" name="text"/>
          <p:cNvSpPr txBox="1"/>
          <p:nvPr/>
        </p:nvSpPr>
        <p:spPr>
          <a:xfrm>
            <a:off x="6415888" y="4187952"/>
            <a:ext cx="365760" cy="365760"/>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3</a:t>
            </a:r>
            <a:endParaRPr lang="en-US" sz="1100" dirty="0"/>
          </a:p>
        </p:txBody>
      </p:sp>
      <p:sp>
        <p:nvSpPr>
          <p:cNvPr id="17" name="text"/>
          <p:cNvSpPr txBox="1"/>
          <p:nvPr/>
        </p:nvSpPr>
        <p:spPr>
          <a:xfrm>
            <a:off x="6900520" y="4169664"/>
            <a:ext cx="4495648" cy="91440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Learn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dari mitra lalu menginternalisasi metodenya; harus saling menguntungkan, pembelajaran sepihak adalah abuse of trust yang merusak kepercayaan.</a:t>
            </a:r>
            <a:endParaRPr lang="en-US" sz="1150" dirty="0"/>
          </a:p>
        </p:txBody>
      </p:sp>
      <p:sp>
        <p:nvSpPr>
          <p:cNvPr id="18" name="text"/>
          <p:cNvSpPr txBox="1"/>
          <p:nvPr/>
        </p:nvSpPr>
        <p:spPr>
          <a:xfrm>
            <a:off x="6415888" y="5120640"/>
            <a:ext cx="4998568" cy="868680"/>
          </a:xfrm>
          <a:prstGeom prst="rect">
            <a:avLst/>
          </a:prstGeom>
          <a:noFill/>
          <a:ln/>
        </p:spPr>
        <p:txBody>
          <a:bodyPr wrap="square" lIns="0" tIns="0" rIns="0" bIns="0" rtlCol="0" anchor="t"/>
          <a:lstStyle/>
          <a:p>
            <a:pPr algn="l" indent="0" marL="0">
              <a:lnSpc>
                <a:spcPct val="108000"/>
              </a:lnSpc>
              <a:buNone/>
            </a:pPr>
            <a:r>
              <a:rPr lang="en-US" sz="1100" b="1" i="1" dirty="0">
                <a:solidFill>
                  <a:srgbClr val="6E6E6E"/>
                </a:solidFill>
                <a:latin typeface="Calibri" pitchFamily="34" charset="0"/>
                <a:ea typeface="Calibri" pitchFamily="34" charset="-122"/>
                <a:cs typeface="Calibri" pitchFamily="34" charset="-120"/>
              </a:rPr>
              <a:t>Lebih aman lintas industri: </a:t>
            </a:r>
            <a:pPr algn="l" indent="0" marL="0">
              <a:lnSpc>
                <a:spcPct val="108000"/>
              </a:lnSpc>
              <a:buNone/>
            </a:pPr>
            <a:r>
              <a:rPr lang="en-US" sz="1100" i="1" dirty="0">
                <a:solidFill>
                  <a:srgbClr val="6E6E6E"/>
                </a:solidFill>
                <a:latin typeface="Calibri" pitchFamily="34" charset="0"/>
                <a:ea typeface="Calibri" pitchFamily="34" charset="-122"/>
                <a:cs typeface="Calibri" pitchFamily="34" charset="-120"/>
              </a:rPr>
              <a:t>pengembangan kendaraan otonom memadukan produsen mobil dengan Waymo, Nvidia, Mobileye, dan Bosch; Nike bermitra dengan Bluesign agar pemasok tekstilnya mengakses 30.000 material yang aman.</a:t>
            </a:r>
            <a:endParaRPr lang="en-US" sz="1100" dirty="0"/>
          </a:p>
        </p:txBody>
      </p:sp>
      <p:sp>
        <p:nvSpPr>
          <p:cNvPr id="19" name="card"/>
          <p:cNvSpPr/>
          <p:nvPr/>
        </p:nvSpPr>
        <p:spPr>
          <a:xfrm>
            <a:off x="548640" y="5824728"/>
            <a:ext cx="11094415" cy="713232"/>
          </a:xfrm>
          <a:prstGeom prst="roundRect">
            <a:avLst>
              <a:gd name="adj" fmla="val 15385"/>
            </a:avLst>
          </a:prstGeom>
          <a:solidFill>
            <a:srgbClr val="D7F544"/>
          </a:solidFill>
          <a:ln w="6350">
            <a:solidFill>
              <a:srgbClr val="D7F544"/>
            </a:solidFill>
            <a:prstDash val="solid"/>
          </a:ln>
        </p:spPr>
      </p:sp>
      <p:sp>
        <p:nvSpPr>
          <p:cNvPr id="20" name="text"/>
          <p:cNvSpPr txBox="1"/>
          <p:nvPr/>
        </p:nvSpPr>
        <p:spPr>
          <a:xfrm>
            <a:off x="749808" y="5870448"/>
            <a:ext cx="10692079" cy="640080"/>
          </a:xfrm>
          <a:prstGeom prst="rect">
            <a:avLst/>
          </a:prstGeom>
          <a:noFill/>
          <a:ln/>
        </p:spPr>
        <p:txBody>
          <a:bodyPr wrap="square" lIns="0" tIns="0" rIns="0" bIns="0" rtlCol="0" anchor="ctr"/>
          <a:lstStyle/>
          <a:p>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Benang merah: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jalur eksternal membeli waktu, tetapi tidak membeli integrasi. Capability tetap harus ditanam ke dalam rutinitas organisasi sendiri, dan di situlah aksi 1 (orang) dan aksi 3 (struktur) menentukan.</a:t>
            </a:r>
            <a:endParaRPr lang="en-US" sz="12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03  ·  BUILDING RESOURCES &amp; CAPABILITIES  ·  ILLUSTRATION CAPSULE 10.3</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EXECUTION CAPABILITY SEBAGAI COMPETITIVE ADVANTAGE</a:t>
            </a:r>
            <a:endParaRPr lang="en-US" sz="2400" dirty="0"/>
          </a:p>
        </p:txBody>
      </p:sp>
      <p:pic>
        <p:nvPicPr>
          <p:cNvPr id="4" name="Foto lantai produksi garmen" descr="preencoded.png">    </p:cNvPr>
          <p:cNvPicPr>
            <a:picLocks noChangeAspect="1"/>
          </p:cNvPicPr>
          <p:nvPr/>
        </p:nvPicPr>
        <p:blipFill>
          <a:blip r:embed="rId1"/>
          <a:stretch>
            <a:fillRect/>
          </a:stretch>
        </p:blipFill>
        <p:spPr>
          <a:xfrm>
            <a:off x="548640" y="1737360"/>
            <a:ext cx="3931920" cy="2651760"/>
          </a:xfrm>
          <a:prstGeom prst="rect">
            <a:avLst/>
          </a:prstGeom>
        </p:spPr>
      </p:pic>
      <p:sp>
        <p:nvSpPr>
          <p:cNvPr id="5" name="card"/>
          <p:cNvSpPr/>
          <p:nvPr/>
        </p:nvSpPr>
        <p:spPr>
          <a:xfrm>
            <a:off x="548640" y="4526280"/>
            <a:ext cx="3931920" cy="1783080"/>
          </a:xfrm>
          <a:prstGeom prst="roundRect">
            <a:avLst>
              <a:gd name="adj" fmla="val 6154"/>
            </a:avLst>
          </a:prstGeom>
          <a:solidFill>
            <a:srgbClr val="141414"/>
          </a:solidFill>
          <a:ln w="6350">
            <a:solidFill>
              <a:srgbClr val="141414"/>
            </a:solidFill>
            <a:prstDash val="solid"/>
          </a:ln>
        </p:spPr>
      </p:sp>
      <p:sp>
        <p:nvSpPr>
          <p:cNvPr id="6" name="text"/>
          <p:cNvSpPr txBox="1"/>
          <p:nvPr/>
        </p:nvSpPr>
        <p:spPr>
          <a:xfrm>
            <a:off x="749808" y="4636008"/>
            <a:ext cx="3529584" cy="1600200"/>
          </a:xfrm>
          <a:prstGeom prst="rect">
            <a:avLst/>
          </a:prstGeom>
          <a:noFill/>
          <a:ln/>
        </p:spPr>
        <p:txBody>
          <a:bodyPr wrap="square" lIns="0" tIns="0" rIns="0" bIns="0" rtlCol="0" anchor="t"/>
          <a:lstStyle/>
          <a:p>
            <a:pPr algn="l" indent="0" marL="0">
              <a:lnSpc>
                <a:spcPct val="108000"/>
              </a:lnSpc>
              <a:buNone/>
            </a:pPr>
            <a:r>
              <a:rPr lang="en-US" sz="1150" b="1" dirty="0">
                <a:solidFill>
                  <a:srgbClr val="D7F544"/>
                </a:solidFill>
                <a:latin typeface="Calibri" pitchFamily="34" charset="0"/>
                <a:ea typeface="Calibri" pitchFamily="34" charset="-122"/>
                <a:cs typeface="Calibri" pitchFamily="34" charset="-120"/>
              </a:rPr>
              <a:t>Why berkelanjutan. </a:t>
            </a:r>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Execution capabilities bersifat socially complex dan terbentuk lewat pengalaman bertahun-tahun, sehingga sulit ditiru dan tidak tersubstitusi (empat uji Bab 4). Bila strategi mudah ditiru pesaing, satu-satunya jalan menuju keunggulan yang bertahan adalah out-execute.</a:t>
            </a:r>
            <a:endParaRPr lang="en-US" sz="1150" dirty="0"/>
          </a:p>
        </p:txBody>
      </p:sp>
      <p:sp>
        <p:nvSpPr>
          <p:cNvPr id="7" name="card"/>
          <p:cNvSpPr/>
          <p:nvPr/>
        </p:nvSpPr>
        <p:spPr>
          <a:xfrm>
            <a:off x="4663440" y="1737360"/>
            <a:ext cx="3416656" cy="1463040"/>
          </a:xfrm>
          <a:prstGeom prst="roundRect">
            <a:avLst>
              <a:gd name="adj" fmla="val 7500"/>
            </a:avLst>
          </a:prstGeom>
          <a:solidFill>
            <a:srgbClr val="D7F544"/>
          </a:solidFill>
          <a:ln w="6350">
            <a:solidFill>
              <a:srgbClr val="D7F544"/>
            </a:solidFill>
            <a:prstDash val="solid"/>
          </a:ln>
        </p:spPr>
      </p:sp>
      <p:sp>
        <p:nvSpPr>
          <p:cNvPr id="8" name="text"/>
          <p:cNvSpPr txBox="1"/>
          <p:nvPr/>
        </p:nvSpPr>
        <p:spPr>
          <a:xfrm>
            <a:off x="4864608" y="1847088"/>
            <a:ext cx="3014320" cy="548640"/>
          </a:xfrm>
          <a:prstGeom prst="rect">
            <a:avLst/>
          </a:prstGeom>
          <a:noFill/>
          <a:ln/>
        </p:spPr>
        <p:txBody>
          <a:bodyPr wrap="square" lIns="0" tIns="0" rIns="0" bIns="0" rtlCol="0" anchor="t"/>
          <a:lstStyle/>
          <a:p>
            <a:pPr algn="l" indent="0" marL="0">
              <a:lnSpc>
                <a:spcPct val="108000"/>
              </a:lnSpc>
              <a:buNone/>
            </a:pPr>
            <a:r>
              <a:rPr lang="en-US" sz="2800" b="1" dirty="0">
                <a:solidFill>
                  <a:srgbClr val="1C1C1C"/>
                </a:solidFill>
                <a:latin typeface="Arial" pitchFamily="34" charset="0"/>
                <a:ea typeface="Arial" pitchFamily="34" charset="-122"/>
                <a:cs typeface="Arial" pitchFamily="34" charset="-120"/>
              </a:rPr>
              <a:t>4 minggu</a:t>
            </a:r>
            <a:endParaRPr lang="en-US" sz="2800" dirty="0"/>
          </a:p>
        </p:txBody>
      </p:sp>
      <p:sp>
        <p:nvSpPr>
          <p:cNvPr id="9" name="text"/>
          <p:cNvSpPr txBox="1"/>
          <p:nvPr/>
        </p:nvSpPr>
        <p:spPr>
          <a:xfrm>
            <a:off x="4864608" y="2468880"/>
            <a:ext cx="3014320" cy="685800"/>
          </a:xfrm>
          <a:prstGeom prst="rect">
            <a:avLst/>
          </a:prstGeom>
          <a:noFill/>
          <a:ln/>
        </p:spPr>
        <p:txBody>
          <a:bodyPr wrap="square" lIns="0" tIns="0" rIns="0" bIns="0" rtlCol="0" anchor="t"/>
          <a:lstStyle/>
          <a:p>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dari desain hingga tiba di toko; peritel lain memerlukan 6 bulan</a:t>
            </a:r>
            <a:endParaRPr lang="en-US" sz="1150" dirty="0"/>
          </a:p>
        </p:txBody>
      </p:sp>
      <p:sp>
        <p:nvSpPr>
          <p:cNvPr id="10" name="card"/>
          <p:cNvSpPr/>
          <p:nvPr/>
        </p:nvSpPr>
        <p:spPr>
          <a:xfrm>
            <a:off x="8226400" y="1737360"/>
            <a:ext cx="3416656" cy="1463040"/>
          </a:xfrm>
          <a:prstGeom prst="roundRect">
            <a:avLst>
              <a:gd name="adj" fmla="val 750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1" name="text"/>
          <p:cNvSpPr txBox="1"/>
          <p:nvPr/>
        </p:nvSpPr>
        <p:spPr>
          <a:xfrm>
            <a:off x="8427568" y="1847088"/>
            <a:ext cx="3014320" cy="548640"/>
          </a:xfrm>
          <a:prstGeom prst="rect">
            <a:avLst/>
          </a:prstGeom>
          <a:noFill/>
          <a:ln/>
        </p:spPr>
        <p:txBody>
          <a:bodyPr wrap="square" lIns="0" tIns="0" rIns="0" bIns="0" rtlCol="0" anchor="t"/>
          <a:lstStyle/>
          <a:p>
            <a:pPr algn="l" indent="0" marL="0">
              <a:lnSpc>
                <a:spcPct val="108000"/>
              </a:lnSpc>
              <a:buNone/>
            </a:pPr>
            <a:r>
              <a:rPr lang="en-US" sz="2800" b="1" dirty="0">
                <a:solidFill>
                  <a:srgbClr val="1C1C1C"/>
                </a:solidFill>
                <a:latin typeface="Arial" pitchFamily="34" charset="0"/>
                <a:ea typeface="Arial" pitchFamily="34" charset="-122"/>
                <a:cs typeface="Arial" pitchFamily="34" charset="-120"/>
              </a:rPr>
              <a:t>12.000</a:t>
            </a:r>
            <a:endParaRPr lang="en-US" sz="2800" dirty="0"/>
          </a:p>
        </p:txBody>
      </p:sp>
      <p:sp>
        <p:nvSpPr>
          <p:cNvPr id="12" name="text"/>
          <p:cNvSpPr txBox="1"/>
          <p:nvPr/>
        </p:nvSpPr>
        <p:spPr>
          <a:xfrm>
            <a:off x="8427568" y="2468880"/>
            <a:ext cx="3014320" cy="68580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model baru per tahun; rata-rata industri 3.000</a:t>
            </a:r>
            <a:endParaRPr lang="en-US" sz="1150" dirty="0"/>
          </a:p>
        </p:txBody>
      </p:sp>
      <p:sp>
        <p:nvSpPr>
          <p:cNvPr id="13" name="card"/>
          <p:cNvSpPr/>
          <p:nvPr/>
        </p:nvSpPr>
        <p:spPr>
          <a:xfrm>
            <a:off x="4663440" y="3346704"/>
            <a:ext cx="3416656" cy="1463040"/>
          </a:xfrm>
          <a:prstGeom prst="roundRect">
            <a:avLst>
              <a:gd name="adj" fmla="val 750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4" name="text"/>
          <p:cNvSpPr txBox="1"/>
          <p:nvPr/>
        </p:nvSpPr>
        <p:spPr>
          <a:xfrm>
            <a:off x="4864608" y="3456432"/>
            <a:ext cx="3014320" cy="548640"/>
          </a:xfrm>
          <a:prstGeom prst="rect">
            <a:avLst/>
          </a:prstGeom>
          <a:noFill/>
          <a:ln/>
        </p:spPr>
        <p:txBody>
          <a:bodyPr wrap="square" lIns="0" tIns="0" rIns="0" bIns="0" rtlCol="0" anchor="t"/>
          <a:lstStyle/>
          <a:p>
            <a:pPr algn="l" indent="0" marL="0">
              <a:lnSpc>
                <a:spcPct val="108000"/>
              </a:lnSpc>
              <a:buNone/>
            </a:pPr>
            <a:r>
              <a:rPr lang="en-US" sz="2800" b="1" dirty="0">
                <a:solidFill>
                  <a:srgbClr val="1C1C1C"/>
                </a:solidFill>
                <a:latin typeface="Arial" pitchFamily="34" charset="0"/>
                <a:ea typeface="Arial" pitchFamily="34" charset="-122"/>
                <a:cs typeface="Arial" pitchFamily="34" charset="-120"/>
              </a:rPr>
              <a:t>17 kali</a:t>
            </a:r>
            <a:endParaRPr lang="en-US" sz="2800" dirty="0"/>
          </a:p>
        </p:txBody>
      </p:sp>
      <p:sp>
        <p:nvSpPr>
          <p:cNvPr id="15" name="text"/>
          <p:cNvSpPr txBox="1"/>
          <p:nvPr/>
        </p:nvSpPr>
        <p:spPr>
          <a:xfrm>
            <a:off x="4864608" y="4078224"/>
            <a:ext cx="3014320" cy="68580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kunjungan pelanggan per tahun; pesaing hanya 2 kali</a:t>
            </a:r>
            <a:endParaRPr lang="en-US" sz="1150" dirty="0"/>
          </a:p>
        </p:txBody>
      </p:sp>
      <p:sp>
        <p:nvSpPr>
          <p:cNvPr id="16" name="card"/>
          <p:cNvSpPr/>
          <p:nvPr/>
        </p:nvSpPr>
        <p:spPr>
          <a:xfrm>
            <a:off x="8226400" y="3346704"/>
            <a:ext cx="3416656" cy="1463040"/>
          </a:xfrm>
          <a:prstGeom prst="roundRect">
            <a:avLst>
              <a:gd name="adj" fmla="val 7500"/>
            </a:avLst>
          </a:prstGeom>
          <a:solidFill>
            <a:srgbClr val="D7F544"/>
          </a:solidFill>
          <a:ln w="6350">
            <a:solidFill>
              <a:srgbClr val="D7F544"/>
            </a:solidFill>
            <a:prstDash val="solid"/>
          </a:ln>
        </p:spPr>
      </p:sp>
      <p:sp>
        <p:nvSpPr>
          <p:cNvPr id="17" name="text"/>
          <p:cNvSpPr txBox="1"/>
          <p:nvPr/>
        </p:nvSpPr>
        <p:spPr>
          <a:xfrm>
            <a:off x="8427568" y="3456432"/>
            <a:ext cx="3014320" cy="548640"/>
          </a:xfrm>
          <a:prstGeom prst="rect">
            <a:avLst/>
          </a:prstGeom>
          <a:noFill/>
          <a:ln/>
        </p:spPr>
        <p:txBody>
          <a:bodyPr wrap="square" lIns="0" tIns="0" rIns="0" bIns="0" rtlCol="0" anchor="t"/>
          <a:lstStyle/>
          <a:p>
            <a:pPr algn="l" indent="0" marL="0">
              <a:lnSpc>
                <a:spcPct val="108000"/>
              </a:lnSpc>
              <a:buNone/>
            </a:pPr>
            <a:r>
              <a:rPr lang="en-US" sz="2800" b="1" dirty="0">
                <a:solidFill>
                  <a:srgbClr val="1C1C1C"/>
                </a:solidFill>
                <a:latin typeface="Arial" pitchFamily="34" charset="0"/>
                <a:ea typeface="Arial" pitchFamily="34" charset="-122"/>
                <a:cs typeface="Arial" pitchFamily="34" charset="-120"/>
              </a:rPr>
              <a:t>11 hari</a:t>
            </a:r>
            <a:endParaRPr lang="en-US" sz="2800" dirty="0"/>
          </a:p>
        </p:txBody>
      </p:sp>
      <p:sp>
        <p:nvSpPr>
          <p:cNvPr id="18" name="text"/>
          <p:cNvSpPr txBox="1"/>
          <p:nvPr/>
        </p:nvSpPr>
        <p:spPr>
          <a:xfrm>
            <a:off x="8427568" y="4078224"/>
            <a:ext cx="3014320" cy="685800"/>
          </a:xfrm>
          <a:prstGeom prst="rect">
            <a:avLst/>
          </a:prstGeom>
          <a:noFill/>
          <a:ln/>
        </p:spPr>
        <p:txBody>
          <a:bodyPr wrap="square" lIns="0" tIns="0" rIns="0" bIns="0" rtlCol="0" anchor="t"/>
          <a:lstStyle/>
          <a:p>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rata-rata sebuah item bertahan di toko; RFID menarik item lambat setelah 3–4 minggu</a:t>
            </a:r>
            <a:endParaRPr lang="en-US" sz="1150" dirty="0"/>
          </a:p>
        </p:txBody>
      </p:sp>
      <p:sp>
        <p:nvSpPr>
          <p:cNvPr id="19" name="card"/>
          <p:cNvSpPr/>
          <p:nvPr/>
        </p:nvSpPr>
        <p:spPr>
          <a:xfrm>
            <a:off x="4663440" y="4919472"/>
            <a:ext cx="6979615" cy="1536192"/>
          </a:xfrm>
          <a:prstGeom prst="roundRect">
            <a:avLst>
              <a:gd name="adj" fmla="val 7143"/>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0" name="text"/>
          <p:cNvSpPr txBox="1"/>
          <p:nvPr/>
        </p:nvSpPr>
        <p:spPr>
          <a:xfrm>
            <a:off x="4864608" y="5029200"/>
            <a:ext cx="6577279" cy="137160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Strategi fast fashion Zara tidak unik; keunggulannya ada pada eksekusi.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Produksi lot kecil di pabrik dekat kantor pusat, rantai pasok terintegrasi vertikal tanpa gudang, nol belanja iklan namun lokasi premium di dekat rumah mode, dan pengiriman hingga dua kali seminggu per toko, semuanya diselaraskan ketat dengan strategi. Tantangan: H&amp;M, Uniqlo, Shein, dan pergeseran ke belanja daring.</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04  ·  STRUCTURING THE ORGANIZATION AND WORK EFFORT  ·  FIGURE 10.3 (DIGAMBAR ULANG)</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MENYELARASKAN STRUKTUR ORGANISASI DENGAN STRATEGI</a:t>
            </a:r>
            <a:endParaRPr lang="en-US" sz="2400" dirty="0"/>
          </a:p>
        </p:txBody>
      </p:sp>
      <p:sp>
        <p:nvSpPr>
          <p:cNvPr id="4" name="Keputusan 1"/>
          <p:cNvSpPr/>
          <p:nvPr/>
        </p:nvSpPr>
        <p:spPr>
          <a:xfrm>
            <a:off x="548640" y="1737360"/>
            <a:ext cx="5120640" cy="713232"/>
          </a:xfrm>
          <a:prstGeom prst="homePlate">
            <a:avLst/>
          </a:prstGeom>
          <a:solidFill>
            <a:srgbClr val="141414"/>
          </a:solidFill>
          <a:ln w="9525">
            <a:solidFill>
              <a:srgbClr val="141414"/>
            </a:solidFill>
            <a:prstDash val="solid"/>
          </a:ln>
        </p:spPr>
      </p:sp>
      <p:sp>
        <p:nvSpPr>
          <p:cNvPr id="5" name="num"/>
          <p:cNvSpPr/>
          <p:nvPr/>
        </p:nvSpPr>
        <p:spPr>
          <a:xfrm>
            <a:off x="676656" y="1929384"/>
            <a:ext cx="329184" cy="329184"/>
          </a:xfrm>
          <a:prstGeom prst="ellipse">
            <a:avLst/>
          </a:prstGeom>
          <a:solidFill>
            <a:srgbClr val="D7F544"/>
          </a:solidFill>
          <a:ln w="6350">
            <a:solidFill>
              <a:srgbClr val="D7F544"/>
            </a:solidFill>
            <a:prstDash val="solid"/>
          </a:ln>
        </p:spPr>
      </p:sp>
      <p:sp>
        <p:nvSpPr>
          <p:cNvPr id="6" name="text"/>
          <p:cNvSpPr txBox="1"/>
          <p:nvPr/>
        </p:nvSpPr>
        <p:spPr>
          <a:xfrm>
            <a:off x="676656" y="1929384"/>
            <a:ext cx="329184" cy="329184"/>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1</a:t>
            </a:r>
            <a:endParaRPr lang="en-US" sz="1100" dirty="0"/>
          </a:p>
        </p:txBody>
      </p:sp>
      <p:sp>
        <p:nvSpPr>
          <p:cNvPr id="7" name="text"/>
          <p:cNvSpPr txBox="1"/>
          <p:nvPr/>
        </p:nvSpPr>
        <p:spPr>
          <a:xfrm>
            <a:off x="1115568" y="1737360"/>
            <a:ext cx="3931920" cy="713232"/>
          </a:xfrm>
          <a:prstGeom prst="rect">
            <a:avLst/>
          </a:prstGeom>
          <a:noFill/>
          <a:ln/>
        </p:spPr>
        <p:txBody>
          <a:bodyPr wrap="square" lIns="0" tIns="0" rIns="0" bIns="0" rtlCol="0" anchor="ctr"/>
          <a:lstStyle/>
          <a:p>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Memutuskan value chain activities mana yang dikerjakan internal dan mana yang di-outsource</a:t>
            </a:r>
            <a:endParaRPr lang="en-US" sz="1050" dirty="0"/>
          </a:p>
        </p:txBody>
      </p:sp>
      <p:sp>
        <p:nvSpPr>
          <p:cNvPr id="8" name="Keputusan 2"/>
          <p:cNvSpPr/>
          <p:nvPr/>
        </p:nvSpPr>
        <p:spPr>
          <a:xfrm>
            <a:off x="548640" y="2578608"/>
            <a:ext cx="5120640" cy="713232"/>
          </a:xfrm>
          <a:prstGeom prst="homePlate">
            <a:avLst/>
          </a:prstGeom>
          <a:solidFill>
            <a:srgbClr val="4A4A4A"/>
          </a:solidFill>
          <a:ln w="9525">
            <a:solidFill>
              <a:srgbClr val="4A4A4A"/>
            </a:solidFill>
            <a:prstDash val="solid"/>
          </a:ln>
        </p:spPr>
      </p:sp>
      <p:sp>
        <p:nvSpPr>
          <p:cNvPr id="9" name="num"/>
          <p:cNvSpPr/>
          <p:nvPr/>
        </p:nvSpPr>
        <p:spPr>
          <a:xfrm>
            <a:off x="676656" y="2770632"/>
            <a:ext cx="329184" cy="329184"/>
          </a:xfrm>
          <a:prstGeom prst="ellipse">
            <a:avLst/>
          </a:prstGeom>
          <a:solidFill>
            <a:srgbClr val="D7F544"/>
          </a:solidFill>
          <a:ln w="6350">
            <a:solidFill>
              <a:srgbClr val="D7F544"/>
            </a:solidFill>
            <a:prstDash val="solid"/>
          </a:ln>
        </p:spPr>
      </p:sp>
      <p:sp>
        <p:nvSpPr>
          <p:cNvPr id="10" name="text"/>
          <p:cNvSpPr txBox="1"/>
          <p:nvPr/>
        </p:nvSpPr>
        <p:spPr>
          <a:xfrm>
            <a:off x="676656" y="2770632"/>
            <a:ext cx="329184" cy="329184"/>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2</a:t>
            </a:r>
            <a:endParaRPr lang="en-US" sz="1100" dirty="0"/>
          </a:p>
        </p:txBody>
      </p:sp>
      <p:sp>
        <p:nvSpPr>
          <p:cNvPr id="11" name="text"/>
          <p:cNvSpPr txBox="1"/>
          <p:nvPr/>
        </p:nvSpPr>
        <p:spPr>
          <a:xfrm>
            <a:off x="1115568" y="2578608"/>
            <a:ext cx="3931920" cy="713232"/>
          </a:xfrm>
          <a:prstGeom prst="rect">
            <a:avLst/>
          </a:prstGeom>
          <a:noFill/>
          <a:ln/>
        </p:spPr>
        <p:txBody>
          <a:bodyPr wrap="square" lIns="0" tIns="0" rIns="0" bIns="0" rtlCol="0" anchor="ctr"/>
          <a:lstStyle/>
          <a:p>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Menyelaraskan organizational structure dengan strategi</a:t>
            </a:r>
            <a:endParaRPr lang="en-US" sz="1050" dirty="0"/>
          </a:p>
        </p:txBody>
      </p:sp>
      <p:sp>
        <p:nvSpPr>
          <p:cNvPr id="12" name="Keputusan 3"/>
          <p:cNvSpPr/>
          <p:nvPr/>
        </p:nvSpPr>
        <p:spPr>
          <a:xfrm>
            <a:off x="548640" y="3419856"/>
            <a:ext cx="5120640" cy="713232"/>
          </a:xfrm>
          <a:prstGeom prst="homePlate">
            <a:avLst/>
          </a:prstGeom>
          <a:solidFill>
            <a:srgbClr val="141414"/>
          </a:solidFill>
          <a:ln w="9525">
            <a:solidFill>
              <a:srgbClr val="141414"/>
            </a:solidFill>
            <a:prstDash val="solid"/>
          </a:ln>
        </p:spPr>
      </p:sp>
      <p:sp>
        <p:nvSpPr>
          <p:cNvPr id="13" name="num"/>
          <p:cNvSpPr/>
          <p:nvPr/>
        </p:nvSpPr>
        <p:spPr>
          <a:xfrm>
            <a:off x="676656" y="3611880"/>
            <a:ext cx="329184" cy="329184"/>
          </a:xfrm>
          <a:prstGeom prst="ellipse">
            <a:avLst/>
          </a:prstGeom>
          <a:solidFill>
            <a:srgbClr val="D7F544"/>
          </a:solidFill>
          <a:ln w="6350">
            <a:solidFill>
              <a:srgbClr val="D7F544"/>
            </a:solidFill>
            <a:prstDash val="solid"/>
          </a:ln>
        </p:spPr>
      </p:sp>
      <p:sp>
        <p:nvSpPr>
          <p:cNvPr id="14" name="text"/>
          <p:cNvSpPr txBox="1"/>
          <p:nvPr/>
        </p:nvSpPr>
        <p:spPr>
          <a:xfrm>
            <a:off x="676656" y="3611880"/>
            <a:ext cx="329184" cy="329184"/>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3</a:t>
            </a:r>
            <a:endParaRPr lang="en-US" sz="1100" dirty="0"/>
          </a:p>
        </p:txBody>
      </p:sp>
      <p:sp>
        <p:nvSpPr>
          <p:cNvPr id="15" name="text"/>
          <p:cNvSpPr txBox="1"/>
          <p:nvPr/>
        </p:nvSpPr>
        <p:spPr>
          <a:xfrm>
            <a:off x="1115568" y="3419856"/>
            <a:ext cx="3931920" cy="713232"/>
          </a:xfrm>
          <a:prstGeom prst="rect">
            <a:avLst/>
          </a:prstGeom>
          <a:noFill/>
          <a:ln/>
        </p:spPr>
        <p:txBody>
          <a:bodyPr wrap="square" lIns="0" tIns="0" rIns="0" bIns="0" rtlCol="0" anchor="ctr"/>
          <a:lstStyle/>
          <a:p>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Memutuskan seberapa besar wewenang disentralisasi di puncak dan seberapa besar didelegasikan ke bawah</a:t>
            </a:r>
            <a:endParaRPr lang="en-US" sz="1050" dirty="0"/>
          </a:p>
        </p:txBody>
      </p:sp>
      <p:sp>
        <p:nvSpPr>
          <p:cNvPr id="16" name="Keputusan 4"/>
          <p:cNvSpPr/>
          <p:nvPr/>
        </p:nvSpPr>
        <p:spPr>
          <a:xfrm>
            <a:off x="548640" y="4261104"/>
            <a:ext cx="5120640" cy="713232"/>
          </a:xfrm>
          <a:prstGeom prst="homePlate">
            <a:avLst/>
          </a:prstGeom>
          <a:solidFill>
            <a:srgbClr val="4A4A4A"/>
          </a:solidFill>
          <a:ln w="9525">
            <a:solidFill>
              <a:srgbClr val="4A4A4A"/>
            </a:solidFill>
            <a:prstDash val="solid"/>
          </a:ln>
        </p:spPr>
      </p:sp>
      <p:sp>
        <p:nvSpPr>
          <p:cNvPr id="17" name="num"/>
          <p:cNvSpPr/>
          <p:nvPr/>
        </p:nvSpPr>
        <p:spPr>
          <a:xfrm>
            <a:off x="676656" y="4453128"/>
            <a:ext cx="329184" cy="329184"/>
          </a:xfrm>
          <a:prstGeom prst="ellipse">
            <a:avLst/>
          </a:prstGeom>
          <a:solidFill>
            <a:srgbClr val="D7F544"/>
          </a:solidFill>
          <a:ln w="6350">
            <a:solidFill>
              <a:srgbClr val="D7F544"/>
            </a:solidFill>
            <a:prstDash val="solid"/>
          </a:ln>
        </p:spPr>
      </p:sp>
      <p:sp>
        <p:nvSpPr>
          <p:cNvPr id="18" name="text"/>
          <p:cNvSpPr txBox="1"/>
          <p:nvPr/>
        </p:nvSpPr>
        <p:spPr>
          <a:xfrm>
            <a:off x="676656" y="4453128"/>
            <a:ext cx="329184" cy="329184"/>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4</a:t>
            </a:r>
            <a:endParaRPr lang="en-US" sz="1100" dirty="0"/>
          </a:p>
        </p:txBody>
      </p:sp>
      <p:sp>
        <p:nvSpPr>
          <p:cNvPr id="19" name="text"/>
          <p:cNvSpPr txBox="1"/>
          <p:nvPr/>
        </p:nvSpPr>
        <p:spPr>
          <a:xfrm>
            <a:off x="1115568" y="4261104"/>
            <a:ext cx="3931920" cy="713232"/>
          </a:xfrm>
          <a:prstGeom prst="rect">
            <a:avLst/>
          </a:prstGeom>
          <a:noFill/>
          <a:ln/>
        </p:spPr>
        <p:txBody>
          <a:bodyPr wrap="square" lIns="0" tIns="0" rIns="0" bIns="0" rtlCol="0" anchor="ctr"/>
          <a:lstStyle/>
          <a:p>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Menyediakan koordinasi lintas unit (cross-unit coordination)</a:t>
            </a:r>
            <a:endParaRPr lang="en-US" sz="1050" dirty="0"/>
          </a:p>
        </p:txBody>
      </p:sp>
      <p:sp>
        <p:nvSpPr>
          <p:cNvPr id="20" name="Keputusan 5"/>
          <p:cNvSpPr/>
          <p:nvPr/>
        </p:nvSpPr>
        <p:spPr>
          <a:xfrm>
            <a:off x="548640" y="5102352"/>
            <a:ext cx="5120640" cy="713232"/>
          </a:xfrm>
          <a:prstGeom prst="homePlate">
            <a:avLst/>
          </a:prstGeom>
          <a:solidFill>
            <a:srgbClr val="141414"/>
          </a:solidFill>
          <a:ln w="9525">
            <a:solidFill>
              <a:srgbClr val="141414"/>
            </a:solidFill>
            <a:prstDash val="solid"/>
          </a:ln>
        </p:spPr>
      </p:sp>
      <p:sp>
        <p:nvSpPr>
          <p:cNvPr id="21" name="num"/>
          <p:cNvSpPr/>
          <p:nvPr/>
        </p:nvSpPr>
        <p:spPr>
          <a:xfrm>
            <a:off x="676656" y="5294376"/>
            <a:ext cx="329184" cy="329184"/>
          </a:xfrm>
          <a:prstGeom prst="ellipse">
            <a:avLst/>
          </a:prstGeom>
          <a:solidFill>
            <a:srgbClr val="D7F544"/>
          </a:solidFill>
          <a:ln w="6350">
            <a:solidFill>
              <a:srgbClr val="D7F544"/>
            </a:solidFill>
            <a:prstDash val="solid"/>
          </a:ln>
        </p:spPr>
      </p:sp>
      <p:sp>
        <p:nvSpPr>
          <p:cNvPr id="22" name="text"/>
          <p:cNvSpPr txBox="1"/>
          <p:nvPr/>
        </p:nvSpPr>
        <p:spPr>
          <a:xfrm>
            <a:off x="676656" y="5294376"/>
            <a:ext cx="329184" cy="329184"/>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5</a:t>
            </a:r>
            <a:endParaRPr lang="en-US" sz="1100" dirty="0"/>
          </a:p>
        </p:txBody>
      </p:sp>
      <p:sp>
        <p:nvSpPr>
          <p:cNvPr id="23" name="text"/>
          <p:cNvSpPr txBox="1"/>
          <p:nvPr/>
        </p:nvSpPr>
        <p:spPr>
          <a:xfrm>
            <a:off x="1115568" y="5102352"/>
            <a:ext cx="3931920" cy="713232"/>
          </a:xfrm>
          <a:prstGeom prst="rect">
            <a:avLst/>
          </a:prstGeom>
          <a:noFill/>
          <a:ln/>
        </p:spPr>
        <p:txBody>
          <a:bodyPr wrap="square" lIns="0" tIns="0" rIns="0" bIns="0" rtlCol="0" anchor="ctr"/>
          <a:lstStyle/>
          <a:p>
            <a:pPr algn="l" indent="0" marL="0">
              <a:lnSpc>
                <a:spcPct val="100000"/>
              </a:lnSpc>
              <a:buNone/>
            </a:pPr>
            <a:r>
              <a:rPr lang="en-US" sz="1050" dirty="0">
                <a:solidFill>
                  <a:srgbClr val="FFFFFF"/>
                </a:solidFill>
                <a:latin typeface="Calibri" pitchFamily="34" charset="0"/>
                <a:ea typeface="Calibri" pitchFamily="34" charset="-122"/>
                <a:cs typeface="Calibri" pitchFamily="34" charset="-120"/>
              </a:rPr>
              <a:t>Memfasilitasi kolaborasi dengan mitra eksternal dan strategic allies</a:t>
            </a:r>
            <a:endParaRPr lang="en-US" sz="1050" dirty="0"/>
          </a:p>
        </p:txBody>
      </p:sp>
      <p:sp>
        <p:nvSpPr>
          <p:cNvPr id="24" name="Hasil: struktur yang selaras"/>
          <p:cNvSpPr/>
          <p:nvPr/>
        </p:nvSpPr>
        <p:spPr>
          <a:xfrm>
            <a:off x="5943600" y="1737360"/>
            <a:ext cx="2103120" cy="4078224"/>
          </a:xfrm>
          <a:prstGeom prst="roundRect">
            <a:avLst>
              <a:gd name="adj" fmla="val 3478"/>
            </a:avLst>
          </a:prstGeom>
          <a:solidFill>
            <a:srgbClr val="D7F544"/>
          </a:solidFill>
          <a:ln w="6350">
            <a:solidFill>
              <a:srgbClr val="D7F544"/>
            </a:solidFill>
            <a:prstDash val="solid"/>
          </a:ln>
        </p:spPr>
      </p:sp>
      <p:sp>
        <p:nvSpPr>
          <p:cNvPr id="25" name="text"/>
          <p:cNvSpPr txBox="1"/>
          <p:nvPr/>
        </p:nvSpPr>
        <p:spPr>
          <a:xfrm>
            <a:off x="6126480" y="1737360"/>
            <a:ext cx="1737360" cy="4078224"/>
          </a:xfrm>
          <a:prstGeom prst="rect">
            <a:avLst/>
          </a:prstGeom>
          <a:noFill/>
          <a:ln/>
        </p:spPr>
        <p:txBody>
          <a:bodyPr wrap="square" lIns="0" tIns="0" rIns="0" bIns="0" rtlCol="0" anchor="ctr"/>
          <a:lstStyle/>
          <a:p>
            <a:pPr algn="ctr" indent="0" marL="0">
              <a:lnSpc>
                <a:spcPct val="108000"/>
              </a:lnSpc>
              <a:buNone/>
            </a:pPr>
            <a:r>
              <a:rPr lang="en-US" sz="1300" b="1" dirty="0">
                <a:solidFill>
                  <a:srgbClr val="1C1C1C"/>
                </a:solidFill>
                <a:latin typeface="Arial" pitchFamily="34" charset="0"/>
                <a:ea typeface="Arial" pitchFamily="34" charset="-122"/>
                <a:cs typeface="Arial" pitchFamily="34" charset="-120"/>
              </a:rPr>
              <a:t>An Organizational Structure Matched to the Requirements of Successful Strategy Execution</a:t>
            </a:r>
            <a:endParaRPr lang="en-US" sz="1300" dirty="0"/>
          </a:p>
        </p:txBody>
      </p:sp>
      <p:sp>
        <p:nvSpPr>
          <p:cNvPr id="26" name="card"/>
          <p:cNvSpPr/>
          <p:nvPr/>
        </p:nvSpPr>
        <p:spPr>
          <a:xfrm>
            <a:off x="8321040" y="1737360"/>
            <a:ext cx="3322015" cy="2103120"/>
          </a:xfrm>
          <a:prstGeom prst="roundRect">
            <a:avLst>
              <a:gd name="adj" fmla="val 5217"/>
            </a:avLst>
          </a:prstGeom>
          <a:solidFill>
            <a:srgbClr val="141414"/>
          </a:solidFill>
          <a:ln w="6350">
            <a:solidFill>
              <a:srgbClr val="141414"/>
            </a:solidFill>
            <a:prstDash val="solid"/>
          </a:ln>
        </p:spPr>
      </p:sp>
      <p:sp>
        <p:nvSpPr>
          <p:cNvPr id="27" name="text"/>
          <p:cNvSpPr txBox="1"/>
          <p:nvPr/>
        </p:nvSpPr>
        <p:spPr>
          <a:xfrm>
            <a:off x="8503920" y="1847088"/>
            <a:ext cx="2956255" cy="1920240"/>
          </a:xfrm>
          <a:prstGeom prst="rect">
            <a:avLst/>
          </a:prstGeom>
          <a:noFill/>
          <a:ln/>
        </p:spPr>
        <p:txBody>
          <a:bodyPr wrap="square" lIns="0" tIns="0" rIns="0" bIns="0" rtlCol="0" anchor="t"/>
          <a:lstStyle/>
          <a:p>
            <a:pPr algn="l" indent="0" marL="0">
              <a:lnSpc>
                <a:spcPct val="108000"/>
              </a:lnSpc>
              <a:buNone/>
            </a:pPr>
            <a:r>
              <a:rPr lang="en-US" sz="1100" b="1" dirty="0">
                <a:solidFill>
                  <a:srgbClr val="D7F544"/>
                </a:solidFill>
                <a:latin typeface="Calibri" pitchFamily="34" charset="0"/>
                <a:ea typeface="Calibri" pitchFamily="34" charset="-122"/>
                <a:cs typeface="Calibri" pitchFamily="34" charset="-120"/>
              </a:rPr>
              <a:t>Core concept. </a:t>
            </a:r>
            <a:pPr algn="l" indent="0" marL="0">
              <a:lnSpc>
                <a:spcPct val="108000"/>
              </a:lnSpc>
              <a:buNone/>
            </a:pPr>
            <a:r>
              <a:rPr lang="en-US" sz="1100" dirty="0">
                <a:solidFill>
                  <a:srgbClr val="E6E6E6"/>
                </a:solidFill>
                <a:latin typeface="Calibri" pitchFamily="34" charset="0"/>
                <a:ea typeface="Calibri" pitchFamily="34" charset="-122"/>
                <a:cs typeface="Calibri" pitchFamily="34" charset="-120"/>
              </a:rPr>
              <a:t>Organizational structure adalah pengaturan formal dan informal atas tugas, tanggung jawab, lines of authority, dan reporting relationships yang mengadministrasikan perusahaan. Satu aturan baku: struktur harus dicocokkan dengan kebutuhan spesifik implementasi strategi (Chandler, 1962).</a:t>
            </a:r>
            <a:endParaRPr lang="en-US" sz="1100" dirty="0"/>
          </a:p>
        </p:txBody>
      </p:sp>
      <p:sp>
        <p:nvSpPr>
          <p:cNvPr id="28" name="card"/>
          <p:cNvSpPr/>
          <p:nvPr/>
        </p:nvSpPr>
        <p:spPr>
          <a:xfrm>
            <a:off x="8321040" y="3977640"/>
            <a:ext cx="3322015" cy="1837944"/>
          </a:xfrm>
          <a:prstGeom prst="roundRect">
            <a:avLst>
              <a:gd name="adj" fmla="val 597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9" name="text"/>
          <p:cNvSpPr txBox="1"/>
          <p:nvPr/>
        </p:nvSpPr>
        <p:spPr>
          <a:xfrm>
            <a:off x="8503920" y="4087368"/>
            <a:ext cx="2956255" cy="1655064"/>
          </a:xfrm>
          <a:prstGeom prst="rect">
            <a:avLst/>
          </a:prstGeom>
          <a:noFill/>
          <a:ln/>
        </p:spPr>
        <p:txBody>
          <a:bodyPr wrap="square" lIns="0" tIns="0" rIns="0" bIns="0" rtlCol="0" anchor="t"/>
          <a:lstStyle/>
          <a:p>
            <a:pPr algn="l" indent="0" marL="0">
              <a:lnSpc>
                <a:spcPct val="108000"/>
              </a:lnSpc>
              <a:buNone/>
            </a:pPr>
            <a:r>
              <a:rPr lang="en-US" sz="1100" b="1" dirty="0">
                <a:solidFill>
                  <a:srgbClr val="1C1C1C"/>
                </a:solidFill>
                <a:latin typeface="Calibri" pitchFamily="34" charset="0"/>
                <a:ea typeface="Calibri" pitchFamily="34" charset="-122"/>
                <a:cs typeface="Calibri" pitchFamily="34" charset="-120"/>
              </a:rPr>
              <a:t>Why. </a:t>
            </a:r>
            <a:pPr algn="l" indent="0" marL="0">
              <a:lnSpc>
                <a:spcPct val="108000"/>
              </a:lnSpc>
              <a:buNone/>
            </a:pPr>
            <a:r>
              <a:rPr lang="en-US" sz="1100" dirty="0">
                <a:solidFill>
                  <a:srgbClr val="1C1C1C"/>
                </a:solidFill>
                <a:latin typeface="Calibri" pitchFamily="34" charset="0"/>
                <a:ea typeface="Calibri" pitchFamily="34" charset="-122"/>
                <a:cs typeface="Calibri" pitchFamily="34" charset="-120"/>
              </a:rPr>
              <a:t>Struktur yang tidak cocok menimbulkan bureaucratic costs tinggi serta kegagalan koordinasi dan komunikasi; desain yang baik menurunkan biaya operasi, mempercepat capability-building, dan memungkinkan perusahaan lebih dulu ke pasar. Lima keputusan ini dibahas pada empat slide berikutnya.</a:t>
            </a:r>
            <a:endParaRPr lang="en-US" sz="11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04  ·  STRUCTURING THE ORGANIZATION  ·  KEPUTUSAN 1</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AKTIVITAS MANA DIKERJAKAN SENDIRI, MANA DI-OUTSOURCE</a:t>
            </a:r>
            <a:endParaRPr lang="en-US" sz="2400" dirty="0"/>
          </a:p>
        </p:txBody>
      </p:sp>
      <p:sp>
        <p:nvSpPr>
          <p:cNvPr id="4" name="card"/>
          <p:cNvSpPr/>
          <p:nvPr/>
        </p:nvSpPr>
        <p:spPr>
          <a:xfrm>
            <a:off x="548640" y="1737360"/>
            <a:ext cx="6309360"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 name="icon-bg"/>
          <p:cNvSpPr/>
          <p:nvPr/>
        </p:nvSpPr>
        <p:spPr>
          <a:xfrm>
            <a:off x="713232" y="1984248"/>
            <a:ext cx="493776" cy="493776"/>
          </a:xfrm>
          <a:prstGeom prst="ellipse">
            <a:avLst/>
          </a:prstGeom>
          <a:solidFill>
            <a:srgbClr val="141414"/>
          </a:solidFill>
          <a:ln w="6350">
            <a:solidFill>
              <a:srgbClr val="141414"/>
            </a:solidFill>
            <a:prstDash val="solid"/>
          </a:ln>
        </p:spPr>
      </p:sp>
      <p:pic>
        <p:nvPicPr>
          <p:cNvPr id="6" name="icon" descr="preencoded.png">    </p:cNvPr>
          <p:cNvPicPr>
            <a:picLocks noChangeAspect="1"/>
          </p:cNvPicPr>
          <p:nvPr/>
        </p:nvPicPr>
        <p:blipFill>
          <a:blip r:embed="rId1"/>
          <a:stretch>
            <a:fillRect/>
          </a:stretch>
        </p:blipFill>
        <p:spPr>
          <a:xfrm>
            <a:off x="831738" y="2102754"/>
            <a:ext cx="256764" cy="256764"/>
          </a:xfrm>
          <a:prstGeom prst="rect">
            <a:avLst/>
          </a:prstGeom>
        </p:spPr>
      </p:pic>
      <p:sp>
        <p:nvSpPr>
          <p:cNvPr id="7" name="text"/>
          <p:cNvSpPr txBox="1"/>
          <p:nvPr/>
        </p:nvSpPr>
        <p:spPr>
          <a:xfrm>
            <a:off x="1371600" y="1865376"/>
            <a:ext cx="530352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Fokus strategis yang lebih tajam</a:t>
            </a:r>
            <a:endParaRPr lang="en-US" sz="1300" dirty="0"/>
          </a:p>
        </p:txBody>
      </p:sp>
      <p:sp>
        <p:nvSpPr>
          <p:cNvPr id="8" name="text"/>
          <p:cNvSpPr txBox="1"/>
          <p:nvPr/>
        </p:nvSpPr>
        <p:spPr>
          <a:xfrm>
            <a:off x="1371600" y="2148840"/>
            <a:ext cx="5303520"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Energi terpusat pada strategy-critical activities sehingga competence dapat naik menjadi distinctive competence.</a:t>
            </a:r>
            <a:endParaRPr lang="en-US" sz="1150" dirty="0"/>
          </a:p>
        </p:txBody>
      </p:sp>
      <p:sp>
        <p:nvSpPr>
          <p:cNvPr id="9" name="card"/>
          <p:cNvSpPr/>
          <p:nvPr/>
        </p:nvSpPr>
        <p:spPr>
          <a:xfrm>
            <a:off x="548640" y="2834640"/>
            <a:ext cx="6309360"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0" name="icon-bg"/>
          <p:cNvSpPr/>
          <p:nvPr/>
        </p:nvSpPr>
        <p:spPr>
          <a:xfrm>
            <a:off x="713232" y="3081528"/>
            <a:ext cx="493776" cy="493776"/>
          </a:xfrm>
          <a:prstGeom prst="ellipse">
            <a:avLst/>
          </a:prstGeom>
          <a:solidFill>
            <a:srgbClr val="141414"/>
          </a:solidFill>
          <a:ln w="6350">
            <a:solidFill>
              <a:srgbClr val="141414"/>
            </a:solidFill>
            <a:prstDash val="solid"/>
          </a:ln>
        </p:spPr>
      </p:sp>
      <p:pic>
        <p:nvPicPr>
          <p:cNvPr id="11" name="icon" descr="preencoded.png">    </p:cNvPr>
          <p:cNvPicPr>
            <a:picLocks noChangeAspect="1"/>
          </p:cNvPicPr>
          <p:nvPr/>
        </p:nvPicPr>
        <p:blipFill>
          <a:blip r:embed="rId2"/>
          <a:stretch>
            <a:fillRect/>
          </a:stretch>
        </p:blipFill>
        <p:spPr>
          <a:xfrm>
            <a:off x="831738" y="3200034"/>
            <a:ext cx="256764" cy="256764"/>
          </a:xfrm>
          <a:prstGeom prst="rect">
            <a:avLst/>
          </a:prstGeom>
        </p:spPr>
      </p:pic>
      <p:sp>
        <p:nvSpPr>
          <p:cNvPr id="12" name="text"/>
          <p:cNvSpPr txBox="1"/>
          <p:nvPr/>
        </p:nvSpPr>
        <p:spPr>
          <a:xfrm>
            <a:off x="1371600" y="2962656"/>
            <a:ext cx="530352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Operasi yang lebih ramping</a:t>
            </a:r>
            <a:endParaRPr lang="en-US" sz="1300" dirty="0"/>
          </a:p>
        </p:txBody>
      </p:sp>
      <p:sp>
        <p:nvSpPr>
          <p:cNvPr id="13" name="text"/>
          <p:cNvSpPr txBox="1"/>
          <p:nvPr/>
        </p:nvSpPr>
        <p:spPr>
          <a:xfrm>
            <a:off x="1371600" y="3246120"/>
            <a:ext cx="5303520"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Birokrasi berkurang, struktur lebih datar, keputusan dan respons pasar lebih cepat; produsen otomotif memangkas siklus model baru.</a:t>
            </a:r>
            <a:endParaRPr lang="en-US" sz="1150" dirty="0"/>
          </a:p>
        </p:txBody>
      </p:sp>
      <p:sp>
        <p:nvSpPr>
          <p:cNvPr id="14" name="card"/>
          <p:cNvSpPr/>
          <p:nvPr/>
        </p:nvSpPr>
        <p:spPr>
          <a:xfrm>
            <a:off x="548640" y="3931920"/>
            <a:ext cx="6309360" cy="987552"/>
          </a:xfrm>
          <a:prstGeom prst="roundRect">
            <a:avLst>
              <a:gd name="adj" fmla="val 1111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5" name="icon-bg"/>
          <p:cNvSpPr/>
          <p:nvPr/>
        </p:nvSpPr>
        <p:spPr>
          <a:xfrm>
            <a:off x="713232" y="4178808"/>
            <a:ext cx="493776" cy="493776"/>
          </a:xfrm>
          <a:prstGeom prst="ellipse">
            <a:avLst/>
          </a:prstGeom>
          <a:solidFill>
            <a:srgbClr val="141414"/>
          </a:solidFill>
          <a:ln w="6350">
            <a:solidFill>
              <a:srgbClr val="141414"/>
            </a:solidFill>
            <a:prstDash val="solid"/>
          </a:ln>
        </p:spPr>
      </p:sp>
      <p:pic>
        <p:nvPicPr>
          <p:cNvPr id="16" name="icon" descr="preencoded.png">    </p:cNvPr>
          <p:cNvPicPr>
            <a:picLocks noChangeAspect="1"/>
          </p:cNvPicPr>
          <p:nvPr/>
        </p:nvPicPr>
        <p:blipFill>
          <a:blip r:embed="rId3"/>
          <a:stretch>
            <a:fillRect/>
          </a:stretch>
        </p:blipFill>
        <p:spPr>
          <a:xfrm>
            <a:off x="831738" y="4297314"/>
            <a:ext cx="256764" cy="256764"/>
          </a:xfrm>
          <a:prstGeom prst="rect">
            <a:avLst/>
          </a:prstGeom>
        </p:spPr>
      </p:pic>
      <p:sp>
        <p:nvSpPr>
          <p:cNvPr id="17" name="text"/>
          <p:cNvSpPr txBox="1"/>
          <p:nvPr/>
        </p:nvSpPr>
        <p:spPr>
          <a:xfrm>
            <a:off x="1371600" y="4059936"/>
            <a:ext cx="5303520"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Arsenal capability yang lebih kuat</a:t>
            </a:r>
            <a:endParaRPr lang="en-US" sz="1300" dirty="0"/>
          </a:p>
        </p:txBody>
      </p:sp>
      <p:sp>
        <p:nvSpPr>
          <p:cNvPr id="18" name="text"/>
          <p:cNvSpPr txBox="1"/>
          <p:nvPr/>
        </p:nvSpPr>
        <p:spPr>
          <a:xfrm>
            <a:off x="1371600" y="4343400"/>
            <a:ext cx="5303520" cy="548640"/>
          </a:xfrm>
          <a:prstGeom prst="rect">
            <a:avLst/>
          </a:prstGeom>
          <a:noFill/>
          <a:ln/>
        </p:spPr>
        <p:txBody>
          <a:bodyPr wrap="square" lIns="0" tIns="0" rIns="0" bIns="0" rtlCol="0" anchor="t"/>
          <a:lstStyle/>
          <a:p>
            <a:pPr algn="l" indent="0" marL="0">
              <a:lnSpc>
                <a:spcPct val="108000"/>
              </a:lnSpc>
              <a:buNone/>
            </a:pPr>
            <a:r>
              <a:rPr lang="en-US" sz="1150" dirty="0">
                <a:solidFill>
                  <a:srgbClr val="6E6E6E"/>
                </a:solidFill>
                <a:latin typeface="Calibri" pitchFamily="34" charset="0"/>
                <a:ea typeface="Calibri" pitchFamily="34" charset="-122"/>
                <a:cs typeface="Calibri" pitchFamily="34" charset="-120"/>
              </a:rPr>
              <a:t>Mitra kelas satu melengkapi capability internal; Boeing, Dell, dan Apple belajar bahwa jaringan pemasok mengungguli R&amp;D pusat.</a:t>
            </a:r>
            <a:endParaRPr lang="en-US" sz="1150" dirty="0"/>
          </a:p>
        </p:txBody>
      </p:sp>
      <p:sp>
        <p:nvSpPr>
          <p:cNvPr id="19" name="card"/>
          <p:cNvSpPr/>
          <p:nvPr/>
        </p:nvSpPr>
        <p:spPr>
          <a:xfrm>
            <a:off x="548640" y="5047488"/>
            <a:ext cx="6309360" cy="1216152"/>
          </a:xfrm>
          <a:prstGeom prst="roundRect">
            <a:avLst>
              <a:gd name="adj" fmla="val 9023"/>
            </a:avLst>
          </a:prstGeom>
          <a:solidFill>
            <a:srgbClr val="D7F544"/>
          </a:solidFill>
          <a:ln w="6350">
            <a:solidFill>
              <a:srgbClr val="D7F544"/>
            </a:solidFill>
            <a:prstDash val="solid"/>
          </a:ln>
        </p:spPr>
      </p:sp>
      <p:sp>
        <p:nvSpPr>
          <p:cNvPr id="20" name="text"/>
          <p:cNvSpPr txBox="1"/>
          <p:nvPr/>
        </p:nvSpPr>
        <p:spPr>
          <a:xfrm>
            <a:off x="749808" y="5138928"/>
            <a:ext cx="5907024" cy="105156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Batas (Bab 6).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Jangan berlebihan: perusahaan tidak dapat menjadi master of its own destiny bila kehilangan expertise dan kedalaman sumber daya pada aktivitas yang menopang keunggulan jangka panjang. Pertanyaan kuncinya bukan “bisakah di-outsource?”, melainkan “apakah aktivitas ini inti dari strategi kami?”</a:t>
            </a:r>
            <a:endParaRPr lang="en-US" sz="1150" dirty="0"/>
          </a:p>
        </p:txBody>
      </p:sp>
      <p:sp>
        <p:nvSpPr>
          <p:cNvPr id="21" name="card"/>
          <p:cNvSpPr/>
          <p:nvPr/>
        </p:nvSpPr>
        <p:spPr>
          <a:xfrm>
            <a:off x="7040880" y="1737360"/>
            <a:ext cx="4602175" cy="3291840"/>
          </a:xfrm>
          <a:prstGeom prst="roundRect">
            <a:avLst>
              <a:gd name="adj" fmla="val 3333"/>
            </a:avLst>
          </a:prstGeom>
          <a:solidFill>
            <a:srgbClr val="141414"/>
          </a:solidFill>
          <a:ln w="6350">
            <a:solidFill>
              <a:srgbClr val="141414"/>
            </a:solidFill>
            <a:prstDash val="solid"/>
          </a:ln>
        </p:spPr>
      </p:sp>
      <p:sp>
        <p:nvSpPr>
          <p:cNvPr id="22" name="text"/>
          <p:cNvSpPr txBox="1"/>
          <p:nvPr/>
        </p:nvSpPr>
        <p:spPr>
          <a:xfrm>
            <a:off x="7242048" y="1901952"/>
            <a:ext cx="4199839"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D7F544"/>
                </a:solidFill>
                <a:latin typeface="Arial" pitchFamily="34" charset="0"/>
                <a:ea typeface="Arial" pitchFamily="34" charset="-122"/>
                <a:cs typeface="Arial" pitchFamily="34" charset="-120"/>
              </a:rPr>
              <a:t>APPLE (IC 10.4)</a:t>
            </a:r>
            <a:endParaRPr lang="en-US" sz="1200" dirty="0"/>
          </a:p>
        </p:txBody>
      </p:sp>
      <p:sp>
        <p:nvSpPr>
          <p:cNvPr id="23" name="text"/>
          <p:cNvSpPr txBox="1"/>
          <p:nvPr/>
        </p:nvSpPr>
        <p:spPr>
          <a:xfrm>
            <a:off x="7242048" y="2240280"/>
            <a:ext cx="4199839" cy="2743200"/>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Internal: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inovasi, desain (Industrial Design Group), dan new product development sebagai core competencies.</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Outsource: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manufaktur ke contract manufacturer di Asia; Foxconn mempekerjakan 1,3 juta orang (2023) dan mampu merekrut 3.000 orang seketika. Volume dan kas Apple membeli perlakuan istimewa.</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Biaya: </a:t>
            </a:r>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kendali langsung berkurang (kondisi kerja, protes buruh) sehingga standar pemasok diperketat dan produksi mulai didiversifikasi ke luar Tiongkok.</a:t>
            </a:r>
            <a:endParaRPr lang="en-US" sz="1150" dirty="0"/>
          </a:p>
        </p:txBody>
      </p:sp>
      <p:sp>
        <p:nvSpPr>
          <p:cNvPr id="24" name="card"/>
          <p:cNvSpPr/>
          <p:nvPr/>
        </p:nvSpPr>
        <p:spPr>
          <a:xfrm>
            <a:off x="7040880" y="5166360"/>
            <a:ext cx="4602175" cy="1188720"/>
          </a:xfrm>
          <a:prstGeom prst="roundRect">
            <a:avLst>
              <a:gd name="adj" fmla="val 923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25" name="text"/>
          <p:cNvSpPr txBox="1"/>
          <p:nvPr/>
        </p:nvSpPr>
        <p:spPr>
          <a:xfrm>
            <a:off x="7242048" y="5257800"/>
            <a:ext cx="4199839" cy="1051560"/>
          </a:xfrm>
          <a:prstGeom prst="rect">
            <a:avLst/>
          </a:prstGeom>
          <a:noFill/>
          <a:ln/>
        </p:spPr>
        <p:txBody>
          <a:bodyPr wrap="square" lIns="0" tIns="0" rIns="0" bIns="0" rtlCol="0" anchor="t"/>
          <a:lstStyle/>
          <a:p>
            <a:pPr algn="l" indent="0" marL="0">
              <a:lnSpc>
                <a:spcPct val="108000"/>
              </a:lnSpc>
              <a:buNone/>
            </a:pPr>
            <a:r>
              <a:rPr lang="en-US" sz="1100" b="1" dirty="0">
                <a:solidFill>
                  <a:srgbClr val="1C1C1C"/>
                </a:solidFill>
                <a:latin typeface="Calibri" pitchFamily="34" charset="0"/>
                <a:ea typeface="Calibri" pitchFamily="34" charset="-122"/>
                <a:cs typeface="Calibri" pitchFamily="34" charset="-120"/>
              </a:rPr>
              <a:t>Pola serupa: </a:t>
            </a:r>
            <a:pPr algn="l" indent="0" marL="0">
              <a:lnSpc>
                <a:spcPct val="108000"/>
              </a:lnSpc>
              <a:buNone/>
            </a:pPr>
            <a:r>
              <a:rPr lang="en-US" sz="1100" dirty="0">
                <a:solidFill>
                  <a:srgbClr val="1C1C1C"/>
                </a:solidFill>
                <a:latin typeface="Calibri" pitchFamily="34" charset="0"/>
                <a:ea typeface="Calibri" pitchFamily="34" charset="-122"/>
                <a:cs typeface="Calibri" pitchFamily="34" charset="-120"/>
              </a:rPr>
              <a:t>83% dari 10 perusahaan farmasi terbesar meng-outsource clinical data management, bukan perencanaan produk; Nike menyerahkan hampir seluruh produksi namun memegang desain, pemasaran, dan distribusi; Broadcom meng-outsource fabrikasi chip agar fokus pada R&amp;D.</a:t>
            </a:r>
            <a:endParaRPr lang="en-US" sz="11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04  ·  STRUCTURING THE ORGANIZATION  ·  KEPUTUSAN 2</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EMPAT TIPE STRUKTUR DAN KAPAN MASING-MASING TEPAT</a:t>
            </a:r>
            <a:endParaRPr lang="en-US" sz="2400" dirty="0"/>
          </a:p>
        </p:txBody>
      </p:sp>
      <p:sp>
        <p:nvSpPr>
          <p:cNvPr id="4" name="text"/>
          <p:cNvSpPr txBox="1"/>
          <p:nvPr/>
        </p:nvSpPr>
        <p:spPr>
          <a:xfrm>
            <a:off x="548640" y="1691640"/>
            <a:ext cx="11094415" cy="457200"/>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Prinsip: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jadikan strategy-critical activities sebagai building blocks utama struktur. Tipe struktur ditentukan terutama oleh ukuran dan susunan bisnis, dan berevolusi seiring pertumbuhan.</a:t>
            </a:r>
            <a:endParaRPr lang="en-US" sz="1200" dirty="0"/>
          </a:p>
        </p:txBody>
      </p:sp>
      <p:sp>
        <p:nvSpPr>
          <p:cNvPr id="5" name="card"/>
          <p:cNvSpPr/>
          <p:nvPr/>
        </p:nvSpPr>
        <p:spPr>
          <a:xfrm>
            <a:off x="548640" y="2240280"/>
            <a:ext cx="2663876" cy="3749040"/>
          </a:xfrm>
          <a:prstGeom prst="roundRect">
            <a:avLst>
              <a:gd name="adj" fmla="val 411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6" name="text"/>
          <p:cNvSpPr txBox="1"/>
          <p:nvPr/>
        </p:nvSpPr>
        <p:spPr>
          <a:xfrm>
            <a:off x="713232" y="2368296"/>
            <a:ext cx="2334692"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Simple Structure</a:t>
            </a:r>
            <a:endParaRPr lang="en-US" sz="1300" dirty="0"/>
          </a:p>
        </p:txBody>
      </p:sp>
      <p:sp>
        <p:nvSpPr>
          <p:cNvPr id="7" name="text"/>
          <p:cNvSpPr txBox="1"/>
          <p:nvPr/>
        </p:nvSpPr>
        <p:spPr>
          <a:xfrm>
            <a:off x="713232" y="2642616"/>
            <a:ext cx="2334692" cy="228600"/>
          </a:xfrm>
          <a:prstGeom prst="rect">
            <a:avLst/>
          </a:prstGeom>
          <a:noFill/>
          <a:ln/>
        </p:spPr>
        <p:txBody>
          <a:bodyPr wrap="square" lIns="0" tIns="0" rIns="0" bIns="0" rtlCol="0" anchor="t"/>
          <a:lstStyle/>
          <a:p>
            <a:pPr algn="l" indent="0" marL="0">
              <a:lnSpc>
                <a:spcPct val="108000"/>
              </a:lnSpc>
              <a:buNone/>
            </a:pPr>
            <a:r>
              <a:rPr lang="en-US" sz="950" i="1" dirty="0">
                <a:solidFill>
                  <a:srgbClr val="6E6E6E"/>
                </a:solidFill>
                <a:latin typeface="Calibri" pitchFamily="34" charset="0"/>
                <a:ea typeface="Calibri" pitchFamily="34" charset="-122"/>
                <a:cs typeface="Calibri" pitchFamily="34" charset="-120"/>
              </a:rPr>
              <a:t>line-and-staff / flat</a:t>
            </a:r>
            <a:endParaRPr lang="en-US" sz="950" dirty="0"/>
          </a:p>
        </p:txBody>
      </p:sp>
      <p:sp>
        <p:nvSpPr>
          <p:cNvPr id="8" name="text"/>
          <p:cNvSpPr txBox="1"/>
          <p:nvPr/>
        </p:nvSpPr>
        <p:spPr>
          <a:xfrm>
            <a:off x="713232" y="2926080"/>
            <a:ext cx="2334692" cy="2971800"/>
          </a:xfrm>
          <a:prstGeom prst="rect">
            <a:avLst/>
          </a:prstGeom>
          <a:noFill/>
          <a:ln/>
        </p:spPr>
        <p:txBody>
          <a:bodyPr wrap="square" lIns="0" tIns="0" rIns="0" bIns="0" rtlCol="0" anchor="t"/>
          <a:lstStyle/>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BENTUK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Eksekutif pusat (sering owner-manager) menangani keputusan utama dibantu staf kecil; sedikit aturan, hubungan informal.</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COCOK UNTUK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Perusahaan kecil dan entrepreneurial startup</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KEUNGGULAN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Biaya administrasi rendah, fleksibel, keputusan cepat, mendorong kreativitas</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KELEMAHAN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Tidak memadai ketika ukuran dan kompleksitas bertambah</a:t>
            </a:r>
            <a:endParaRPr lang="en-US" sz="1000" dirty="0"/>
          </a:p>
        </p:txBody>
      </p:sp>
      <p:sp>
        <p:nvSpPr>
          <p:cNvPr id="9" name="card"/>
          <p:cNvSpPr/>
          <p:nvPr/>
        </p:nvSpPr>
        <p:spPr>
          <a:xfrm>
            <a:off x="3358820" y="2240280"/>
            <a:ext cx="2663876" cy="3749040"/>
          </a:xfrm>
          <a:prstGeom prst="roundRect">
            <a:avLst>
              <a:gd name="adj" fmla="val 4119"/>
            </a:avLst>
          </a:prstGeom>
          <a:solidFill>
            <a:srgbClr val="D7F544"/>
          </a:solidFill>
          <a:ln w="6350">
            <a:solidFill>
              <a:srgbClr val="D7F544"/>
            </a:solidFill>
            <a:prstDash val="solid"/>
          </a:ln>
        </p:spPr>
      </p:sp>
      <p:sp>
        <p:nvSpPr>
          <p:cNvPr id="10" name="text"/>
          <p:cNvSpPr txBox="1"/>
          <p:nvPr/>
        </p:nvSpPr>
        <p:spPr>
          <a:xfrm>
            <a:off x="3523412" y="2368296"/>
            <a:ext cx="2334692"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Functional Structure</a:t>
            </a:r>
            <a:endParaRPr lang="en-US" sz="1300" dirty="0"/>
          </a:p>
        </p:txBody>
      </p:sp>
      <p:sp>
        <p:nvSpPr>
          <p:cNvPr id="11" name="text"/>
          <p:cNvSpPr txBox="1"/>
          <p:nvPr/>
        </p:nvSpPr>
        <p:spPr>
          <a:xfrm>
            <a:off x="3523412" y="2642616"/>
            <a:ext cx="2334692" cy="228600"/>
          </a:xfrm>
          <a:prstGeom prst="rect">
            <a:avLst/>
          </a:prstGeom>
          <a:noFill/>
          <a:ln/>
        </p:spPr>
        <p:txBody>
          <a:bodyPr wrap="square" lIns="0" tIns="0" rIns="0" bIns="0" rtlCol="0" anchor="t"/>
          <a:lstStyle/>
          <a:p>
            <a:pPr algn="l" indent="0" marL="0">
              <a:lnSpc>
                <a:spcPct val="108000"/>
              </a:lnSpc>
              <a:buNone/>
            </a:pPr>
            <a:r>
              <a:rPr lang="en-US" sz="950" i="1" dirty="0">
                <a:solidFill>
                  <a:srgbClr val="6E6E6E"/>
                </a:solidFill>
                <a:latin typeface="Calibri" pitchFamily="34" charset="0"/>
                <a:ea typeface="Calibri" pitchFamily="34" charset="-122"/>
                <a:cs typeface="Calibri" pitchFamily="34" charset="-120"/>
              </a:rPr>
              <a:t>departmental / U-form</a:t>
            </a:r>
            <a:endParaRPr lang="en-US" sz="950" dirty="0"/>
          </a:p>
        </p:txBody>
      </p:sp>
      <p:sp>
        <p:nvSpPr>
          <p:cNvPr id="12" name="text"/>
          <p:cNvSpPr txBox="1"/>
          <p:nvPr/>
        </p:nvSpPr>
        <p:spPr>
          <a:xfrm>
            <a:off x="3523412" y="2926080"/>
            <a:ext cx="2334692" cy="2971800"/>
          </a:xfrm>
          <a:prstGeom prst="rect">
            <a:avLst/>
          </a:prstGeom>
          <a:noFill/>
          <a:ln/>
        </p:spPr>
        <p:txBody>
          <a:bodyPr wrap="square" lIns="0" tIns="0" rIns="0" bIns="0" rtlCol="0" anchor="t"/>
          <a:lstStyle/>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BENTUK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Departemen per fungsi value chain (R&amp;D, produksi, pemasaran) yang melapor ke CEO dan staf korporat.</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COCOK UNTUK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Perusahaan satu bisnis, apa pun generic strategy-nya; GM kini mengelola semua merek dalam satu struktur fungsional</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KEUNGGULAN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Spesialisasi tugas mendorong learning, scale economies, dan produktivitas</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KELEMAHAN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Sekat departemen menghambat arus informasi dan koordinasi lintas fungsi</a:t>
            </a:r>
            <a:endParaRPr lang="en-US" sz="1000" dirty="0"/>
          </a:p>
        </p:txBody>
      </p:sp>
      <p:sp>
        <p:nvSpPr>
          <p:cNvPr id="13" name="card"/>
          <p:cNvSpPr/>
          <p:nvPr/>
        </p:nvSpPr>
        <p:spPr>
          <a:xfrm>
            <a:off x="6169000" y="2240280"/>
            <a:ext cx="2663876" cy="3749040"/>
          </a:xfrm>
          <a:prstGeom prst="roundRect">
            <a:avLst>
              <a:gd name="adj" fmla="val 4119"/>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4" name="text"/>
          <p:cNvSpPr txBox="1"/>
          <p:nvPr/>
        </p:nvSpPr>
        <p:spPr>
          <a:xfrm>
            <a:off x="6333592" y="2368296"/>
            <a:ext cx="2334692" cy="274320"/>
          </a:xfrm>
          <a:prstGeom prst="rect">
            <a:avLst/>
          </a:prstGeom>
          <a:noFill/>
          <a:ln/>
        </p:spPr>
        <p:txBody>
          <a:bodyPr wrap="square" lIns="0" tIns="0" rIns="0" bIns="0" rtlCol="0" anchor="t"/>
          <a:lstStyle/>
          <a:p>
            <a:pPr algn="l" indent="0" marL="0">
              <a:lnSpc>
                <a:spcPct val="108000"/>
              </a:lnSpc>
              <a:buNone/>
            </a:pPr>
            <a:r>
              <a:rPr lang="en-US" sz="1300" b="1" dirty="0">
                <a:solidFill>
                  <a:srgbClr val="1C1C1C"/>
                </a:solidFill>
                <a:latin typeface="Arial" pitchFamily="34" charset="0"/>
                <a:ea typeface="Arial" pitchFamily="34" charset="-122"/>
                <a:cs typeface="Arial" pitchFamily="34" charset="-120"/>
              </a:rPr>
              <a:t>Multidivisional Structure</a:t>
            </a:r>
            <a:endParaRPr lang="en-US" sz="1300" dirty="0"/>
          </a:p>
        </p:txBody>
      </p:sp>
      <p:sp>
        <p:nvSpPr>
          <p:cNvPr id="15" name="text"/>
          <p:cNvSpPr txBox="1"/>
          <p:nvPr/>
        </p:nvSpPr>
        <p:spPr>
          <a:xfrm>
            <a:off x="6333592" y="2642616"/>
            <a:ext cx="2334692" cy="228600"/>
          </a:xfrm>
          <a:prstGeom prst="rect">
            <a:avLst/>
          </a:prstGeom>
          <a:noFill/>
          <a:ln/>
        </p:spPr>
        <p:txBody>
          <a:bodyPr wrap="square" lIns="0" tIns="0" rIns="0" bIns="0" rtlCol="0" anchor="t"/>
          <a:lstStyle/>
          <a:p>
            <a:pPr algn="l" indent="0" marL="0">
              <a:lnSpc>
                <a:spcPct val="108000"/>
              </a:lnSpc>
              <a:buNone/>
            </a:pPr>
            <a:r>
              <a:rPr lang="en-US" sz="950" i="1" dirty="0">
                <a:solidFill>
                  <a:srgbClr val="6E6E6E"/>
                </a:solidFill>
                <a:latin typeface="Calibri" pitchFamily="34" charset="0"/>
                <a:ea typeface="Calibri" pitchFamily="34" charset="-122"/>
                <a:cs typeface="Calibri" pitchFamily="34" charset="-120"/>
              </a:rPr>
              <a:t>divisional / M-form</a:t>
            </a:r>
            <a:endParaRPr lang="en-US" sz="950" dirty="0"/>
          </a:p>
        </p:txBody>
      </p:sp>
      <p:sp>
        <p:nvSpPr>
          <p:cNvPr id="16" name="text"/>
          <p:cNvSpPr txBox="1"/>
          <p:nvPr/>
        </p:nvSpPr>
        <p:spPr>
          <a:xfrm>
            <a:off x="6333592" y="2926080"/>
            <a:ext cx="2334692" cy="2971800"/>
          </a:xfrm>
          <a:prstGeom prst="rect">
            <a:avLst/>
          </a:prstGeom>
          <a:noFill/>
          <a:ln/>
        </p:spPr>
        <p:txBody>
          <a:bodyPr wrap="square" lIns="0" tIns="0" rIns="0" bIns="0" rtlCol="0" anchor="t"/>
          <a:lstStyle/>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BENTUK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Divisi berbasis produk, pelanggan, atau geografi sebagai profit center (SBU), dengan kantor pusat yang mengalokasikan sumber daya dan mengendalikan.</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COCOK UNTUK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Diversifikasi, strategi internasional, dan integrasi vertikal</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KEUNGGULAN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Mengurangi information overload, memperjelas akuntabilitas, menyelaraskan insentif</a:t>
            </a:r>
            <a:endParaRPr lang="en-US" sz="1000" dirty="0"/>
          </a:p>
          <a:p>
            <a:pPr algn="l" indent="0" marL="0">
              <a:lnSpc>
                <a:spcPct val="108000"/>
              </a:lnSpc>
              <a:buNone/>
            </a:pPr>
            <a:r>
              <a:rPr lang="en-US" sz="850" b="1" spc="100" kern="0" dirty="0">
                <a:solidFill>
                  <a:srgbClr val="6E6E6E"/>
                </a:solidFill>
                <a:latin typeface="Arial" pitchFamily="34" charset="0"/>
                <a:ea typeface="Arial" pitchFamily="34" charset="-122"/>
                <a:cs typeface="Arial" pitchFamily="34" charset="-120"/>
              </a:rPr>
              <a:t>KELEMAHAN
</a:t>
            </a:r>
            <a:pPr algn="l" indent="0" marL="0">
              <a:lnSpc>
                <a:spcPct val="108000"/>
              </a:lnSpc>
              <a:spcAft>
                <a:spcPts val="400"/>
              </a:spcAft>
              <a:buNone/>
            </a:pPr>
            <a:r>
              <a:rPr lang="en-US" sz="1000" dirty="0">
                <a:solidFill>
                  <a:srgbClr val="1C1C1C"/>
                </a:solidFill>
                <a:latin typeface="Calibri" pitchFamily="34" charset="0"/>
                <a:ea typeface="Calibri" pitchFamily="34" charset="-122"/>
                <a:cs typeface="Calibri" pitchFamily="34" charset="-120"/>
              </a:rPr>
              <a:t>Unit yang independen menghambat sinergi lintas bisnis pada related diversification</a:t>
            </a:r>
            <a:endParaRPr lang="en-US" sz="1000" dirty="0"/>
          </a:p>
        </p:txBody>
      </p:sp>
      <p:sp>
        <p:nvSpPr>
          <p:cNvPr id="17" name="card"/>
          <p:cNvSpPr/>
          <p:nvPr/>
        </p:nvSpPr>
        <p:spPr>
          <a:xfrm>
            <a:off x="8979179" y="2240280"/>
            <a:ext cx="2663876" cy="3749040"/>
          </a:xfrm>
          <a:prstGeom prst="roundRect">
            <a:avLst>
              <a:gd name="adj" fmla="val 4119"/>
            </a:avLst>
          </a:prstGeom>
          <a:solidFill>
            <a:srgbClr val="141414"/>
          </a:solidFill>
          <a:ln w="6350">
            <a:solidFill>
              <a:srgbClr val="141414"/>
            </a:solidFill>
            <a:prstDash val="solid"/>
          </a:ln>
        </p:spPr>
      </p:sp>
      <p:sp>
        <p:nvSpPr>
          <p:cNvPr id="18" name="text"/>
          <p:cNvSpPr txBox="1"/>
          <p:nvPr/>
        </p:nvSpPr>
        <p:spPr>
          <a:xfrm>
            <a:off x="9143771" y="2368296"/>
            <a:ext cx="2334692" cy="274320"/>
          </a:xfrm>
          <a:prstGeom prst="rect">
            <a:avLst/>
          </a:prstGeom>
          <a:noFill/>
          <a:ln/>
        </p:spPr>
        <p:txBody>
          <a:bodyPr wrap="square" lIns="0" tIns="0" rIns="0" bIns="0" rtlCol="0" anchor="t"/>
          <a:lstStyle/>
          <a:p>
            <a:pPr algn="l" indent="0" marL="0">
              <a:lnSpc>
                <a:spcPct val="108000"/>
              </a:lnSpc>
              <a:buNone/>
            </a:pPr>
            <a:r>
              <a:rPr lang="en-US" sz="1300" b="1" dirty="0">
                <a:solidFill>
                  <a:srgbClr val="D7F544"/>
                </a:solidFill>
                <a:latin typeface="Arial" pitchFamily="34" charset="0"/>
                <a:ea typeface="Arial" pitchFamily="34" charset="-122"/>
                <a:cs typeface="Arial" pitchFamily="34" charset="-120"/>
              </a:rPr>
              <a:t>Matrix Structure</a:t>
            </a:r>
            <a:endParaRPr lang="en-US" sz="1300" dirty="0"/>
          </a:p>
        </p:txBody>
      </p:sp>
      <p:sp>
        <p:nvSpPr>
          <p:cNvPr id="19" name="text"/>
          <p:cNvSpPr txBox="1"/>
          <p:nvPr/>
        </p:nvSpPr>
        <p:spPr>
          <a:xfrm>
            <a:off x="9143771" y="2642616"/>
            <a:ext cx="2334692" cy="228600"/>
          </a:xfrm>
          <a:prstGeom prst="rect">
            <a:avLst/>
          </a:prstGeom>
          <a:noFill/>
          <a:ln/>
        </p:spPr>
        <p:txBody>
          <a:bodyPr wrap="square" lIns="0" tIns="0" rIns="0" bIns="0" rtlCol="0" anchor="t"/>
          <a:lstStyle/>
          <a:p>
            <a:pPr algn="l" indent="0" marL="0">
              <a:lnSpc>
                <a:spcPct val="108000"/>
              </a:lnSpc>
              <a:buNone/>
            </a:pPr>
            <a:r>
              <a:rPr lang="en-US" sz="950" i="1" dirty="0">
                <a:solidFill>
                  <a:srgbClr val="D7F544"/>
                </a:solidFill>
                <a:latin typeface="Calibri" pitchFamily="34" charset="0"/>
                <a:ea typeface="Calibri" pitchFamily="34" charset="-122"/>
                <a:cs typeface="Calibri" pitchFamily="34" charset="-120"/>
              </a:rPr>
              <a:t>composite / combination</a:t>
            </a:r>
            <a:endParaRPr lang="en-US" sz="950" dirty="0"/>
          </a:p>
        </p:txBody>
      </p:sp>
      <p:sp>
        <p:nvSpPr>
          <p:cNvPr id="20" name="text"/>
          <p:cNvSpPr txBox="1"/>
          <p:nvPr/>
        </p:nvSpPr>
        <p:spPr>
          <a:xfrm>
            <a:off x="9143771" y="2926080"/>
            <a:ext cx="2334692" cy="2971800"/>
          </a:xfrm>
          <a:prstGeom prst="rect">
            <a:avLst/>
          </a:prstGeom>
          <a:noFill/>
          <a:ln/>
        </p:spPr>
        <p:txBody>
          <a:bodyPr wrap="square" lIns="0" tIns="0" rIns="0" bIns="0" rtlCol="0" anchor="t"/>
          <a:lstStyle/>
          <a:p>
            <a:pPr algn="l" indent="0" marL="0">
              <a:lnSpc>
                <a:spcPct val="108000"/>
              </a:lnSpc>
              <a:buNone/>
            </a:pPr>
            <a:r>
              <a:rPr lang="en-US" sz="850" b="1" spc="100" kern="0" dirty="0">
                <a:solidFill>
                  <a:srgbClr val="D7F544"/>
                </a:solidFill>
                <a:latin typeface="Arial" pitchFamily="34" charset="0"/>
                <a:ea typeface="Arial" pitchFamily="34" charset="-122"/>
                <a:cs typeface="Arial" pitchFamily="34" charset="-120"/>
              </a:rPr>
              <a:t>BENTUK
</a:t>
            </a:r>
            <a:pPr algn="l" indent="0" marL="0">
              <a:lnSpc>
                <a:spcPct val="108000"/>
              </a:lnSpc>
              <a:spcAft>
                <a:spcPts val="400"/>
              </a:spcAft>
              <a:buNone/>
            </a:pPr>
            <a:r>
              <a:rPr lang="en-US" sz="1000" dirty="0">
                <a:solidFill>
                  <a:srgbClr val="E6E6E6"/>
                </a:solidFill>
                <a:latin typeface="Calibri" pitchFamily="34" charset="0"/>
                <a:ea typeface="Calibri" pitchFamily="34" charset="-122"/>
                <a:cs typeface="Calibri" pitchFamily="34" charset="-120"/>
              </a:rPr>
              <a:t>Dua dimensi atau lebih sekaligus (bisnis, wilayah, fungsi) dengan multiple reporting relationships; versi modern lebih lentur.</a:t>
            </a:r>
            <a:endParaRPr lang="en-US" sz="1000" dirty="0"/>
          </a:p>
          <a:p>
            <a:pPr algn="l" indent="0" marL="0">
              <a:lnSpc>
                <a:spcPct val="108000"/>
              </a:lnSpc>
              <a:buNone/>
            </a:pPr>
            <a:r>
              <a:rPr lang="en-US" sz="850" b="1" spc="100" kern="0" dirty="0">
                <a:solidFill>
                  <a:srgbClr val="D7F544"/>
                </a:solidFill>
                <a:latin typeface="Arial" pitchFamily="34" charset="0"/>
                <a:ea typeface="Arial" pitchFamily="34" charset="-122"/>
                <a:cs typeface="Arial" pitchFamily="34" charset="-120"/>
              </a:rPr>
              <a:t>COCOK UNTUK
</a:t>
            </a:r>
            <a:pPr algn="l" indent="0" marL="0">
              <a:lnSpc>
                <a:spcPct val="108000"/>
              </a:lnSpc>
              <a:spcAft>
                <a:spcPts val="400"/>
              </a:spcAft>
              <a:buNone/>
            </a:pPr>
            <a:r>
              <a:rPr lang="en-US" sz="1000" dirty="0">
                <a:solidFill>
                  <a:srgbClr val="E6E6E6"/>
                </a:solidFill>
                <a:latin typeface="Calibri" pitchFamily="34" charset="0"/>
                <a:ea typeface="Calibri" pitchFamily="34" charset="-122"/>
                <a:cs typeface="Calibri" pitchFamily="34" charset="-120"/>
              </a:rPr>
              <a:t>Manajemen berbasis proyek, proses, atau tim; capability lintas unit; Texas Instruments, Caterpillar, Philips</a:t>
            </a:r>
            <a:endParaRPr lang="en-US" sz="1000" dirty="0"/>
          </a:p>
          <a:p>
            <a:pPr algn="l" indent="0" marL="0">
              <a:lnSpc>
                <a:spcPct val="108000"/>
              </a:lnSpc>
              <a:buNone/>
            </a:pPr>
            <a:r>
              <a:rPr lang="en-US" sz="850" b="1" spc="100" kern="0" dirty="0">
                <a:solidFill>
                  <a:srgbClr val="D7F544"/>
                </a:solidFill>
                <a:latin typeface="Arial" pitchFamily="34" charset="0"/>
                <a:ea typeface="Arial" pitchFamily="34" charset="-122"/>
                <a:cs typeface="Arial" pitchFamily="34" charset="-120"/>
              </a:rPr>
              <a:t>KEUNGGULAN
</a:t>
            </a:r>
            <a:pPr algn="l" indent="0" marL="0">
              <a:lnSpc>
                <a:spcPct val="108000"/>
              </a:lnSpc>
              <a:spcAft>
                <a:spcPts val="400"/>
              </a:spcAft>
              <a:buNone/>
            </a:pPr>
            <a:r>
              <a:rPr lang="en-US" sz="1000" dirty="0">
                <a:solidFill>
                  <a:srgbClr val="E6E6E6"/>
                </a:solidFill>
                <a:latin typeface="Calibri" pitchFamily="34" charset="0"/>
                <a:ea typeface="Calibri" pitchFamily="34" charset="-122"/>
                <a:cs typeface="Calibri" pitchFamily="34" charset="-120"/>
              </a:rPr>
              <a:t>Berbagi sumber daya dan pengetahuan, economies of scope, pengawasan multi-perspektif</a:t>
            </a:r>
            <a:endParaRPr lang="en-US" sz="1000" dirty="0"/>
          </a:p>
          <a:p>
            <a:pPr algn="l" indent="0" marL="0">
              <a:lnSpc>
                <a:spcPct val="108000"/>
              </a:lnSpc>
              <a:buNone/>
            </a:pPr>
            <a:r>
              <a:rPr lang="en-US" sz="850" b="1" spc="100" kern="0" dirty="0">
                <a:solidFill>
                  <a:srgbClr val="D7F544"/>
                </a:solidFill>
                <a:latin typeface="Arial" pitchFamily="34" charset="0"/>
                <a:ea typeface="Arial" pitchFamily="34" charset="-122"/>
                <a:cs typeface="Arial" pitchFamily="34" charset="-120"/>
              </a:rPr>
              <a:t>KELEMAHAN
</a:t>
            </a:r>
            <a:pPr algn="l" indent="0" marL="0">
              <a:lnSpc>
                <a:spcPct val="108000"/>
              </a:lnSpc>
              <a:spcAft>
                <a:spcPts val="400"/>
              </a:spcAft>
              <a:buNone/>
            </a:pPr>
            <a:r>
              <a:rPr lang="en-US" sz="1000" dirty="0">
                <a:solidFill>
                  <a:srgbClr val="E6E6E6"/>
                </a:solidFill>
                <a:latin typeface="Calibri" pitchFamily="34" charset="0"/>
                <a:ea typeface="Calibri" pitchFamily="34" charset="-122"/>
                <a:cs typeface="Calibri" pitchFamily="34" charset="-120"/>
              </a:rPr>
              <a:t>Lapisan manajemen tambahan, dual reporting, dan divided loyalties</a:t>
            </a:r>
            <a:endParaRPr lang="en-US" sz="1000" dirty="0"/>
          </a:p>
        </p:txBody>
      </p:sp>
      <p:sp>
        <p:nvSpPr>
          <p:cNvPr id="21" name="card"/>
          <p:cNvSpPr/>
          <p:nvPr/>
        </p:nvSpPr>
        <p:spPr>
          <a:xfrm>
            <a:off x="548640" y="6080760"/>
            <a:ext cx="2206676" cy="274320"/>
          </a:xfrm>
          <a:prstGeom prst="roundRect">
            <a:avLst>
              <a:gd name="adj" fmla="val 50000"/>
            </a:avLst>
          </a:prstGeom>
          <a:solidFill>
            <a:srgbClr val="E9E9E5"/>
          </a:solidFill>
          <a:ln w="6350">
            <a:solidFill>
              <a:srgbClr val="E9E9E5"/>
            </a:solidFill>
            <a:prstDash val="solid"/>
          </a:ln>
        </p:spPr>
      </p:sp>
      <p:sp>
        <p:nvSpPr>
          <p:cNvPr id="22" name="text"/>
          <p:cNvSpPr txBox="1"/>
          <p:nvPr/>
        </p:nvSpPr>
        <p:spPr>
          <a:xfrm>
            <a:off x="658368" y="6080760"/>
            <a:ext cx="1987220"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1C1C1C"/>
                </a:solidFill>
                <a:latin typeface="Arial" pitchFamily="34" charset="0"/>
                <a:ea typeface="Arial" pitchFamily="34" charset="-122"/>
                <a:cs typeface="Arial" pitchFamily="34" charset="-120"/>
              </a:rPr>
              <a:t>Simple</a:t>
            </a:r>
            <a:endParaRPr lang="en-US" sz="950" dirty="0"/>
          </a:p>
        </p:txBody>
      </p:sp>
      <p:sp>
        <p:nvSpPr>
          <p:cNvPr id="23" name="arrow"/>
          <p:cNvSpPr/>
          <p:nvPr/>
        </p:nvSpPr>
        <p:spPr>
          <a:xfrm>
            <a:off x="2828468" y="6117336"/>
            <a:ext cx="310896" cy="201168"/>
          </a:xfrm>
          <a:prstGeom prst="rightArrow">
            <a:avLst/>
          </a:prstGeom>
          <a:solidFill>
            <a:srgbClr val="6E6E6E"/>
          </a:solidFill>
          <a:ln w="6350">
            <a:solidFill>
              <a:srgbClr val="6E6E6E"/>
            </a:solidFill>
            <a:prstDash val="solid"/>
          </a:ln>
        </p:spPr>
      </p:sp>
      <p:sp>
        <p:nvSpPr>
          <p:cNvPr id="24" name="card"/>
          <p:cNvSpPr/>
          <p:nvPr/>
        </p:nvSpPr>
        <p:spPr>
          <a:xfrm>
            <a:off x="3358820" y="6080760"/>
            <a:ext cx="2206676" cy="274320"/>
          </a:xfrm>
          <a:prstGeom prst="roundRect">
            <a:avLst>
              <a:gd name="adj" fmla="val 50000"/>
            </a:avLst>
          </a:prstGeom>
          <a:solidFill>
            <a:srgbClr val="E9E9E5"/>
          </a:solidFill>
          <a:ln w="6350">
            <a:solidFill>
              <a:srgbClr val="E9E9E5"/>
            </a:solidFill>
            <a:prstDash val="solid"/>
          </a:ln>
        </p:spPr>
      </p:sp>
      <p:sp>
        <p:nvSpPr>
          <p:cNvPr id="25" name="text"/>
          <p:cNvSpPr txBox="1"/>
          <p:nvPr/>
        </p:nvSpPr>
        <p:spPr>
          <a:xfrm>
            <a:off x="3468548" y="6080760"/>
            <a:ext cx="1987220"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1C1C1C"/>
                </a:solidFill>
                <a:latin typeface="Arial" pitchFamily="34" charset="0"/>
                <a:ea typeface="Arial" pitchFamily="34" charset="-122"/>
                <a:cs typeface="Arial" pitchFamily="34" charset="-120"/>
              </a:rPr>
              <a:t>Functional</a:t>
            </a:r>
            <a:endParaRPr lang="en-US" sz="950" dirty="0"/>
          </a:p>
        </p:txBody>
      </p:sp>
      <p:sp>
        <p:nvSpPr>
          <p:cNvPr id="26" name="arrow"/>
          <p:cNvSpPr/>
          <p:nvPr/>
        </p:nvSpPr>
        <p:spPr>
          <a:xfrm>
            <a:off x="5638648" y="6117336"/>
            <a:ext cx="310896" cy="201168"/>
          </a:xfrm>
          <a:prstGeom prst="rightArrow">
            <a:avLst/>
          </a:prstGeom>
          <a:solidFill>
            <a:srgbClr val="6E6E6E"/>
          </a:solidFill>
          <a:ln w="6350">
            <a:solidFill>
              <a:srgbClr val="6E6E6E"/>
            </a:solidFill>
            <a:prstDash val="solid"/>
          </a:ln>
        </p:spPr>
      </p:sp>
      <p:sp>
        <p:nvSpPr>
          <p:cNvPr id="27" name="card"/>
          <p:cNvSpPr/>
          <p:nvPr/>
        </p:nvSpPr>
        <p:spPr>
          <a:xfrm>
            <a:off x="6169000" y="6080760"/>
            <a:ext cx="2206676" cy="274320"/>
          </a:xfrm>
          <a:prstGeom prst="roundRect">
            <a:avLst>
              <a:gd name="adj" fmla="val 50000"/>
            </a:avLst>
          </a:prstGeom>
          <a:solidFill>
            <a:srgbClr val="E9E9E5"/>
          </a:solidFill>
          <a:ln w="6350">
            <a:solidFill>
              <a:srgbClr val="E9E9E5"/>
            </a:solidFill>
            <a:prstDash val="solid"/>
          </a:ln>
        </p:spPr>
      </p:sp>
      <p:sp>
        <p:nvSpPr>
          <p:cNvPr id="28" name="text"/>
          <p:cNvSpPr txBox="1"/>
          <p:nvPr/>
        </p:nvSpPr>
        <p:spPr>
          <a:xfrm>
            <a:off x="6278728" y="6080760"/>
            <a:ext cx="1987220"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1C1C1C"/>
                </a:solidFill>
                <a:latin typeface="Arial" pitchFamily="34" charset="0"/>
                <a:ea typeface="Arial" pitchFamily="34" charset="-122"/>
                <a:cs typeface="Arial" pitchFamily="34" charset="-120"/>
              </a:rPr>
              <a:t>Multidivisional</a:t>
            </a:r>
            <a:endParaRPr lang="en-US" sz="950" dirty="0"/>
          </a:p>
        </p:txBody>
      </p:sp>
      <p:sp>
        <p:nvSpPr>
          <p:cNvPr id="29" name="arrow"/>
          <p:cNvSpPr/>
          <p:nvPr/>
        </p:nvSpPr>
        <p:spPr>
          <a:xfrm>
            <a:off x="8448827" y="6117336"/>
            <a:ext cx="310896" cy="201168"/>
          </a:xfrm>
          <a:prstGeom prst="rightArrow">
            <a:avLst/>
          </a:prstGeom>
          <a:solidFill>
            <a:srgbClr val="6E6E6E"/>
          </a:solidFill>
          <a:ln w="6350">
            <a:solidFill>
              <a:srgbClr val="6E6E6E"/>
            </a:solidFill>
            <a:prstDash val="solid"/>
          </a:ln>
        </p:spPr>
      </p:sp>
      <p:sp>
        <p:nvSpPr>
          <p:cNvPr id="30" name="card"/>
          <p:cNvSpPr/>
          <p:nvPr/>
        </p:nvSpPr>
        <p:spPr>
          <a:xfrm>
            <a:off x="8979179" y="6080760"/>
            <a:ext cx="2206676" cy="274320"/>
          </a:xfrm>
          <a:prstGeom prst="roundRect">
            <a:avLst>
              <a:gd name="adj" fmla="val 50000"/>
            </a:avLst>
          </a:prstGeom>
          <a:solidFill>
            <a:srgbClr val="141414"/>
          </a:solidFill>
          <a:ln w="6350">
            <a:solidFill>
              <a:srgbClr val="141414"/>
            </a:solidFill>
            <a:prstDash val="solid"/>
          </a:ln>
        </p:spPr>
      </p:sp>
      <p:sp>
        <p:nvSpPr>
          <p:cNvPr id="31" name="text"/>
          <p:cNvSpPr txBox="1"/>
          <p:nvPr/>
        </p:nvSpPr>
        <p:spPr>
          <a:xfrm>
            <a:off x="9088907" y="6080760"/>
            <a:ext cx="1987220" cy="274320"/>
          </a:xfrm>
          <a:prstGeom prst="rect">
            <a:avLst/>
          </a:prstGeom>
          <a:noFill/>
          <a:ln/>
        </p:spPr>
        <p:txBody>
          <a:bodyPr wrap="square" lIns="0" tIns="0" rIns="0" bIns="0" rtlCol="0" anchor="ctr"/>
          <a:lstStyle/>
          <a:p>
            <a:pPr algn="ctr" indent="0" marL="0">
              <a:lnSpc>
                <a:spcPct val="108000"/>
              </a:lnSpc>
              <a:buNone/>
            </a:pPr>
            <a:r>
              <a:rPr lang="en-US" sz="950" b="1" dirty="0">
                <a:solidFill>
                  <a:srgbClr val="D7F544"/>
                </a:solidFill>
                <a:latin typeface="Arial" pitchFamily="34" charset="0"/>
                <a:ea typeface="Arial" pitchFamily="34" charset="-122"/>
                <a:cs typeface="Arial" pitchFamily="34" charset="-120"/>
              </a:rPr>
              <a:t>Matrix</a:t>
            </a:r>
            <a:endParaRPr lang="en-US" sz="9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04  ·  STRUCTURING THE ORGANIZATION  ·  KEPUTUSAN 3  ·  TABLE 10.1 (DIGAMBAR ULANG)</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SENTRALISASI ATAU DESENTRALISASI KEPUTUSAN</a:t>
            </a:r>
            <a:endParaRPr lang="en-US" sz="2400" dirty="0"/>
          </a:p>
        </p:txBody>
      </p:sp>
      <p:graphicFrame>
        <p:nvGraphicFramePr>
          <p:cNvPr id="17" name="Table 10.1"/>
          <p:cNvGraphicFramePr>
            <a:graphicFrameLocks noGrp="1"/>
          </p:cNvGraphicFramePr>
          <p:nvPr>
            <p:extLst>
              <p:ext uri="{D42A27DB-BD31-4B8C-83A1-F6EECF244321}">
                <p14:modId xmlns:p14="http://schemas.microsoft.com/office/powerpoint/2010/main" val="1579011935"/>
              </p:ext>
            </p:extLst>
          </p:nvPr>
        </p:nvGraphicFramePr>
        <p:xfrm>
          <a:off x="548640" y="1737360"/>
          <a:ext cx="7955280" cy="914400"/>
        </p:xfrm>
        <a:graphic>
          <a:graphicData uri="http://schemas.openxmlformats.org/drawingml/2006/table">
            <a:tbl>
              <a:tblPr/>
              <a:tblGrid>
                <a:gridCol w="3977640"/>
                <a:gridCol w="3977640"/>
              </a:tblGrid>
              <a:tr h="0">
                <a:tc>
                  <a:txBody>
                    <a:bodyPr/>
                    <a:lstStyle/>
                    <a:p>
                      <a:pPr indent="0" marL="0">
                        <a:buNone/>
                      </a:pPr>
                      <a:r>
                        <a:rPr lang="en-US" sz="1150" b="1" dirty="0">
                          <a:solidFill>
                            <a:srgbClr val="D7F544"/>
                          </a:solidFill>
                          <a:latin typeface="Arial" pitchFamily="34" charset="0"/>
                          <a:ea typeface="Arial" pitchFamily="34" charset="-122"/>
                          <a:cs typeface="Arial" pitchFamily="34" charset="-120"/>
                        </a:rPr>
                        <a:t>Centralized Organizational Structures</a:t>
                      </a:r>
                      <a:endParaRPr lang="en-US" sz="1150" dirty="0">
                        <a:latin typeface="Arial" charset="0"/>
                        <a:ea typeface="Arial" charset="0"/>
                        <a:cs typeface="Arial" charset="0"/>
                      </a:endParaRPr>
                    </a:p>
                  </a:txBody>
                  <a:tcPr marL="101600" marR="101600" marT="76200" marB="76200">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141414"/>
                    </a:solidFill>
                  </a:tcPr>
                </a:tc>
                <a:tc>
                  <a:txBody>
                    <a:bodyPr/>
                    <a:lstStyle/>
                    <a:p>
                      <a:pPr indent="0" marL="0">
                        <a:buNone/>
                      </a:pPr>
                      <a:r>
                        <a:rPr lang="en-US" sz="1150" b="1" dirty="0">
                          <a:solidFill>
                            <a:srgbClr val="141414"/>
                          </a:solidFill>
                          <a:latin typeface="Arial" pitchFamily="34" charset="0"/>
                          <a:ea typeface="Arial" pitchFamily="34" charset="-122"/>
                          <a:cs typeface="Arial" pitchFamily="34" charset="-120"/>
                        </a:rPr>
                        <a:t>Decentralized Organizational Structures</a:t>
                      </a:r>
                      <a:endParaRPr lang="en-US" sz="1150" dirty="0">
                        <a:latin typeface="Arial" charset="0"/>
                        <a:ea typeface="Arial" charset="0"/>
                        <a:cs typeface="Arial" charset="0"/>
                      </a:endParaRPr>
                    </a:p>
                  </a:txBody>
                  <a:tcPr marL="101600" marR="101600" marT="76200" marB="76200">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D7F544"/>
                    </a:solidFill>
                  </a:tcPr>
                </a:tc>
              </a:tr>
              <a:tr h="0">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BASIC TENETS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Keputusan penting berada di tangan manajemen puncak yang memiliki pengalaman, keahlian, dan judgment</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Personel lini bawah tidak memiliki pengetahuan, waktu, atau kecenderungan untuk mengelola tugasnya secara tepat</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Kontrol kuat dari atas adalah cara paling efektif mengoordinasikan tindakan</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BASIC TENETS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Wewenang keputusan diletakkan pada orang yang paling dekat dan paling memahami situasi</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Pemegang wewenang dilatih untuk menilai dengan baik</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Perusahaan yang memanfaatkan intellectual capital gabungan seluruh karyawan mengungguli perusahaan command-and-control</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r>
              <a:tr h="0">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CHIEF ADVANTAGES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Akuntabilitas jelas melalui kontrol ketat dari puncak</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Menghilangkan potensi konflik tujuan dan tindakan antarmanajer bawah</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Keputusan cepat dan kepemimpinan kuat dalam situasi krisis</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CHIEF ADVANTAGES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Mendorong karyawan berinisiatif dan bertanggung jawab</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Motivasi dan keterlibatan lebih besar</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Memicu ide baru dan pemikiran kreatif</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Respons cepat terhadap perubahan pasar</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Lapisan manajemen lebih sedikit</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r>
              <a:tr h="0">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PRIMARY DISADVANTAGES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Waktu respons lebih lama karena yang terdekat dengan pasar harus menunggu persetujuan</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Tidak mendorong tanggung jawab manajer bawah dan karyawan</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Mematikan inisiatif di lini bawah</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c>
                  <a:txBody>
                    <a:bodyPr/>
                    <a:lstStyle/>
                    <a:p>
                      <a:pPr indent="0" marL="0">
                        <a:buNone/>
                      </a:pPr>
                      <a:r>
                        <a:rPr lang="en-US" sz="850" b="1" spc="100" kern="0" dirty="0">
                          <a:solidFill>
                            <a:srgbClr val="6E6E6E"/>
                          </a:solidFill>
                          <a:latin typeface="Arial" pitchFamily="34" charset="0"/>
                          <a:ea typeface="Arial" pitchFamily="34" charset="-122"/>
                          <a:cs typeface="Arial" pitchFamily="34" charset="-120"/>
                        </a:rPr>
                        <a:t>PRIMARY DISADVANTAGES
</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Manajer atas dapat tidak mengetahui tindakan personel yang diberdayakan</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Pendekatan yang tidak konsisten atau saling bertentangan antarmanajer</a:t>
                      </a:r>
                      <a:endParaRPr lang="en-US" sz="1000" dirty="0">
                        <a:latin typeface="Calibri" charset="0"/>
                        <a:ea typeface="Calibri" charset="0"/>
                        <a:cs typeface="Calibri" charset="0"/>
                      </a:endParaRPr>
                    </a:p>
                    <a:p>
                      <a:pPr marL="127000" indent="-127000">
                        <a:spcAft>
                          <a:spcPts val="200"/>
                        </a:spcAft>
                        <a:buSzPct val="100000"/>
                        <a:buChar char="•"/>
                      </a:pPr>
                      <a:r>
                        <a:rPr lang="en-US" sz="1000" dirty="0">
                          <a:solidFill>
                            <a:srgbClr val="1C1C1C"/>
                          </a:solidFill>
                          <a:latin typeface="Calibri" pitchFamily="34" charset="0"/>
                          <a:ea typeface="Calibri" pitchFamily="34" charset="-122"/>
                          <a:cs typeface="Calibri" pitchFamily="34" charset="-120"/>
                        </a:rPr>
                        <a:t>Dapat mengganggu kolaborasi lintas unit</a:t>
                      </a:r>
                      <a:endParaRPr lang="en-US" sz="1000" dirty="0">
                        <a:latin typeface="Calibri" charset="0"/>
                        <a:ea typeface="Calibri" charset="0"/>
                        <a:cs typeface="Calibri" charset="0"/>
                      </a:endParaRPr>
                    </a:p>
                  </a:txBody>
                  <a:tcPr marL="88900" marR="88900" marT="63500" marB="63500" anchor="t">
                    <a:lnL w="9525" cap="flat" cmpd="sng" algn="ctr">
                      <a:solidFill>
                        <a:srgbClr val="E2E2DE"/>
                      </a:solidFill>
                      <a:prstDash val="solid"/>
                      <a:round/>
                      <a:headEnd type="none" w="med" len="med"/>
                      <a:tailEnd type="none" w="med" len="med"/>
                    </a:lnL>
                    <a:lnR w="9525" cap="flat" cmpd="sng" algn="ctr">
                      <a:solidFill>
                        <a:srgbClr val="E2E2DE"/>
                      </a:solidFill>
                      <a:prstDash val="solid"/>
                      <a:round/>
                      <a:headEnd type="none" w="med" len="med"/>
                      <a:tailEnd type="none" w="med" len="med"/>
                    </a:lnR>
                    <a:lnT w="9525" cap="flat" cmpd="sng" algn="ctr">
                      <a:solidFill>
                        <a:srgbClr val="E2E2DE"/>
                      </a:solidFill>
                      <a:prstDash val="solid"/>
                      <a:round/>
                      <a:headEnd type="none" w="med" len="med"/>
                      <a:tailEnd type="none" w="med" len="med"/>
                    </a:lnT>
                    <a:lnB w="9525" cap="flat" cmpd="sng" algn="ctr">
                      <a:solidFill>
                        <a:srgbClr val="E2E2DE"/>
                      </a:solidFill>
                      <a:prstDash val="solid"/>
                      <a:round/>
                      <a:headEnd type="none" w="med" len="med"/>
                      <a:tailEnd type="none" w="med" len="med"/>
                    </a:lnB>
                    <a:solidFill>
                      <a:srgbClr val="FFFFFF"/>
                    </a:solidFill>
                  </a:tcPr>
                </a:tc>
              </a:tr>
            </a:tbl>
          </a:graphicData>
        </a:graphic>
      </p:graphicFrame>
      <p:sp>
        <p:nvSpPr>
          <p:cNvPr id="5" name="card"/>
          <p:cNvSpPr/>
          <p:nvPr/>
        </p:nvSpPr>
        <p:spPr>
          <a:xfrm>
            <a:off x="8686800" y="1737360"/>
            <a:ext cx="2956255" cy="2194560"/>
          </a:xfrm>
          <a:prstGeom prst="roundRect">
            <a:avLst>
              <a:gd name="adj" fmla="val 500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6" name="text"/>
          <p:cNvSpPr txBox="1"/>
          <p:nvPr/>
        </p:nvSpPr>
        <p:spPr>
          <a:xfrm>
            <a:off x="8869680" y="1865376"/>
            <a:ext cx="2590495" cy="411480"/>
          </a:xfrm>
          <a:prstGeom prst="rect">
            <a:avLst/>
          </a:prstGeom>
          <a:noFill/>
          <a:ln/>
        </p:spPr>
        <p:txBody>
          <a:bodyPr wrap="square" lIns="0" tIns="0" rIns="0" bIns="0" rtlCol="0" anchor="t"/>
          <a:lstStyle/>
          <a:p>
            <a:pPr algn="l" indent="0" marL="0">
              <a:lnSpc>
                <a:spcPct val="100000"/>
              </a:lnSpc>
              <a:buNone/>
            </a:pPr>
            <a:r>
              <a:rPr lang="en-US" sz="1000" b="1" spc="100" kern="0" dirty="0">
                <a:solidFill>
                  <a:srgbClr val="1C1C1C"/>
                </a:solidFill>
                <a:latin typeface="Arial" pitchFamily="34" charset="0"/>
                <a:ea typeface="Arial" pitchFamily="34" charset="-122"/>
                <a:cs typeface="Arial" pitchFamily="34" charset="-120"/>
              </a:rPr>
              <a:t>MENJAGA KENDALI SAAT MENDELEGASIKAN (HOW)</a:t>
            </a:r>
            <a:endParaRPr lang="en-US" sz="1000" dirty="0"/>
          </a:p>
        </p:txBody>
      </p:sp>
      <p:sp>
        <p:nvSpPr>
          <p:cNvPr id="7" name="text"/>
          <p:cNvSpPr txBox="1"/>
          <p:nvPr/>
        </p:nvSpPr>
        <p:spPr>
          <a:xfrm>
            <a:off x="8869680" y="2304288"/>
            <a:ext cx="2590495" cy="1600200"/>
          </a:xfrm>
          <a:prstGeom prst="rect">
            <a:avLst/>
          </a:prstGeom>
          <a:noFill/>
          <a:ln/>
        </p:spPr>
        <p:txBody>
          <a:bodyPr wrap="square" lIns="0" tIns="0" rIns="0" bIns="0" rtlCol="0" anchor="t"/>
          <a:lstStyle/>
          <a:p>
            <a:pPr algn="l" marL="139700" indent="-139700">
              <a:lnSpc>
                <a:spcPct val="108000"/>
              </a:lnSpc>
              <a:spcAft>
                <a:spcPts val="200"/>
              </a:spcAft>
              <a:buSzPct val="100000"/>
              <a:buChar char="•"/>
            </a:pPr>
            <a:r>
              <a:rPr lang="en-US" sz="1050" dirty="0">
                <a:solidFill>
                  <a:srgbClr val="1C1C1C"/>
                </a:solidFill>
                <a:latin typeface="Calibri" pitchFamily="34" charset="0"/>
                <a:ea typeface="Calibri" pitchFamily="34" charset="-122"/>
                <a:cs typeface="Calibri" pitchFamily="34" charset="-120"/>
              </a:rPr>
              <a:t>Batas wewenang yang jelas</a:t>
            </a:r>
            <a:endParaRPr lang="en-US" sz="1050" dirty="0"/>
          </a:p>
          <a:p>
            <a:pPr algn="l" marL="139700" indent="-139700">
              <a:lnSpc>
                <a:spcPct val="108000"/>
              </a:lnSpc>
              <a:spcAft>
                <a:spcPts val="200"/>
              </a:spcAft>
              <a:buSzPct val="100000"/>
              <a:buChar char="•"/>
            </a:pPr>
            <a:r>
              <a:rPr lang="en-US" sz="1050" dirty="0">
                <a:solidFill>
                  <a:srgbClr val="1C1C1C"/>
                </a:solidFill>
                <a:latin typeface="Calibri" pitchFamily="34" charset="0"/>
                <a:ea typeface="Calibri" pitchFamily="34" charset="-122"/>
                <a:cs typeface="Calibri" pitchFamily="34" charset="-120"/>
              </a:rPr>
              <a:t>Strategic control systems di seluruh perusahaan</a:t>
            </a:r>
            <a:endParaRPr lang="en-US" sz="1050" dirty="0"/>
          </a:p>
          <a:p>
            <a:pPr algn="l" marL="139700" indent="-139700">
              <a:lnSpc>
                <a:spcPct val="108000"/>
              </a:lnSpc>
              <a:spcAft>
                <a:spcPts val="200"/>
              </a:spcAft>
              <a:buSzPct val="100000"/>
              <a:buChar char="•"/>
            </a:pPr>
            <a:r>
              <a:rPr lang="en-US" sz="1050" dirty="0">
                <a:solidFill>
                  <a:srgbClr val="1C1C1C"/>
                </a:solidFill>
                <a:latin typeface="Calibri" pitchFamily="34" charset="0"/>
                <a:ea typeface="Calibri" pitchFamily="34" charset="-122"/>
                <a:cs typeface="Calibri" pitchFamily="34" charset="-120"/>
              </a:rPr>
              <a:t>Akuntabilitas atas keputusan</a:t>
            </a:r>
            <a:endParaRPr lang="en-US" sz="1050" dirty="0"/>
          </a:p>
          <a:p>
            <a:pPr algn="l" marL="139700" indent="-139700">
              <a:lnSpc>
                <a:spcPct val="108000"/>
              </a:lnSpc>
              <a:spcAft>
                <a:spcPts val="200"/>
              </a:spcAft>
              <a:buSzPct val="100000"/>
              <a:buChar char="•"/>
            </a:pPr>
            <a:r>
              <a:rPr lang="en-US" sz="1050" dirty="0">
                <a:solidFill>
                  <a:srgbClr val="1C1C1C"/>
                </a:solidFill>
                <a:latin typeface="Calibri" pitchFamily="34" charset="0"/>
                <a:ea typeface="Calibri" pitchFamily="34" charset="-122"/>
                <a:cs typeface="Calibri" pitchFamily="34" charset="-120"/>
              </a:rPr>
              <a:t>Insentif atas kinerja yang baik</a:t>
            </a:r>
            <a:endParaRPr lang="en-US" sz="1050" dirty="0"/>
          </a:p>
          <a:p>
            <a:pPr algn="l" marL="139700" indent="-139700">
              <a:lnSpc>
                <a:spcPct val="108000"/>
              </a:lnSpc>
              <a:spcAft>
                <a:spcPts val="200"/>
              </a:spcAft>
              <a:buSzPct val="100000"/>
              <a:buChar char="•"/>
            </a:pPr>
            <a:r>
              <a:rPr lang="en-US" sz="1050" dirty="0">
                <a:solidFill>
                  <a:srgbClr val="1C1C1C"/>
                </a:solidFill>
                <a:latin typeface="Calibri" pitchFamily="34" charset="0"/>
                <a:ea typeface="Calibri" pitchFamily="34" charset="-122"/>
                <a:cs typeface="Calibri" pitchFamily="34" charset="-120"/>
              </a:rPr>
              <a:t>Budaya dengan peer pressure untuk bertanggung jawab (Simons, 1995)</a:t>
            </a:r>
            <a:endParaRPr lang="en-US" sz="1050" dirty="0"/>
          </a:p>
        </p:txBody>
      </p:sp>
      <p:sp>
        <p:nvSpPr>
          <p:cNvPr id="8" name="card"/>
          <p:cNvSpPr/>
          <p:nvPr/>
        </p:nvSpPr>
        <p:spPr>
          <a:xfrm>
            <a:off x="8686800" y="4041648"/>
            <a:ext cx="2956255" cy="1005840"/>
          </a:xfrm>
          <a:prstGeom prst="roundRect">
            <a:avLst>
              <a:gd name="adj" fmla="val 10909"/>
            </a:avLst>
          </a:prstGeom>
          <a:solidFill>
            <a:srgbClr val="E9E9E5"/>
          </a:solidFill>
          <a:ln w="6350">
            <a:solidFill>
              <a:srgbClr val="E9E9E5"/>
            </a:solidFill>
            <a:prstDash val="solid"/>
          </a:ln>
        </p:spPr>
      </p:sp>
      <p:sp>
        <p:nvSpPr>
          <p:cNvPr id="9" name="text"/>
          <p:cNvSpPr txBox="1"/>
          <p:nvPr/>
        </p:nvSpPr>
        <p:spPr>
          <a:xfrm>
            <a:off x="8869680" y="4114800"/>
            <a:ext cx="2590495" cy="896112"/>
          </a:xfrm>
          <a:prstGeom prst="rect">
            <a:avLst/>
          </a:prstGeom>
          <a:noFill/>
          <a:ln/>
        </p:spPr>
        <p:txBody>
          <a:bodyPr wrap="square" lIns="0" tIns="0" rIns="0" bIns="0" rtlCol="0" anchor="t"/>
          <a:lstStyle/>
          <a:p>
            <a:pPr algn="l" indent="0" marL="0">
              <a:lnSpc>
                <a:spcPct val="108000"/>
              </a:lnSpc>
              <a:buNone/>
            </a:pPr>
            <a:r>
              <a:rPr lang="en-US" sz="1050" b="1" dirty="0">
                <a:solidFill>
                  <a:srgbClr val="1C1C1C"/>
                </a:solidFill>
                <a:latin typeface="Calibri" pitchFamily="34" charset="0"/>
                <a:ea typeface="Calibri" pitchFamily="34" charset="-122"/>
                <a:cs typeface="Calibri" pitchFamily="34" charset="-120"/>
              </a:rPr>
              <a:t>Contoh: </a:t>
            </a:r>
            <a:pPr algn="l" indent="0" marL="0">
              <a:lnSpc>
                <a:spcPct val="108000"/>
              </a:lnSpc>
              <a:buNone/>
            </a:pPr>
            <a:r>
              <a:rPr lang="en-US" sz="1050" dirty="0">
                <a:solidFill>
                  <a:srgbClr val="1C1C1C"/>
                </a:solidFill>
                <a:latin typeface="Calibri" pitchFamily="34" charset="0"/>
                <a:ea typeface="Calibri" pitchFamily="34" charset="-122"/>
                <a:cs typeface="Calibri" pitchFamily="34" charset="-120"/>
              </a:rPr>
              <a:t>karyawan Starbucks membagikan kopi gratis saat sistem kasir offline; buyer TJX memangkas anggarannya sendiri demi kategori yang lebih menjanjikan.</a:t>
            </a:r>
            <a:endParaRPr lang="en-US" sz="1050" dirty="0"/>
          </a:p>
        </p:txBody>
      </p:sp>
      <p:sp>
        <p:nvSpPr>
          <p:cNvPr id="10" name="card"/>
          <p:cNvSpPr/>
          <p:nvPr/>
        </p:nvSpPr>
        <p:spPr>
          <a:xfrm>
            <a:off x="8686800" y="5157216"/>
            <a:ext cx="2956255" cy="1188720"/>
          </a:xfrm>
          <a:prstGeom prst="roundRect">
            <a:avLst>
              <a:gd name="adj" fmla="val 9231"/>
            </a:avLst>
          </a:prstGeom>
          <a:solidFill>
            <a:srgbClr val="141414"/>
          </a:solidFill>
          <a:ln w="6350">
            <a:solidFill>
              <a:srgbClr val="141414"/>
            </a:solidFill>
            <a:prstDash val="solid"/>
          </a:ln>
        </p:spPr>
      </p:sp>
      <p:sp>
        <p:nvSpPr>
          <p:cNvPr id="11" name="text"/>
          <p:cNvSpPr txBox="1"/>
          <p:nvPr/>
        </p:nvSpPr>
        <p:spPr>
          <a:xfrm>
            <a:off x="8869680" y="5230368"/>
            <a:ext cx="2590495" cy="1051560"/>
          </a:xfrm>
          <a:prstGeom prst="rect">
            <a:avLst/>
          </a:prstGeom>
          <a:noFill/>
          <a:ln/>
        </p:spPr>
        <p:txBody>
          <a:bodyPr wrap="square" lIns="0" tIns="0" rIns="0" bIns="0" rtlCol="0" anchor="t"/>
          <a:lstStyle/>
          <a:p>
            <a:pPr algn="l" indent="0" marL="0">
              <a:lnSpc>
                <a:spcPct val="108000"/>
              </a:lnSpc>
              <a:buNone/>
            </a:pPr>
            <a:r>
              <a:rPr lang="en-US" sz="1050" b="1" dirty="0">
                <a:solidFill>
                  <a:srgbClr val="D7F544"/>
                </a:solidFill>
                <a:latin typeface="Calibri" pitchFamily="34" charset="0"/>
                <a:ea typeface="Calibri" pitchFamily="34" charset="-122"/>
                <a:cs typeface="Calibri" pitchFamily="34" charset="-120"/>
              </a:rPr>
              <a:t>Cross-business strategic fit: </a:t>
            </a:r>
            <a:pPr algn="l" indent="0" marL="0">
              <a:lnSpc>
                <a:spcPct val="108000"/>
              </a:lnSpc>
              <a:buNone/>
            </a:pPr>
            <a:r>
              <a:rPr lang="en-US" sz="1050" dirty="0">
                <a:solidFill>
                  <a:srgbClr val="E6E6E6"/>
                </a:solidFill>
                <a:latin typeface="Calibri" pitchFamily="34" charset="0"/>
                <a:ea typeface="Calibri" pitchFamily="34" charset="-122"/>
                <a:cs typeface="Calibri" pitchFamily="34" charset="-120"/>
              </a:rPr>
              <a:t>sentralisasikan fungsi yang menuntut koordinasi erat (R&amp;D, sales force bersama) atau bentuk business groups.</a:t>
            </a:r>
            <a:endParaRPr lang="en-US" sz="1050" dirty="0"/>
          </a:p>
        </p:txBody>
      </p:sp>
      <p:sp>
        <p:nvSpPr>
          <p:cNvPr id="12" name="text"/>
          <p:cNvSpPr txBox="1"/>
          <p:nvPr/>
        </p:nvSpPr>
        <p:spPr>
          <a:xfrm>
            <a:off x="548640" y="5897880"/>
            <a:ext cx="7955280" cy="411480"/>
          </a:xfrm>
          <a:prstGeom prst="rect">
            <a:avLst/>
          </a:prstGeom>
          <a:noFill/>
          <a:ln/>
        </p:spPr>
        <p:txBody>
          <a:bodyPr wrap="square" lIns="0" tIns="0" rIns="0" bIns="0" rtlCol="0" anchor="t"/>
          <a:lstStyle/>
          <a:p>
            <a:pPr algn="l" indent="0" marL="0">
              <a:lnSpc>
                <a:spcPct val="108000"/>
              </a:lnSpc>
              <a:buNone/>
            </a:pPr>
            <a:r>
              <a:rPr lang="en-US" sz="1100" i="1" dirty="0">
                <a:solidFill>
                  <a:srgbClr val="6E6E6E"/>
                </a:solidFill>
                <a:latin typeface="Calibri" pitchFamily="34" charset="0"/>
                <a:ea typeface="Calibri" pitchFamily="34" charset="-122"/>
                <a:cs typeface="Calibri" pitchFamily="34" charset="-120"/>
              </a:rPr>
              <a:t>Tren: pergeseran ke struktur yang lebih datar dan terdesentralisasi, karena aset paling bernilai kini berupa intellectual capital yang melekat pada karyawan.</a:t>
            </a:r>
            <a:endParaRPr lang="en-US" sz="11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04  ·  STRUCTURING THE ORGANIZATION  ·  KEPUTUSAN 4 &amp; 5</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KOORDINASI LINTAS UNIT DAN MITRA EKSTERNAL</a:t>
            </a:r>
            <a:endParaRPr lang="en-US" sz="2400" dirty="0"/>
          </a:p>
        </p:txBody>
      </p:sp>
      <p:sp>
        <p:nvSpPr>
          <p:cNvPr id="4" name="card"/>
          <p:cNvSpPr/>
          <p:nvPr/>
        </p:nvSpPr>
        <p:spPr>
          <a:xfrm>
            <a:off x="548640" y="1737360"/>
            <a:ext cx="5455768" cy="3429000"/>
          </a:xfrm>
          <a:prstGeom prst="roundRect">
            <a:avLst>
              <a:gd name="adj" fmla="val 320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 name="icon-bg"/>
          <p:cNvSpPr/>
          <p:nvPr/>
        </p:nvSpPr>
        <p:spPr>
          <a:xfrm>
            <a:off x="749808" y="1920240"/>
            <a:ext cx="457200" cy="457200"/>
          </a:xfrm>
          <a:prstGeom prst="ellipse">
            <a:avLst/>
          </a:prstGeom>
          <a:solidFill>
            <a:srgbClr val="141414"/>
          </a:solidFill>
          <a:ln w="6350">
            <a:solidFill>
              <a:srgbClr val="141414"/>
            </a:solidFill>
            <a:prstDash val="solid"/>
          </a:ln>
        </p:spPr>
      </p:sp>
      <p:pic>
        <p:nvPicPr>
          <p:cNvPr id="6" name="icon" descr="preencoded.png">    </p:cNvPr>
          <p:cNvPicPr>
            <a:picLocks noChangeAspect="1"/>
          </p:cNvPicPr>
          <p:nvPr/>
        </p:nvPicPr>
        <p:blipFill>
          <a:blip r:embed="rId1"/>
          <a:stretch>
            <a:fillRect/>
          </a:stretch>
        </p:blipFill>
        <p:spPr>
          <a:xfrm>
            <a:off x="859536" y="2029968"/>
            <a:ext cx="237744" cy="237744"/>
          </a:xfrm>
          <a:prstGeom prst="rect">
            <a:avLst/>
          </a:prstGeom>
        </p:spPr>
      </p:pic>
      <p:sp>
        <p:nvSpPr>
          <p:cNvPr id="7" name="text"/>
          <p:cNvSpPr txBox="1"/>
          <p:nvPr/>
        </p:nvSpPr>
        <p:spPr>
          <a:xfrm>
            <a:off x="1325880" y="2011680"/>
            <a:ext cx="4495648"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1C1C1C"/>
                </a:solidFill>
                <a:latin typeface="Arial" pitchFamily="34" charset="0"/>
                <a:ea typeface="Arial" pitchFamily="34" charset="-122"/>
                <a:cs typeface="Arial" pitchFamily="34" charset="-120"/>
              </a:rPr>
              <a:t>INTERNAL CROSS-UNIT COORDINATION</a:t>
            </a:r>
            <a:endParaRPr lang="en-US" sz="1200" dirty="0"/>
          </a:p>
        </p:txBody>
      </p:sp>
      <p:sp>
        <p:nvSpPr>
          <p:cNvPr id="8" name="text"/>
          <p:cNvSpPr txBox="1"/>
          <p:nvPr/>
        </p:nvSpPr>
        <p:spPr>
          <a:xfrm>
            <a:off x="749808" y="2514600"/>
            <a:ext cx="5053432" cy="2560320"/>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Why: </a:t>
            </a:r>
            <a:pPr algn="l" indent="0" marL="0">
              <a:lnSpc>
                <a:spcPct val="108000"/>
              </a:lnSpc>
              <a:spcAft>
                <a:spcPts val="500"/>
              </a:spcAft>
              <a:buNone/>
            </a:pPr>
            <a:r>
              <a:rPr lang="en-US" sz="1150" dirty="0">
                <a:solidFill>
                  <a:srgbClr val="1C1C1C"/>
                </a:solidFill>
                <a:latin typeface="Calibri" pitchFamily="34" charset="0"/>
                <a:ea typeface="Calibri" pitchFamily="34" charset="-122"/>
                <a:cs typeface="Calibri" pitchFamily="34" charset="-120"/>
              </a:rPr>
              <a:t>capability seperti speed-to-market dan superior customer service melintasi R&amp;D, engineering, purchasing, produksi, dan pemasaran.</a:t>
            </a:r>
            <a:endParaRPr lang="en-US" sz="1150" dirty="0"/>
          </a:p>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How: </a:t>
            </a:r>
            <a:pPr algn="l" indent="0" marL="0">
              <a:lnSpc>
                <a:spcPct val="108000"/>
              </a:lnSpc>
              <a:spcAft>
                <a:spcPts val="500"/>
              </a:spcAft>
              <a:buNone/>
            </a:pPr>
            <a:r>
              <a:rPr lang="en-US" sz="1150" dirty="0">
                <a:solidFill>
                  <a:srgbClr val="1C1C1C"/>
                </a:solidFill>
                <a:latin typeface="Calibri" pitchFamily="34" charset="0"/>
                <a:ea typeface="Calibri" pitchFamily="34" charset="-122"/>
                <a:cs typeface="Calibri" pitchFamily="34" charset="-120"/>
              </a:rPr>
              <a:t>komitmen bersama atas jadwal dan tenggat, follow-up eksekutif, kunjungan langsung, dan intervensi korektif.</a:t>
            </a:r>
            <a:endParaRPr lang="en-US" sz="1150" dirty="0"/>
          </a:p>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Mekanisme: </a:t>
            </a:r>
            <a:pPr algn="l" indent="0" marL="0">
              <a:lnSpc>
                <a:spcPct val="108000"/>
              </a:lnSpc>
              <a:spcAft>
                <a:spcPts val="500"/>
              </a:spcAft>
              <a:buNone/>
            </a:pPr>
            <a:r>
              <a:rPr lang="en-US" sz="1150" dirty="0">
                <a:solidFill>
                  <a:srgbClr val="1C1C1C"/>
                </a:solidFill>
                <a:latin typeface="Calibri" pitchFamily="34" charset="0"/>
                <a:ea typeface="Calibri" pitchFamily="34" charset="-122"/>
                <a:cs typeface="Calibri" pitchFamily="34" charset="-120"/>
              </a:rPr>
              <a:t>cross-functional committees, project management teams, project management office; yang paling efektif adalah incentive compensation yang terikat pada kinerja kelompok lintas unit.</a:t>
            </a:r>
            <a:endParaRPr lang="en-US" sz="1150" dirty="0"/>
          </a:p>
          <a:p>
            <a:pPr algn="l" marL="139700" indent="-139700">
              <a:lnSpc>
                <a:spcPct val="108000"/>
              </a:lnSpc>
              <a:buSzPct val="100000"/>
              <a:buChar char="•"/>
            </a:pPr>
            <a:r>
              <a:rPr lang="en-US" sz="1150" b="1" dirty="0">
                <a:solidFill>
                  <a:srgbClr val="1C1C1C"/>
                </a:solidFill>
                <a:latin typeface="Calibri" pitchFamily="34" charset="0"/>
                <a:ea typeface="Calibri" pitchFamily="34" charset="-122"/>
                <a:cs typeface="Calibri" pitchFamily="34" charset="-120"/>
              </a:rPr>
              <a:t>Hambatan: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dalam struktur terdesentralisasi, kepala departemen cenderung memprioritaskan unitnya sendiri.</a:t>
            </a:r>
            <a:endParaRPr lang="en-US" sz="1150" dirty="0"/>
          </a:p>
        </p:txBody>
      </p:sp>
      <p:sp>
        <p:nvSpPr>
          <p:cNvPr id="9" name="card"/>
          <p:cNvSpPr/>
          <p:nvPr/>
        </p:nvSpPr>
        <p:spPr>
          <a:xfrm>
            <a:off x="6187288" y="1737360"/>
            <a:ext cx="5455768" cy="3429000"/>
          </a:xfrm>
          <a:prstGeom prst="roundRect">
            <a:avLst>
              <a:gd name="adj" fmla="val 3200"/>
            </a:avLst>
          </a:prstGeom>
          <a:solidFill>
            <a:srgbClr val="141414"/>
          </a:solidFill>
          <a:ln w="6350">
            <a:solidFill>
              <a:srgbClr val="141414"/>
            </a:solidFill>
            <a:prstDash val="solid"/>
          </a:ln>
        </p:spPr>
      </p:sp>
      <p:sp>
        <p:nvSpPr>
          <p:cNvPr id="10" name="icon-bg"/>
          <p:cNvSpPr/>
          <p:nvPr/>
        </p:nvSpPr>
        <p:spPr>
          <a:xfrm>
            <a:off x="6388456" y="1920240"/>
            <a:ext cx="457200" cy="457200"/>
          </a:xfrm>
          <a:prstGeom prst="ellipse">
            <a:avLst/>
          </a:prstGeom>
          <a:solidFill>
            <a:srgbClr val="D7F544"/>
          </a:solidFill>
          <a:ln w="6350">
            <a:solidFill>
              <a:srgbClr val="D7F544"/>
            </a:solidFill>
            <a:prstDash val="solid"/>
          </a:ln>
        </p:spPr>
      </p:sp>
      <p:pic>
        <p:nvPicPr>
          <p:cNvPr id="11" name="icon" descr="preencoded.png">    </p:cNvPr>
          <p:cNvPicPr>
            <a:picLocks noChangeAspect="1"/>
          </p:cNvPicPr>
          <p:nvPr/>
        </p:nvPicPr>
        <p:blipFill>
          <a:blip r:embed="rId2"/>
          <a:stretch>
            <a:fillRect/>
          </a:stretch>
        </p:blipFill>
        <p:spPr>
          <a:xfrm>
            <a:off x="6498184" y="2029968"/>
            <a:ext cx="237744" cy="237744"/>
          </a:xfrm>
          <a:prstGeom prst="rect">
            <a:avLst/>
          </a:prstGeom>
        </p:spPr>
      </p:pic>
      <p:sp>
        <p:nvSpPr>
          <p:cNvPr id="12" name="text"/>
          <p:cNvSpPr txBox="1"/>
          <p:nvPr/>
        </p:nvSpPr>
        <p:spPr>
          <a:xfrm>
            <a:off x="6964528" y="2011680"/>
            <a:ext cx="4495648" cy="274320"/>
          </a:xfrm>
          <a:prstGeom prst="rect">
            <a:avLst/>
          </a:prstGeom>
          <a:noFill/>
          <a:ln/>
        </p:spPr>
        <p:txBody>
          <a:bodyPr wrap="square" lIns="0" tIns="0" rIns="0" bIns="0" rtlCol="0" anchor="t"/>
          <a:lstStyle/>
          <a:p>
            <a:pPr algn="l" indent="0" marL="0">
              <a:lnSpc>
                <a:spcPct val="108000"/>
              </a:lnSpc>
              <a:buNone/>
            </a:pPr>
            <a:r>
              <a:rPr lang="en-US" sz="1200" b="1" spc="100" kern="0" dirty="0">
                <a:solidFill>
                  <a:srgbClr val="D7F544"/>
                </a:solidFill>
                <a:latin typeface="Arial" pitchFamily="34" charset="0"/>
                <a:ea typeface="Arial" pitchFamily="34" charset="-122"/>
                <a:cs typeface="Arial" pitchFamily="34" charset="-120"/>
              </a:rPr>
              <a:t>EXTERNAL PARTNERS AND STRATEGIC ALLIES</a:t>
            </a:r>
            <a:endParaRPr lang="en-US" sz="1200" dirty="0"/>
          </a:p>
        </p:txBody>
      </p:sp>
      <p:sp>
        <p:nvSpPr>
          <p:cNvPr id="13" name="text"/>
          <p:cNvSpPr txBox="1"/>
          <p:nvPr/>
        </p:nvSpPr>
        <p:spPr>
          <a:xfrm>
            <a:off x="6388456" y="2514600"/>
            <a:ext cx="5053432" cy="2560320"/>
          </a:xfrm>
          <a:prstGeom prst="rect">
            <a:avLst/>
          </a:prstGeom>
          <a:noFill/>
          <a:ln/>
        </p:spPr>
        <p:txBody>
          <a:bodyPr wrap="square" lIns="0" tIns="0" rIns="0" bIns="0" rtlCol="0" anchor="t"/>
          <a:lstStyle/>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Relationship managers: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mempertemukan orang yang tepat, membangun rapport, melancarkan arus informasi, dan memastikan koordinasi; kemitraan tanpa pengelolaan aktif tidak menghasilkan nilai.</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Network: </a:t>
            </a:r>
            <a:pPr algn="l" indent="0" marL="0">
              <a:lnSpc>
                <a:spcPct val="108000"/>
              </a:lnSpc>
              <a:spcAft>
                <a:spcPts val="500"/>
              </a:spcAft>
              <a:buNone/>
            </a:pPr>
            <a:r>
              <a:rPr lang="en-US" sz="1150" dirty="0">
                <a:solidFill>
                  <a:srgbClr val="E6E6E6"/>
                </a:solidFill>
                <a:latin typeface="Calibri" pitchFamily="34" charset="0"/>
                <a:ea typeface="Calibri" pitchFamily="34" charset="-122"/>
                <a:cs typeface="Calibri" pitchFamily="34" charset="-120"/>
              </a:rPr>
              <a:t>konfigurasi kontraktual antara organisasi independen yang diorganisasi sebuah central firm; Ducati merakit motornya dari jaringan pemasok terpilih.</a:t>
            </a:r>
            <a:endParaRPr lang="en-US" sz="1150" dirty="0"/>
          </a:p>
          <a:p>
            <a:pPr algn="l" marL="139700" indent="-139700">
              <a:lnSpc>
                <a:spcPct val="108000"/>
              </a:lnSpc>
              <a:buSzPct val="100000"/>
              <a:buChar char="•"/>
            </a:pPr>
            <a:r>
              <a:rPr lang="en-US" sz="1150" b="1" dirty="0">
                <a:solidFill>
                  <a:srgbClr val="E6E6E6"/>
                </a:solidFill>
                <a:latin typeface="Calibri" pitchFamily="34" charset="0"/>
                <a:ea typeface="Calibri" pitchFamily="34" charset="-122"/>
                <a:cs typeface="Calibri" pitchFamily="34" charset="-120"/>
              </a:rPr>
              <a:t>Ecosystem: </a:t>
            </a:r>
            <a:pPr algn="l" indent="0" marL="0">
              <a:lnSpc>
                <a:spcPct val="108000"/>
              </a:lnSpc>
              <a:buNone/>
            </a:pPr>
            <a:r>
              <a:rPr lang="en-US" sz="1150" dirty="0">
                <a:solidFill>
                  <a:srgbClr val="E6E6E6"/>
                </a:solidFill>
                <a:latin typeface="Calibri" pitchFamily="34" charset="0"/>
                <a:ea typeface="Calibri" pitchFamily="34" charset="-122"/>
                <a:cs typeface="Calibri" pitchFamily="34" charset="-120"/>
              </a:rPr>
              <a:t>konfigurasi yang lebih longgar dan non-kontraktual dari berbagai jenis organisasi (investor, pemasok, pesaing, regulator); Silicon Valley sebagai contoh.</a:t>
            </a:r>
            <a:endParaRPr lang="en-US" sz="1150" dirty="0"/>
          </a:p>
        </p:txBody>
      </p:sp>
      <p:sp>
        <p:nvSpPr>
          <p:cNvPr id="14" name="card"/>
          <p:cNvSpPr/>
          <p:nvPr/>
        </p:nvSpPr>
        <p:spPr>
          <a:xfrm>
            <a:off x="548640" y="5321808"/>
            <a:ext cx="11094415" cy="1188720"/>
          </a:xfrm>
          <a:prstGeom prst="roundRect">
            <a:avLst>
              <a:gd name="adj" fmla="val 9231"/>
            </a:avLst>
          </a:prstGeom>
          <a:solidFill>
            <a:srgbClr val="D7F544"/>
          </a:solidFill>
          <a:ln w="6350">
            <a:solidFill>
              <a:srgbClr val="D7F544"/>
            </a:solidFill>
            <a:prstDash val="solid"/>
          </a:ln>
        </p:spPr>
      </p:sp>
      <p:sp>
        <p:nvSpPr>
          <p:cNvPr id="15" name="text"/>
          <p:cNvSpPr txBox="1"/>
          <p:nvPr/>
        </p:nvSpPr>
        <p:spPr>
          <a:xfrm>
            <a:off x="749808" y="5413248"/>
            <a:ext cx="10692079" cy="1005840"/>
          </a:xfrm>
          <a:prstGeom prst="rect">
            <a:avLst/>
          </a:prstGeom>
          <a:noFill/>
          <a:ln/>
        </p:spPr>
        <p:txBody>
          <a:bodyPr wrap="square" lIns="0" tIns="0" rIns="0" bIns="0" rtlCol="0" anchor="t"/>
          <a:lstStyle/>
          <a:p>
            <a:pPr algn="l" indent="0" marL="0">
              <a:lnSpc>
                <a:spcPct val="108000"/>
              </a:lnSpc>
              <a:buNone/>
            </a:pPr>
            <a:r>
              <a:rPr lang="en-US" sz="1150" b="1" dirty="0">
                <a:solidFill>
                  <a:srgbClr val="1C1C1C"/>
                </a:solidFill>
                <a:latin typeface="Calibri" pitchFamily="34" charset="0"/>
                <a:ea typeface="Calibri" pitchFamily="34" charset="-122"/>
                <a:cs typeface="Calibri" pitchFamily="34" charset="-120"/>
              </a:rPr>
              <a:t>Further perspective. </a:t>
            </a:r>
            <a:pPr algn="l" indent="0" marL="0">
              <a:lnSpc>
                <a:spcPct val="108000"/>
              </a:lnSpc>
              <a:buNone/>
            </a:pPr>
            <a:r>
              <a:rPr lang="en-US" sz="1150" dirty="0">
                <a:solidFill>
                  <a:srgbClr val="1C1C1C"/>
                </a:solidFill>
                <a:latin typeface="Calibri" pitchFamily="34" charset="0"/>
                <a:ea typeface="Calibri" pitchFamily="34" charset="-122"/>
                <a:cs typeface="Calibri" pitchFamily="34" charset="-120"/>
              </a:rPr>
              <a:t>Pilih desain dasar, lalu (1) lengkapi dengan coordinating mechanisms seperti task force dan tim proyek, dan (2) bangun networking and communications arrangements. Organization building adalah proses consciously knitting together upaya individu dan kelompok; manajemen senior harus terlibat mendalam, tidak dapat didelegasikan sepenuhnya.</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05  ·  SINTESIS</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SINTESIS: RANGKAIAN LOGIKA BAB 10</a:t>
            </a:r>
            <a:endParaRPr lang="en-US" sz="2400" dirty="0"/>
          </a:p>
        </p:txBody>
      </p:sp>
      <p:sp>
        <p:nvSpPr>
          <p:cNvPr id="4" name="card"/>
          <p:cNvSpPr/>
          <p:nvPr/>
        </p:nvSpPr>
        <p:spPr>
          <a:xfrm>
            <a:off x="548640" y="1737360"/>
            <a:ext cx="1737360" cy="1188720"/>
          </a:xfrm>
          <a:prstGeom prst="roundRect">
            <a:avLst>
              <a:gd name="adj" fmla="val 923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 name="num"/>
          <p:cNvSpPr/>
          <p:nvPr/>
        </p:nvSpPr>
        <p:spPr>
          <a:xfrm>
            <a:off x="713232" y="1901952"/>
            <a:ext cx="347472" cy="347472"/>
          </a:xfrm>
          <a:prstGeom prst="ellipse">
            <a:avLst/>
          </a:prstGeom>
          <a:solidFill>
            <a:srgbClr val="D7F544"/>
          </a:solidFill>
          <a:ln w="6350">
            <a:solidFill>
              <a:srgbClr val="D7F544"/>
            </a:solidFill>
            <a:prstDash val="solid"/>
          </a:ln>
        </p:spPr>
      </p:sp>
      <p:sp>
        <p:nvSpPr>
          <p:cNvPr id="6" name="text"/>
          <p:cNvSpPr txBox="1"/>
          <p:nvPr/>
        </p:nvSpPr>
        <p:spPr>
          <a:xfrm>
            <a:off x="713232" y="1901952"/>
            <a:ext cx="347472" cy="347472"/>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1</a:t>
            </a:r>
            <a:endParaRPr lang="en-US" sz="1100" dirty="0"/>
          </a:p>
        </p:txBody>
      </p:sp>
      <p:sp>
        <p:nvSpPr>
          <p:cNvPr id="7" name="text"/>
          <p:cNvSpPr txBox="1"/>
          <p:nvPr/>
        </p:nvSpPr>
        <p:spPr>
          <a:xfrm>
            <a:off x="1152144" y="1920240"/>
            <a:ext cx="1005840"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Staffing</a:t>
            </a:r>
            <a:endParaRPr lang="en-US" sz="1400" dirty="0"/>
          </a:p>
        </p:txBody>
      </p:sp>
      <p:sp>
        <p:nvSpPr>
          <p:cNvPr id="8" name="text"/>
          <p:cNvSpPr txBox="1"/>
          <p:nvPr/>
        </p:nvSpPr>
        <p:spPr>
          <a:xfrm>
            <a:off x="713232" y="2377440"/>
            <a:ext cx="1408176" cy="36576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orang yang tepat</a:t>
            </a:r>
            <a:endParaRPr lang="en-US" sz="1100" dirty="0"/>
          </a:p>
        </p:txBody>
      </p:sp>
      <p:sp>
        <p:nvSpPr>
          <p:cNvPr id="9" name="arrow"/>
          <p:cNvSpPr/>
          <p:nvPr/>
        </p:nvSpPr>
        <p:spPr>
          <a:xfrm>
            <a:off x="2340864" y="2185416"/>
            <a:ext cx="274320" cy="292608"/>
          </a:xfrm>
          <a:prstGeom prst="rightArrow">
            <a:avLst/>
          </a:prstGeom>
          <a:solidFill>
            <a:srgbClr val="6E6E6E"/>
          </a:solidFill>
          <a:ln w="6350">
            <a:solidFill>
              <a:srgbClr val="6E6E6E"/>
            </a:solidFill>
            <a:prstDash val="solid"/>
          </a:ln>
        </p:spPr>
      </p:sp>
      <p:sp>
        <p:nvSpPr>
          <p:cNvPr id="10" name="card"/>
          <p:cNvSpPr/>
          <p:nvPr/>
        </p:nvSpPr>
        <p:spPr>
          <a:xfrm>
            <a:off x="2670048" y="1737360"/>
            <a:ext cx="1737360" cy="1188720"/>
          </a:xfrm>
          <a:prstGeom prst="roundRect">
            <a:avLst>
              <a:gd name="adj" fmla="val 923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1" name="num"/>
          <p:cNvSpPr/>
          <p:nvPr/>
        </p:nvSpPr>
        <p:spPr>
          <a:xfrm>
            <a:off x="2834640" y="1901952"/>
            <a:ext cx="347472" cy="347472"/>
          </a:xfrm>
          <a:prstGeom prst="ellipse">
            <a:avLst/>
          </a:prstGeom>
          <a:solidFill>
            <a:srgbClr val="D7F544"/>
          </a:solidFill>
          <a:ln w="6350">
            <a:solidFill>
              <a:srgbClr val="D7F544"/>
            </a:solidFill>
            <a:prstDash val="solid"/>
          </a:ln>
        </p:spPr>
      </p:sp>
      <p:sp>
        <p:nvSpPr>
          <p:cNvPr id="12" name="text"/>
          <p:cNvSpPr txBox="1"/>
          <p:nvPr/>
        </p:nvSpPr>
        <p:spPr>
          <a:xfrm>
            <a:off x="2834640" y="1901952"/>
            <a:ext cx="347472" cy="347472"/>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2</a:t>
            </a:r>
            <a:endParaRPr lang="en-US" sz="1100" dirty="0"/>
          </a:p>
        </p:txBody>
      </p:sp>
      <p:sp>
        <p:nvSpPr>
          <p:cNvPr id="13" name="text"/>
          <p:cNvSpPr txBox="1"/>
          <p:nvPr/>
        </p:nvSpPr>
        <p:spPr>
          <a:xfrm>
            <a:off x="3273552" y="1920240"/>
            <a:ext cx="1005840"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Capabilities</a:t>
            </a:r>
            <a:endParaRPr lang="en-US" sz="1400" dirty="0"/>
          </a:p>
        </p:txBody>
      </p:sp>
      <p:sp>
        <p:nvSpPr>
          <p:cNvPr id="14" name="text"/>
          <p:cNvSpPr txBox="1"/>
          <p:nvPr/>
        </p:nvSpPr>
        <p:spPr>
          <a:xfrm>
            <a:off x="2834640" y="2377440"/>
            <a:ext cx="1408176" cy="36576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kemampuan yang siap</a:t>
            </a:r>
            <a:endParaRPr lang="en-US" sz="1100" dirty="0"/>
          </a:p>
        </p:txBody>
      </p:sp>
      <p:sp>
        <p:nvSpPr>
          <p:cNvPr id="15" name="arrow"/>
          <p:cNvSpPr/>
          <p:nvPr/>
        </p:nvSpPr>
        <p:spPr>
          <a:xfrm>
            <a:off x="4462272" y="2185416"/>
            <a:ext cx="274320" cy="292608"/>
          </a:xfrm>
          <a:prstGeom prst="rightArrow">
            <a:avLst/>
          </a:prstGeom>
          <a:solidFill>
            <a:srgbClr val="6E6E6E"/>
          </a:solidFill>
          <a:ln w="6350">
            <a:solidFill>
              <a:srgbClr val="6E6E6E"/>
            </a:solidFill>
            <a:prstDash val="solid"/>
          </a:ln>
        </p:spPr>
      </p:sp>
      <p:sp>
        <p:nvSpPr>
          <p:cNvPr id="16" name="card"/>
          <p:cNvSpPr/>
          <p:nvPr/>
        </p:nvSpPr>
        <p:spPr>
          <a:xfrm>
            <a:off x="4791456" y="1737360"/>
            <a:ext cx="1737360" cy="1188720"/>
          </a:xfrm>
          <a:prstGeom prst="roundRect">
            <a:avLst>
              <a:gd name="adj" fmla="val 9231"/>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7" name="num"/>
          <p:cNvSpPr/>
          <p:nvPr/>
        </p:nvSpPr>
        <p:spPr>
          <a:xfrm>
            <a:off x="4956048" y="1901952"/>
            <a:ext cx="347472" cy="347472"/>
          </a:xfrm>
          <a:prstGeom prst="ellipse">
            <a:avLst/>
          </a:prstGeom>
          <a:solidFill>
            <a:srgbClr val="D7F544"/>
          </a:solidFill>
          <a:ln w="6350">
            <a:solidFill>
              <a:srgbClr val="D7F544"/>
            </a:solidFill>
            <a:prstDash val="solid"/>
          </a:ln>
        </p:spPr>
      </p:sp>
      <p:sp>
        <p:nvSpPr>
          <p:cNvPr id="18" name="text"/>
          <p:cNvSpPr txBox="1"/>
          <p:nvPr/>
        </p:nvSpPr>
        <p:spPr>
          <a:xfrm>
            <a:off x="4956048" y="1901952"/>
            <a:ext cx="347472" cy="347472"/>
          </a:xfrm>
          <a:prstGeom prst="rect">
            <a:avLst/>
          </a:prstGeom>
          <a:noFill/>
          <a:ln/>
        </p:spPr>
        <p:txBody>
          <a:bodyPr wrap="square" lIns="0" tIns="0" rIns="0" bIns="0" rtlCol="0" anchor="ctr"/>
          <a:lstStyle/>
          <a:p>
            <a:pPr algn="ctr" indent="0" marL="0">
              <a:lnSpc>
                <a:spcPct val="108000"/>
              </a:lnSpc>
              <a:buNone/>
            </a:pPr>
            <a:r>
              <a:rPr lang="en-US" sz="1100" b="1" dirty="0">
                <a:solidFill>
                  <a:srgbClr val="141414"/>
                </a:solidFill>
                <a:latin typeface="Arial" pitchFamily="34" charset="0"/>
                <a:ea typeface="Arial" pitchFamily="34" charset="-122"/>
                <a:cs typeface="Arial" pitchFamily="34" charset="-120"/>
              </a:rPr>
              <a:t>3</a:t>
            </a:r>
            <a:endParaRPr lang="en-US" sz="1100" dirty="0"/>
          </a:p>
        </p:txBody>
      </p:sp>
      <p:sp>
        <p:nvSpPr>
          <p:cNvPr id="19" name="text"/>
          <p:cNvSpPr txBox="1"/>
          <p:nvPr/>
        </p:nvSpPr>
        <p:spPr>
          <a:xfrm>
            <a:off x="5394960" y="1920240"/>
            <a:ext cx="1005840"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Structure</a:t>
            </a:r>
            <a:endParaRPr lang="en-US" sz="1400" dirty="0"/>
          </a:p>
        </p:txBody>
      </p:sp>
      <p:sp>
        <p:nvSpPr>
          <p:cNvPr id="20" name="text"/>
          <p:cNvSpPr txBox="1"/>
          <p:nvPr/>
        </p:nvSpPr>
        <p:spPr>
          <a:xfrm>
            <a:off x="4956048" y="2377440"/>
            <a:ext cx="1408176" cy="365760"/>
          </a:xfrm>
          <a:prstGeom prst="rect">
            <a:avLst/>
          </a:prstGeom>
          <a:noFill/>
          <a:ln/>
        </p:spPr>
        <p:txBody>
          <a:bodyPr wrap="square" lIns="0" tIns="0" rIns="0" bIns="0" rtlCol="0" anchor="t"/>
          <a:lstStyle/>
          <a:p>
            <a:pPr algn="l" indent="0" marL="0">
              <a:lnSpc>
                <a:spcPct val="108000"/>
              </a:lnSpc>
              <a:buNone/>
            </a:pPr>
            <a:r>
              <a:rPr lang="en-US" sz="1100" dirty="0">
                <a:solidFill>
                  <a:srgbClr val="6E6E6E"/>
                </a:solidFill>
                <a:latin typeface="Calibri" pitchFamily="34" charset="0"/>
                <a:ea typeface="Calibri" pitchFamily="34" charset="-122"/>
                <a:cs typeface="Calibri" pitchFamily="34" charset="-120"/>
              </a:rPr>
              <a:t>tata kerja yang selaras</a:t>
            </a:r>
            <a:endParaRPr lang="en-US" sz="1100" dirty="0"/>
          </a:p>
        </p:txBody>
      </p:sp>
      <p:sp>
        <p:nvSpPr>
          <p:cNvPr id="21" name="arrow"/>
          <p:cNvSpPr/>
          <p:nvPr/>
        </p:nvSpPr>
        <p:spPr>
          <a:xfrm>
            <a:off x="6565392" y="2148840"/>
            <a:ext cx="329184" cy="365760"/>
          </a:xfrm>
          <a:prstGeom prst="rightArrow">
            <a:avLst/>
          </a:prstGeom>
          <a:solidFill>
            <a:srgbClr val="141414"/>
          </a:solidFill>
          <a:ln w="6350">
            <a:solidFill>
              <a:srgbClr val="141414"/>
            </a:solidFill>
            <a:prstDash val="solid"/>
          </a:ln>
        </p:spPr>
      </p:sp>
      <p:sp>
        <p:nvSpPr>
          <p:cNvPr id="22" name="card"/>
          <p:cNvSpPr/>
          <p:nvPr/>
        </p:nvSpPr>
        <p:spPr>
          <a:xfrm>
            <a:off x="6986016" y="1737360"/>
            <a:ext cx="2255368" cy="1188720"/>
          </a:xfrm>
          <a:prstGeom prst="roundRect">
            <a:avLst>
              <a:gd name="adj" fmla="val 9231"/>
            </a:avLst>
          </a:prstGeom>
          <a:solidFill>
            <a:srgbClr val="D7F544"/>
          </a:solidFill>
          <a:ln w="6350">
            <a:solidFill>
              <a:srgbClr val="D7F544"/>
            </a:solidFill>
            <a:prstDash val="solid"/>
          </a:ln>
        </p:spPr>
      </p:sp>
      <p:sp>
        <p:nvSpPr>
          <p:cNvPr id="23" name="text"/>
          <p:cNvSpPr txBox="1"/>
          <p:nvPr/>
        </p:nvSpPr>
        <p:spPr>
          <a:xfrm>
            <a:off x="7150608" y="1865376"/>
            <a:ext cx="1926184" cy="502920"/>
          </a:xfrm>
          <a:prstGeom prst="rect">
            <a:avLst/>
          </a:prstGeom>
          <a:noFill/>
          <a:ln/>
        </p:spPr>
        <p:txBody>
          <a:bodyPr wrap="square" lIns="0" tIns="0" rIns="0" bIns="0" rtlCol="0" anchor="t"/>
          <a:lstStyle/>
          <a:p>
            <a:pPr algn="l" indent="0" marL="0">
              <a:lnSpc>
                <a:spcPct val="100000"/>
              </a:lnSpc>
              <a:buNone/>
            </a:pPr>
            <a:r>
              <a:rPr lang="en-US" sz="1200" b="1" dirty="0">
                <a:solidFill>
                  <a:srgbClr val="1C1C1C"/>
                </a:solidFill>
                <a:latin typeface="Arial" pitchFamily="34" charset="0"/>
                <a:ea typeface="Arial" pitchFamily="34" charset="-122"/>
                <a:cs typeface="Arial" pitchFamily="34" charset="-120"/>
              </a:rPr>
              <a:t>Proficient Strategy Execution</a:t>
            </a:r>
            <a:endParaRPr lang="en-US" sz="1200" dirty="0"/>
          </a:p>
        </p:txBody>
      </p:sp>
      <p:sp>
        <p:nvSpPr>
          <p:cNvPr id="24" name="text"/>
          <p:cNvSpPr txBox="1"/>
          <p:nvPr/>
        </p:nvSpPr>
        <p:spPr>
          <a:xfrm>
            <a:off x="7150608" y="2432304"/>
            <a:ext cx="1926184" cy="457200"/>
          </a:xfrm>
          <a:prstGeom prst="rect">
            <a:avLst/>
          </a:prstGeom>
          <a:noFill/>
          <a:ln/>
        </p:spPr>
        <p:txBody>
          <a:bodyPr wrap="square" lIns="0" tIns="0" rIns="0" bIns="0" rtlCol="0" anchor="t"/>
          <a:lstStyle/>
          <a:p>
            <a:pPr algn="l" indent="0" marL="0">
              <a:lnSpc>
                <a:spcPct val="108000"/>
              </a:lnSpc>
              <a:buNone/>
            </a:pPr>
            <a:r>
              <a:rPr lang="en-US" sz="1000" dirty="0">
                <a:solidFill>
                  <a:srgbClr val="1C1C1C"/>
                </a:solidFill>
                <a:latin typeface="Calibri" pitchFamily="34" charset="0"/>
                <a:ea typeface="Calibri" pitchFamily="34" charset="-122"/>
                <a:cs typeface="Calibri" pitchFamily="34" charset="-120"/>
              </a:rPr>
              <a:t>target kinerja tercapai; proficiency pada aktivitas kritis</a:t>
            </a:r>
            <a:endParaRPr lang="en-US" sz="1000" dirty="0"/>
          </a:p>
        </p:txBody>
      </p:sp>
      <p:sp>
        <p:nvSpPr>
          <p:cNvPr id="25" name="card"/>
          <p:cNvSpPr/>
          <p:nvPr/>
        </p:nvSpPr>
        <p:spPr>
          <a:xfrm>
            <a:off x="9387688" y="1737360"/>
            <a:ext cx="2255368" cy="1188720"/>
          </a:xfrm>
          <a:prstGeom prst="roundRect">
            <a:avLst>
              <a:gd name="adj" fmla="val 9231"/>
            </a:avLst>
          </a:prstGeom>
          <a:solidFill>
            <a:srgbClr val="141414"/>
          </a:solidFill>
          <a:ln w="6350">
            <a:solidFill>
              <a:srgbClr val="141414"/>
            </a:solidFill>
            <a:prstDash val="solid"/>
          </a:ln>
        </p:spPr>
      </p:sp>
      <p:sp>
        <p:nvSpPr>
          <p:cNvPr id="26" name="text"/>
          <p:cNvSpPr txBox="1"/>
          <p:nvPr/>
        </p:nvSpPr>
        <p:spPr>
          <a:xfrm>
            <a:off x="9552280" y="1865376"/>
            <a:ext cx="1926184" cy="502920"/>
          </a:xfrm>
          <a:prstGeom prst="rect">
            <a:avLst/>
          </a:prstGeom>
          <a:noFill/>
          <a:ln/>
        </p:spPr>
        <p:txBody>
          <a:bodyPr wrap="square" lIns="0" tIns="0" rIns="0" bIns="0" rtlCol="0" anchor="t"/>
          <a:lstStyle/>
          <a:p>
            <a:pPr algn="l" indent="0" marL="0">
              <a:lnSpc>
                <a:spcPct val="100000"/>
              </a:lnSpc>
              <a:buNone/>
            </a:pPr>
            <a:r>
              <a:rPr lang="en-US" sz="1200" b="1" dirty="0">
                <a:solidFill>
                  <a:srgbClr val="D7F544"/>
                </a:solidFill>
                <a:latin typeface="Arial" pitchFamily="34" charset="0"/>
                <a:ea typeface="Arial" pitchFamily="34" charset="-122"/>
                <a:cs typeface="Arial" pitchFamily="34" charset="-120"/>
              </a:rPr>
              <a:t>Sustainable Competitive Advantage</a:t>
            </a:r>
            <a:endParaRPr lang="en-US" sz="1200" dirty="0"/>
          </a:p>
        </p:txBody>
      </p:sp>
      <p:sp>
        <p:nvSpPr>
          <p:cNvPr id="27" name="text"/>
          <p:cNvSpPr txBox="1"/>
          <p:nvPr/>
        </p:nvSpPr>
        <p:spPr>
          <a:xfrm>
            <a:off x="9552280" y="2432304"/>
            <a:ext cx="1926184" cy="457200"/>
          </a:xfrm>
          <a:prstGeom prst="rect">
            <a:avLst/>
          </a:prstGeom>
          <a:noFill/>
          <a:ln/>
        </p:spPr>
        <p:txBody>
          <a:bodyPr wrap="square" lIns="0" tIns="0" rIns="0" bIns="0" rtlCol="0" anchor="t"/>
          <a:lstStyle/>
          <a:p>
            <a:pPr algn="l" indent="0" marL="0">
              <a:lnSpc>
                <a:spcPct val="108000"/>
              </a:lnSpc>
              <a:buNone/>
            </a:pPr>
            <a:r>
              <a:rPr lang="en-US" sz="1000" dirty="0">
                <a:solidFill>
                  <a:srgbClr val="E6E6E6"/>
                </a:solidFill>
                <a:latin typeface="Calibri" pitchFamily="34" charset="0"/>
                <a:ea typeface="Calibri" pitchFamily="34" charset="-122"/>
                <a:cs typeface="Calibri" pitchFamily="34" charset="-120"/>
              </a:rPr>
              <a:t>out-execute pesaing ketika strategi mudah ditiru</a:t>
            </a:r>
            <a:endParaRPr lang="en-US" sz="1000" dirty="0"/>
          </a:p>
        </p:txBody>
      </p:sp>
      <p:sp>
        <p:nvSpPr>
          <p:cNvPr id="28" name="card"/>
          <p:cNvSpPr/>
          <p:nvPr/>
        </p:nvSpPr>
        <p:spPr>
          <a:xfrm>
            <a:off x="548640" y="3108960"/>
            <a:ext cx="11094415" cy="1051560"/>
          </a:xfrm>
          <a:prstGeom prst="roundRect">
            <a:avLst>
              <a:gd name="adj" fmla="val 10435"/>
            </a:avLst>
          </a:prstGeom>
          <a:solidFill>
            <a:srgbClr val="E9E9E5"/>
          </a:solidFill>
          <a:ln w="6350">
            <a:solidFill>
              <a:srgbClr val="E9E9E5"/>
            </a:solidFill>
            <a:prstDash val="solid"/>
          </a:ln>
        </p:spPr>
      </p:sp>
      <p:sp>
        <p:nvSpPr>
          <p:cNvPr id="29" name="text"/>
          <p:cNvSpPr txBox="1"/>
          <p:nvPr/>
        </p:nvSpPr>
        <p:spPr>
          <a:xfrm>
            <a:off x="749808" y="3200400"/>
            <a:ext cx="10692079" cy="896112"/>
          </a:xfrm>
          <a:prstGeom prst="rect">
            <a:avLst/>
          </a:prstGeom>
          <a:noFill/>
          <a:ln/>
        </p:spPr>
        <p:txBody>
          <a:bodyPr wrap="square" lIns="0" tIns="0" rIns="0" bIns="0" rtlCol="0" anchor="t"/>
          <a:lstStyle/>
          <a:p>
            <a:pPr algn="l" indent="0" marL="0">
              <a:lnSpc>
                <a:spcPct val="108000"/>
              </a:lnSpc>
              <a:buNone/>
            </a:pPr>
            <a:r>
              <a:rPr lang="en-US" sz="1200" b="1" dirty="0">
                <a:solidFill>
                  <a:srgbClr val="1C1C1C"/>
                </a:solidFill>
                <a:latin typeface="Calibri" pitchFamily="34" charset="0"/>
                <a:ea typeface="Calibri" pitchFamily="34" charset="-122"/>
                <a:cs typeface="Calibri" pitchFamily="34" charset="-120"/>
              </a:rPr>
              <a:t>Pesan utama. </a:t>
            </a:r>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Strategi sebaik apa pun hanya setengah pekerjaan. Keunggulan yang bertahan lahir ketika organisasi, yakni orang, capability, dan struktur, dibangun untuk menjalankan strategi lebih baik daripada pesaing, dan ketiganya saling bergantung: orang membangun capability, capability menuntut struktur yang tepat, struktur menentukan bagaimana orang bekerja.</a:t>
            </a:r>
            <a:endParaRPr lang="en-US" sz="1200" dirty="0"/>
          </a:p>
        </p:txBody>
      </p:sp>
      <p:sp>
        <p:nvSpPr>
          <p:cNvPr id="30" name="card"/>
          <p:cNvSpPr/>
          <p:nvPr/>
        </p:nvSpPr>
        <p:spPr>
          <a:xfrm>
            <a:off x="548640" y="4343400"/>
            <a:ext cx="3588410" cy="2011680"/>
          </a:xfrm>
          <a:prstGeom prst="roundRect">
            <a:avLst>
              <a:gd name="adj" fmla="val 5455"/>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31" name="icon-bg"/>
          <p:cNvSpPr/>
          <p:nvPr/>
        </p:nvSpPr>
        <p:spPr>
          <a:xfrm>
            <a:off x="713232" y="4507992"/>
            <a:ext cx="420624" cy="420624"/>
          </a:xfrm>
          <a:prstGeom prst="ellipse">
            <a:avLst/>
          </a:prstGeom>
          <a:solidFill>
            <a:srgbClr val="141414"/>
          </a:solidFill>
          <a:ln w="6350">
            <a:solidFill>
              <a:srgbClr val="141414"/>
            </a:solidFill>
            <a:prstDash val="solid"/>
          </a:ln>
        </p:spPr>
      </p:sp>
      <p:pic>
        <p:nvPicPr>
          <p:cNvPr id="32" name="icon" descr="preencoded.png">    </p:cNvPr>
          <p:cNvPicPr>
            <a:picLocks noChangeAspect="1"/>
          </p:cNvPicPr>
          <p:nvPr/>
        </p:nvPicPr>
        <p:blipFill>
          <a:blip r:embed="rId1"/>
          <a:stretch>
            <a:fillRect/>
          </a:stretch>
        </p:blipFill>
        <p:spPr>
          <a:xfrm>
            <a:off x="814182" y="4608942"/>
            <a:ext cx="218724" cy="218724"/>
          </a:xfrm>
          <a:prstGeom prst="rect">
            <a:avLst/>
          </a:prstGeom>
        </p:spPr>
      </p:pic>
      <p:sp>
        <p:nvSpPr>
          <p:cNvPr id="33" name="text"/>
          <p:cNvSpPr txBox="1"/>
          <p:nvPr/>
        </p:nvSpPr>
        <p:spPr>
          <a:xfrm>
            <a:off x="1243584" y="4581144"/>
            <a:ext cx="2719730" cy="27432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Arial" pitchFamily="34" charset="0"/>
                <a:ea typeface="Arial" pitchFamily="34" charset="-122"/>
                <a:cs typeface="Arial" pitchFamily="34" charset="-120"/>
              </a:rPr>
              <a:t>Jembatan ke Bab 11</a:t>
            </a:r>
            <a:endParaRPr lang="en-US" sz="1250" dirty="0"/>
          </a:p>
        </p:txBody>
      </p:sp>
      <p:sp>
        <p:nvSpPr>
          <p:cNvPr id="34" name="text"/>
          <p:cNvSpPr txBox="1"/>
          <p:nvPr/>
        </p:nvSpPr>
        <p:spPr>
          <a:xfrm>
            <a:off x="713232" y="5056632"/>
            <a:ext cx="3259226" cy="1234440"/>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Menggerakkan organisasi yang telah dibangun: alokasi sumber daya, policies and procedures, business process management, information systems, dan rewards (tugas 4–8).</a:t>
            </a:r>
            <a:endParaRPr lang="en-US" sz="1050" dirty="0"/>
          </a:p>
        </p:txBody>
      </p:sp>
      <p:sp>
        <p:nvSpPr>
          <p:cNvPr id="35" name="card"/>
          <p:cNvSpPr/>
          <p:nvPr/>
        </p:nvSpPr>
        <p:spPr>
          <a:xfrm>
            <a:off x="4301642" y="4343400"/>
            <a:ext cx="3588410" cy="2011680"/>
          </a:xfrm>
          <a:prstGeom prst="roundRect">
            <a:avLst>
              <a:gd name="adj" fmla="val 5455"/>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36" name="icon-bg"/>
          <p:cNvSpPr/>
          <p:nvPr/>
        </p:nvSpPr>
        <p:spPr>
          <a:xfrm>
            <a:off x="4466234" y="4507992"/>
            <a:ext cx="420624" cy="420624"/>
          </a:xfrm>
          <a:prstGeom prst="ellipse">
            <a:avLst/>
          </a:prstGeom>
          <a:solidFill>
            <a:srgbClr val="141414"/>
          </a:solidFill>
          <a:ln w="6350">
            <a:solidFill>
              <a:srgbClr val="141414"/>
            </a:solidFill>
            <a:prstDash val="solid"/>
          </a:ln>
        </p:spPr>
      </p:sp>
      <p:pic>
        <p:nvPicPr>
          <p:cNvPr id="37" name="icon" descr="preencoded.png">    </p:cNvPr>
          <p:cNvPicPr>
            <a:picLocks noChangeAspect="1"/>
          </p:cNvPicPr>
          <p:nvPr/>
        </p:nvPicPr>
        <p:blipFill>
          <a:blip r:embed="rId2"/>
          <a:stretch>
            <a:fillRect/>
          </a:stretch>
        </p:blipFill>
        <p:spPr>
          <a:xfrm>
            <a:off x="4567184" y="4608942"/>
            <a:ext cx="218724" cy="218724"/>
          </a:xfrm>
          <a:prstGeom prst="rect">
            <a:avLst/>
          </a:prstGeom>
        </p:spPr>
      </p:pic>
      <p:sp>
        <p:nvSpPr>
          <p:cNvPr id="38" name="text"/>
          <p:cNvSpPr txBox="1"/>
          <p:nvPr/>
        </p:nvSpPr>
        <p:spPr>
          <a:xfrm>
            <a:off x="4996586" y="4581144"/>
            <a:ext cx="2719730" cy="27432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Arial" pitchFamily="34" charset="0"/>
                <a:ea typeface="Arial" pitchFamily="34" charset="-122"/>
                <a:cs typeface="Arial" pitchFamily="34" charset="-120"/>
              </a:rPr>
              <a:t>Jembatan ke Bab 12</a:t>
            </a:r>
            <a:endParaRPr lang="en-US" sz="1250" dirty="0"/>
          </a:p>
        </p:txBody>
      </p:sp>
      <p:sp>
        <p:nvSpPr>
          <p:cNvPr id="39" name="text"/>
          <p:cNvSpPr txBox="1"/>
          <p:nvPr/>
        </p:nvSpPr>
        <p:spPr>
          <a:xfrm>
            <a:off x="4466234" y="5056632"/>
            <a:ext cx="3259226" cy="1234440"/>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Menopangnya dengan corporate culture dan leadership (tugas 9–10); organisasi yang mampu tetap memerlukan budaya dan pemimpin yang mendorong.</a:t>
            </a:r>
            <a:endParaRPr lang="en-US" sz="1050" dirty="0"/>
          </a:p>
        </p:txBody>
      </p:sp>
      <p:sp>
        <p:nvSpPr>
          <p:cNvPr id="40" name="card"/>
          <p:cNvSpPr/>
          <p:nvPr/>
        </p:nvSpPr>
        <p:spPr>
          <a:xfrm>
            <a:off x="8054645" y="4343400"/>
            <a:ext cx="3588410" cy="2011680"/>
          </a:xfrm>
          <a:prstGeom prst="roundRect">
            <a:avLst>
              <a:gd name="adj" fmla="val 5455"/>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41" name="icon-bg"/>
          <p:cNvSpPr/>
          <p:nvPr/>
        </p:nvSpPr>
        <p:spPr>
          <a:xfrm>
            <a:off x="8219237" y="4507992"/>
            <a:ext cx="420624" cy="420624"/>
          </a:xfrm>
          <a:prstGeom prst="ellipse">
            <a:avLst/>
          </a:prstGeom>
          <a:solidFill>
            <a:srgbClr val="D7F544"/>
          </a:solidFill>
          <a:ln w="6350">
            <a:solidFill>
              <a:srgbClr val="D7F544"/>
            </a:solidFill>
            <a:prstDash val="solid"/>
          </a:ln>
        </p:spPr>
      </p:sp>
      <p:pic>
        <p:nvPicPr>
          <p:cNvPr id="42" name="icon" descr="preencoded.png">    </p:cNvPr>
          <p:cNvPicPr>
            <a:picLocks noChangeAspect="1"/>
          </p:cNvPicPr>
          <p:nvPr/>
        </p:nvPicPr>
        <p:blipFill>
          <a:blip r:embed="rId3"/>
          <a:stretch>
            <a:fillRect/>
          </a:stretch>
        </p:blipFill>
        <p:spPr>
          <a:xfrm>
            <a:off x="8320187" y="4608942"/>
            <a:ext cx="218724" cy="218724"/>
          </a:xfrm>
          <a:prstGeom prst="rect">
            <a:avLst/>
          </a:prstGeom>
        </p:spPr>
      </p:pic>
      <p:sp>
        <p:nvSpPr>
          <p:cNvPr id="43" name="text"/>
          <p:cNvSpPr txBox="1"/>
          <p:nvPr/>
        </p:nvSpPr>
        <p:spPr>
          <a:xfrm>
            <a:off x="8749589" y="4581144"/>
            <a:ext cx="2719730" cy="274320"/>
          </a:xfrm>
          <a:prstGeom prst="rect">
            <a:avLst/>
          </a:prstGeom>
          <a:noFill/>
          <a:ln/>
        </p:spPr>
        <p:txBody>
          <a:bodyPr wrap="square" lIns="0" tIns="0" rIns="0" bIns="0" rtlCol="0" anchor="t"/>
          <a:lstStyle/>
          <a:p>
            <a:pPr algn="l" indent="0" marL="0">
              <a:lnSpc>
                <a:spcPct val="108000"/>
              </a:lnSpc>
              <a:buNone/>
            </a:pPr>
            <a:r>
              <a:rPr lang="en-US" sz="1250" b="1" dirty="0">
                <a:solidFill>
                  <a:srgbClr val="1C1C1C"/>
                </a:solidFill>
                <a:latin typeface="Arial" pitchFamily="34" charset="0"/>
                <a:ea typeface="Arial" pitchFamily="34" charset="-122"/>
                <a:cs typeface="Arial" pitchFamily="34" charset="-120"/>
              </a:rPr>
              <a:t>Jembatan ke kerangka 4DX</a:t>
            </a:r>
            <a:endParaRPr lang="en-US" sz="1250" dirty="0"/>
          </a:p>
        </p:txBody>
      </p:sp>
      <p:sp>
        <p:nvSpPr>
          <p:cNvPr id="44" name="text"/>
          <p:cNvSpPr txBox="1"/>
          <p:nvPr/>
        </p:nvSpPr>
        <p:spPr>
          <a:xfrm>
            <a:off x="8219237" y="5056632"/>
            <a:ext cx="3259226" cy="1234440"/>
          </a:xfrm>
          <a:prstGeom prst="rect">
            <a:avLst/>
          </a:prstGeom>
          <a:noFill/>
          <a:ln/>
        </p:spPr>
        <p:txBody>
          <a:bodyPr wrap="square" lIns="0" tIns="0" rIns="0" bIns="0" rtlCol="0" anchor="t"/>
          <a:lstStyle/>
          <a:p>
            <a:pPr algn="l" indent="0" marL="0">
              <a:lnSpc>
                <a:spcPct val="108000"/>
              </a:lnSpc>
              <a:buNone/>
            </a:pPr>
            <a:r>
              <a:rPr lang="en-US" sz="1050" dirty="0">
                <a:solidFill>
                  <a:srgbClr val="6E6E6E"/>
                </a:solidFill>
                <a:latin typeface="Calibri" pitchFamily="34" charset="0"/>
                <a:ea typeface="Calibri" pitchFamily="34" charset="-122"/>
                <a:cs typeface="Calibri" pitchFamily="34" charset="-120"/>
              </a:rPr>
              <a:t>Disiplin eksekusi pelengkap Bab 10: focus on the wildly important, act on lead measures, keep a compelling scoreboard, create a cadence of accountability (presentasi framework Kelompok 3).</a:t>
            </a:r>
            <a:endParaRPr lang="en-US" sz="10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05  ·  BAHAN RENUNGAN</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PERTANYAAN UNTUK DISKUSI KELAS</a:t>
            </a:r>
            <a:endParaRPr lang="en-US" sz="2400" dirty="0"/>
          </a:p>
        </p:txBody>
      </p:sp>
      <p:sp>
        <p:nvSpPr>
          <p:cNvPr id="4" name="card"/>
          <p:cNvSpPr/>
          <p:nvPr/>
        </p:nvSpPr>
        <p:spPr>
          <a:xfrm>
            <a:off x="548640" y="1737360"/>
            <a:ext cx="5464912" cy="2226564"/>
          </a:xfrm>
          <a:prstGeom prst="roundRect">
            <a:avLst>
              <a:gd name="adj" fmla="val 4928"/>
            </a:avLst>
          </a:prstGeom>
          <a:solidFill>
            <a:srgbClr val="D7F544"/>
          </a:solidFill>
          <a:ln w="6350">
            <a:solidFill>
              <a:srgbClr val="D7F544"/>
            </a:solidFill>
            <a:prstDash val="solid"/>
          </a:ln>
        </p:spPr>
      </p:sp>
      <p:sp>
        <p:nvSpPr>
          <p:cNvPr id="5" name="icon-bg"/>
          <p:cNvSpPr/>
          <p:nvPr/>
        </p:nvSpPr>
        <p:spPr>
          <a:xfrm>
            <a:off x="749808" y="1938528"/>
            <a:ext cx="493776" cy="493776"/>
          </a:xfrm>
          <a:prstGeom prst="ellipse">
            <a:avLst/>
          </a:prstGeom>
          <a:solidFill>
            <a:srgbClr val="141414"/>
          </a:solidFill>
          <a:ln w="6350">
            <a:solidFill>
              <a:srgbClr val="141414"/>
            </a:solidFill>
            <a:prstDash val="solid"/>
          </a:ln>
        </p:spPr>
      </p:sp>
      <p:pic>
        <p:nvPicPr>
          <p:cNvPr id="6" name="icon" descr="preencoded.png">    </p:cNvPr>
          <p:cNvPicPr>
            <a:picLocks noChangeAspect="1"/>
          </p:cNvPicPr>
          <p:nvPr/>
        </p:nvPicPr>
        <p:blipFill>
          <a:blip r:embed="rId1"/>
          <a:stretch>
            <a:fillRect/>
          </a:stretch>
        </p:blipFill>
        <p:spPr>
          <a:xfrm>
            <a:off x="868314" y="2057034"/>
            <a:ext cx="256764" cy="256764"/>
          </a:xfrm>
          <a:prstGeom prst="rect">
            <a:avLst/>
          </a:prstGeom>
        </p:spPr>
      </p:pic>
      <p:sp>
        <p:nvSpPr>
          <p:cNvPr id="7" name="text"/>
          <p:cNvSpPr txBox="1"/>
          <p:nvPr/>
        </p:nvSpPr>
        <p:spPr>
          <a:xfrm>
            <a:off x="1417320" y="2029968"/>
            <a:ext cx="4413352"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Awak kapal</a:t>
            </a:r>
            <a:endParaRPr lang="en-US" sz="1400" dirty="0"/>
          </a:p>
        </p:txBody>
      </p:sp>
      <p:sp>
        <p:nvSpPr>
          <p:cNvPr id="8" name="text"/>
          <p:cNvSpPr txBox="1"/>
          <p:nvPr/>
        </p:nvSpPr>
        <p:spPr>
          <a:xfrm>
            <a:off x="749808" y="2606040"/>
            <a:ext cx="5062576" cy="1266444"/>
          </a:xfrm>
          <a:prstGeom prst="rect">
            <a:avLst/>
          </a:prstGeom>
          <a:noFill/>
          <a:ln/>
        </p:spPr>
        <p:txBody>
          <a:bodyPr wrap="square" lIns="0" tIns="0" rIns="0" bIns="0" rtlCol="0" anchor="t"/>
          <a:lstStyle/>
          <a:p>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Dalam analogi kapal, layar dan mesin telah tersedia (Bab 4) dan haluan telah dipilih (Bab 5–8). Apa yang terjadi bila awak tidak terlatih atau garis komando di geladak tidak jelas? Apakah strategi yang tepat saja cukup?</a:t>
            </a:r>
            <a:endParaRPr lang="en-US" sz="1200" dirty="0"/>
          </a:p>
        </p:txBody>
      </p:sp>
      <p:sp>
        <p:nvSpPr>
          <p:cNvPr id="9" name="card"/>
          <p:cNvSpPr/>
          <p:nvPr/>
        </p:nvSpPr>
        <p:spPr>
          <a:xfrm>
            <a:off x="6178144" y="1737360"/>
            <a:ext cx="5464912" cy="2226564"/>
          </a:xfrm>
          <a:prstGeom prst="roundRect">
            <a:avLst>
              <a:gd name="adj" fmla="val 4928"/>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0" name="icon-bg"/>
          <p:cNvSpPr/>
          <p:nvPr/>
        </p:nvSpPr>
        <p:spPr>
          <a:xfrm>
            <a:off x="6379312" y="1938528"/>
            <a:ext cx="493776" cy="493776"/>
          </a:xfrm>
          <a:prstGeom prst="ellipse">
            <a:avLst/>
          </a:prstGeom>
          <a:solidFill>
            <a:srgbClr val="141414"/>
          </a:solidFill>
          <a:ln w="6350">
            <a:solidFill>
              <a:srgbClr val="141414"/>
            </a:solidFill>
            <a:prstDash val="solid"/>
          </a:ln>
        </p:spPr>
      </p:sp>
      <p:pic>
        <p:nvPicPr>
          <p:cNvPr id="11" name="icon" descr="preencoded.png">    </p:cNvPr>
          <p:cNvPicPr>
            <a:picLocks noChangeAspect="1"/>
          </p:cNvPicPr>
          <p:nvPr/>
        </p:nvPicPr>
        <p:blipFill>
          <a:blip r:embed="rId2"/>
          <a:stretch>
            <a:fillRect/>
          </a:stretch>
        </p:blipFill>
        <p:spPr>
          <a:xfrm>
            <a:off x="6497818" y="2057034"/>
            <a:ext cx="256764" cy="256764"/>
          </a:xfrm>
          <a:prstGeom prst="rect">
            <a:avLst/>
          </a:prstGeom>
        </p:spPr>
      </p:pic>
      <p:sp>
        <p:nvSpPr>
          <p:cNvPr id="12" name="text"/>
          <p:cNvSpPr txBox="1"/>
          <p:nvPr/>
        </p:nvSpPr>
        <p:spPr>
          <a:xfrm>
            <a:off x="7046824" y="2029968"/>
            <a:ext cx="4413352"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Strategi yang mudah ditiru</a:t>
            </a:r>
            <a:endParaRPr lang="en-US" sz="1400" dirty="0"/>
          </a:p>
        </p:txBody>
      </p:sp>
      <p:sp>
        <p:nvSpPr>
          <p:cNvPr id="13" name="text"/>
          <p:cNvSpPr txBox="1"/>
          <p:nvPr/>
        </p:nvSpPr>
        <p:spPr>
          <a:xfrm>
            <a:off x="6379312" y="2606040"/>
            <a:ext cx="5062576" cy="1266444"/>
          </a:xfrm>
          <a:prstGeom prst="rect">
            <a:avLst/>
          </a:prstGeom>
          <a:noFill/>
          <a:ln/>
        </p:spPr>
        <p:txBody>
          <a:bodyPr wrap="square" lIns="0" tIns="0" rIns="0" bIns="0" rtlCol="0" anchor="t"/>
          <a:lstStyle/>
          <a:p>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Dua jaringan minimarket di Indonesia menjalankan strategi yang hampir serupa. Jika strategi tidak lagi membedakan, pada aktivitas eksekusi mana keunggulan yang bertahan dapat dibangun, dan bagaimana mengukurnya terhadap pembanding industri?</a:t>
            </a:r>
            <a:endParaRPr lang="en-US" sz="1200" dirty="0"/>
          </a:p>
        </p:txBody>
      </p:sp>
      <p:sp>
        <p:nvSpPr>
          <p:cNvPr id="14" name="card"/>
          <p:cNvSpPr/>
          <p:nvPr/>
        </p:nvSpPr>
        <p:spPr>
          <a:xfrm>
            <a:off x="548640" y="4128516"/>
            <a:ext cx="5464912" cy="2226564"/>
          </a:xfrm>
          <a:prstGeom prst="roundRect">
            <a:avLst>
              <a:gd name="adj" fmla="val 4928"/>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15" name="icon-bg"/>
          <p:cNvSpPr/>
          <p:nvPr/>
        </p:nvSpPr>
        <p:spPr>
          <a:xfrm>
            <a:off x="749808" y="4329684"/>
            <a:ext cx="493776" cy="493776"/>
          </a:xfrm>
          <a:prstGeom prst="ellipse">
            <a:avLst/>
          </a:prstGeom>
          <a:solidFill>
            <a:srgbClr val="141414"/>
          </a:solidFill>
          <a:ln w="6350">
            <a:solidFill>
              <a:srgbClr val="141414"/>
            </a:solidFill>
            <a:prstDash val="solid"/>
          </a:ln>
        </p:spPr>
      </p:sp>
      <p:pic>
        <p:nvPicPr>
          <p:cNvPr id="16" name="icon" descr="preencoded.png">    </p:cNvPr>
          <p:cNvPicPr>
            <a:picLocks noChangeAspect="1"/>
          </p:cNvPicPr>
          <p:nvPr/>
        </p:nvPicPr>
        <p:blipFill>
          <a:blip r:embed="rId3"/>
          <a:stretch>
            <a:fillRect/>
          </a:stretch>
        </p:blipFill>
        <p:spPr>
          <a:xfrm>
            <a:off x="868314" y="4448190"/>
            <a:ext cx="256764" cy="256764"/>
          </a:xfrm>
          <a:prstGeom prst="rect">
            <a:avLst/>
          </a:prstGeom>
        </p:spPr>
      </p:pic>
      <p:sp>
        <p:nvSpPr>
          <p:cNvPr id="17" name="text"/>
          <p:cNvSpPr txBox="1"/>
          <p:nvPr/>
        </p:nvSpPr>
        <p:spPr>
          <a:xfrm>
            <a:off x="1417320" y="4421124"/>
            <a:ext cx="4413352" cy="320040"/>
          </a:xfrm>
          <a:prstGeom prst="rect">
            <a:avLst/>
          </a:prstGeom>
          <a:noFill/>
          <a:ln/>
        </p:spPr>
        <p:txBody>
          <a:bodyPr wrap="square" lIns="0" tIns="0" rIns="0" bIns="0" rtlCol="0" anchor="t"/>
          <a:lstStyle/>
          <a:p>
            <a:pPr algn="l" indent="0" marL="0">
              <a:lnSpc>
                <a:spcPct val="108000"/>
              </a:lnSpc>
              <a:buNone/>
            </a:pPr>
            <a:r>
              <a:rPr lang="en-US" sz="1400" b="1" dirty="0">
                <a:solidFill>
                  <a:srgbClr val="1C1C1C"/>
                </a:solidFill>
                <a:latin typeface="Arial" pitchFamily="34" charset="0"/>
                <a:ea typeface="Arial" pitchFamily="34" charset="-122"/>
                <a:cs typeface="Arial" pitchFamily="34" charset="-120"/>
              </a:rPr>
              <a:t>Membeli capability</a:t>
            </a:r>
            <a:endParaRPr lang="en-US" sz="1400" dirty="0"/>
          </a:p>
        </p:txBody>
      </p:sp>
      <p:sp>
        <p:nvSpPr>
          <p:cNvPr id="18" name="text"/>
          <p:cNvSpPr txBox="1"/>
          <p:nvPr/>
        </p:nvSpPr>
        <p:spPr>
          <a:xfrm>
            <a:off x="749808" y="4997196"/>
            <a:ext cx="5062576" cy="1266444"/>
          </a:xfrm>
          <a:prstGeom prst="rect">
            <a:avLst/>
          </a:prstGeom>
          <a:noFill/>
          <a:ln/>
        </p:spPr>
        <p:txBody>
          <a:bodyPr wrap="square" lIns="0" tIns="0" rIns="0" bIns="0" rtlCol="0" anchor="t"/>
          <a:lstStyle/>
          <a:p>
            <a:pPr algn="l" indent="0" marL="0">
              <a:lnSpc>
                <a:spcPct val="108000"/>
              </a:lnSpc>
              <a:buNone/>
            </a:pPr>
            <a:r>
              <a:rPr lang="en-US" sz="1200" dirty="0">
                <a:solidFill>
                  <a:srgbClr val="1C1C1C"/>
                </a:solidFill>
                <a:latin typeface="Calibri" pitchFamily="34" charset="0"/>
                <a:ea typeface="Calibri" pitchFamily="34" charset="-122"/>
                <a:cs typeface="Calibri" pitchFamily="34" charset="-120"/>
              </a:rPr>
              <a:t>Merger Gojek dan Tokopedia (2021) menggabungkan capability dua organisasi. Mengapa capability yang tacit dan tertanam dalam rutinitas sulit dipindahkan, dan syarat apa yang menentukan keberhasilan integrasinya?</a:t>
            </a:r>
            <a:endParaRPr lang="en-US" sz="1200" dirty="0"/>
          </a:p>
        </p:txBody>
      </p:sp>
      <p:sp>
        <p:nvSpPr>
          <p:cNvPr id="19" name="card"/>
          <p:cNvSpPr/>
          <p:nvPr/>
        </p:nvSpPr>
        <p:spPr>
          <a:xfrm>
            <a:off x="6178144" y="4128516"/>
            <a:ext cx="5464912" cy="2226564"/>
          </a:xfrm>
          <a:prstGeom prst="roundRect">
            <a:avLst>
              <a:gd name="adj" fmla="val 4928"/>
            </a:avLst>
          </a:prstGeom>
          <a:solidFill>
            <a:srgbClr val="141414"/>
          </a:solidFill>
          <a:ln w="6350">
            <a:solidFill>
              <a:srgbClr val="141414"/>
            </a:solidFill>
            <a:prstDash val="solid"/>
          </a:ln>
        </p:spPr>
      </p:sp>
      <p:sp>
        <p:nvSpPr>
          <p:cNvPr id="20" name="icon-bg"/>
          <p:cNvSpPr/>
          <p:nvPr/>
        </p:nvSpPr>
        <p:spPr>
          <a:xfrm>
            <a:off x="6379312" y="4329684"/>
            <a:ext cx="493776" cy="493776"/>
          </a:xfrm>
          <a:prstGeom prst="ellipse">
            <a:avLst/>
          </a:prstGeom>
          <a:solidFill>
            <a:srgbClr val="D7F544"/>
          </a:solidFill>
          <a:ln w="6350">
            <a:solidFill>
              <a:srgbClr val="D7F544"/>
            </a:solidFill>
            <a:prstDash val="solid"/>
          </a:ln>
        </p:spPr>
      </p:sp>
      <p:pic>
        <p:nvPicPr>
          <p:cNvPr id="21" name="icon" descr="preencoded.png">    </p:cNvPr>
          <p:cNvPicPr>
            <a:picLocks noChangeAspect="1"/>
          </p:cNvPicPr>
          <p:nvPr/>
        </p:nvPicPr>
        <p:blipFill>
          <a:blip r:embed="rId4"/>
          <a:stretch>
            <a:fillRect/>
          </a:stretch>
        </p:blipFill>
        <p:spPr>
          <a:xfrm>
            <a:off x="6497818" y="4448190"/>
            <a:ext cx="256764" cy="256764"/>
          </a:xfrm>
          <a:prstGeom prst="rect">
            <a:avLst/>
          </a:prstGeom>
        </p:spPr>
      </p:pic>
      <p:sp>
        <p:nvSpPr>
          <p:cNvPr id="22" name="text"/>
          <p:cNvSpPr txBox="1"/>
          <p:nvPr/>
        </p:nvSpPr>
        <p:spPr>
          <a:xfrm>
            <a:off x="7046824" y="4421124"/>
            <a:ext cx="4413352" cy="320040"/>
          </a:xfrm>
          <a:prstGeom prst="rect">
            <a:avLst/>
          </a:prstGeom>
          <a:noFill/>
          <a:ln/>
        </p:spPr>
        <p:txBody>
          <a:bodyPr wrap="square" lIns="0" tIns="0" rIns="0" bIns="0" rtlCol="0" anchor="t"/>
          <a:lstStyle/>
          <a:p>
            <a:pPr algn="l" indent="0" marL="0">
              <a:lnSpc>
                <a:spcPct val="108000"/>
              </a:lnSpc>
              <a:buNone/>
            </a:pPr>
            <a:r>
              <a:rPr lang="en-US" sz="1400" b="1" dirty="0">
                <a:solidFill>
                  <a:srgbClr val="D7F544"/>
                </a:solidFill>
                <a:latin typeface="Arial" pitchFamily="34" charset="0"/>
                <a:ea typeface="Arial" pitchFamily="34" charset="-122"/>
                <a:cs typeface="Arial" pitchFamily="34" charset="-120"/>
              </a:rPr>
              <a:t>Kendali versus inisiatif</a:t>
            </a:r>
            <a:endParaRPr lang="en-US" sz="1400" dirty="0"/>
          </a:p>
        </p:txBody>
      </p:sp>
      <p:sp>
        <p:nvSpPr>
          <p:cNvPr id="23" name="text"/>
          <p:cNvSpPr txBox="1"/>
          <p:nvPr/>
        </p:nvSpPr>
        <p:spPr>
          <a:xfrm>
            <a:off x="6379312" y="4997196"/>
            <a:ext cx="5062576" cy="1266444"/>
          </a:xfrm>
          <a:prstGeom prst="rect">
            <a:avLst/>
          </a:prstGeom>
          <a:noFill/>
          <a:ln/>
        </p:spPr>
        <p:txBody>
          <a:bodyPr wrap="square" lIns="0" tIns="0" rIns="0" bIns="0" rtlCol="0" anchor="t"/>
          <a:lstStyle/>
          <a:p>
            <a:pPr algn="l" indent="0" marL="0">
              <a:lnSpc>
                <a:spcPct val="108000"/>
              </a:lnSpc>
              <a:buNone/>
            </a:pPr>
            <a:r>
              <a:rPr lang="en-US" sz="1200" dirty="0">
                <a:solidFill>
                  <a:srgbClr val="E6E6E6"/>
                </a:solidFill>
                <a:latin typeface="Calibri" pitchFamily="34" charset="0"/>
                <a:ea typeface="Calibri" pitchFamily="34" charset="-122"/>
                <a:cs typeface="Calibri" pitchFamily="34" charset="-120"/>
              </a:rPr>
              <a:t>Kapan sentralisasi lebih unggul daripada desentralisasi? Pertimbangkan situasi krisis versus kebutuhan inovasi, serta bagaimana kendali tetap dijaga ketika wewenang didelegasikan ke lini depan.</a:t>
            </a:r>
            <a:endParaRPr lang="en-US" sz="120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5"/>
          <p:cNvSpPr/>
          <p:nvPr>
            <p:ph idx="105" type="body" hasCustomPrompt="1"/>
          </p:nvPr>
        </p:nvSpPr>
        <p:spPr>
          <a:xfrm>
            <a:off x="548640" y="548640"/>
            <a:ext cx="11094415" cy="256032"/>
          </a:xfrm>
          <a:prstGeom prst="rect">
            <a:avLst/>
          </a:prstGeom>
          <a:noFill/>
          <a:ln/>
        </p:spPr>
        <p:txBody>
          <a:bodyPr wrap="square" lIns="0" tIns="0" rIns="0" bIns="0" rtlCol="0"/>
          <a:lstStyle/>
          <a:p>
            <a:pPr indent="0" marL="0">
              <a:buNone/>
            </a:pPr>
            <a:r>
              <a:rPr lang="en-US" sz="1000" b="1" spc="200" kern="0" dirty="0">
                <a:solidFill>
                  <a:srgbClr val="6E6E6E"/>
                </a:solidFill>
                <a:latin typeface="Arial" pitchFamily="34" charset="0"/>
                <a:ea typeface="Arial" pitchFamily="34" charset="-122"/>
                <a:cs typeface="Arial" pitchFamily="34" charset="-120"/>
              </a:rPr>
              <a:t>REFERENSI</a:t>
            </a:r>
            <a:endParaRPr lang="en-US" sz="1000" dirty="0"/>
          </a:p>
        </p:txBody>
      </p:sp>
      <p:sp>
        <p:nvSpPr>
          <p:cNvPr id="3" name="Text 5"/>
          <p:cNvSpPr/>
          <p:nvPr>
            <p:ph idx="106" type="title" hasCustomPrompt="1"/>
          </p:nvPr>
        </p:nvSpPr>
        <p:spPr>
          <a:xfrm>
            <a:off x="548640" y="822960"/>
            <a:ext cx="11094415" cy="731520"/>
          </a:xfrm>
          <a:prstGeom prst="rect">
            <a:avLst/>
          </a:prstGeom>
          <a:noFill/>
          <a:ln/>
        </p:spPr>
        <p:txBody>
          <a:bodyPr wrap="square" lIns="0" tIns="0" rIns="0" bIns="0" rtlCol="0" anchor="t"/>
          <a:lstStyle/>
          <a:p>
            <a:pPr algn="l" indent="0" marL="0">
              <a:buNone/>
            </a:pPr>
            <a:r>
              <a:rPr lang="en-US" sz="2400" b="1" dirty="0">
                <a:solidFill>
                  <a:srgbClr val="141414"/>
                </a:solidFill>
                <a:latin typeface="Arial" pitchFamily="34" charset="0"/>
                <a:ea typeface="Arial" pitchFamily="34" charset="-122"/>
                <a:cs typeface="Arial" pitchFamily="34" charset="-120"/>
              </a:rPr>
              <a:t>DAFTAR REFERENSI</a:t>
            </a:r>
            <a:endParaRPr lang="en-US" sz="2400" dirty="0"/>
          </a:p>
        </p:txBody>
      </p:sp>
      <p:sp>
        <p:nvSpPr>
          <p:cNvPr id="4" name="card"/>
          <p:cNvSpPr/>
          <p:nvPr/>
        </p:nvSpPr>
        <p:spPr>
          <a:xfrm>
            <a:off x="548640" y="1737360"/>
            <a:ext cx="11094415" cy="4572000"/>
          </a:xfrm>
          <a:prstGeom prst="roundRect">
            <a:avLst>
              <a:gd name="adj" fmla="val 2400"/>
            </a:avLst>
          </a:prstGeom>
          <a:solidFill>
            <a:srgbClr val="FFFFFF"/>
          </a:solidFill>
          <a:ln w="6350">
            <a:solidFill>
              <a:srgbClr val="E2E2DE"/>
            </a:solidFill>
            <a:prstDash val="solid"/>
          </a:ln>
          <a:effectLst>
            <a:outerShdw sx="100000" sy="100000" kx="0" ky="0" algn="bl" rotWithShape="0" blurRad="101600" dist="25400" dir="5400000">
              <a:srgbClr val="000000">
                <a:alpha val="10000"/>
              </a:srgbClr>
            </a:outerShdw>
          </a:effectLst>
        </p:spPr>
      </p:sp>
      <p:sp>
        <p:nvSpPr>
          <p:cNvPr id="5" name="text"/>
          <p:cNvSpPr txBox="1"/>
          <p:nvPr/>
        </p:nvSpPr>
        <p:spPr>
          <a:xfrm>
            <a:off x="822960" y="1965960"/>
            <a:ext cx="10545775" cy="4206240"/>
          </a:xfrm>
          <a:prstGeom prst="rect">
            <a:avLst/>
          </a:prstGeom>
          <a:noFill/>
          <a:ln/>
        </p:spPr>
        <p:txBody>
          <a:bodyPr wrap="square" lIns="0" tIns="0" rIns="0" bIns="0" rtlCol="0" anchor="t"/>
          <a:lstStyle/>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Thompson, A. A., Peteraf, M. A., Gamble, J. E., &amp; Strickland III, A. J. (2024). Crafting &amp; Executing Strategy: The Quest for Competitive Advantage, Concepts and Cases (2024 Release, ISE). McGraw Hill. Chapter 10, pp. 294–325.</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Thompson, A. A., &amp; Strickland III, A. J. (2019). Strategic Management: Concepts and Cases (22nd ed.). McGraw-Hill/Irwin.</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Chandler, A. D. (1962). Strategy and Structure: Chapters in the History of the American Industrial Enterprise. MIT Press.</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Sull, D., Homkes, R., &amp; Sull, C. (2015). Why strategy execution unravels, and what to do about it. Harvard Business Review, 93(3).</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Collins, J. (2001). Good to Great: Why Some Companies Make the Leap and Others Don’t. HarperBusiness.</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Bossidy, L., &amp; Charan, R. (2002). Execution: The Discipline of Getting Things Done. Crown Business.</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Bartlett, C. A., &amp; Ghoshal, S. (2002). Building competitive advantage through people. MIT Sloan Management Review, 43(2), 34–41.</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Helfat, C. E., &amp; Peteraf, M. A. (2003). The dynamic resource-based view: Capability lifecycles. Strategic Management Journal, 24(10), 997–1010.</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Simons, R. (1995). Control in an age of empowerment. Harvard Business Review, 73(2), 80–88.</a:t>
            </a:r>
            <a:endParaRPr lang="en-US" sz="1150" dirty="0"/>
          </a:p>
          <a:p>
            <a:pPr algn="l" marL="139700" indent="-139700">
              <a:lnSpc>
                <a:spcPct val="108000"/>
              </a:lnSpc>
              <a:spcAft>
                <a:spcPts val="500"/>
              </a:spcAft>
              <a:buSzPct val="100000"/>
              <a:buChar char="•"/>
            </a:pPr>
            <a:r>
              <a:rPr lang="en-US" sz="1150" dirty="0">
                <a:solidFill>
                  <a:srgbClr val="1C1C1C"/>
                </a:solidFill>
                <a:latin typeface="Calibri" pitchFamily="34" charset="0"/>
                <a:ea typeface="Calibri" pitchFamily="34" charset="-122"/>
                <a:cs typeface="Calibri" pitchFamily="34" charset="-120"/>
              </a:rPr>
              <a:t>McChesney, C., Covey, S., &amp; Huling, J. (2012). The 4 Disciplines of Execution. Free Press.</a:t>
            </a:r>
            <a:endParaRPr lang="en-US" sz="1150" dirty="0"/>
          </a:p>
        </p:txBody>
      </p:sp>
      <p:sp>
        <p:nvSpPr>
          <p:cNvPr id="25" name="Slide Number Placeholder 0"/>
          <p:cNvSpPr>
            <a:spLocks noGrp="1"/>
          </p:cNvSpPr>
          <p:nvPr>
            <p:ph type="sldNum" sz="quarter" idx="4294967295"/>
          </p:nvPr>
        </p:nvSpPr>
        <p:spPr>
          <a:xfrm>
            <a:off x="11109960" y="182880"/>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E6E6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Foto penutup" descr="/tmp/claude-0/-home-user-Dom-Manipulation/3c93335b-97e8-5e65-bee6-528e9b6d7de1/scratchpad/build/img/closing_bw.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p:cNvSpPr txBox="1"/>
          <p:nvPr/>
        </p:nvSpPr>
        <p:spPr>
          <a:xfrm>
            <a:off x="0" y="2697480"/>
            <a:ext cx="12191695" cy="1280160"/>
          </a:xfrm>
          <a:prstGeom prst="rect">
            <a:avLst/>
          </a:prstGeom>
          <a:noFill/>
          <a:ln/>
        </p:spPr>
        <p:txBody>
          <a:bodyPr wrap="square" lIns="0" tIns="0" rIns="0" bIns="0" rtlCol="0" anchor="ctr"/>
          <a:lstStyle/>
          <a:p>
            <a:pPr algn="ctr" indent="0" marL="0">
              <a:lnSpc>
                <a:spcPct val="108000"/>
              </a:lnSpc>
              <a:buNone/>
            </a:pPr>
            <a:r>
              <a:rPr lang="en-US" sz="6000" b="1" dirty="0">
                <a:solidFill>
                  <a:srgbClr val="FFFFFF"/>
                </a:solidFill>
                <a:latin typeface="Arial" pitchFamily="34" charset="0"/>
                <a:ea typeface="Arial" pitchFamily="34" charset="-122"/>
                <a:cs typeface="Arial" pitchFamily="34" charset="-120"/>
              </a:rPr>
              <a:t>Terima Kasih</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2026-10-31T03:29:00Z</dcterms:created>
  <dcterms:modified xsi:type="dcterms:W3CDTF">2026-10-31T03:29:00Z</dcterms:modified>
</cp:coreProperties>
</file>