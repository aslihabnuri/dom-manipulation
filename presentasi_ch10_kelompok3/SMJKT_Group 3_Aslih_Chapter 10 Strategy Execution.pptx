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d1e2090f-d433-4ee2-06a9-86711a5cc02c}">
          <p14:sldIdLst>
            <p14:sldId id="256"/>
            <p14:sldId id="257"/>
          </p14:sldIdLst>
        </p14:section>
        <p14:section name="01 Landasan" id="{6be1cb6d-c81b-fca9-71f7-35472d7a0137}">
          <p14:sldIdLst>
            <p14:sldId id="258"/>
            <p14:sldId id="259"/>
            <p14:sldId id="260"/>
            <p14:sldId id="261"/>
          </p14:sldIdLst>
        </p14:section>
        <p14:section name="02 Staffing" id="{3f998661-85e0-bfab-26f0-3446f12bf054}">
          <p14:sldIdLst>
            <p14:sldId id="262"/>
            <p14:sldId id="263"/>
          </p14:sldIdLst>
        </p14:section>
        <p14:section name="03 Capabilities" id="{6ae90297-8ff0-5954-470a-e774573313da}">
          <p14:sldIdLst>
            <p14:sldId id="264"/>
            <p14:sldId id="265"/>
            <p14:sldId id="266"/>
            <p14:sldId id="267"/>
          </p14:sldIdLst>
        </p14:section>
        <p14:section name="04 Structure" id="{130cfc7a-9b75-d0c8-7989-33c37bb1495c}">
          <p14:sldIdLst>
            <p14:sldId id="268"/>
            <p14:sldId id="269"/>
            <p14:sldId id="270"/>
            <p14:sldId id="271"/>
            <p14:sldId id="272"/>
          </p14:sldIdLst>
        </p14:section>
        <p14:section name="05 Sintesis" id="{b2631549-f0ea-9e74-f18f-e938fd31e5a7}">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Sekitar 15 menit dengan penekanan pada bagaimana dan mengapa. Bila waktu terbatas, slide 4, 8, 11, dan 17 dapat dilewati tanpa memutus logika.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Urutan bermakna: percuma memasang sistem insentif pada orang yang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pertanyaan bergaya sokratik, masing-masing menguji satu klaim bab. Pegangan jawaban ada di materi pemahaman. Contoh Indonesia diajukan sebagai pertanyaan, bukan klaim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utama adalah buku teks; sumber lain adalah rujukan yang dikutip bab tersebut.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r>
              <a:rPr lang="en-US" sz="750" dirty="0">
                <a:solidFill>
                  <a:srgbClr val="7C7C80"/>
                </a:solidFill>
                <a:latin typeface="Outfit" pitchFamily="34" charset="0"/>
                <a:ea typeface="Outfit" pitchFamily="34" charset="-122"/>
                <a:cs typeface="Outfit" pitchFamily="34" charset="-120"/>
              </a:rPr>
              <a:t>Chapter presentation</a:t>
            </a:r>
            <a:endParaRPr lang="en-US" sz="750" dirty="0"/>
          </a:p>
        </p:txBody>
      </p:sp>
      <p:sp>
        <p:nvSpPr>
          <p:cNvPr id="7" name="toggle"/>
          <p:cNvSpPr/>
          <p:nvPr/>
        </p:nvSpPr>
        <p:spPr>
          <a:xfrm>
            <a:off x="502920" y="658368"/>
            <a:ext cx="566928" cy="274320"/>
          </a:xfrm>
          <a:prstGeom prst="roundRect">
            <a:avLst>
              <a:gd name="adj" fmla="val 166667"/>
            </a:avLst>
          </a:prstGeom>
          <a:solidFill>
            <a:srgbClr val="F4F4F4"/>
          </a:solidFill>
          <a:ln w="9525">
            <a:solidFill>
              <a:srgbClr val="141417"/>
            </a:solidFill>
            <a:prstDash val="solid"/>
          </a:ln>
        </p:spPr>
      </p:sp>
      <p:sp>
        <p:nvSpPr>
          <p:cNvPr id="8" name="toggle-dot"/>
          <p:cNvSpPr/>
          <p:nvPr/>
        </p:nvSpPr>
        <p:spPr>
          <a:xfrm>
            <a:off x="804672" y="694944"/>
            <a:ext cx="201168" cy="201168"/>
          </a:xfrm>
          <a:prstGeom prst="ellipse">
            <a:avLst/>
          </a:prstGeom>
          <a:solidFill>
            <a:srgbClr val="D4FC00"/>
          </a:solidFill>
          <a:ln w="6350">
            <a:solidFill>
              <a:srgbClr val="D4FC00"/>
            </a:solidFill>
            <a:prstDash val="solid"/>
          </a:ln>
        </p:spPr>
      </p:sp>
      <p:pic>
        <p:nvPicPr>
          <p:cNvPr id="9" name="toggle-star" descr="preencoded.png">    </p:cNvPr>
          <p:cNvPicPr>
            <a:picLocks noChangeAspect="1"/>
          </p:cNvPicPr>
          <p:nvPr/>
        </p:nvPicPr>
        <p:blipFill>
          <a:blip r:embed="rId1"/>
          <a:stretch>
            <a:fillRect/>
          </a:stretch>
        </p:blipFill>
        <p:spPr>
          <a:xfrm>
            <a:off x="845820" y="736092"/>
            <a:ext cx="118872" cy="118872"/>
          </a:xfrm>
          <a:prstGeom prst="rect">
            <a:avLst/>
          </a:prstGeom>
        </p:spPr>
      </p:pic>
      <p:sp>
        <p:nvSpPr>
          <p:cNvPr id="10" name="text"/>
          <p:cNvSpPr txBox="1"/>
          <p:nvPr/>
        </p:nvSpPr>
        <p:spPr>
          <a:xfrm>
            <a:off x="502920" y="960120"/>
            <a:ext cx="640080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BUILDING AN ORGANIZATION CAPABLE OF GOOD STRATEGY EXECUTION</a:t>
            </a:r>
            <a:endParaRPr lang="en-US" sz="3800" dirty="0"/>
          </a:p>
        </p:txBody>
      </p:sp>
      <p:sp>
        <p:nvSpPr>
          <p:cNvPr id="11" name="pill"/>
          <p:cNvSpPr/>
          <p:nvPr/>
        </p:nvSpPr>
        <p:spPr>
          <a:xfrm>
            <a:off x="502920" y="3703320"/>
            <a:ext cx="2651760" cy="310896"/>
          </a:xfrm>
          <a:prstGeom prst="roundRect">
            <a:avLst>
              <a:gd name="adj" fmla="val 147059"/>
            </a:avLst>
          </a:prstGeom>
          <a:solidFill>
            <a:srgbClr val="F4F4F4"/>
          </a:solidFill>
          <a:ln w="9525">
            <a:solidFill>
              <a:srgbClr val="141417"/>
            </a:solidFill>
            <a:prstDash val="solid"/>
          </a:ln>
        </p:spPr>
      </p:sp>
      <p:sp>
        <p:nvSpPr>
          <p:cNvPr id="12" name="text"/>
          <p:cNvSpPr txBox="1"/>
          <p:nvPr/>
        </p:nvSpPr>
        <p:spPr>
          <a:xfrm>
            <a:off x="612648" y="3703320"/>
            <a:ext cx="2432304" cy="310896"/>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PEOPLE, CAPABILITIES, AND STRUCTURE</a:t>
            </a:r>
            <a:endParaRPr lang="en-US" sz="750" dirty="0"/>
          </a:p>
        </p:txBody>
      </p:sp>
      <p:sp>
        <p:nvSpPr>
          <p:cNvPr id="13" name="card"/>
          <p:cNvSpPr/>
          <p:nvPr/>
        </p:nvSpPr>
        <p:spPr>
          <a:xfrm>
            <a:off x="502920" y="4251960"/>
            <a:ext cx="2103120" cy="1325880"/>
          </a:xfrm>
          <a:prstGeom prst="roundRect">
            <a:avLst>
              <a:gd name="adj" fmla="val 13793"/>
            </a:avLst>
          </a:prstGeom>
          <a:solidFill>
            <a:srgbClr val="E8E8E8"/>
          </a:solidFill>
          <a:ln w="6350">
            <a:solidFill>
              <a:srgbClr val="E8E8E8"/>
            </a:solidFill>
            <a:prstDash val="solid"/>
          </a:ln>
        </p:spPr>
      </p:sp>
      <p:sp>
        <p:nvSpPr>
          <p:cNvPr id="14" name="text"/>
          <p:cNvSpPr txBox="1"/>
          <p:nvPr/>
        </p:nvSpPr>
        <p:spPr>
          <a:xfrm>
            <a:off x="731520" y="4434840"/>
            <a:ext cx="1645920" cy="50292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141417"/>
                </a:solidFill>
                <a:latin typeface="Outfit Medium" pitchFamily="34" charset="0"/>
                <a:ea typeface="Outfit Medium" pitchFamily="34" charset="-122"/>
                <a:cs typeface="Outfit Medium" pitchFamily="34" charset="-120"/>
              </a:rPr>
              <a:t>Bab 10</a:t>
            </a:r>
            <a:endParaRPr lang="en-US" sz="2000" dirty="0"/>
          </a:p>
        </p:txBody>
      </p:sp>
      <p:sp>
        <p:nvSpPr>
          <p:cNvPr id="15" name="text"/>
          <p:cNvSpPr txBox="1"/>
          <p:nvPr/>
        </p:nvSpPr>
        <p:spPr>
          <a:xfrm>
            <a:off x="731520" y="4983480"/>
            <a:ext cx="1645920" cy="50292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Thompson, Peteraf, Gamble &amp; Strickland (2024), Crafting &amp; Executing Strategy</a:t>
            </a:r>
            <a:endParaRPr lang="en-US" sz="750" dirty="0"/>
          </a:p>
        </p:txBody>
      </p:sp>
      <p:sp>
        <p:nvSpPr>
          <p:cNvPr id="16" name="card"/>
          <p:cNvSpPr/>
          <p:nvPr/>
        </p:nvSpPr>
        <p:spPr>
          <a:xfrm>
            <a:off x="2734056" y="4251960"/>
            <a:ext cx="2103120" cy="1325880"/>
          </a:xfrm>
          <a:prstGeom prst="roundRect">
            <a:avLst>
              <a:gd name="adj" fmla="val 13793"/>
            </a:avLst>
          </a:prstGeom>
          <a:solidFill>
            <a:srgbClr val="D4FC00"/>
          </a:solidFill>
          <a:ln w="6350">
            <a:solidFill>
              <a:srgbClr val="D4FC00"/>
            </a:solidFill>
            <a:prstDash val="solid"/>
          </a:ln>
        </p:spPr>
      </p:sp>
      <p:sp>
        <p:nvSpPr>
          <p:cNvPr id="17" name="text"/>
          <p:cNvSpPr txBox="1"/>
          <p:nvPr/>
        </p:nvSpPr>
        <p:spPr>
          <a:xfrm>
            <a:off x="2962656" y="4434840"/>
            <a:ext cx="1645920" cy="50292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141417"/>
                </a:solidFill>
                <a:latin typeface="Outfit Medium" pitchFamily="34" charset="0"/>
                <a:ea typeface="Outfit Medium" pitchFamily="34" charset="-122"/>
                <a:cs typeface="Outfit Medium" pitchFamily="34" charset="-120"/>
              </a:rPr>
              <a:t>Sesi 9</a:t>
            </a:r>
            <a:endParaRPr lang="en-US" sz="2000" dirty="0"/>
          </a:p>
        </p:txBody>
      </p:sp>
      <p:sp>
        <p:nvSpPr>
          <p:cNvPr id="18" name="text"/>
          <p:cNvSpPr txBox="1"/>
          <p:nvPr/>
        </p:nvSpPr>
        <p:spPr>
          <a:xfrm>
            <a:off x="2962656" y="4983480"/>
            <a:ext cx="1645920" cy="50292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7 November 2026. Dosen: Dr. Rangga Almahendra, S.T., M.M.</a:t>
            </a:r>
            <a:endParaRPr lang="en-US" sz="750" dirty="0"/>
          </a:p>
        </p:txBody>
      </p:sp>
      <p:sp>
        <p:nvSpPr>
          <p:cNvPr id="19" name="card"/>
          <p:cNvSpPr/>
          <p:nvPr/>
        </p:nvSpPr>
        <p:spPr>
          <a:xfrm>
            <a:off x="4965192" y="4251960"/>
            <a:ext cx="2103120" cy="1325880"/>
          </a:xfrm>
          <a:prstGeom prst="roundRect">
            <a:avLst>
              <a:gd name="adj" fmla="val 13793"/>
            </a:avLst>
          </a:prstGeom>
          <a:solidFill>
            <a:srgbClr val="141417"/>
          </a:solidFill>
          <a:ln w="6350">
            <a:solidFill>
              <a:srgbClr val="141417"/>
            </a:solidFill>
            <a:prstDash val="solid"/>
          </a:ln>
        </p:spPr>
      </p:sp>
      <p:sp>
        <p:nvSpPr>
          <p:cNvPr id="20" name="text"/>
          <p:cNvSpPr txBox="1"/>
          <p:nvPr/>
        </p:nvSpPr>
        <p:spPr>
          <a:xfrm>
            <a:off x="5193792" y="4434840"/>
            <a:ext cx="1645920" cy="50292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FFFFFF"/>
                </a:solidFill>
                <a:latin typeface="Outfit Medium" pitchFamily="34" charset="0"/>
                <a:ea typeface="Outfit Medium" pitchFamily="34" charset="-122"/>
                <a:cs typeface="Outfit Medium" pitchFamily="34" charset="-120"/>
              </a:rPr>
              <a:t>Kelompok 3</a:t>
            </a:r>
            <a:endParaRPr lang="en-US" sz="2000" dirty="0"/>
          </a:p>
        </p:txBody>
      </p:sp>
      <p:sp>
        <p:nvSpPr>
          <p:cNvPr id="21" name="text"/>
          <p:cNvSpPr txBox="1"/>
          <p:nvPr/>
        </p:nvSpPr>
        <p:spPr>
          <a:xfrm>
            <a:off x="5193792" y="4983480"/>
            <a:ext cx="1645920" cy="502920"/>
          </a:xfrm>
          <a:prstGeom prst="rect">
            <a:avLst/>
          </a:prstGeom>
          <a:noFill/>
          <a:ln/>
        </p:spPr>
        <p:txBody>
          <a:bodyPr wrap="square" lIns="0" tIns="0" rIns="0" bIns="0" rtlCol="0" anchor="t"/>
          <a:lstStyle/>
          <a:p>
            <a:pPr algn="l" indent="0" marL="0">
              <a:lnSpc>
                <a:spcPct val="110000"/>
              </a:lnSpc>
              <a:buNone/>
            </a:pPr>
            <a:r>
              <a:rPr lang="en-US" sz="750" dirty="0">
                <a:solidFill>
                  <a:srgbClr val="BDBDC2"/>
                </a:solidFill>
                <a:latin typeface="Outfit" pitchFamily="34" charset="0"/>
                <a:ea typeface="Outfit" pitchFamily="34" charset="-122"/>
                <a:cs typeface="Outfit" pitchFamily="34" charset="-120"/>
              </a:rPr>
              <a:t>Magister Manajemen FEB Universitas Gadjah Mada</a:t>
            </a:r>
            <a:endParaRPr lang="en-US" sz="750" dirty="0"/>
          </a:p>
        </p:txBody>
      </p:sp>
      <p:sp>
        <p:nvSpPr>
          <p:cNvPr id="22" name="text"/>
          <p:cNvSpPr txBox="1"/>
          <p:nvPr/>
        </p:nvSpPr>
        <p:spPr>
          <a:xfrm>
            <a:off x="502920" y="5852160"/>
            <a:ext cx="1737360" cy="274320"/>
          </a:xfrm>
          <a:prstGeom prst="rect">
            <a:avLst/>
          </a:prstGeom>
          <a:noFill/>
          <a:ln/>
        </p:spPr>
        <p:txBody>
          <a:bodyPr wrap="square" lIns="0" tIns="0" rIns="0" bIns="0" rtlCol="0" anchor="ctr"/>
          <a:lstStyle/>
          <a:p>
            <a:pPr algn="l" indent="0" marL="0">
              <a:lnSpc>
                <a:spcPct val="110000"/>
              </a:lnSpc>
              <a:buNone/>
            </a:pPr>
            <a:r>
              <a:rPr lang="en-US" sz="950" dirty="0">
                <a:solidFill>
                  <a:srgbClr val="1A1A1C"/>
                </a:solidFill>
                <a:latin typeface="Outfit" pitchFamily="34" charset="0"/>
                <a:ea typeface="Outfit" pitchFamily="34" charset="-122"/>
                <a:cs typeface="Outfit" pitchFamily="34" charset="-120"/>
              </a:rPr>
              <a:t>Aslih Abnuri</a:t>
            </a:r>
            <a:endParaRPr lang="en-US" sz="950" dirty="0"/>
          </a:p>
        </p:txBody>
      </p:sp>
      <p:sp>
        <p:nvSpPr>
          <p:cNvPr id="23" name="text"/>
          <p:cNvSpPr txBox="1"/>
          <p:nvPr/>
        </p:nvSpPr>
        <p:spPr>
          <a:xfrm>
            <a:off x="2194560" y="5852160"/>
            <a:ext cx="1645920" cy="274320"/>
          </a:xfrm>
          <a:prstGeom prst="rect">
            <a:avLst/>
          </a:prstGeom>
          <a:noFill/>
          <a:ln/>
        </p:spPr>
        <p:txBody>
          <a:bodyPr wrap="square" lIns="0" tIns="0" rIns="0" bIns="0" rtlCol="0" anchor="ctr"/>
          <a:lstStyle/>
          <a:p>
            <a:pPr algn="l" indent="0" marL="0">
              <a:lnSpc>
                <a:spcPct val="110000"/>
              </a:lnSpc>
              <a:buNone/>
            </a:pPr>
            <a:r>
              <a:rPr lang="en-US" sz="800" dirty="0">
                <a:solidFill>
                  <a:srgbClr val="7C7C80"/>
                </a:solidFill>
                <a:latin typeface="Outfit" pitchFamily="34" charset="0"/>
                <a:ea typeface="Outfit" pitchFamily="34" charset="-122"/>
                <a:cs typeface="Outfit" pitchFamily="34" charset="-120"/>
              </a:rPr>
              <a:t>25/574338/PEK/31801</a:t>
            </a:r>
            <a:endParaRPr lang="en-US" sz="800" dirty="0"/>
          </a:p>
        </p:txBody>
      </p:sp>
      <p:sp>
        <p:nvSpPr>
          <p:cNvPr id="24" name="text"/>
          <p:cNvSpPr txBox="1"/>
          <p:nvPr/>
        </p:nvSpPr>
        <p:spPr>
          <a:xfrm>
            <a:off x="3840480" y="5852160"/>
            <a:ext cx="1737360" cy="274320"/>
          </a:xfrm>
          <a:prstGeom prst="rect">
            <a:avLst/>
          </a:prstGeom>
          <a:noFill/>
          <a:ln/>
        </p:spPr>
        <p:txBody>
          <a:bodyPr wrap="square" lIns="0" tIns="0" rIns="0" bIns="0" rtlCol="0" anchor="ctr"/>
          <a:lstStyle/>
          <a:p>
            <a:pPr algn="l" indent="0" marL="0">
              <a:lnSpc>
                <a:spcPct val="110000"/>
              </a:lnSpc>
              <a:buNone/>
            </a:pPr>
            <a:r>
              <a:rPr lang="en-US" sz="950" dirty="0">
                <a:solidFill>
                  <a:srgbClr val="1A1A1C"/>
                </a:solidFill>
                <a:latin typeface="Outfit" pitchFamily="34" charset="0"/>
                <a:ea typeface="Outfit" pitchFamily="34" charset="-122"/>
                <a:cs typeface="Outfit" pitchFamily="34" charset="-120"/>
              </a:rPr>
              <a:t>Tifani Puspita</a:t>
            </a:r>
            <a:endParaRPr lang="en-US" sz="950" dirty="0"/>
          </a:p>
        </p:txBody>
      </p:sp>
      <p:sp>
        <p:nvSpPr>
          <p:cNvPr id="25" name="text"/>
          <p:cNvSpPr txBox="1"/>
          <p:nvPr/>
        </p:nvSpPr>
        <p:spPr>
          <a:xfrm>
            <a:off x="5532120" y="5852160"/>
            <a:ext cx="1645920" cy="274320"/>
          </a:xfrm>
          <a:prstGeom prst="rect">
            <a:avLst/>
          </a:prstGeom>
          <a:noFill/>
          <a:ln/>
        </p:spPr>
        <p:txBody>
          <a:bodyPr wrap="square" lIns="0" tIns="0" rIns="0" bIns="0" rtlCol="0" anchor="ctr"/>
          <a:lstStyle/>
          <a:p>
            <a:pPr algn="l" indent="0" marL="0">
              <a:lnSpc>
                <a:spcPct val="110000"/>
              </a:lnSpc>
              <a:buNone/>
            </a:pPr>
            <a:r>
              <a:rPr lang="en-US" sz="800" dirty="0">
                <a:solidFill>
                  <a:srgbClr val="7C7C80"/>
                </a:solidFill>
                <a:latin typeface="Outfit" pitchFamily="34" charset="0"/>
                <a:ea typeface="Outfit" pitchFamily="34" charset="-122"/>
                <a:cs typeface="Outfit" pitchFamily="34" charset="-120"/>
              </a:rPr>
              <a:t>25/574443/PEK/31851</a:t>
            </a:r>
            <a:endParaRPr lang="en-US" sz="800" dirty="0"/>
          </a:p>
        </p:txBody>
      </p:sp>
      <p:sp>
        <p:nvSpPr>
          <p:cNvPr id="26" name="text"/>
          <p:cNvSpPr txBox="1"/>
          <p:nvPr/>
        </p:nvSpPr>
        <p:spPr>
          <a:xfrm>
            <a:off x="502920" y="6236208"/>
            <a:ext cx="1737360" cy="274320"/>
          </a:xfrm>
          <a:prstGeom prst="rect">
            <a:avLst/>
          </a:prstGeom>
          <a:noFill/>
          <a:ln/>
        </p:spPr>
        <p:txBody>
          <a:bodyPr wrap="square" lIns="0" tIns="0" rIns="0" bIns="0" rtlCol="0" anchor="ctr"/>
          <a:lstStyle/>
          <a:p>
            <a:pPr algn="l" indent="0" marL="0">
              <a:lnSpc>
                <a:spcPct val="110000"/>
              </a:lnSpc>
              <a:buNone/>
            </a:pPr>
            <a:r>
              <a:rPr lang="en-US" sz="950" dirty="0">
                <a:solidFill>
                  <a:srgbClr val="1A1A1C"/>
                </a:solidFill>
                <a:latin typeface="Outfit" pitchFamily="34" charset="0"/>
                <a:ea typeface="Outfit" pitchFamily="34" charset="-122"/>
                <a:cs typeface="Outfit" pitchFamily="34" charset="-120"/>
              </a:rPr>
              <a:t>Happy Dinithasari</a:t>
            </a:r>
            <a:endParaRPr lang="en-US" sz="950" dirty="0"/>
          </a:p>
        </p:txBody>
      </p:sp>
      <p:sp>
        <p:nvSpPr>
          <p:cNvPr id="27" name="text"/>
          <p:cNvSpPr txBox="1"/>
          <p:nvPr/>
        </p:nvSpPr>
        <p:spPr>
          <a:xfrm>
            <a:off x="2194560" y="6236208"/>
            <a:ext cx="1645920" cy="274320"/>
          </a:xfrm>
          <a:prstGeom prst="rect">
            <a:avLst/>
          </a:prstGeom>
          <a:noFill/>
          <a:ln/>
        </p:spPr>
        <p:txBody>
          <a:bodyPr wrap="square" lIns="0" tIns="0" rIns="0" bIns="0" rtlCol="0" anchor="ctr"/>
          <a:lstStyle/>
          <a:p>
            <a:pPr algn="l" indent="0" marL="0">
              <a:lnSpc>
                <a:spcPct val="110000"/>
              </a:lnSpc>
              <a:buNone/>
            </a:pPr>
            <a:r>
              <a:rPr lang="en-US" sz="800" dirty="0">
                <a:solidFill>
                  <a:srgbClr val="7C7C80"/>
                </a:solidFill>
                <a:latin typeface="Outfit" pitchFamily="34" charset="0"/>
                <a:ea typeface="Outfit" pitchFamily="34" charset="-122"/>
                <a:cs typeface="Outfit" pitchFamily="34" charset="-120"/>
              </a:rPr>
              <a:t>25/574400/PEK/31831</a:t>
            </a:r>
            <a:endParaRPr lang="en-US" sz="800" dirty="0"/>
          </a:p>
        </p:txBody>
      </p:sp>
      <p:sp>
        <p:nvSpPr>
          <p:cNvPr id="28" name="text"/>
          <p:cNvSpPr txBox="1"/>
          <p:nvPr/>
        </p:nvSpPr>
        <p:spPr>
          <a:xfrm>
            <a:off x="3840480" y="6236208"/>
            <a:ext cx="1737360" cy="274320"/>
          </a:xfrm>
          <a:prstGeom prst="rect">
            <a:avLst/>
          </a:prstGeom>
          <a:noFill/>
          <a:ln/>
        </p:spPr>
        <p:txBody>
          <a:bodyPr wrap="square" lIns="0" tIns="0" rIns="0" bIns="0" rtlCol="0" anchor="ctr"/>
          <a:lstStyle/>
          <a:p>
            <a:pPr algn="l" indent="0" marL="0">
              <a:lnSpc>
                <a:spcPct val="110000"/>
              </a:lnSpc>
              <a:buNone/>
            </a:pPr>
            <a:r>
              <a:rPr lang="en-US" sz="950" dirty="0">
                <a:solidFill>
                  <a:srgbClr val="1A1A1C"/>
                </a:solidFill>
                <a:latin typeface="Outfit" pitchFamily="34" charset="0"/>
                <a:ea typeface="Outfit" pitchFamily="34" charset="-122"/>
                <a:cs typeface="Outfit" pitchFamily="34" charset="-120"/>
              </a:rPr>
              <a:t>Dara Astrini Rahayu K</a:t>
            </a:r>
            <a:endParaRPr lang="en-US" sz="950" dirty="0"/>
          </a:p>
        </p:txBody>
      </p:sp>
      <p:sp>
        <p:nvSpPr>
          <p:cNvPr id="29" name="text"/>
          <p:cNvSpPr txBox="1"/>
          <p:nvPr/>
        </p:nvSpPr>
        <p:spPr>
          <a:xfrm>
            <a:off x="5532120" y="6236208"/>
            <a:ext cx="1645920" cy="274320"/>
          </a:xfrm>
          <a:prstGeom prst="rect">
            <a:avLst/>
          </a:prstGeom>
          <a:noFill/>
          <a:ln/>
        </p:spPr>
        <p:txBody>
          <a:bodyPr wrap="square" lIns="0" tIns="0" rIns="0" bIns="0" rtlCol="0" anchor="ctr"/>
          <a:lstStyle/>
          <a:p>
            <a:pPr algn="l" indent="0" marL="0">
              <a:lnSpc>
                <a:spcPct val="110000"/>
              </a:lnSpc>
              <a:buNone/>
            </a:pPr>
            <a:r>
              <a:rPr lang="en-US" sz="800" dirty="0">
                <a:solidFill>
                  <a:srgbClr val="7C7C80"/>
                </a:solidFill>
                <a:latin typeface="Outfit" pitchFamily="34" charset="0"/>
                <a:ea typeface="Outfit" pitchFamily="34" charset="-122"/>
                <a:cs typeface="Outfit" pitchFamily="34" charset="-120"/>
              </a:rPr>
              <a:t>25/574437/PEK/31847</a:t>
            </a:r>
            <a:endParaRPr lang="en-US" sz="800" dirty="0"/>
          </a:p>
        </p:txBody>
      </p:sp>
      <p:pic>
        <p:nvPicPr>
          <p:cNvPr id="30" name="Tekstur marmer putih" descr="preencoded.png">    </p:cNvPr>
          <p:cNvPicPr>
            <a:picLocks noChangeAspect="1"/>
          </p:cNvPicPr>
          <p:nvPr/>
        </p:nvPicPr>
        <p:blipFill>
          <a:blip r:embed="rId2"/>
          <a:stretch>
            <a:fillRect/>
          </a:stretch>
        </p:blipFill>
        <p:spPr>
          <a:xfrm>
            <a:off x="7589520" y="658368"/>
            <a:ext cx="4099255" cy="6473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ALUR PEMBAHASAN</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148840"/>
            <a:ext cx="2679878" cy="2514600"/>
          </a:xfrm>
          <a:prstGeom prst="roundRect">
            <a:avLst>
              <a:gd name="adj" fmla="val 7273"/>
            </a:avLst>
          </a:prstGeom>
          <a:solidFill>
            <a:srgbClr val="E8E8E8"/>
          </a:solidFill>
          <a:ln w="6350">
            <a:solidFill>
              <a:srgbClr val="E8E8E8"/>
            </a:solidFill>
            <a:prstDash val="solid"/>
          </a:ln>
        </p:spPr>
      </p:sp>
      <p:sp>
        <p:nvSpPr>
          <p:cNvPr id="12" name="text"/>
          <p:cNvSpPr txBox="1"/>
          <p:nvPr/>
        </p:nvSpPr>
        <p:spPr>
          <a:xfrm>
            <a:off x="777240"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01</a:t>
            </a:r>
            <a:endParaRPr lang="en-US" sz="1300" dirty="0"/>
          </a:p>
        </p:txBody>
      </p:sp>
      <p:sp>
        <p:nvSpPr>
          <p:cNvPr id="13" name="text"/>
          <p:cNvSpPr txBox="1"/>
          <p:nvPr/>
        </p:nvSpPr>
        <p:spPr>
          <a:xfrm>
            <a:off x="777240"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Mengapa eksekusi berbeda dari perumusan, sepuluh tugas eksekusi, dan tiga aksi kunci.</a:t>
            </a:r>
            <a:endParaRPr lang="en-US" sz="900" dirty="0"/>
          </a:p>
        </p:txBody>
      </p:sp>
      <p:sp>
        <p:nvSpPr>
          <p:cNvPr id="14" name="text"/>
          <p:cNvSpPr txBox="1"/>
          <p:nvPr/>
        </p:nvSpPr>
        <p:spPr>
          <a:xfrm>
            <a:off x="777240"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LANDASAN</a:t>
            </a:r>
            <a:endParaRPr lang="en-US" sz="750" dirty="0"/>
          </a:p>
        </p:txBody>
      </p:sp>
      <p:sp>
        <p:nvSpPr>
          <p:cNvPr id="15" name="card"/>
          <p:cNvSpPr/>
          <p:nvPr/>
        </p:nvSpPr>
        <p:spPr>
          <a:xfrm>
            <a:off x="3338246" y="2148840"/>
            <a:ext cx="2679878" cy="2514600"/>
          </a:xfrm>
          <a:prstGeom prst="roundRect">
            <a:avLst>
              <a:gd name="adj" fmla="val 7273"/>
            </a:avLst>
          </a:prstGeom>
          <a:solidFill>
            <a:srgbClr val="D4FC00"/>
          </a:solidFill>
          <a:ln w="6350">
            <a:solidFill>
              <a:srgbClr val="D4FC00"/>
            </a:solidFill>
            <a:prstDash val="solid"/>
          </a:ln>
        </p:spPr>
      </p:sp>
      <p:sp>
        <p:nvSpPr>
          <p:cNvPr id="16" name="text"/>
          <p:cNvSpPr txBox="1"/>
          <p:nvPr/>
        </p:nvSpPr>
        <p:spPr>
          <a:xfrm>
            <a:off x="3612566"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02</a:t>
            </a:r>
            <a:endParaRPr lang="en-US" sz="1300" dirty="0"/>
          </a:p>
        </p:txBody>
      </p:sp>
      <p:sp>
        <p:nvSpPr>
          <p:cNvPr id="17" name="text"/>
          <p:cNvSpPr txBox="1"/>
          <p:nvPr/>
        </p:nvSpPr>
        <p:spPr>
          <a:xfrm>
            <a:off x="3612566"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Tim manajemen yang kuat dan karyawan yang tepat.</a:t>
            </a:r>
            <a:endParaRPr lang="en-US" sz="900" dirty="0"/>
          </a:p>
        </p:txBody>
      </p:sp>
      <p:sp>
        <p:nvSpPr>
          <p:cNvPr id="18" name="text"/>
          <p:cNvSpPr txBox="1"/>
          <p:nvPr/>
        </p:nvSpPr>
        <p:spPr>
          <a:xfrm>
            <a:off x="3612566"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STAFFING</a:t>
            </a:r>
            <a:endParaRPr lang="en-US" sz="750" dirty="0"/>
          </a:p>
        </p:txBody>
      </p:sp>
      <p:sp>
        <p:nvSpPr>
          <p:cNvPr id="19" name="card"/>
          <p:cNvSpPr/>
          <p:nvPr/>
        </p:nvSpPr>
        <p:spPr>
          <a:xfrm>
            <a:off x="6173572" y="2148840"/>
            <a:ext cx="2679878" cy="2514600"/>
          </a:xfrm>
          <a:prstGeom prst="roundRect">
            <a:avLst>
              <a:gd name="adj" fmla="val 7273"/>
            </a:avLst>
          </a:prstGeom>
          <a:solidFill>
            <a:srgbClr val="E8E8E8"/>
          </a:solidFill>
          <a:ln w="6350">
            <a:solidFill>
              <a:srgbClr val="E8E8E8"/>
            </a:solidFill>
            <a:prstDash val="solid"/>
          </a:ln>
        </p:spPr>
      </p:sp>
      <p:sp>
        <p:nvSpPr>
          <p:cNvPr id="20" name="text"/>
          <p:cNvSpPr txBox="1"/>
          <p:nvPr/>
        </p:nvSpPr>
        <p:spPr>
          <a:xfrm>
            <a:off x="6447892"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03</a:t>
            </a:r>
            <a:endParaRPr lang="en-US" sz="1300" dirty="0"/>
          </a:p>
        </p:txBody>
      </p:sp>
      <p:sp>
        <p:nvSpPr>
          <p:cNvPr id="21" name="text"/>
          <p:cNvSpPr txBox="1"/>
          <p:nvPr/>
        </p:nvSpPr>
        <p:spPr>
          <a:xfrm>
            <a:off x="6447892"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Tiga jalan membangun capability, dan mengapa eksekusi dapat menjadi keunggulan.</a:t>
            </a:r>
            <a:endParaRPr lang="en-US" sz="900" dirty="0"/>
          </a:p>
        </p:txBody>
      </p:sp>
      <p:sp>
        <p:nvSpPr>
          <p:cNvPr id="22" name="text"/>
          <p:cNvSpPr txBox="1"/>
          <p:nvPr/>
        </p:nvSpPr>
        <p:spPr>
          <a:xfrm>
            <a:off x="6447892"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CAPABILITIES</a:t>
            </a:r>
            <a:endParaRPr lang="en-US" sz="750" dirty="0"/>
          </a:p>
        </p:txBody>
      </p:sp>
      <p:sp>
        <p:nvSpPr>
          <p:cNvPr id="23" name="card"/>
          <p:cNvSpPr/>
          <p:nvPr/>
        </p:nvSpPr>
        <p:spPr>
          <a:xfrm>
            <a:off x="9008897" y="2148840"/>
            <a:ext cx="2679878" cy="2514600"/>
          </a:xfrm>
          <a:prstGeom prst="roundRect">
            <a:avLst>
              <a:gd name="adj" fmla="val 7273"/>
            </a:avLst>
          </a:prstGeom>
          <a:solidFill>
            <a:srgbClr val="141417"/>
          </a:solidFill>
          <a:ln w="6350">
            <a:solidFill>
              <a:srgbClr val="141417"/>
            </a:solidFill>
            <a:prstDash val="solid"/>
          </a:ln>
        </p:spPr>
      </p:sp>
      <p:sp>
        <p:nvSpPr>
          <p:cNvPr id="24" name="text"/>
          <p:cNvSpPr txBox="1"/>
          <p:nvPr/>
        </p:nvSpPr>
        <p:spPr>
          <a:xfrm>
            <a:off x="9283217"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FFFFFF"/>
                </a:solidFill>
                <a:latin typeface="Outfit Medium" pitchFamily="34" charset="0"/>
                <a:ea typeface="Outfit Medium" pitchFamily="34" charset="-122"/>
                <a:cs typeface="Outfit Medium" pitchFamily="34" charset="-120"/>
              </a:rPr>
              <a:t>04</a:t>
            </a:r>
            <a:endParaRPr lang="en-US" sz="1300" dirty="0"/>
          </a:p>
        </p:txBody>
      </p:sp>
      <p:sp>
        <p:nvSpPr>
          <p:cNvPr id="25" name="text"/>
          <p:cNvSpPr txBox="1"/>
          <p:nvPr/>
        </p:nvSpPr>
        <p:spPr>
          <a:xfrm>
            <a:off x="9283217"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DADADD"/>
                </a:solidFill>
                <a:latin typeface="Outfit" pitchFamily="34" charset="0"/>
                <a:ea typeface="Outfit" pitchFamily="34" charset="-122"/>
                <a:cs typeface="Outfit" pitchFamily="34" charset="-120"/>
              </a:rPr>
              <a:t>Lima keputusan menata organisasi dan pekerjaan.</a:t>
            </a:r>
            <a:endParaRPr lang="en-US" sz="900" dirty="0"/>
          </a:p>
        </p:txBody>
      </p:sp>
      <p:sp>
        <p:nvSpPr>
          <p:cNvPr id="26" name="text"/>
          <p:cNvSpPr txBox="1"/>
          <p:nvPr/>
        </p:nvSpPr>
        <p:spPr>
          <a:xfrm>
            <a:off x="9283217"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STRUCTURE</a:t>
            </a:r>
            <a:endParaRPr lang="en-US" sz="750" dirty="0"/>
          </a:p>
        </p:txBody>
      </p:sp>
      <p:sp>
        <p:nvSpPr>
          <p:cNvPr id="27" name="text"/>
          <p:cNvSpPr txBox="1"/>
          <p:nvPr/>
        </p:nvSpPr>
        <p:spPr>
          <a:xfrm>
            <a:off x="502920" y="5166360"/>
            <a:ext cx="7498080" cy="365760"/>
          </a:xfrm>
          <a:prstGeom prst="rect">
            <a:avLst/>
          </a:prstGeom>
          <a:noFill/>
          <a:ln/>
        </p:spPr>
        <p:txBody>
          <a:bodyPr wrap="square" lIns="0" tIns="0" rIns="0" bIns="0" rtlCol="0" anchor="ctr"/>
          <a:lstStyle/>
          <a:p>
            <a:pPr algn="l" indent="0" marL="0">
              <a:lnSpc>
                <a:spcPct val="110000"/>
              </a:lnSpc>
              <a:buNone/>
            </a:pPr>
            <a:r>
              <a:rPr lang="en-US" sz="1200" spc="50" kern="0" dirty="0">
                <a:solidFill>
                  <a:srgbClr val="1A1A1C"/>
                </a:solidFill>
                <a:latin typeface="Outfit Medium" pitchFamily="34" charset="0"/>
                <a:ea typeface="Outfit Medium" pitchFamily="34" charset="-122"/>
                <a:cs typeface="Outfit Medium" pitchFamily="34" charset="-120"/>
              </a:rPr>
              <a:t>ORANG MEMBANGUN CAPABILITY, CAPABILITY MENUNTUT STRUKTUR, STRUKTUR MENENTUKAN CARA ORANG BEKERJA</a:t>
            </a:r>
            <a:endParaRPr lang="en-US" sz="1200" dirty="0"/>
          </a:p>
        </p:txBody>
      </p:sp>
      <p:sp>
        <p:nvSpPr>
          <p:cNvPr id="28" name="pill"/>
          <p:cNvSpPr/>
          <p:nvPr/>
        </p:nvSpPr>
        <p:spPr>
          <a:xfrm>
            <a:off x="8396935" y="5166360"/>
            <a:ext cx="3291840" cy="365760"/>
          </a:xfrm>
          <a:prstGeom prst="roundRect">
            <a:avLst>
              <a:gd name="adj" fmla="val 125000"/>
            </a:avLst>
          </a:prstGeom>
          <a:solidFill>
            <a:srgbClr val="F4F4F4"/>
          </a:solidFill>
          <a:ln w="9525">
            <a:solidFill>
              <a:srgbClr val="141417"/>
            </a:solidFill>
            <a:prstDash val="solid"/>
          </a:ln>
        </p:spPr>
      </p:sp>
      <p:sp>
        <p:nvSpPr>
          <p:cNvPr id="29" name="text"/>
          <p:cNvSpPr txBox="1"/>
          <p:nvPr/>
        </p:nvSpPr>
        <p:spPr>
          <a:xfrm>
            <a:off x="8506663" y="5166360"/>
            <a:ext cx="3072384" cy="365760"/>
          </a:xfrm>
          <a:prstGeom prst="rect">
            <a:avLst/>
          </a:prstGeom>
          <a:noFill/>
          <a:ln/>
        </p:spPr>
        <p:txBody>
          <a:bodyPr wrap="square" lIns="0" tIns="0" rIns="0" bIns="0" rtlCol="0" anchor="ctr"/>
          <a:lstStyle/>
          <a:p>
            <a:pPr algn="ctr" indent="0" marL="0">
              <a:lnSpc>
                <a:spcPct val="110000"/>
              </a:lnSpc>
              <a:buNone/>
            </a:pPr>
            <a:r>
              <a:rPr lang="en-US" sz="800" spc="100" kern="0" dirty="0">
                <a:solidFill>
                  <a:srgbClr val="1A1A1C"/>
                </a:solidFill>
                <a:latin typeface="Outfit" pitchFamily="34" charset="0"/>
                <a:ea typeface="Outfit" pitchFamily="34" charset="-122"/>
                <a:cs typeface="Outfit" pitchFamily="34" charset="-120"/>
              </a:rPr>
              <a:t>05 · SINTESIS DAN BAHAN RENUNGAN</a:t>
            </a:r>
            <a:endParaRPr lang="en-US" sz="800" dirty="0"/>
          </a:p>
        </p:txBody>
      </p:sp>
      <p:sp>
        <p:nvSpPr>
          <p:cNvPr id="30"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pic>
        <p:nvPicPr>
          <p:cNvPr id="7"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2"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98000"/>
              </a:lnSpc>
              <a:buNone/>
            </a:pPr>
            <a:r>
              <a:rPr lang="en-US" sz="3200" spc="-50" kern="0" dirty="0">
                <a:solidFill>
                  <a:srgbClr val="141417"/>
                </a:solidFill>
                <a:latin typeface="Outfit Medium" pitchFamily="34" charset="0"/>
                <a:ea typeface="Outfit Medium" pitchFamily="34" charset="-122"/>
                <a:cs typeface="Outfit Medium" pitchFamily="34" charset="-120"/>
              </a:rPr>
              <a:t>DARI MERUMUSKAN KE MENGEKSEKUSI STRATEGI</a:t>
            </a:r>
            <a:endParaRPr lang="en-US" sz="3200" dirty="0"/>
          </a:p>
        </p:txBody>
      </p:sp>
      <p:sp>
        <p:nvSpPr>
          <p:cNvPr id="13" name="card"/>
          <p:cNvSpPr/>
          <p:nvPr/>
        </p:nvSpPr>
        <p:spPr>
          <a:xfrm>
            <a:off x="502920" y="4069080"/>
            <a:ext cx="4023360" cy="1417320"/>
          </a:xfrm>
          <a:prstGeom prst="roundRect">
            <a:avLst>
              <a:gd name="adj" fmla="val 12903"/>
            </a:avLst>
          </a:prstGeom>
          <a:solidFill>
            <a:srgbClr val="D4FC00"/>
          </a:solidFill>
          <a:ln w="6350">
            <a:solidFill>
              <a:srgbClr val="D4FC00"/>
            </a:solidFill>
            <a:prstDash val="solid"/>
          </a:ln>
        </p:spPr>
      </p:sp>
      <p:sp>
        <p:nvSpPr>
          <p:cNvPr id="14" name="text"/>
          <p:cNvSpPr txBox="1"/>
          <p:nvPr/>
        </p:nvSpPr>
        <p:spPr>
          <a:xfrm>
            <a:off x="731520" y="4069080"/>
            <a:ext cx="2103120" cy="1417320"/>
          </a:xfrm>
          <a:prstGeom prst="rect">
            <a:avLst/>
          </a:prstGeom>
          <a:noFill/>
          <a:ln/>
        </p:spPr>
        <p:txBody>
          <a:bodyPr wrap="square" lIns="0" tIns="0" rIns="0" bIns="0" rtlCol="0" anchor="ctr"/>
          <a:lstStyle/>
          <a:p>
            <a:pPr algn="l" indent="0" marL="0">
              <a:lnSpc>
                <a:spcPct val="110000"/>
              </a:lnSpc>
              <a:buNone/>
            </a:pPr>
            <a:r>
              <a:rPr lang="en-US" sz="3400" spc="-50" kern="0" dirty="0">
                <a:solidFill>
                  <a:srgbClr val="141417"/>
                </a:solidFill>
                <a:latin typeface="Outfit Medium" pitchFamily="34" charset="0"/>
                <a:ea typeface="Outfit Medium" pitchFamily="34" charset="-122"/>
                <a:cs typeface="Outfit Medium" pitchFamily="34" charset="-120"/>
              </a:rPr>
              <a:t>1/2</a:t>
            </a:r>
            <a:endParaRPr lang="en-US" sz="3400" dirty="0"/>
          </a:p>
        </p:txBody>
      </p:sp>
      <p:sp>
        <p:nvSpPr>
          <p:cNvPr id="15" name="text"/>
          <p:cNvSpPr txBox="1"/>
          <p:nvPr/>
        </p:nvSpPr>
        <p:spPr>
          <a:xfrm>
            <a:off x="2926080" y="4069080"/>
            <a:ext cx="1463040" cy="1417320"/>
          </a:xfrm>
          <a:prstGeom prst="rect">
            <a:avLst/>
          </a:prstGeom>
          <a:noFill/>
          <a:ln/>
        </p:spPr>
        <p:txBody>
          <a:bodyPr wrap="square" lIns="0" tIns="0" rIns="0" bIns="0" rtlCol="0" anchor="ctr"/>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pekerjaan selesai saat strategi dirumuskan. Setengah lainnya adalah membangun organisasi yang menjalankannya (Lecuona).</a:t>
            </a:r>
            <a:endParaRPr lang="en-US" sz="750" dirty="0"/>
          </a:p>
        </p:txBody>
      </p:sp>
      <p:sp>
        <p:nvSpPr>
          <p:cNvPr id="16" name="card"/>
          <p:cNvSpPr/>
          <p:nvPr/>
        </p:nvSpPr>
        <p:spPr>
          <a:xfrm>
            <a:off x="4663440" y="4069080"/>
            <a:ext cx="5166360" cy="1417320"/>
          </a:xfrm>
          <a:prstGeom prst="roundRect">
            <a:avLst>
              <a:gd name="adj" fmla="val 12903"/>
            </a:avLst>
          </a:prstGeom>
          <a:solidFill>
            <a:srgbClr val="E8E8E8"/>
          </a:solidFill>
          <a:ln w="6350">
            <a:solidFill>
              <a:srgbClr val="E8E8E8"/>
            </a:solidFill>
            <a:prstDash val="solid"/>
          </a:ln>
        </p:spPr>
      </p:sp>
      <p:sp>
        <p:nvSpPr>
          <p:cNvPr id="17" name="card"/>
          <p:cNvSpPr/>
          <p:nvPr/>
        </p:nvSpPr>
        <p:spPr>
          <a:xfrm>
            <a:off x="4663440" y="4069080"/>
            <a:ext cx="2606040" cy="1417320"/>
          </a:xfrm>
          <a:prstGeom prst="roundRect">
            <a:avLst>
              <a:gd name="adj" fmla="val 12903"/>
            </a:avLst>
          </a:prstGeom>
          <a:solidFill>
            <a:srgbClr val="E8E8E8"/>
          </a:solidFill>
          <a:ln w="6350">
            <a:solidFill>
              <a:srgbClr val="E8E8E8"/>
            </a:solidFill>
            <a:prstDash val="solid"/>
          </a:ln>
        </p:spPr>
      </p:sp>
      <p:sp>
        <p:nvSpPr>
          <p:cNvPr id="18" name="text"/>
          <p:cNvSpPr txBox="1"/>
          <p:nvPr/>
        </p:nvSpPr>
        <p:spPr>
          <a:xfrm>
            <a:off x="4892040" y="4069080"/>
            <a:ext cx="1600200" cy="1417320"/>
          </a:xfrm>
          <a:prstGeom prst="rect">
            <a:avLst/>
          </a:prstGeom>
          <a:noFill/>
          <a:ln/>
        </p:spPr>
        <p:txBody>
          <a:bodyPr wrap="square" lIns="0" tIns="0" rIns="0" bIns="0" rtlCol="0" anchor="ctr"/>
          <a:lstStyle/>
          <a:p>
            <a:pPr algn="l" indent="0" marL="0">
              <a:lnSpc>
                <a:spcPct val="110000"/>
              </a:lnSpc>
              <a:buNone/>
            </a:pPr>
            <a:r>
              <a:rPr lang="en-US" sz="2000" spc="-50" kern="0" dirty="0">
                <a:solidFill>
                  <a:srgbClr val="141417"/>
                </a:solidFill>
                <a:latin typeface="Outfit Medium" pitchFamily="34" charset="0"/>
                <a:ea typeface="Outfit Medium" pitchFamily="34" charset="-122"/>
                <a:cs typeface="Outfit Medium" pitchFamily="34" charset="-120"/>
              </a:rPr>
              <a:t>Analitis</a:t>
            </a:r>
            <a:endParaRPr lang="en-US" sz="2000" dirty="0"/>
          </a:p>
        </p:txBody>
      </p:sp>
      <p:sp>
        <p:nvSpPr>
          <p:cNvPr id="19" name="text"/>
          <p:cNvSpPr txBox="1"/>
          <p:nvPr/>
        </p:nvSpPr>
        <p:spPr>
          <a:xfrm>
            <a:off x="6583680" y="4069080"/>
            <a:ext cx="548640" cy="1417320"/>
          </a:xfrm>
          <a:prstGeom prst="rect">
            <a:avLst/>
          </a:prstGeom>
          <a:noFill/>
          <a:ln/>
        </p:spPr>
        <p:txBody>
          <a:bodyPr wrap="square" lIns="0" tIns="0" rIns="0" bIns="0" rtlCol="0" anchor="ctr"/>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Merumuskan: pasar, resources, capabilities (Bab 1 sampai 8)</a:t>
            </a:r>
            <a:endParaRPr lang="en-US" sz="750" dirty="0"/>
          </a:p>
        </p:txBody>
      </p:sp>
      <p:sp>
        <p:nvSpPr>
          <p:cNvPr id="20" name="card"/>
          <p:cNvSpPr/>
          <p:nvPr/>
        </p:nvSpPr>
        <p:spPr>
          <a:xfrm>
            <a:off x="7223760" y="4069080"/>
            <a:ext cx="2606040" cy="1417320"/>
          </a:xfrm>
          <a:prstGeom prst="roundRect">
            <a:avLst>
              <a:gd name="adj" fmla="val 12903"/>
            </a:avLst>
          </a:prstGeom>
          <a:solidFill>
            <a:srgbClr val="E8E8E8"/>
          </a:solidFill>
          <a:ln w="6350">
            <a:solidFill>
              <a:srgbClr val="E8E8E8"/>
            </a:solidFill>
            <a:prstDash val="solid"/>
          </a:ln>
        </p:spPr>
      </p:sp>
      <p:sp>
        <p:nvSpPr>
          <p:cNvPr id="21" name="text"/>
          <p:cNvSpPr txBox="1"/>
          <p:nvPr/>
        </p:nvSpPr>
        <p:spPr>
          <a:xfrm>
            <a:off x="7452360" y="4069080"/>
            <a:ext cx="1600200" cy="1417320"/>
          </a:xfrm>
          <a:prstGeom prst="rect">
            <a:avLst/>
          </a:prstGeom>
          <a:noFill/>
          <a:ln/>
        </p:spPr>
        <p:txBody>
          <a:bodyPr wrap="square" lIns="0" tIns="0" rIns="0" bIns="0" rtlCol="0" anchor="ctr"/>
          <a:lstStyle/>
          <a:p>
            <a:pPr algn="l" indent="0" marL="0">
              <a:lnSpc>
                <a:spcPct val="110000"/>
              </a:lnSpc>
              <a:buNone/>
            </a:pPr>
            <a:r>
              <a:rPr lang="en-US" sz="2000" spc="-50" kern="0" dirty="0">
                <a:solidFill>
                  <a:srgbClr val="141417"/>
                </a:solidFill>
                <a:latin typeface="Outfit Medium" pitchFamily="34" charset="0"/>
                <a:ea typeface="Outfit Medium" pitchFamily="34" charset="-122"/>
                <a:cs typeface="Outfit Medium" pitchFamily="34" charset="-120"/>
              </a:rPr>
              <a:t>Operasional</a:t>
            </a:r>
            <a:endParaRPr lang="en-US" sz="2000" dirty="0"/>
          </a:p>
        </p:txBody>
      </p:sp>
      <p:sp>
        <p:nvSpPr>
          <p:cNvPr id="22" name="text"/>
          <p:cNvSpPr txBox="1"/>
          <p:nvPr/>
        </p:nvSpPr>
        <p:spPr>
          <a:xfrm>
            <a:off x="9144000" y="4069080"/>
            <a:ext cx="548640" cy="1417320"/>
          </a:xfrm>
          <a:prstGeom prst="rect">
            <a:avLst/>
          </a:prstGeom>
          <a:noFill/>
          <a:ln/>
        </p:spPr>
        <p:txBody>
          <a:bodyPr wrap="square" lIns="0" tIns="0" rIns="0" bIns="0" rtlCol="0" anchor="ctr"/>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Mengeksekusi: orang, proses, struktur (Bab 10 sampai 12)</a:t>
            </a:r>
            <a:endParaRPr lang="en-US" sz="750" dirty="0"/>
          </a:p>
        </p:txBody>
      </p:sp>
      <p:sp>
        <p:nvSpPr>
          <p:cNvPr id="23" name="card"/>
          <p:cNvSpPr/>
          <p:nvPr/>
        </p:nvSpPr>
        <p:spPr>
          <a:xfrm>
            <a:off x="9966960" y="4069080"/>
            <a:ext cx="1417320" cy="1417320"/>
          </a:xfrm>
          <a:prstGeom prst="roundRect">
            <a:avLst>
              <a:gd name="adj" fmla="val 10323"/>
            </a:avLst>
          </a:prstGeom>
          <a:solidFill>
            <a:srgbClr val="141417"/>
          </a:solidFill>
          <a:ln w="6350">
            <a:solidFill>
              <a:srgbClr val="141417"/>
            </a:solidFill>
            <a:prstDash val="solid"/>
          </a:ln>
        </p:spPr>
      </p:sp>
      <p:pic>
        <p:nvPicPr>
          <p:cNvPr id="24" name="star" descr="preencoded.png">    </p:cNvPr>
          <p:cNvPicPr>
            <a:picLocks noChangeAspect="1"/>
          </p:cNvPicPr>
          <p:nvPr/>
        </p:nvPicPr>
        <p:blipFill>
          <a:blip r:embed="rId3"/>
          <a:stretch>
            <a:fillRect/>
          </a:stretch>
        </p:blipFill>
        <p:spPr>
          <a:xfrm>
            <a:off x="10321290" y="4423410"/>
            <a:ext cx="708660" cy="708660"/>
          </a:xfrm>
          <a:prstGeom prst="rect">
            <a:avLst/>
          </a:prstGeom>
        </p:spPr>
      </p:pic>
      <p:sp>
        <p:nvSpPr>
          <p:cNvPr id="25" name="text"/>
          <p:cNvSpPr txBox="1"/>
          <p:nvPr/>
        </p:nvSpPr>
        <p:spPr>
          <a:xfrm>
            <a:off x="502920" y="5669280"/>
            <a:ext cx="8686800" cy="64008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Analogi kapal: visi adalah bintang penunjuk arah, lingkungan eksternal adalah angin, resources dan capabilities adalah layar dan mesin, strategi adalah haluan. Bab 10 bertanya siapa awaknya, apa yang mereka kuasai, dan bagaimana mereka ditata di geladak.</a:t>
            </a:r>
            <a:endParaRPr lang="en-US" sz="950" dirty="0"/>
          </a:p>
        </p:txBody>
      </p:sp>
      <p:sp>
        <p:nvSpPr>
          <p:cNvPr id="26"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card"/>
          <p:cNvSpPr/>
          <p:nvPr/>
        </p:nvSpPr>
        <p:spPr>
          <a:xfrm>
            <a:off x="502920" y="658368"/>
            <a:ext cx="5577840" cy="1332738"/>
          </a:xfrm>
          <a:prstGeom prst="roundRect">
            <a:avLst>
              <a:gd name="adj" fmla="val 13722"/>
            </a:avLst>
          </a:prstGeom>
          <a:solidFill>
            <a:srgbClr val="D4FC00"/>
          </a:solidFill>
          <a:ln w="6350">
            <a:solidFill>
              <a:srgbClr val="D4FC00"/>
            </a:solidFill>
            <a:prstDash val="solid"/>
          </a:ln>
        </p:spPr>
      </p:sp>
      <p:sp>
        <p:nvSpPr>
          <p:cNvPr id="8" name="text"/>
          <p:cNvSpPr txBox="1"/>
          <p:nvPr/>
        </p:nvSpPr>
        <p:spPr>
          <a:xfrm>
            <a:off x="777240" y="932688"/>
            <a:ext cx="1508760" cy="87553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TANTANGAN NOMOR SATU</a:t>
            </a:r>
            <a:endParaRPr lang="en-US" sz="750" dirty="0"/>
          </a:p>
        </p:txBody>
      </p:sp>
      <p:sp>
        <p:nvSpPr>
          <p:cNvPr id="9" name="text"/>
          <p:cNvSpPr txBox="1"/>
          <p:nvPr/>
        </p:nvSpPr>
        <p:spPr>
          <a:xfrm>
            <a:off x="2377440" y="914400"/>
            <a:ext cx="2926080" cy="921258"/>
          </a:xfrm>
          <a:prstGeom prst="rect">
            <a:avLst/>
          </a:prstGeom>
          <a:noFill/>
          <a:ln/>
        </p:spPr>
        <p:txBody>
          <a:bodyPr wrap="square" lIns="0" tIns="0" rIns="0" bIns="0" rtlCol="0" anchor="t"/>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Survei 400 CEO di Amerika, Eropa, dan Asia menempatkan executional excellence sebagai tantangan terbesar (Sull, Homkes &amp; Sull, 2015).</a:t>
            </a:r>
            <a:endParaRPr lang="en-US" sz="900" dirty="0"/>
          </a:p>
        </p:txBody>
      </p:sp>
      <p:sp>
        <p:nvSpPr>
          <p:cNvPr id="10" name="dot"/>
          <p:cNvSpPr/>
          <p:nvPr/>
        </p:nvSpPr>
        <p:spPr>
          <a:xfrm>
            <a:off x="5513832" y="1187577"/>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5574182" y="1247927"/>
            <a:ext cx="153619" cy="153619"/>
          </a:xfrm>
          <a:prstGeom prst="rect">
            <a:avLst/>
          </a:prstGeom>
        </p:spPr>
      </p:pic>
      <p:sp>
        <p:nvSpPr>
          <p:cNvPr id="12" name="card"/>
          <p:cNvSpPr/>
          <p:nvPr/>
        </p:nvSpPr>
        <p:spPr>
          <a:xfrm>
            <a:off x="502920" y="2119122"/>
            <a:ext cx="5577840" cy="1332738"/>
          </a:xfrm>
          <a:prstGeom prst="roundRect">
            <a:avLst>
              <a:gd name="adj" fmla="val 13722"/>
            </a:avLst>
          </a:prstGeom>
          <a:solidFill>
            <a:srgbClr val="E8E8E8"/>
          </a:solidFill>
          <a:ln w="6350">
            <a:solidFill>
              <a:srgbClr val="E8E8E8"/>
            </a:solidFill>
            <a:prstDash val="solid"/>
          </a:ln>
        </p:spPr>
      </p:sp>
      <p:sp>
        <p:nvSpPr>
          <p:cNvPr id="13" name="text"/>
          <p:cNvSpPr txBox="1"/>
          <p:nvPr/>
        </p:nvSpPr>
        <p:spPr>
          <a:xfrm>
            <a:off x="777240" y="2393442"/>
            <a:ext cx="1508760" cy="87553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AKTIVITAS SALING BERGANTUNG</a:t>
            </a:r>
            <a:endParaRPr lang="en-US" sz="750" dirty="0"/>
          </a:p>
        </p:txBody>
      </p:sp>
      <p:sp>
        <p:nvSpPr>
          <p:cNvPr id="14" name="text"/>
          <p:cNvSpPr txBox="1"/>
          <p:nvPr/>
        </p:nvSpPr>
        <p:spPr>
          <a:xfrm>
            <a:off x="2377440" y="2375154"/>
            <a:ext cx="2926080" cy="921258"/>
          </a:xfrm>
          <a:prstGeom prst="rect">
            <a:avLst/>
          </a:prstGeom>
          <a:noFill/>
          <a:ln/>
        </p:spPr>
        <p:txBody>
          <a:bodyPr wrap="square" lIns="0" tIns="0" rIns="0" bIns="0" rtlCol="0" anchor="t"/>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Eksekusi melibatkan seluruh rantai nilai dan semua kelompok kerja, dan memakan waktu berbulan-bulan sampai bertahun-tahun.</a:t>
            </a:r>
            <a:endParaRPr lang="en-US" sz="900" dirty="0"/>
          </a:p>
        </p:txBody>
      </p:sp>
      <p:sp>
        <p:nvSpPr>
          <p:cNvPr id="15" name="dot"/>
          <p:cNvSpPr/>
          <p:nvPr/>
        </p:nvSpPr>
        <p:spPr>
          <a:xfrm>
            <a:off x="5513832" y="2648331"/>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5574182" y="2708681"/>
            <a:ext cx="153619" cy="153619"/>
          </a:xfrm>
          <a:prstGeom prst="rect">
            <a:avLst/>
          </a:prstGeom>
        </p:spPr>
      </p:pic>
      <p:sp>
        <p:nvSpPr>
          <p:cNvPr id="17" name="card"/>
          <p:cNvSpPr/>
          <p:nvPr/>
        </p:nvSpPr>
        <p:spPr>
          <a:xfrm>
            <a:off x="502920" y="3579876"/>
            <a:ext cx="5577840" cy="1332738"/>
          </a:xfrm>
          <a:prstGeom prst="roundRect">
            <a:avLst>
              <a:gd name="adj" fmla="val 13722"/>
            </a:avLst>
          </a:prstGeom>
          <a:solidFill>
            <a:srgbClr val="D4FC00"/>
          </a:solidFill>
          <a:ln w="6350">
            <a:solidFill>
              <a:srgbClr val="D4FC00"/>
            </a:solidFill>
            <a:prstDash val="solid"/>
          </a:ln>
        </p:spPr>
      </p:sp>
      <p:sp>
        <p:nvSpPr>
          <p:cNvPr id="18" name="text"/>
          <p:cNvSpPr txBox="1"/>
          <p:nvPr/>
        </p:nvSpPr>
        <p:spPr>
          <a:xfrm>
            <a:off x="777240" y="3854196"/>
            <a:ext cx="1508760" cy="87553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TIDAK ADA RESEP TUNGGAL</a:t>
            </a:r>
            <a:endParaRPr lang="en-US" sz="750" dirty="0"/>
          </a:p>
        </p:txBody>
      </p:sp>
      <p:sp>
        <p:nvSpPr>
          <p:cNvPr id="19" name="text"/>
          <p:cNvSpPr txBox="1"/>
          <p:nvPr/>
        </p:nvSpPr>
        <p:spPr>
          <a:xfrm>
            <a:off x="2377440" y="3835908"/>
            <a:ext cx="2926080" cy="921258"/>
          </a:xfrm>
          <a:prstGeom prst="rect">
            <a:avLst/>
          </a:prstGeom>
          <a:noFill/>
          <a:ln/>
        </p:spPr>
        <p:txBody>
          <a:bodyPr wrap="square" lIns="0" tIns="0" rIns="0" bIns="0" rtlCol="0" anchor="t"/>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Agenda tindakan harus disesuaikan: strategi biaya rendah berbeda dari diferensiasi, perusahaan krisis berbeda dari yang sehat.</a:t>
            </a:r>
            <a:endParaRPr lang="en-US" sz="900" dirty="0"/>
          </a:p>
        </p:txBody>
      </p:sp>
      <p:sp>
        <p:nvSpPr>
          <p:cNvPr id="20" name="dot"/>
          <p:cNvSpPr/>
          <p:nvPr/>
        </p:nvSpPr>
        <p:spPr>
          <a:xfrm>
            <a:off x="5513832" y="4109085"/>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5574182" y="4169435"/>
            <a:ext cx="153619" cy="153619"/>
          </a:xfrm>
          <a:prstGeom prst="rect">
            <a:avLst/>
          </a:prstGeom>
        </p:spPr>
      </p:pic>
      <p:sp>
        <p:nvSpPr>
          <p:cNvPr id="22" name="card"/>
          <p:cNvSpPr/>
          <p:nvPr/>
        </p:nvSpPr>
        <p:spPr>
          <a:xfrm>
            <a:off x="502920" y="5040630"/>
            <a:ext cx="5577840" cy="1332738"/>
          </a:xfrm>
          <a:prstGeom prst="roundRect">
            <a:avLst>
              <a:gd name="adj" fmla="val 13722"/>
            </a:avLst>
          </a:prstGeom>
          <a:solidFill>
            <a:srgbClr val="141417"/>
          </a:solidFill>
          <a:ln w="6350">
            <a:solidFill>
              <a:srgbClr val="141417"/>
            </a:solidFill>
            <a:prstDash val="solid"/>
          </a:ln>
        </p:spPr>
      </p:sp>
      <p:sp>
        <p:nvSpPr>
          <p:cNvPr id="23" name="text"/>
          <p:cNvSpPr txBox="1"/>
          <p:nvPr/>
        </p:nvSpPr>
        <p:spPr>
          <a:xfrm>
            <a:off x="777240" y="5314950"/>
            <a:ext cx="1508760" cy="875538"/>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DUA TANDA EKSEKUSI BAIK</a:t>
            </a:r>
            <a:endParaRPr lang="en-US" sz="750" dirty="0"/>
          </a:p>
        </p:txBody>
      </p:sp>
      <p:sp>
        <p:nvSpPr>
          <p:cNvPr id="24" name="text"/>
          <p:cNvSpPr txBox="1"/>
          <p:nvPr/>
        </p:nvSpPr>
        <p:spPr>
          <a:xfrm>
            <a:off x="2377440" y="5296662"/>
            <a:ext cx="2926080" cy="921258"/>
          </a:xfrm>
          <a:prstGeom prst="rect">
            <a:avLst/>
          </a:prstGeom>
          <a:noFill/>
          <a:ln/>
        </p:spPr>
        <p:txBody>
          <a:bodyPr wrap="square" lIns="0" tIns="0" rIns="0" bIns="0" rtlCol="0" anchor="t"/>
          <a:lstStyle/>
          <a:p>
            <a:pPr algn="l" indent="0" marL="0">
              <a:lnSpc>
                <a:spcPct val="110000"/>
              </a:lnSpc>
              <a:buNone/>
            </a:pPr>
            <a:r>
              <a:rPr lang="en-US" sz="900" dirty="0">
                <a:solidFill>
                  <a:srgbClr val="DADADD"/>
                </a:solidFill>
                <a:latin typeface="Outfit" pitchFamily="34" charset="0"/>
                <a:ea typeface="Outfit" pitchFamily="34" charset="-122"/>
                <a:cs typeface="Outfit" pitchFamily="34" charset="-120"/>
              </a:rPr>
              <a:t>Target kinerja tercapai, dan aktivitas rantai nilai yang kritis dijalankan dengan mahir. Bila kinerja meleset, periksa strategi, eksekusi, atau keduanya.</a:t>
            </a:r>
            <a:endParaRPr lang="en-US" sz="900" dirty="0"/>
          </a:p>
        </p:txBody>
      </p:sp>
      <p:sp>
        <p:nvSpPr>
          <p:cNvPr id="25" name="dot"/>
          <p:cNvSpPr/>
          <p:nvPr/>
        </p:nvSpPr>
        <p:spPr>
          <a:xfrm>
            <a:off x="5513832" y="5569839"/>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5574182" y="5630189"/>
            <a:ext cx="153619" cy="153619"/>
          </a:xfrm>
          <a:prstGeom prst="rect">
            <a:avLst/>
          </a:prstGeom>
        </p:spPr>
      </p:pic>
      <p:pic>
        <p:nvPicPr>
          <p:cNvPr id="27" name="Meja kerja putih dengan laptop dan buku catatan" descr="preencoded.png">    </p:cNvPr>
          <p:cNvPicPr>
            <a:picLocks noChangeAspect="1"/>
          </p:cNvPicPr>
          <p:nvPr/>
        </p:nvPicPr>
        <p:blipFill>
          <a:blip r:embed="rId5"/>
          <a:stretch>
            <a:fillRect/>
          </a:stretch>
        </p:blipFill>
        <p:spPr>
          <a:xfrm>
            <a:off x="6537960" y="658368"/>
            <a:ext cx="5150815" cy="2606040"/>
          </a:xfrm>
          <a:prstGeom prst="rect">
            <a:avLst/>
          </a:prstGeom>
        </p:spPr>
      </p:pic>
      <p:sp>
        <p:nvSpPr>
          <p:cNvPr id="28" name="text"/>
          <p:cNvSpPr txBox="1"/>
          <p:nvPr/>
        </p:nvSpPr>
        <p:spPr>
          <a:xfrm>
            <a:off x="6537960" y="3566160"/>
            <a:ext cx="5150815" cy="2651760"/>
          </a:xfrm>
          <a:prstGeom prst="rect">
            <a:avLst/>
          </a:prstGeom>
          <a:noFill/>
          <a:ln/>
        </p:spPr>
        <p:txBody>
          <a:bodyPr wrap="square" lIns="0" tIns="0" rIns="0" bIns="0" rtlCol="0" anchor="t"/>
          <a:lstStyle/>
          <a:p>
            <a:pPr algn="l" indent="0" marL="0">
              <a:lnSpc>
                <a:spcPct val="98000"/>
              </a:lnSpc>
              <a:buNone/>
            </a:pPr>
            <a:r>
              <a:rPr lang="en-US" sz="3600" spc="-50" kern="0" dirty="0">
                <a:solidFill>
                  <a:srgbClr val="141417"/>
                </a:solidFill>
                <a:latin typeface="Outfit Medium" pitchFamily="34" charset="0"/>
                <a:ea typeface="Outfit Medium" pitchFamily="34" charset="-122"/>
                <a:cs typeface="Outfit Medium" pitchFamily="34" charset="-120"/>
              </a:rPr>
              <a:t>EKSEKUSI ADALAH UJIAN YANG SESUNGGUHNYA</a:t>
            </a:r>
            <a:endParaRPr lang="en-US" sz="3600" dirty="0"/>
          </a:p>
        </p:txBody>
      </p:sp>
      <p:sp>
        <p:nvSpPr>
          <p:cNvPr id="29" name="text"/>
          <p:cNvSpPr txBox="1"/>
          <p:nvPr/>
        </p:nvSpPr>
        <p:spPr>
          <a:xfrm>
            <a:off x="6537960" y="5806440"/>
            <a:ext cx="5150815" cy="548640"/>
          </a:xfrm>
          <a:prstGeom prst="rect">
            <a:avLst/>
          </a:prstGeom>
          <a:noFill/>
          <a:ln/>
        </p:spPr>
        <p:txBody>
          <a:bodyPr wrap="square" lIns="0" tIns="0" rIns="0" bIns="0" rtlCol="0" anchor="t"/>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Eksekusi adalah team effort: setiap manajer bertanggung jawab di areanya, dan setiap karyawan ikut terlibat.</a:t>
            </a:r>
            <a:endParaRPr lang="en-US" sz="900" dirty="0"/>
          </a:p>
        </p:txBody>
      </p:sp>
      <p:sp>
        <p:nvSpPr>
          <p:cNvPr id="30"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8"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9"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10"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11"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12"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13"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SEPULUH TUGAS EKSEKUSI</a:t>
            </a:r>
            <a:endParaRPr lang="en-US" sz="3400" dirty="0"/>
          </a:p>
        </p:txBody>
      </p:sp>
      <p:sp>
        <p:nvSpPr>
          <p:cNvPr id="14" name="text"/>
          <p:cNvSpPr txBox="1"/>
          <p:nvPr/>
        </p:nvSpPr>
        <p:spPr>
          <a:xfrm>
            <a:off x="502920" y="1645920"/>
            <a:ext cx="4754880" cy="54864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Figure 10.1, digambar ulang. Tiga tugas pertama membangun organisasi yang mampu; tujuh berikutnya menggerakkan dan menopangnya.</a:t>
            </a:r>
            <a:endParaRPr lang="en-US" sz="950" dirty="0"/>
          </a:p>
        </p:txBody>
      </p:sp>
      <p:sp>
        <p:nvSpPr>
          <p:cNvPr id="15" name="connector"/>
          <p:cNvSpPr/>
          <p:nvPr/>
        </p:nvSpPr>
        <p:spPr>
          <a:xfrm flipH="1">
            <a:off x="3383280" y="2834640"/>
            <a:ext cx="0" cy="1600200"/>
          </a:xfrm>
          <a:prstGeom prst="line">
            <a:avLst/>
          </a:prstGeom>
          <a:noFill/>
          <a:ln w="12700">
            <a:solidFill>
              <a:srgbClr val="C9C9CC"/>
            </a:solidFill>
            <a:prstDash val="solid"/>
          </a:ln>
        </p:spPr>
      </p:sp>
      <p:sp>
        <p:nvSpPr>
          <p:cNvPr id="16" name="connector"/>
          <p:cNvSpPr/>
          <p:nvPr/>
        </p:nvSpPr>
        <p:spPr>
          <a:xfrm flipH="1">
            <a:off x="3383280" y="3140251"/>
            <a:ext cx="1397424" cy="1294589"/>
          </a:xfrm>
          <a:prstGeom prst="line">
            <a:avLst/>
          </a:prstGeom>
          <a:noFill/>
          <a:ln w="12700">
            <a:solidFill>
              <a:srgbClr val="C9C9CC"/>
            </a:solidFill>
            <a:prstDash val="solid"/>
          </a:ln>
        </p:spPr>
      </p:sp>
      <p:sp>
        <p:nvSpPr>
          <p:cNvPr id="17" name="connector"/>
          <p:cNvSpPr/>
          <p:nvPr/>
        </p:nvSpPr>
        <p:spPr>
          <a:xfrm flipH="1">
            <a:off x="3383280" y="3940351"/>
            <a:ext cx="2261080" cy="494489"/>
          </a:xfrm>
          <a:prstGeom prst="line">
            <a:avLst/>
          </a:prstGeom>
          <a:noFill/>
          <a:ln w="12700">
            <a:solidFill>
              <a:srgbClr val="C9C9CC"/>
            </a:solidFill>
            <a:prstDash val="solid"/>
          </a:ln>
        </p:spPr>
      </p:sp>
      <p:sp>
        <p:nvSpPr>
          <p:cNvPr id="18" name="connector"/>
          <p:cNvSpPr/>
          <p:nvPr/>
        </p:nvSpPr>
        <p:spPr>
          <a:xfrm>
            <a:off x="3383280" y="4434840"/>
            <a:ext cx="2261080" cy="494489"/>
          </a:xfrm>
          <a:prstGeom prst="line">
            <a:avLst/>
          </a:prstGeom>
          <a:noFill/>
          <a:ln w="12700">
            <a:solidFill>
              <a:srgbClr val="C9C9CC"/>
            </a:solidFill>
            <a:prstDash val="solid"/>
          </a:ln>
        </p:spPr>
      </p:sp>
      <p:sp>
        <p:nvSpPr>
          <p:cNvPr id="19" name="connector"/>
          <p:cNvSpPr/>
          <p:nvPr/>
        </p:nvSpPr>
        <p:spPr>
          <a:xfrm>
            <a:off x="3383280" y="4434840"/>
            <a:ext cx="1397424" cy="1294589"/>
          </a:xfrm>
          <a:prstGeom prst="line">
            <a:avLst/>
          </a:prstGeom>
          <a:noFill/>
          <a:ln w="12700">
            <a:solidFill>
              <a:srgbClr val="C9C9CC"/>
            </a:solidFill>
            <a:prstDash val="solid"/>
          </a:ln>
        </p:spPr>
      </p:sp>
      <p:sp>
        <p:nvSpPr>
          <p:cNvPr id="20" name="connector"/>
          <p:cNvSpPr/>
          <p:nvPr/>
        </p:nvSpPr>
        <p:spPr>
          <a:xfrm>
            <a:off x="3383280" y="4434840"/>
            <a:ext cx="0" cy="1600200"/>
          </a:xfrm>
          <a:prstGeom prst="line">
            <a:avLst/>
          </a:prstGeom>
          <a:noFill/>
          <a:ln w="12700">
            <a:solidFill>
              <a:srgbClr val="C9C9CC"/>
            </a:solidFill>
            <a:prstDash val="solid"/>
          </a:ln>
        </p:spPr>
      </p:sp>
      <p:sp>
        <p:nvSpPr>
          <p:cNvPr id="21" name="connector"/>
          <p:cNvSpPr/>
          <p:nvPr/>
        </p:nvSpPr>
        <p:spPr>
          <a:xfrm flipH="1">
            <a:off x="1985856" y="4434840"/>
            <a:ext cx="1397424" cy="1294589"/>
          </a:xfrm>
          <a:prstGeom prst="line">
            <a:avLst/>
          </a:prstGeom>
          <a:noFill/>
          <a:ln w="12700">
            <a:solidFill>
              <a:srgbClr val="C9C9CC"/>
            </a:solidFill>
            <a:prstDash val="solid"/>
          </a:ln>
        </p:spPr>
      </p:sp>
      <p:sp>
        <p:nvSpPr>
          <p:cNvPr id="22" name="connector"/>
          <p:cNvSpPr/>
          <p:nvPr/>
        </p:nvSpPr>
        <p:spPr>
          <a:xfrm flipH="1">
            <a:off x="1122200" y="4434840"/>
            <a:ext cx="2261080" cy="494489"/>
          </a:xfrm>
          <a:prstGeom prst="line">
            <a:avLst/>
          </a:prstGeom>
          <a:noFill/>
          <a:ln w="12700">
            <a:solidFill>
              <a:srgbClr val="C9C9CC"/>
            </a:solidFill>
            <a:prstDash val="solid"/>
          </a:ln>
        </p:spPr>
      </p:sp>
      <p:sp>
        <p:nvSpPr>
          <p:cNvPr id="23" name="connector"/>
          <p:cNvSpPr/>
          <p:nvPr/>
        </p:nvSpPr>
        <p:spPr>
          <a:xfrm>
            <a:off x="1122200" y="3940351"/>
            <a:ext cx="2261080" cy="494489"/>
          </a:xfrm>
          <a:prstGeom prst="line">
            <a:avLst/>
          </a:prstGeom>
          <a:noFill/>
          <a:ln w="12700">
            <a:solidFill>
              <a:srgbClr val="C9C9CC"/>
            </a:solidFill>
            <a:prstDash val="solid"/>
          </a:ln>
        </p:spPr>
      </p:sp>
      <p:sp>
        <p:nvSpPr>
          <p:cNvPr id="24" name="connector"/>
          <p:cNvSpPr/>
          <p:nvPr/>
        </p:nvSpPr>
        <p:spPr>
          <a:xfrm>
            <a:off x="1985856" y="3140251"/>
            <a:ext cx="1397424" cy="1294589"/>
          </a:xfrm>
          <a:prstGeom prst="line">
            <a:avLst/>
          </a:prstGeom>
          <a:noFill/>
          <a:ln w="12700">
            <a:solidFill>
              <a:srgbClr val="C9C9CC"/>
            </a:solidFill>
            <a:prstDash val="solid"/>
          </a:ln>
        </p:spPr>
      </p:sp>
      <p:sp>
        <p:nvSpPr>
          <p:cNvPr id="25" name="pusat"/>
          <p:cNvSpPr/>
          <p:nvPr/>
        </p:nvSpPr>
        <p:spPr>
          <a:xfrm>
            <a:off x="2651760" y="3776472"/>
            <a:ext cx="1463040" cy="1316736"/>
          </a:xfrm>
          <a:prstGeom prst="hexagon">
            <a:avLst/>
          </a:prstGeom>
          <a:solidFill>
            <a:srgbClr val="141417"/>
          </a:solidFill>
          <a:ln w="6350">
            <a:solidFill>
              <a:srgbClr val="141417"/>
            </a:solidFill>
            <a:prstDash val="solid"/>
          </a:ln>
        </p:spPr>
      </p:sp>
      <p:sp>
        <p:nvSpPr>
          <p:cNvPr id="26" name="text"/>
          <p:cNvSpPr txBox="1"/>
          <p:nvPr/>
        </p:nvSpPr>
        <p:spPr>
          <a:xfrm>
            <a:off x="2816352" y="3977640"/>
            <a:ext cx="1133856" cy="914400"/>
          </a:xfrm>
          <a:prstGeom prst="rect">
            <a:avLst/>
          </a:prstGeom>
          <a:noFill/>
          <a:ln/>
        </p:spPr>
        <p:txBody>
          <a:bodyPr wrap="square" lIns="0" tIns="0" rIns="0" bIns="0" rtlCol="0" anchor="ctr"/>
          <a:lstStyle/>
          <a:p>
            <a:pPr algn="ctr" indent="0" marL="0">
              <a:lnSpc>
                <a:spcPct val="110000"/>
              </a:lnSpc>
              <a:buNone/>
            </a:pPr>
            <a:r>
              <a:rPr lang="en-US" sz="85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850" dirty="0"/>
          </a:p>
        </p:txBody>
      </p:sp>
      <p:sp>
        <p:nvSpPr>
          <p:cNvPr id="27" name="card"/>
          <p:cNvSpPr/>
          <p:nvPr/>
        </p:nvSpPr>
        <p:spPr>
          <a:xfrm>
            <a:off x="2697480" y="2578608"/>
            <a:ext cx="1371600" cy="512064"/>
          </a:xfrm>
          <a:prstGeom prst="roundRect">
            <a:avLst>
              <a:gd name="adj" fmla="val 21429"/>
            </a:avLst>
          </a:prstGeom>
          <a:solidFill>
            <a:srgbClr val="D4FC00"/>
          </a:solidFill>
          <a:ln w="6350">
            <a:solidFill>
              <a:srgbClr val="D4FC00"/>
            </a:solidFill>
            <a:prstDash val="solid"/>
          </a:ln>
        </p:spPr>
      </p:sp>
      <p:sp>
        <p:nvSpPr>
          <p:cNvPr id="28" name="text"/>
          <p:cNvSpPr txBox="1"/>
          <p:nvPr/>
        </p:nvSpPr>
        <p:spPr>
          <a:xfrm>
            <a:off x="2825496" y="2578608"/>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1A1A1C"/>
                </a:solidFill>
                <a:latin typeface="Outfit Medium" pitchFamily="34" charset="0"/>
                <a:ea typeface="Outfit Medium" pitchFamily="34" charset="-122"/>
                <a:cs typeface="Outfit Medium" pitchFamily="34" charset="-120"/>
              </a:rPr>
              <a:t>1</a:t>
            </a:r>
            <a:endParaRPr lang="en-US" sz="900" dirty="0"/>
          </a:p>
        </p:txBody>
      </p:sp>
      <p:sp>
        <p:nvSpPr>
          <p:cNvPr id="29" name="text"/>
          <p:cNvSpPr txBox="1"/>
          <p:nvPr/>
        </p:nvSpPr>
        <p:spPr>
          <a:xfrm>
            <a:off x="3044952" y="2578608"/>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1A1A1C"/>
                </a:solidFill>
                <a:latin typeface="Outfit" pitchFamily="34" charset="0"/>
                <a:ea typeface="Outfit" pitchFamily="34" charset="-122"/>
                <a:cs typeface="Outfit" pitchFamily="34" charset="-120"/>
              </a:rPr>
              <a:t>Staffing: orang yang tepat</a:t>
            </a:r>
            <a:endParaRPr lang="en-US" sz="700" dirty="0"/>
          </a:p>
        </p:txBody>
      </p:sp>
      <p:sp>
        <p:nvSpPr>
          <p:cNvPr id="30" name="card"/>
          <p:cNvSpPr/>
          <p:nvPr/>
        </p:nvSpPr>
        <p:spPr>
          <a:xfrm>
            <a:off x="4094904" y="2884219"/>
            <a:ext cx="1371600" cy="512064"/>
          </a:xfrm>
          <a:prstGeom prst="roundRect">
            <a:avLst>
              <a:gd name="adj" fmla="val 21429"/>
            </a:avLst>
          </a:prstGeom>
          <a:solidFill>
            <a:srgbClr val="D4FC00"/>
          </a:solidFill>
          <a:ln w="6350">
            <a:solidFill>
              <a:srgbClr val="D4FC00"/>
            </a:solidFill>
            <a:prstDash val="solid"/>
          </a:ln>
        </p:spPr>
      </p:sp>
      <p:sp>
        <p:nvSpPr>
          <p:cNvPr id="31" name="text"/>
          <p:cNvSpPr txBox="1"/>
          <p:nvPr/>
        </p:nvSpPr>
        <p:spPr>
          <a:xfrm>
            <a:off x="4222920" y="2884219"/>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1A1A1C"/>
                </a:solidFill>
                <a:latin typeface="Outfit Medium" pitchFamily="34" charset="0"/>
                <a:ea typeface="Outfit Medium" pitchFamily="34" charset="-122"/>
                <a:cs typeface="Outfit Medium" pitchFamily="34" charset="-120"/>
              </a:rPr>
              <a:t>2</a:t>
            </a:r>
            <a:endParaRPr lang="en-US" sz="900" dirty="0"/>
          </a:p>
        </p:txBody>
      </p:sp>
      <p:sp>
        <p:nvSpPr>
          <p:cNvPr id="32" name="text"/>
          <p:cNvSpPr txBox="1"/>
          <p:nvPr/>
        </p:nvSpPr>
        <p:spPr>
          <a:xfrm>
            <a:off x="4442376" y="2884219"/>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1A1A1C"/>
                </a:solidFill>
                <a:latin typeface="Outfit" pitchFamily="34" charset="0"/>
                <a:ea typeface="Outfit" pitchFamily="34" charset="-122"/>
                <a:cs typeface="Outfit" pitchFamily="34" charset="-120"/>
              </a:rPr>
              <a:t>Resources dan capabilities</a:t>
            </a:r>
            <a:endParaRPr lang="en-US" sz="700" dirty="0"/>
          </a:p>
        </p:txBody>
      </p:sp>
      <p:sp>
        <p:nvSpPr>
          <p:cNvPr id="33" name="card"/>
          <p:cNvSpPr/>
          <p:nvPr/>
        </p:nvSpPr>
        <p:spPr>
          <a:xfrm>
            <a:off x="4958560" y="3684319"/>
            <a:ext cx="1371600" cy="512064"/>
          </a:xfrm>
          <a:prstGeom prst="roundRect">
            <a:avLst>
              <a:gd name="adj" fmla="val 21429"/>
            </a:avLst>
          </a:prstGeom>
          <a:solidFill>
            <a:srgbClr val="D4FC00"/>
          </a:solidFill>
          <a:ln w="6350">
            <a:solidFill>
              <a:srgbClr val="D4FC00"/>
            </a:solidFill>
            <a:prstDash val="solid"/>
          </a:ln>
        </p:spPr>
      </p:sp>
      <p:sp>
        <p:nvSpPr>
          <p:cNvPr id="34" name="text"/>
          <p:cNvSpPr txBox="1"/>
          <p:nvPr/>
        </p:nvSpPr>
        <p:spPr>
          <a:xfrm>
            <a:off x="5086576" y="3684319"/>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1A1A1C"/>
                </a:solidFill>
                <a:latin typeface="Outfit Medium" pitchFamily="34" charset="0"/>
                <a:ea typeface="Outfit Medium" pitchFamily="34" charset="-122"/>
                <a:cs typeface="Outfit Medium" pitchFamily="34" charset="-120"/>
              </a:rPr>
              <a:t>3</a:t>
            </a:r>
            <a:endParaRPr lang="en-US" sz="900" dirty="0"/>
          </a:p>
        </p:txBody>
      </p:sp>
      <p:sp>
        <p:nvSpPr>
          <p:cNvPr id="35" name="text"/>
          <p:cNvSpPr txBox="1"/>
          <p:nvPr/>
        </p:nvSpPr>
        <p:spPr>
          <a:xfrm>
            <a:off x="5306032" y="3684319"/>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1A1A1C"/>
                </a:solidFill>
                <a:latin typeface="Outfit" pitchFamily="34" charset="0"/>
                <a:ea typeface="Outfit" pitchFamily="34" charset="-122"/>
                <a:cs typeface="Outfit" pitchFamily="34" charset="-120"/>
              </a:rPr>
              <a:t>Organizational structure</a:t>
            </a:r>
            <a:endParaRPr lang="en-US" sz="700" dirty="0"/>
          </a:p>
        </p:txBody>
      </p:sp>
      <p:sp>
        <p:nvSpPr>
          <p:cNvPr id="36" name="card"/>
          <p:cNvSpPr/>
          <p:nvPr/>
        </p:nvSpPr>
        <p:spPr>
          <a:xfrm>
            <a:off x="4958560" y="4673297"/>
            <a:ext cx="1371600" cy="512064"/>
          </a:xfrm>
          <a:prstGeom prst="roundRect">
            <a:avLst>
              <a:gd name="adj" fmla="val 21429"/>
            </a:avLst>
          </a:prstGeom>
          <a:solidFill>
            <a:srgbClr val="E8E8E8"/>
          </a:solidFill>
          <a:ln w="6350">
            <a:solidFill>
              <a:srgbClr val="E8E8E8"/>
            </a:solidFill>
            <a:prstDash val="solid"/>
          </a:ln>
        </p:spPr>
      </p:sp>
      <p:sp>
        <p:nvSpPr>
          <p:cNvPr id="37" name="text"/>
          <p:cNvSpPr txBox="1"/>
          <p:nvPr/>
        </p:nvSpPr>
        <p:spPr>
          <a:xfrm>
            <a:off x="5086576" y="4673297"/>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1A1A1C"/>
                </a:solidFill>
                <a:latin typeface="Outfit Medium" pitchFamily="34" charset="0"/>
                <a:ea typeface="Outfit Medium" pitchFamily="34" charset="-122"/>
                <a:cs typeface="Outfit Medium" pitchFamily="34" charset="-120"/>
              </a:rPr>
              <a:t>4</a:t>
            </a:r>
            <a:endParaRPr lang="en-US" sz="900" dirty="0"/>
          </a:p>
        </p:txBody>
      </p:sp>
      <p:sp>
        <p:nvSpPr>
          <p:cNvPr id="38" name="text"/>
          <p:cNvSpPr txBox="1"/>
          <p:nvPr/>
        </p:nvSpPr>
        <p:spPr>
          <a:xfrm>
            <a:off x="5306032" y="4673297"/>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1A1A1C"/>
                </a:solidFill>
                <a:latin typeface="Outfit" pitchFamily="34" charset="0"/>
                <a:ea typeface="Outfit" pitchFamily="34" charset="-122"/>
                <a:cs typeface="Outfit" pitchFamily="34" charset="-120"/>
              </a:rPr>
              <a:t>Alokasi sumber daya</a:t>
            </a:r>
            <a:endParaRPr lang="en-US" sz="700" dirty="0"/>
          </a:p>
        </p:txBody>
      </p:sp>
      <p:sp>
        <p:nvSpPr>
          <p:cNvPr id="39" name="card"/>
          <p:cNvSpPr/>
          <p:nvPr/>
        </p:nvSpPr>
        <p:spPr>
          <a:xfrm>
            <a:off x="4094904" y="5473397"/>
            <a:ext cx="1371600" cy="512064"/>
          </a:xfrm>
          <a:prstGeom prst="roundRect">
            <a:avLst>
              <a:gd name="adj" fmla="val 21429"/>
            </a:avLst>
          </a:prstGeom>
          <a:solidFill>
            <a:srgbClr val="E8E8E8"/>
          </a:solidFill>
          <a:ln w="6350">
            <a:solidFill>
              <a:srgbClr val="E8E8E8"/>
            </a:solidFill>
            <a:prstDash val="solid"/>
          </a:ln>
        </p:spPr>
      </p:sp>
      <p:sp>
        <p:nvSpPr>
          <p:cNvPr id="40" name="text"/>
          <p:cNvSpPr txBox="1"/>
          <p:nvPr/>
        </p:nvSpPr>
        <p:spPr>
          <a:xfrm>
            <a:off x="4222920" y="5473397"/>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1A1A1C"/>
                </a:solidFill>
                <a:latin typeface="Outfit Medium" pitchFamily="34" charset="0"/>
                <a:ea typeface="Outfit Medium" pitchFamily="34" charset="-122"/>
                <a:cs typeface="Outfit Medium" pitchFamily="34" charset="-120"/>
              </a:rPr>
              <a:t>5</a:t>
            </a:r>
            <a:endParaRPr lang="en-US" sz="900" dirty="0"/>
          </a:p>
        </p:txBody>
      </p:sp>
      <p:sp>
        <p:nvSpPr>
          <p:cNvPr id="41" name="text"/>
          <p:cNvSpPr txBox="1"/>
          <p:nvPr/>
        </p:nvSpPr>
        <p:spPr>
          <a:xfrm>
            <a:off x="4442376" y="5473397"/>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1A1A1C"/>
                </a:solidFill>
                <a:latin typeface="Outfit" pitchFamily="34" charset="0"/>
                <a:ea typeface="Outfit" pitchFamily="34" charset="-122"/>
                <a:cs typeface="Outfit" pitchFamily="34" charset="-120"/>
              </a:rPr>
              <a:t>Policies dan procedures</a:t>
            </a:r>
            <a:endParaRPr lang="en-US" sz="700" dirty="0"/>
          </a:p>
        </p:txBody>
      </p:sp>
      <p:sp>
        <p:nvSpPr>
          <p:cNvPr id="42" name="card"/>
          <p:cNvSpPr/>
          <p:nvPr/>
        </p:nvSpPr>
        <p:spPr>
          <a:xfrm>
            <a:off x="2697480" y="5779008"/>
            <a:ext cx="1371600" cy="512064"/>
          </a:xfrm>
          <a:prstGeom prst="roundRect">
            <a:avLst>
              <a:gd name="adj" fmla="val 21429"/>
            </a:avLst>
          </a:prstGeom>
          <a:solidFill>
            <a:srgbClr val="E8E8E8"/>
          </a:solidFill>
          <a:ln w="6350">
            <a:solidFill>
              <a:srgbClr val="E8E8E8"/>
            </a:solidFill>
            <a:prstDash val="solid"/>
          </a:ln>
        </p:spPr>
      </p:sp>
      <p:sp>
        <p:nvSpPr>
          <p:cNvPr id="43" name="text"/>
          <p:cNvSpPr txBox="1"/>
          <p:nvPr/>
        </p:nvSpPr>
        <p:spPr>
          <a:xfrm>
            <a:off x="2825496" y="5779008"/>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1A1A1C"/>
                </a:solidFill>
                <a:latin typeface="Outfit Medium" pitchFamily="34" charset="0"/>
                <a:ea typeface="Outfit Medium" pitchFamily="34" charset="-122"/>
                <a:cs typeface="Outfit Medium" pitchFamily="34" charset="-120"/>
              </a:rPr>
              <a:t>6</a:t>
            </a:r>
            <a:endParaRPr lang="en-US" sz="900" dirty="0"/>
          </a:p>
        </p:txBody>
      </p:sp>
      <p:sp>
        <p:nvSpPr>
          <p:cNvPr id="44" name="text"/>
          <p:cNvSpPr txBox="1"/>
          <p:nvPr/>
        </p:nvSpPr>
        <p:spPr>
          <a:xfrm>
            <a:off x="3044952" y="5779008"/>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1A1A1C"/>
                </a:solidFill>
                <a:latin typeface="Outfit" pitchFamily="34" charset="0"/>
                <a:ea typeface="Outfit" pitchFamily="34" charset="-122"/>
                <a:cs typeface="Outfit" pitchFamily="34" charset="-120"/>
              </a:rPr>
              <a:t>Continuous improvement</a:t>
            </a:r>
            <a:endParaRPr lang="en-US" sz="700" dirty="0"/>
          </a:p>
        </p:txBody>
      </p:sp>
      <p:sp>
        <p:nvSpPr>
          <p:cNvPr id="45" name="card"/>
          <p:cNvSpPr/>
          <p:nvPr/>
        </p:nvSpPr>
        <p:spPr>
          <a:xfrm>
            <a:off x="1300056" y="5473397"/>
            <a:ext cx="1371600" cy="512064"/>
          </a:xfrm>
          <a:prstGeom prst="roundRect">
            <a:avLst>
              <a:gd name="adj" fmla="val 21429"/>
            </a:avLst>
          </a:prstGeom>
          <a:solidFill>
            <a:srgbClr val="E8E8E8"/>
          </a:solidFill>
          <a:ln w="6350">
            <a:solidFill>
              <a:srgbClr val="E8E8E8"/>
            </a:solidFill>
            <a:prstDash val="solid"/>
          </a:ln>
        </p:spPr>
      </p:sp>
      <p:sp>
        <p:nvSpPr>
          <p:cNvPr id="46" name="text"/>
          <p:cNvSpPr txBox="1"/>
          <p:nvPr/>
        </p:nvSpPr>
        <p:spPr>
          <a:xfrm>
            <a:off x="1428072" y="5473397"/>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1A1A1C"/>
                </a:solidFill>
                <a:latin typeface="Outfit Medium" pitchFamily="34" charset="0"/>
                <a:ea typeface="Outfit Medium" pitchFamily="34" charset="-122"/>
                <a:cs typeface="Outfit Medium" pitchFamily="34" charset="-120"/>
              </a:rPr>
              <a:t>7</a:t>
            </a:r>
            <a:endParaRPr lang="en-US" sz="900" dirty="0"/>
          </a:p>
        </p:txBody>
      </p:sp>
      <p:sp>
        <p:nvSpPr>
          <p:cNvPr id="47" name="text"/>
          <p:cNvSpPr txBox="1"/>
          <p:nvPr/>
        </p:nvSpPr>
        <p:spPr>
          <a:xfrm>
            <a:off x="1647528" y="5473397"/>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1A1A1C"/>
                </a:solidFill>
                <a:latin typeface="Outfit" pitchFamily="34" charset="0"/>
                <a:ea typeface="Outfit" pitchFamily="34" charset="-122"/>
                <a:cs typeface="Outfit" pitchFamily="34" charset="-120"/>
              </a:rPr>
              <a:t>Information dan operating systems</a:t>
            </a:r>
            <a:endParaRPr lang="en-US" sz="700" dirty="0"/>
          </a:p>
        </p:txBody>
      </p:sp>
      <p:sp>
        <p:nvSpPr>
          <p:cNvPr id="48" name="card"/>
          <p:cNvSpPr/>
          <p:nvPr/>
        </p:nvSpPr>
        <p:spPr>
          <a:xfrm>
            <a:off x="436400" y="4673297"/>
            <a:ext cx="1371600" cy="512064"/>
          </a:xfrm>
          <a:prstGeom prst="roundRect">
            <a:avLst>
              <a:gd name="adj" fmla="val 21429"/>
            </a:avLst>
          </a:prstGeom>
          <a:solidFill>
            <a:srgbClr val="E8E8E8"/>
          </a:solidFill>
          <a:ln w="6350">
            <a:solidFill>
              <a:srgbClr val="E8E8E8"/>
            </a:solidFill>
            <a:prstDash val="solid"/>
          </a:ln>
        </p:spPr>
      </p:sp>
      <p:sp>
        <p:nvSpPr>
          <p:cNvPr id="49" name="text"/>
          <p:cNvSpPr txBox="1"/>
          <p:nvPr/>
        </p:nvSpPr>
        <p:spPr>
          <a:xfrm>
            <a:off x="564416" y="4673297"/>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1A1A1C"/>
                </a:solidFill>
                <a:latin typeface="Outfit Medium" pitchFamily="34" charset="0"/>
                <a:ea typeface="Outfit Medium" pitchFamily="34" charset="-122"/>
                <a:cs typeface="Outfit Medium" pitchFamily="34" charset="-120"/>
              </a:rPr>
              <a:t>8</a:t>
            </a:r>
            <a:endParaRPr lang="en-US" sz="900" dirty="0"/>
          </a:p>
        </p:txBody>
      </p:sp>
      <p:sp>
        <p:nvSpPr>
          <p:cNvPr id="50" name="text"/>
          <p:cNvSpPr txBox="1"/>
          <p:nvPr/>
        </p:nvSpPr>
        <p:spPr>
          <a:xfrm>
            <a:off x="783872" y="4673297"/>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1A1A1C"/>
                </a:solidFill>
                <a:latin typeface="Outfit" pitchFamily="34" charset="0"/>
                <a:ea typeface="Outfit" pitchFamily="34" charset="-122"/>
                <a:cs typeface="Outfit" pitchFamily="34" charset="-120"/>
              </a:rPr>
              <a:t>Rewards dan insentif</a:t>
            </a:r>
            <a:endParaRPr lang="en-US" sz="700" dirty="0"/>
          </a:p>
        </p:txBody>
      </p:sp>
      <p:sp>
        <p:nvSpPr>
          <p:cNvPr id="51" name="card"/>
          <p:cNvSpPr/>
          <p:nvPr/>
        </p:nvSpPr>
        <p:spPr>
          <a:xfrm>
            <a:off x="436400" y="3684319"/>
            <a:ext cx="1371600" cy="512064"/>
          </a:xfrm>
          <a:prstGeom prst="roundRect">
            <a:avLst>
              <a:gd name="adj" fmla="val 21429"/>
            </a:avLst>
          </a:prstGeom>
          <a:solidFill>
            <a:srgbClr val="141417"/>
          </a:solidFill>
          <a:ln w="6350">
            <a:solidFill>
              <a:srgbClr val="141417"/>
            </a:solidFill>
            <a:prstDash val="solid"/>
          </a:ln>
        </p:spPr>
      </p:sp>
      <p:sp>
        <p:nvSpPr>
          <p:cNvPr id="52" name="text"/>
          <p:cNvSpPr txBox="1"/>
          <p:nvPr/>
        </p:nvSpPr>
        <p:spPr>
          <a:xfrm>
            <a:off x="564416" y="3684319"/>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D4FC00"/>
                </a:solidFill>
                <a:latin typeface="Outfit Medium" pitchFamily="34" charset="0"/>
                <a:ea typeface="Outfit Medium" pitchFamily="34" charset="-122"/>
                <a:cs typeface="Outfit Medium" pitchFamily="34" charset="-120"/>
              </a:rPr>
              <a:t>9</a:t>
            </a:r>
            <a:endParaRPr lang="en-US" sz="900" dirty="0"/>
          </a:p>
        </p:txBody>
      </p:sp>
      <p:sp>
        <p:nvSpPr>
          <p:cNvPr id="53" name="text"/>
          <p:cNvSpPr txBox="1"/>
          <p:nvPr/>
        </p:nvSpPr>
        <p:spPr>
          <a:xfrm>
            <a:off x="783872" y="3684319"/>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FFFFFF"/>
                </a:solidFill>
                <a:latin typeface="Outfit" pitchFamily="34" charset="0"/>
                <a:ea typeface="Outfit" pitchFamily="34" charset="-122"/>
                <a:cs typeface="Outfit" pitchFamily="34" charset="-120"/>
              </a:rPr>
              <a:t>Corporate culture</a:t>
            </a:r>
            <a:endParaRPr lang="en-US" sz="700" dirty="0"/>
          </a:p>
        </p:txBody>
      </p:sp>
      <p:sp>
        <p:nvSpPr>
          <p:cNvPr id="54" name="card"/>
          <p:cNvSpPr/>
          <p:nvPr/>
        </p:nvSpPr>
        <p:spPr>
          <a:xfrm>
            <a:off x="1300056" y="2884219"/>
            <a:ext cx="1371600" cy="512064"/>
          </a:xfrm>
          <a:prstGeom prst="roundRect">
            <a:avLst>
              <a:gd name="adj" fmla="val 21429"/>
            </a:avLst>
          </a:prstGeom>
          <a:solidFill>
            <a:srgbClr val="141417"/>
          </a:solidFill>
          <a:ln w="6350">
            <a:solidFill>
              <a:srgbClr val="141417"/>
            </a:solidFill>
            <a:prstDash val="solid"/>
          </a:ln>
        </p:spPr>
      </p:sp>
      <p:sp>
        <p:nvSpPr>
          <p:cNvPr id="55" name="text"/>
          <p:cNvSpPr txBox="1"/>
          <p:nvPr/>
        </p:nvSpPr>
        <p:spPr>
          <a:xfrm>
            <a:off x="1428072" y="2884219"/>
            <a:ext cx="274320" cy="512064"/>
          </a:xfrm>
          <a:prstGeom prst="rect">
            <a:avLst/>
          </a:prstGeom>
          <a:noFill/>
          <a:ln/>
        </p:spPr>
        <p:txBody>
          <a:bodyPr wrap="square" lIns="0" tIns="0" rIns="0" bIns="0" rtlCol="0" anchor="ctr"/>
          <a:lstStyle/>
          <a:p>
            <a:pPr algn="l" indent="0" marL="0">
              <a:lnSpc>
                <a:spcPct val="110000"/>
              </a:lnSpc>
              <a:buNone/>
            </a:pPr>
            <a:r>
              <a:rPr lang="en-US" sz="900" dirty="0">
                <a:solidFill>
                  <a:srgbClr val="D4FC00"/>
                </a:solidFill>
                <a:latin typeface="Outfit Medium" pitchFamily="34" charset="0"/>
                <a:ea typeface="Outfit Medium" pitchFamily="34" charset="-122"/>
                <a:cs typeface="Outfit Medium" pitchFamily="34" charset="-120"/>
              </a:rPr>
              <a:t>10</a:t>
            </a:r>
            <a:endParaRPr lang="en-US" sz="900" dirty="0"/>
          </a:p>
        </p:txBody>
      </p:sp>
      <p:sp>
        <p:nvSpPr>
          <p:cNvPr id="56" name="text"/>
          <p:cNvSpPr txBox="1"/>
          <p:nvPr/>
        </p:nvSpPr>
        <p:spPr>
          <a:xfrm>
            <a:off x="1647528" y="2884219"/>
            <a:ext cx="969264" cy="512064"/>
          </a:xfrm>
          <a:prstGeom prst="rect">
            <a:avLst/>
          </a:prstGeom>
          <a:noFill/>
          <a:ln/>
        </p:spPr>
        <p:txBody>
          <a:bodyPr wrap="square" lIns="0" tIns="0" rIns="0" bIns="0" rtlCol="0" anchor="ctr"/>
          <a:lstStyle/>
          <a:p>
            <a:pPr algn="l" indent="0" marL="0">
              <a:lnSpc>
                <a:spcPct val="100000"/>
              </a:lnSpc>
              <a:buNone/>
            </a:pPr>
            <a:r>
              <a:rPr lang="en-US" sz="700" dirty="0">
                <a:solidFill>
                  <a:srgbClr val="FFFFFF"/>
                </a:solidFill>
                <a:latin typeface="Outfit" pitchFamily="34" charset="0"/>
                <a:ea typeface="Outfit" pitchFamily="34" charset="-122"/>
                <a:cs typeface="Outfit" pitchFamily="34" charset="-120"/>
              </a:rPr>
              <a:t>Leadership</a:t>
            </a:r>
            <a:endParaRPr lang="en-US" sz="700" dirty="0"/>
          </a:p>
        </p:txBody>
      </p:sp>
      <p:pic>
        <p:nvPicPr>
          <p:cNvPr id="57" name="Tangan menata kartu kertas" descr="preencoded.png">    </p:cNvPr>
          <p:cNvPicPr>
            <a:picLocks noChangeAspect="1"/>
          </p:cNvPicPr>
          <p:nvPr/>
        </p:nvPicPr>
        <p:blipFill>
          <a:blip r:embed="rId1"/>
          <a:stretch>
            <a:fillRect/>
          </a:stretch>
        </p:blipFill>
        <p:spPr>
          <a:xfrm>
            <a:off x="6903720" y="914400"/>
            <a:ext cx="2514600" cy="6217920"/>
          </a:xfrm>
          <a:prstGeom prst="rect">
            <a:avLst/>
          </a:prstGeom>
        </p:spPr>
      </p:pic>
      <p:sp>
        <p:nvSpPr>
          <p:cNvPr id="58"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59"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0" name="pill"/>
          <p:cNvSpPr/>
          <p:nvPr/>
        </p:nvSpPr>
        <p:spPr>
          <a:xfrm>
            <a:off x="9646920" y="3611880"/>
            <a:ext cx="2057400" cy="310896"/>
          </a:xfrm>
          <a:prstGeom prst="roundRect">
            <a:avLst>
              <a:gd name="adj" fmla="val 147059"/>
            </a:avLst>
          </a:prstGeom>
          <a:solidFill>
            <a:srgbClr val="141417"/>
          </a:solidFill>
          <a:ln w="9525">
            <a:solidFill>
              <a:srgbClr val="141417"/>
            </a:solidFill>
            <a:prstDash val="solid"/>
          </a:ln>
        </p:spPr>
      </p:sp>
      <p:sp>
        <p:nvSpPr>
          <p:cNvPr id="61" name="text"/>
          <p:cNvSpPr txBox="1"/>
          <p:nvPr/>
        </p:nvSpPr>
        <p:spPr>
          <a:xfrm>
            <a:off x="9756648" y="3611880"/>
            <a:ext cx="1837944" cy="310896"/>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BAB 10 · TUGAS 1 SAMPAI 3</a:t>
            </a:r>
            <a:endParaRPr lang="en-US" sz="750" dirty="0"/>
          </a:p>
        </p:txBody>
      </p:sp>
      <p:sp>
        <p:nvSpPr>
          <p:cNvPr id="62" name="pill"/>
          <p:cNvSpPr/>
          <p:nvPr/>
        </p:nvSpPr>
        <p:spPr>
          <a:xfrm>
            <a:off x="9646920" y="4032504"/>
            <a:ext cx="2057400" cy="310896"/>
          </a:xfrm>
          <a:prstGeom prst="roundRect">
            <a:avLst>
              <a:gd name="adj" fmla="val 147059"/>
            </a:avLst>
          </a:prstGeom>
          <a:solidFill>
            <a:srgbClr val="D4FC00"/>
          </a:solidFill>
          <a:ln w="9525">
            <a:solidFill>
              <a:srgbClr val="141417"/>
            </a:solidFill>
            <a:prstDash val="solid"/>
          </a:ln>
        </p:spPr>
      </p:sp>
      <p:sp>
        <p:nvSpPr>
          <p:cNvPr id="63" name="text"/>
          <p:cNvSpPr txBox="1"/>
          <p:nvPr/>
        </p:nvSpPr>
        <p:spPr>
          <a:xfrm>
            <a:off x="9756648" y="4032504"/>
            <a:ext cx="1837944" cy="310896"/>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BAB 11 · TUGAS 4 SAMPAI 8</a:t>
            </a:r>
            <a:endParaRPr lang="en-US" sz="750" dirty="0"/>
          </a:p>
        </p:txBody>
      </p:sp>
      <p:sp>
        <p:nvSpPr>
          <p:cNvPr id="64" name="pill"/>
          <p:cNvSpPr/>
          <p:nvPr/>
        </p:nvSpPr>
        <p:spPr>
          <a:xfrm>
            <a:off x="9646920" y="4453128"/>
            <a:ext cx="2057400" cy="310896"/>
          </a:xfrm>
          <a:prstGeom prst="roundRect">
            <a:avLst>
              <a:gd name="adj" fmla="val 147059"/>
            </a:avLst>
          </a:prstGeom>
          <a:solidFill>
            <a:srgbClr val="D4FC00"/>
          </a:solidFill>
          <a:ln w="9525">
            <a:solidFill>
              <a:srgbClr val="141417"/>
            </a:solidFill>
            <a:prstDash val="solid"/>
          </a:ln>
        </p:spPr>
      </p:sp>
      <p:sp>
        <p:nvSpPr>
          <p:cNvPr id="65" name="text"/>
          <p:cNvSpPr txBox="1"/>
          <p:nvPr/>
        </p:nvSpPr>
        <p:spPr>
          <a:xfrm>
            <a:off x="9756648" y="4453128"/>
            <a:ext cx="1837944" cy="310896"/>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BAB 12 · TUGAS 9 DAN 10</a:t>
            </a:r>
            <a:endParaRPr lang="en-US" sz="7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TIGA AKSI KUNCI MEMBANGUN ORGANISASI YANG MAMPU</a:t>
            </a:r>
            <a:endParaRPr lang="en-US" sz="3400" dirty="0"/>
          </a:p>
        </p:txBody>
      </p:sp>
      <p:sp>
        <p:nvSpPr>
          <p:cNvPr id="8" name="text"/>
          <p:cNvSpPr txBox="1"/>
          <p:nvPr/>
        </p:nvSpPr>
        <p:spPr>
          <a:xfrm>
            <a:off x="7863840" y="960120"/>
            <a:ext cx="3840480" cy="118872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Figure 10.2, digambar ulang. Dua aksi pertama menghasilkan capability yang mendukung strategi, aksi ketiga menghasilkan struktur yang mendukung strategi, dan keduanya saling menopang.</a:t>
            </a:r>
            <a:endParaRPr lang="en-US" sz="950" dirty="0"/>
          </a:p>
        </p:txBody>
      </p:sp>
      <p:sp>
        <p:nvSpPr>
          <p:cNvPr id="9" name="card"/>
          <p:cNvSpPr/>
          <p:nvPr/>
        </p:nvSpPr>
        <p:spPr>
          <a:xfrm>
            <a:off x="502920" y="2697480"/>
            <a:ext cx="6766560" cy="1097280"/>
          </a:xfrm>
          <a:prstGeom prst="roundRect">
            <a:avLst>
              <a:gd name="adj" fmla="val 16667"/>
            </a:avLst>
          </a:prstGeom>
          <a:solidFill>
            <a:srgbClr val="D4FC00"/>
          </a:solidFill>
          <a:ln w="6350">
            <a:solidFill>
              <a:srgbClr val="D4FC00"/>
            </a:solidFill>
            <a:prstDash val="solid"/>
          </a:ln>
        </p:spPr>
      </p:sp>
      <p:sp>
        <p:nvSpPr>
          <p:cNvPr id="10" name="text"/>
          <p:cNvSpPr txBox="1"/>
          <p:nvPr/>
        </p:nvSpPr>
        <p:spPr>
          <a:xfrm>
            <a:off x="777240" y="2926080"/>
            <a:ext cx="365760" cy="274320"/>
          </a:xfrm>
          <a:prstGeom prst="rect">
            <a:avLst/>
          </a:prstGeom>
          <a:noFill/>
          <a:ln/>
        </p:spPr>
        <p:txBody>
          <a:bodyPr wrap="square" lIns="0" tIns="0" rIns="0" bIns="0" rtlCol="0" anchor="t"/>
          <a:lstStyle/>
          <a:p>
            <a:pPr algn="l" indent="0" marL="0">
              <a:lnSpc>
                <a:spcPct val="110000"/>
              </a:lnSpc>
              <a:buNone/>
            </a:pPr>
            <a:r>
              <a:rPr lang="en-US" sz="1200" dirty="0">
                <a:solidFill>
                  <a:srgbClr val="1A1A1C"/>
                </a:solidFill>
                <a:latin typeface="Outfit Medium" pitchFamily="34" charset="0"/>
                <a:ea typeface="Outfit Medium" pitchFamily="34" charset="-122"/>
                <a:cs typeface="Outfit Medium" pitchFamily="34" charset="-120"/>
              </a:rPr>
              <a:t>1</a:t>
            </a:r>
            <a:endParaRPr lang="en-US" sz="1200" dirty="0"/>
          </a:p>
        </p:txBody>
      </p:sp>
      <p:sp>
        <p:nvSpPr>
          <p:cNvPr id="11" name="text"/>
          <p:cNvSpPr txBox="1"/>
          <p:nvPr/>
        </p:nvSpPr>
        <p:spPr>
          <a:xfrm>
            <a:off x="1188720" y="2971800"/>
            <a:ext cx="2103120" cy="640080"/>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STAFFING THE ORGANIZATION</a:t>
            </a:r>
            <a:endParaRPr lang="en-US" sz="750" dirty="0"/>
          </a:p>
        </p:txBody>
      </p:sp>
      <p:sp>
        <p:nvSpPr>
          <p:cNvPr id="12" name="text"/>
          <p:cNvSpPr txBox="1"/>
          <p:nvPr/>
        </p:nvSpPr>
        <p:spPr>
          <a:xfrm>
            <a:off x="3474720" y="2953512"/>
            <a:ext cx="3108960" cy="731520"/>
          </a:xfrm>
          <a:prstGeom prst="rect">
            <a:avLst/>
          </a:prstGeom>
          <a:noFill/>
          <a:ln/>
        </p:spPr>
        <p:txBody>
          <a:bodyPr wrap="square" lIns="0" tIns="0" rIns="0" bIns="0" rtlCol="0" anchor="t"/>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Tim manajemen yang kuat; merekrut, melatih, dan mempertahankan karyawan berbakat.</a:t>
            </a:r>
            <a:endParaRPr lang="en-US" sz="900" dirty="0"/>
          </a:p>
        </p:txBody>
      </p:sp>
      <p:sp>
        <p:nvSpPr>
          <p:cNvPr id="13" name="dot"/>
          <p:cNvSpPr/>
          <p:nvPr/>
        </p:nvSpPr>
        <p:spPr>
          <a:xfrm>
            <a:off x="6702552" y="3108960"/>
            <a:ext cx="274320" cy="274320"/>
          </a:xfrm>
          <a:prstGeom prst="ellipse">
            <a:avLst/>
          </a:prstGeom>
          <a:solidFill>
            <a:srgbClr val="141417"/>
          </a:solidFill>
          <a:ln w="6350">
            <a:solidFill>
              <a:srgbClr val="141417"/>
            </a:solidFill>
            <a:prstDash val="solid"/>
          </a:ln>
        </p:spPr>
      </p:sp>
      <p:pic>
        <p:nvPicPr>
          <p:cNvPr id="14" name="dot-icon" descr="preencoded.png">    </p:cNvPr>
          <p:cNvPicPr>
            <a:picLocks noChangeAspect="1"/>
          </p:cNvPicPr>
          <p:nvPr/>
        </p:nvPicPr>
        <p:blipFill>
          <a:blip r:embed="rId1"/>
          <a:stretch>
            <a:fillRect/>
          </a:stretch>
        </p:blipFill>
        <p:spPr>
          <a:xfrm>
            <a:off x="6762902" y="3169310"/>
            <a:ext cx="153619" cy="153619"/>
          </a:xfrm>
          <a:prstGeom prst="rect">
            <a:avLst/>
          </a:prstGeom>
        </p:spPr>
      </p:pic>
      <p:sp>
        <p:nvSpPr>
          <p:cNvPr id="15" name="card"/>
          <p:cNvSpPr/>
          <p:nvPr/>
        </p:nvSpPr>
        <p:spPr>
          <a:xfrm>
            <a:off x="502920" y="3922776"/>
            <a:ext cx="6766560" cy="1097280"/>
          </a:xfrm>
          <a:prstGeom prst="roundRect">
            <a:avLst>
              <a:gd name="adj" fmla="val 16667"/>
            </a:avLst>
          </a:prstGeom>
          <a:solidFill>
            <a:srgbClr val="E8E8E8"/>
          </a:solidFill>
          <a:ln w="6350">
            <a:solidFill>
              <a:srgbClr val="E8E8E8"/>
            </a:solidFill>
            <a:prstDash val="solid"/>
          </a:ln>
        </p:spPr>
      </p:sp>
      <p:sp>
        <p:nvSpPr>
          <p:cNvPr id="16" name="text"/>
          <p:cNvSpPr txBox="1"/>
          <p:nvPr/>
        </p:nvSpPr>
        <p:spPr>
          <a:xfrm>
            <a:off x="777240" y="4151376"/>
            <a:ext cx="365760" cy="274320"/>
          </a:xfrm>
          <a:prstGeom prst="rect">
            <a:avLst/>
          </a:prstGeom>
          <a:noFill/>
          <a:ln/>
        </p:spPr>
        <p:txBody>
          <a:bodyPr wrap="square" lIns="0" tIns="0" rIns="0" bIns="0" rtlCol="0" anchor="t"/>
          <a:lstStyle/>
          <a:p>
            <a:pPr algn="l" indent="0" marL="0">
              <a:lnSpc>
                <a:spcPct val="110000"/>
              </a:lnSpc>
              <a:buNone/>
            </a:pPr>
            <a:r>
              <a:rPr lang="en-US" sz="1200" dirty="0">
                <a:solidFill>
                  <a:srgbClr val="1A1A1C"/>
                </a:solidFill>
                <a:latin typeface="Outfit Medium" pitchFamily="34" charset="0"/>
                <a:ea typeface="Outfit Medium" pitchFamily="34" charset="-122"/>
                <a:cs typeface="Outfit Medium" pitchFamily="34" charset="-120"/>
              </a:rPr>
              <a:t>2</a:t>
            </a:r>
            <a:endParaRPr lang="en-US" sz="1200" dirty="0"/>
          </a:p>
        </p:txBody>
      </p:sp>
      <p:sp>
        <p:nvSpPr>
          <p:cNvPr id="17" name="text"/>
          <p:cNvSpPr txBox="1"/>
          <p:nvPr/>
        </p:nvSpPr>
        <p:spPr>
          <a:xfrm>
            <a:off x="1188720" y="4197096"/>
            <a:ext cx="2103120" cy="640080"/>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ACQUIRING, DEVELOPING, STRENGTHENING CAPABILITIES</a:t>
            </a:r>
            <a:endParaRPr lang="en-US" sz="750" dirty="0"/>
          </a:p>
        </p:txBody>
      </p:sp>
      <p:sp>
        <p:nvSpPr>
          <p:cNvPr id="18" name="text"/>
          <p:cNvSpPr txBox="1"/>
          <p:nvPr/>
        </p:nvSpPr>
        <p:spPr>
          <a:xfrm>
            <a:off x="3474720" y="4178808"/>
            <a:ext cx="3108960" cy="731520"/>
          </a:xfrm>
          <a:prstGeom prst="rect">
            <a:avLst/>
          </a:prstGeom>
          <a:noFill/>
          <a:ln/>
        </p:spPr>
        <p:txBody>
          <a:bodyPr wrap="square" lIns="0" tIns="0" rIns="0" bIns="0" rtlCol="0" anchor="t"/>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Membangun capability yang sesuai strategi, memperbaruinya saat kondisi berubah, menjaga pengetahuan lewat pelatihan.</a:t>
            </a:r>
            <a:endParaRPr lang="en-US" sz="900" dirty="0"/>
          </a:p>
        </p:txBody>
      </p:sp>
      <p:sp>
        <p:nvSpPr>
          <p:cNvPr id="19" name="dot"/>
          <p:cNvSpPr/>
          <p:nvPr/>
        </p:nvSpPr>
        <p:spPr>
          <a:xfrm>
            <a:off x="6702552" y="4334256"/>
            <a:ext cx="274320" cy="274320"/>
          </a:xfrm>
          <a:prstGeom prst="ellipse">
            <a:avLst/>
          </a:prstGeom>
          <a:solidFill>
            <a:srgbClr val="141417"/>
          </a:solidFill>
          <a:ln w="6350">
            <a:solidFill>
              <a:srgbClr val="141417"/>
            </a:solidFill>
            <a:prstDash val="solid"/>
          </a:ln>
        </p:spPr>
      </p:sp>
      <p:pic>
        <p:nvPicPr>
          <p:cNvPr id="20" name="dot-icon" descr="preencoded.png">    </p:cNvPr>
          <p:cNvPicPr>
            <a:picLocks noChangeAspect="1"/>
          </p:cNvPicPr>
          <p:nvPr/>
        </p:nvPicPr>
        <p:blipFill>
          <a:blip r:embed="rId2"/>
          <a:stretch>
            <a:fillRect/>
          </a:stretch>
        </p:blipFill>
        <p:spPr>
          <a:xfrm>
            <a:off x="6762902" y="4394606"/>
            <a:ext cx="153619" cy="153619"/>
          </a:xfrm>
          <a:prstGeom prst="rect">
            <a:avLst/>
          </a:prstGeom>
        </p:spPr>
      </p:pic>
      <p:sp>
        <p:nvSpPr>
          <p:cNvPr id="21" name="card"/>
          <p:cNvSpPr/>
          <p:nvPr/>
        </p:nvSpPr>
        <p:spPr>
          <a:xfrm>
            <a:off x="502920" y="5148072"/>
            <a:ext cx="6766560" cy="1097280"/>
          </a:xfrm>
          <a:prstGeom prst="roundRect">
            <a:avLst>
              <a:gd name="adj" fmla="val 16667"/>
            </a:avLst>
          </a:prstGeom>
          <a:solidFill>
            <a:srgbClr val="141417"/>
          </a:solidFill>
          <a:ln w="6350">
            <a:solidFill>
              <a:srgbClr val="141417"/>
            </a:solidFill>
            <a:prstDash val="solid"/>
          </a:ln>
        </p:spPr>
      </p:sp>
      <p:sp>
        <p:nvSpPr>
          <p:cNvPr id="22" name="text"/>
          <p:cNvSpPr txBox="1"/>
          <p:nvPr/>
        </p:nvSpPr>
        <p:spPr>
          <a:xfrm>
            <a:off x="777240" y="5376672"/>
            <a:ext cx="365760" cy="274320"/>
          </a:xfrm>
          <a:prstGeom prst="rect">
            <a:avLst/>
          </a:prstGeom>
          <a:noFill/>
          <a:ln/>
        </p:spPr>
        <p:txBody>
          <a:bodyPr wrap="square" lIns="0" tIns="0" rIns="0" bIns="0" rtlCol="0" anchor="t"/>
          <a:lstStyle/>
          <a:p>
            <a:pPr algn="l" indent="0" marL="0">
              <a:lnSpc>
                <a:spcPct val="110000"/>
              </a:lnSpc>
              <a:buNone/>
            </a:pPr>
            <a:r>
              <a:rPr lang="en-US" sz="1200" dirty="0">
                <a:solidFill>
                  <a:srgbClr val="D4FC00"/>
                </a:solidFill>
                <a:latin typeface="Outfit Medium" pitchFamily="34" charset="0"/>
                <a:ea typeface="Outfit Medium" pitchFamily="34" charset="-122"/>
                <a:cs typeface="Outfit Medium" pitchFamily="34" charset="-120"/>
              </a:rPr>
              <a:t>3</a:t>
            </a:r>
            <a:endParaRPr lang="en-US" sz="1200" dirty="0"/>
          </a:p>
        </p:txBody>
      </p:sp>
      <p:sp>
        <p:nvSpPr>
          <p:cNvPr id="23" name="text"/>
          <p:cNvSpPr txBox="1"/>
          <p:nvPr/>
        </p:nvSpPr>
        <p:spPr>
          <a:xfrm>
            <a:off x="1188720" y="5422392"/>
            <a:ext cx="2103120" cy="640080"/>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STRUCTURING THE ORGANIZATION AND WORK EFFORT</a:t>
            </a:r>
            <a:endParaRPr lang="en-US" sz="750" dirty="0"/>
          </a:p>
        </p:txBody>
      </p:sp>
      <p:sp>
        <p:nvSpPr>
          <p:cNvPr id="24" name="text"/>
          <p:cNvSpPr txBox="1"/>
          <p:nvPr/>
        </p:nvSpPr>
        <p:spPr>
          <a:xfrm>
            <a:off x="3474720" y="5404104"/>
            <a:ext cx="3108960" cy="731520"/>
          </a:xfrm>
          <a:prstGeom prst="rect">
            <a:avLst/>
          </a:prstGeom>
          <a:noFill/>
          <a:ln/>
        </p:spPr>
        <p:txBody>
          <a:bodyPr wrap="square" lIns="0" tIns="0" rIns="0" bIns="0" rtlCol="0" anchor="t"/>
          <a:lstStyle/>
          <a:p>
            <a:pPr algn="l" indent="0" marL="0">
              <a:lnSpc>
                <a:spcPct val="110000"/>
              </a:lnSpc>
              <a:buNone/>
            </a:pPr>
            <a:r>
              <a:rPr lang="en-US" sz="900" dirty="0">
                <a:solidFill>
                  <a:srgbClr val="DADADD"/>
                </a:solidFill>
                <a:latin typeface="Outfit" pitchFamily="34" charset="0"/>
                <a:ea typeface="Outfit" pitchFamily="34" charset="-122"/>
                <a:cs typeface="Outfit" pitchFamily="34" charset="-120"/>
              </a:rPr>
              <a:t>Pengaturan organisasi, garis wewenang dan pelaporan, serta derajat delegasi.</a:t>
            </a:r>
            <a:endParaRPr lang="en-US" sz="900" dirty="0"/>
          </a:p>
        </p:txBody>
      </p:sp>
      <p:sp>
        <p:nvSpPr>
          <p:cNvPr id="25" name="dot"/>
          <p:cNvSpPr/>
          <p:nvPr/>
        </p:nvSpPr>
        <p:spPr>
          <a:xfrm>
            <a:off x="6702552" y="5559552"/>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3"/>
          <a:stretch>
            <a:fillRect/>
          </a:stretch>
        </p:blipFill>
        <p:spPr>
          <a:xfrm>
            <a:off x="6762902" y="5619902"/>
            <a:ext cx="153619" cy="153619"/>
          </a:xfrm>
          <a:prstGeom prst="rect">
            <a:avLst/>
          </a:prstGeom>
        </p:spPr>
      </p:pic>
      <p:sp>
        <p:nvSpPr>
          <p:cNvPr id="27" name="card"/>
          <p:cNvSpPr/>
          <p:nvPr/>
        </p:nvSpPr>
        <p:spPr>
          <a:xfrm>
            <a:off x="7726680" y="2697480"/>
            <a:ext cx="3962095" cy="2322576"/>
          </a:xfrm>
          <a:prstGeom prst="roundRect">
            <a:avLst>
              <a:gd name="adj" fmla="val 7874"/>
            </a:avLst>
          </a:prstGeom>
          <a:solidFill>
            <a:srgbClr val="D4FC00"/>
          </a:solidFill>
          <a:ln w="6350">
            <a:solidFill>
              <a:srgbClr val="D4FC00"/>
            </a:solidFill>
            <a:prstDash val="solid"/>
          </a:ln>
        </p:spPr>
      </p:sp>
      <p:sp>
        <p:nvSpPr>
          <p:cNvPr id="28" name="text"/>
          <p:cNvSpPr txBox="1"/>
          <p:nvPr/>
        </p:nvSpPr>
        <p:spPr>
          <a:xfrm>
            <a:off x="8001000" y="2971800"/>
            <a:ext cx="3413455"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HASIL AKSI 1 DAN 2</a:t>
            </a:r>
            <a:endParaRPr lang="en-US" sz="750" dirty="0"/>
          </a:p>
        </p:txBody>
      </p:sp>
      <p:sp>
        <p:nvSpPr>
          <p:cNvPr id="29" name="text"/>
          <p:cNvSpPr txBox="1"/>
          <p:nvPr/>
        </p:nvSpPr>
        <p:spPr>
          <a:xfrm>
            <a:off x="8001000" y="3291840"/>
            <a:ext cx="3413455" cy="1591056"/>
          </a:xfrm>
          <a:prstGeom prst="rect">
            <a:avLst/>
          </a:prstGeom>
          <a:noFill/>
          <a:ln/>
        </p:spPr>
        <p:txBody>
          <a:bodyPr wrap="square" lIns="0" tIns="0" rIns="0" bIns="0" rtlCol="0" anchor="t"/>
          <a:lstStyle/>
          <a:p>
            <a:pPr algn="l" indent="0" marL="0">
              <a:lnSpc>
                <a:spcPct val="102000"/>
              </a:lnSpc>
              <a:buNone/>
            </a:pPr>
            <a:r>
              <a:rPr lang="en-US" sz="15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1500" dirty="0"/>
          </a:p>
        </p:txBody>
      </p:sp>
      <p:sp>
        <p:nvSpPr>
          <p:cNvPr id="30" name="card"/>
          <p:cNvSpPr/>
          <p:nvPr/>
        </p:nvSpPr>
        <p:spPr>
          <a:xfrm>
            <a:off x="7726680" y="5148072"/>
            <a:ext cx="3962095" cy="1097280"/>
          </a:xfrm>
          <a:prstGeom prst="roundRect">
            <a:avLst>
              <a:gd name="adj" fmla="val 16667"/>
            </a:avLst>
          </a:prstGeom>
          <a:solidFill>
            <a:srgbClr val="141417"/>
          </a:solidFill>
          <a:ln w="6350">
            <a:solidFill>
              <a:srgbClr val="141417"/>
            </a:solidFill>
            <a:prstDash val="solid"/>
          </a:ln>
        </p:spPr>
      </p:sp>
      <p:sp>
        <p:nvSpPr>
          <p:cNvPr id="31" name="text"/>
          <p:cNvSpPr txBox="1"/>
          <p:nvPr/>
        </p:nvSpPr>
        <p:spPr>
          <a:xfrm>
            <a:off x="8001000" y="5376672"/>
            <a:ext cx="3413455"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HASIL AKSI 3</a:t>
            </a:r>
            <a:endParaRPr lang="en-US" sz="750" dirty="0"/>
          </a:p>
        </p:txBody>
      </p:sp>
      <p:sp>
        <p:nvSpPr>
          <p:cNvPr id="32" name="text"/>
          <p:cNvSpPr txBox="1"/>
          <p:nvPr/>
        </p:nvSpPr>
        <p:spPr>
          <a:xfrm>
            <a:off x="8001000" y="5605272"/>
            <a:ext cx="3413455" cy="594360"/>
          </a:xfrm>
          <a:prstGeom prst="rect">
            <a:avLst/>
          </a:prstGeom>
          <a:noFill/>
          <a:ln/>
        </p:spPr>
        <p:txBody>
          <a:bodyPr wrap="square" lIns="0" tIns="0" rIns="0" bIns="0" rtlCol="0" anchor="t"/>
          <a:lstStyle/>
          <a:p>
            <a:pPr algn="l" indent="0" marL="0">
              <a:lnSpc>
                <a:spcPct val="102000"/>
              </a:lnSpc>
              <a:buNone/>
            </a:pPr>
            <a:r>
              <a:rPr lang="en-US" sz="13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300" dirty="0"/>
          </a:p>
        </p:txBody>
      </p:sp>
      <p:sp>
        <p:nvSpPr>
          <p:cNvPr id="33" name="saling menopang"/>
          <p:cNvSpPr/>
          <p:nvPr/>
        </p:nvSpPr>
        <p:spPr>
          <a:xfrm>
            <a:off x="11002975" y="4837176"/>
            <a:ext cx="274320" cy="493776"/>
          </a:xfrm>
          <a:prstGeom prst="upDownArrow">
            <a:avLst/>
          </a:prstGeom>
          <a:solidFill>
            <a:srgbClr val="141417"/>
          </a:solidFill>
          <a:ln w="6350">
            <a:solidFill>
              <a:srgbClr val="141417"/>
            </a:solidFill>
            <a:prstDash val="solid"/>
          </a:ln>
        </p:spPr>
      </p:sp>
      <p:sp>
        <p:nvSpPr>
          <p:cNvPr id="34"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98000"/>
              </a:lnSpc>
              <a:buNone/>
            </a:pPr>
            <a:r>
              <a:rPr lang="en-US" sz="3600" spc="-50" kern="0" dirty="0">
                <a:solidFill>
                  <a:srgbClr val="141417"/>
                </a:solidFill>
                <a:latin typeface="Outfit Medium" pitchFamily="34" charset="0"/>
                <a:ea typeface="Outfit Medium" pitchFamily="34" charset="-122"/>
                <a:cs typeface="Outfit Medium" pitchFamily="34" charset="-120"/>
              </a:rPr>
              <a:t>MENYUSUN TIM MANAJEMEN YANG KUAT</a:t>
            </a:r>
            <a:endParaRPr lang="en-US" sz="3600" dirty="0"/>
          </a:p>
        </p:txBody>
      </p:sp>
      <p:sp>
        <p:nvSpPr>
          <p:cNvPr id="8"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1" name="Dua eksekutif berbincang di koridor" descr="preencoded.png">    </p:cNvPr>
          <p:cNvPicPr>
            <a:picLocks noChangeAspect="1"/>
          </p:cNvPicPr>
          <p:nvPr/>
        </p:nvPicPr>
        <p:blipFill>
          <a:blip r:embed="rId2"/>
          <a:stretch>
            <a:fillRect/>
          </a:stretch>
        </p:blipFill>
        <p:spPr>
          <a:xfrm>
            <a:off x="502920" y="1920240"/>
            <a:ext cx="3570122" cy="2240280"/>
          </a:xfrm>
          <a:prstGeom prst="rect">
            <a:avLst/>
          </a:prstGeom>
        </p:spPr>
      </p:pic>
      <p:sp>
        <p:nvSpPr>
          <p:cNvPr id="12" name="card"/>
          <p:cNvSpPr/>
          <p:nvPr/>
        </p:nvSpPr>
        <p:spPr>
          <a:xfrm>
            <a:off x="502920" y="4361688"/>
            <a:ext cx="3570122" cy="1508760"/>
          </a:xfrm>
          <a:prstGeom prst="roundRect">
            <a:avLst>
              <a:gd name="adj" fmla="val 12121"/>
            </a:avLst>
          </a:prstGeom>
          <a:solidFill>
            <a:srgbClr val="141417"/>
          </a:solidFill>
          <a:ln w="6350">
            <a:solidFill>
              <a:srgbClr val="141417"/>
            </a:solidFill>
            <a:prstDash val="solid"/>
          </a:ln>
        </p:spPr>
      </p:sp>
      <p:sp>
        <p:nvSpPr>
          <p:cNvPr id="13" name="text"/>
          <p:cNvSpPr txBox="1"/>
          <p:nvPr/>
        </p:nvSpPr>
        <p:spPr>
          <a:xfrm>
            <a:off x="777240" y="4636008"/>
            <a:ext cx="3021482"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PROFIL YANG DICARI</a:t>
            </a:r>
            <a:endParaRPr lang="en-US" sz="750" dirty="0"/>
          </a:p>
        </p:txBody>
      </p:sp>
      <p:sp>
        <p:nvSpPr>
          <p:cNvPr id="14" name="text"/>
          <p:cNvSpPr txBox="1"/>
          <p:nvPr/>
        </p:nvSpPr>
        <p:spPr>
          <a:xfrm>
            <a:off x="777240" y="4928616"/>
            <a:ext cx="3021482" cy="822960"/>
          </a:xfrm>
          <a:prstGeom prst="rect">
            <a:avLst/>
          </a:prstGeom>
          <a:noFill/>
          <a:ln/>
        </p:spPr>
        <p:txBody>
          <a:bodyPr wrap="square" lIns="0" tIns="0" rIns="0" bIns="0" rtlCol="0" anchor="t"/>
          <a:lstStyle/>
          <a:p>
            <a:pPr algn="l" indent="0" marL="0">
              <a:lnSpc>
                <a:spcPct val="110000"/>
              </a:lnSpc>
              <a:buNone/>
            </a:pPr>
            <a:r>
              <a:rPr lang="en-US" sz="900" dirty="0">
                <a:solidFill>
                  <a:srgbClr val="DADADD"/>
                </a:solidFill>
                <a:latin typeface="Outfit" pitchFamily="34" charset="0"/>
                <a:ea typeface="Outfit" pitchFamily="34" charset="-122"/>
                <a:cs typeface="Outfit" pitchFamily="34" charset="-120"/>
              </a:rPr>
              <a:t>Berpikir jernih, mahir mengelola orang, paham detail bisnis, terbukti menyelesaikan pekerjaan, dan konsisten menindaklanjuti.</a:t>
            </a:r>
            <a:endParaRPr lang="en-US" sz="900" dirty="0"/>
          </a:p>
        </p:txBody>
      </p:sp>
      <p:pic>
        <p:nvPicPr>
          <p:cNvPr id="15" name="Orang bekerja di laptop" descr="preencoded.png">    </p:cNvPr>
          <p:cNvPicPr>
            <a:picLocks noChangeAspect="1"/>
          </p:cNvPicPr>
          <p:nvPr/>
        </p:nvPicPr>
        <p:blipFill>
          <a:blip r:embed="rId3"/>
          <a:stretch>
            <a:fillRect/>
          </a:stretch>
        </p:blipFill>
        <p:spPr>
          <a:xfrm>
            <a:off x="4310786" y="1920240"/>
            <a:ext cx="3570122" cy="2240280"/>
          </a:xfrm>
          <a:prstGeom prst="rect">
            <a:avLst/>
          </a:prstGeom>
        </p:spPr>
      </p:pic>
      <p:sp>
        <p:nvSpPr>
          <p:cNvPr id="16" name="card"/>
          <p:cNvSpPr/>
          <p:nvPr/>
        </p:nvSpPr>
        <p:spPr>
          <a:xfrm>
            <a:off x="4310786" y="4361688"/>
            <a:ext cx="3570122" cy="1508760"/>
          </a:xfrm>
          <a:prstGeom prst="roundRect">
            <a:avLst>
              <a:gd name="adj" fmla="val 12121"/>
            </a:avLst>
          </a:prstGeom>
          <a:solidFill>
            <a:srgbClr val="D4FC00"/>
          </a:solidFill>
          <a:ln w="6350">
            <a:solidFill>
              <a:srgbClr val="D4FC00"/>
            </a:solidFill>
            <a:prstDash val="solid"/>
          </a:ln>
        </p:spPr>
      </p:sp>
      <p:sp>
        <p:nvSpPr>
          <p:cNvPr id="17" name="text"/>
          <p:cNvSpPr txBox="1"/>
          <p:nvPr/>
        </p:nvSpPr>
        <p:spPr>
          <a:xfrm>
            <a:off x="4585106" y="4636008"/>
            <a:ext cx="3021482"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CARA MEMPERKUAT TIM</a:t>
            </a:r>
            <a:endParaRPr lang="en-US" sz="750" dirty="0"/>
          </a:p>
        </p:txBody>
      </p:sp>
      <p:sp>
        <p:nvSpPr>
          <p:cNvPr id="18" name="text"/>
          <p:cNvSpPr txBox="1"/>
          <p:nvPr/>
        </p:nvSpPr>
        <p:spPr>
          <a:xfrm>
            <a:off x="4585106" y="4928616"/>
            <a:ext cx="3021482" cy="822960"/>
          </a:xfrm>
          <a:prstGeom prst="rect">
            <a:avLst/>
          </a:prstGeom>
          <a:noFill/>
          <a:ln/>
        </p:spPr>
        <p:txBody>
          <a:bodyPr wrap="square" lIns="0" tIns="0" rIns="0" bIns="0" rtlCol="0" anchor="t"/>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Promosi dari dalam atau rekrut dari luar; perekrutan eksternal lazim saat turnaround atau pertumbuhan cepat. Manajer yang tidak mampu berubah diganti.</a:t>
            </a:r>
            <a:endParaRPr lang="en-US" sz="900" dirty="0"/>
          </a:p>
        </p:txBody>
      </p:sp>
      <p:pic>
        <p:nvPicPr>
          <p:cNvPr id="19" name="Tiga kolega berdiskusi" descr="preencoded.png">    </p:cNvPr>
          <p:cNvPicPr>
            <a:picLocks noChangeAspect="1"/>
          </p:cNvPicPr>
          <p:nvPr/>
        </p:nvPicPr>
        <p:blipFill>
          <a:blip r:embed="rId4"/>
          <a:stretch>
            <a:fillRect/>
          </a:stretch>
        </p:blipFill>
        <p:spPr>
          <a:xfrm>
            <a:off x="8118653" y="1920240"/>
            <a:ext cx="3570122" cy="2240280"/>
          </a:xfrm>
          <a:prstGeom prst="rect">
            <a:avLst/>
          </a:prstGeom>
        </p:spPr>
      </p:pic>
      <p:sp>
        <p:nvSpPr>
          <p:cNvPr id="20" name="card"/>
          <p:cNvSpPr/>
          <p:nvPr/>
        </p:nvSpPr>
        <p:spPr>
          <a:xfrm>
            <a:off x="8118653" y="4361688"/>
            <a:ext cx="3570122" cy="1508760"/>
          </a:xfrm>
          <a:prstGeom prst="roundRect">
            <a:avLst>
              <a:gd name="adj" fmla="val 12121"/>
            </a:avLst>
          </a:prstGeom>
          <a:solidFill>
            <a:srgbClr val="E8E8E8"/>
          </a:solidFill>
          <a:ln w="6350">
            <a:solidFill>
              <a:srgbClr val="E8E8E8"/>
            </a:solidFill>
            <a:prstDash val="solid"/>
          </a:ln>
        </p:spPr>
      </p:sp>
      <p:sp>
        <p:nvSpPr>
          <p:cNvPr id="21" name="text"/>
          <p:cNvSpPr txBox="1"/>
          <p:nvPr/>
        </p:nvSpPr>
        <p:spPr>
          <a:xfrm>
            <a:off x="8392973" y="4636008"/>
            <a:ext cx="3021482"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TUJUANNYA</a:t>
            </a:r>
            <a:endParaRPr lang="en-US" sz="750" dirty="0"/>
          </a:p>
        </p:txBody>
      </p:sp>
      <p:sp>
        <p:nvSpPr>
          <p:cNvPr id="22" name="text"/>
          <p:cNvSpPr txBox="1"/>
          <p:nvPr/>
        </p:nvSpPr>
        <p:spPr>
          <a:xfrm>
            <a:off x="8392973" y="4928616"/>
            <a:ext cx="3021482" cy="822960"/>
          </a:xfrm>
          <a:prstGeom prst="rect">
            <a:avLst/>
          </a:prstGeom>
          <a:noFill/>
          <a:ln/>
        </p:spPr>
        <p:txBody>
          <a:bodyPr wrap="square" lIns="0" tIns="0" rIns="0" bIns="0" rtlCol="0" anchor="t"/>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Critical mass manajer berbakat yang menjadi agents of change. Tim puncak yang beragam memperkaya keputusan (IC 10.1).</a:t>
            </a:r>
            <a:endParaRPr lang="en-US" sz="900" dirty="0"/>
          </a:p>
        </p:txBody>
      </p:sp>
      <p:sp>
        <p:nvSpPr>
          <p:cNvPr id="23"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card"/>
          <p:cNvSpPr/>
          <p:nvPr/>
        </p:nvSpPr>
        <p:spPr>
          <a:xfrm>
            <a:off x="502920" y="658368"/>
            <a:ext cx="5577840" cy="1332738"/>
          </a:xfrm>
          <a:prstGeom prst="roundRect">
            <a:avLst>
              <a:gd name="adj" fmla="val 13722"/>
            </a:avLst>
          </a:prstGeom>
          <a:solidFill>
            <a:srgbClr val="D4FC00"/>
          </a:solidFill>
          <a:ln w="6350">
            <a:solidFill>
              <a:srgbClr val="D4FC00"/>
            </a:solidFill>
            <a:prstDash val="solid"/>
          </a:ln>
        </p:spPr>
      </p:sp>
      <p:sp>
        <p:nvSpPr>
          <p:cNvPr id="8" name="text"/>
          <p:cNvSpPr txBox="1"/>
          <p:nvPr/>
        </p:nvSpPr>
        <p:spPr>
          <a:xfrm>
            <a:off x="777240" y="932688"/>
            <a:ext cx="1508760" cy="87553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SELEKSI DAN PENUGASAN</a:t>
            </a:r>
            <a:endParaRPr lang="en-US" sz="750" dirty="0"/>
          </a:p>
        </p:txBody>
      </p:sp>
      <p:sp>
        <p:nvSpPr>
          <p:cNvPr id="9" name="text"/>
          <p:cNvSpPr txBox="1"/>
          <p:nvPr/>
        </p:nvSpPr>
        <p:spPr>
          <a:xfrm>
            <a:off x="2377440" y="914400"/>
            <a:ext cx="2926080" cy="921258"/>
          </a:xfrm>
          <a:prstGeom prst="rect">
            <a:avLst/>
          </a:prstGeom>
          <a:noFill/>
          <a:ln/>
        </p:spPr>
        <p:txBody>
          <a:bodyPr wrap="square" lIns="0" tIns="0" rIns="0" bIns="0" rtlCol="0" anchor="t"/>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Saring ketat skill, inisiatif, dan kecocokan budaya; beri tugas yang menantang. Southwest Airlines hanya menerima sekitar 3 persen pelamar.</a:t>
            </a:r>
            <a:endParaRPr lang="en-US" sz="900" dirty="0"/>
          </a:p>
        </p:txBody>
      </p:sp>
      <p:sp>
        <p:nvSpPr>
          <p:cNvPr id="10" name="dot"/>
          <p:cNvSpPr/>
          <p:nvPr/>
        </p:nvSpPr>
        <p:spPr>
          <a:xfrm>
            <a:off x="5513832" y="1187577"/>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5574182" y="1247927"/>
            <a:ext cx="153619" cy="153619"/>
          </a:xfrm>
          <a:prstGeom prst="rect">
            <a:avLst/>
          </a:prstGeom>
        </p:spPr>
      </p:pic>
      <p:sp>
        <p:nvSpPr>
          <p:cNvPr id="12" name="card"/>
          <p:cNvSpPr/>
          <p:nvPr/>
        </p:nvSpPr>
        <p:spPr>
          <a:xfrm>
            <a:off x="502920" y="2119122"/>
            <a:ext cx="5577840" cy="1332738"/>
          </a:xfrm>
          <a:prstGeom prst="roundRect">
            <a:avLst>
              <a:gd name="adj" fmla="val 13722"/>
            </a:avLst>
          </a:prstGeom>
          <a:solidFill>
            <a:srgbClr val="E8E8E8"/>
          </a:solidFill>
          <a:ln w="6350">
            <a:solidFill>
              <a:srgbClr val="E8E8E8"/>
            </a:solidFill>
            <a:prstDash val="solid"/>
          </a:ln>
        </p:spPr>
      </p:sp>
      <p:sp>
        <p:nvSpPr>
          <p:cNvPr id="13" name="text"/>
          <p:cNvSpPr txBox="1"/>
          <p:nvPr/>
        </p:nvSpPr>
        <p:spPr>
          <a:xfrm>
            <a:off x="777240" y="2393442"/>
            <a:ext cx="1508760" cy="87553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PELATIHAN DAN ROTASI</a:t>
            </a:r>
            <a:endParaRPr lang="en-US" sz="750" dirty="0"/>
          </a:p>
        </p:txBody>
      </p:sp>
      <p:sp>
        <p:nvSpPr>
          <p:cNvPr id="14" name="text"/>
          <p:cNvSpPr txBox="1"/>
          <p:nvPr/>
        </p:nvSpPr>
        <p:spPr>
          <a:xfrm>
            <a:off x="2377440" y="2375154"/>
            <a:ext cx="2926080" cy="921258"/>
          </a:xfrm>
          <a:prstGeom prst="rect">
            <a:avLst/>
          </a:prstGeom>
          <a:noFill/>
          <a:ln/>
        </p:spPr>
        <p:txBody>
          <a:bodyPr wrap="square" lIns="0" tIns="0" rIns="0" bIns="0" rtlCol="0" anchor="t"/>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Program belajar sepanjang karier dan rotasi lintas fungsi dan negara. Lebih dari 4.000 perusahaan memiliki corporate university.</a:t>
            </a:r>
            <a:endParaRPr lang="en-US" sz="900" dirty="0"/>
          </a:p>
        </p:txBody>
      </p:sp>
      <p:sp>
        <p:nvSpPr>
          <p:cNvPr id="15" name="dot"/>
          <p:cNvSpPr/>
          <p:nvPr/>
        </p:nvSpPr>
        <p:spPr>
          <a:xfrm>
            <a:off x="5513832" y="2648331"/>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5574182" y="2708681"/>
            <a:ext cx="153619" cy="153619"/>
          </a:xfrm>
          <a:prstGeom prst="rect">
            <a:avLst/>
          </a:prstGeom>
        </p:spPr>
      </p:pic>
      <p:sp>
        <p:nvSpPr>
          <p:cNvPr id="17" name="card"/>
          <p:cNvSpPr/>
          <p:nvPr/>
        </p:nvSpPr>
        <p:spPr>
          <a:xfrm>
            <a:off x="502920" y="3579876"/>
            <a:ext cx="5577840" cy="1332738"/>
          </a:xfrm>
          <a:prstGeom prst="roundRect">
            <a:avLst>
              <a:gd name="adj" fmla="val 13722"/>
            </a:avLst>
          </a:prstGeom>
          <a:solidFill>
            <a:srgbClr val="D4FC00"/>
          </a:solidFill>
          <a:ln w="6350">
            <a:solidFill>
              <a:srgbClr val="D4FC00"/>
            </a:solidFill>
            <a:prstDash val="solid"/>
          </a:ln>
        </p:spPr>
      </p:sp>
      <p:sp>
        <p:nvSpPr>
          <p:cNvPr id="18" name="text"/>
          <p:cNvSpPr txBox="1"/>
          <p:nvPr/>
        </p:nvSpPr>
        <p:spPr>
          <a:xfrm>
            <a:off x="777240" y="3854196"/>
            <a:ext cx="1508760" cy="87553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LINGKUNGAN DAN SUARA</a:t>
            </a:r>
            <a:endParaRPr lang="en-US" sz="750" dirty="0"/>
          </a:p>
        </p:txBody>
      </p:sp>
      <p:sp>
        <p:nvSpPr>
          <p:cNvPr id="19" name="text"/>
          <p:cNvSpPr txBox="1"/>
          <p:nvPr/>
        </p:nvSpPr>
        <p:spPr>
          <a:xfrm>
            <a:off x="2377440" y="3835908"/>
            <a:ext cx="2926080" cy="921258"/>
          </a:xfrm>
          <a:prstGeom prst="rect">
            <a:avLst/>
          </a:prstGeom>
          <a:noFill/>
          <a:ln/>
        </p:spPr>
        <p:txBody>
          <a:bodyPr wrap="square" lIns="0" tIns="0" rIns="0" bIns="0" rtlCol="0" anchor="t"/>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Tempat kerja yang menstimulasi; ide dan kritik karyawan dihargai.</a:t>
            </a:r>
            <a:endParaRPr lang="en-US" sz="900" dirty="0"/>
          </a:p>
        </p:txBody>
      </p:sp>
      <p:sp>
        <p:nvSpPr>
          <p:cNvPr id="20" name="dot"/>
          <p:cNvSpPr/>
          <p:nvPr/>
        </p:nvSpPr>
        <p:spPr>
          <a:xfrm>
            <a:off x="5513832" y="4109085"/>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5574182" y="4169435"/>
            <a:ext cx="153619" cy="153619"/>
          </a:xfrm>
          <a:prstGeom prst="rect">
            <a:avLst/>
          </a:prstGeom>
        </p:spPr>
      </p:pic>
      <p:sp>
        <p:nvSpPr>
          <p:cNvPr id="22" name="card"/>
          <p:cNvSpPr/>
          <p:nvPr/>
        </p:nvSpPr>
        <p:spPr>
          <a:xfrm>
            <a:off x="502920" y="5040630"/>
            <a:ext cx="5577840" cy="1332738"/>
          </a:xfrm>
          <a:prstGeom prst="roundRect">
            <a:avLst>
              <a:gd name="adj" fmla="val 13722"/>
            </a:avLst>
          </a:prstGeom>
          <a:solidFill>
            <a:srgbClr val="141417"/>
          </a:solidFill>
          <a:ln w="6350">
            <a:solidFill>
              <a:srgbClr val="141417"/>
            </a:solidFill>
            <a:prstDash val="solid"/>
          </a:ln>
        </p:spPr>
      </p:sp>
      <p:sp>
        <p:nvSpPr>
          <p:cNvPr id="23" name="text"/>
          <p:cNvSpPr txBox="1"/>
          <p:nvPr/>
        </p:nvSpPr>
        <p:spPr>
          <a:xfrm>
            <a:off x="777240" y="5314950"/>
            <a:ext cx="1508760" cy="875538"/>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RETENSI DAN PEMBINAAN</a:t>
            </a:r>
            <a:endParaRPr lang="en-US" sz="750" dirty="0"/>
          </a:p>
        </p:txBody>
      </p:sp>
      <p:sp>
        <p:nvSpPr>
          <p:cNvPr id="24" name="text"/>
          <p:cNvSpPr txBox="1"/>
          <p:nvPr/>
        </p:nvSpPr>
        <p:spPr>
          <a:xfrm>
            <a:off x="2377440" y="5296662"/>
            <a:ext cx="2926080" cy="921258"/>
          </a:xfrm>
          <a:prstGeom prst="rect">
            <a:avLst/>
          </a:prstGeom>
          <a:noFill/>
          <a:ln/>
        </p:spPr>
        <p:txBody>
          <a:bodyPr wrap="square" lIns="0" tIns="0" rIns="0" bIns="0" rtlCol="0" anchor="t"/>
          <a:lstStyle/>
          <a:p>
            <a:pPr algn="l" indent="0" marL="0">
              <a:lnSpc>
                <a:spcPct val="110000"/>
              </a:lnSpc>
              <a:buNone/>
            </a:pPr>
            <a:r>
              <a:rPr lang="en-US" sz="900" dirty="0">
                <a:solidFill>
                  <a:srgbClr val="DADADD"/>
                </a:solidFill>
                <a:latin typeface="Outfit" pitchFamily="34" charset="0"/>
                <a:ea typeface="Outfit" pitchFamily="34" charset="-122"/>
                <a:cs typeface="Outfit" pitchFamily="34" charset="-120"/>
              </a:rPr>
              <a:t>Promosi, bonus, equity, fleksibilitas. Bina yang rata-rata, lepaskan yang tertinggal. Cisco membidik 10 persen talenta terbaik.</a:t>
            </a:r>
            <a:endParaRPr lang="en-US" sz="900" dirty="0"/>
          </a:p>
        </p:txBody>
      </p:sp>
      <p:sp>
        <p:nvSpPr>
          <p:cNvPr id="25" name="dot"/>
          <p:cNvSpPr/>
          <p:nvPr/>
        </p:nvSpPr>
        <p:spPr>
          <a:xfrm>
            <a:off x="5513832" y="5569839"/>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5574182" y="5630189"/>
            <a:ext cx="153619" cy="153619"/>
          </a:xfrm>
          <a:prstGeom prst="rect">
            <a:avLst/>
          </a:prstGeom>
        </p:spPr>
      </p:pic>
      <p:pic>
        <p:nvPicPr>
          <p:cNvPr id="27" name="Sesi pelatihan di ruang putih" descr="preencoded.png">    </p:cNvPr>
          <p:cNvPicPr>
            <a:picLocks noChangeAspect="1"/>
          </p:cNvPicPr>
          <p:nvPr/>
        </p:nvPicPr>
        <p:blipFill>
          <a:blip r:embed="rId5"/>
          <a:stretch>
            <a:fillRect/>
          </a:stretch>
        </p:blipFill>
        <p:spPr>
          <a:xfrm>
            <a:off x="6537960" y="658368"/>
            <a:ext cx="5150815" cy="2606040"/>
          </a:xfrm>
          <a:prstGeom prst="rect">
            <a:avLst/>
          </a:prstGeom>
        </p:spPr>
      </p:pic>
      <p:sp>
        <p:nvSpPr>
          <p:cNvPr id="28" name="text"/>
          <p:cNvSpPr txBox="1"/>
          <p:nvPr/>
        </p:nvSpPr>
        <p:spPr>
          <a:xfrm>
            <a:off x="6537960" y="3566160"/>
            <a:ext cx="5150815" cy="2651760"/>
          </a:xfrm>
          <a:prstGeom prst="rect">
            <a:avLst/>
          </a:prstGeom>
          <a:noFill/>
          <a:ln/>
        </p:spPr>
        <p:txBody>
          <a:bodyPr wrap="square" lIns="0" tIns="0" rIns="0" bIns="0" rtlCol="0" anchor="t"/>
          <a:lstStyle/>
          <a:p>
            <a:pPr algn="l" indent="0" marL="0">
              <a:lnSpc>
                <a:spcPct val="98000"/>
              </a:lnSpc>
              <a:buNone/>
            </a:pPr>
            <a:r>
              <a:rPr lang="en-US" sz="3200" spc="-50" kern="0" dirty="0">
                <a:solidFill>
                  <a:srgbClr val="141417"/>
                </a:solidFill>
                <a:latin typeface="Outfit Medium" pitchFamily="34" charset="0"/>
                <a:ea typeface="Outfit Medium" pitchFamily="34" charset="-122"/>
                <a:cs typeface="Outfit Medium" pitchFamily="34" charset="-120"/>
              </a:rPr>
              <a:t>MEREKRUT, MELATIH, DAN MEMPERTAHANKAN KARYAWAN</a:t>
            </a:r>
            <a:endParaRPr lang="en-US" sz="3200" dirty="0"/>
          </a:p>
        </p:txBody>
      </p:sp>
      <p:sp>
        <p:nvSpPr>
          <p:cNvPr id="29" name="text"/>
          <p:cNvSpPr txBox="1"/>
          <p:nvPr/>
        </p:nvSpPr>
        <p:spPr>
          <a:xfrm>
            <a:off x="6537960" y="5806440"/>
            <a:ext cx="5150815" cy="548640"/>
          </a:xfrm>
          <a:prstGeom prst="rect">
            <a:avLst/>
          </a:prstGeom>
          <a:noFill/>
          <a:ln/>
        </p:spPr>
        <p:txBody>
          <a:bodyPr wrap="square" lIns="0" tIns="0" rIns="0" bIns="0" rtlCol="0" anchor="t"/>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Di banyak industri, talenta dan intellectual capital lebih menentukan daripada tambahan investasi proyek modal.</a:t>
            </a:r>
            <a:endParaRPr lang="en-US" sz="900" dirty="0"/>
          </a:p>
        </p:txBody>
      </p:sp>
      <p:sp>
        <p:nvSpPr>
          <p:cNvPr id="30"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960120"/>
            <a:ext cx="640080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TIGA JALAN MEMBANGUN ORGANIZATIONAL CAPABILITIES</a:t>
            </a:r>
            <a:endParaRPr lang="en-US" sz="3800" dirty="0"/>
          </a:p>
        </p:txBody>
      </p:sp>
      <p:sp>
        <p:nvSpPr>
          <p:cNvPr id="8" name="pill"/>
          <p:cNvSpPr/>
          <p:nvPr/>
        </p:nvSpPr>
        <p:spPr>
          <a:xfrm>
            <a:off x="502920" y="3703320"/>
            <a:ext cx="2651760" cy="310896"/>
          </a:xfrm>
          <a:prstGeom prst="roundRect">
            <a:avLst>
              <a:gd name="adj" fmla="val 147059"/>
            </a:avLst>
          </a:prstGeom>
          <a:solidFill>
            <a:srgbClr val="F4F4F4"/>
          </a:solidFill>
          <a:ln w="9525">
            <a:solidFill>
              <a:srgbClr val="141417"/>
            </a:solidFill>
            <a:prstDash val="solid"/>
          </a:ln>
        </p:spPr>
      </p:sp>
      <p:sp>
        <p:nvSpPr>
          <p:cNvPr id="9" name="text"/>
          <p:cNvSpPr txBox="1"/>
          <p:nvPr/>
        </p:nvSpPr>
        <p:spPr>
          <a:xfrm>
            <a:off x="612648" y="3703320"/>
            <a:ext cx="2432304" cy="310896"/>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TAUTAN KE BAB 4: UJI VRIN</a:t>
            </a:r>
            <a:endParaRPr lang="en-US" sz="750" dirty="0"/>
          </a:p>
        </p:txBody>
      </p:sp>
      <p:sp>
        <p:nvSpPr>
          <p:cNvPr id="10" name="card"/>
          <p:cNvSpPr/>
          <p:nvPr/>
        </p:nvSpPr>
        <p:spPr>
          <a:xfrm>
            <a:off x="502920" y="4251960"/>
            <a:ext cx="2103120" cy="1325880"/>
          </a:xfrm>
          <a:prstGeom prst="roundRect">
            <a:avLst>
              <a:gd name="adj" fmla="val 13793"/>
            </a:avLst>
          </a:prstGeom>
          <a:solidFill>
            <a:srgbClr val="E8E8E8"/>
          </a:solidFill>
          <a:ln w="6350">
            <a:solidFill>
              <a:srgbClr val="E8E8E8"/>
            </a:solidFill>
            <a:prstDash val="solid"/>
          </a:ln>
        </p:spPr>
      </p:sp>
      <p:sp>
        <p:nvSpPr>
          <p:cNvPr id="11" name="text"/>
          <p:cNvSpPr txBox="1"/>
          <p:nvPr/>
        </p:nvSpPr>
        <p:spPr>
          <a:xfrm>
            <a:off x="731520" y="4434840"/>
            <a:ext cx="1645920" cy="50292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141417"/>
                </a:solidFill>
                <a:latin typeface="Outfit Medium" pitchFamily="34" charset="0"/>
                <a:ea typeface="Outfit Medium" pitchFamily="34" charset="-122"/>
                <a:cs typeface="Outfit Medium" pitchFamily="34" charset="-120"/>
              </a:rPr>
              <a:t>Internal</a:t>
            </a:r>
            <a:endParaRPr lang="en-US" sz="2000" dirty="0"/>
          </a:p>
        </p:txBody>
      </p:sp>
      <p:sp>
        <p:nvSpPr>
          <p:cNvPr id="12" name="text"/>
          <p:cNvSpPr txBox="1"/>
          <p:nvPr/>
        </p:nvSpPr>
        <p:spPr>
          <a:xfrm>
            <a:off x="731520" y="4983480"/>
            <a:ext cx="1645920" cy="50292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Tumbuh bertahap lewat rutinitas lintas fungsi. Kendali penuh, paling lama.</a:t>
            </a:r>
            <a:endParaRPr lang="en-US" sz="750" dirty="0"/>
          </a:p>
        </p:txBody>
      </p:sp>
      <p:sp>
        <p:nvSpPr>
          <p:cNvPr id="13" name="card"/>
          <p:cNvSpPr/>
          <p:nvPr/>
        </p:nvSpPr>
        <p:spPr>
          <a:xfrm>
            <a:off x="2734056" y="4251960"/>
            <a:ext cx="2103120" cy="1325880"/>
          </a:xfrm>
          <a:prstGeom prst="roundRect">
            <a:avLst>
              <a:gd name="adj" fmla="val 13793"/>
            </a:avLst>
          </a:prstGeom>
          <a:solidFill>
            <a:srgbClr val="D4FC00"/>
          </a:solidFill>
          <a:ln w="6350">
            <a:solidFill>
              <a:srgbClr val="D4FC00"/>
            </a:solidFill>
            <a:prstDash val="solid"/>
          </a:ln>
        </p:spPr>
      </p:sp>
      <p:sp>
        <p:nvSpPr>
          <p:cNvPr id="14" name="text"/>
          <p:cNvSpPr txBox="1"/>
          <p:nvPr/>
        </p:nvSpPr>
        <p:spPr>
          <a:xfrm>
            <a:off x="2962656" y="4434840"/>
            <a:ext cx="1645920" cy="50292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141417"/>
                </a:solidFill>
                <a:latin typeface="Outfit Medium" pitchFamily="34" charset="0"/>
                <a:ea typeface="Outfit Medium" pitchFamily="34" charset="-122"/>
                <a:cs typeface="Outfit Medium" pitchFamily="34" charset="-120"/>
              </a:rPr>
              <a:t>Akuisisi</a:t>
            </a:r>
            <a:endParaRPr lang="en-US" sz="2000" dirty="0"/>
          </a:p>
        </p:txBody>
      </p:sp>
      <p:sp>
        <p:nvSpPr>
          <p:cNvPr id="15" name="text"/>
          <p:cNvSpPr txBox="1"/>
          <p:nvPr/>
        </p:nvSpPr>
        <p:spPr>
          <a:xfrm>
            <a:off x="2962656" y="4983480"/>
            <a:ext cx="1645920" cy="50292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Paling cepat. Risikonya pada integrasi tacit knowledge.</a:t>
            </a:r>
            <a:endParaRPr lang="en-US" sz="750" dirty="0"/>
          </a:p>
        </p:txBody>
      </p:sp>
      <p:sp>
        <p:nvSpPr>
          <p:cNvPr id="16" name="card"/>
          <p:cNvSpPr/>
          <p:nvPr/>
        </p:nvSpPr>
        <p:spPr>
          <a:xfrm>
            <a:off x="4965192" y="4251960"/>
            <a:ext cx="2103120" cy="1325880"/>
          </a:xfrm>
          <a:prstGeom prst="roundRect">
            <a:avLst>
              <a:gd name="adj" fmla="val 13793"/>
            </a:avLst>
          </a:prstGeom>
          <a:solidFill>
            <a:srgbClr val="141417"/>
          </a:solidFill>
          <a:ln w="6350">
            <a:solidFill>
              <a:srgbClr val="141417"/>
            </a:solidFill>
            <a:prstDash val="solid"/>
          </a:ln>
        </p:spPr>
      </p:sp>
      <p:sp>
        <p:nvSpPr>
          <p:cNvPr id="17" name="text"/>
          <p:cNvSpPr txBox="1"/>
          <p:nvPr/>
        </p:nvSpPr>
        <p:spPr>
          <a:xfrm>
            <a:off x="5193792" y="4434840"/>
            <a:ext cx="1645920" cy="50292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FFFFFF"/>
                </a:solidFill>
                <a:latin typeface="Outfit Medium" pitchFamily="34" charset="0"/>
                <a:ea typeface="Outfit Medium" pitchFamily="34" charset="-122"/>
                <a:cs typeface="Outfit Medium" pitchFamily="34" charset="-120"/>
              </a:rPr>
              <a:t>Kemitraan</a:t>
            </a:r>
            <a:endParaRPr lang="en-US" sz="2000" dirty="0"/>
          </a:p>
        </p:txBody>
      </p:sp>
      <p:sp>
        <p:nvSpPr>
          <p:cNvPr id="18" name="text"/>
          <p:cNvSpPr txBox="1"/>
          <p:nvPr/>
        </p:nvSpPr>
        <p:spPr>
          <a:xfrm>
            <a:off x="5193792" y="4983480"/>
            <a:ext cx="1645920" cy="502920"/>
          </a:xfrm>
          <a:prstGeom prst="rect">
            <a:avLst/>
          </a:prstGeom>
          <a:noFill/>
          <a:ln/>
        </p:spPr>
        <p:txBody>
          <a:bodyPr wrap="square" lIns="0" tIns="0" rIns="0" bIns="0" rtlCol="0" anchor="t"/>
          <a:lstStyle/>
          <a:p>
            <a:pPr algn="l" indent="0" marL="0">
              <a:lnSpc>
                <a:spcPct val="110000"/>
              </a:lnSpc>
              <a:buNone/>
            </a:pPr>
            <a:r>
              <a:rPr lang="en-US" sz="750" dirty="0">
                <a:solidFill>
                  <a:srgbClr val="BDBDC2"/>
                </a:solidFill>
                <a:latin typeface="Outfit" pitchFamily="34" charset="0"/>
                <a:ea typeface="Outfit" pitchFamily="34" charset="-122"/>
                <a:cs typeface="Outfit" pitchFamily="34" charset="-120"/>
              </a:rPr>
              <a:t>Outsourcing, aliansi, belajar dari mitra. Kendali terbagi.</a:t>
            </a:r>
            <a:endParaRPr lang="en-US" sz="750" dirty="0"/>
          </a:p>
        </p:txBody>
      </p:sp>
      <p:sp>
        <p:nvSpPr>
          <p:cNvPr id="19" name="text"/>
          <p:cNvSpPr txBox="1"/>
          <p:nvPr/>
        </p:nvSpPr>
        <p:spPr>
          <a:xfrm>
            <a:off x="502920" y="5852160"/>
            <a:ext cx="6583680" cy="73152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Merumuskan strategi berarti mengidentifikasi capability yang dibutuhkan; mengeksekusi berarti memperolehnya dan terus menyegarkannya. Membangun capability adalah proses bertahun-tahun, bukan semalam.</a:t>
            </a:r>
            <a:endParaRPr lang="en-US" sz="950" dirty="0"/>
          </a:p>
        </p:txBody>
      </p:sp>
      <p:pic>
        <p:nvPicPr>
          <p:cNvPr id="20"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1"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CAPABILITY TUMBUH BERTAHAP</a:t>
            </a:r>
            <a:endParaRPr lang="en-US" sz="3800" dirty="0"/>
          </a:p>
        </p:txBody>
      </p:sp>
      <p:sp>
        <p:nvSpPr>
          <p:cNvPr id="8" name="text"/>
          <p:cNvSpPr txBox="1"/>
          <p:nvPr/>
        </p:nvSpPr>
        <p:spPr>
          <a:xfrm>
            <a:off x="6949440" y="960120"/>
            <a:ext cx="4663440" cy="109728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Jalur internal berjalan evolusioner. Dimulai dari ability yang belum sempurna, menjadi competence yang konsisten lewat pengulangan dan learning by doing, lalu dijaga sebagai capability yang terus diperbarui. Belajar yang disengaja dan insentif mempercepat prosesnya.</a:t>
            </a:r>
            <a:endParaRPr lang="en-US" sz="950" dirty="0"/>
          </a:p>
        </p:txBody>
      </p:sp>
      <p:sp>
        <p:nvSpPr>
          <p:cNvPr id="9"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0" name="text"/>
          <p:cNvSpPr txBox="1"/>
          <p:nvPr/>
        </p:nvSpPr>
        <p:spPr>
          <a:xfrm>
            <a:off x="822960" y="3429000"/>
            <a:ext cx="3566160" cy="228600"/>
          </a:xfrm>
          <a:prstGeom prst="rect">
            <a:avLst/>
          </a:prstGeom>
          <a:noFill/>
          <a:ln/>
        </p:spPr>
        <p:txBody>
          <a:bodyPr wrap="square" lIns="0" tIns="0" rIns="0" bIns="0" rtlCol="0" anchor="t"/>
          <a:lstStyle/>
          <a:p>
            <a:pPr algn="l" indent="0" marL="0">
              <a:lnSpc>
                <a:spcPct val="110000"/>
              </a:lnSpc>
              <a:buNone/>
            </a:pPr>
            <a:r>
              <a:rPr lang="en-US" sz="800" spc="100" kern="0" dirty="0">
                <a:solidFill>
                  <a:srgbClr val="BDBDC2"/>
                </a:solidFill>
                <a:latin typeface="Outfit" pitchFamily="34" charset="0"/>
                <a:ea typeface="Outfit" pitchFamily="34" charset="-122"/>
                <a:cs typeface="Outfit" pitchFamily="34" charset="-120"/>
              </a:rPr>
              <a:t>Tiga tahap, bertahun-tahun</a:t>
            </a:r>
            <a:endParaRPr lang="en-US" sz="800" dirty="0"/>
          </a:p>
        </p:txBody>
      </p:sp>
      <p:sp>
        <p:nvSpPr>
          <p:cNvPr id="11" name="text"/>
          <p:cNvSpPr txBox="1"/>
          <p:nvPr/>
        </p:nvSpPr>
        <p:spPr>
          <a:xfrm>
            <a:off x="822960" y="3794760"/>
            <a:ext cx="3566160" cy="1357884"/>
          </a:xfrm>
          <a:prstGeom prst="rect">
            <a:avLst/>
          </a:prstGeom>
          <a:noFill/>
          <a:ln/>
        </p:spPr>
        <p:txBody>
          <a:bodyPr wrap="square" lIns="0" tIns="0" rIns="0" bIns="0" rtlCol="0" anchor="ctr"/>
          <a:lstStyle/>
          <a:p>
            <a:pPr algn="l" indent="0" marL="0">
              <a:lnSpc>
                <a:spcPct val="110000"/>
              </a:lnSpc>
              <a:buNone/>
            </a:pPr>
            <a:r>
              <a:rPr lang="en-US" sz="4400" spc="-100" kern="0" dirty="0">
                <a:solidFill>
                  <a:srgbClr val="FFFFFF"/>
                </a:solidFill>
                <a:latin typeface="Outfit Medium" pitchFamily="34" charset="0"/>
                <a:ea typeface="Outfit Medium" pitchFamily="34" charset="-122"/>
                <a:cs typeface="Outfit Medium" pitchFamily="34" charset="-120"/>
              </a:rPr>
              <a:t>3</a:t>
            </a:r>
            <a:endParaRPr lang="en-US" sz="4400" dirty="0"/>
          </a:p>
        </p:txBody>
      </p:sp>
      <p:sp>
        <p:nvSpPr>
          <p:cNvPr id="12" name="text"/>
          <p:cNvSpPr txBox="1"/>
          <p:nvPr/>
        </p:nvSpPr>
        <p:spPr>
          <a:xfrm>
            <a:off x="822960" y="5303520"/>
            <a:ext cx="3566160" cy="685800"/>
          </a:xfrm>
          <a:prstGeom prst="rect">
            <a:avLst/>
          </a:prstGeom>
          <a:noFill/>
          <a:ln/>
        </p:spPr>
        <p:txBody>
          <a:bodyPr wrap="square" lIns="0" tIns="0" rIns="0" bIns="0" rtlCol="0" anchor="t"/>
          <a:lstStyle/>
          <a:p>
            <a:pPr algn="l" indent="0" marL="0">
              <a:lnSpc>
                <a:spcPct val="115000"/>
              </a:lnSpc>
              <a:buNone/>
            </a:pPr>
            <a:r>
              <a:rPr lang="en-US" sz="850" dirty="0">
                <a:solidFill>
                  <a:srgbClr val="BDBDC2"/>
                </a:solidFill>
                <a:latin typeface="Outfit" pitchFamily="34" charset="0"/>
                <a:ea typeface="Outfit" pitchFamily="34" charset="-122"/>
                <a:cs typeface="Outfit" pitchFamily="34" charset="-120"/>
              </a:rPr>
              <a:t>Ability, competence, lalu capability yang terus disegarkan. Merekombinasi capability yang ada lebih mudah daripada membangun dari nol.</a:t>
            </a:r>
            <a:endParaRPr lang="en-US" sz="850" dirty="0"/>
          </a:p>
        </p:txBody>
      </p:sp>
      <p:sp>
        <p:nvSpPr>
          <p:cNvPr id="13" name="track"/>
          <p:cNvSpPr/>
          <p:nvPr/>
        </p:nvSpPr>
        <p:spPr>
          <a:xfrm>
            <a:off x="6035040" y="3154680"/>
            <a:ext cx="384048" cy="1920240"/>
          </a:xfrm>
          <a:prstGeom prst="roundRect">
            <a:avLst>
              <a:gd name="adj" fmla="val 119048"/>
            </a:avLst>
          </a:prstGeom>
          <a:solidFill>
            <a:srgbClr val="E8E8E8"/>
          </a:solidFill>
          <a:ln w="6350">
            <a:solidFill>
              <a:srgbClr val="E8E8E8"/>
            </a:solidFill>
            <a:prstDash val="solid"/>
          </a:ln>
        </p:spPr>
      </p:sp>
      <p:sp>
        <p:nvSpPr>
          <p:cNvPr id="14" name="bar"/>
          <p:cNvSpPr/>
          <p:nvPr/>
        </p:nvSpPr>
        <p:spPr>
          <a:xfrm>
            <a:off x="6035040" y="4402836"/>
            <a:ext cx="384048" cy="672084"/>
          </a:xfrm>
          <a:prstGeom prst="roundRect">
            <a:avLst>
              <a:gd name="adj" fmla="val 119048"/>
            </a:avLst>
          </a:prstGeom>
          <a:solidFill>
            <a:srgbClr val="D4FC00"/>
          </a:solidFill>
          <a:ln w="6350">
            <a:solidFill>
              <a:srgbClr val="D4FC00"/>
            </a:solidFill>
            <a:prstDash val="solid"/>
          </a:ln>
        </p:spPr>
      </p:sp>
      <p:sp>
        <p:nvSpPr>
          <p:cNvPr id="15" name="text"/>
          <p:cNvSpPr txBox="1"/>
          <p:nvPr/>
        </p:nvSpPr>
        <p:spPr>
          <a:xfrm>
            <a:off x="6583680" y="4402836"/>
            <a:ext cx="1371600" cy="274320"/>
          </a:xfrm>
          <a:prstGeom prst="rect">
            <a:avLst/>
          </a:prstGeom>
          <a:noFill/>
          <a:ln/>
        </p:spPr>
        <p:txBody>
          <a:bodyPr wrap="square" lIns="0" tIns="0" rIns="0" bIns="0" rtlCol="0" anchor="t"/>
          <a:lstStyle/>
          <a:p>
            <a:pPr algn="l" indent="0" marL="0">
              <a:lnSpc>
                <a:spcPct val="110000"/>
              </a:lnSpc>
              <a:buNone/>
            </a:pPr>
            <a:r>
              <a:rPr lang="en-US" sz="1200" dirty="0">
                <a:solidFill>
                  <a:srgbClr val="1A1A1C"/>
                </a:solidFill>
                <a:latin typeface="Outfit Medium" pitchFamily="34" charset="0"/>
                <a:ea typeface="Outfit Medium" pitchFamily="34" charset="-122"/>
                <a:cs typeface="Outfit Medium" pitchFamily="34" charset="-120"/>
              </a:rPr>
              <a:t>Ability</a:t>
            </a:r>
            <a:endParaRPr lang="en-US" sz="1200" dirty="0"/>
          </a:p>
        </p:txBody>
      </p:sp>
      <p:sp>
        <p:nvSpPr>
          <p:cNvPr id="16" name="text"/>
          <p:cNvSpPr txBox="1"/>
          <p:nvPr/>
        </p:nvSpPr>
        <p:spPr>
          <a:xfrm>
            <a:off x="6583680" y="4695444"/>
            <a:ext cx="1371600" cy="731520"/>
          </a:xfrm>
          <a:prstGeom prst="rect">
            <a:avLst/>
          </a:prstGeom>
          <a:noFill/>
          <a:ln/>
        </p:spPr>
        <p:txBody>
          <a:bodyPr wrap="square" lIns="0" tIns="0" rIns="0" bIns="0" rtlCol="0" anchor="t"/>
          <a:lstStyle/>
          <a:p>
            <a:pPr algn="l" indent="0" marL="0">
              <a:lnSpc>
                <a:spcPct val="110000"/>
              </a:lnSpc>
              <a:buNone/>
            </a:pPr>
            <a:r>
              <a:rPr lang="en-US" sz="800" dirty="0">
                <a:solidFill>
                  <a:srgbClr val="7C7C80"/>
                </a:solidFill>
                <a:latin typeface="Outfit" pitchFamily="34" charset="0"/>
                <a:ea typeface="Outfit" pitchFamily="34" charset="-122"/>
                <a:cs typeface="Outfit" pitchFamily="34" charset="-120"/>
              </a:rPr>
              <a:t>memilih orang, bereksperimen, belajar dari kesalahan</a:t>
            </a:r>
            <a:endParaRPr lang="en-US" sz="800" dirty="0"/>
          </a:p>
        </p:txBody>
      </p:sp>
      <p:sp>
        <p:nvSpPr>
          <p:cNvPr id="17" name="track"/>
          <p:cNvSpPr/>
          <p:nvPr/>
        </p:nvSpPr>
        <p:spPr>
          <a:xfrm>
            <a:off x="8101584" y="3154680"/>
            <a:ext cx="384048" cy="1920240"/>
          </a:xfrm>
          <a:prstGeom prst="roundRect">
            <a:avLst>
              <a:gd name="adj" fmla="val 119048"/>
            </a:avLst>
          </a:prstGeom>
          <a:solidFill>
            <a:srgbClr val="E8E8E8"/>
          </a:solidFill>
          <a:ln w="6350">
            <a:solidFill>
              <a:srgbClr val="E8E8E8"/>
            </a:solidFill>
            <a:prstDash val="solid"/>
          </a:ln>
        </p:spPr>
      </p:sp>
      <p:sp>
        <p:nvSpPr>
          <p:cNvPr id="18" name="bar"/>
          <p:cNvSpPr/>
          <p:nvPr/>
        </p:nvSpPr>
        <p:spPr>
          <a:xfrm>
            <a:off x="8101584" y="3826764"/>
            <a:ext cx="384048" cy="1248156"/>
          </a:xfrm>
          <a:prstGeom prst="roundRect">
            <a:avLst>
              <a:gd name="adj" fmla="val 119048"/>
            </a:avLst>
          </a:prstGeom>
          <a:solidFill>
            <a:srgbClr val="D4FC00"/>
          </a:solidFill>
          <a:ln w="6350">
            <a:solidFill>
              <a:srgbClr val="D4FC00"/>
            </a:solidFill>
            <a:prstDash val="solid"/>
          </a:ln>
        </p:spPr>
      </p:sp>
      <p:sp>
        <p:nvSpPr>
          <p:cNvPr id="19" name="text"/>
          <p:cNvSpPr txBox="1"/>
          <p:nvPr/>
        </p:nvSpPr>
        <p:spPr>
          <a:xfrm>
            <a:off x="8650224" y="3826764"/>
            <a:ext cx="1371600" cy="274320"/>
          </a:xfrm>
          <a:prstGeom prst="rect">
            <a:avLst/>
          </a:prstGeom>
          <a:noFill/>
          <a:ln/>
        </p:spPr>
        <p:txBody>
          <a:bodyPr wrap="square" lIns="0" tIns="0" rIns="0" bIns="0" rtlCol="0" anchor="t"/>
          <a:lstStyle/>
          <a:p>
            <a:pPr algn="l" indent="0" marL="0">
              <a:lnSpc>
                <a:spcPct val="110000"/>
              </a:lnSpc>
              <a:buNone/>
            </a:pPr>
            <a:r>
              <a:rPr lang="en-US" sz="1200" dirty="0">
                <a:solidFill>
                  <a:srgbClr val="1A1A1C"/>
                </a:solidFill>
                <a:latin typeface="Outfit Medium" pitchFamily="34" charset="0"/>
                <a:ea typeface="Outfit Medium" pitchFamily="34" charset="-122"/>
                <a:cs typeface="Outfit Medium" pitchFamily="34" charset="-120"/>
              </a:rPr>
              <a:t>Competence</a:t>
            </a:r>
            <a:endParaRPr lang="en-US" sz="1200" dirty="0"/>
          </a:p>
        </p:txBody>
      </p:sp>
      <p:sp>
        <p:nvSpPr>
          <p:cNvPr id="20" name="text"/>
          <p:cNvSpPr txBox="1"/>
          <p:nvPr/>
        </p:nvSpPr>
        <p:spPr>
          <a:xfrm>
            <a:off x="8650224" y="4119372"/>
            <a:ext cx="1371600" cy="731520"/>
          </a:xfrm>
          <a:prstGeom prst="rect">
            <a:avLst/>
          </a:prstGeom>
          <a:noFill/>
          <a:ln/>
        </p:spPr>
        <p:txBody>
          <a:bodyPr wrap="square" lIns="0" tIns="0" rIns="0" bIns="0" rtlCol="0" anchor="t"/>
          <a:lstStyle/>
          <a:p>
            <a:pPr algn="l" indent="0" marL="0">
              <a:lnSpc>
                <a:spcPct val="110000"/>
              </a:lnSpc>
              <a:buNone/>
            </a:pPr>
            <a:r>
              <a:rPr lang="en-US" sz="800" dirty="0">
                <a:solidFill>
                  <a:srgbClr val="7C7C80"/>
                </a:solidFill>
                <a:latin typeface="Outfit" pitchFamily="34" charset="0"/>
                <a:ea typeface="Outfit" pitchFamily="34" charset="-122"/>
                <a:cs typeface="Outfit" pitchFamily="34" charset="-120"/>
              </a:rPr>
              <a:t>konsisten pada biaya wajar lewat pengulangan</a:t>
            </a:r>
            <a:endParaRPr lang="en-US" sz="800" dirty="0"/>
          </a:p>
        </p:txBody>
      </p:sp>
      <p:sp>
        <p:nvSpPr>
          <p:cNvPr id="21" name="track"/>
          <p:cNvSpPr/>
          <p:nvPr/>
        </p:nvSpPr>
        <p:spPr>
          <a:xfrm>
            <a:off x="10168128" y="3154680"/>
            <a:ext cx="384048" cy="1920240"/>
          </a:xfrm>
          <a:prstGeom prst="roundRect">
            <a:avLst>
              <a:gd name="adj" fmla="val 119048"/>
            </a:avLst>
          </a:prstGeom>
          <a:solidFill>
            <a:srgbClr val="E8E8E8"/>
          </a:solidFill>
          <a:ln w="6350">
            <a:solidFill>
              <a:srgbClr val="E8E8E8"/>
            </a:solidFill>
            <a:prstDash val="solid"/>
          </a:ln>
        </p:spPr>
      </p:sp>
      <p:sp>
        <p:nvSpPr>
          <p:cNvPr id="22" name="bar"/>
          <p:cNvSpPr/>
          <p:nvPr/>
        </p:nvSpPr>
        <p:spPr>
          <a:xfrm>
            <a:off x="10168128" y="3250692"/>
            <a:ext cx="384048" cy="1824228"/>
          </a:xfrm>
          <a:prstGeom prst="roundRect">
            <a:avLst>
              <a:gd name="adj" fmla="val 119048"/>
            </a:avLst>
          </a:prstGeom>
          <a:solidFill>
            <a:srgbClr val="D4FC00"/>
          </a:solidFill>
          <a:ln w="6350">
            <a:solidFill>
              <a:srgbClr val="D4FC00"/>
            </a:solidFill>
            <a:prstDash val="solid"/>
          </a:ln>
        </p:spPr>
      </p:sp>
      <p:sp>
        <p:nvSpPr>
          <p:cNvPr id="23" name="text"/>
          <p:cNvSpPr txBox="1"/>
          <p:nvPr/>
        </p:nvSpPr>
        <p:spPr>
          <a:xfrm>
            <a:off x="10716768" y="3250692"/>
            <a:ext cx="1371600" cy="274320"/>
          </a:xfrm>
          <a:prstGeom prst="rect">
            <a:avLst/>
          </a:prstGeom>
          <a:noFill/>
          <a:ln/>
        </p:spPr>
        <p:txBody>
          <a:bodyPr wrap="square" lIns="0" tIns="0" rIns="0" bIns="0" rtlCol="0" anchor="t"/>
          <a:lstStyle/>
          <a:p>
            <a:pPr algn="l" indent="0" marL="0">
              <a:lnSpc>
                <a:spcPct val="110000"/>
              </a:lnSpc>
              <a:buNone/>
            </a:pPr>
            <a:r>
              <a:rPr lang="en-US" sz="1200" dirty="0">
                <a:solidFill>
                  <a:srgbClr val="1A1A1C"/>
                </a:solidFill>
                <a:latin typeface="Outfit Medium" pitchFamily="34" charset="0"/>
                <a:ea typeface="Outfit Medium" pitchFamily="34" charset="-122"/>
                <a:cs typeface="Outfit Medium" pitchFamily="34" charset="-120"/>
              </a:rPr>
              <a:t>Capability</a:t>
            </a:r>
            <a:endParaRPr lang="en-US" sz="1200" dirty="0"/>
          </a:p>
        </p:txBody>
      </p:sp>
      <p:sp>
        <p:nvSpPr>
          <p:cNvPr id="24" name="text"/>
          <p:cNvSpPr txBox="1"/>
          <p:nvPr/>
        </p:nvSpPr>
        <p:spPr>
          <a:xfrm>
            <a:off x="10716768" y="3543300"/>
            <a:ext cx="1371600" cy="731520"/>
          </a:xfrm>
          <a:prstGeom prst="rect">
            <a:avLst/>
          </a:prstGeom>
          <a:noFill/>
          <a:ln/>
        </p:spPr>
        <p:txBody>
          <a:bodyPr wrap="square" lIns="0" tIns="0" rIns="0" bIns="0" rtlCol="0" anchor="t"/>
          <a:lstStyle/>
          <a:p>
            <a:pPr algn="l" indent="0" marL="0">
              <a:lnSpc>
                <a:spcPct val="110000"/>
              </a:lnSpc>
              <a:buNone/>
            </a:pPr>
            <a:r>
              <a:rPr lang="en-US" sz="800" dirty="0">
                <a:solidFill>
                  <a:srgbClr val="7C7C80"/>
                </a:solidFill>
                <a:latin typeface="Outfit" pitchFamily="34" charset="0"/>
                <a:ea typeface="Outfit" pitchFamily="34" charset="-122"/>
                <a:cs typeface="Outfit" pitchFamily="34" charset="-120"/>
              </a:rPr>
              <a:t>terus diperbarui mengikuti pelanggan dan pesaing</a:t>
            </a:r>
            <a:endParaRPr lang="en-US" sz="800" dirty="0"/>
          </a:p>
        </p:txBody>
      </p:sp>
      <p:sp>
        <p:nvSpPr>
          <p:cNvPr id="25" name="text"/>
          <p:cNvSpPr txBox="1"/>
          <p:nvPr/>
        </p:nvSpPr>
        <p:spPr>
          <a:xfrm>
            <a:off x="6035040" y="5212080"/>
            <a:ext cx="5559552" cy="685800"/>
          </a:xfrm>
          <a:prstGeom prst="rect">
            <a:avLst/>
          </a:prstGeom>
          <a:noFill/>
          <a:ln/>
        </p:spPr>
        <p:txBody>
          <a:bodyPr wrap="square" lIns="0" tIns="0" rIns="0" bIns="0" rtlCol="0" anchor="t"/>
          <a:lstStyle/>
          <a:p>
            <a:pPr algn="l" indent="0" marL="0">
              <a:lnSpc>
                <a:spcPct val="110000"/>
              </a:lnSpc>
              <a:buNone/>
            </a:pPr>
            <a:r>
              <a:rPr lang="en-US" sz="850" dirty="0">
                <a:solidFill>
                  <a:srgbClr val="7C7C80"/>
                </a:solidFill>
                <a:latin typeface="Outfit" pitchFamily="34" charset="0"/>
                <a:ea typeface="Outfit" pitchFamily="34" charset="-122"/>
                <a:cs typeface="Outfit" pitchFamily="34" charset="-120"/>
              </a:rPr>
              <a:t>Contoh buku: Williams-Sonoma memperbarui capability penjualan jarak jauh dari katalog (1970) ke e-commerce (2000) hingga masuk Fortune 500 (2019). Toyota menyempurnakan Toyota Production System dan teknologi hybrid hingga melampaui GM.</a:t>
            </a:r>
            <a:endParaRPr lang="en-US" sz="850" dirty="0"/>
          </a:p>
        </p:txBody>
      </p:sp>
      <p:sp>
        <p:nvSpPr>
          <p:cNvPr id="26"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pic>
        <p:nvPicPr>
          <p:cNvPr id="7"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343400"/>
            <a:ext cx="1767535" cy="1600200"/>
          </a:xfrm>
          <a:prstGeom prst="roundRect">
            <a:avLst>
              <a:gd name="adj" fmla="val 11429"/>
            </a:avLst>
          </a:prstGeom>
          <a:solidFill>
            <a:srgbClr val="D4FC00"/>
          </a:solidFill>
          <a:ln w="6350">
            <a:solidFill>
              <a:srgbClr val="D4FC00"/>
            </a:solidFill>
            <a:prstDash val="solid"/>
          </a:ln>
        </p:spPr>
      </p:sp>
      <p:sp>
        <p:nvSpPr>
          <p:cNvPr id="12" name="text"/>
          <p:cNvSpPr txBox="1"/>
          <p:nvPr/>
        </p:nvSpPr>
        <p:spPr>
          <a:xfrm>
            <a:off x="10104120" y="4434840"/>
            <a:ext cx="1508760" cy="64008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141417"/>
                </a:solidFill>
                <a:latin typeface="Outfit Medium" pitchFamily="34" charset="0"/>
                <a:ea typeface="Outfit Medium" pitchFamily="34" charset="-122"/>
                <a:cs typeface="Outfit Medium" pitchFamily="34" charset="-120"/>
              </a:rPr>
              <a:t>US$25 miliar</a:t>
            </a:r>
            <a:endParaRPr lang="en-US" sz="2000" dirty="0"/>
          </a:p>
        </p:txBody>
      </p:sp>
      <p:sp>
        <p:nvSpPr>
          <p:cNvPr id="13" name="text"/>
          <p:cNvSpPr txBox="1"/>
          <p:nvPr/>
        </p:nvSpPr>
        <p:spPr>
          <a:xfrm>
            <a:off x="10104120" y="5120640"/>
            <a:ext cx="1508760" cy="77724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belanja akuisisi teknologi Meta; integrasinya terbukti sulit</a:t>
            </a:r>
            <a:endParaRPr lang="en-US" sz="750" dirty="0"/>
          </a:p>
        </p:txBody>
      </p:sp>
      <p:sp>
        <p:nvSpPr>
          <p:cNvPr id="14" name="text"/>
          <p:cNvSpPr txBox="1"/>
          <p:nvPr/>
        </p:nvSpPr>
        <p:spPr>
          <a:xfrm>
            <a:off x="502920" y="3291840"/>
            <a:ext cx="5394960" cy="2011680"/>
          </a:xfrm>
          <a:prstGeom prst="rect">
            <a:avLst/>
          </a:prstGeom>
          <a:noFill/>
          <a:ln/>
        </p:spPr>
        <p:txBody>
          <a:bodyPr wrap="square" lIns="0" tIns="0" rIns="0" bIns="0" rtlCol="0" anchor="t"/>
          <a:lstStyle/>
          <a:p>
            <a:pPr algn="l" indent="0" marL="0">
              <a:lnSpc>
                <a:spcPct val="98000"/>
              </a:lnSpc>
              <a:buNone/>
            </a:pPr>
            <a:r>
              <a:rPr lang="en-US" sz="3600" spc="-50" kern="0" dirty="0">
                <a:solidFill>
                  <a:srgbClr val="141417"/>
                </a:solidFill>
                <a:latin typeface="Outfit Medium" pitchFamily="34" charset="0"/>
                <a:ea typeface="Outfit Medium" pitchFamily="34" charset="-122"/>
                <a:cs typeface="Outfit Medium" pitchFamily="34" charset="-120"/>
              </a:rPr>
              <a:t>AKUISISI DAN KEMITRAAN MEMBELI WAKTU, BUKAN INTEGRASI</a:t>
            </a:r>
            <a:endParaRPr lang="en-US" sz="3600" dirty="0"/>
          </a:p>
        </p:txBody>
      </p:sp>
      <p:sp>
        <p:nvSpPr>
          <p:cNvPr id="15" name="text"/>
          <p:cNvSpPr txBox="1"/>
          <p:nvPr/>
        </p:nvSpPr>
        <p:spPr>
          <a:xfrm>
            <a:off x="502920" y="5440680"/>
            <a:ext cx="4937760" cy="91440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Akuisisi tepat bila capability terlalu jauh dari basis yang ada atau waktu sangat menentukan, tetapi tacit knowledge sulit dipindahkan. Kemitraan punya tiga jalur: outsource, berkolaborasi lewat aliansi, dan belajar dari mitra secara dua arah.</a:t>
            </a:r>
            <a:endParaRPr lang="en-US" sz="950" dirty="0"/>
          </a:p>
        </p:txBody>
      </p:sp>
      <p:sp>
        <p:nvSpPr>
          <p:cNvPr id="16"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pic>
        <p:nvPicPr>
          <p:cNvPr id="7"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2"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98000"/>
              </a:lnSpc>
              <a:buNone/>
            </a:pPr>
            <a:r>
              <a:rPr lang="en-US" sz="3200" spc="-50" kern="0" dirty="0">
                <a:solidFill>
                  <a:srgbClr val="141417"/>
                </a:solidFill>
                <a:latin typeface="Outfit Medium" pitchFamily="34" charset="0"/>
                <a:ea typeface="Outfit Medium" pitchFamily="34" charset="-122"/>
                <a:cs typeface="Outfit Medium" pitchFamily="34" charset="-120"/>
              </a:rPr>
              <a:t>EKSEKUSI YANG UNGGUL ADALAH KEUNGGULAN ITU SENDIRI</a:t>
            </a:r>
            <a:endParaRPr lang="en-US" sz="3200" dirty="0"/>
          </a:p>
        </p:txBody>
      </p:sp>
      <p:sp>
        <p:nvSpPr>
          <p:cNvPr id="13" name="card"/>
          <p:cNvSpPr/>
          <p:nvPr/>
        </p:nvSpPr>
        <p:spPr>
          <a:xfrm>
            <a:off x="502920" y="4069080"/>
            <a:ext cx="4023360" cy="1417320"/>
          </a:xfrm>
          <a:prstGeom prst="roundRect">
            <a:avLst>
              <a:gd name="adj" fmla="val 12903"/>
            </a:avLst>
          </a:prstGeom>
          <a:solidFill>
            <a:srgbClr val="D4FC00"/>
          </a:solidFill>
          <a:ln w="6350">
            <a:solidFill>
              <a:srgbClr val="D4FC00"/>
            </a:solidFill>
            <a:prstDash val="solid"/>
          </a:ln>
        </p:spPr>
      </p:sp>
      <p:sp>
        <p:nvSpPr>
          <p:cNvPr id="14" name="text"/>
          <p:cNvSpPr txBox="1"/>
          <p:nvPr/>
        </p:nvSpPr>
        <p:spPr>
          <a:xfrm>
            <a:off x="731520" y="4069080"/>
            <a:ext cx="2103120" cy="1417320"/>
          </a:xfrm>
          <a:prstGeom prst="rect">
            <a:avLst/>
          </a:prstGeom>
          <a:noFill/>
          <a:ln/>
        </p:spPr>
        <p:txBody>
          <a:bodyPr wrap="square" lIns="0" tIns="0" rIns="0" bIns="0" rtlCol="0" anchor="ctr"/>
          <a:lstStyle/>
          <a:p>
            <a:pPr algn="l" indent="0" marL="0">
              <a:lnSpc>
                <a:spcPct val="110000"/>
              </a:lnSpc>
              <a:buNone/>
            </a:pPr>
            <a:r>
              <a:rPr lang="en-US" sz="3400" spc="-50" kern="0" dirty="0">
                <a:solidFill>
                  <a:srgbClr val="141417"/>
                </a:solidFill>
                <a:latin typeface="Outfit Medium" pitchFamily="34" charset="0"/>
                <a:ea typeface="Outfit Medium" pitchFamily="34" charset="-122"/>
                <a:cs typeface="Outfit Medium" pitchFamily="34" charset="-120"/>
              </a:rPr>
              <a:t>4 minggu</a:t>
            </a:r>
            <a:endParaRPr lang="en-US" sz="3400" dirty="0"/>
          </a:p>
        </p:txBody>
      </p:sp>
      <p:sp>
        <p:nvSpPr>
          <p:cNvPr id="15" name="text"/>
          <p:cNvSpPr txBox="1"/>
          <p:nvPr/>
        </p:nvSpPr>
        <p:spPr>
          <a:xfrm>
            <a:off x="2926080" y="4069080"/>
            <a:ext cx="1463040" cy="1417320"/>
          </a:xfrm>
          <a:prstGeom prst="rect">
            <a:avLst/>
          </a:prstGeom>
          <a:noFill/>
          <a:ln/>
        </p:spPr>
        <p:txBody>
          <a:bodyPr wrap="square" lIns="0" tIns="0" rIns="0" bIns="0" rtlCol="0" anchor="ctr"/>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dari desain sampai rak toko Zara. Peritel lain memerlukan 6 bulan.</a:t>
            </a:r>
            <a:endParaRPr lang="en-US" sz="750" dirty="0"/>
          </a:p>
        </p:txBody>
      </p:sp>
      <p:sp>
        <p:nvSpPr>
          <p:cNvPr id="16" name="card"/>
          <p:cNvSpPr/>
          <p:nvPr/>
        </p:nvSpPr>
        <p:spPr>
          <a:xfrm>
            <a:off x="4663440" y="4069080"/>
            <a:ext cx="5166360" cy="1417320"/>
          </a:xfrm>
          <a:prstGeom prst="roundRect">
            <a:avLst>
              <a:gd name="adj" fmla="val 12903"/>
            </a:avLst>
          </a:prstGeom>
          <a:solidFill>
            <a:srgbClr val="E8E8E8"/>
          </a:solidFill>
          <a:ln w="6350">
            <a:solidFill>
              <a:srgbClr val="E8E8E8"/>
            </a:solidFill>
            <a:prstDash val="solid"/>
          </a:ln>
        </p:spPr>
      </p:sp>
      <p:sp>
        <p:nvSpPr>
          <p:cNvPr id="17" name="card"/>
          <p:cNvSpPr/>
          <p:nvPr/>
        </p:nvSpPr>
        <p:spPr>
          <a:xfrm>
            <a:off x="4663440" y="4069080"/>
            <a:ext cx="2606040" cy="1417320"/>
          </a:xfrm>
          <a:prstGeom prst="roundRect">
            <a:avLst>
              <a:gd name="adj" fmla="val 12903"/>
            </a:avLst>
          </a:prstGeom>
          <a:solidFill>
            <a:srgbClr val="E8E8E8"/>
          </a:solidFill>
          <a:ln w="6350">
            <a:solidFill>
              <a:srgbClr val="E8E8E8"/>
            </a:solidFill>
            <a:prstDash val="solid"/>
          </a:ln>
        </p:spPr>
      </p:sp>
      <p:sp>
        <p:nvSpPr>
          <p:cNvPr id="18" name="text"/>
          <p:cNvSpPr txBox="1"/>
          <p:nvPr/>
        </p:nvSpPr>
        <p:spPr>
          <a:xfrm>
            <a:off x="4892040" y="4069080"/>
            <a:ext cx="1600200" cy="1417320"/>
          </a:xfrm>
          <a:prstGeom prst="rect">
            <a:avLst/>
          </a:prstGeom>
          <a:noFill/>
          <a:ln/>
        </p:spPr>
        <p:txBody>
          <a:bodyPr wrap="square" lIns="0" tIns="0" rIns="0" bIns="0" rtlCol="0" anchor="ctr"/>
          <a:lstStyle/>
          <a:p>
            <a:pPr algn="l" indent="0" marL="0">
              <a:lnSpc>
                <a:spcPct val="110000"/>
              </a:lnSpc>
              <a:buNone/>
            </a:pPr>
            <a:r>
              <a:rPr lang="en-US" sz="2000" spc="-50" kern="0" dirty="0">
                <a:solidFill>
                  <a:srgbClr val="141417"/>
                </a:solidFill>
                <a:latin typeface="Outfit Medium" pitchFamily="34" charset="0"/>
                <a:ea typeface="Outfit Medium" pitchFamily="34" charset="-122"/>
                <a:cs typeface="Outfit Medium" pitchFamily="34" charset="-120"/>
              </a:rPr>
              <a:t>12.000</a:t>
            </a:r>
            <a:endParaRPr lang="en-US" sz="2000" dirty="0"/>
          </a:p>
        </p:txBody>
      </p:sp>
      <p:sp>
        <p:nvSpPr>
          <p:cNvPr id="19" name="text"/>
          <p:cNvSpPr txBox="1"/>
          <p:nvPr/>
        </p:nvSpPr>
        <p:spPr>
          <a:xfrm>
            <a:off x="6583680" y="4069080"/>
            <a:ext cx="548640" cy="1417320"/>
          </a:xfrm>
          <a:prstGeom prst="rect">
            <a:avLst/>
          </a:prstGeom>
          <a:noFill/>
          <a:ln/>
        </p:spPr>
        <p:txBody>
          <a:bodyPr wrap="square" lIns="0" tIns="0" rIns="0" bIns="0" rtlCol="0" anchor="ctr"/>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model baru per tahun; industri 3.000</a:t>
            </a:r>
            <a:endParaRPr lang="en-US" sz="750" dirty="0"/>
          </a:p>
        </p:txBody>
      </p:sp>
      <p:sp>
        <p:nvSpPr>
          <p:cNvPr id="20" name="card"/>
          <p:cNvSpPr/>
          <p:nvPr/>
        </p:nvSpPr>
        <p:spPr>
          <a:xfrm>
            <a:off x="7223760" y="4069080"/>
            <a:ext cx="2606040" cy="1417320"/>
          </a:xfrm>
          <a:prstGeom prst="roundRect">
            <a:avLst>
              <a:gd name="adj" fmla="val 12903"/>
            </a:avLst>
          </a:prstGeom>
          <a:solidFill>
            <a:srgbClr val="E8E8E8"/>
          </a:solidFill>
          <a:ln w="6350">
            <a:solidFill>
              <a:srgbClr val="E8E8E8"/>
            </a:solidFill>
            <a:prstDash val="solid"/>
          </a:ln>
        </p:spPr>
      </p:sp>
      <p:sp>
        <p:nvSpPr>
          <p:cNvPr id="21" name="text"/>
          <p:cNvSpPr txBox="1"/>
          <p:nvPr/>
        </p:nvSpPr>
        <p:spPr>
          <a:xfrm>
            <a:off x="7452360" y="4069080"/>
            <a:ext cx="1600200" cy="1417320"/>
          </a:xfrm>
          <a:prstGeom prst="rect">
            <a:avLst/>
          </a:prstGeom>
          <a:noFill/>
          <a:ln/>
        </p:spPr>
        <p:txBody>
          <a:bodyPr wrap="square" lIns="0" tIns="0" rIns="0" bIns="0" rtlCol="0" anchor="ctr"/>
          <a:lstStyle/>
          <a:p>
            <a:pPr algn="l" indent="0" marL="0">
              <a:lnSpc>
                <a:spcPct val="110000"/>
              </a:lnSpc>
              <a:buNone/>
            </a:pPr>
            <a:r>
              <a:rPr lang="en-US" sz="2000" spc="-50" kern="0" dirty="0">
                <a:solidFill>
                  <a:srgbClr val="141417"/>
                </a:solidFill>
                <a:latin typeface="Outfit Medium" pitchFamily="34" charset="0"/>
                <a:ea typeface="Outfit Medium" pitchFamily="34" charset="-122"/>
                <a:cs typeface="Outfit Medium" pitchFamily="34" charset="-120"/>
              </a:rPr>
              <a:t>17 kali</a:t>
            </a:r>
            <a:endParaRPr lang="en-US" sz="2000" dirty="0"/>
          </a:p>
        </p:txBody>
      </p:sp>
      <p:sp>
        <p:nvSpPr>
          <p:cNvPr id="22" name="text"/>
          <p:cNvSpPr txBox="1"/>
          <p:nvPr/>
        </p:nvSpPr>
        <p:spPr>
          <a:xfrm>
            <a:off x="9144000" y="4069080"/>
            <a:ext cx="548640" cy="1417320"/>
          </a:xfrm>
          <a:prstGeom prst="rect">
            <a:avLst/>
          </a:prstGeom>
          <a:noFill/>
          <a:ln/>
        </p:spPr>
        <p:txBody>
          <a:bodyPr wrap="square" lIns="0" tIns="0" rIns="0" bIns="0" rtlCol="0" anchor="ctr"/>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kunjungan pelanggan per tahun; pesaing 2 kali</a:t>
            </a:r>
            <a:endParaRPr lang="en-US" sz="750" dirty="0"/>
          </a:p>
        </p:txBody>
      </p:sp>
      <p:sp>
        <p:nvSpPr>
          <p:cNvPr id="23" name="card"/>
          <p:cNvSpPr/>
          <p:nvPr/>
        </p:nvSpPr>
        <p:spPr>
          <a:xfrm>
            <a:off x="9966960" y="4069080"/>
            <a:ext cx="1721815" cy="1417320"/>
          </a:xfrm>
          <a:prstGeom prst="roundRect">
            <a:avLst>
              <a:gd name="adj" fmla="val 12903"/>
            </a:avLst>
          </a:prstGeom>
          <a:solidFill>
            <a:srgbClr val="141417"/>
          </a:solidFill>
          <a:ln w="6350">
            <a:solidFill>
              <a:srgbClr val="141417"/>
            </a:solidFill>
            <a:prstDash val="solid"/>
          </a:ln>
        </p:spPr>
      </p:sp>
      <p:sp>
        <p:nvSpPr>
          <p:cNvPr id="24" name="text"/>
          <p:cNvSpPr txBox="1"/>
          <p:nvPr/>
        </p:nvSpPr>
        <p:spPr>
          <a:xfrm>
            <a:off x="10195560" y="4251960"/>
            <a:ext cx="1264615" cy="502920"/>
          </a:xfrm>
          <a:prstGeom prst="rect">
            <a:avLst/>
          </a:prstGeom>
          <a:noFill/>
          <a:ln/>
        </p:spPr>
        <p:txBody>
          <a:bodyPr wrap="square" lIns="0" tIns="0" rIns="0" bIns="0" rtlCol="0" anchor="ctr"/>
          <a:lstStyle/>
          <a:p>
            <a:pPr algn="l" indent="0" marL="0">
              <a:lnSpc>
                <a:spcPct val="110000"/>
              </a:lnSpc>
              <a:buNone/>
            </a:pPr>
            <a:r>
              <a:rPr lang="en-US" sz="2200" spc="-30" kern="0" dirty="0">
                <a:solidFill>
                  <a:srgbClr val="FFFFFF"/>
                </a:solidFill>
                <a:latin typeface="Outfit Medium" pitchFamily="34" charset="0"/>
                <a:ea typeface="Outfit Medium" pitchFamily="34" charset="-122"/>
                <a:cs typeface="Outfit Medium" pitchFamily="34" charset="-120"/>
              </a:rPr>
              <a:t>11 hari</a:t>
            </a:r>
            <a:endParaRPr lang="en-US" sz="2200" dirty="0"/>
          </a:p>
        </p:txBody>
      </p:sp>
      <p:sp>
        <p:nvSpPr>
          <p:cNvPr id="25" name="text"/>
          <p:cNvSpPr txBox="1"/>
          <p:nvPr/>
        </p:nvSpPr>
        <p:spPr>
          <a:xfrm>
            <a:off x="10195560" y="4800600"/>
            <a:ext cx="1264615" cy="594360"/>
          </a:xfrm>
          <a:prstGeom prst="rect">
            <a:avLst/>
          </a:prstGeom>
          <a:noFill/>
          <a:ln/>
        </p:spPr>
        <p:txBody>
          <a:bodyPr wrap="square" lIns="0" tIns="0" rIns="0" bIns="0" rtlCol="0" anchor="t"/>
          <a:lstStyle/>
          <a:p>
            <a:pPr algn="l" indent="0" marL="0">
              <a:lnSpc>
                <a:spcPct val="110000"/>
              </a:lnSpc>
              <a:buNone/>
            </a:pPr>
            <a:r>
              <a:rPr lang="en-US" sz="750" dirty="0">
                <a:solidFill>
                  <a:srgbClr val="BDBDC2"/>
                </a:solidFill>
                <a:latin typeface="Outfit" pitchFamily="34" charset="0"/>
                <a:ea typeface="Outfit" pitchFamily="34" charset="-122"/>
                <a:cs typeface="Outfit" pitchFamily="34" charset="-120"/>
              </a:rPr>
              <a:t>umur rata-rata item di toko</a:t>
            </a:r>
            <a:endParaRPr lang="en-US" sz="750" dirty="0"/>
          </a:p>
        </p:txBody>
      </p:sp>
      <p:sp>
        <p:nvSpPr>
          <p:cNvPr id="26" name="text"/>
          <p:cNvSpPr txBox="1"/>
          <p:nvPr/>
        </p:nvSpPr>
        <p:spPr>
          <a:xfrm>
            <a:off x="502920" y="5669280"/>
            <a:ext cx="8686800" cy="64008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Strategi fast fashion Zara tidak unik. Keunggulannya ada pada eksekusi yang bersifat socially complex dan dibangun bertahun-tahun, sehingga sulit ditiru. Bila strategi mudah ditiru, jalan satu-satunya adalah out-execute pesaing.</a:t>
            </a:r>
            <a:endParaRPr lang="en-US" sz="950" dirty="0"/>
          </a:p>
        </p:txBody>
      </p:sp>
      <p:sp>
        <p:nvSpPr>
          <p:cNvPr id="27"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card"/>
          <p:cNvSpPr/>
          <p:nvPr/>
        </p:nvSpPr>
        <p:spPr>
          <a:xfrm>
            <a:off x="502920" y="658368"/>
            <a:ext cx="5577840" cy="1040587"/>
          </a:xfrm>
          <a:prstGeom prst="roundRect">
            <a:avLst>
              <a:gd name="adj" fmla="val 17575"/>
            </a:avLst>
          </a:prstGeom>
          <a:solidFill>
            <a:srgbClr val="D4FC00"/>
          </a:solidFill>
          <a:ln w="6350">
            <a:solidFill>
              <a:srgbClr val="D4FC00"/>
            </a:solidFill>
            <a:prstDash val="solid"/>
          </a:ln>
        </p:spPr>
      </p:sp>
      <p:sp>
        <p:nvSpPr>
          <p:cNvPr id="8" name="text"/>
          <p:cNvSpPr txBox="1"/>
          <p:nvPr/>
        </p:nvSpPr>
        <p:spPr>
          <a:xfrm>
            <a:off x="777240" y="932688"/>
            <a:ext cx="1508760" cy="583387"/>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01 OUTSOURCING</a:t>
            </a:r>
            <a:endParaRPr lang="en-US" sz="750" dirty="0"/>
          </a:p>
        </p:txBody>
      </p:sp>
      <p:sp>
        <p:nvSpPr>
          <p:cNvPr id="9" name="text"/>
          <p:cNvSpPr txBox="1"/>
          <p:nvPr/>
        </p:nvSpPr>
        <p:spPr>
          <a:xfrm>
            <a:off x="2377440" y="914400"/>
            <a:ext cx="2926080" cy="629107"/>
          </a:xfrm>
          <a:prstGeom prst="rect">
            <a:avLst/>
          </a:prstGeom>
          <a:noFill/>
          <a:ln/>
        </p:spPr>
        <p:txBody>
          <a:bodyPr wrap="square" lIns="0" tIns="0" rIns="0" bIns="0" rtlCol="0" anchor="t"/>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Aktivitas mana dikerjakan sendiri, mana diserahkan ke pihak luar.</a:t>
            </a:r>
            <a:endParaRPr lang="en-US" sz="900" dirty="0"/>
          </a:p>
        </p:txBody>
      </p:sp>
      <p:sp>
        <p:nvSpPr>
          <p:cNvPr id="10" name="dot"/>
          <p:cNvSpPr/>
          <p:nvPr/>
        </p:nvSpPr>
        <p:spPr>
          <a:xfrm>
            <a:off x="5513832" y="1041502"/>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5574182" y="1101852"/>
            <a:ext cx="153619" cy="153619"/>
          </a:xfrm>
          <a:prstGeom prst="rect">
            <a:avLst/>
          </a:prstGeom>
        </p:spPr>
      </p:pic>
      <p:sp>
        <p:nvSpPr>
          <p:cNvPr id="12" name="card"/>
          <p:cNvSpPr/>
          <p:nvPr/>
        </p:nvSpPr>
        <p:spPr>
          <a:xfrm>
            <a:off x="502920" y="1826971"/>
            <a:ext cx="5577840" cy="1040587"/>
          </a:xfrm>
          <a:prstGeom prst="roundRect">
            <a:avLst>
              <a:gd name="adj" fmla="val 17575"/>
            </a:avLst>
          </a:prstGeom>
          <a:solidFill>
            <a:srgbClr val="E8E8E8"/>
          </a:solidFill>
          <a:ln w="6350">
            <a:solidFill>
              <a:srgbClr val="E8E8E8"/>
            </a:solidFill>
            <a:prstDash val="solid"/>
          </a:ln>
        </p:spPr>
      </p:sp>
      <p:sp>
        <p:nvSpPr>
          <p:cNvPr id="13" name="text"/>
          <p:cNvSpPr txBox="1"/>
          <p:nvPr/>
        </p:nvSpPr>
        <p:spPr>
          <a:xfrm>
            <a:off x="777240" y="2101291"/>
            <a:ext cx="1508760" cy="583387"/>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02 TIPE STRUKTUR</a:t>
            </a:r>
            <a:endParaRPr lang="en-US" sz="750" dirty="0"/>
          </a:p>
        </p:txBody>
      </p:sp>
      <p:sp>
        <p:nvSpPr>
          <p:cNvPr id="14" name="text"/>
          <p:cNvSpPr txBox="1"/>
          <p:nvPr/>
        </p:nvSpPr>
        <p:spPr>
          <a:xfrm>
            <a:off x="2377440" y="2083003"/>
            <a:ext cx="2926080" cy="629107"/>
          </a:xfrm>
          <a:prstGeom prst="rect">
            <a:avLst/>
          </a:prstGeom>
          <a:noFill/>
          <a:ln/>
        </p:spPr>
        <p:txBody>
          <a:bodyPr wrap="square" lIns="0" tIns="0" rIns="0" bIns="0" rtlCol="0" anchor="t"/>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Menyelaraskan bentuk organisasi dengan strategi.</a:t>
            </a:r>
            <a:endParaRPr lang="en-US" sz="900" dirty="0"/>
          </a:p>
        </p:txBody>
      </p:sp>
      <p:sp>
        <p:nvSpPr>
          <p:cNvPr id="15" name="dot"/>
          <p:cNvSpPr/>
          <p:nvPr/>
        </p:nvSpPr>
        <p:spPr>
          <a:xfrm>
            <a:off x="5513832" y="2210105"/>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5574182" y="2270455"/>
            <a:ext cx="153619" cy="153619"/>
          </a:xfrm>
          <a:prstGeom prst="rect">
            <a:avLst/>
          </a:prstGeom>
        </p:spPr>
      </p:pic>
      <p:sp>
        <p:nvSpPr>
          <p:cNvPr id="17" name="card"/>
          <p:cNvSpPr/>
          <p:nvPr/>
        </p:nvSpPr>
        <p:spPr>
          <a:xfrm>
            <a:off x="502920" y="2995574"/>
            <a:ext cx="5577840" cy="1040587"/>
          </a:xfrm>
          <a:prstGeom prst="roundRect">
            <a:avLst>
              <a:gd name="adj" fmla="val 17575"/>
            </a:avLst>
          </a:prstGeom>
          <a:solidFill>
            <a:srgbClr val="D4FC00"/>
          </a:solidFill>
          <a:ln w="6350">
            <a:solidFill>
              <a:srgbClr val="D4FC00"/>
            </a:solidFill>
            <a:prstDash val="solid"/>
          </a:ln>
        </p:spPr>
      </p:sp>
      <p:sp>
        <p:nvSpPr>
          <p:cNvPr id="18" name="text"/>
          <p:cNvSpPr txBox="1"/>
          <p:nvPr/>
        </p:nvSpPr>
        <p:spPr>
          <a:xfrm>
            <a:off x="777240" y="3269894"/>
            <a:ext cx="1508760" cy="583387"/>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03 DELEGASI</a:t>
            </a:r>
            <a:endParaRPr lang="en-US" sz="750" dirty="0"/>
          </a:p>
        </p:txBody>
      </p:sp>
      <p:sp>
        <p:nvSpPr>
          <p:cNvPr id="19" name="text"/>
          <p:cNvSpPr txBox="1"/>
          <p:nvPr/>
        </p:nvSpPr>
        <p:spPr>
          <a:xfrm>
            <a:off x="2377440" y="3251606"/>
            <a:ext cx="2926080" cy="629107"/>
          </a:xfrm>
          <a:prstGeom prst="rect">
            <a:avLst/>
          </a:prstGeom>
          <a:noFill/>
          <a:ln/>
        </p:spPr>
        <p:txBody>
          <a:bodyPr wrap="square" lIns="0" tIns="0" rIns="0" bIns="0" rtlCol="0" anchor="t"/>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Seberapa besar wewenang dipusatkan, seberapa besar didelegasikan.</a:t>
            </a:r>
            <a:endParaRPr lang="en-US" sz="900" dirty="0"/>
          </a:p>
        </p:txBody>
      </p:sp>
      <p:sp>
        <p:nvSpPr>
          <p:cNvPr id="20" name="dot"/>
          <p:cNvSpPr/>
          <p:nvPr/>
        </p:nvSpPr>
        <p:spPr>
          <a:xfrm>
            <a:off x="5513832" y="3378708"/>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5574182" y="3439058"/>
            <a:ext cx="153619" cy="153619"/>
          </a:xfrm>
          <a:prstGeom prst="rect">
            <a:avLst/>
          </a:prstGeom>
        </p:spPr>
      </p:pic>
      <p:sp>
        <p:nvSpPr>
          <p:cNvPr id="22" name="card"/>
          <p:cNvSpPr/>
          <p:nvPr/>
        </p:nvSpPr>
        <p:spPr>
          <a:xfrm>
            <a:off x="502920" y="4164178"/>
            <a:ext cx="5577840" cy="1040587"/>
          </a:xfrm>
          <a:prstGeom prst="roundRect">
            <a:avLst>
              <a:gd name="adj" fmla="val 17575"/>
            </a:avLst>
          </a:prstGeom>
          <a:solidFill>
            <a:srgbClr val="E8E8E8"/>
          </a:solidFill>
          <a:ln w="6350">
            <a:solidFill>
              <a:srgbClr val="E8E8E8"/>
            </a:solidFill>
            <a:prstDash val="solid"/>
          </a:ln>
        </p:spPr>
      </p:sp>
      <p:sp>
        <p:nvSpPr>
          <p:cNvPr id="23" name="text"/>
          <p:cNvSpPr txBox="1"/>
          <p:nvPr/>
        </p:nvSpPr>
        <p:spPr>
          <a:xfrm>
            <a:off x="777240" y="4438498"/>
            <a:ext cx="1508760" cy="583387"/>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04 KOORDINASI</a:t>
            </a:r>
            <a:endParaRPr lang="en-US" sz="750" dirty="0"/>
          </a:p>
        </p:txBody>
      </p:sp>
      <p:sp>
        <p:nvSpPr>
          <p:cNvPr id="24" name="text"/>
          <p:cNvSpPr txBox="1"/>
          <p:nvPr/>
        </p:nvSpPr>
        <p:spPr>
          <a:xfrm>
            <a:off x="2377440" y="4420210"/>
            <a:ext cx="2926080" cy="629107"/>
          </a:xfrm>
          <a:prstGeom prst="rect">
            <a:avLst/>
          </a:prstGeom>
          <a:noFill/>
          <a:ln/>
        </p:spPr>
        <p:txBody>
          <a:bodyPr wrap="square" lIns="0" tIns="0" rIns="0" bIns="0" rtlCol="0" anchor="t"/>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Kerja sama lintas unit untuk membangun capability.</a:t>
            </a:r>
            <a:endParaRPr lang="en-US" sz="900" dirty="0"/>
          </a:p>
        </p:txBody>
      </p:sp>
      <p:sp>
        <p:nvSpPr>
          <p:cNvPr id="25" name="dot"/>
          <p:cNvSpPr/>
          <p:nvPr/>
        </p:nvSpPr>
        <p:spPr>
          <a:xfrm>
            <a:off x="5513832" y="4547311"/>
            <a:ext cx="274320" cy="274320"/>
          </a:xfrm>
          <a:prstGeom prst="ellipse">
            <a:avLst/>
          </a:prstGeom>
          <a:solidFill>
            <a:srgbClr val="141417"/>
          </a:solidFill>
          <a:ln w="6350">
            <a:solidFill>
              <a:srgbClr val="141417"/>
            </a:solidFill>
            <a:prstDash val="solid"/>
          </a:ln>
        </p:spPr>
      </p:sp>
      <p:pic>
        <p:nvPicPr>
          <p:cNvPr id="26" name="dot-icon" descr="preencoded.png">    </p:cNvPr>
          <p:cNvPicPr>
            <a:picLocks noChangeAspect="1"/>
          </p:cNvPicPr>
          <p:nvPr/>
        </p:nvPicPr>
        <p:blipFill>
          <a:blip r:embed="rId4"/>
          <a:stretch>
            <a:fillRect/>
          </a:stretch>
        </p:blipFill>
        <p:spPr>
          <a:xfrm>
            <a:off x="5574182" y="4607662"/>
            <a:ext cx="153619" cy="153619"/>
          </a:xfrm>
          <a:prstGeom prst="rect">
            <a:avLst/>
          </a:prstGeom>
        </p:spPr>
      </p:pic>
      <p:sp>
        <p:nvSpPr>
          <p:cNvPr id="27" name="card"/>
          <p:cNvSpPr/>
          <p:nvPr/>
        </p:nvSpPr>
        <p:spPr>
          <a:xfrm>
            <a:off x="502920" y="5332781"/>
            <a:ext cx="5577840" cy="1040587"/>
          </a:xfrm>
          <a:prstGeom prst="roundRect">
            <a:avLst>
              <a:gd name="adj" fmla="val 17575"/>
            </a:avLst>
          </a:prstGeom>
          <a:solidFill>
            <a:srgbClr val="141417"/>
          </a:solidFill>
          <a:ln w="6350">
            <a:solidFill>
              <a:srgbClr val="141417"/>
            </a:solidFill>
            <a:prstDash val="solid"/>
          </a:ln>
        </p:spPr>
      </p:sp>
      <p:sp>
        <p:nvSpPr>
          <p:cNvPr id="28" name="text"/>
          <p:cNvSpPr txBox="1"/>
          <p:nvPr/>
        </p:nvSpPr>
        <p:spPr>
          <a:xfrm>
            <a:off x="777240" y="5607101"/>
            <a:ext cx="1508760" cy="583387"/>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05 MITRA EKSTERNAL</a:t>
            </a:r>
            <a:endParaRPr lang="en-US" sz="750" dirty="0"/>
          </a:p>
        </p:txBody>
      </p:sp>
      <p:sp>
        <p:nvSpPr>
          <p:cNvPr id="29" name="text"/>
          <p:cNvSpPr txBox="1"/>
          <p:nvPr/>
        </p:nvSpPr>
        <p:spPr>
          <a:xfrm>
            <a:off x="2377440" y="5588813"/>
            <a:ext cx="2926080" cy="629107"/>
          </a:xfrm>
          <a:prstGeom prst="rect">
            <a:avLst/>
          </a:prstGeom>
          <a:noFill/>
          <a:ln/>
        </p:spPr>
        <p:txBody>
          <a:bodyPr wrap="square" lIns="0" tIns="0" rIns="0" bIns="0" rtlCol="0" anchor="t"/>
          <a:lstStyle/>
          <a:p>
            <a:pPr algn="l" indent="0" marL="0">
              <a:lnSpc>
                <a:spcPct val="110000"/>
              </a:lnSpc>
              <a:buNone/>
            </a:pPr>
            <a:r>
              <a:rPr lang="en-US" sz="900" dirty="0">
                <a:solidFill>
                  <a:srgbClr val="DADADD"/>
                </a:solidFill>
                <a:latin typeface="Outfit" pitchFamily="34" charset="0"/>
                <a:ea typeface="Outfit" pitchFamily="34" charset="-122"/>
                <a:cs typeface="Outfit" pitchFamily="34" charset="-120"/>
              </a:rPr>
              <a:t>Kolaborasi dengan pemasok, aliansi, dan jaringan.</a:t>
            </a:r>
            <a:endParaRPr lang="en-US" sz="900" dirty="0"/>
          </a:p>
        </p:txBody>
      </p:sp>
      <p:sp>
        <p:nvSpPr>
          <p:cNvPr id="30" name="dot"/>
          <p:cNvSpPr/>
          <p:nvPr/>
        </p:nvSpPr>
        <p:spPr>
          <a:xfrm>
            <a:off x="5513832" y="5715914"/>
            <a:ext cx="274320" cy="274320"/>
          </a:xfrm>
          <a:prstGeom prst="ellipse">
            <a:avLst/>
          </a:prstGeom>
          <a:solidFill>
            <a:srgbClr val="D4FC00"/>
          </a:solidFill>
          <a:ln w="6350">
            <a:solidFill>
              <a:srgbClr val="D4FC00"/>
            </a:solidFill>
            <a:prstDash val="solid"/>
          </a:ln>
        </p:spPr>
      </p:sp>
      <p:pic>
        <p:nvPicPr>
          <p:cNvPr id="31" name="dot-icon" descr="preencoded.png">    </p:cNvPr>
          <p:cNvPicPr>
            <a:picLocks noChangeAspect="1"/>
          </p:cNvPicPr>
          <p:nvPr/>
        </p:nvPicPr>
        <p:blipFill>
          <a:blip r:embed="rId5"/>
          <a:stretch>
            <a:fillRect/>
          </a:stretch>
        </p:blipFill>
        <p:spPr>
          <a:xfrm>
            <a:off x="5574182" y="5776265"/>
            <a:ext cx="153619" cy="153619"/>
          </a:xfrm>
          <a:prstGeom prst="rect">
            <a:avLst/>
          </a:prstGeom>
        </p:spPr>
      </p:pic>
      <p:pic>
        <p:nvPicPr>
          <p:cNvPr id="32" name="Interior putih dengan tangga melengkung" descr="preencoded.png">    </p:cNvPr>
          <p:cNvPicPr>
            <a:picLocks noChangeAspect="1"/>
          </p:cNvPicPr>
          <p:nvPr/>
        </p:nvPicPr>
        <p:blipFill>
          <a:blip r:embed="rId6"/>
          <a:stretch>
            <a:fillRect/>
          </a:stretch>
        </p:blipFill>
        <p:spPr>
          <a:xfrm>
            <a:off x="6537960" y="658368"/>
            <a:ext cx="5150815" cy="2606040"/>
          </a:xfrm>
          <a:prstGeom prst="rect">
            <a:avLst/>
          </a:prstGeom>
        </p:spPr>
      </p:pic>
      <p:sp>
        <p:nvSpPr>
          <p:cNvPr id="33" name="text"/>
          <p:cNvSpPr txBox="1"/>
          <p:nvPr/>
        </p:nvSpPr>
        <p:spPr>
          <a:xfrm>
            <a:off x="6537960" y="3566160"/>
            <a:ext cx="5150815" cy="2651760"/>
          </a:xfrm>
          <a:prstGeom prst="rect">
            <a:avLst/>
          </a:prstGeom>
          <a:noFill/>
          <a:ln/>
        </p:spPr>
        <p:txBody>
          <a:bodyPr wrap="square" lIns="0" tIns="0" rIns="0" bIns="0" rtlCol="0" anchor="t"/>
          <a:lstStyle/>
          <a:p>
            <a:pPr algn="l" indent="0" marL="0">
              <a:lnSpc>
                <a:spcPct val="98000"/>
              </a:lnSpc>
              <a:buNone/>
            </a:pPr>
            <a:r>
              <a:rPr lang="en-US" sz="3600" spc="-50" kern="0" dirty="0">
                <a:solidFill>
                  <a:srgbClr val="141417"/>
                </a:solidFill>
                <a:latin typeface="Outfit Medium" pitchFamily="34" charset="0"/>
                <a:ea typeface="Outfit Medium" pitchFamily="34" charset="-122"/>
                <a:cs typeface="Outfit Medium" pitchFamily="34" charset="-120"/>
              </a:rPr>
              <a:t>STRUKTUR MENGIKUTI STRATEGI</a:t>
            </a:r>
            <a:endParaRPr lang="en-US" sz="3600" dirty="0"/>
          </a:p>
        </p:txBody>
      </p:sp>
      <p:sp>
        <p:nvSpPr>
          <p:cNvPr id="34" name="text"/>
          <p:cNvSpPr txBox="1"/>
          <p:nvPr/>
        </p:nvSpPr>
        <p:spPr>
          <a:xfrm>
            <a:off x="6537960" y="5806440"/>
            <a:ext cx="5150815" cy="548640"/>
          </a:xfrm>
          <a:prstGeom prst="rect">
            <a:avLst/>
          </a:prstGeom>
          <a:noFill/>
          <a:ln/>
        </p:spPr>
        <p:txBody>
          <a:bodyPr wrap="square" lIns="0" tIns="0" rIns="0" bIns="0" rtlCol="0" anchor="t"/>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Figure 10.3, digambar ulang. Lima keputusan bermuara pada struktur yang cocok dengan kebutuhan eksekusi (Chandler, 1962).</a:t>
            </a:r>
            <a:endParaRPr lang="en-US" sz="900" dirty="0"/>
          </a:p>
        </p:txBody>
      </p:sp>
      <p:sp>
        <p:nvSpPr>
          <p:cNvPr id="35"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8"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9"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10"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11"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12"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13"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DIKERJAKAN SENDIRI ATAU DI-OUTSOURCE</a:t>
            </a:r>
            <a:endParaRPr lang="en-US" sz="3800" dirty="0"/>
          </a:p>
        </p:txBody>
      </p:sp>
      <p:sp>
        <p:nvSpPr>
          <p:cNvPr id="14"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5"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16"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17" name="text"/>
          <p:cNvSpPr txBox="1"/>
          <p:nvPr/>
        </p:nvSpPr>
        <p:spPr>
          <a:xfrm>
            <a:off x="502920" y="3749040"/>
            <a:ext cx="4480560" cy="91440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Apple memegang desain dan pengembangan produk, lalu menyerahkan manufaktur ke Foxconn. Harganya: kendali atas kondisi kerja berkurang, sehingga standar pemasok diperketat. Batasnya jelas: jangan kehilangan keahlian pada aktivitas yang menopang keunggulan jangka panjang.</a:t>
            </a:r>
            <a:endParaRPr lang="en-US" sz="950" dirty="0"/>
          </a:p>
        </p:txBody>
      </p:sp>
      <p:pic>
        <p:nvPicPr>
          <p:cNvPr id="18" name="Bekerja di laptop" descr="preencoded.png">    </p:cNvPr>
          <p:cNvPicPr>
            <a:picLocks noChangeAspect="1"/>
          </p:cNvPicPr>
          <p:nvPr/>
        </p:nvPicPr>
        <p:blipFill>
          <a:blip r:embed="rId2"/>
          <a:stretch>
            <a:fillRect/>
          </a:stretch>
        </p:blipFill>
        <p:spPr>
          <a:xfrm>
            <a:off x="502920" y="4754880"/>
            <a:ext cx="2743200" cy="1828800"/>
          </a:xfrm>
          <a:prstGeom prst="rect">
            <a:avLst/>
          </a:prstGeom>
        </p:spPr>
      </p:pic>
      <p:sp>
        <p:nvSpPr>
          <p:cNvPr id="19" name="badge"/>
          <p:cNvSpPr/>
          <p:nvPr/>
        </p:nvSpPr>
        <p:spPr>
          <a:xfrm>
            <a:off x="2880360" y="4892040"/>
            <a:ext cx="256032" cy="256032"/>
          </a:xfrm>
          <a:prstGeom prst="ellipse">
            <a:avLst/>
          </a:prstGeom>
          <a:solidFill>
            <a:srgbClr val="D4FC00"/>
          </a:solidFill>
          <a:ln w="6350">
            <a:solidFill>
              <a:srgbClr val="D4FC00"/>
            </a:solidFill>
            <a:prstDash val="solid"/>
          </a:ln>
        </p:spPr>
      </p:sp>
      <p:pic>
        <p:nvPicPr>
          <p:cNvPr id="20"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1"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2"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3" name="pill"/>
          <p:cNvSpPr/>
          <p:nvPr/>
        </p:nvSpPr>
        <p:spPr>
          <a:xfrm>
            <a:off x="9098280" y="4526280"/>
            <a:ext cx="2697480" cy="310896"/>
          </a:xfrm>
          <a:prstGeom prst="roundRect">
            <a:avLst>
              <a:gd name="adj" fmla="val 147059"/>
            </a:avLst>
          </a:prstGeom>
          <a:solidFill>
            <a:srgbClr val="D4FC00"/>
          </a:solidFill>
          <a:ln w="9525">
            <a:solidFill>
              <a:srgbClr val="141417"/>
            </a:solidFill>
            <a:prstDash val="solid"/>
          </a:ln>
        </p:spPr>
      </p:sp>
      <p:sp>
        <p:nvSpPr>
          <p:cNvPr id="24" name="text"/>
          <p:cNvSpPr txBox="1"/>
          <p:nvPr/>
        </p:nvSpPr>
        <p:spPr>
          <a:xfrm>
            <a:off x="9208008" y="4526280"/>
            <a:ext cx="2478024" cy="310896"/>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FOKUS LEBIH TAJAM</a:t>
            </a:r>
            <a:endParaRPr lang="en-US" sz="750" dirty="0"/>
          </a:p>
        </p:txBody>
      </p:sp>
      <p:sp>
        <p:nvSpPr>
          <p:cNvPr id="25" name="pill"/>
          <p:cNvSpPr/>
          <p:nvPr/>
        </p:nvSpPr>
        <p:spPr>
          <a:xfrm>
            <a:off x="9098280" y="4946904"/>
            <a:ext cx="2697480" cy="310896"/>
          </a:xfrm>
          <a:prstGeom prst="roundRect">
            <a:avLst>
              <a:gd name="adj" fmla="val 147059"/>
            </a:avLst>
          </a:prstGeom>
          <a:solidFill>
            <a:srgbClr val="D4FC00"/>
          </a:solidFill>
          <a:ln w="9525">
            <a:solidFill>
              <a:srgbClr val="141417"/>
            </a:solidFill>
            <a:prstDash val="solid"/>
          </a:ln>
        </p:spPr>
      </p:sp>
      <p:sp>
        <p:nvSpPr>
          <p:cNvPr id="26" name="text"/>
          <p:cNvSpPr txBox="1"/>
          <p:nvPr/>
        </p:nvSpPr>
        <p:spPr>
          <a:xfrm>
            <a:off x="9208008" y="4946904"/>
            <a:ext cx="2478024" cy="310896"/>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ORGANISASI LEBIH RAMPING</a:t>
            </a:r>
            <a:endParaRPr lang="en-US" sz="750" dirty="0"/>
          </a:p>
        </p:txBody>
      </p:sp>
      <p:sp>
        <p:nvSpPr>
          <p:cNvPr id="27" name="pill"/>
          <p:cNvSpPr/>
          <p:nvPr/>
        </p:nvSpPr>
        <p:spPr>
          <a:xfrm>
            <a:off x="9098280" y="5367528"/>
            <a:ext cx="2697480" cy="310896"/>
          </a:xfrm>
          <a:prstGeom prst="roundRect">
            <a:avLst>
              <a:gd name="adj" fmla="val 147059"/>
            </a:avLst>
          </a:prstGeom>
          <a:solidFill>
            <a:srgbClr val="D4FC00"/>
          </a:solidFill>
          <a:ln w="9525">
            <a:solidFill>
              <a:srgbClr val="141417"/>
            </a:solidFill>
            <a:prstDash val="solid"/>
          </a:ln>
        </p:spPr>
      </p:sp>
      <p:sp>
        <p:nvSpPr>
          <p:cNvPr id="28" name="text"/>
          <p:cNvSpPr txBox="1"/>
          <p:nvPr/>
        </p:nvSpPr>
        <p:spPr>
          <a:xfrm>
            <a:off x="9208008" y="5367528"/>
            <a:ext cx="2478024" cy="310896"/>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CAPABILITY MITRA TERPAKAI</a:t>
            </a:r>
            <a:endParaRPr lang="en-US" sz="7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EMPAT TIPE STRUKTUR, SATU PRINSIP</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148840"/>
            <a:ext cx="2679878" cy="2514600"/>
          </a:xfrm>
          <a:prstGeom prst="roundRect">
            <a:avLst>
              <a:gd name="adj" fmla="val 7273"/>
            </a:avLst>
          </a:prstGeom>
          <a:solidFill>
            <a:srgbClr val="E8E8E8"/>
          </a:solidFill>
          <a:ln w="6350">
            <a:solidFill>
              <a:srgbClr val="E8E8E8"/>
            </a:solidFill>
            <a:prstDash val="solid"/>
          </a:ln>
        </p:spPr>
      </p:sp>
      <p:sp>
        <p:nvSpPr>
          <p:cNvPr id="12" name="text"/>
          <p:cNvSpPr txBox="1"/>
          <p:nvPr/>
        </p:nvSpPr>
        <p:spPr>
          <a:xfrm>
            <a:off x="777240"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01</a:t>
            </a:r>
            <a:endParaRPr lang="en-US" sz="1300" dirty="0"/>
          </a:p>
        </p:txBody>
      </p:sp>
      <p:sp>
        <p:nvSpPr>
          <p:cNvPr id="13" name="text"/>
          <p:cNvSpPr txBox="1"/>
          <p:nvPr/>
        </p:nvSpPr>
        <p:spPr>
          <a:xfrm>
            <a:off x="777240"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Eksekutif pusat dan staf kecil. Murah dan lentur, tidak memadai saat tumbuh.</a:t>
            </a:r>
            <a:endParaRPr lang="en-US" sz="900" dirty="0"/>
          </a:p>
        </p:txBody>
      </p:sp>
      <p:sp>
        <p:nvSpPr>
          <p:cNvPr id="14" name="text"/>
          <p:cNvSpPr txBox="1"/>
          <p:nvPr/>
        </p:nvSpPr>
        <p:spPr>
          <a:xfrm>
            <a:off x="777240"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SIMPLE</a:t>
            </a:r>
            <a:endParaRPr lang="en-US" sz="750" dirty="0"/>
          </a:p>
        </p:txBody>
      </p:sp>
      <p:sp>
        <p:nvSpPr>
          <p:cNvPr id="15" name="card"/>
          <p:cNvSpPr/>
          <p:nvPr/>
        </p:nvSpPr>
        <p:spPr>
          <a:xfrm>
            <a:off x="3338246" y="2148840"/>
            <a:ext cx="2679878" cy="2514600"/>
          </a:xfrm>
          <a:prstGeom prst="roundRect">
            <a:avLst>
              <a:gd name="adj" fmla="val 7273"/>
            </a:avLst>
          </a:prstGeom>
          <a:solidFill>
            <a:srgbClr val="D4FC00"/>
          </a:solidFill>
          <a:ln w="6350">
            <a:solidFill>
              <a:srgbClr val="D4FC00"/>
            </a:solidFill>
            <a:prstDash val="solid"/>
          </a:ln>
        </p:spPr>
      </p:sp>
      <p:sp>
        <p:nvSpPr>
          <p:cNvPr id="16" name="text"/>
          <p:cNvSpPr txBox="1"/>
          <p:nvPr/>
        </p:nvSpPr>
        <p:spPr>
          <a:xfrm>
            <a:off x="3612566"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02</a:t>
            </a:r>
            <a:endParaRPr lang="en-US" sz="1300" dirty="0"/>
          </a:p>
        </p:txBody>
      </p:sp>
      <p:sp>
        <p:nvSpPr>
          <p:cNvPr id="17" name="text"/>
          <p:cNvSpPr txBox="1"/>
          <p:nvPr/>
        </p:nvSpPr>
        <p:spPr>
          <a:xfrm>
            <a:off x="3612566"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Departemen per fungsi untuk perusahaan satu bisnis. Spesialisasi kuat, sekat antardepartemen.</a:t>
            </a:r>
            <a:endParaRPr lang="en-US" sz="900" dirty="0"/>
          </a:p>
        </p:txBody>
      </p:sp>
      <p:sp>
        <p:nvSpPr>
          <p:cNvPr id="18" name="text"/>
          <p:cNvSpPr txBox="1"/>
          <p:nvPr/>
        </p:nvSpPr>
        <p:spPr>
          <a:xfrm>
            <a:off x="3612566"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FUNCTIONAL</a:t>
            </a:r>
            <a:endParaRPr lang="en-US" sz="750" dirty="0"/>
          </a:p>
        </p:txBody>
      </p:sp>
      <p:sp>
        <p:nvSpPr>
          <p:cNvPr id="19" name="card"/>
          <p:cNvSpPr/>
          <p:nvPr/>
        </p:nvSpPr>
        <p:spPr>
          <a:xfrm>
            <a:off x="6173572" y="2148840"/>
            <a:ext cx="2679878" cy="2514600"/>
          </a:xfrm>
          <a:prstGeom prst="roundRect">
            <a:avLst>
              <a:gd name="adj" fmla="val 7273"/>
            </a:avLst>
          </a:prstGeom>
          <a:solidFill>
            <a:srgbClr val="E8E8E8"/>
          </a:solidFill>
          <a:ln w="6350">
            <a:solidFill>
              <a:srgbClr val="E8E8E8"/>
            </a:solidFill>
            <a:prstDash val="solid"/>
          </a:ln>
        </p:spPr>
      </p:sp>
      <p:sp>
        <p:nvSpPr>
          <p:cNvPr id="20" name="text"/>
          <p:cNvSpPr txBox="1"/>
          <p:nvPr/>
        </p:nvSpPr>
        <p:spPr>
          <a:xfrm>
            <a:off x="6447892"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03</a:t>
            </a:r>
            <a:endParaRPr lang="en-US" sz="1300" dirty="0"/>
          </a:p>
        </p:txBody>
      </p:sp>
      <p:sp>
        <p:nvSpPr>
          <p:cNvPr id="21" name="text"/>
          <p:cNvSpPr txBox="1"/>
          <p:nvPr/>
        </p:nvSpPr>
        <p:spPr>
          <a:xfrm>
            <a:off x="6447892"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Divisi sebagai profit center untuk diversifikasi dan internasionalisasi. Sinergi lintas bisnis sulit.</a:t>
            </a:r>
            <a:endParaRPr lang="en-US" sz="900" dirty="0"/>
          </a:p>
        </p:txBody>
      </p:sp>
      <p:sp>
        <p:nvSpPr>
          <p:cNvPr id="22" name="text"/>
          <p:cNvSpPr txBox="1"/>
          <p:nvPr/>
        </p:nvSpPr>
        <p:spPr>
          <a:xfrm>
            <a:off x="6447892"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MULTIDIVISIONAL</a:t>
            </a:r>
            <a:endParaRPr lang="en-US" sz="750" dirty="0"/>
          </a:p>
        </p:txBody>
      </p:sp>
      <p:sp>
        <p:nvSpPr>
          <p:cNvPr id="23" name="card"/>
          <p:cNvSpPr/>
          <p:nvPr/>
        </p:nvSpPr>
        <p:spPr>
          <a:xfrm>
            <a:off x="9008897" y="2148840"/>
            <a:ext cx="2679878" cy="2514600"/>
          </a:xfrm>
          <a:prstGeom prst="roundRect">
            <a:avLst>
              <a:gd name="adj" fmla="val 7273"/>
            </a:avLst>
          </a:prstGeom>
          <a:solidFill>
            <a:srgbClr val="141417"/>
          </a:solidFill>
          <a:ln w="6350">
            <a:solidFill>
              <a:srgbClr val="141417"/>
            </a:solidFill>
            <a:prstDash val="solid"/>
          </a:ln>
        </p:spPr>
      </p:sp>
      <p:sp>
        <p:nvSpPr>
          <p:cNvPr id="24" name="text"/>
          <p:cNvSpPr txBox="1"/>
          <p:nvPr/>
        </p:nvSpPr>
        <p:spPr>
          <a:xfrm>
            <a:off x="9283217"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FFFFFF"/>
                </a:solidFill>
                <a:latin typeface="Outfit Medium" pitchFamily="34" charset="0"/>
                <a:ea typeface="Outfit Medium" pitchFamily="34" charset="-122"/>
                <a:cs typeface="Outfit Medium" pitchFamily="34" charset="-120"/>
              </a:rPr>
              <a:t>04</a:t>
            </a:r>
            <a:endParaRPr lang="en-US" sz="1300" dirty="0"/>
          </a:p>
        </p:txBody>
      </p:sp>
      <p:sp>
        <p:nvSpPr>
          <p:cNvPr id="25" name="text"/>
          <p:cNvSpPr txBox="1"/>
          <p:nvPr/>
        </p:nvSpPr>
        <p:spPr>
          <a:xfrm>
            <a:off x="9283217"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DADADD"/>
                </a:solidFill>
                <a:latin typeface="Outfit" pitchFamily="34" charset="0"/>
                <a:ea typeface="Outfit" pitchFamily="34" charset="-122"/>
                <a:cs typeface="Outfit" pitchFamily="34" charset="-120"/>
              </a:rPr>
              <a:t>Dua dimensi dengan dua atasan, untuk proyek dan capability lintas unit. Lapisan tambahan.</a:t>
            </a:r>
            <a:endParaRPr lang="en-US" sz="900" dirty="0"/>
          </a:p>
        </p:txBody>
      </p:sp>
      <p:sp>
        <p:nvSpPr>
          <p:cNvPr id="26" name="text"/>
          <p:cNvSpPr txBox="1"/>
          <p:nvPr/>
        </p:nvSpPr>
        <p:spPr>
          <a:xfrm>
            <a:off x="9283217"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MATRIX</a:t>
            </a:r>
            <a:endParaRPr lang="en-US" sz="750" dirty="0"/>
          </a:p>
        </p:txBody>
      </p:sp>
      <p:sp>
        <p:nvSpPr>
          <p:cNvPr id="27" name="text"/>
          <p:cNvSpPr txBox="1"/>
          <p:nvPr/>
        </p:nvSpPr>
        <p:spPr>
          <a:xfrm>
            <a:off x="502920" y="5166360"/>
            <a:ext cx="7498080" cy="365760"/>
          </a:xfrm>
          <a:prstGeom prst="rect">
            <a:avLst/>
          </a:prstGeom>
          <a:noFill/>
          <a:ln/>
        </p:spPr>
        <p:txBody>
          <a:bodyPr wrap="square" lIns="0" tIns="0" rIns="0" bIns="0" rtlCol="0" anchor="ctr"/>
          <a:lstStyle/>
          <a:p>
            <a:pPr algn="l" indent="0" marL="0">
              <a:lnSpc>
                <a:spcPct val="110000"/>
              </a:lnSpc>
              <a:buNone/>
            </a:pPr>
            <a:r>
              <a:rPr lang="en-US" sz="1200" spc="50" kern="0" dirty="0">
                <a:solidFill>
                  <a:srgbClr val="1A1A1C"/>
                </a:solidFill>
                <a:latin typeface="Outfit Medium" pitchFamily="34" charset="0"/>
                <a:ea typeface="Outfit Medium" pitchFamily="34" charset="-122"/>
                <a:cs typeface="Outfit Medium" pitchFamily="34" charset="-120"/>
              </a:rPr>
              <a:t>AKTIVITAS YANG KRITIS BAGI STRATEGI MENJADI BUILDING BLOCKS UTAMA</a:t>
            </a:r>
            <a:endParaRPr lang="en-US" sz="1200" dirty="0"/>
          </a:p>
        </p:txBody>
      </p:sp>
      <p:sp>
        <p:nvSpPr>
          <p:cNvPr id="28" name="pill"/>
          <p:cNvSpPr/>
          <p:nvPr/>
        </p:nvSpPr>
        <p:spPr>
          <a:xfrm>
            <a:off x="8396935" y="5166360"/>
            <a:ext cx="3291840" cy="365760"/>
          </a:xfrm>
          <a:prstGeom prst="roundRect">
            <a:avLst>
              <a:gd name="adj" fmla="val 125000"/>
            </a:avLst>
          </a:prstGeom>
          <a:solidFill>
            <a:srgbClr val="F4F4F4"/>
          </a:solidFill>
          <a:ln w="9525">
            <a:solidFill>
              <a:srgbClr val="141417"/>
            </a:solidFill>
            <a:prstDash val="solid"/>
          </a:ln>
        </p:spPr>
      </p:sp>
      <p:sp>
        <p:nvSpPr>
          <p:cNvPr id="29" name="text"/>
          <p:cNvSpPr txBox="1"/>
          <p:nvPr/>
        </p:nvSpPr>
        <p:spPr>
          <a:xfrm>
            <a:off x="8506663" y="5166360"/>
            <a:ext cx="3072384" cy="365760"/>
          </a:xfrm>
          <a:prstGeom prst="rect">
            <a:avLst/>
          </a:prstGeom>
          <a:noFill/>
          <a:ln/>
        </p:spPr>
        <p:txBody>
          <a:bodyPr wrap="square" lIns="0" tIns="0" rIns="0" bIns="0" rtlCol="0" anchor="ctr"/>
          <a:lstStyle/>
          <a:p>
            <a:pPr algn="ctr" indent="0" marL="0">
              <a:lnSpc>
                <a:spcPct val="110000"/>
              </a:lnSpc>
              <a:buNone/>
            </a:pPr>
            <a:r>
              <a:rPr lang="en-US" sz="800" spc="100" kern="0" dirty="0">
                <a:solidFill>
                  <a:srgbClr val="1A1A1C"/>
                </a:solidFill>
                <a:latin typeface="Outfit" pitchFamily="34" charset="0"/>
                <a:ea typeface="Outfit" pitchFamily="34" charset="-122"/>
                <a:cs typeface="Outfit" pitchFamily="34" charset="-120"/>
              </a:rPr>
              <a:t>SIMPLE → FUNCTIONAL → MULTIDIVISIONAL → MATRIX</a:t>
            </a:r>
            <a:endParaRPr lang="en-US" sz="800" dirty="0"/>
          </a:p>
        </p:txBody>
      </p:sp>
      <p:sp>
        <p:nvSpPr>
          <p:cNvPr id="30"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868680"/>
            <a:ext cx="7315200" cy="146304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MEMUSATKAN ATAU MENDELEGASIKAN KEPUTUSAN</a:t>
            </a:r>
            <a:endParaRPr lang="en-US" sz="3400" dirty="0"/>
          </a:p>
        </p:txBody>
      </p:sp>
      <p:sp>
        <p:nvSpPr>
          <p:cNvPr id="8" name="card"/>
          <p:cNvSpPr/>
          <p:nvPr/>
        </p:nvSpPr>
        <p:spPr>
          <a:xfrm>
            <a:off x="502920" y="2743200"/>
            <a:ext cx="3429000" cy="3474720"/>
          </a:xfrm>
          <a:prstGeom prst="roundRect">
            <a:avLst>
              <a:gd name="adj" fmla="val 5333"/>
            </a:avLst>
          </a:prstGeom>
          <a:solidFill>
            <a:srgbClr val="141417"/>
          </a:solidFill>
          <a:ln w="6350">
            <a:solidFill>
              <a:srgbClr val="141417"/>
            </a:solidFill>
            <a:prstDash val="solid"/>
          </a:ln>
        </p:spPr>
      </p:sp>
      <p:sp>
        <p:nvSpPr>
          <p:cNvPr id="9" name="text"/>
          <p:cNvSpPr txBox="1"/>
          <p:nvPr/>
        </p:nvSpPr>
        <p:spPr>
          <a:xfrm>
            <a:off x="777240" y="3017520"/>
            <a:ext cx="914400" cy="320040"/>
          </a:xfrm>
          <a:prstGeom prst="rect">
            <a:avLst/>
          </a:prstGeom>
          <a:noFill/>
          <a:ln/>
        </p:spPr>
        <p:txBody>
          <a:bodyPr wrap="square" lIns="0" tIns="0" rIns="0" bIns="0" rtlCol="0" anchor="t"/>
          <a:lstStyle/>
          <a:p>
            <a:pPr algn="l" indent="0" marL="0">
              <a:lnSpc>
                <a:spcPct val="110000"/>
              </a:lnSpc>
              <a:buNone/>
            </a:pPr>
            <a:r>
              <a:rPr lang="en-US" sz="1300" dirty="0">
                <a:solidFill>
                  <a:srgbClr val="FFFFFF"/>
                </a:solidFill>
                <a:latin typeface="Outfit Medium" pitchFamily="34" charset="0"/>
                <a:ea typeface="Outfit Medium" pitchFamily="34" charset="-122"/>
                <a:cs typeface="Outfit Medium" pitchFamily="34" charset="-120"/>
              </a:rPr>
              <a:t>01</a:t>
            </a:r>
            <a:endParaRPr lang="en-US" sz="1300" dirty="0"/>
          </a:p>
        </p:txBody>
      </p:sp>
      <p:sp>
        <p:nvSpPr>
          <p:cNvPr id="10" name="text"/>
          <p:cNvSpPr txBox="1"/>
          <p:nvPr/>
        </p:nvSpPr>
        <p:spPr>
          <a:xfrm>
            <a:off x="777240" y="4297680"/>
            <a:ext cx="2880360" cy="1463040"/>
          </a:xfrm>
          <a:prstGeom prst="rect">
            <a:avLst/>
          </a:prstGeom>
          <a:noFill/>
          <a:ln/>
        </p:spPr>
        <p:txBody>
          <a:bodyPr wrap="square" lIns="0" tIns="0" rIns="0" bIns="0" rtlCol="0" anchor="b"/>
          <a:lstStyle/>
          <a:p>
            <a:pPr algn="l" marL="127000" indent="-127000">
              <a:lnSpc>
                <a:spcPct val="110000"/>
              </a:lnSpc>
              <a:spcAft>
                <a:spcPts val="600"/>
              </a:spcAft>
              <a:buSzPct val="100000"/>
              <a:buChar char="•"/>
            </a:pPr>
            <a:r>
              <a:rPr lang="en-US" sz="950" dirty="0">
                <a:solidFill>
                  <a:srgbClr val="DADADD"/>
                </a:solidFill>
                <a:latin typeface="Outfit" pitchFamily="34" charset="0"/>
                <a:ea typeface="Outfit" pitchFamily="34" charset="-122"/>
                <a:cs typeface="Outfit" pitchFamily="34" charset="-120"/>
              </a:rPr>
              <a:t>Keputusan penting di tangan manajemen puncak</a:t>
            </a:r>
            <a:endParaRPr lang="en-US" sz="950" dirty="0"/>
          </a:p>
          <a:p>
            <a:pPr algn="l" marL="127000" indent="-127000">
              <a:lnSpc>
                <a:spcPct val="110000"/>
              </a:lnSpc>
              <a:spcAft>
                <a:spcPts val="600"/>
              </a:spcAft>
              <a:buSzPct val="100000"/>
              <a:buChar char="•"/>
            </a:pPr>
            <a:r>
              <a:rPr lang="en-US" sz="950" dirty="0">
                <a:solidFill>
                  <a:srgbClr val="DADADD"/>
                </a:solidFill>
                <a:latin typeface="Outfit" pitchFamily="34" charset="0"/>
                <a:ea typeface="Outfit" pitchFamily="34" charset="-122"/>
                <a:cs typeface="Outfit" pitchFamily="34" charset="-120"/>
              </a:rPr>
              <a:t>Akuntabilitas jelas, tegas saat krisis</a:t>
            </a:r>
            <a:endParaRPr lang="en-US" sz="950" dirty="0"/>
          </a:p>
          <a:p>
            <a:pPr algn="l" marL="127000" indent="-127000">
              <a:lnSpc>
                <a:spcPct val="110000"/>
              </a:lnSpc>
              <a:spcAft>
                <a:spcPts val="600"/>
              </a:spcAft>
              <a:buSzPct val="100000"/>
              <a:buChar char="•"/>
            </a:pPr>
            <a:r>
              <a:rPr lang="en-US" sz="950" dirty="0">
                <a:solidFill>
                  <a:srgbClr val="DADADD"/>
                </a:solidFill>
                <a:latin typeface="Outfit" pitchFamily="34" charset="0"/>
                <a:ea typeface="Outfit" pitchFamily="34" charset="-122"/>
                <a:cs typeface="Outfit" pitchFamily="34" charset="-120"/>
              </a:rPr>
              <a:t>Respons lambat, inisiatif lini bawah mati</a:t>
            </a:r>
            <a:endParaRPr lang="en-US" sz="950" dirty="0"/>
          </a:p>
        </p:txBody>
      </p:sp>
      <p:sp>
        <p:nvSpPr>
          <p:cNvPr id="11" name="text"/>
          <p:cNvSpPr txBox="1"/>
          <p:nvPr/>
        </p:nvSpPr>
        <p:spPr>
          <a:xfrm>
            <a:off x="777240" y="5806440"/>
            <a:ext cx="2880360"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CENTRALIZED</a:t>
            </a:r>
            <a:endParaRPr lang="en-US" sz="750" dirty="0"/>
          </a:p>
        </p:txBody>
      </p:sp>
      <p:sp>
        <p:nvSpPr>
          <p:cNvPr id="12" name="card"/>
          <p:cNvSpPr/>
          <p:nvPr/>
        </p:nvSpPr>
        <p:spPr>
          <a:xfrm>
            <a:off x="4087368" y="2743200"/>
            <a:ext cx="3429000" cy="3474720"/>
          </a:xfrm>
          <a:prstGeom prst="roundRect">
            <a:avLst>
              <a:gd name="adj" fmla="val 5333"/>
            </a:avLst>
          </a:prstGeom>
          <a:solidFill>
            <a:srgbClr val="D4FC00"/>
          </a:solidFill>
          <a:ln w="6350">
            <a:solidFill>
              <a:srgbClr val="D4FC00"/>
            </a:solidFill>
            <a:prstDash val="solid"/>
          </a:ln>
        </p:spPr>
      </p:sp>
      <p:sp>
        <p:nvSpPr>
          <p:cNvPr id="13" name="text"/>
          <p:cNvSpPr txBox="1"/>
          <p:nvPr/>
        </p:nvSpPr>
        <p:spPr>
          <a:xfrm>
            <a:off x="4361688" y="3017520"/>
            <a:ext cx="91440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02</a:t>
            </a:r>
            <a:endParaRPr lang="en-US" sz="1300" dirty="0"/>
          </a:p>
        </p:txBody>
      </p:sp>
      <p:sp>
        <p:nvSpPr>
          <p:cNvPr id="14" name="text"/>
          <p:cNvSpPr txBox="1"/>
          <p:nvPr/>
        </p:nvSpPr>
        <p:spPr>
          <a:xfrm>
            <a:off x="4361688" y="4297680"/>
            <a:ext cx="2880360" cy="1463040"/>
          </a:xfrm>
          <a:prstGeom prst="rect">
            <a:avLst/>
          </a:prstGeom>
          <a:noFill/>
          <a:ln/>
        </p:spPr>
        <p:txBody>
          <a:bodyPr wrap="square" lIns="0" tIns="0" rIns="0" bIns="0" rtlCol="0" anchor="b"/>
          <a:lstStyle/>
          <a:p>
            <a:pPr algn="l" marL="127000" indent="-127000">
              <a:lnSpc>
                <a:spcPct val="110000"/>
              </a:lnSpc>
              <a:spcAft>
                <a:spcPts val="600"/>
              </a:spcAft>
              <a:buSzPct val="100000"/>
              <a:buChar char="•"/>
            </a:pPr>
            <a:r>
              <a:rPr lang="en-US" sz="950" dirty="0">
                <a:solidFill>
                  <a:srgbClr val="1A1A1C"/>
                </a:solidFill>
                <a:latin typeface="Outfit" pitchFamily="34" charset="0"/>
                <a:ea typeface="Outfit" pitchFamily="34" charset="-122"/>
                <a:cs typeface="Outfit" pitchFamily="34" charset="-120"/>
              </a:rPr>
              <a:t>Wewenang pada orang terdekat dengan situasi</a:t>
            </a:r>
            <a:endParaRPr lang="en-US" sz="950" dirty="0"/>
          </a:p>
          <a:p>
            <a:pPr algn="l" marL="127000" indent="-127000">
              <a:lnSpc>
                <a:spcPct val="110000"/>
              </a:lnSpc>
              <a:spcAft>
                <a:spcPts val="600"/>
              </a:spcAft>
              <a:buSzPct val="100000"/>
              <a:buChar char="•"/>
            </a:pPr>
            <a:r>
              <a:rPr lang="en-US" sz="950" dirty="0">
                <a:solidFill>
                  <a:srgbClr val="1A1A1C"/>
                </a:solidFill>
                <a:latin typeface="Outfit" pitchFamily="34" charset="0"/>
                <a:ea typeface="Outfit" pitchFamily="34" charset="-122"/>
                <a:cs typeface="Outfit" pitchFamily="34" charset="-120"/>
              </a:rPr>
              <a:t>Inisiatif, ide baru, respons pasar cepat</a:t>
            </a:r>
            <a:endParaRPr lang="en-US" sz="950" dirty="0"/>
          </a:p>
          <a:p>
            <a:pPr algn="l" marL="127000" indent="-127000">
              <a:lnSpc>
                <a:spcPct val="110000"/>
              </a:lnSpc>
              <a:spcAft>
                <a:spcPts val="600"/>
              </a:spcAft>
              <a:buSzPct val="100000"/>
              <a:buChar char="•"/>
            </a:pPr>
            <a:r>
              <a:rPr lang="en-US" sz="950" dirty="0">
                <a:solidFill>
                  <a:srgbClr val="1A1A1C"/>
                </a:solidFill>
                <a:latin typeface="Outfit" pitchFamily="34" charset="0"/>
                <a:ea typeface="Outfit" pitchFamily="34" charset="-122"/>
                <a:cs typeface="Outfit" pitchFamily="34" charset="-120"/>
              </a:rPr>
              <a:t>Risiko tidak konsisten dan koordinasi lemah</a:t>
            </a:r>
            <a:endParaRPr lang="en-US" sz="950" dirty="0"/>
          </a:p>
        </p:txBody>
      </p:sp>
      <p:sp>
        <p:nvSpPr>
          <p:cNvPr id="15" name="text"/>
          <p:cNvSpPr txBox="1"/>
          <p:nvPr/>
        </p:nvSpPr>
        <p:spPr>
          <a:xfrm>
            <a:off x="4361688" y="5806440"/>
            <a:ext cx="2880360"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DECENTRALIZED</a:t>
            </a:r>
            <a:endParaRPr lang="en-US" sz="750" dirty="0"/>
          </a:p>
        </p:txBody>
      </p:sp>
      <p:pic>
        <p:nvPicPr>
          <p:cNvPr id="16"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7" name="text"/>
          <p:cNvSpPr txBox="1"/>
          <p:nvPr/>
        </p:nvSpPr>
        <p:spPr>
          <a:xfrm>
            <a:off x="502920" y="2011680"/>
            <a:ext cx="6400800" cy="54864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Table 10.1, dipadatkan. Delegasi bukan berarti tanpa kendali: batas wewenang, strategic control systems, akuntabilitas, insentif, dan budaya (Simons, 1995).</a:t>
            </a:r>
            <a:endParaRPr lang="en-US" sz="950" dirty="0"/>
          </a:p>
        </p:txBody>
      </p:sp>
      <p:sp>
        <p:nvSpPr>
          <p:cNvPr id="18"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pic>
        <p:nvPicPr>
          <p:cNvPr id="7"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343400"/>
            <a:ext cx="1767535" cy="1600200"/>
          </a:xfrm>
          <a:prstGeom prst="roundRect">
            <a:avLst>
              <a:gd name="adj" fmla="val 11429"/>
            </a:avLst>
          </a:prstGeom>
          <a:solidFill>
            <a:srgbClr val="D4FC00"/>
          </a:solidFill>
          <a:ln w="6350">
            <a:solidFill>
              <a:srgbClr val="D4FC00"/>
            </a:solidFill>
            <a:prstDash val="solid"/>
          </a:ln>
        </p:spPr>
      </p:sp>
      <p:sp>
        <p:nvSpPr>
          <p:cNvPr id="12" name="text"/>
          <p:cNvSpPr txBox="1"/>
          <p:nvPr/>
        </p:nvSpPr>
        <p:spPr>
          <a:xfrm>
            <a:off x="10104120" y="4434840"/>
            <a:ext cx="1508760" cy="64008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3" name="text"/>
          <p:cNvSpPr txBox="1"/>
          <p:nvPr/>
        </p:nvSpPr>
        <p:spPr>
          <a:xfrm>
            <a:off x="10104120" y="5120640"/>
            <a:ext cx="1508760" cy="77724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kerja sama eksternal: network (Ducati) dan ecosystem (Silicon Valley)</a:t>
            </a:r>
            <a:endParaRPr lang="en-US" sz="750" dirty="0"/>
          </a:p>
        </p:txBody>
      </p:sp>
      <p:sp>
        <p:nvSpPr>
          <p:cNvPr id="14" name="text"/>
          <p:cNvSpPr txBox="1"/>
          <p:nvPr/>
        </p:nvSpPr>
        <p:spPr>
          <a:xfrm>
            <a:off x="502920" y="3291840"/>
            <a:ext cx="5394960" cy="2011680"/>
          </a:xfrm>
          <a:prstGeom prst="rect">
            <a:avLst/>
          </a:prstGeom>
          <a:noFill/>
          <a:ln/>
        </p:spPr>
        <p:txBody>
          <a:bodyPr wrap="square" lIns="0" tIns="0" rIns="0" bIns="0" rtlCol="0" anchor="t"/>
          <a:lstStyle/>
          <a:p>
            <a:pPr algn="l" indent="0" marL="0">
              <a:lnSpc>
                <a:spcPct val="98000"/>
              </a:lnSpc>
              <a:buNone/>
            </a:pPr>
            <a:r>
              <a:rPr lang="en-US" sz="3600" spc="-50" kern="0" dirty="0">
                <a:solidFill>
                  <a:srgbClr val="141417"/>
                </a:solidFill>
                <a:latin typeface="Outfit Medium" pitchFamily="34" charset="0"/>
                <a:ea typeface="Outfit Medium" pitchFamily="34" charset="-122"/>
                <a:cs typeface="Outfit Medium" pitchFamily="34" charset="-120"/>
              </a:rPr>
              <a:t>KOORDINASI KE DALAM DAN KE LUAR</a:t>
            </a:r>
            <a:endParaRPr lang="en-US" sz="3600" dirty="0"/>
          </a:p>
        </p:txBody>
      </p:sp>
      <p:sp>
        <p:nvSpPr>
          <p:cNvPr id="15" name="text"/>
          <p:cNvSpPr txBox="1"/>
          <p:nvPr/>
        </p:nvSpPr>
        <p:spPr>
          <a:xfrm>
            <a:off x="502920" y="5440680"/>
            <a:ext cx="4937760" cy="91440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Capability seperti speed-to-market melintasi banyak unit, sehingga kerja sama harus dirancang: komite lintas fungsi, tim proyek, dan terutama kompensasi yang terikat pada kinerja kelompok. Ke luar, kemitraan butuh relationship managers; bentuknya network yang kontraktual atau ecosystem yang longgar.</a:t>
            </a:r>
            <a:endParaRPr lang="en-US" sz="950" dirty="0"/>
          </a:p>
        </p:txBody>
      </p:sp>
      <p:sp>
        <p:nvSpPr>
          <p:cNvPr id="16"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960120"/>
            <a:ext cx="640080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ORGANISASI YANG MAMPU MENGEKSEKUSI</a:t>
            </a:r>
            <a:endParaRPr lang="en-US" sz="3800" dirty="0"/>
          </a:p>
        </p:txBody>
      </p:sp>
      <p:sp>
        <p:nvSpPr>
          <p:cNvPr id="8" name="card"/>
          <p:cNvSpPr/>
          <p:nvPr/>
        </p:nvSpPr>
        <p:spPr>
          <a:xfrm>
            <a:off x="502920" y="4251960"/>
            <a:ext cx="2103120" cy="1325880"/>
          </a:xfrm>
          <a:prstGeom prst="roundRect">
            <a:avLst>
              <a:gd name="adj" fmla="val 13793"/>
            </a:avLst>
          </a:prstGeom>
          <a:solidFill>
            <a:srgbClr val="E8E8E8"/>
          </a:solidFill>
          <a:ln w="6350">
            <a:solidFill>
              <a:srgbClr val="E8E8E8"/>
            </a:solidFill>
            <a:prstDash val="solid"/>
          </a:ln>
        </p:spPr>
      </p:sp>
      <p:sp>
        <p:nvSpPr>
          <p:cNvPr id="9" name="text"/>
          <p:cNvSpPr txBox="1"/>
          <p:nvPr/>
        </p:nvSpPr>
        <p:spPr>
          <a:xfrm>
            <a:off x="731520" y="4434840"/>
            <a:ext cx="1645920" cy="50292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141417"/>
                </a:solidFill>
                <a:latin typeface="Outfit Medium" pitchFamily="34" charset="0"/>
                <a:ea typeface="Outfit Medium" pitchFamily="34" charset="-122"/>
                <a:cs typeface="Outfit Medium" pitchFamily="34" charset="-120"/>
              </a:rPr>
              <a:t>Orang</a:t>
            </a:r>
            <a:endParaRPr lang="en-US" sz="2000" dirty="0"/>
          </a:p>
        </p:txBody>
      </p:sp>
      <p:sp>
        <p:nvSpPr>
          <p:cNvPr id="10" name="text"/>
          <p:cNvSpPr txBox="1"/>
          <p:nvPr/>
        </p:nvSpPr>
        <p:spPr>
          <a:xfrm>
            <a:off x="731520" y="4983480"/>
            <a:ext cx="1645920" cy="50292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Staffing: tim manajemen dan karyawan yang tepat</a:t>
            </a:r>
            <a:endParaRPr lang="en-US" sz="750" dirty="0"/>
          </a:p>
        </p:txBody>
      </p:sp>
      <p:sp>
        <p:nvSpPr>
          <p:cNvPr id="11" name="card"/>
          <p:cNvSpPr/>
          <p:nvPr/>
        </p:nvSpPr>
        <p:spPr>
          <a:xfrm>
            <a:off x="2734056" y="4251960"/>
            <a:ext cx="2103120" cy="1325880"/>
          </a:xfrm>
          <a:prstGeom prst="roundRect">
            <a:avLst>
              <a:gd name="adj" fmla="val 13793"/>
            </a:avLst>
          </a:prstGeom>
          <a:solidFill>
            <a:srgbClr val="D4FC00"/>
          </a:solidFill>
          <a:ln w="6350">
            <a:solidFill>
              <a:srgbClr val="D4FC00"/>
            </a:solidFill>
            <a:prstDash val="solid"/>
          </a:ln>
        </p:spPr>
      </p:sp>
      <p:sp>
        <p:nvSpPr>
          <p:cNvPr id="12" name="text"/>
          <p:cNvSpPr txBox="1"/>
          <p:nvPr/>
        </p:nvSpPr>
        <p:spPr>
          <a:xfrm>
            <a:off x="2962656" y="4434840"/>
            <a:ext cx="1645920" cy="50292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141417"/>
                </a:solidFill>
                <a:latin typeface="Outfit Medium" pitchFamily="34" charset="0"/>
                <a:ea typeface="Outfit Medium" pitchFamily="34" charset="-122"/>
                <a:cs typeface="Outfit Medium" pitchFamily="34" charset="-120"/>
              </a:rPr>
              <a:t>Capability</a:t>
            </a:r>
            <a:endParaRPr lang="en-US" sz="2000" dirty="0"/>
          </a:p>
        </p:txBody>
      </p:sp>
      <p:sp>
        <p:nvSpPr>
          <p:cNvPr id="13" name="text"/>
          <p:cNvSpPr txBox="1"/>
          <p:nvPr/>
        </p:nvSpPr>
        <p:spPr>
          <a:xfrm>
            <a:off x="2962656" y="4983480"/>
            <a:ext cx="1645920" cy="50292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Dibangun, dibeli, atau diakses, lalu terus disegarkan</a:t>
            </a:r>
            <a:endParaRPr lang="en-US" sz="750" dirty="0"/>
          </a:p>
        </p:txBody>
      </p:sp>
      <p:sp>
        <p:nvSpPr>
          <p:cNvPr id="14" name="card"/>
          <p:cNvSpPr/>
          <p:nvPr/>
        </p:nvSpPr>
        <p:spPr>
          <a:xfrm>
            <a:off x="4965192" y="4251960"/>
            <a:ext cx="2103120" cy="1325880"/>
          </a:xfrm>
          <a:prstGeom prst="roundRect">
            <a:avLst>
              <a:gd name="adj" fmla="val 13793"/>
            </a:avLst>
          </a:prstGeom>
          <a:solidFill>
            <a:srgbClr val="141417"/>
          </a:solidFill>
          <a:ln w="6350">
            <a:solidFill>
              <a:srgbClr val="141417"/>
            </a:solidFill>
            <a:prstDash val="solid"/>
          </a:ln>
        </p:spPr>
      </p:sp>
      <p:sp>
        <p:nvSpPr>
          <p:cNvPr id="15" name="text"/>
          <p:cNvSpPr txBox="1"/>
          <p:nvPr/>
        </p:nvSpPr>
        <p:spPr>
          <a:xfrm>
            <a:off x="5193792" y="4434840"/>
            <a:ext cx="1645920" cy="502920"/>
          </a:xfrm>
          <a:prstGeom prst="rect">
            <a:avLst/>
          </a:prstGeom>
          <a:noFill/>
          <a:ln/>
        </p:spPr>
        <p:txBody>
          <a:bodyPr wrap="square" lIns="0" tIns="0" rIns="0" bIns="0" rtlCol="0" anchor="ctr"/>
          <a:lstStyle/>
          <a:p>
            <a:pPr algn="l" indent="0" marL="0">
              <a:lnSpc>
                <a:spcPct val="110000"/>
              </a:lnSpc>
              <a:buNone/>
            </a:pPr>
            <a:r>
              <a:rPr lang="en-US" sz="2000" spc="-30" kern="0" dirty="0">
                <a:solidFill>
                  <a:srgbClr val="FFFFFF"/>
                </a:solidFill>
                <a:latin typeface="Outfit Medium" pitchFamily="34" charset="0"/>
                <a:ea typeface="Outfit Medium" pitchFamily="34" charset="-122"/>
                <a:cs typeface="Outfit Medium" pitchFamily="34" charset="-120"/>
              </a:rPr>
              <a:t>Struktur</a:t>
            </a:r>
            <a:endParaRPr lang="en-US" sz="2000" dirty="0"/>
          </a:p>
        </p:txBody>
      </p:sp>
      <p:sp>
        <p:nvSpPr>
          <p:cNvPr id="16" name="text"/>
          <p:cNvSpPr txBox="1"/>
          <p:nvPr/>
        </p:nvSpPr>
        <p:spPr>
          <a:xfrm>
            <a:off x="5193792" y="4983480"/>
            <a:ext cx="1645920" cy="502920"/>
          </a:xfrm>
          <a:prstGeom prst="rect">
            <a:avLst/>
          </a:prstGeom>
          <a:noFill/>
          <a:ln/>
        </p:spPr>
        <p:txBody>
          <a:bodyPr wrap="square" lIns="0" tIns="0" rIns="0" bIns="0" rtlCol="0" anchor="t"/>
          <a:lstStyle/>
          <a:p>
            <a:pPr algn="l" indent="0" marL="0">
              <a:lnSpc>
                <a:spcPct val="110000"/>
              </a:lnSpc>
              <a:buNone/>
            </a:pPr>
            <a:r>
              <a:rPr lang="en-US" sz="750" dirty="0">
                <a:solidFill>
                  <a:srgbClr val="BDBDC2"/>
                </a:solidFill>
                <a:latin typeface="Outfit" pitchFamily="34" charset="0"/>
                <a:ea typeface="Outfit" pitchFamily="34" charset="-122"/>
                <a:cs typeface="Outfit" pitchFamily="34" charset="-120"/>
              </a:rPr>
              <a:t>Lima keputusan menata pekerjaan</a:t>
            </a:r>
            <a:endParaRPr lang="en-US" sz="750" dirty="0"/>
          </a:p>
        </p:txBody>
      </p:sp>
      <p:sp>
        <p:nvSpPr>
          <p:cNvPr id="17" name="text"/>
          <p:cNvSpPr txBox="1"/>
          <p:nvPr/>
        </p:nvSpPr>
        <p:spPr>
          <a:xfrm>
            <a:off x="502920" y="2971800"/>
            <a:ext cx="6217920" cy="640080"/>
          </a:xfrm>
          <a:prstGeom prst="rect">
            <a:avLst/>
          </a:prstGeom>
          <a:noFill/>
          <a:ln/>
        </p:spPr>
        <p:txBody>
          <a:bodyPr wrap="square" lIns="0" tIns="0" rIns="0" bIns="0" rtlCol="0" anchor="t"/>
          <a:lstStyle/>
          <a:p>
            <a:pPr algn="l" indent="0" marL="0">
              <a:lnSpc>
                <a:spcPct val="110000"/>
              </a:lnSpc>
              <a:buNone/>
            </a:pPr>
            <a:r>
              <a:rPr lang="en-US" sz="950" dirty="0">
                <a:solidFill>
                  <a:srgbClr val="7C7C80"/>
                </a:solidFill>
                <a:latin typeface="Outfit" pitchFamily="34" charset="0"/>
                <a:ea typeface="Outfit" pitchFamily="34" charset="-122"/>
                <a:cs typeface="Outfit" pitchFamily="34" charset="-120"/>
              </a:rPr>
              <a:t>Ketiganya menghasilkan eksekusi yang mahir: target tercapai dan aktivitas kritis dijalankan lebih baik daripada pesaing. Strategi sebaik apa pun hanya setengah pekerjaan.</a:t>
            </a:r>
            <a:endParaRPr lang="en-US" sz="950" dirty="0"/>
          </a:p>
        </p:txBody>
      </p:sp>
      <p:sp>
        <p:nvSpPr>
          <p:cNvPr id="18" name="pill"/>
          <p:cNvSpPr/>
          <p:nvPr/>
        </p:nvSpPr>
        <p:spPr>
          <a:xfrm>
            <a:off x="502920" y="5760720"/>
            <a:ext cx="2103120" cy="292608"/>
          </a:xfrm>
          <a:prstGeom prst="roundRect">
            <a:avLst>
              <a:gd name="adj" fmla="val 156250"/>
            </a:avLst>
          </a:prstGeom>
          <a:solidFill>
            <a:srgbClr val="F4F4F4"/>
          </a:solidFill>
          <a:ln w="9525">
            <a:solidFill>
              <a:srgbClr val="141417"/>
            </a:solidFill>
            <a:prstDash val="solid"/>
          </a:ln>
        </p:spPr>
      </p:sp>
      <p:sp>
        <p:nvSpPr>
          <p:cNvPr id="19" name="text"/>
          <p:cNvSpPr txBox="1"/>
          <p:nvPr/>
        </p:nvSpPr>
        <p:spPr>
          <a:xfrm>
            <a:off x="612648" y="5760720"/>
            <a:ext cx="1883664" cy="292608"/>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BAB 11 · MENGGERAKKAN</a:t>
            </a:r>
            <a:endParaRPr lang="en-US" sz="750" dirty="0"/>
          </a:p>
        </p:txBody>
      </p:sp>
      <p:sp>
        <p:nvSpPr>
          <p:cNvPr id="20" name="pill"/>
          <p:cNvSpPr/>
          <p:nvPr/>
        </p:nvSpPr>
        <p:spPr>
          <a:xfrm>
            <a:off x="2743200" y="5760720"/>
            <a:ext cx="2103120" cy="292608"/>
          </a:xfrm>
          <a:prstGeom prst="roundRect">
            <a:avLst>
              <a:gd name="adj" fmla="val 156250"/>
            </a:avLst>
          </a:prstGeom>
          <a:solidFill>
            <a:srgbClr val="F4F4F4"/>
          </a:solidFill>
          <a:ln w="9525">
            <a:solidFill>
              <a:srgbClr val="141417"/>
            </a:solidFill>
            <a:prstDash val="solid"/>
          </a:ln>
        </p:spPr>
      </p:sp>
      <p:sp>
        <p:nvSpPr>
          <p:cNvPr id="21" name="text"/>
          <p:cNvSpPr txBox="1"/>
          <p:nvPr/>
        </p:nvSpPr>
        <p:spPr>
          <a:xfrm>
            <a:off x="2852928" y="5760720"/>
            <a:ext cx="1883664" cy="292608"/>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BAB 12 · MENOPANG</a:t>
            </a:r>
            <a:endParaRPr lang="en-US" sz="750" dirty="0"/>
          </a:p>
        </p:txBody>
      </p:sp>
      <p:sp>
        <p:nvSpPr>
          <p:cNvPr id="22" name="pill"/>
          <p:cNvSpPr/>
          <p:nvPr/>
        </p:nvSpPr>
        <p:spPr>
          <a:xfrm>
            <a:off x="4983480" y="5760720"/>
            <a:ext cx="2103120" cy="292608"/>
          </a:xfrm>
          <a:prstGeom prst="roundRect">
            <a:avLst>
              <a:gd name="adj" fmla="val 156250"/>
            </a:avLst>
          </a:prstGeom>
          <a:solidFill>
            <a:srgbClr val="D4FC00"/>
          </a:solidFill>
          <a:ln w="9525">
            <a:solidFill>
              <a:srgbClr val="141417"/>
            </a:solidFill>
            <a:prstDash val="solid"/>
          </a:ln>
        </p:spPr>
      </p:sp>
      <p:sp>
        <p:nvSpPr>
          <p:cNvPr id="23" name="text"/>
          <p:cNvSpPr txBox="1"/>
          <p:nvPr/>
        </p:nvSpPr>
        <p:spPr>
          <a:xfrm>
            <a:off x="5093208" y="5760720"/>
            <a:ext cx="1883664" cy="292608"/>
          </a:xfrm>
          <a:prstGeom prst="rect">
            <a:avLst/>
          </a:prstGeom>
          <a:noFill/>
          <a:ln/>
        </p:spPr>
        <p:txBody>
          <a:bodyPr wrap="square" lIns="0" tIns="0" rIns="0" bIns="0" rtlCol="0" anchor="ctr"/>
          <a:lstStyle/>
          <a:p>
            <a:pPr algn="ctr"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4DX · DISIPLIN EKSEKUSI</a:t>
            </a:r>
            <a:endParaRPr lang="en-US" sz="750" dirty="0"/>
          </a:p>
        </p:txBody>
      </p:sp>
      <p:pic>
        <p:nvPicPr>
          <p:cNvPr id="24"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5"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BAHAN RENUNGAN</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148840"/>
            <a:ext cx="2679878" cy="2514600"/>
          </a:xfrm>
          <a:prstGeom prst="roundRect">
            <a:avLst>
              <a:gd name="adj" fmla="val 7273"/>
            </a:avLst>
          </a:prstGeom>
          <a:solidFill>
            <a:srgbClr val="E8E8E8"/>
          </a:solidFill>
          <a:ln w="6350">
            <a:solidFill>
              <a:srgbClr val="E8E8E8"/>
            </a:solidFill>
            <a:prstDash val="solid"/>
          </a:ln>
        </p:spPr>
      </p:sp>
      <p:sp>
        <p:nvSpPr>
          <p:cNvPr id="12" name="text"/>
          <p:cNvSpPr txBox="1"/>
          <p:nvPr/>
        </p:nvSpPr>
        <p:spPr>
          <a:xfrm>
            <a:off x="777240"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01</a:t>
            </a:r>
            <a:endParaRPr lang="en-US" sz="1300" dirty="0"/>
          </a:p>
        </p:txBody>
      </p:sp>
      <p:sp>
        <p:nvSpPr>
          <p:cNvPr id="13" name="text"/>
          <p:cNvSpPr txBox="1"/>
          <p:nvPr/>
        </p:nvSpPr>
        <p:spPr>
          <a:xfrm>
            <a:off x="777240"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Layar dan haluan sudah ada. Apa yang terjadi bila awak tidak terlatih atau garis komando tidak jelas?</a:t>
            </a:r>
            <a:endParaRPr lang="en-US" sz="900" dirty="0"/>
          </a:p>
        </p:txBody>
      </p:sp>
      <p:sp>
        <p:nvSpPr>
          <p:cNvPr id="14" name="text"/>
          <p:cNvSpPr txBox="1"/>
          <p:nvPr/>
        </p:nvSpPr>
        <p:spPr>
          <a:xfrm>
            <a:off x="777240"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AWAK KAPAL</a:t>
            </a:r>
            <a:endParaRPr lang="en-US" sz="750" dirty="0"/>
          </a:p>
        </p:txBody>
      </p:sp>
      <p:sp>
        <p:nvSpPr>
          <p:cNvPr id="15" name="card"/>
          <p:cNvSpPr/>
          <p:nvPr/>
        </p:nvSpPr>
        <p:spPr>
          <a:xfrm>
            <a:off x="3338246" y="2148840"/>
            <a:ext cx="2679878" cy="2514600"/>
          </a:xfrm>
          <a:prstGeom prst="roundRect">
            <a:avLst>
              <a:gd name="adj" fmla="val 7273"/>
            </a:avLst>
          </a:prstGeom>
          <a:solidFill>
            <a:srgbClr val="D4FC00"/>
          </a:solidFill>
          <a:ln w="6350">
            <a:solidFill>
              <a:srgbClr val="D4FC00"/>
            </a:solidFill>
            <a:prstDash val="solid"/>
          </a:ln>
        </p:spPr>
      </p:sp>
      <p:sp>
        <p:nvSpPr>
          <p:cNvPr id="16" name="text"/>
          <p:cNvSpPr txBox="1"/>
          <p:nvPr/>
        </p:nvSpPr>
        <p:spPr>
          <a:xfrm>
            <a:off x="3612566"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02</a:t>
            </a:r>
            <a:endParaRPr lang="en-US" sz="1300" dirty="0"/>
          </a:p>
        </p:txBody>
      </p:sp>
      <p:sp>
        <p:nvSpPr>
          <p:cNvPr id="17" name="text"/>
          <p:cNvSpPr txBox="1"/>
          <p:nvPr/>
        </p:nvSpPr>
        <p:spPr>
          <a:xfrm>
            <a:off x="3612566"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1A1A1C"/>
                </a:solidFill>
                <a:latin typeface="Outfit" pitchFamily="34" charset="0"/>
                <a:ea typeface="Outfit" pitchFamily="34" charset="-122"/>
                <a:cs typeface="Outfit" pitchFamily="34" charset="-120"/>
              </a:rPr>
              <a:t>Dua jaringan minimarket menjalankan strategi yang nyaris sama. Di aktivitas eksekusi mana keunggulan dibangun, dan apa pembandingnya?</a:t>
            </a:r>
            <a:endParaRPr lang="en-US" sz="900" dirty="0"/>
          </a:p>
        </p:txBody>
      </p:sp>
      <p:sp>
        <p:nvSpPr>
          <p:cNvPr id="18" name="text"/>
          <p:cNvSpPr txBox="1"/>
          <p:nvPr/>
        </p:nvSpPr>
        <p:spPr>
          <a:xfrm>
            <a:off x="3612566"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STRATEGI YANG MUDAH DITIRU</a:t>
            </a:r>
            <a:endParaRPr lang="en-US" sz="750" dirty="0"/>
          </a:p>
        </p:txBody>
      </p:sp>
      <p:sp>
        <p:nvSpPr>
          <p:cNvPr id="19" name="card"/>
          <p:cNvSpPr/>
          <p:nvPr/>
        </p:nvSpPr>
        <p:spPr>
          <a:xfrm>
            <a:off x="6173572" y="2148840"/>
            <a:ext cx="2679878" cy="2514600"/>
          </a:xfrm>
          <a:prstGeom prst="roundRect">
            <a:avLst>
              <a:gd name="adj" fmla="val 7273"/>
            </a:avLst>
          </a:prstGeom>
          <a:solidFill>
            <a:srgbClr val="E8E8E8"/>
          </a:solidFill>
          <a:ln w="6350">
            <a:solidFill>
              <a:srgbClr val="E8E8E8"/>
            </a:solidFill>
            <a:prstDash val="solid"/>
          </a:ln>
        </p:spPr>
      </p:sp>
      <p:sp>
        <p:nvSpPr>
          <p:cNvPr id="20" name="text"/>
          <p:cNvSpPr txBox="1"/>
          <p:nvPr/>
        </p:nvSpPr>
        <p:spPr>
          <a:xfrm>
            <a:off x="6447892"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03</a:t>
            </a:r>
            <a:endParaRPr lang="en-US" sz="1300" dirty="0"/>
          </a:p>
        </p:txBody>
      </p:sp>
      <p:sp>
        <p:nvSpPr>
          <p:cNvPr id="21" name="text"/>
          <p:cNvSpPr txBox="1"/>
          <p:nvPr/>
        </p:nvSpPr>
        <p:spPr>
          <a:xfrm>
            <a:off x="6447892"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7C7C80"/>
                </a:solidFill>
                <a:latin typeface="Outfit" pitchFamily="34" charset="0"/>
                <a:ea typeface="Outfit" pitchFamily="34" charset="-122"/>
                <a:cs typeface="Outfit" pitchFamily="34" charset="-120"/>
              </a:rPr>
              <a:t>Merger Gojek dan Tokopedia (2021). Mengapa capability yang tacit sulit dipindahkan, dan apa syarat integrasinya?</a:t>
            </a:r>
            <a:endParaRPr lang="en-US" sz="900" dirty="0"/>
          </a:p>
        </p:txBody>
      </p:sp>
      <p:sp>
        <p:nvSpPr>
          <p:cNvPr id="22" name="text"/>
          <p:cNvSpPr txBox="1"/>
          <p:nvPr/>
        </p:nvSpPr>
        <p:spPr>
          <a:xfrm>
            <a:off x="6447892"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1A1A1C"/>
                </a:solidFill>
                <a:latin typeface="Outfit" pitchFamily="34" charset="0"/>
                <a:ea typeface="Outfit" pitchFamily="34" charset="-122"/>
                <a:cs typeface="Outfit" pitchFamily="34" charset="-120"/>
              </a:rPr>
              <a:t>MEMBELI CAPABILITY</a:t>
            </a:r>
            <a:endParaRPr lang="en-US" sz="750" dirty="0"/>
          </a:p>
        </p:txBody>
      </p:sp>
      <p:sp>
        <p:nvSpPr>
          <p:cNvPr id="23" name="card"/>
          <p:cNvSpPr/>
          <p:nvPr/>
        </p:nvSpPr>
        <p:spPr>
          <a:xfrm>
            <a:off x="9008897" y="2148840"/>
            <a:ext cx="2679878" cy="2514600"/>
          </a:xfrm>
          <a:prstGeom prst="roundRect">
            <a:avLst>
              <a:gd name="adj" fmla="val 7273"/>
            </a:avLst>
          </a:prstGeom>
          <a:solidFill>
            <a:srgbClr val="141417"/>
          </a:solidFill>
          <a:ln w="6350">
            <a:solidFill>
              <a:srgbClr val="141417"/>
            </a:solidFill>
            <a:prstDash val="solid"/>
          </a:ln>
        </p:spPr>
      </p:sp>
      <p:sp>
        <p:nvSpPr>
          <p:cNvPr id="24" name="text"/>
          <p:cNvSpPr txBox="1"/>
          <p:nvPr/>
        </p:nvSpPr>
        <p:spPr>
          <a:xfrm>
            <a:off x="9283217" y="2423160"/>
            <a:ext cx="1097280" cy="320040"/>
          </a:xfrm>
          <a:prstGeom prst="rect">
            <a:avLst/>
          </a:prstGeom>
          <a:noFill/>
          <a:ln/>
        </p:spPr>
        <p:txBody>
          <a:bodyPr wrap="square" lIns="0" tIns="0" rIns="0" bIns="0" rtlCol="0" anchor="t"/>
          <a:lstStyle/>
          <a:p>
            <a:pPr algn="l" indent="0" marL="0">
              <a:lnSpc>
                <a:spcPct val="110000"/>
              </a:lnSpc>
              <a:buNone/>
            </a:pPr>
            <a:r>
              <a:rPr lang="en-US" sz="1300" dirty="0">
                <a:solidFill>
                  <a:srgbClr val="FFFFFF"/>
                </a:solidFill>
                <a:latin typeface="Outfit Medium" pitchFamily="34" charset="0"/>
                <a:ea typeface="Outfit Medium" pitchFamily="34" charset="-122"/>
                <a:cs typeface="Outfit Medium" pitchFamily="34" charset="-120"/>
              </a:rPr>
              <a:t>04</a:t>
            </a:r>
            <a:endParaRPr lang="en-US" sz="1300" dirty="0"/>
          </a:p>
        </p:txBody>
      </p:sp>
      <p:sp>
        <p:nvSpPr>
          <p:cNvPr id="25" name="text"/>
          <p:cNvSpPr txBox="1"/>
          <p:nvPr/>
        </p:nvSpPr>
        <p:spPr>
          <a:xfrm>
            <a:off x="9283217" y="3246120"/>
            <a:ext cx="2131238" cy="1005840"/>
          </a:xfrm>
          <a:prstGeom prst="rect">
            <a:avLst/>
          </a:prstGeom>
          <a:noFill/>
          <a:ln/>
        </p:spPr>
        <p:txBody>
          <a:bodyPr wrap="square" lIns="0" tIns="0" rIns="0" bIns="0" rtlCol="0" anchor="b"/>
          <a:lstStyle/>
          <a:p>
            <a:pPr algn="l" indent="0" marL="0">
              <a:lnSpc>
                <a:spcPct val="110000"/>
              </a:lnSpc>
              <a:buNone/>
            </a:pPr>
            <a:r>
              <a:rPr lang="en-US" sz="900" dirty="0">
                <a:solidFill>
                  <a:srgbClr val="DADADD"/>
                </a:solidFill>
                <a:latin typeface="Outfit" pitchFamily="34" charset="0"/>
                <a:ea typeface="Outfit" pitchFamily="34" charset="-122"/>
                <a:cs typeface="Outfit" pitchFamily="34" charset="-120"/>
              </a:rPr>
              <a:t>Kapan memusatkan keputusan lebih baik daripada mendelegasikannya? Bandingkan krisis dengan kebutuhan inovasi.</a:t>
            </a:r>
            <a:endParaRPr lang="en-US" sz="900" dirty="0"/>
          </a:p>
        </p:txBody>
      </p:sp>
      <p:sp>
        <p:nvSpPr>
          <p:cNvPr id="26" name="text"/>
          <p:cNvSpPr txBox="1"/>
          <p:nvPr/>
        </p:nvSpPr>
        <p:spPr>
          <a:xfrm>
            <a:off x="9283217" y="4251960"/>
            <a:ext cx="2131238" cy="201168"/>
          </a:xfrm>
          <a:prstGeom prst="rect">
            <a:avLst/>
          </a:prstGeom>
          <a:noFill/>
          <a:ln/>
        </p:spPr>
        <p:txBody>
          <a:bodyPr wrap="square" lIns="0" tIns="0" rIns="0" bIns="0" rtlCol="0" anchor="t"/>
          <a:lstStyle/>
          <a:p>
            <a:pPr algn="l" indent="0" marL="0">
              <a:lnSpc>
                <a:spcPct val="110000"/>
              </a:lnSpc>
              <a:buNone/>
            </a:pPr>
            <a:r>
              <a:rPr lang="en-US" sz="750" spc="100" kern="0" dirty="0">
                <a:solidFill>
                  <a:srgbClr val="D4FC00"/>
                </a:solidFill>
                <a:latin typeface="Outfit" pitchFamily="34" charset="0"/>
                <a:ea typeface="Outfit" pitchFamily="34" charset="-122"/>
                <a:cs typeface="Outfit" pitchFamily="34" charset="-120"/>
              </a:rPr>
              <a:t>KENDALI ATAU INISIATIF</a:t>
            </a:r>
            <a:endParaRPr lang="en-US" sz="750" dirty="0"/>
          </a:p>
        </p:txBody>
      </p:sp>
      <p:sp>
        <p:nvSpPr>
          <p:cNvPr id="27" name="text"/>
          <p:cNvSpPr txBox="1"/>
          <p:nvPr/>
        </p:nvSpPr>
        <p:spPr>
          <a:xfrm>
            <a:off x="502920" y="5166360"/>
            <a:ext cx="7498080" cy="365760"/>
          </a:xfrm>
          <a:prstGeom prst="rect">
            <a:avLst/>
          </a:prstGeom>
          <a:noFill/>
          <a:ln/>
        </p:spPr>
        <p:txBody>
          <a:bodyPr wrap="square" lIns="0" tIns="0" rIns="0" bIns="0" rtlCol="0" anchor="ctr"/>
          <a:lstStyle/>
          <a:p>
            <a:pPr algn="l" indent="0" marL="0">
              <a:lnSpc>
                <a:spcPct val="110000"/>
              </a:lnSpc>
              <a:buNone/>
            </a:pPr>
            <a:r>
              <a:rPr lang="en-US" sz="1200" spc="50" kern="0" dirty="0">
                <a:solidFill>
                  <a:srgbClr val="1A1A1C"/>
                </a:solidFill>
                <a:latin typeface="Outfit Medium" pitchFamily="34" charset="0"/>
                <a:ea typeface="Outfit Medium" pitchFamily="34" charset="-122"/>
                <a:cs typeface="Outfit Medium" pitchFamily="34" charset="-120"/>
              </a:rPr>
              <a:t>CUKUPKAH STRATEGI YANG TEPAT?</a:t>
            </a:r>
            <a:endParaRPr lang="en-US" sz="1200" dirty="0"/>
          </a:p>
        </p:txBody>
      </p:sp>
      <p:sp>
        <p:nvSpPr>
          <p:cNvPr id="28" name="pill"/>
          <p:cNvSpPr/>
          <p:nvPr/>
        </p:nvSpPr>
        <p:spPr>
          <a:xfrm>
            <a:off x="8396935" y="5166360"/>
            <a:ext cx="3291840" cy="365760"/>
          </a:xfrm>
          <a:prstGeom prst="roundRect">
            <a:avLst>
              <a:gd name="adj" fmla="val 125000"/>
            </a:avLst>
          </a:prstGeom>
          <a:solidFill>
            <a:srgbClr val="F4F4F4"/>
          </a:solidFill>
          <a:ln w="9525">
            <a:solidFill>
              <a:srgbClr val="141417"/>
            </a:solidFill>
            <a:prstDash val="solid"/>
          </a:ln>
        </p:spPr>
      </p:sp>
      <p:sp>
        <p:nvSpPr>
          <p:cNvPr id="29" name="text"/>
          <p:cNvSpPr txBox="1"/>
          <p:nvPr/>
        </p:nvSpPr>
        <p:spPr>
          <a:xfrm>
            <a:off x="8506663" y="5166360"/>
            <a:ext cx="3072384" cy="365760"/>
          </a:xfrm>
          <a:prstGeom prst="rect">
            <a:avLst/>
          </a:prstGeom>
          <a:noFill/>
          <a:ln/>
        </p:spPr>
        <p:txBody>
          <a:bodyPr wrap="square" lIns="0" tIns="0" rIns="0" bIns="0" rtlCol="0" anchor="ctr"/>
          <a:lstStyle/>
          <a:p>
            <a:pPr algn="ctr" indent="0" marL="0">
              <a:lnSpc>
                <a:spcPct val="110000"/>
              </a:lnSpc>
              <a:buNone/>
            </a:pPr>
            <a:r>
              <a:rPr lang="en-US" sz="800" spc="100" kern="0" dirty="0">
                <a:solidFill>
                  <a:srgbClr val="1A1A1C"/>
                </a:solidFill>
                <a:latin typeface="Outfit" pitchFamily="34" charset="0"/>
                <a:ea typeface="Outfit" pitchFamily="34" charset="-122"/>
                <a:cs typeface="Outfit" pitchFamily="34" charset="-120"/>
              </a:rPr>
              <a:t>DISKUSI KELAS</a:t>
            </a:r>
            <a:endParaRPr lang="en-US" sz="800" dirty="0"/>
          </a:p>
        </p:txBody>
      </p:sp>
      <p:sp>
        <p:nvSpPr>
          <p:cNvPr id="30" name="text"/>
          <p:cNvSpPr txBox="1"/>
          <p:nvPr/>
        </p:nvSpPr>
        <p:spPr>
          <a:xfrm>
            <a:off x="502920" y="6556248"/>
            <a:ext cx="7315200" cy="164592"/>
          </a:xfrm>
          <a:prstGeom prst="rect">
            <a:avLst/>
          </a:prstGeom>
          <a:noFill/>
          <a:ln/>
        </p:spPr>
        <p:txBody>
          <a:bodyPr wrap="square" lIns="0" tIns="0" rIns="0" bIns="0" rtlCol="0" anchor="t"/>
          <a:lstStyle/>
          <a:p>
            <a:pPr algn="l" indent="0" marL="0">
              <a:lnSpc>
                <a:spcPct val="110000"/>
              </a:lnSpc>
              <a:buNone/>
            </a:pPr>
            <a:r>
              <a:rPr lang="en-US" sz="650" dirty="0">
                <a:solidFill>
                  <a:srgbClr val="A9A9AD"/>
                </a:solidFill>
                <a:latin typeface="Outfit" pitchFamily="34" charset="0"/>
                <a:ea typeface="Outfit" pitchFamily="34" charset="-122"/>
                <a:cs typeface="Outfit" pitchFamily="34" charset="-120"/>
              </a:rPr>
              <a:t>Thompson, Peteraf, Gamble &amp; Strickland (2024), Crafting &amp; Executing Strategy, Bab 10</a:t>
            </a:r>
            <a:endParaRPr lang="en-US" sz="65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p:cNvSpPr txBox="1"/>
          <p:nvPr/>
        </p:nvSpPr>
        <p:spPr>
          <a:xfrm>
            <a:off x="50292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1A1A1C"/>
                </a:solidFill>
                <a:latin typeface="Outfit" pitchFamily="34" charset="0"/>
                <a:ea typeface="Outfit" pitchFamily="34" charset="-122"/>
                <a:cs typeface="Outfit" pitchFamily="34" charset="-120"/>
              </a:rPr>
              <a:t>KELOMPOK 3 · MM FEB UGM</a:t>
            </a:r>
            <a:endParaRPr lang="en-US" sz="750" dirty="0"/>
          </a:p>
        </p:txBody>
      </p:sp>
      <p:sp>
        <p:nvSpPr>
          <p:cNvPr id="3" name="text"/>
          <p:cNvSpPr txBox="1"/>
          <p:nvPr/>
        </p:nvSpPr>
        <p:spPr>
          <a:xfrm>
            <a:off x="3749040" y="246888"/>
            <a:ext cx="237744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Strategic Management · MAN 5422</a:t>
            </a:r>
            <a:endParaRPr lang="en-US" sz="750" dirty="0"/>
          </a:p>
        </p:txBody>
      </p:sp>
      <p:sp>
        <p:nvSpPr>
          <p:cNvPr id="4" name="text"/>
          <p:cNvSpPr txBox="1"/>
          <p:nvPr/>
        </p:nvSpPr>
        <p:spPr>
          <a:xfrm>
            <a:off x="6035040" y="246888"/>
            <a:ext cx="256032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Chapter 10 · Thompson et al. (2024)</a:t>
            </a:r>
            <a:endParaRPr lang="en-US" sz="750" dirty="0"/>
          </a:p>
        </p:txBody>
      </p:sp>
      <p:sp>
        <p:nvSpPr>
          <p:cNvPr id="5" name="text"/>
          <p:cNvSpPr txBox="1"/>
          <p:nvPr/>
        </p:nvSpPr>
        <p:spPr>
          <a:xfrm>
            <a:off x="8503920" y="246888"/>
            <a:ext cx="2011680" cy="182880"/>
          </a:xfrm>
          <a:prstGeom prst="rect">
            <a:avLst/>
          </a:prstGeom>
          <a:noFill/>
          <a:ln/>
        </p:spPr>
        <p:txBody>
          <a:bodyPr wrap="square" lIns="0" tIns="0" rIns="0" bIns="0" rtlCol="0" anchor="t"/>
          <a:lstStyle/>
          <a:p>
            <a:pPr algn="l" indent="0" marL="0">
              <a:lnSpc>
                <a:spcPct val="110000"/>
              </a:lnSpc>
              <a:buNone/>
            </a:pPr>
            <a:r>
              <a:rPr lang="en-US" sz="750" dirty="0">
                <a:solidFill>
                  <a:srgbClr val="7C7C80"/>
                </a:solidFill>
                <a:latin typeface="Outfit" pitchFamily="34" charset="0"/>
                <a:ea typeface="Outfit" pitchFamily="34" charset="-122"/>
                <a:cs typeface="Outfit" pitchFamily="34" charset="-120"/>
              </a:rPr>
              <a:t>Sesi 9 · 7 November 2026</a:t>
            </a:r>
            <a:endParaRPr lang="en-US" sz="750" dirty="0"/>
          </a:p>
        </p:txBody>
      </p:sp>
      <p:sp>
        <p:nvSpPr>
          <p:cNvPr id="6" name="text"/>
          <p:cNvSpPr txBox="1"/>
          <p:nvPr/>
        </p:nvSpPr>
        <p:spPr>
          <a:xfrm>
            <a:off x="10058400" y="246888"/>
            <a:ext cx="1188720" cy="182880"/>
          </a:xfrm>
          <a:prstGeom prst="rect">
            <a:avLst/>
          </a:prstGeom>
          <a:noFill/>
          <a:ln/>
        </p:spPr>
        <p:txBody>
          <a:bodyPr wrap="square" lIns="0" tIns="0" rIns="0" bIns="0" rtlCol="0" anchor="t"/>
          <a:lstStyle/>
          <a:p>
            <a:pPr algn="r" indent="0" marL="0">
              <a:lnSpc>
                <a:spcPct val="110000"/>
              </a:lnSpc>
              <a:buNone/>
            </a:pPr>
            <a:endParaRPr lang="en-US" sz="750" dirty="0"/>
          </a:p>
        </p:txBody>
      </p:sp>
      <p:sp>
        <p:nvSpPr>
          <p:cNvPr id="7" name="text"/>
          <p:cNvSpPr txBox="1"/>
          <p:nvPr/>
        </p:nvSpPr>
        <p:spPr>
          <a:xfrm>
            <a:off x="502920" y="868680"/>
            <a:ext cx="4572000" cy="731520"/>
          </a:xfrm>
          <a:prstGeom prst="rect">
            <a:avLst/>
          </a:prstGeom>
          <a:noFill/>
          <a:ln/>
        </p:spPr>
        <p:txBody>
          <a:bodyPr wrap="square" lIns="0" tIns="0" rIns="0" bIns="0" rtlCol="0" anchor="t"/>
          <a:lstStyle/>
          <a:p>
            <a:pPr algn="l" indent="0" marL="0">
              <a:lnSpc>
                <a:spcPct val="98000"/>
              </a:lnSpc>
              <a:buNone/>
            </a:pPr>
            <a:r>
              <a:rPr lang="en-US" sz="3600" spc="-50" kern="0" dirty="0">
                <a:solidFill>
                  <a:srgbClr val="141417"/>
                </a:solidFill>
                <a:latin typeface="Outfit Medium" pitchFamily="34" charset="0"/>
                <a:ea typeface="Outfit Medium" pitchFamily="34" charset="-122"/>
                <a:cs typeface="Outfit Medium" pitchFamily="34" charset="-120"/>
              </a:rPr>
              <a:t>REFERENSI</a:t>
            </a:r>
            <a:endParaRPr lang="en-US" sz="3600" dirty="0"/>
          </a:p>
        </p:txBody>
      </p:sp>
      <p:pic>
        <p:nvPicPr>
          <p:cNvPr id="8" name="Tumpukan buku di meja putih" descr="preencoded.png">    </p:cNvPr>
          <p:cNvPicPr>
            <a:picLocks noChangeAspect="1"/>
          </p:cNvPicPr>
          <p:nvPr/>
        </p:nvPicPr>
        <p:blipFill>
          <a:blip r:embed="rId1"/>
          <a:stretch>
            <a:fillRect/>
          </a:stretch>
        </p:blipFill>
        <p:spPr>
          <a:xfrm>
            <a:off x="502920" y="2011680"/>
            <a:ext cx="3291840" cy="4206240"/>
          </a:xfrm>
          <a:prstGeom prst="rect">
            <a:avLst/>
          </a:prstGeom>
        </p:spPr>
      </p:pic>
      <p:sp>
        <p:nvSpPr>
          <p:cNvPr id="9" name="card"/>
          <p:cNvSpPr/>
          <p:nvPr/>
        </p:nvSpPr>
        <p:spPr>
          <a:xfrm>
            <a:off x="4069080" y="868680"/>
            <a:ext cx="7619695" cy="5349240"/>
          </a:xfrm>
          <a:prstGeom prst="roundRect">
            <a:avLst>
              <a:gd name="adj" fmla="val 3419"/>
            </a:avLst>
          </a:prstGeom>
          <a:solidFill>
            <a:srgbClr val="E8E8E8"/>
          </a:solidFill>
          <a:ln w="6350">
            <a:solidFill>
              <a:srgbClr val="E8E8E8"/>
            </a:solidFill>
            <a:prstDash val="solid"/>
          </a:ln>
        </p:spPr>
      </p:sp>
      <p:sp>
        <p:nvSpPr>
          <p:cNvPr id="10" name="text"/>
          <p:cNvSpPr txBox="1"/>
          <p:nvPr/>
        </p:nvSpPr>
        <p:spPr>
          <a:xfrm>
            <a:off x="4389120" y="1188720"/>
            <a:ext cx="6979615" cy="4754880"/>
          </a:xfrm>
          <a:prstGeom prst="rect">
            <a:avLst/>
          </a:prstGeom>
          <a:noFill/>
          <a:ln/>
        </p:spPr>
        <p:txBody>
          <a:bodyPr wrap="square" lIns="0" tIns="0" rIns="0" bIns="0" rtlCol="0" anchor="t"/>
          <a:lstStyle/>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Thompson, A. A., Peteraf, M. A., Gamble, J. E., &amp; Strickland III, A. J. (2024). Crafting &amp; Executing Strategy: The Quest for Competitive Advantage, Concepts and Cases (2024 Release, ISE). McGraw Hill. Bab 10, hlm. 294 sampai 325.</a:t>
            </a:r>
            <a:endParaRPr lang="en-US" sz="900" dirty="0"/>
          </a:p>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Thompson, A. A., &amp; Strickland III, A. J. (2019). Strategic Management: Concepts and Cases (22nd ed.). McGraw-Hill/Irwin.</a:t>
            </a:r>
            <a:endParaRPr lang="en-US" sz="900" dirty="0"/>
          </a:p>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Chandler, A. D. (1962). Strategy and Structure. MIT Press.</a:t>
            </a:r>
            <a:endParaRPr lang="en-US" sz="900" dirty="0"/>
          </a:p>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Sull, D., Homkes, R., &amp; Sull, C. (2015). Why strategy execution unravels, and what to do about it. Harvard Business Review, 93(3).</a:t>
            </a:r>
            <a:endParaRPr lang="en-US" sz="900" dirty="0"/>
          </a:p>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Collins, J. (2001). Good to Great. HarperBusiness.</a:t>
            </a:r>
            <a:endParaRPr lang="en-US" sz="900" dirty="0"/>
          </a:p>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Bossidy, L., &amp; Charan, R. (2002). Execution: The Discipline of Getting Things Done. Crown Business.</a:t>
            </a:r>
            <a:endParaRPr lang="en-US" sz="900" dirty="0"/>
          </a:p>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Bartlett, C. A., &amp; Ghoshal, S. (2002). Building competitive advantage through people. MIT Sloan Management Review, 43(2), 34 sampai 41.</a:t>
            </a:r>
            <a:endParaRPr lang="en-US" sz="900" dirty="0"/>
          </a:p>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Helfat, C. E., &amp; Peteraf, M. A. (2003). The dynamic resource-based view: Capability lifecycles. Strategic Management Journal, 24(10), 997 sampai 1010.</a:t>
            </a:r>
            <a:endParaRPr lang="en-US" sz="900" dirty="0"/>
          </a:p>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Simons, R. (1995). Control in an age of empowerment. Harvard Business Review, 73(2), 80 sampai 88.</a:t>
            </a:r>
            <a:endParaRPr lang="en-US" sz="900" dirty="0"/>
          </a:p>
          <a:p>
            <a:pPr algn="l" marL="127000" indent="-127000">
              <a:lnSpc>
                <a:spcPct val="110000"/>
              </a:lnSpc>
              <a:spcAft>
                <a:spcPts val="600"/>
              </a:spcAft>
              <a:buSzPct val="100000"/>
              <a:buChar char="•"/>
            </a:pPr>
            <a:r>
              <a:rPr lang="en-US" sz="900" dirty="0">
                <a:solidFill>
                  <a:srgbClr val="1A1A1C"/>
                </a:solidFill>
                <a:latin typeface="Outfit" pitchFamily="34" charset="0"/>
                <a:ea typeface="Outfit" pitchFamily="34" charset="-122"/>
                <a:cs typeface="Outfit" pitchFamily="34" charset="-120"/>
              </a:rPr>
              <a:t>McChesney, C., Covey, S., &amp; Huling, J. (2012). The 4 Disciplines of Execution. Free Press.</a:t>
            </a:r>
            <a:endParaRPr lang="en-US" sz="900" dirty="0"/>
          </a:p>
        </p:txBody>
      </p:sp>
      <p:sp>
        <p:nvSpPr>
          <p:cNvPr id="25" name="Slide Number Placeholder 0"/>
          <p:cNvSpPr>
            <a:spLocks noGrp="1"/>
          </p:cNvSpPr>
          <p:nvPr>
            <p:ph type="sldNum" sz="quarter" idx="4294967295"/>
          </p:nvPr>
        </p:nvSpPr>
        <p:spPr>
          <a:xfrm>
            <a:off x="11292840" y="246888"/>
            <a:ext cx="393192" cy="182880"/>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7C7C80"/>
                </a:solidFill>
                <a:latin typeface="Outfit"/>
                <a:ea typeface="Outfit"/>
                <a:cs typeface="Outfi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98000"/>
              </a:lnSpc>
              <a:buNone/>
            </a:pPr>
            <a:r>
              <a:rPr lang="en-US" sz="4000" spc="-50" kern="0" dirty="0">
                <a:solidFill>
                  <a:srgbClr val="141417"/>
                </a:solidFill>
                <a:latin typeface="Outfit Medium" pitchFamily="34" charset="0"/>
                <a:ea typeface="Outfit Medium" pitchFamily="34" charset="-122"/>
                <a:cs typeface="Outfit Medium"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2026-10-31T04:10:02Z</dcterms:created>
  <dcterms:modified xsi:type="dcterms:W3CDTF">2026-10-31T04:10:02Z</dcterms:modified>
</cp:coreProperties>
</file>