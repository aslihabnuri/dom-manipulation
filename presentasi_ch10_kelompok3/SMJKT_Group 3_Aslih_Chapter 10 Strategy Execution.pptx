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25cc1757-8f7c-074e-1241-7280f3095c43}">
          <p14:sldIdLst>
            <p14:sldId id="256"/>
            <p14:sldId id="257"/>
          </p14:sldIdLst>
        </p14:section>
        <p14:section name="01 Landasan" id="{d7e73301-4125-6658-5d5c-1a5503afc855}">
          <p14:sldIdLst>
            <p14:sldId id="258"/>
            <p14:sldId id="259"/>
            <p14:sldId id="260"/>
            <p14:sldId id="261"/>
          </p14:sldIdLst>
        </p14:section>
        <p14:section name="02 Staffing" id="{1b5f0087-f337-a7ff-9358-047b7df09005}">
          <p14:sldIdLst>
            <p14:sldId id="262"/>
            <p14:sldId id="263"/>
          </p14:sldIdLst>
        </p14:section>
        <p14:section name="03 Capabilities" id="{34b87871-e677-edf8-a668-bbbc97455d0c}">
          <p14:sldIdLst>
            <p14:sldId id="264"/>
            <p14:sldId id="265"/>
            <p14:sldId id="266"/>
            <p14:sldId id="267"/>
          </p14:sldIdLst>
        </p14:section>
        <p14:section name="04 Structure" id="{f1b91aca-bb79-3cd8-2bfa-4c444966289c}">
          <p14:sldIdLst>
            <p14:sldId id="268"/>
            <p14:sldId id="269"/>
            <p14:sldId id="270"/>
            <p14:sldId id="271"/>
            <p14:sldId id="272"/>
          </p14:sldIdLst>
        </p14:section>
        <p14:section name="05 Sintesis" id="{fe2338be-034e-0514-33a2-bbb5309d126a}">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Perkenalkan kelompok dan topik: Bab 10, bab pertama dari tiga bab tentang eksekusi strategi (Bab 10 sampai 12). Satu kalimat pengantar, lalu ke alur pembahasan.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dan tegaskan keterkaitannya: tiap bagian adalah prasyarat bagian berikutnya. Pembagian pembicara: Aslih (slide 1 sampai 6 dan 18 sampai 21), Tifani (7 sampai 8), Happy (9 sampai 12), Dara (13 sampai 17). Sekitar 15 menit. Bila waktu dipotong, lewati slide 4 dan 10; slide 5 dan 6 dapat digabung menjadi satu penjelasan. Slide 18 adalah titik lompat bila diminta langsung ke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dengan sesi sebelumnya lewat analogi kapal Pak Rangga. Merumuskan bersifat analitis; mengeksekusi bersifat operasional dan menyangkut orang. Dalam proses lima tahap Bab 2, eksekusi adalah tahap keempat dan menuntut keterampilan manajerial yang berbeda. Kutipan Lecuona menjadi tesis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Alasan eksekusi lebih sulit: banyak orang dan aktivitas yang saling bergantung, tidak ada resep tunggal, dan ada resistensi yang menuntut kepemimpinan. Dua tanda eksekusi yang baik menjadi alat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10.1 digambar ulang mengikuti bentuk buku: heksagon pusat dikelilingi sepuluh tugas. Jangan membaca sepuluh tugas satu per satu. Sebutkan tiga yang berwarna lime, lalu katakan tujuh sisanya dibahas Kelompok 4 (Bab 11) dan Kelompok 5 (Bab 12). Interpretasi penyaji atas urutan ini: sistem insentif hanya berguna bila orangnya sudah tepat.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10.2 adalah peta Bab 10. Mengapa ketiganya didahulukan: eksekusi yang mahir bergantung pertama-tama pada organisasi yang mampu, dan strategic assets terdepresiasi sehingga pembaruan diperlukan bahkan saat strategi tidak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Aksi 1 bagian pertama. Mengapa penting: tanpa tim yang kapabel dan berorientasi hasil, tenggat meleset, upaya salah arah, dan mutu kerja di bawah eksekutif yang lemah ikut merosot. Tujuan akhir bukan satu bintang, melainkan critical mass manajer yang saling memperkuat (Collins, Good to Great). Contoh IC 10.1: Mary Barra, Satya Nadella, Rosalind Brewer.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praktik buku dipadatkan menjadi empat pasang. Deloitte (IC 10.2): jalur jelas menuju partner, milestone school, dan sponsorship. Pelatihan adalah bagian eksekusi strategi; bila strategi menuntut skill baru, pelatihan harus didanai memadai.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Aksi 2. Tiga pendekatan buku dibedakan lewat kecepatan, kendali, dan risiko; pembacaan itu adalah cara baca penyaji. Analogi buku: mempelajari Shaun White tidak membuat seseorang juara halfpipe. Dua slide berikutnya memperdalam jalur internal dan eksternal.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Buku menamai dua tahap: ability lalu tried-and-true competence; tahap ketiga pada grafik adalah penjagaan dan pembaruan (dynamic capability, Helfat &amp; Peteraf, 2003). Jalur evolusioner menjelaskan mengapa capability tidak bisa dibeli semalam. Dua bentuk tindakan manajerial: memperkuat basis skill dan pengetahuan (semua level), dan mengoordinasikan kelompok kerja lintas unit (eksekutif senior yang punya wibawa). Williams-Sonoma mencatat pendapatan US$8,7 miliar pada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jalur eksternal. Paradoks akuisisi: yang dibeli adalah rutinitas yang tacit, sehingga integrasi menjadi titik rawan. Pilih mitra dari gaya manajemen dan budaya, bukan hanya aset; pembelajaran sepihak merusak kepercayaan. Kemitraan lintas industri lebih aman: produsen mobil dengan Waymo, Nvidia, Mobileye; Nike dengan Bluesign. Capability yang dibeli tetap harus ditanam ke rutinitas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Kapsul 10.3. Semua angka diberi pembanding agar tidak menjadi klaim kosong. Produksi lot kecil dekat kantor pusat, rantai pasok terintegrasi tanpa gudang, nol iklan tetapi lokasi premium, pengiriman hingga dua kali seminggu. Tantangan: H&amp;M, Uniqlo, Shein, belanja daring. Tautkan ke empat uji resource Bab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Aksi 3 dipecah menjadi lima keputusan. Struktur adalah pengaturan formal dan informal atas tugas, tanggung jawab, garis wewenang, dan pelaporan (buku merujuk Chandler, 1962, untuk definisi ini). Struktur yang tidak cocok menaikkan biaya birokrasi dan merusak koordinasi; desain yang baik menurunkan biaya dan mempercepat pembangunan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Keputusan 1. Tiga manfaat eksekusi dari outsourcing (pil di panel lime) dan satu batasnya (Bab 6). Pertanyaannya bukan bisakah di-outsource, melainkan apakah ini inti strategi kami. Contoh lain: 83 persen dari sepuluh farmasi terbesar meng-outsource pengelolaan data klinis; Nike; Broadcom.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Keputusan 2. Empat tipe dibaca sebagai spektrum evolusi. Catatan buku: tipe struktur bergantung pada ukuran dan kompleksitas, bukan pada generic strategy yang dipilih. Contoh: GM kini satu struktur fungsional untuk semua merek; Texas Instruments, Caterpillar, Philips memakai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Keputusan 3. Pilihan bergantung pada letak pengetahuan dan kebutuhan kecepatan. Contoh: karyawan Starbucks membagikan kopi gratis saat kasir offline; buyer TJX memangkas anggarannya sendiri. Untuk cross-business strategic fit, fungsi yang menuntut koordinasi erat disentralisasi. Tren: struktur makin datar karena aset paling bernilai adalah intellectual capital karyawan.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Keputusan 4 dan 5 menutup aksi 3. Hambatan: dalam struktur terdesentralisasi, kepala departemen cenderung mendahulukan unitnya. Membangun organisasi berarti merajut upaya orang dan kelompok secara sadar; ini tugas manajemen senior.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sintesis; bila waktu habis, lompat ke sini. Tautkan ke narasi Pak Rangga: pergeseran dari resource-based ke knowledge-based, dan dari competitive advantage ke collaborative advantage; bab menyediakan kaitnya lewat tacit knowledge, socially complex capabilities, intellectual capital karyawan, serta network dan ecosystem (Kanter, 1994, dikutip bab sebagai endnote 27). Jembatan: Bab 11 menggerakkan organisasi (tugas 4 sampai 8), Bab 12 menopangnya dengan budaya dan kepemimpinan (tugas 9 dan 10), dan 4DX memberi disiplin eksekusi di tingkat tim (fokus pada yang terpenting, lead measures, scoreboard, akuntabilitas berkala), yang akan dibahas Kelompok 3 pada presentasi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bergaya sokratik, masing-masing menguji satu klaim bab. Pegangan jawaban ada di materi pemahaman. Contoh Indonesia diajukan sebagai pertanyaan, bukan klaim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utama adalah buku teks 2024 dan buku acuan silabus. Chandler, Sull dkk., Collins, Helfat dan Peteraf, Simons, serta Kanter adalah rujukan yang dikutip bab; McChesney dkk. adalah sumber kerangka 4DX.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4F4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4F4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r>
              <a:rPr lang="en-US" sz="950" dirty="0">
                <a:solidFill>
                  <a:srgbClr val="5A5A5F"/>
                </a:solidFill>
                <a:latin typeface="Outfit" pitchFamily="34" charset="0"/>
                <a:ea typeface="Outfit" pitchFamily="34" charset="-122"/>
                <a:cs typeface="Outfit" pitchFamily="34" charset="-120"/>
              </a:rPr>
              <a:t>Chapter presentation</a:t>
            </a:r>
            <a:endParaRPr lang="en-US" sz="950" dirty="0"/>
          </a:p>
        </p:txBody>
      </p:sp>
      <p:sp>
        <p:nvSpPr>
          <p:cNvPr id="7" name="toggle"/>
          <p:cNvSpPr/>
          <p:nvPr/>
        </p:nvSpPr>
        <p:spPr>
          <a:xfrm>
            <a:off x="502920" y="658368"/>
            <a:ext cx="566928" cy="274320"/>
          </a:xfrm>
          <a:prstGeom prst="roundRect">
            <a:avLst>
              <a:gd name="adj" fmla="val 166667"/>
            </a:avLst>
          </a:prstGeom>
          <a:solidFill>
            <a:srgbClr val="F4F4F4"/>
          </a:solidFill>
          <a:ln w="9525">
            <a:solidFill>
              <a:srgbClr val="141417"/>
            </a:solidFill>
            <a:prstDash val="solid"/>
          </a:ln>
        </p:spPr>
      </p:sp>
      <p:sp>
        <p:nvSpPr>
          <p:cNvPr id="8" name="toggle-dot"/>
          <p:cNvSpPr/>
          <p:nvPr/>
        </p:nvSpPr>
        <p:spPr>
          <a:xfrm>
            <a:off x="804672" y="694944"/>
            <a:ext cx="201168" cy="201168"/>
          </a:xfrm>
          <a:prstGeom prst="ellipse">
            <a:avLst/>
          </a:prstGeom>
          <a:solidFill>
            <a:srgbClr val="D4FC00"/>
          </a:solidFill>
          <a:ln w="6350">
            <a:solidFill>
              <a:srgbClr val="D4FC00"/>
            </a:solidFill>
            <a:prstDash val="solid"/>
          </a:ln>
        </p:spPr>
      </p:sp>
      <p:pic>
        <p:nvPicPr>
          <p:cNvPr id="9" name="toggle-star" descr="preencoded.png">    </p:cNvPr>
          <p:cNvPicPr>
            <a:picLocks noChangeAspect="1"/>
          </p:cNvPicPr>
          <p:nvPr/>
        </p:nvPicPr>
        <p:blipFill>
          <a:blip r:embed="rId1"/>
          <a:stretch>
            <a:fillRect/>
          </a:stretch>
        </p:blipFill>
        <p:spPr>
          <a:xfrm>
            <a:off x="845820" y="736092"/>
            <a:ext cx="118872" cy="118872"/>
          </a:xfrm>
          <a:prstGeom prst="rect">
            <a:avLst/>
          </a:prstGeom>
        </p:spPr>
      </p:pic>
      <p:sp>
        <p:nvSpPr>
          <p:cNvPr id="10" name="text"/>
          <p:cNvSpPr txBox="1"/>
          <p:nvPr/>
        </p:nvSpPr>
        <p:spPr>
          <a:xfrm>
            <a:off x="502920" y="960120"/>
            <a:ext cx="6400800" cy="265176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BUILDING AN ORGANIZATION CAPABLE OF GOOD STRATEGY EXECUTION</a:t>
            </a:r>
            <a:endParaRPr lang="en-US" sz="3800" dirty="0"/>
          </a:p>
        </p:txBody>
      </p:sp>
      <p:sp>
        <p:nvSpPr>
          <p:cNvPr id="11" name="pill"/>
          <p:cNvSpPr/>
          <p:nvPr/>
        </p:nvSpPr>
        <p:spPr>
          <a:xfrm>
            <a:off x="502920" y="3611880"/>
            <a:ext cx="3566160" cy="365760"/>
          </a:xfrm>
          <a:prstGeom prst="roundRect">
            <a:avLst>
              <a:gd name="adj" fmla="val 125000"/>
            </a:avLst>
          </a:prstGeom>
          <a:solidFill>
            <a:srgbClr val="F4F4F4"/>
          </a:solidFill>
          <a:ln w="9525">
            <a:solidFill>
              <a:srgbClr val="141417"/>
            </a:solidFill>
            <a:prstDash val="solid"/>
          </a:ln>
        </p:spPr>
      </p:sp>
      <p:sp>
        <p:nvSpPr>
          <p:cNvPr id="12" name="text"/>
          <p:cNvSpPr txBox="1"/>
          <p:nvPr/>
        </p:nvSpPr>
        <p:spPr>
          <a:xfrm>
            <a:off x="612648" y="3611880"/>
            <a:ext cx="3346704" cy="365760"/>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PEOPLE, CAPABILITIES, AND STRUCTURE</a:t>
            </a:r>
            <a:endParaRPr lang="en-US" sz="1050" dirty="0"/>
          </a:p>
        </p:txBody>
      </p:sp>
      <p:sp>
        <p:nvSpPr>
          <p:cNvPr id="13" name="card"/>
          <p:cNvSpPr/>
          <p:nvPr/>
        </p:nvSpPr>
        <p:spPr>
          <a:xfrm>
            <a:off x="502920" y="4114800"/>
            <a:ext cx="2148840" cy="1600200"/>
          </a:xfrm>
          <a:prstGeom prst="roundRect">
            <a:avLst>
              <a:gd name="adj" fmla="val 11429"/>
            </a:avLst>
          </a:prstGeom>
          <a:solidFill>
            <a:srgbClr val="E8E8E8"/>
          </a:solidFill>
          <a:ln w="6350">
            <a:solidFill>
              <a:srgbClr val="E8E8E8"/>
            </a:solidFill>
            <a:prstDash val="solid"/>
          </a:ln>
        </p:spPr>
      </p:sp>
      <p:sp>
        <p:nvSpPr>
          <p:cNvPr id="14" name="text"/>
          <p:cNvSpPr txBox="1"/>
          <p:nvPr/>
        </p:nvSpPr>
        <p:spPr>
          <a:xfrm>
            <a:off x="731520"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Bab 10</a:t>
            </a:r>
            <a:endParaRPr lang="en-US" sz="2200" dirty="0"/>
          </a:p>
        </p:txBody>
      </p:sp>
      <p:sp>
        <p:nvSpPr>
          <p:cNvPr id="15" name="text"/>
          <p:cNvSpPr txBox="1"/>
          <p:nvPr/>
        </p:nvSpPr>
        <p:spPr>
          <a:xfrm>
            <a:off x="731520"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Thompson, Peteraf, Gamble &amp; Strickland (2024)</a:t>
            </a:r>
            <a:endParaRPr lang="en-US" sz="1200" dirty="0"/>
          </a:p>
        </p:txBody>
      </p:sp>
      <p:sp>
        <p:nvSpPr>
          <p:cNvPr id="16" name="card"/>
          <p:cNvSpPr/>
          <p:nvPr/>
        </p:nvSpPr>
        <p:spPr>
          <a:xfrm>
            <a:off x="2779776" y="4114800"/>
            <a:ext cx="2148840" cy="1600200"/>
          </a:xfrm>
          <a:prstGeom prst="roundRect">
            <a:avLst>
              <a:gd name="adj" fmla="val 11429"/>
            </a:avLst>
          </a:prstGeom>
          <a:solidFill>
            <a:srgbClr val="D4FC00"/>
          </a:solidFill>
          <a:ln w="6350">
            <a:solidFill>
              <a:srgbClr val="D4FC00"/>
            </a:solidFill>
            <a:prstDash val="solid"/>
          </a:ln>
        </p:spPr>
      </p:sp>
      <p:sp>
        <p:nvSpPr>
          <p:cNvPr id="17" name="text"/>
          <p:cNvSpPr txBox="1"/>
          <p:nvPr/>
        </p:nvSpPr>
        <p:spPr>
          <a:xfrm>
            <a:off x="3008376"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Sesi 9</a:t>
            </a:r>
            <a:endParaRPr lang="en-US" sz="2200" dirty="0"/>
          </a:p>
        </p:txBody>
      </p:sp>
      <p:sp>
        <p:nvSpPr>
          <p:cNvPr id="18" name="text"/>
          <p:cNvSpPr txBox="1"/>
          <p:nvPr/>
        </p:nvSpPr>
        <p:spPr>
          <a:xfrm>
            <a:off x="3008376"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Dosen: Dr. Rangga Almahendra, S.T., M.M.</a:t>
            </a:r>
            <a:endParaRPr lang="en-US" sz="1200" dirty="0"/>
          </a:p>
        </p:txBody>
      </p:sp>
      <p:sp>
        <p:nvSpPr>
          <p:cNvPr id="19" name="card"/>
          <p:cNvSpPr/>
          <p:nvPr/>
        </p:nvSpPr>
        <p:spPr>
          <a:xfrm>
            <a:off x="5056632" y="4114800"/>
            <a:ext cx="2148840" cy="1600200"/>
          </a:xfrm>
          <a:prstGeom prst="roundRect">
            <a:avLst>
              <a:gd name="adj" fmla="val 11429"/>
            </a:avLst>
          </a:prstGeom>
          <a:solidFill>
            <a:srgbClr val="141417"/>
          </a:solidFill>
          <a:ln w="6350">
            <a:solidFill>
              <a:srgbClr val="141417"/>
            </a:solidFill>
            <a:prstDash val="solid"/>
          </a:ln>
        </p:spPr>
      </p:sp>
      <p:sp>
        <p:nvSpPr>
          <p:cNvPr id="20" name="text"/>
          <p:cNvSpPr txBox="1"/>
          <p:nvPr/>
        </p:nvSpPr>
        <p:spPr>
          <a:xfrm>
            <a:off x="5285232"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FFFFFF"/>
                </a:solidFill>
                <a:latin typeface="Outfit Medium" pitchFamily="34" charset="0"/>
                <a:ea typeface="Outfit Medium" pitchFamily="34" charset="-122"/>
                <a:cs typeface="Outfit Medium" pitchFamily="34" charset="-120"/>
              </a:rPr>
              <a:t>Kelompok 3</a:t>
            </a:r>
            <a:endParaRPr lang="en-US" sz="2200" dirty="0"/>
          </a:p>
        </p:txBody>
      </p:sp>
      <p:sp>
        <p:nvSpPr>
          <p:cNvPr id="21" name="text"/>
          <p:cNvSpPr txBox="1"/>
          <p:nvPr/>
        </p:nvSpPr>
        <p:spPr>
          <a:xfrm>
            <a:off x="5285232"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BDBDC2"/>
                </a:solidFill>
                <a:latin typeface="Outfit" pitchFamily="34" charset="0"/>
                <a:ea typeface="Outfit" pitchFamily="34" charset="-122"/>
                <a:cs typeface="Outfit" pitchFamily="34" charset="-120"/>
              </a:rPr>
              <a:t>Magister Manajemen FEB UGM</a:t>
            </a:r>
            <a:endParaRPr lang="en-US" sz="1200" dirty="0"/>
          </a:p>
        </p:txBody>
      </p:sp>
      <p:sp>
        <p:nvSpPr>
          <p:cNvPr id="22" name="text"/>
          <p:cNvSpPr txBox="1"/>
          <p:nvPr/>
        </p:nvSpPr>
        <p:spPr>
          <a:xfrm>
            <a:off x="502920" y="5943600"/>
            <a:ext cx="1874520" cy="29260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Aslih Abnuri</a:t>
            </a:r>
            <a:endParaRPr lang="en-US" sz="1200" dirty="0"/>
          </a:p>
        </p:txBody>
      </p:sp>
      <p:sp>
        <p:nvSpPr>
          <p:cNvPr id="23" name="text"/>
          <p:cNvSpPr txBox="1"/>
          <p:nvPr/>
        </p:nvSpPr>
        <p:spPr>
          <a:xfrm>
            <a:off x="2377440" y="5943600"/>
            <a:ext cx="1554480" cy="292608"/>
          </a:xfrm>
          <a:prstGeom prst="rect">
            <a:avLst/>
          </a:prstGeom>
          <a:noFill/>
          <a:ln/>
        </p:spPr>
        <p:txBody>
          <a:bodyPr wrap="square" lIns="0" tIns="0" rIns="0" bIns="0" rtlCol="0" anchor="ctr"/>
          <a:lstStyle/>
          <a:p>
            <a:pPr algn="l" indent="0" marL="0">
              <a:lnSpc>
                <a:spcPct val="110000"/>
              </a:lnSpc>
              <a:buNone/>
            </a:pPr>
            <a:r>
              <a:rPr lang="en-US" sz="1050" dirty="0">
                <a:solidFill>
                  <a:srgbClr val="5A5A5F"/>
                </a:solidFill>
                <a:latin typeface="Outfit" pitchFamily="34" charset="0"/>
                <a:ea typeface="Outfit" pitchFamily="34" charset="-122"/>
                <a:cs typeface="Outfit" pitchFamily="34" charset="-120"/>
              </a:rPr>
              <a:t>25/574338/PEK/31801</a:t>
            </a:r>
            <a:endParaRPr lang="en-US" sz="1050" dirty="0"/>
          </a:p>
        </p:txBody>
      </p:sp>
      <p:sp>
        <p:nvSpPr>
          <p:cNvPr id="24" name="text"/>
          <p:cNvSpPr txBox="1"/>
          <p:nvPr/>
        </p:nvSpPr>
        <p:spPr>
          <a:xfrm>
            <a:off x="3931920" y="5943600"/>
            <a:ext cx="1874520" cy="29260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Tifani Puspita</a:t>
            </a:r>
            <a:endParaRPr lang="en-US" sz="1200" dirty="0"/>
          </a:p>
        </p:txBody>
      </p:sp>
      <p:sp>
        <p:nvSpPr>
          <p:cNvPr id="25" name="text"/>
          <p:cNvSpPr txBox="1"/>
          <p:nvPr/>
        </p:nvSpPr>
        <p:spPr>
          <a:xfrm>
            <a:off x="5806440" y="5943600"/>
            <a:ext cx="1554480" cy="292608"/>
          </a:xfrm>
          <a:prstGeom prst="rect">
            <a:avLst/>
          </a:prstGeom>
          <a:noFill/>
          <a:ln/>
        </p:spPr>
        <p:txBody>
          <a:bodyPr wrap="square" lIns="0" tIns="0" rIns="0" bIns="0" rtlCol="0" anchor="ctr"/>
          <a:lstStyle/>
          <a:p>
            <a:pPr algn="l" indent="0" marL="0">
              <a:lnSpc>
                <a:spcPct val="110000"/>
              </a:lnSpc>
              <a:buNone/>
            </a:pPr>
            <a:r>
              <a:rPr lang="en-US" sz="1050" dirty="0">
                <a:solidFill>
                  <a:srgbClr val="5A5A5F"/>
                </a:solidFill>
                <a:latin typeface="Outfit" pitchFamily="34" charset="0"/>
                <a:ea typeface="Outfit" pitchFamily="34" charset="-122"/>
                <a:cs typeface="Outfit" pitchFamily="34" charset="-120"/>
              </a:rPr>
              <a:t>25/574443/PEK/31851</a:t>
            </a:r>
            <a:endParaRPr lang="en-US" sz="1050" dirty="0"/>
          </a:p>
        </p:txBody>
      </p:sp>
      <p:sp>
        <p:nvSpPr>
          <p:cNvPr id="26" name="text"/>
          <p:cNvSpPr txBox="1"/>
          <p:nvPr/>
        </p:nvSpPr>
        <p:spPr>
          <a:xfrm>
            <a:off x="502920" y="6309360"/>
            <a:ext cx="1874520" cy="29260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Happy Dinithasari</a:t>
            </a:r>
            <a:endParaRPr lang="en-US" sz="1200" dirty="0"/>
          </a:p>
        </p:txBody>
      </p:sp>
      <p:sp>
        <p:nvSpPr>
          <p:cNvPr id="27" name="text"/>
          <p:cNvSpPr txBox="1"/>
          <p:nvPr/>
        </p:nvSpPr>
        <p:spPr>
          <a:xfrm>
            <a:off x="2377440" y="6309360"/>
            <a:ext cx="1554480" cy="292608"/>
          </a:xfrm>
          <a:prstGeom prst="rect">
            <a:avLst/>
          </a:prstGeom>
          <a:noFill/>
          <a:ln/>
        </p:spPr>
        <p:txBody>
          <a:bodyPr wrap="square" lIns="0" tIns="0" rIns="0" bIns="0" rtlCol="0" anchor="ctr"/>
          <a:lstStyle/>
          <a:p>
            <a:pPr algn="l" indent="0" marL="0">
              <a:lnSpc>
                <a:spcPct val="110000"/>
              </a:lnSpc>
              <a:buNone/>
            </a:pPr>
            <a:r>
              <a:rPr lang="en-US" sz="1050" dirty="0">
                <a:solidFill>
                  <a:srgbClr val="5A5A5F"/>
                </a:solidFill>
                <a:latin typeface="Outfit" pitchFamily="34" charset="0"/>
                <a:ea typeface="Outfit" pitchFamily="34" charset="-122"/>
                <a:cs typeface="Outfit" pitchFamily="34" charset="-120"/>
              </a:rPr>
              <a:t>25/574400/PEK/31831</a:t>
            </a:r>
            <a:endParaRPr lang="en-US" sz="1050" dirty="0"/>
          </a:p>
        </p:txBody>
      </p:sp>
      <p:sp>
        <p:nvSpPr>
          <p:cNvPr id="28" name="text"/>
          <p:cNvSpPr txBox="1"/>
          <p:nvPr/>
        </p:nvSpPr>
        <p:spPr>
          <a:xfrm>
            <a:off x="3931920" y="6309360"/>
            <a:ext cx="1874520" cy="29260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Dara Astrini Rahayu K</a:t>
            </a:r>
            <a:endParaRPr lang="en-US" sz="1200" dirty="0"/>
          </a:p>
        </p:txBody>
      </p:sp>
      <p:sp>
        <p:nvSpPr>
          <p:cNvPr id="29" name="text"/>
          <p:cNvSpPr txBox="1"/>
          <p:nvPr/>
        </p:nvSpPr>
        <p:spPr>
          <a:xfrm>
            <a:off x="5806440" y="6309360"/>
            <a:ext cx="1554480" cy="292608"/>
          </a:xfrm>
          <a:prstGeom prst="rect">
            <a:avLst/>
          </a:prstGeom>
          <a:noFill/>
          <a:ln/>
        </p:spPr>
        <p:txBody>
          <a:bodyPr wrap="square" lIns="0" tIns="0" rIns="0" bIns="0" rtlCol="0" anchor="ctr"/>
          <a:lstStyle/>
          <a:p>
            <a:pPr algn="l" indent="0" marL="0">
              <a:lnSpc>
                <a:spcPct val="110000"/>
              </a:lnSpc>
              <a:buNone/>
            </a:pPr>
            <a:r>
              <a:rPr lang="en-US" sz="1050" dirty="0">
                <a:solidFill>
                  <a:srgbClr val="5A5A5F"/>
                </a:solidFill>
                <a:latin typeface="Outfit" pitchFamily="34" charset="0"/>
                <a:ea typeface="Outfit" pitchFamily="34" charset="-122"/>
                <a:cs typeface="Outfit" pitchFamily="34" charset="-120"/>
              </a:rPr>
              <a:t>25/574437/PEK/31847</a:t>
            </a:r>
            <a:endParaRPr lang="en-US" sz="1050" dirty="0"/>
          </a:p>
        </p:txBody>
      </p:sp>
      <p:pic>
        <p:nvPicPr>
          <p:cNvPr id="30" name="Tekstur marmer putih" descr="preencoded.png">    </p:cNvPr>
          <p:cNvPicPr>
            <a:picLocks noChangeAspect="1"/>
          </p:cNvPicPr>
          <p:nvPr/>
        </p:nvPicPr>
        <p:blipFill>
          <a:blip r:embed="rId2"/>
          <a:stretch>
            <a:fillRect/>
          </a:stretch>
        </p:blipFill>
        <p:spPr>
          <a:xfrm>
            <a:off x="7589520" y="658368"/>
            <a:ext cx="4099255" cy="6473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7772400" cy="91440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ALUR PEMBAHASAN</a:t>
            </a:r>
            <a:endParaRPr lang="en-US" sz="3800" dirty="0"/>
          </a:p>
        </p:txBody>
      </p:sp>
      <p:sp>
        <p:nvSpPr>
          <p:cNvPr id="8" name="toggle"/>
          <p:cNvSpPr/>
          <p:nvPr/>
        </p:nvSpPr>
        <p:spPr>
          <a:xfrm>
            <a:off x="8778240" y="1051560"/>
            <a:ext cx="566928" cy="274320"/>
          </a:xfrm>
          <a:prstGeom prst="roundRect">
            <a:avLst>
              <a:gd name="adj" fmla="val 166667"/>
            </a:avLst>
          </a:prstGeom>
          <a:solidFill>
            <a:srgbClr val="F4F4F4"/>
          </a:solidFill>
          <a:ln w="9525">
            <a:solidFill>
              <a:srgbClr val="141417"/>
            </a:solidFill>
            <a:prstDash val="solid"/>
          </a:ln>
        </p:spPr>
      </p:sp>
      <p:sp>
        <p:nvSpPr>
          <p:cNvPr id="9" name="toggle-dot"/>
          <p:cNvSpPr/>
          <p:nvPr/>
        </p:nvSpPr>
        <p:spPr>
          <a:xfrm>
            <a:off x="9079992" y="1088136"/>
            <a:ext cx="201168" cy="201168"/>
          </a:xfrm>
          <a:prstGeom prst="ellipse">
            <a:avLst/>
          </a:prstGeom>
          <a:solidFill>
            <a:srgbClr val="D4FC00"/>
          </a:solidFill>
          <a:ln w="6350">
            <a:solidFill>
              <a:srgbClr val="D4FC00"/>
            </a:solidFill>
            <a:prstDash val="solid"/>
          </a:ln>
        </p:spPr>
      </p:sp>
      <p:pic>
        <p:nvPicPr>
          <p:cNvPr id="10" name="toggle-star" descr="preencoded.png">    </p:cNvPr>
          <p:cNvPicPr>
            <a:picLocks noChangeAspect="1"/>
          </p:cNvPicPr>
          <p:nvPr/>
        </p:nvPicPr>
        <p:blipFill>
          <a:blip r:embed="rId1"/>
          <a:stretch>
            <a:fillRect/>
          </a:stretch>
        </p:blipFill>
        <p:spPr>
          <a:xfrm>
            <a:off x="9121140" y="1129284"/>
            <a:ext cx="118872" cy="118872"/>
          </a:xfrm>
          <a:prstGeom prst="rect">
            <a:avLst/>
          </a:prstGeom>
        </p:spPr>
      </p:pic>
      <p:sp>
        <p:nvSpPr>
          <p:cNvPr id="11" name="card"/>
          <p:cNvSpPr/>
          <p:nvPr/>
        </p:nvSpPr>
        <p:spPr>
          <a:xfrm>
            <a:off x="502920" y="2103120"/>
            <a:ext cx="2679878" cy="3063240"/>
          </a:xfrm>
          <a:prstGeom prst="roundRect">
            <a:avLst>
              <a:gd name="adj" fmla="val 6824"/>
            </a:avLst>
          </a:prstGeom>
          <a:solidFill>
            <a:srgbClr val="E8E8E8"/>
          </a:solidFill>
          <a:ln w="6350">
            <a:solidFill>
              <a:srgbClr val="E8E8E8"/>
            </a:solidFill>
            <a:prstDash val="solid"/>
          </a:ln>
        </p:spPr>
      </p:sp>
      <p:sp>
        <p:nvSpPr>
          <p:cNvPr id="12" name="text"/>
          <p:cNvSpPr txBox="1"/>
          <p:nvPr/>
        </p:nvSpPr>
        <p:spPr>
          <a:xfrm>
            <a:off x="777240"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01</a:t>
            </a:r>
            <a:endParaRPr lang="en-US" sz="1600" dirty="0"/>
          </a:p>
        </p:txBody>
      </p:sp>
      <p:sp>
        <p:nvSpPr>
          <p:cNvPr id="13" name="text"/>
          <p:cNvSpPr txBox="1"/>
          <p:nvPr/>
        </p:nvSpPr>
        <p:spPr>
          <a:xfrm>
            <a:off x="777240"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Mengapa eksekusi berbeda dari perumusan, sepuluh tugas eksekusi, dan tiga aksi kunci.</a:t>
            </a:r>
            <a:endParaRPr lang="en-US" sz="1400" dirty="0"/>
          </a:p>
        </p:txBody>
      </p:sp>
      <p:sp>
        <p:nvSpPr>
          <p:cNvPr id="14" name="text"/>
          <p:cNvSpPr txBox="1"/>
          <p:nvPr/>
        </p:nvSpPr>
        <p:spPr>
          <a:xfrm>
            <a:off x="777240"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LANDASAN</a:t>
            </a:r>
            <a:endParaRPr lang="en-US" sz="1200" dirty="0"/>
          </a:p>
        </p:txBody>
      </p:sp>
      <p:sp>
        <p:nvSpPr>
          <p:cNvPr id="15" name="card"/>
          <p:cNvSpPr/>
          <p:nvPr/>
        </p:nvSpPr>
        <p:spPr>
          <a:xfrm>
            <a:off x="3338246" y="2103120"/>
            <a:ext cx="2679878" cy="3063240"/>
          </a:xfrm>
          <a:prstGeom prst="roundRect">
            <a:avLst>
              <a:gd name="adj" fmla="val 6824"/>
            </a:avLst>
          </a:prstGeom>
          <a:solidFill>
            <a:srgbClr val="D4FC00"/>
          </a:solidFill>
          <a:ln w="6350">
            <a:solidFill>
              <a:srgbClr val="D4FC00"/>
            </a:solidFill>
            <a:prstDash val="solid"/>
          </a:ln>
        </p:spPr>
      </p:sp>
      <p:sp>
        <p:nvSpPr>
          <p:cNvPr id="16" name="text"/>
          <p:cNvSpPr txBox="1"/>
          <p:nvPr/>
        </p:nvSpPr>
        <p:spPr>
          <a:xfrm>
            <a:off x="3612566"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02</a:t>
            </a:r>
            <a:endParaRPr lang="en-US" sz="1600" dirty="0"/>
          </a:p>
        </p:txBody>
      </p:sp>
      <p:sp>
        <p:nvSpPr>
          <p:cNvPr id="17" name="text"/>
          <p:cNvSpPr txBox="1"/>
          <p:nvPr/>
        </p:nvSpPr>
        <p:spPr>
          <a:xfrm>
            <a:off x="3612566"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Tim manajemen yang kuat dan karyawan yang tepat.</a:t>
            </a:r>
            <a:endParaRPr lang="en-US" sz="1400" dirty="0"/>
          </a:p>
        </p:txBody>
      </p:sp>
      <p:sp>
        <p:nvSpPr>
          <p:cNvPr id="18" name="text"/>
          <p:cNvSpPr txBox="1"/>
          <p:nvPr/>
        </p:nvSpPr>
        <p:spPr>
          <a:xfrm>
            <a:off x="3612566"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STAFFING</a:t>
            </a:r>
            <a:endParaRPr lang="en-US" sz="1200" dirty="0"/>
          </a:p>
        </p:txBody>
      </p:sp>
      <p:sp>
        <p:nvSpPr>
          <p:cNvPr id="19" name="card"/>
          <p:cNvSpPr/>
          <p:nvPr/>
        </p:nvSpPr>
        <p:spPr>
          <a:xfrm>
            <a:off x="6173572" y="2103120"/>
            <a:ext cx="2679878" cy="3063240"/>
          </a:xfrm>
          <a:prstGeom prst="roundRect">
            <a:avLst>
              <a:gd name="adj" fmla="val 6824"/>
            </a:avLst>
          </a:prstGeom>
          <a:solidFill>
            <a:srgbClr val="E8E8E8"/>
          </a:solidFill>
          <a:ln w="6350">
            <a:solidFill>
              <a:srgbClr val="E8E8E8"/>
            </a:solidFill>
            <a:prstDash val="solid"/>
          </a:ln>
        </p:spPr>
      </p:sp>
      <p:sp>
        <p:nvSpPr>
          <p:cNvPr id="20" name="text"/>
          <p:cNvSpPr txBox="1"/>
          <p:nvPr/>
        </p:nvSpPr>
        <p:spPr>
          <a:xfrm>
            <a:off x="6447892"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03</a:t>
            </a:r>
            <a:endParaRPr lang="en-US" sz="1600" dirty="0"/>
          </a:p>
        </p:txBody>
      </p:sp>
      <p:sp>
        <p:nvSpPr>
          <p:cNvPr id="21" name="text"/>
          <p:cNvSpPr txBox="1"/>
          <p:nvPr/>
        </p:nvSpPr>
        <p:spPr>
          <a:xfrm>
            <a:off x="6447892"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Tiga jalan membangun capability, dan mengapa eksekusi dapat menjadi keunggulan.</a:t>
            </a:r>
            <a:endParaRPr lang="en-US" sz="1400" dirty="0"/>
          </a:p>
        </p:txBody>
      </p:sp>
      <p:sp>
        <p:nvSpPr>
          <p:cNvPr id="22" name="text"/>
          <p:cNvSpPr txBox="1"/>
          <p:nvPr/>
        </p:nvSpPr>
        <p:spPr>
          <a:xfrm>
            <a:off x="6447892"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CAPABILITIES</a:t>
            </a:r>
            <a:endParaRPr lang="en-US" sz="1200" dirty="0"/>
          </a:p>
        </p:txBody>
      </p:sp>
      <p:sp>
        <p:nvSpPr>
          <p:cNvPr id="23" name="card"/>
          <p:cNvSpPr/>
          <p:nvPr/>
        </p:nvSpPr>
        <p:spPr>
          <a:xfrm>
            <a:off x="9008897" y="2103120"/>
            <a:ext cx="2679878" cy="3063240"/>
          </a:xfrm>
          <a:prstGeom prst="roundRect">
            <a:avLst>
              <a:gd name="adj" fmla="val 6824"/>
            </a:avLst>
          </a:prstGeom>
          <a:solidFill>
            <a:srgbClr val="141417"/>
          </a:solidFill>
          <a:ln w="6350">
            <a:solidFill>
              <a:srgbClr val="141417"/>
            </a:solidFill>
            <a:prstDash val="solid"/>
          </a:ln>
        </p:spPr>
      </p:sp>
      <p:sp>
        <p:nvSpPr>
          <p:cNvPr id="24" name="text"/>
          <p:cNvSpPr txBox="1"/>
          <p:nvPr/>
        </p:nvSpPr>
        <p:spPr>
          <a:xfrm>
            <a:off x="9283217"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Outfit Medium" pitchFamily="34" charset="0"/>
                <a:ea typeface="Outfit Medium" pitchFamily="34" charset="-122"/>
                <a:cs typeface="Outfit Medium" pitchFamily="34" charset="-120"/>
              </a:rPr>
              <a:t>04</a:t>
            </a:r>
            <a:endParaRPr lang="en-US" sz="1600" dirty="0"/>
          </a:p>
        </p:txBody>
      </p:sp>
      <p:sp>
        <p:nvSpPr>
          <p:cNvPr id="25" name="text"/>
          <p:cNvSpPr txBox="1"/>
          <p:nvPr/>
        </p:nvSpPr>
        <p:spPr>
          <a:xfrm>
            <a:off x="9283217"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E4E4E7"/>
                </a:solidFill>
                <a:latin typeface="Outfit" pitchFamily="34" charset="0"/>
                <a:ea typeface="Outfit" pitchFamily="34" charset="-122"/>
                <a:cs typeface="Outfit" pitchFamily="34" charset="-120"/>
              </a:rPr>
              <a:t>Lima keputusan menata organisasi dan pekerjaan.</a:t>
            </a:r>
            <a:endParaRPr lang="en-US" sz="1400" dirty="0"/>
          </a:p>
        </p:txBody>
      </p:sp>
      <p:sp>
        <p:nvSpPr>
          <p:cNvPr id="26" name="text"/>
          <p:cNvSpPr txBox="1"/>
          <p:nvPr/>
        </p:nvSpPr>
        <p:spPr>
          <a:xfrm>
            <a:off x="9283217"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STRUCTURE</a:t>
            </a:r>
            <a:endParaRPr lang="en-US" sz="1200" dirty="0"/>
          </a:p>
        </p:txBody>
      </p:sp>
      <p:sp>
        <p:nvSpPr>
          <p:cNvPr id="27" name="text"/>
          <p:cNvSpPr txBox="1"/>
          <p:nvPr/>
        </p:nvSpPr>
        <p:spPr>
          <a:xfrm>
            <a:off x="502920" y="5532120"/>
            <a:ext cx="7498080" cy="457200"/>
          </a:xfrm>
          <a:prstGeom prst="rect">
            <a:avLst/>
          </a:prstGeom>
          <a:noFill/>
          <a:ln/>
        </p:spPr>
        <p:txBody>
          <a:bodyPr wrap="square" lIns="0" tIns="0" rIns="0" bIns="0" rtlCol="0" anchor="ctr"/>
          <a:lstStyle/>
          <a:p>
            <a:pPr algn="l" indent="0" marL="0">
              <a:lnSpc>
                <a:spcPct val="110000"/>
              </a:lnSpc>
              <a:buNone/>
            </a:pPr>
            <a:r>
              <a:rPr lang="en-US" sz="1400" spc="50" kern="0" dirty="0">
                <a:solidFill>
                  <a:srgbClr val="1A1A1C"/>
                </a:solidFill>
                <a:latin typeface="Outfit Medium" pitchFamily="34" charset="0"/>
                <a:ea typeface="Outfit Medium" pitchFamily="34" charset="-122"/>
                <a:cs typeface="Outfit Medium" pitchFamily="34" charset="-120"/>
              </a:rPr>
              <a:t>CAPABILITY DIBANGUN ORANG; STRUKTUR MENENTUKAN APAKAH CAPABILITY ITU TERPAKAI</a:t>
            </a:r>
            <a:endParaRPr lang="en-US" sz="1400" dirty="0"/>
          </a:p>
        </p:txBody>
      </p:sp>
      <p:sp>
        <p:nvSpPr>
          <p:cNvPr id="28" name="pill"/>
          <p:cNvSpPr/>
          <p:nvPr/>
        </p:nvSpPr>
        <p:spPr>
          <a:xfrm>
            <a:off x="8122615" y="5550408"/>
            <a:ext cx="3566160" cy="420624"/>
          </a:xfrm>
          <a:prstGeom prst="roundRect">
            <a:avLst>
              <a:gd name="adj" fmla="val 108696"/>
            </a:avLst>
          </a:prstGeom>
          <a:solidFill>
            <a:srgbClr val="F4F4F4"/>
          </a:solidFill>
          <a:ln w="9525">
            <a:solidFill>
              <a:srgbClr val="141417"/>
            </a:solidFill>
            <a:prstDash val="solid"/>
          </a:ln>
        </p:spPr>
      </p:sp>
      <p:sp>
        <p:nvSpPr>
          <p:cNvPr id="29" name="text"/>
          <p:cNvSpPr txBox="1"/>
          <p:nvPr/>
        </p:nvSpPr>
        <p:spPr>
          <a:xfrm>
            <a:off x="8232343" y="5550408"/>
            <a:ext cx="3346704" cy="420624"/>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05 · SINTESIS DAN BAHAN RENUNGAN</a:t>
            </a:r>
            <a:endParaRPr lang="en-US" sz="1050" dirty="0"/>
          </a:p>
        </p:txBody>
      </p:sp>
      <p:sp>
        <p:nvSpPr>
          <p:cNvPr id="30"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pic>
        <p:nvPicPr>
          <p:cNvPr id="7" name="Perahu layar putih di laut tenang" descr="preencoded.png">    </p:cNvPr>
          <p:cNvPicPr>
            <a:picLocks noChangeAspect="1"/>
          </p:cNvPicPr>
          <p:nvPr/>
        </p:nvPicPr>
        <p:blipFill>
          <a:blip r:embed="rId1"/>
          <a:stretch>
            <a:fillRect/>
          </a:stretch>
        </p:blipFill>
        <p:spPr>
          <a:xfrm>
            <a:off x="502920" y="658368"/>
            <a:ext cx="11185855" cy="3246120"/>
          </a:xfrm>
          <a:prstGeom prst="rect">
            <a:avLst/>
          </a:prstGeom>
        </p:spPr>
      </p:pic>
      <p:sp>
        <p:nvSpPr>
          <p:cNvPr id="8" name="toggle"/>
          <p:cNvSpPr/>
          <p:nvPr/>
        </p:nvSpPr>
        <p:spPr>
          <a:xfrm>
            <a:off x="10911535" y="868680"/>
            <a:ext cx="566928" cy="274320"/>
          </a:xfrm>
          <a:prstGeom prst="roundRect">
            <a:avLst>
              <a:gd name="adj" fmla="val 166667"/>
            </a:avLst>
          </a:prstGeom>
          <a:solidFill>
            <a:srgbClr val="F4F4F4"/>
          </a:solidFill>
          <a:ln w="9525">
            <a:solidFill>
              <a:srgbClr val="141417"/>
            </a:solidFill>
            <a:prstDash val="solid"/>
          </a:ln>
        </p:spPr>
      </p:sp>
      <p:sp>
        <p:nvSpPr>
          <p:cNvPr id="9" name="toggle-dot"/>
          <p:cNvSpPr/>
          <p:nvPr/>
        </p:nvSpPr>
        <p:spPr>
          <a:xfrm>
            <a:off x="11213287" y="905256"/>
            <a:ext cx="201168" cy="201168"/>
          </a:xfrm>
          <a:prstGeom prst="ellipse">
            <a:avLst/>
          </a:prstGeom>
          <a:solidFill>
            <a:srgbClr val="D4FC00"/>
          </a:solidFill>
          <a:ln w="6350">
            <a:solidFill>
              <a:srgbClr val="D4FC00"/>
            </a:solidFill>
            <a:prstDash val="solid"/>
          </a:ln>
        </p:spPr>
      </p:sp>
      <p:pic>
        <p:nvPicPr>
          <p:cNvPr id="10" name="toggle-star" descr="preencoded.png">    </p:cNvPr>
          <p:cNvPicPr>
            <a:picLocks noChangeAspect="1"/>
          </p:cNvPicPr>
          <p:nvPr/>
        </p:nvPicPr>
        <p:blipFill>
          <a:blip r:embed="rId2"/>
          <a:stretch>
            <a:fillRect/>
          </a:stretch>
        </p:blipFill>
        <p:spPr>
          <a:xfrm>
            <a:off x="11254435" y="946404"/>
            <a:ext cx="118872" cy="118872"/>
          </a:xfrm>
          <a:prstGeom prst="rect">
            <a:avLst/>
          </a:prstGeom>
        </p:spPr>
      </p:pic>
      <p:sp>
        <p:nvSpPr>
          <p:cNvPr id="11" name="card"/>
          <p:cNvSpPr/>
          <p:nvPr/>
        </p:nvSpPr>
        <p:spPr>
          <a:xfrm>
            <a:off x="731520" y="2423160"/>
            <a:ext cx="5852160" cy="1325880"/>
          </a:xfrm>
          <a:prstGeom prst="roundRect">
            <a:avLst>
              <a:gd name="adj" fmla="val 9655"/>
            </a:avLst>
          </a:prstGeom>
          <a:solidFill>
            <a:srgbClr val="F4F4F4"/>
          </a:solidFill>
          <a:ln w="6350">
            <a:solidFill>
              <a:srgbClr val="F4F4F4"/>
            </a:solidFill>
            <a:prstDash val="solid"/>
          </a:ln>
        </p:spPr>
      </p:sp>
      <p:sp>
        <p:nvSpPr>
          <p:cNvPr id="12" name="text"/>
          <p:cNvSpPr txBox="1"/>
          <p:nvPr/>
        </p:nvSpPr>
        <p:spPr>
          <a:xfrm>
            <a:off x="914400" y="2468880"/>
            <a:ext cx="5577840" cy="1234440"/>
          </a:xfrm>
          <a:prstGeom prst="rect">
            <a:avLst/>
          </a:prstGeom>
          <a:noFill/>
          <a:ln/>
        </p:spPr>
        <p:txBody>
          <a:bodyPr wrap="square" lIns="0" tIns="0" rIns="0" bIns="0" rtlCol="0" anchor="ctr"/>
          <a:lstStyle/>
          <a:p>
            <a:pPr algn="l" indent="0" marL="0">
              <a:lnSpc>
                <a:spcPct val="98000"/>
              </a:lnSpc>
              <a:buNone/>
            </a:pPr>
            <a:r>
              <a:rPr lang="en-US" sz="3200" spc="-50" kern="0" dirty="0">
                <a:solidFill>
                  <a:srgbClr val="141417"/>
                </a:solidFill>
                <a:latin typeface="Outfit Medium" pitchFamily="34" charset="0"/>
                <a:ea typeface="Outfit Medium" pitchFamily="34" charset="-122"/>
                <a:cs typeface="Outfit Medium" pitchFamily="34" charset="-120"/>
              </a:rPr>
              <a:t>DARI MERUMUSKAN KE MENGEKSEKUSI STRATEGI</a:t>
            </a:r>
            <a:endParaRPr lang="en-US" sz="3200" dirty="0"/>
          </a:p>
        </p:txBody>
      </p:sp>
      <p:sp>
        <p:nvSpPr>
          <p:cNvPr id="13" name="card"/>
          <p:cNvSpPr/>
          <p:nvPr/>
        </p:nvSpPr>
        <p:spPr>
          <a:xfrm>
            <a:off x="502920" y="4023360"/>
            <a:ext cx="4023360" cy="1463040"/>
          </a:xfrm>
          <a:prstGeom prst="roundRect">
            <a:avLst>
              <a:gd name="adj" fmla="val 12500"/>
            </a:avLst>
          </a:prstGeom>
          <a:solidFill>
            <a:srgbClr val="D4FC00"/>
          </a:solidFill>
          <a:ln w="6350">
            <a:solidFill>
              <a:srgbClr val="D4FC00"/>
            </a:solidFill>
            <a:prstDash val="solid"/>
          </a:ln>
        </p:spPr>
      </p:sp>
      <p:sp>
        <p:nvSpPr>
          <p:cNvPr id="14" name="text"/>
          <p:cNvSpPr txBox="1"/>
          <p:nvPr/>
        </p:nvSpPr>
        <p:spPr>
          <a:xfrm>
            <a:off x="731520" y="4023360"/>
            <a:ext cx="1920240" cy="1463040"/>
          </a:xfrm>
          <a:prstGeom prst="rect">
            <a:avLst/>
          </a:prstGeom>
          <a:noFill/>
          <a:ln/>
        </p:spPr>
        <p:txBody>
          <a:bodyPr wrap="square" lIns="0" tIns="0" rIns="0" bIns="0" rtlCol="0" anchor="ctr"/>
          <a:lstStyle/>
          <a:p>
            <a:pPr algn="l" indent="0" marL="0">
              <a:lnSpc>
                <a:spcPct val="110000"/>
              </a:lnSpc>
              <a:buNone/>
            </a:pPr>
            <a:r>
              <a:rPr lang="en-US" sz="3400" spc="-50" kern="0" dirty="0">
                <a:solidFill>
                  <a:srgbClr val="141417"/>
                </a:solidFill>
                <a:latin typeface="Outfit Medium" pitchFamily="34" charset="0"/>
                <a:ea typeface="Outfit Medium" pitchFamily="34" charset="-122"/>
                <a:cs typeface="Outfit Medium" pitchFamily="34" charset="-120"/>
              </a:rPr>
              <a:t>1/2</a:t>
            </a:r>
            <a:endParaRPr lang="en-US" sz="3400" dirty="0"/>
          </a:p>
        </p:txBody>
      </p:sp>
      <p:sp>
        <p:nvSpPr>
          <p:cNvPr id="15" name="text"/>
          <p:cNvSpPr txBox="1"/>
          <p:nvPr/>
        </p:nvSpPr>
        <p:spPr>
          <a:xfrm>
            <a:off x="2743200" y="4023360"/>
            <a:ext cx="1645920" cy="1463040"/>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pekerjaan selesai saat strategi dirumuskan; setengahnya lagi membangun organisasi (Lecuona)</a:t>
            </a:r>
            <a:endParaRPr lang="en-US" sz="1200" dirty="0"/>
          </a:p>
        </p:txBody>
      </p:sp>
      <p:sp>
        <p:nvSpPr>
          <p:cNvPr id="16" name="card"/>
          <p:cNvSpPr/>
          <p:nvPr/>
        </p:nvSpPr>
        <p:spPr>
          <a:xfrm>
            <a:off x="4663440" y="4023360"/>
            <a:ext cx="5166360" cy="1463040"/>
          </a:xfrm>
          <a:prstGeom prst="roundRect">
            <a:avLst>
              <a:gd name="adj" fmla="val 12500"/>
            </a:avLst>
          </a:prstGeom>
          <a:solidFill>
            <a:srgbClr val="E8E8E8"/>
          </a:solidFill>
          <a:ln w="6350">
            <a:solidFill>
              <a:srgbClr val="E8E8E8"/>
            </a:solidFill>
            <a:prstDash val="solid"/>
          </a:ln>
        </p:spPr>
      </p:sp>
      <p:sp>
        <p:nvSpPr>
          <p:cNvPr id="17" name="card"/>
          <p:cNvSpPr/>
          <p:nvPr/>
        </p:nvSpPr>
        <p:spPr>
          <a:xfrm>
            <a:off x="4663440" y="4023360"/>
            <a:ext cx="2560320" cy="1463040"/>
          </a:xfrm>
          <a:prstGeom prst="roundRect">
            <a:avLst>
              <a:gd name="adj" fmla="val 12500"/>
            </a:avLst>
          </a:prstGeom>
          <a:solidFill>
            <a:srgbClr val="E8E8E8"/>
          </a:solidFill>
          <a:ln w="6350">
            <a:solidFill>
              <a:srgbClr val="E8E8E8"/>
            </a:solidFill>
            <a:prstDash val="solid"/>
          </a:ln>
        </p:spPr>
      </p:sp>
      <p:sp>
        <p:nvSpPr>
          <p:cNvPr id="18" name="text"/>
          <p:cNvSpPr txBox="1"/>
          <p:nvPr/>
        </p:nvSpPr>
        <p:spPr>
          <a:xfrm>
            <a:off x="4892040" y="4187952"/>
            <a:ext cx="210312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Analitis</a:t>
            </a:r>
            <a:endParaRPr lang="en-US" sz="2200" dirty="0"/>
          </a:p>
        </p:txBody>
      </p:sp>
      <p:sp>
        <p:nvSpPr>
          <p:cNvPr id="19" name="text"/>
          <p:cNvSpPr txBox="1"/>
          <p:nvPr/>
        </p:nvSpPr>
        <p:spPr>
          <a:xfrm>
            <a:off x="4892040" y="4736592"/>
            <a:ext cx="2103120" cy="68580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Merumuskan: pasar, resources, capabilities (Bab 1 sampai 9)</a:t>
            </a:r>
            <a:endParaRPr lang="en-US" sz="1200" dirty="0"/>
          </a:p>
        </p:txBody>
      </p:sp>
      <p:sp>
        <p:nvSpPr>
          <p:cNvPr id="20" name="card"/>
          <p:cNvSpPr/>
          <p:nvPr/>
        </p:nvSpPr>
        <p:spPr>
          <a:xfrm>
            <a:off x="7269480" y="4023360"/>
            <a:ext cx="2560320" cy="1463040"/>
          </a:xfrm>
          <a:prstGeom prst="roundRect">
            <a:avLst>
              <a:gd name="adj" fmla="val 12500"/>
            </a:avLst>
          </a:prstGeom>
          <a:solidFill>
            <a:srgbClr val="E8E8E8"/>
          </a:solidFill>
          <a:ln w="6350">
            <a:solidFill>
              <a:srgbClr val="E8E8E8"/>
            </a:solidFill>
            <a:prstDash val="solid"/>
          </a:ln>
        </p:spPr>
      </p:sp>
      <p:sp>
        <p:nvSpPr>
          <p:cNvPr id="21" name="text"/>
          <p:cNvSpPr txBox="1"/>
          <p:nvPr/>
        </p:nvSpPr>
        <p:spPr>
          <a:xfrm>
            <a:off x="7498080" y="4187952"/>
            <a:ext cx="210312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Operasional</a:t>
            </a:r>
            <a:endParaRPr lang="en-US" sz="2200" dirty="0"/>
          </a:p>
        </p:txBody>
      </p:sp>
      <p:sp>
        <p:nvSpPr>
          <p:cNvPr id="22" name="text"/>
          <p:cNvSpPr txBox="1"/>
          <p:nvPr/>
        </p:nvSpPr>
        <p:spPr>
          <a:xfrm>
            <a:off x="7498080" y="4736592"/>
            <a:ext cx="2103120" cy="68580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Mengeksekusi: orang, proses, struktur (Bab 10 sampai 12)</a:t>
            </a:r>
            <a:endParaRPr lang="en-US" sz="1200" dirty="0"/>
          </a:p>
        </p:txBody>
      </p:sp>
      <p:sp>
        <p:nvSpPr>
          <p:cNvPr id="23" name="card"/>
          <p:cNvSpPr/>
          <p:nvPr/>
        </p:nvSpPr>
        <p:spPr>
          <a:xfrm>
            <a:off x="9966960" y="4023360"/>
            <a:ext cx="1463040" cy="1463040"/>
          </a:xfrm>
          <a:prstGeom prst="roundRect">
            <a:avLst>
              <a:gd name="adj" fmla="val 10000"/>
            </a:avLst>
          </a:prstGeom>
          <a:solidFill>
            <a:srgbClr val="141417"/>
          </a:solidFill>
          <a:ln w="6350">
            <a:solidFill>
              <a:srgbClr val="141417"/>
            </a:solidFill>
            <a:prstDash val="solid"/>
          </a:ln>
        </p:spPr>
      </p:sp>
      <p:pic>
        <p:nvPicPr>
          <p:cNvPr id="24" name="star" descr="preencoded.png">    </p:cNvPr>
          <p:cNvPicPr>
            <a:picLocks noChangeAspect="1"/>
          </p:cNvPicPr>
          <p:nvPr/>
        </p:nvPicPr>
        <p:blipFill>
          <a:blip r:embed="rId3"/>
          <a:stretch>
            <a:fillRect/>
          </a:stretch>
        </p:blipFill>
        <p:spPr>
          <a:xfrm>
            <a:off x="10332720" y="4389120"/>
            <a:ext cx="731520" cy="731520"/>
          </a:xfrm>
          <a:prstGeom prst="rect">
            <a:avLst/>
          </a:prstGeom>
        </p:spPr>
      </p:pic>
      <p:sp>
        <p:nvSpPr>
          <p:cNvPr id="25" name="text"/>
          <p:cNvSpPr txBox="1"/>
          <p:nvPr/>
        </p:nvSpPr>
        <p:spPr>
          <a:xfrm>
            <a:off x="502920" y="5623560"/>
            <a:ext cx="9418320" cy="82296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Analogi kapal: visi adalah bintang penunjuk arah, lingkungan eksternal adalah angin, resources dan capabilities adalah layar dan mesin. Bab 10 bertanya siapa awaknya dan bagaimana mereka ditata di geladak.</a:t>
            </a:r>
            <a:endParaRPr lang="en-US" sz="1400" dirty="0"/>
          </a:p>
        </p:txBody>
      </p:sp>
      <p:sp>
        <p:nvSpPr>
          <p:cNvPr id="26"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card"/>
          <p:cNvSpPr/>
          <p:nvPr/>
        </p:nvSpPr>
        <p:spPr>
          <a:xfrm>
            <a:off x="502920" y="658368"/>
            <a:ext cx="6309360" cy="1344168"/>
          </a:xfrm>
          <a:prstGeom prst="roundRect">
            <a:avLst>
              <a:gd name="adj" fmla="val 13605"/>
            </a:avLst>
          </a:prstGeom>
          <a:solidFill>
            <a:srgbClr val="D4FC00"/>
          </a:solidFill>
          <a:ln w="6350">
            <a:solidFill>
              <a:srgbClr val="D4FC00"/>
            </a:solidFill>
            <a:prstDash val="solid"/>
          </a:ln>
        </p:spPr>
      </p:sp>
      <p:sp>
        <p:nvSpPr>
          <p:cNvPr id="8" name="text"/>
          <p:cNvSpPr txBox="1"/>
          <p:nvPr/>
        </p:nvSpPr>
        <p:spPr>
          <a:xfrm>
            <a:off x="777240" y="914400"/>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TANTANGAN NOMOR SATU</a:t>
            </a:r>
            <a:endParaRPr lang="en-US" sz="1200" dirty="0"/>
          </a:p>
        </p:txBody>
      </p:sp>
      <p:sp>
        <p:nvSpPr>
          <p:cNvPr id="9" name="text"/>
          <p:cNvSpPr txBox="1"/>
          <p:nvPr/>
        </p:nvSpPr>
        <p:spPr>
          <a:xfrm>
            <a:off x="2651760" y="896112"/>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Survei 400 CEO di Amerika, Eropa, dan Asia (Sull, Homkes &amp; Sull, 2015): executional excellence.</a:t>
            </a:r>
            <a:endParaRPr lang="en-US" sz="1400" dirty="0"/>
          </a:p>
        </p:txBody>
      </p:sp>
      <p:sp>
        <p:nvSpPr>
          <p:cNvPr id="10" name="dot"/>
          <p:cNvSpPr/>
          <p:nvPr/>
        </p:nvSpPr>
        <p:spPr>
          <a:xfrm>
            <a:off x="6245352" y="1193292"/>
            <a:ext cx="274320" cy="274320"/>
          </a:xfrm>
          <a:prstGeom prst="ellipse">
            <a:avLst/>
          </a:prstGeom>
          <a:solidFill>
            <a:srgbClr val="141417"/>
          </a:solidFill>
          <a:ln w="6350">
            <a:solidFill>
              <a:srgbClr val="141417"/>
            </a:solidFill>
            <a:prstDash val="solid"/>
          </a:ln>
        </p:spPr>
      </p:sp>
      <p:pic>
        <p:nvPicPr>
          <p:cNvPr id="11" name="dot-icon" descr="preencoded.png">    </p:cNvPr>
          <p:cNvPicPr>
            <a:picLocks noChangeAspect="1"/>
          </p:cNvPicPr>
          <p:nvPr/>
        </p:nvPicPr>
        <p:blipFill>
          <a:blip r:embed="rId1"/>
          <a:stretch>
            <a:fillRect/>
          </a:stretch>
        </p:blipFill>
        <p:spPr>
          <a:xfrm>
            <a:off x="6305702" y="1253642"/>
            <a:ext cx="153619" cy="153619"/>
          </a:xfrm>
          <a:prstGeom prst="rect">
            <a:avLst/>
          </a:prstGeom>
        </p:spPr>
      </p:pic>
      <p:sp>
        <p:nvSpPr>
          <p:cNvPr id="12" name="card"/>
          <p:cNvSpPr/>
          <p:nvPr/>
        </p:nvSpPr>
        <p:spPr>
          <a:xfrm>
            <a:off x="502920" y="2130552"/>
            <a:ext cx="6309360" cy="1344168"/>
          </a:xfrm>
          <a:prstGeom prst="roundRect">
            <a:avLst>
              <a:gd name="adj" fmla="val 13605"/>
            </a:avLst>
          </a:prstGeom>
          <a:solidFill>
            <a:srgbClr val="E8E8E8"/>
          </a:solidFill>
          <a:ln w="6350">
            <a:solidFill>
              <a:srgbClr val="E8E8E8"/>
            </a:solidFill>
            <a:prstDash val="solid"/>
          </a:ln>
        </p:spPr>
      </p:sp>
      <p:sp>
        <p:nvSpPr>
          <p:cNvPr id="13" name="text"/>
          <p:cNvSpPr txBox="1"/>
          <p:nvPr/>
        </p:nvSpPr>
        <p:spPr>
          <a:xfrm>
            <a:off x="777240" y="2386584"/>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AKTIVITAS SALING BERGANTUNG</a:t>
            </a:r>
            <a:endParaRPr lang="en-US" sz="1200" dirty="0"/>
          </a:p>
        </p:txBody>
      </p:sp>
      <p:sp>
        <p:nvSpPr>
          <p:cNvPr id="14" name="text"/>
          <p:cNvSpPr txBox="1"/>
          <p:nvPr/>
        </p:nvSpPr>
        <p:spPr>
          <a:xfrm>
            <a:off x="2651760" y="2368296"/>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Seluruh rantai nilai dan semua kelompok kerja terlibat; butuh bulan sampai tahun.</a:t>
            </a:r>
            <a:endParaRPr lang="en-US" sz="1400" dirty="0"/>
          </a:p>
        </p:txBody>
      </p:sp>
      <p:sp>
        <p:nvSpPr>
          <p:cNvPr id="15" name="dot"/>
          <p:cNvSpPr/>
          <p:nvPr/>
        </p:nvSpPr>
        <p:spPr>
          <a:xfrm>
            <a:off x="6245352" y="2665476"/>
            <a:ext cx="274320" cy="274320"/>
          </a:xfrm>
          <a:prstGeom prst="ellipse">
            <a:avLst/>
          </a:prstGeom>
          <a:solidFill>
            <a:srgbClr val="141417"/>
          </a:solidFill>
          <a:ln w="6350">
            <a:solidFill>
              <a:srgbClr val="141417"/>
            </a:solidFill>
            <a:prstDash val="solid"/>
          </a:ln>
        </p:spPr>
      </p:sp>
      <p:pic>
        <p:nvPicPr>
          <p:cNvPr id="16" name="dot-icon" descr="preencoded.png">    </p:cNvPr>
          <p:cNvPicPr>
            <a:picLocks noChangeAspect="1"/>
          </p:cNvPicPr>
          <p:nvPr/>
        </p:nvPicPr>
        <p:blipFill>
          <a:blip r:embed="rId2"/>
          <a:stretch>
            <a:fillRect/>
          </a:stretch>
        </p:blipFill>
        <p:spPr>
          <a:xfrm>
            <a:off x="6305702" y="2725826"/>
            <a:ext cx="153619" cy="153619"/>
          </a:xfrm>
          <a:prstGeom prst="rect">
            <a:avLst/>
          </a:prstGeom>
        </p:spPr>
      </p:pic>
      <p:sp>
        <p:nvSpPr>
          <p:cNvPr id="17" name="card"/>
          <p:cNvSpPr/>
          <p:nvPr/>
        </p:nvSpPr>
        <p:spPr>
          <a:xfrm>
            <a:off x="502920" y="3602736"/>
            <a:ext cx="6309360" cy="1344168"/>
          </a:xfrm>
          <a:prstGeom prst="roundRect">
            <a:avLst>
              <a:gd name="adj" fmla="val 13605"/>
            </a:avLst>
          </a:prstGeom>
          <a:solidFill>
            <a:srgbClr val="D4FC00"/>
          </a:solidFill>
          <a:ln w="6350">
            <a:solidFill>
              <a:srgbClr val="D4FC00"/>
            </a:solidFill>
            <a:prstDash val="solid"/>
          </a:ln>
        </p:spPr>
      </p:sp>
      <p:sp>
        <p:nvSpPr>
          <p:cNvPr id="18" name="text"/>
          <p:cNvSpPr txBox="1"/>
          <p:nvPr/>
        </p:nvSpPr>
        <p:spPr>
          <a:xfrm>
            <a:off x="777240" y="3858768"/>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TIDAK ADA RESEP TUNGGAL</a:t>
            </a:r>
            <a:endParaRPr lang="en-US" sz="1200" dirty="0"/>
          </a:p>
        </p:txBody>
      </p:sp>
      <p:sp>
        <p:nvSpPr>
          <p:cNvPr id="19" name="text"/>
          <p:cNvSpPr txBox="1"/>
          <p:nvPr/>
        </p:nvSpPr>
        <p:spPr>
          <a:xfrm>
            <a:off x="2651760" y="3840480"/>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Agenda tindakan disesuaikan: biaya rendah berbeda dari diferensiasi, krisis berbeda dari sehat.</a:t>
            </a:r>
            <a:endParaRPr lang="en-US" sz="1400" dirty="0"/>
          </a:p>
        </p:txBody>
      </p:sp>
      <p:sp>
        <p:nvSpPr>
          <p:cNvPr id="20" name="dot"/>
          <p:cNvSpPr/>
          <p:nvPr/>
        </p:nvSpPr>
        <p:spPr>
          <a:xfrm>
            <a:off x="6245352" y="4137660"/>
            <a:ext cx="274320" cy="274320"/>
          </a:xfrm>
          <a:prstGeom prst="ellipse">
            <a:avLst/>
          </a:prstGeom>
          <a:solidFill>
            <a:srgbClr val="141417"/>
          </a:solidFill>
          <a:ln w="6350">
            <a:solidFill>
              <a:srgbClr val="141417"/>
            </a:solidFill>
            <a:prstDash val="solid"/>
          </a:ln>
        </p:spPr>
      </p:sp>
      <p:pic>
        <p:nvPicPr>
          <p:cNvPr id="21" name="dot-icon" descr="preencoded.png">    </p:cNvPr>
          <p:cNvPicPr>
            <a:picLocks noChangeAspect="1"/>
          </p:cNvPicPr>
          <p:nvPr/>
        </p:nvPicPr>
        <p:blipFill>
          <a:blip r:embed="rId3"/>
          <a:stretch>
            <a:fillRect/>
          </a:stretch>
        </p:blipFill>
        <p:spPr>
          <a:xfrm>
            <a:off x="6305702" y="4198010"/>
            <a:ext cx="153619" cy="153619"/>
          </a:xfrm>
          <a:prstGeom prst="rect">
            <a:avLst/>
          </a:prstGeom>
        </p:spPr>
      </p:pic>
      <p:sp>
        <p:nvSpPr>
          <p:cNvPr id="22" name="card"/>
          <p:cNvSpPr/>
          <p:nvPr/>
        </p:nvSpPr>
        <p:spPr>
          <a:xfrm>
            <a:off x="502920" y="5074920"/>
            <a:ext cx="6309360" cy="1344168"/>
          </a:xfrm>
          <a:prstGeom prst="roundRect">
            <a:avLst>
              <a:gd name="adj" fmla="val 13605"/>
            </a:avLst>
          </a:prstGeom>
          <a:solidFill>
            <a:srgbClr val="141417"/>
          </a:solidFill>
          <a:ln w="6350">
            <a:solidFill>
              <a:srgbClr val="141417"/>
            </a:solidFill>
            <a:prstDash val="solid"/>
          </a:ln>
        </p:spPr>
      </p:sp>
      <p:sp>
        <p:nvSpPr>
          <p:cNvPr id="23" name="text"/>
          <p:cNvSpPr txBox="1"/>
          <p:nvPr/>
        </p:nvSpPr>
        <p:spPr>
          <a:xfrm>
            <a:off x="777240" y="5330952"/>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DUA TANDA EKSEKUSI BAIK</a:t>
            </a:r>
            <a:endParaRPr lang="en-US" sz="1200" dirty="0"/>
          </a:p>
        </p:txBody>
      </p:sp>
      <p:sp>
        <p:nvSpPr>
          <p:cNvPr id="24" name="text"/>
          <p:cNvSpPr txBox="1"/>
          <p:nvPr/>
        </p:nvSpPr>
        <p:spPr>
          <a:xfrm>
            <a:off x="2651760" y="5312664"/>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E4E4E7"/>
                </a:solidFill>
                <a:latin typeface="Outfit" pitchFamily="34" charset="0"/>
                <a:ea typeface="Outfit" pitchFamily="34" charset="-122"/>
                <a:cs typeface="Outfit" pitchFamily="34" charset="-120"/>
              </a:rPr>
              <a:t>Target kinerja tercapai, dan aktivitas kritis dijalankan dengan mahir.</a:t>
            </a:r>
            <a:endParaRPr lang="en-US" sz="1400" dirty="0"/>
          </a:p>
        </p:txBody>
      </p:sp>
      <p:sp>
        <p:nvSpPr>
          <p:cNvPr id="25" name="dot"/>
          <p:cNvSpPr/>
          <p:nvPr/>
        </p:nvSpPr>
        <p:spPr>
          <a:xfrm>
            <a:off x="6245352" y="5609844"/>
            <a:ext cx="274320" cy="274320"/>
          </a:xfrm>
          <a:prstGeom prst="ellipse">
            <a:avLst/>
          </a:prstGeom>
          <a:solidFill>
            <a:srgbClr val="D4FC00"/>
          </a:solidFill>
          <a:ln w="6350">
            <a:solidFill>
              <a:srgbClr val="D4FC00"/>
            </a:solidFill>
            <a:prstDash val="solid"/>
          </a:ln>
        </p:spPr>
      </p:sp>
      <p:pic>
        <p:nvPicPr>
          <p:cNvPr id="26" name="dot-icon" descr="preencoded.png">    </p:cNvPr>
          <p:cNvPicPr>
            <a:picLocks noChangeAspect="1"/>
          </p:cNvPicPr>
          <p:nvPr/>
        </p:nvPicPr>
        <p:blipFill>
          <a:blip r:embed="rId4"/>
          <a:stretch>
            <a:fillRect/>
          </a:stretch>
        </p:blipFill>
        <p:spPr>
          <a:xfrm>
            <a:off x="6305702" y="5670194"/>
            <a:ext cx="153619" cy="153619"/>
          </a:xfrm>
          <a:prstGeom prst="rect">
            <a:avLst/>
          </a:prstGeom>
        </p:spPr>
      </p:pic>
      <p:pic>
        <p:nvPicPr>
          <p:cNvPr id="27" name="Meja kerja putih dengan laptop dan buku catatan" descr="preencoded.png">    </p:cNvPr>
          <p:cNvPicPr>
            <a:picLocks noChangeAspect="1"/>
          </p:cNvPicPr>
          <p:nvPr/>
        </p:nvPicPr>
        <p:blipFill>
          <a:blip r:embed="rId5"/>
          <a:stretch>
            <a:fillRect/>
          </a:stretch>
        </p:blipFill>
        <p:spPr>
          <a:xfrm>
            <a:off x="7269480" y="658368"/>
            <a:ext cx="4419295" cy="2377440"/>
          </a:xfrm>
          <a:prstGeom prst="rect">
            <a:avLst/>
          </a:prstGeom>
        </p:spPr>
      </p:pic>
      <p:sp>
        <p:nvSpPr>
          <p:cNvPr id="28" name="text"/>
          <p:cNvSpPr txBox="1"/>
          <p:nvPr/>
        </p:nvSpPr>
        <p:spPr>
          <a:xfrm>
            <a:off x="7269480" y="3291840"/>
            <a:ext cx="4419295" cy="228600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EKSEKUSI ADALAH UJIAN YANG SESUNGGUHNYA</a:t>
            </a:r>
            <a:endParaRPr lang="en-US" sz="3400" dirty="0"/>
          </a:p>
        </p:txBody>
      </p:sp>
      <p:sp>
        <p:nvSpPr>
          <p:cNvPr id="29" name="text"/>
          <p:cNvSpPr txBox="1"/>
          <p:nvPr/>
        </p:nvSpPr>
        <p:spPr>
          <a:xfrm>
            <a:off x="7269480" y="5532120"/>
            <a:ext cx="4419295" cy="868680"/>
          </a:xfrm>
          <a:prstGeom prst="rect">
            <a:avLst/>
          </a:prstGeom>
          <a:noFill/>
          <a:ln/>
        </p:spPr>
        <p:txBody>
          <a:bodyPr wrap="square" lIns="0" tIns="0" rIns="0" bIns="0" rtlCol="0" anchor="t"/>
          <a:lstStyle/>
          <a:p>
            <a:pPr algn="l" indent="0" marL="0">
              <a:lnSpc>
                <a:spcPct val="110000"/>
              </a:lnSpc>
              <a:buNone/>
            </a:pPr>
            <a:r>
              <a:rPr lang="en-US" sz="1300" dirty="0">
                <a:solidFill>
                  <a:srgbClr val="1A1A1C"/>
                </a:solidFill>
                <a:latin typeface="Outfit" pitchFamily="34" charset="0"/>
                <a:ea typeface="Outfit" pitchFamily="34" charset="-122"/>
                <a:cs typeface="Outfit" pitchFamily="34" charset="-120"/>
              </a:rPr>
              <a:t>Eksekusi adalah team effort: setiap manajer bertanggung jawab di areanya.</a:t>
            </a:r>
            <a:endParaRPr lang="en-US" sz="1300" dirty="0"/>
          </a:p>
        </p:txBody>
      </p:sp>
      <p:sp>
        <p:nvSpPr>
          <p:cNvPr id="30"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card"/>
          <p:cNvSpPr/>
          <p:nvPr/>
        </p:nvSpPr>
        <p:spPr>
          <a:xfrm>
            <a:off x="7863840" y="-274320"/>
            <a:ext cx="3017520" cy="7406640"/>
          </a:xfrm>
          <a:prstGeom prst="roundRect">
            <a:avLst>
              <a:gd name="adj" fmla="val 10606"/>
            </a:avLst>
          </a:prstGeom>
          <a:solidFill>
            <a:srgbClr val="D4FC00"/>
          </a:solidFill>
          <a:ln w="6350">
            <a:solidFill>
              <a:srgbClr val="D4FC00"/>
            </a:solidFill>
            <a:prstDash val="solid"/>
          </a:ln>
        </p:spPr>
      </p:sp>
      <p:sp>
        <p:nvSpPr>
          <p:cNvPr id="8"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9"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10"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11"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12"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13" name="text"/>
          <p:cNvSpPr txBox="1"/>
          <p:nvPr/>
        </p:nvSpPr>
        <p:spPr>
          <a:xfrm>
            <a:off x="502920" y="868680"/>
            <a:ext cx="5943600" cy="73152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SEPULUH TUGAS EKSEKUSI</a:t>
            </a:r>
            <a:endParaRPr lang="en-US" sz="3400" dirty="0"/>
          </a:p>
        </p:txBody>
      </p:sp>
      <p:sp>
        <p:nvSpPr>
          <p:cNvPr id="14" name="text"/>
          <p:cNvSpPr txBox="1"/>
          <p:nvPr/>
        </p:nvSpPr>
        <p:spPr>
          <a:xfrm>
            <a:off x="502920" y="1600200"/>
            <a:ext cx="5120640" cy="685800"/>
          </a:xfrm>
          <a:prstGeom prst="rect">
            <a:avLst/>
          </a:prstGeom>
          <a:noFill/>
          <a:ln/>
        </p:spPr>
        <p:txBody>
          <a:bodyPr wrap="square" lIns="0" tIns="0" rIns="0" bIns="0" rtlCol="0" anchor="t"/>
          <a:lstStyle/>
          <a:p>
            <a:pPr algn="l" indent="0" marL="0">
              <a:lnSpc>
                <a:spcPct val="110000"/>
              </a:lnSpc>
              <a:buNone/>
            </a:pPr>
            <a:r>
              <a:rPr lang="en-US" sz="1300" dirty="0">
                <a:solidFill>
                  <a:srgbClr val="1A1A1C"/>
                </a:solidFill>
                <a:latin typeface="Outfit" pitchFamily="34" charset="0"/>
                <a:ea typeface="Outfit" pitchFamily="34" charset="-122"/>
                <a:cs typeface="Outfit" pitchFamily="34" charset="-120"/>
              </a:rPr>
              <a:t>Figure 10.1, digambar ulang. Tiga tugas pertama membangun organisasi yang mampu; tujuh berikutnya menggerakkan dan menopangnya.</a:t>
            </a:r>
            <a:endParaRPr lang="en-US" sz="1300" dirty="0"/>
          </a:p>
        </p:txBody>
      </p:sp>
      <p:sp>
        <p:nvSpPr>
          <p:cNvPr id="15" name="connector"/>
          <p:cNvSpPr/>
          <p:nvPr/>
        </p:nvSpPr>
        <p:spPr>
          <a:xfrm flipH="1">
            <a:off x="3657600" y="2649828"/>
            <a:ext cx="748798" cy="1739292"/>
          </a:xfrm>
          <a:prstGeom prst="line">
            <a:avLst/>
          </a:prstGeom>
          <a:noFill/>
          <a:ln w="12700">
            <a:solidFill>
              <a:srgbClr val="C9C9CC"/>
            </a:solidFill>
            <a:prstDash val="solid"/>
          </a:ln>
        </p:spPr>
      </p:sp>
      <p:sp>
        <p:nvSpPr>
          <p:cNvPr id="16" name="connector"/>
          <p:cNvSpPr/>
          <p:nvPr/>
        </p:nvSpPr>
        <p:spPr>
          <a:xfrm flipH="1">
            <a:off x="3657600" y="3314178"/>
            <a:ext cx="1960378" cy="1074942"/>
          </a:xfrm>
          <a:prstGeom prst="line">
            <a:avLst/>
          </a:prstGeom>
          <a:noFill/>
          <a:ln w="12700">
            <a:solidFill>
              <a:srgbClr val="C9C9CC"/>
            </a:solidFill>
            <a:prstDash val="solid"/>
          </a:ln>
        </p:spPr>
      </p:sp>
      <p:sp>
        <p:nvSpPr>
          <p:cNvPr id="17" name="connector"/>
          <p:cNvSpPr/>
          <p:nvPr/>
        </p:nvSpPr>
        <p:spPr>
          <a:xfrm>
            <a:off x="3657600" y="4389120"/>
            <a:ext cx="2423160" cy="0"/>
          </a:xfrm>
          <a:prstGeom prst="line">
            <a:avLst/>
          </a:prstGeom>
          <a:noFill/>
          <a:ln w="12700">
            <a:solidFill>
              <a:srgbClr val="C9C9CC"/>
            </a:solidFill>
            <a:prstDash val="solid"/>
          </a:ln>
        </p:spPr>
      </p:sp>
      <p:sp>
        <p:nvSpPr>
          <p:cNvPr id="18" name="connector"/>
          <p:cNvSpPr/>
          <p:nvPr/>
        </p:nvSpPr>
        <p:spPr>
          <a:xfrm>
            <a:off x="3657600" y="4389120"/>
            <a:ext cx="1960378" cy="1074942"/>
          </a:xfrm>
          <a:prstGeom prst="line">
            <a:avLst/>
          </a:prstGeom>
          <a:noFill/>
          <a:ln w="12700">
            <a:solidFill>
              <a:srgbClr val="C9C9CC"/>
            </a:solidFill>
            <a:prstDash val="solid"/>
          </a:ln>
        </p:spPr>
      </p:sp>
      <p:sp>
        <p:nvSpPr>
          <p:cNvPr id="19" name="connector"/>
          <p:cNvSpPr/>
          <p:nvPr/>
        </p:nvSpPr>
        <p:spPr>
          <a:xfrm>
            <a:off x="3657600" y="4389120"/>
            <a:ext cx="748798" cy="1739292"/>
          </a:xfrm>
          <a:prstGeom prst="line">
            <a:avLst/>
          </a:prstGeom>
          <a:noFill/>
          <a:ln w="12700">
            <a:solidFill>
              <a:srgbClr val="C9C9CC"/>
            </a:solidFill>
            <a:prstDash val="solid"/>
          </a:ln>
        </p:spPr>
      </p:sp>
      <p:sp>
        <p:nvSpPr>
          <p:cNvPr id="20" name="connector"/>
          <p:cNvSpPr/>
          <p:nvPr/>
        </p:nvSpPr>
        <p:spPr>
          <a:xfrm flipH="1">
            <a:off x="2908802" y="4389120"/>
            <a:ext cx="748798" cy="1739292"/>
          </a:xfrm>
          <a:prstGeom prst="line">
            <a:avLst/>
          </a:prstGeom>
          <a:noFill/>
          <a:ln w="12700">
            <a:solidFill>
              <a:srgbClr val="C9C9CC"/>
            </a:solidFill>
            <a:prstDash val="solid"/>
          </a:ln>
        </p:spPr>
      </p:sp>
      <p:sp>
        <p:nvSpPr>
          <p:cNvPr id="21" name="connector"/>
          <p:cNvSpPr/>
          <p:nvPr/>
        </p:nvSpPr>
        <p:spPr>
          <a:xfrm flipH="1">
            <a:off x="1697222" y="4389120"/>
            <a:ext cx="1960378" cy="1074942"/>
          </a:xfrm>
          <a:prstGeom prst="line">
            <a:avLst/>
          </a:prstGeom>
          <a:noFill/>
          <a:ln w="12700">
            <a:solidFill>
              <a:srgbClr val="C9C9CC"/>
            </a:solidFill>
            <a:prstDash val="solid"/>
          </a:ln>
        </p:spPr>
      </p:sp>
      <p:sp>
        <p:nvSpPr>
          <p:cNvPr id="22" name="connector"/>
          <p:cNvSpPr/>
          <p:nvPr/>
        </p:nvSpPr>
        <p:spPr>
          <a:xfrm flipH="1">
            <a:off x="1234440" y="4389120"/>
            <a:ext cx="2423160" cy="0"/>
          </a:xfrm>
          <a:prstGeom prst="line">
            <a:avLst/>
          </a:prstGeom>
          <a:noFill/>
          <a:ln w="12700">
            <a:solidFill>
              <a:srgbClr val="C9C9CC"/>
            </a:solidFill>
            <a:prstDash val="solid"/>
          </a:ln>
        </p:spPr>
      </p:sp>
      <p:sp>
        <p:nvSpPr>
          <p:cNvPr id="23" name="connector"/>
          <p:cNvSpPr/>
          <p:nvPr/>
        </p:nvSpPr>
        <p:spPr>
          <a:xfrm>
            <a:off x="1697222" y="3314178"/>
            <a:ext cx="1960378" cy="1074942"/>
          </a:xfrm>
          <a:prstGeom prst="line">
            <a:avLst/>
          </a:prstGeom>
          <a:noFill/>
          <a:ln w="12700">
            <a:solidFill>
              <a:srgbClr val="C9C9CC"/>
            </a:solidFill>
            <a:prstDash val="solid"/>
          </a:ln>
        </p:spPr>
      </p:sp>
      <p:sp>
        <p:nvSpPr>
          <p:cNvPr id="24" name="connector"/>
          <p:cNvSpPr/>
          <p:nvPr/>
        </p:nvSpPr>
        <p:spPr>
          <a:xfrm>
            <a:off x="2908802" y="2649828"/>
            <a:ext cx="748798" cy="1739292"/>
          </a:xfrm>
          <a:prstGeom prst="line">
            <a:avLst/>
          </a:prstGeom>
          <a:noFill/>
          <a:ln w="12700">
            <a:solidFill>
              <a:srgbClr val="C9C9CC"/>
            </a:solidFill>
            <a:prstDash val="solid"/>
          </a:ln>
        </p:spPr>
      </p:sp>
      <p:sp>
        <p:nvSpPr>
          <p:cNvPr id="25" name="pusat"/>
          <p:cNvSpPr/>
          <p:nvPr/>
        </p:nvSpPr>
        <p:spPr>
          <a:xfrm>
            <a:off x="2880360" y="3694176"/>
            <a:ext cx="1554480" cy="1389888"/>
          </a:xfrm>
          <a:prstGeom prst="hexagon">
            <a:avLst/>
          </a:prstGeom>
          <a:solidFill>
            <a:srgbClr val="141417"/>
          </a:solidFill>
          <a:ln w="6350">
            <a:solidFill>
              <a:srgbClr val="141417"/>
            </a:solidFill>
            <a:prstDash val="solid"/>
          </a:ln>
        </p:spPr>
      </p:sp>
      <p:sp>
        <p:nvSpPr>
          <p:cNvPr id="26" name="text"/>
          <p:cNvSpPr txBox="1"/>
          <p:nvPr/>
        </p:nvSpPr>
        <p:spPr>
          <a:xfrm>
            <a:off x="3054096" y="3913632"/>
            <a:ext cx="1207008" cy="950976"/>
          </a:xfrm>
          <a:prstGeom prst="rect">
            <a:avLst/>
          </a:prstGeom>
          <a:noFill/>
          <a:ln/>
        </p:spPr>
        <p:txBody>
          <a:bodyPr wrap="square" lIns="0" tIns="0" rIns="0" bIns="0" rtlCol="0" anchor="ctr"/>
          <a:lstStyle/>
          <a:p>
            <a:pPr algn="ctr" indent="0" marL="0">
              <a:lnSpc>
                <a:spcPct val="110000"/>
              </a:lnSpc>
              <a:buNone/>
            </a:pPr>
            <a:r>
              <a:rPr lang="en-US" sz="1000" dirty="0">
                <a:solidFill>
                  <a:srgbClr val="D4FC00"/>
                </a:solidFill>
                <a:latin typeface="Outfit Medium" pitchFamily="34" charset="0"/>
                <a:ea typeface="Outfit Medium" pitchFamily="34" charset="-122"/>
                <a:cs typeface="Outfit Medium" pitchFamily="34" charset="-120"/>
              </a:rPr>
              <a:t>The Action Agenda for Executing Strategy</a:t>
            </a:r>
            <a:endParaRPr lang="en-US" sz="1000" dirty="0"/>
          </a:p>
        </p:txBody>
      </p:sp>
      <p:sp>
        <p:nvSpPr>
          <p:cNvPr id="27" name="card"/>
          <p:cNvSpPr/>
          <p:nvPr/>
        </p:nvSpPr>
        <p:spPr>
          <a:xfrm>
            <a:off x="3674878" y="2366364"/>
            <a:ext cx="1463040" cy="566928"/>
          </a:xfrm>
          <a:prstGeom prst="roundRect">
            <a:avLst>
              <a:gd name="adj" fmla="val 19355"/>
            </a:avLst>
          </a:prstGeom>
          <a:solidFill>
            <a:srgbClr val="D4FC00"/>
          </a:solidFill>
          <a:ln w="6350">
            <a:solidFill>
              <a:srgbClr val="D4FC00"/>
            </a:solidFill>
            <a:prstDash val="solid"/>
          </a:ln>
        </p:spPr>
      </p:sp>
      <p:sp>
        <p:nvSpPr>
          <p:cNvPr id="28" name="text"/>
          <p:cNvSpPr txBox="1"/>
          <p:nvPr/>
        </p:nvSpPr>
        <p:spPr>
          <a:xfrm>
            <a:off x="3802894" y="2366364"/>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1</a:t>
            </a:r>
            <a:endParaRPr lang="en-US" sz="1200" dirty="0"/>
          </a:p>
        </p:txBody>
      </p:sp>
      <p:sp>
        <p:nvSpPr>
          <p:cNvPr id="29" name="text"/>
          <p:cNvSpPr txBox="1"/>
          <p:nvPr/>
        </p:nvSpPr>
        <p:spPr>
          <a:xfrm>
            <a:off x="4095502" y="2366364"/>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Staffing</a:t>
            </a:r>
            <a:endParaRPr lang="en-US" sz="1050" dirty="0"/>
          </a:p>
        </p:txBody>
      </p:sp>
      <p:sp>
        <p:nvSpPr>
          <p:cNvPr id="30" name="card"/>
          <p:cNvSpPr/>
          <p:nvPr/>
        </p:nvSpPr>
        <p:spPr>
          <a:xfrm>
            <a:off x="4886458" y="3030714"/>
            <a:ext cx="1463040" cy="566928"/>
          </a:xfrm>
          <a:prstGeom prst="roundRect">
            <a:avLst>
              <a:gd name="adj" fmla="val 19355"/>
            </a:avLst>
          </a:prstGeom>
          <a:solidFill>
            <a:srgbClr val="D4FC00"/>
          </a:solidFill>
          <a:ln w="6350">
            <a:solidFill>
              <a:srgbClr val="D4FC00"/>
            </a:solidFill>
            <a:prstDash val="solid"/>
          </a:ln>
        </p:spPr>
      </p:sp>
      <p:sp>
        <p:nvSpPr>
          <p:cNvPr id="31" name="text"/>
          <p:cNvSpPr txBox="1"/>
          <p:nvPr/>
        </p:nvSpPr>
        <p:spPr>
          <a:xfrm>
            <a:off x="5014474" y="3030714"/>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2</a:t>
            </a:r>
            <a:endParaRPr lang="en-US" sz="1200" dirty="0"/>
          </a:p>
        </p:txBody>
      </p:sp>
      <p:sp>
        <p:nvSpPr>
          <p:cNvPr id="32" name="text"/>
          <p:cNvSpPr txBox="1"/>
          <p:nvPr/>
        </p:nvSpPr>
        <p:spPr>
          <a:xfrm>
            <a:off x="5307082" y="3030714"/>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Resources dan capabilities</a:t>
            </a:r>
            <a:endParaRPr lang="en-US" sz="1050" dirty="0"/>
          </a:p>
        </p:txBody>
      </p:sp>
      <p:sp>
        <p:nvSpPr>
          <p:cNvPr id="33" name="card"/>
          <p:cNvSpPr/>
          <p:nvPr/>
        </p:nvSpPr>
        <p:spPr>
          <a:xfrm>
            <a:off x="5349240" y="4105656"/>
            <a:ext cx="1463040" cy="566928"/>
          </a:xfrm>
          <a:prstGeom prst="roundRect">
            <a:avLst>
              <a:gd name="adj" fmla="val 19355"/>
            </a:avLst>
          </a:prstGeom>
          <a:solidFill>
            <a:srgbClr val="D4FC00"/>
          </a:solidFill>
          <a:ln w="6350">
            <a:solidFill>
              <a:srgbClr val="D4FC00"/>
            </a:solidFill>
            <a:prstDash val="solid"/>
          </a:ln>
        </p:spPr>
      </p:sp>
      <p:sp>
        <p:nvSpPr>
          <p:cNvPr id="34" name="text"/>
          <p:cNvSpPr txBox="1"/>
          <p:nvPr/>
        </p:nvSpPr>
        <p:spPr>
          <a:xfrm>
            <a:off x="5477256" y="4105656"/>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3</a:t>
            </a:r>
            <a:endParaRPr lang="en-US" sz="1200" dirty="0"/>
          </a:p>
        </p:txBody>
      </p:sp>
      <p:sp>
        <p:nvSpPr>
          <p:cNvPr id="35" name="text"/>
          <p:cNvSpPr txBox="1"/>
          <p:nvPr/>
        </p:nvSpPr>
        <p:spPr>
          <a:xfrm>
            <a:off x="5769864" y="4105656"/>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Structure</a:t>
            </a:r>
            <a:endParaRPr lang="en-US" sz="1050" dirty="0"/>
          </a:p>
        </p:txBody>
      </p:sp>
      <p:sp>
        <p:nvSpPr>
          <p:cNvPr id="36" name="card"/>
          <p:cNvSpPr/>
          <p:nvPr/>
        </p:nvSpPr>
        <p:spPr>
          <a:xfrm>
            <a:off x="4886458" y="5180598"/>
            <a:ext cx="1463040" cy="566928"/>
          </a:xfrm>
          <a:prstGeom prst="roundRect">
            <a:avLst>
              <a:gd name="adj" fmla="val 19355"/>
            </a:avLst>
          </a:prstGeom>
          <a:solidFill>
            <a:srgbClr val="E8E8E8"/>
          </a:solidFill>
          <a:ln w="6350">
            <a:solidFill>
              <a:srgbClr val="E8E8E8"/>
            </a:solidFill>
            <a:prstDash val="solid"/>
          </a:ln>
        </p:spPr>
      </p:sp>
      <p:sp>
        <p:nvSpPr>
          <p:cNvPr id="37" name="text"/>
          <p:cNvSpPr txBox="1"/>
          <p:nvPr/>
        </p:nvSpPr>
        <p:spPr>
          <a:xfrm>
            <a:off x="5014474" y="5180598"/>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4</a:t>
            </a:r>
            <a:endParaRPr lang="en-US" sz="1200" dirty="0"/>
          </a:p>
        </p:txBody>
      </p:sp>
      <p:sp>
        <p:nvSpPr>
          <p:cNvPr id="38" name="text"/>
          <p:cNvSpPr txBox="1"/>
          <p:nvPr/>
        </p:nvSpPr>
        <p:spPr>
          <a:xfrm>
            <a:off x="5307082" y="5180598"/>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Allocating resources</a:t>
            </a:r>
            <a:endParaRPr lang="en-US" sz="1050" dirty="0"/>
          </a:p>
        </p:txBody>
      </p:sp>
      <p:sp>
        <p:nvSpPr>
          <p:cNvPr id="39" name="card"/>
          <p:cNvSpPr/>
          <p:nvPr/>
        </p:nvSpPr>
        <p:spPr>
          <a:xfrm>
            <a:off x="3674878" y="5844948"/>
            <a:ext cx="1463040" cy="566928"/>
          </a:xfrm>
          <a:prstGeom prst="roundRect">
            <a:avLst>
              <a:gd name="adj" fmla="val 19355"/>
            </a:avLst>
          </a:prstGeom>
          <a:solidFill>
            <a:srgbClr val="E8E8E8"/>
          </a:solidFill>
          <a:ln w="6350">
            <a:solidFill>
              <a:srgbClr val="E8E8E8"/>
            </a:solidFill>
            <a:prstDash val="solid"/>
          </a:ln>
        </p:spPr>
      </p:sp>
      <p:sp>
        <p:nvSpPr>
          <p:cNvPr id="40" name="text"/>
          <p:cNvSpPr txBox="1"/>
          <p:nvPr/>
        </p:nvSpPr>
        <p:spPr>
          <a:xfrm>
            <a:off x="3802894" y="5844948"/>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5</a:t>
            </a:r>
            <a:endParaRPr lang="en-US" sz="1200" dirty="0"/>
          </a:p>
        </p:txBody>
      </p:sp>
      <p:sp>
        <p:nvSpPr>
          <p:cNvPr id="41" name="text"/>
          <p:cNvSpPr txBox="1"/>
          <p:nvPr/>
        </p:nvSpPr>
        <p:spPr>
          <a:xfrm>
            <a:off x="4095502" y="5844948"/>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Policies dan procedures</a:t>
            </a:r>
            <a:endParaRPr lang="en-US" sz="1050" dirty="0"/>
          </a:p>
        </p:txBody>
      </p:sp>
      <p:sp>
        <p:nvSpPr>
          <p:cNvPr id="42" name="card"/>
          <p:cNvSpPr/>
          <p:nvPr/>
        </p:nvSpPr>
        <p:spPr>
          <a:xfrm>
            <a:off x="2177282" y="5844948"/>
            <a:ext cx="1463040" cy="566928"/>
          </a:xfrm>
          <a:prstGeom prst="roundRect">
            <a:avLst>
              <a:gd name="adj" fmla="val 19355"/>
            </a:avLst>
          </a:prstGeom>
          <a:solidFill>
            <a:srgbClr val="E8E8E8"/>
          </a:solidFill>
          <a:ln w="6350">
            <a:solidFill>
              <a:srgbClr val="E8E8E8"/>
            </a:solidFill>
            <a:prstDash val="solid"/>
          </a:ln>
        </p:spPr>
      </p:sp>
      <p:sp>
        <p:nvSpPr>
          <p:cNvPr id="43" name="text"/>
          <p:cNvSpPr txBox="1"/>
          <p:nvPr/>
        </p:nvSpPr>
        <p:spPr>
          <a:xfrm>
            <a:off x="2305298" y="5844948"/>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6</a:t>
            </a:r>
            <a:endParaRPr lang="en-US" sz="1200" dirty="0"/>
          </a:p>
        </p:txBody>
      </p:sp>
      <p:sp>
        <p:nvSpPr>
          <p:cNvPr id="44" name="text"/>
          <p:cNvSpPr txBox="1"/>
          <p:nvPr/>
        </p:nvSpPr>
        <p:spPr>
          <a:xfrm>
            <a:off x="2597906" y="5844948"/>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Continuous improvement</a:t>
            </a:r>
            <a:endParaRPr lang="en-US" sz="1050" dirty="0"/>
          </a:p>
        </p:txBody>
      </p:sp>
      <p:sp>
        <p:nvSpPr>
          <p:cNvPr id="45" name="card"/>
          <p:cNvSpPr/>
          <p:nvPr/>
        </p:nvSpPr>
        <p:spPr>
          <a:xfrm>
            <a:off x="965702" y="5180598"/>
            <a:ext cx="1463040" cy="566928"/>
          </a:xfrm>
          <a:prstGeom prst="roundRect">
            <a:avLst>
              <a:gd name="adj" fmla="val 19355"/>
            </a:avLst>
          </a:prstGeom>
          <a:solidFill>
            <a:srgbClr val="E8E8E8"/>
          </a:solidFill>
          <a:ln w="6350">
            <a:solidFill>
              <a:srgbClr val="E8E8E8"/>
            </a:solidFill>
            <a:prstDash val="solid"/>
          </a:ln>
        </p:spPr>
      </p:sp>
      <p:sp>
        <p:nvSpPr>
          <p:cNvPr id="46" name="text"/>
          <p:cNvSpPr txBox="1"/>
          <p:nvPr/>
        </p:nvSpPr>
        <p:spPr>
          <a:xfrm>
            <a:off x="1093718" y="5180598"/>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7</a:t>
            </a:r>
            <a:endParaRPr lang="en-US" sz="1200" dirty="0"/>
          </a:p>
        </p:txBody>
      </p:sp>
      <p:sp>
        <p:nvSpPr>
          <p:cNvPr id="47" name="text"/>
          <p:cNvSpPr txBox="1"/>
          <p:nvPr/>
        </p:nvSpPr>
        <p:spPr>
          <a:xfrm>
            <a:off x="1386326" y="5180598"/>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Information systems</a:t>
            </a:r>
            <a:endParaRPr lang="en-US" sz="1050" dirty="0"/>
          </a:p>
        </p:txBody>
      </p:sp>
      <p:sp>
        <p:nvSpPr>
          <p:cNvPr id="48" name="card"/>
          <p:cNvSpPr/>
          <p:nvPr/>
        </p:nvSpPr>
        <p:spPr>
          <a:xfrm>
            <a:off x="502920" y="4105656"/>
            <a:ext cx="1463040" cy="566928"/>
          </a:xfrm>
          <a:prstGeom prst="roundRect">
            <a:avLst>
              <a:gd name="adj" fmla="val 19355"/>
            </a:avLst>
          </a:prstGeom>
          <a:solidFill>
            <a:srgbClr val="E8E8E8"/>
          </a:solidFill>
          <a:ln w="6350">
            <a:solidFill>
              <a:srgbClr val="E8E8E8"/>
            </a:solidFill>
            <a:prstDash val="solid"/>
          </a:ln>
        </p:spPr>
      </p:sp>
      <p:sp>
        <p:nvSpPr>
          <p:cNvPr id="49" name="text"/>
          <p:cNvSpPr txBox="1"/>
          <p:nvPr/>
        </p:nvSpPr>
        <p:spPr>
          <a:xfrm>
            <a:off x="630936" y="4105656"/>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Medium" pitchFamily="34" charset="0"/>
                <a:ea typeface="Outfit Medium" pitchFamily="34" charset="-122"/>
                <a:cs typeface="Outfit Medium" pitchFamily="34" charset="-120"/>
              </a:rPr>
              <a:t>8</a:t>
            </a:r>
            <a:endParaRPr lang="en-US" sz="1200" dirty="0"/>
          </a:p>
        </p:txBody>
      </p:sp>
      <p:sp>
        <p:nvSpPr>
          <p:cNvPr id="50" name="text"/>
          <p:cNvSpPr txBox="1"/>
          <p:nvPr/>
        </p:nvSpPr>
        <p:spPr>
          <a:xfrm>
            <a:off x="923544" y="4105656"/>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1A1A1C"/>
                </a:solidFill>
                <a:latin typeface="Outfit" pitchFamily="34" charset="0"/>
                <a:ea typeface="Outfit" pitchFamily="34" charset="-122"/>
                <a:cs typeface="Outfit" pitchFamily="34" charset="-120"/>
              </a:rPr>
              <a:t>Rewards</a:t>
            </a:r>
            <a:endParaRPr lang="en-US" sz="1050" dirty="0"/>
          </a:p>
        </p:txBody>
      </p:sp>
      <p:sp>
        <p:nvSpPr>
          <p:cNvPr id="51" name="card"/>
          <p:cNvSpPr/>
          <p:nvPr/>
        </p:nvSpPr>
        <p:spPr>
          <a:xfrm>
            <a:off x="965702" y="3030714"/>
            <a:ext cx="1463040" cy="566928"/>
          </a:xfrm>
          <a:prstGeom prst="roundRect">
            <a:avLst>
              <a:gd name="adj" fmla="val 19355"/>
            </a:avLst>
          </a:prstGeom>
          <a:solidFill>
            <a:srgbClr val="141417"/>
          </a:solidFill>
          <a:ln w="6350">
            <a:solidFill>
              <a:srgbClr val="141417"/>
            </a:solidFill>
            <a:prstDash val="solid"/>
          </a:ln>
        </p:spPr>
      </p:sp>
      <p:sp>
        <p:nvSpPr>
          <p:cNvPr id="52" name="text"/>
          <p:cNvSpPr txBox="1"/>
          <p:nvPr/>
        </p:nvSpPr>
        <p:spPr>
          <a:xfrm>
            <a:off x="1093718" y="3030714"/>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D4FC00"/>
                </a:solidFill>
                <a:latin typeface="Outfit Medium" pitchFamily="34" charset="0"/>
                <a:ea typeface="Outfit Medium" pitchFamily="34" charset="-122"/>
                <a:cs typeface="Outfit Medium" pitchFamily="34" charset="-120"/>
              </a:rPr>
              <a:t>9</a:t>
            </a:r>
            <a:endParaRPr lang="en-US" sz="1200" dirty="0"/>
          </a:p>
        </p:txBody>
      </p:sp>
      <p:sp>
        <p:nvSpPr>
          <p:cNvPr id="53" name="text"/>
          <p:cNvSpPr txBox="1"/>
          <p:nvPr/>
        </p:nvSpPr>
        <p:spPr>
          <a:xfrm>
            <a:off x="1386326" y="3030714"/>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Outfit" pitchFamily="34" charset="0"/>
                <a:ea typeface="Outfit" pitchFamily="34" charset="-122"/>
                <a:cs typeface="Outfit" pitchFamily="34" charset="-120"/>
              </a:rPr>
              <a:t>Corporate culture</a:t>
            </a:r>
            <a:endParaRPr lang="en-US" sz="1050" dirty="0"/>
          </a:p>
        </p:txBody>
      </p:sp>
      <p:sp>
        <p:nvSpPr>
          <p:cNvPr id="54" name="card"/>
          <p:cNvSpPr/>
          <p:nvPr/>
        </p:nvSpPr>
        <p:spPr>
          <a:xfrm>
            <a:off x="2177282" y="2366364"/>
            <a:ext cx="1463040" cy="566928"/>
          </a:xfrm>
          <a:prstGeom prst="roundRect">
            <a:avLst>
              <a:gd name="adj" fmla="val 19355"/>
            </a:avLst>
          </a:prstGeom>
          <a:solidFill>
            <a:srgbClr val="141417"/>
          </a:solidFill>
          <a:ln w="6350">
            <a:solidFill>
              <a:srgbClr val="141417"/>
            </a:solidFill>
            <a:prstDash val="solid"/>
          </a:ln>
        </p:spPr>
      </p:sp>
      <p:sp>
        <p:nvSpPr>
          <p:cNvPr id="55" name="text"/>
          <p:cNvSpPr txBox="1"/>
          <p:nvPr/>
        </p:nvSpPr>
        <p:spPr>
          <a:xfrm>
            <a:off x="2305298" y="2366364"/>
            <a:ext cx="310896" cy="566928"/>
          </a:xfrm>
          <a:prstGeom prst="rect">
            <a:avLst/>
          </a:prstGeom>
          <a:noFill/>
          <a:ln/>
        </p:spPr>
        <p:txBody>
          <a:bodyPr wrap="square" lIns="0" tIns="0" rIns="0" bIns="0" rtlCol="0" anchor="ctr"/>
          <a:lstStyle/>
          <a:p>
            <a:pPr algn="l" indent="0" marL="0">
              <a:lnSpc>
                <a:spcPct val="110000"/>
              </a:lnSpc>
              <a:buNone/>
            </a:pPr>
            <a:r>
              <a:rPr lang="en-US" sz="1200" dirty="0">
                <a:solidFill>
                  <a:srgbClr val="D4FC00"/>
                </a:solidFill>
                <a:latin typeface="Outfit Medium" pitchFamily="34" charset="0"/>
                <a:ea typeface="Outfit Medium" pitchFamily="34" charset="-122"/>
                <a:cs typeface="Outfit Medium" pitchFamily="34" charset="-120"/>
              </a:rPr>
              <a:t>10</a:t>
            </a:r>
            <a:endParaRPr lang="en-US" sz="1200" dirty="0"/>
          </a:p>
        </p:txBody>
      </p:sp>
      <p:sp>
        <p:nvSpPr>
          <p:cNvPr id="56" name="text"/>
          <p:cNvSpPr txBox="1"/>
          <p:nvPr/>
        </p:nvSpPr>
        <p:spPr>
          <a:xfrm>
            <a:off x="2597906" y="2366364"/>
            <a:ext cx="987552" cy="566928"/>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Outfit" pitchFamily="34" charset="0"/>
                <a:ea typeface="Outfit" pitchFamily="34" charset="-122"/>
                <a:cs typeface="Outfit" pitchFamily="34" charset="-120"/>
              </a:rPr>
              <a:t>Leadership</a:t>
            </a:r>
            <a:endParaRPr lang="en-US" sz="1050" dirty="0"/>
          </a:p>
        </p:txBody>
      </p:sp>
      <p:pic>
        <p:nvPicPr>
          <p:cNvPr id="57" name="Tangan menata kartu kertas" descr="preencoded.png">    </p:cNvPr>
          <p:cNvPicPr>
            <a:picLocks noChangeAspect="1"/>
          </p:cNvPicPr>
          <p:nvPr/>
        </p:nvPicPr>
        <p:blipFill>
          <a:blip r:embed="rId1"/>
          <a:stretch>
            <a:fillRect/>
          </a:stretch>
        </p:blipFill>
        <p:spPr>
          <a:xfrm>
            <a:off x="6903720" y="914400"/>
            <a:ext cx="2514600" cy="6217920"/>
          </a:xfrm>
          <a:prstGeom prst="rect">
            <a:avLst/>
          </a:prstGeom>
        </p:spPr>
      </p:pic>
      <p:sp>
        <p:nvSpPr>
          <p:cNvPr id="58" name="card"/>
          <p:cNvSpPr/>
          <p:nvPr/>
        </p:nvSpPr>
        <p:spPr>
          <a:xfrm>
            <a:off x="9692640" y="1051560"/>
            <a:ext cx="731520" cy="731520"/>
          </a:xfrm>
          <a:prstGeom prst="roundRect">
            <a:avLst>
              <a:gd name="adj" fmla="val 20000"/>
            </a:avLst>
          </a:prstGeom>
          <a:solidFill>
            <a:srgbClr val="141417"/>
          </a:solidFill>
          <a:ln w="6350">
            <a:solidFill>
              <a:srgbClr val="141417"/>
            </a:solidFill>
            <a:prstDash val="solid"/>
          </a:ln>
        </p:spPr>
      </p:sp>
      <p:pic>
        <p:nvPicPr>
          <p:cNvPr id="59" name="star" descr="preencoded.png">    </p:cNvPr>
          <p:cNvPicPr>
            <a:picLocks noChangeAspect="1"/>
          </p:cNvPicPr>
          <p:nvPr/>
        </p:nvPicPr>
        <p:blipFill>
          <a:blip r:embed="rId2"/>
          <a:stretch>
            <a:fillRect/>
          </a:stretch>
        </p:blipFill>
        <p:spPr>
          <a:xfrm>
            <a:off x="9875520" y="1234440"/>
            <a:ext cx="365760" cy="365760"/>
          </a:xfrm>
          <a:prstGeom prst="rect">
            <a:avLst/>
          </a:prstGeom>
        </p:spPr>
      </p:pic>
      <p:sp>
        <p:nvSpPr>
          <p:cNvPr id="60" name="pill"/>
          <p:cNvSpPr/>
          <p:nvPr/>
        </p:nvSpPr>
        <p:spPr>
          <a:xfrm>
            <a:off x="9509760" y="3611880"/>
            <a:ext cx="2194560" cy="384048"/>
          </a:xfrm>
          <a:prstGeom prst="roundRect">
            <a:avLst>
              <a:gd name="adj" fmla="val 119048"/>
            </a:avLst>
          </a:prstGeom>
          <a:solidFill>
            <a:srgbClr val="141417"/>
          </a:solidFill>
          <a:ln w="9525">
            <a:solidFill>
              <a:srgbClr val="141417"/>
            </a:solidFill>
            <a:prstDash val="solid"/>
          </a:ln>
        </p:spPr>
      </p:sp>
      <p:sp>
        <p:nvSpPr>
          <p:cNvPr id="61" name="text"/>
          <p:cNvSpPr txBox="1"/>
          <p:nvPr/>
        </p:nvSpPr>
        <p:spPr>
          <a:xfrm>
            <a:off x="9619488" y="3611880"/>
            <a:ext cx="197510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D4FC00"/>
                </a:solidFill>
                <a:latin typeface="Outfit" pitchFamily="34" charset="0"/>
                <a:ea typeface="Outfit" pitchFamily="34" charset="-122"/>
                <a:cs typeface="Outfit" pitchFamily="34" charset="-120"/>
              </a:rPr>
              <a:t>BAB 10 · TUGAS 1 SAMPAI 3</a:t>
            </a:r>
            <a:endParaRPr lang="en-US" sz="1050" dirty="0"/>
          </a:p>
        </p:txBody>
      </p:sp>
      <p:sp>
        <p:nvSpPr>
          <p:cNvPr id="62" name="pill"/>
          <p:cNvSpPr/>
          <p:nvPr/>
        </p:nvSpPr>
        <p:spPr>
          <a:xfrm>
            <a:off x="9509760" y="4105656"/>
            <a:ext cx="2194560" cy="384048"/>
          </a:xfrm>
          <a:prstGeom prst="roundRect">
            <a:avLst>
              <a:gd name="adj" fmla="val 119048"/>
            </a:avLst>
          </a:prstGeom>
          <a:solidFill>
            <a:srgbClr val="D4FC00"/>
          </a:solidFill>
          <a:ln w="9525">
            <a:solidFill>
              <a:srgbClr val="141417"/>
            </a:solidFill>
            <a:prstDash val="solid"/>
          </a:ln>
        </p:spPr>
      </p:sp>
      <p:sp>
        <p:nvSpPr>
          <p:cNvPr id="63" name="text"/>
          <p:cNvSpPr txBox="1"/>
          <p:nvPr/>
        </p:nvSpPr>
        <p:spPr>
          <a:xfrm>
            <a:off x="9619488" y="4105656"/>
            <a:ext cx="197510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BAB 11 · TUGAS 4 SAMPAI 8</a:t>
            </a:r>
            <a:endParaRPr lang="en-US" sz="1050" dirty="0"/>
          </a:p>
        </p:txBody>
      </p:sp>
      <p:sp>
        <p:nvSpPr>
          <p:cNvPr id="64" name="pill"/>
          <p:cNvSpPr/>
          <p:nvPr/>
        </p:nvSpPr>
        <p:spPr>
          <a:xfrm>
            <a:off x="9509760" y="4599432"/>
            <a:ext cx="2194560" cy="384048"/>
          </a:xfrm>
          <a:prstGeom prst="roundRect">
            <a:avLst>
              <a:gd name="adj" fmla="val 119048"/>
            </a:avLst>
          </a:prstGeom>
          <a:solidFill>
            <a:srgbClr val="D4FC00"/>
          </a:solidFill>
          <a:ln w="9525">
            <a:solidFill>
              <a:srgbClr val="141417"/>
            </a:solidFill>
            <a:prstDash val="solid"/>
          </a:ln>
        </p:spPr>
      </p:sp>
      <p:sp>
        <p:nvSpPr>
          <p:cNvPr id="65" name="text"/>
          <p:cNvSpPr txBox="1"/>
          <p:nvPr/>
        </p:nvSpPr>
        <p:spPr>
          <a:xfrm>
            <a:off x="9619488" y="4599432"/>
            <a:ext cx="197510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BAB 12 · TUGAS 9 DAN 10</a:t>
            </a:r>
            <a:endParaRPr lang="en-US" sz="10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6766560" cy="155448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TIGA AKSI KUNCI MEMBANGUN ORGANISASI YANG MAMPU</a:t>
            </a:r>
            <a:endParaRPr lang="en-US" sz="3400" dirty="0"/>
          </a:p>
        </p:txBody>
      </p:sp>
      <p:sp>
        <p:nvSpPr>
          <p:cNvPr id="8" name="text"/>
          <p:cNvSpPr txBox="1"/>
          <p:nvPr/>
        </p:nvSpPr>
        <p:spPr>
          <a:xfrm>
            <a:off x="7863840" y="914400"/>
            <a:ext cx="3840480" cy="137160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Figure 10.2, digambar ulang. Aksi 1 dan 2 menghasilkan capability, aksi 3 menghasilkan struktur; keduanya saling menopang.</a:t>
            </a:r>
            <a:endParaRPr lang="en-US" sz="1400" dirty="0"/>
          </a:p>
        </p:txBody>
      </p:sp>
      <p:sp>
        <p:nvSpPr>
          <p:cNvPr id="9" name="card"/>
          <p:cNvSpPr/>
          <p:nvPr/>
        </p:nvSpPr>
        <p:spPr>
          <a:xfrm>
            <a:off x="502920" y="2514600"/>
            <a:ext cx="6766560" cy="1188720"/>
          </a:xfrm>
          <a:prstGeom prst="roundRect">
            <a:avLst>
              <a:gd name="adj" fmla="val 15385"/>
            </a:avLst>
          </a:prstGeom>
          <a:solidFill>
            <a:srgbClr val="D4FC00"/>
          </a:solidFill>
          <a:ln w="6350">
            <a:solidFill>
              <a:srgbClr val="D4FC00"/>
            </a:solidFill>
            <a:prstDash val="solid"/>
          </a:ln>
        </p:spPr>
      </p:sp>
      <p:sp>
        <p:nvSpPr>
          <p:cNvPr id="10" name="text"/>
          <p:cNvSpPr txBox="1"/>
          <p:nvPr/>
        </p:nvSpPr>
        <p:spPr>
          <a:xfrm>
            <a:off x="777240" y="2743200"/>
            <a:ext cx="365760" cy="320040"/>
          </a:xfrm>
          <a:prstGeom prst="rect">
            <a:avLst/>
          </a:prstGeom>
          <a:noFill/>
          <a:ln/>
        </p:spPr>
        <p:txBody>
          <a:bodyPr wrap="square" lIns="0" tIns="0" rIns="0" bIns="0" rtlCol="0" anchor="t"/>
          <a:lstStyle/>
          <a:p>
            <a:pPr algn="l" indent="0" marL="0">
              <a:lnSpc>
                <a:spcPct val="110000"/>
              </a:lnSpc>
              <a:buNone/>
            </a:pPr>
            <a:r>
              <a:rPr lang="en-US" sz="1500" dirty="0">
                <a:solidFill>
                  <a:srgbClr val="1A1A1C"/>
                </a:solidFill>
                <a:latin typeface="Outfit Medium" pitchFamily="34" charset="0"/>
                <a:ea typeface="Outfit Medium" pitchFamily="34" charset="-122"/>
                <a:cs typeface="Outfit Medium" pitchFamily="34" charset="-120"/>
              </a:rPr>
              <a:t>1</a:t>
            </a:r>
            <a:endParaRPr lang="en-US" sz="1500" dirty="0"/>
          </a:p>
        </p:txBody>
      </p:sp>
      <p:sp>
        <p:nvSpPr>
          <p:cNvPr id="11" name="text"/>
          <p:cNvSpPr txBox="1"/>
          <p:nvPr/>
        </p:nvSpPr>
        <p:spPr>
          <a:xfrm>
            <a:off x="1188720" y="2770632"/>
            <a:ext cx="2240280" cy="77724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STAFFING THE ORGANIZATION</a:t>
            </a:r>
            <a:endParaRPr lang="en-US" sz="1200" dirty="0"/>
          </a:p>
        </p:txBody>
      </p:sp>
      <p:sp>
        <p:nvSpPr>
          <p:cNvPr id="12" name="text"/>
          <p:cNvSpPr txBox="1"/>
          <p:nvPr/>
        </p:nvSpPr>
        <p:spPr>
          <a:xfrm>
            <a:off x="3611880" y="2752344"/>
            <a:ext cx="2971800" cy="822960"/>
          </a:xfrm>
          <a:prstGeom prst="rect">
            <a:avLst/>
          </a:prstGeom>
          <a:noFill/>
          <a:ln/>
        </p:spPr>
        <p:txBody>
          <a:bodyPr wrap="square" lIns="0" tIns="0" rIns="0" bIns="0" rtlCol="0" anchor="t"/>
          <a:lstStyle/>
          <a:p>
            <a:pPr algn="l" indent="0" marL="0">
              <a:lnSpc>
                <a:spcPct val="108000"/>
              </a:lnSpc>
              <a:buNone/>
            </a:pPr>
            <a:r>
              <a:rPr lang="en-US" sz="1350" dirty="0">
                <a:solidFill>
                  <a:srgbClr val="1A1A1C"/>
                </a:solidFill>
                <a:latin typeface="Outfit" pitchFamily="34" charset="0"/>
                <a:ea typeface="Outfit" pitchFamily="34" charset="-122"/>
                <a:cs typeface="Outfit" pitchFamily="34" charset="-120"/>
              </a:rPr>
              <a:t>Tim manajemen yang kuat; merekrut, melatih, dan mempertahankan karyawan.</a:t>
            </a:r>
            <a:endParaRPr lang="en-US" sz="1350" dirty="0"/>
          </a:p>
        </p:txBody>
      </p:sp>
      <p:sp>
        <p:nvSpPr>
          <p:cNvPr id="13" name="dot"/>
          <p:cNvSpPr/>
          <p:nvPr/>
        </p:nvSpPr>
        <p:spPr>
          <a:xfrm>
            <a:off x="6702552" y="2971800"/>
            <a:ext cx="274320" cy="274320"/>
          </a:xfrm>
          <a:prstGeom prst="ellipse">
            <a:avLst/>
          </a:prstGeom>
          <a:solidFill>
            <a:srgbClr val="141417"/>
          </a:solidFill>
          <a:ln w="6350">
            <a:solidFill>
              <a:srgbClr val="141417"/>
            </a:solidFill>
            <a:prstDash val="solid"/>
          </a:ln>
        </p:spPr>
      </p:sp>
      <p:pic>
        <p:nvPicPr>
          <p:cNvPr id="14" name="dot-icon" descr="preencoded.png">    </p:cNvPr>
          <p:cNvPicPr>
            <a:picLocks noChangeAspect="1"/>
          </p:cNvPicPr>
          <p:nvPr/>
        </p:nvPicPr>
        <p:blipFill>
          <a:blip r:embed="rId1"/>
          <a:stretch>
            <a:fillRect/>
          </a:stretch>
        </p:blipFill>
        <p:spPr>
          <a:xfrm>
            <a:off x="6762902" y="3032150"/>
            <a:ext cx="153619" cy="153619"/>
          </a:xfrm>
          <a:prstGeom prst="rect">
            <a:avLst/>
          </a:prstGeom>
        </p:spPr>
      </p:pic>
      <p:sp>
        <p:nvSpPr>
          <p:cNvPr id="15" name="card"/>
          <p:cNvSpPr/>
          <p:nvPr/>
        </p:nvSpPr>
        <p:spPr>
          <a:xfrm>
            <a:off x="502920" y="3831336"/>
            <a:ext cx="6766560" cy="1188720"/>
          </a:xfrm>
          <a:prstGeom prst="roundRect">
            <a:avLst>
              <a:gd name="adj" fmla="val 15385"/>
            </a:avLst>
          </a:prstGeom>
          <a:solidFill>
            <a:srgbClr val="E8E8E8"/>
          </a:solidFill>
          <a:ln w="6350">
            <a:solidFill>
              <a:srgbClr val="E8E8E8"/>
            </a:solidFill>
            <a:prstDash val="solid"/>
          </a:ln>
        </p:spPr>
      </p:sp>
      <p:sp>
        <p:nvSpPr>
          <p:cNvPr id="16" name="text"/>
          <p:cNvSpPr txBox="1"/>
          <p:nvPr/>
        </p:nvSpPr>
        <p:spPr>
          <a:xfrm>
            <a:off x="777240" y="4059936"/>
            <a:ext cx="365760" cy="320040"/>
          </a:xfrm>
          <a:prstGeom prst="rect">
            <a:avLst/>
          </a:prstGeom>
          <a:noFill/>
          <a:ln/>
        </p:spPr>
        <p:txBody>
          <a:bodyPr wrap="square" lIns="0" tIns="0" rIns="0" bIns="0" rtlCol="0" anchor="t"/>
          <a:lstStyle/>
          <a:p>
            <a:pPr algn="l" indent="0" marL="0">
              <a:lnSpc>
                <a:spcPct val="110000"/>
              </a:lnSpc>
              <a:buNone/>
            </a:pPr>
            <a:r>
              <a:rPr lang="en-US" sz="1500" dirty="0">
                <a:solidFill>
                  <a:srgbClr val="1A1A1C"/>
                </a:solidFill>
                <a:latin typeface="Outfit Medium" pitchFamily="34" charset="0"/>
                <a:ea typeface="Outfit Medium" pitchFamily="34" charset="-122"/>
                <a:cs typeface="Outfit Medium" pitchFamily="34" charset="-120"/>
              </a:rPr>
              <a:t>2</a:t>
            </a:r>
            <a:endParaRPr lang="en-US" sz="1500" dirty="0"/>
          </a:p>
        </p:txBody>
      </p:sp>
      <p:sp>
        <p:nvSpPr>
          <p:cNvPr id="17" name="text"/>
          <p:cNvSpPr txBox="1"/>
          <p:nvPr/>
        </p:nvSpPr>
        <p:spPr>
          <a:xfrm>
            <a:off x="1188720" y="4087368"/>
            <a:ext cx="2240280" cy="77724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ACQUIRING, DEVELOPING, STRENGTHENING CAPABILITIES</a:t>
            </a:r>
            <a:endParaRPr lang="en-US" sz="1200" dirty="0"/>
          </a:p>
        </p:txBody>
      </p:sp>
      <p:sp>
        <p:nvSpPr>
          <p:cNvPr id="18" name="text"/>
          <p:cNvSpPr txBox="1"/>
          <p:nvPr/>
        </p:nvSpPr>
        <p:spPr>
          <a:xfrm>
            <a:off x="3611880" y="4069080"/>
            <a:ext cx="2971800" cy="822960"/>
          </a:xfrm>
          <a:prstGeom prst="rect">
            <a:avLst/>
          </a:prstGeom>
          <a:noFill/>
          <a:ln/>
        </p:spPr>
        <p:txBody>
          <a:bodyPr wrap="square" lIns="0" tIns="0" rIns="0" bIns="0" rtlCol="0" anchor="t"/>
          <a:lstStyle/>
          <a:p>
            <a:pPr algn="l" indent="0" marL="0">
              <a:lnSpc>
                <a:spcPct val="108000"/>
              </a:lnSpc>
              <a:buNone/>
            </a:pPr>
            <a:r>
              <a:rPr lang="en-US" sz="1350" dirty="0">
                <a:solidFill>
                  <a:srgbClr val="1A1A1C"/>
                </a:solidFill>
                <a:latin typeface="Outfit" pitchFamily="34" charset="0"/>
                <a:ea typeface="Outfit" pitchFamily="34" charset="-122"/>
                <a:cs typeface="Outfit" pitchFamily="34" charset="-120"/>
              </a:rPr>
              <a:t>Membangun capability yang sesuai strategi dan memperbaruinya saat kondisi berubah.</a:t>
            </a:r>
            <a:endParaRPr lang="en-US" sz="1350" dirty="0"/>
          </a:p>
        </p:txBody>
      </p:sp>
      <p:sp>
        <p:nvSpPr>
          <p:cNvPr id="19" name="dot"/>
          <p:cNvSpPr/>
          <p:nvPr/>
        </p:nvSpPr>
        <p:spPr>
          <a:xfrm>
            <a:off x="6702552" y="4288536"/>
            <a:ext cx="274320" cy="274320"/>
          </a:xfrm>
          <a:prstGeom prst="ellipse">
            <a:avLst/>
          </a:prstGeom>
          <a:solidFill>
            <a:srgbClr val="141417"/>
          </a:solidFill>
          <a:ln w="6350">
            <a:solidFill>
              <a:srgbClr val="141417"/>
            </a:solidFill>
            <a:prstDash val="solid"/>
          </a:ln>
        </p:spPr>
      </p:sp>
      <p:pic>
        <p:nvPicPr>
          <p:cNvPr id="20" name="dot-icon" descr="preencoded.png">    </p:cNvPr>
          <p:cNvPicPr>
            <a:picLocks noChangeAspect="1"/>
          </p:cNvPicPr>
          <p:nvPr/>
        </p:nvPicPr>
        <p:blipFill>
          <a:blip r:embed="rId2"/>
          <a:stretch>
            <a:fillRect/>
          </a:stretch>
        </p:blipFill>
        <p:spPr>
          <a:xfrm>
            <a:off x="6762902" y="4348886"/>
            <a:ext cx="153619" cy="153619"/>
          </a:xfrm>
          <a:prstGeom prst="rect">
            <a:avLst/>
          </a:prstGeom>
        </p:spPr>
      </p:pic>
      <p:sp>
        <p:nvSpPr>
          <p:cNvPr id="21" name="card"/>
          <p:cNvSpPr/>
          <p:nvPr/>
        </p:nvSpPr>
        <p:spPr>
          <a:xfrm>
            <a:off x="502920" y="5148072"/>
            <a:ext cx="6766560" cy="1188720"/>
          </a:xfrm>
          <a:prstGeom prst="roundRect">
            <a:avLst>
              <a:gd name="adj" fmla="val 15385"/>
            </a:avLst>
          </a:prstGeom>
          <a:solidFill>
            <a:srgbClr val="141417"/>
          </a:solidFill>
          <a:ln w="6350">
            <a:solidFill>
              <a:srgbClr val="141417"/>
            </a:solidFill>
            <a:prstDash val="solid"/>
          </a:ln>
        </p:spPr>
      </p:sp>
      <p:sp>
        <p:nvSpPr>
          <p:cNvPr id="22" name="text"/>
          <p:cNvSpPr txBox="1"/>
          <p:nvPr/>
        </p:nvSpPr>
        <p:spPr>
          <a:xfrm>
            <a:off x="777240" y="5376672"/>
            <a:ext cx="365760" cy="320040"/>
          </a:xfrm>
          <a:prstGeom prst="rect">
            <a:avLst/>
          </a:prstGeom>
          <a:noFill/>
          <a:ln/>
        </p:spPr>
        <p:txBody>
          <a:bodyPr wrap="square" lIns="0" tIns="0" rIns="0" bIns="0" rtlCol="0" anchor="t"/>
          <a:lstStyle/>
          <a:p>
            <a:pPr algn="l" indent="0" marL="0">
              <a:lnSpc>
                <a:spcPct val="110000"/>
              </a:lnSpc>
              <a:buNone/>
            </a:pPr>
            <a:r>
              <a:rPr lang="en-US" sz="1500" dirty="0">
                <a:solidFill>
                  <a:srgbClr val="D4FC00"/>
                </a:solidFill>
                <a:latin typeface="Outfit Medium" pitchFamily="34" charset="0"/>
                <a:ea typeface="Outfit Medium" pitchFamily="34" charset="-122"/>
                <a:cs typeface="Outfit Medium" pitchFamily="34" charset="-120"/>
              </a:rPr>
              <a:t>3</a:t>
            </a:r>
            <a:endParaRPr lang="en-US" sz="1500" dirty="0"/>
          </a:p>
        </p:txBody>
      </p:sp>
      <p:sp>
        <p:nvSpPr>
          <p:cNvPr id="23" name="text"/>
          <p:cNvSpPr txBox="1"/>
          <p:nvPr/>
        </p:nvSpPr>
        <p:spPr>
          <a:xfrm>
            <a:off x="1188720" y="5404104"/>
            <a:ext cx="2240280" cy="77724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STRUCTURING THE ORGANIZATION AND WORK EFFORT</a:t>
            </a:r>
            <a:endParaRPr lang="en-US" sz="1200" dirty="0"/>
          </a:p>
        </p:txBody>
      </p:sp>
      <p:sp>
        <p:nvSpPr>
          <p:cNvPr id="24" name="text"/>
          <p:cNvSpPr txBox="1"/>
          <p:nvPr/>
        </p:nvSpPr>
        <p:spPr>
          <a:xfrm>
            <a:off x="3611880" y="5385816"/>
            <a:ext cx="2971800" cy="822960"/>
          </a:xfrm>
          <a:prstGeom prst="rect">
            <a:avLst/>
          </a:prstGeom>
          <a:noFill/>
          <a:ln/>
        </p:spPr>
        <p:txBody>
          <a:bodyPr wrap="square" lIns="0" tIns="0" rIns="0" bIns="0" rtlCol="0" anchor="t"/>
          <a:lstStyle/>
          <a:p>
            <a:pPr algn="l" indent="0" marL="0">
              <a:lnSpc>
                <a:spcPct val="108000"/>
              </a:lnSpc>
              <a:buNone/>
            </a:pPr>
            <a:r>
              <a:rPr lang="en-US" sz="1350" dirty="0">
                <a:solidFill>
                  <a:srgbClr val="E4E4E7"/>
                </a:solidFill>
                <a:latin typeface="Outfit" pitchFamily="34" charset="0"/>
                <a:ea typeface="Outfit" pitchFamily="34" charset="-122"/>
                <a:cs typeface="Outfit" pitchFamily="34" charset="-120"/>
              </a:rPr>
              <a:t>Pengaturan organisasi, garis wewenang dan pelaporan, derajat delegasi.</a:t>
            </a:r>
            <a:endParaRPr lang="en-US" sz="1350" dirty="0"/>
          </a:p>
        </p:txBody>
      </p:sp>
      <p:sp>
        <p:nvSpPr>
          <p:cNvPr id="25" name="dot"/>
          <p:cNvSpPr/>
          <p:nvPr/>
        </p:nvSpPr>
        <p:spPr>
          <a:xfrm>
            <a:off x="6702552" y="5605272"/>
            <a:ext cx="274320" cy="274320"/>
          </a:xfrm>
          <a:prstGeom prst="ellipse">
            <a:avLst/>
          </a:prstGeom>
          <a:solidFill>
            <a:srgbClr val="D4FC00"/>
          </a:solidFill>
          <a:ln w="6350">
            <a:solidFill>
              <a:srgbClr val="D4FC00"/>
            </a:solidFill>
            <a:prstDash val="solid"/>
          </a:ln>
        </p:spPr>
      </p:sp>
      <p:pic>
        <p:nvPicPr>
          <p:cNvPr id="26" name="dot-icon" descr="preencoded.png">    </p:cNvPr>
          <p:cNvPicPr>
            <a:picLocks noChangeAspect="1"/>
          </p:cNvPicPr>
          <p:nvPr/>
        </p:nvPicPr>
        <p:blipFill>
          <a:blip r:embed="rId3"/>
          <a:stretch>
            <a:fillRect/>
          </a:stretch>
        </p:blipFill>
        <p:spPr>
          <a:xfrm>
            <a:off x="6762902" y="5665622"/>
            <a:ext cx="153619" cy="153619"/>
          </a:xfrm>
          <a:prstGeom prst="rect">
            <a:avLst/>
          </a:prstGeom>
        </p:spPr>
      </p:pic>
      <p:sp>
        <p:nvSpPr>
          <p:cNvPr id="27" name="card"/>
          <p:cNvSpPr/>
          <p:nvPr/>
        </p:nvSpPr>
        <p:spPr>
          <a:xfrm>
            <a:off x="7726680" y="2514600"/>
            <a:ext cx="3962095" cy="2505456"/>
          </a:xfrm>
          <a:prstGeom prst="roundRect">
            <a:avLst>
              <a:gd name="adj" fmla="val 7299"/>
            </a:avLst>
          </a:prstGeom>
          <a:solidFill>
            <a:srgbClr val="D4FC00"/>
          </a:solidFill>
          <a:ln w="6350">
            <a:solidFill>
              <a:srgbClr val="D4FC00"/>
            </a:solidFill>
            <a:prstDash val="solid"/>
          </a:ln>
        </p:spPr>
      </p:sp>
      <p:sp>
        <p:nvSpPr>
          <p:cNvPr id="28" name="text"/>
          <p:cNvSpPr txBox="1"/>
          <p:nvPr/>
        </p:nvSpPr>
        <p:spPr>
          <a:xfrm>
            <a:off x="8001000" y="2788920"/>
            <a:ext cx="3413455"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HASIL AKSI 1 DAN 2</a:t>
            </a:r>
            <a:endParaRPr lang="en-US" sz="1200" dirty="0"/>
          </a:p>
        </p:txBody>
      </p:sp>
      <p:sp>
        <p:nvSpPr>
          <p:cNvPr id="29" name="text"/>
          <p:cNvSpPr txBox="1"/>
          <p:nvPr/>
        </p:nvSpPr>
        <p:spPr>
          <a:xfrm>
            <a:off x="8001000" y="3154680"/>
            <a:ext cx="3413455" cy="1728216"/>
          </a:xfrm>
          <a:prstGeom prst="rect">
            <a:avLst/>
          </a:prstGeom>
          <a:noFill/>
          <a:ln/>
        </p:spPr>
        <p:txBody>
          <a:bodyPr wrap="square" lIns="0" tIns="0" rIns="0" bIns="0" rtlCol="0" anchor="t"/>
          <a:lstStyle/>
          <a:p>
            <a:pPr algn="l" indent="0" marL="0">
              <a:lnSpc>
                <a:spcPct val="102000"/>
              </a:lnSpc>
              <a:buNone/>
            </a:pPr>
            <a:r>
              <a:rPr lang="en-US" sz="1800" dirty="0">
                <a:solidFill>
                  <a:srgbClr val="141417"/>
                </a:solidFill>
                <a:latin typeface="Outfit Medium" pitchFamily="34" charset="0"/>
                <a:ea typeface="Outfit Medium" pitchFamily="34" charset="-122"/>
                <a:cs typeface="Outfit Medium" pitchFamily="34" charset="-120"/>
              </a:rPr>
              <a:t>Strategy-supportive resources and organizational capabilities</a:t>
            </a:r>
            <a:endParaRPr lang="en-US" sz="1800" dirty="0"/>
          </a:p>
        </p:txBody>
      </p:sp>
      <p:sp>
        <p:nvSpPr>
          <p:cNvPr id="30" name="card"/>
          <p:cNvSpPr/>
          <p:nvPr/>
        </p:nvSpPr>
        <p:spPr>
          <a:xfrm>
            <a:off x="7726680" y="5148072"/>
            <a:ext cx="3962095" cy="1188720"/>
          </a:xfrm>
          <a:prstGeom prst="roundRect">
            <a:avLst>
              <a:gd name="adj" fmla="val 15385"/>
            </a:avLst>
          </a:prstGeom>
          <a:solidFill>
            <a:srgbClr val="141417"/>
          </a:solidFill>
          <a:ln w="6350">
            <a:solidFill>
              <a:srgbClr val="141417"/>
            </a:solidFill>
            <a:prstDash val="solid"/>
          </a:ln>
        </p:spPr>
      </p:sp>
      <p:sp>
        <p:nvSpPr>
          <p:cNvPr id="31" name="text"/>
          <p:cNvSpPr txBox="1"/>
          <p:nvPr/>
        </p:nvSpPr>
        <p:spPr>
          <a:xfrm>
            <a:off x="8001000" y="5376672"/>
            <a:ext cx="3413455"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HASIL AKSI 3</a:t>
            </a:r>
            <a:endParaRPr lang="en-US" sz="1200" dirty="0"/>
          </a:p>
        </p:txBody>
      </p:sp>
      <p:sp>
        <p:nvSpPr>
          <p:cNvPr id="32" name="text"/>
          <p:cNvSpPr txBox="1"/>
          <p:nvPr/>
        </p:nvSpPr>
        <p:spPr>
          <a:xfrm>
            <a:off x="8001000" y="5650992"/>
            <a:ext cx="3413455" cy="640080"/>
          </a:xfrm>
          <a:prstGeom prst="rect">
            <a:avLst/>
          </a:prstGeom>
          <a:noFill/>
          <a:ln/>
        </p:spPr>
        <p:txBody>
          <a:bodyPr wrap="square" lIns="0" tIns="0" rIns="0" bIns="0" rtlCol="0" anchor="t"/>
          <a:lstStyle/>
          <a:p>
            <a:pPr algn="l" indent="0" marL="0">
              <a:lnSpc>
                <a:spcPct val="102000"/>
              </a:lnSpc>
              <a:buNone/>
            </a:pPr>
            <a:r>
              <a:rPr lang="en-US" sz="1600" dirty="0">
                <a:solidFill>
                  <a:srgbClr val="FFFFFF"/>
                </a:solidFill>
                <a:latin typeface="Outfit Medium" pitchFamily="34" charset="0"/>
                <a:ea typeface="Outfit Medium" pitchFamily="34" charset="-122"/>
                <a:cs typeface="Outfit Medium" pitchFamily="34" charset="-120"/>
              </a:rPr>
              <a:t>Strategy-supportive organizational structure</a:t>
            </a:r>
            <a:endParaRPr lang="en-US" sz="1600" dirty="0"/>
          </a:p>
        </p:txBody>
      </p:sp>
      <p:sp>
        <p:nvSpPr>
          <p:cNvPr id="33" name="saling menopang"/>
          <p:cNvSpPr/>
          <p:nvPr/>
        </p:nvSpPr>
        <p:spPr>
          <a:xfrm>
            <a:off x="11002975" y="4837176"/>
            <a:ext cx="274320" cy="493776"/>
          </a:xfrm>
          <a:prstGeom prst="upDownArrow">
            <a:avLst/>
          </a:prstGeom>
          <a:solidFill>
            <a:srgbClr val="141417"/>
          </a:solidFill>
          <a:ln w="6350">
            <a:solidFill>
              <a:srgbClr val="141417"/>
            </a:solidFill>
            <a:prstDash val="solid"/>
          </a:ln>
        </p:spPr>
      </p:sp>
      <p:sp>
        <p:nvSpPr>
          <p:cNvPr id="34"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11185855" cy="731520"/>
          </a:xfrm>
          <a:prstGeom prst="rect">
            <a:avLst/>
          </a:prstGeom>
          <a:noFill/>
          <a:ln/>
        </p:spPr>
        <p:txBody>
          <a:bodyPr wrap="square" lIns="0" tIns="0" rIns="0" bIns="0" rtlCol="0" anchor="t"/>
          <a:lstStyle/>
          <a:p>
            <a:pPr algn="ctr" indent="0" marL="0">
              <a:lnSpc>
                <a:spcPct val="98000"/>
              </a:lnSpc>
              <a:buNone/>
            </a:pPr>
            <a:r>
              <a:rPr lang="en-US" sz="3600" spc="-50" kern="0" dirty="0">
                <a:solidFill>
                  <a:srgbClr val="141417"/>
                </a:solidFill>
                <a:latin typeface="Outfit Medium" pitchFamily="34" charset="0"/>
                <a:ea typeface="Outfit Medium" pitchFamily="34" charset="-122"/>
                <a:cs typeface="Outfit Medium" pitchFamily="34" charset="-120"/>
              </a:rPr>
              <a:t>MENYUSUN TIM MANAJEMEN YANG KUAT</a:t>
            </a:r>
            <a:endParaRPr lang="en-US" sz="3600" dirty="0"/>
          </a:p>
        </p:txBody>
      </p:sp>
      <p:sp>
        <p:nvSpPr>
          <p:cNvPr id="8" name="toggle"/>
          <p:cNvSpPr/>
          <p:nvPr/>
        </p:nvSpPr>
        <p:spPr>
          <a:xfrm>
            <a:off x="10911535" y="1051560"/>
            <a:ext cx="566928" cy="274320"/>
          </a:xfrm>
          <a:prstGeom prst="roundRect">
            <a:avLst>
              <a:gd name="adj" fmla="val 166667"/>
            </a:avLst>
          </a:prstGeom>
          <a:solidFill>
            <a:srgbClr val="F4F4F4"/>
          </a:solidFill>
          <a:ln w="9525">
            <a:solidFill>
              <a:srgbClr val="141417"/>
            </a:solidFill>
            <a:prstDash val="solid"/>
          </a:ln>
        </p:spPr>
      </p:sp>
      <p:sp>
        <p:nvSpPr>
          <p:cNvPr id="9" name="toggle-dot"/>
          <p:cNvSpPr/>
          <p:nvPr/>
        </p:nvSpPr>
        <p:spPr>
          <a:xfrm>
            <a:off x="11213287" y="1088136"/>
            <a:ext cx="201168" cy="201168"/>
          </a:xfrm>
          <a:prstGeom prst="ellipse">
            <a:avLst/>
          </a:prstGeom>
          <a:solidFill>
            <a:srgbClr val="D4FC00"/>
          </a:solidFill>
          <a:ln w="6350">
            <a:solidFill>
              <a:srgbClr val="D4FC00"/>
            </a:solidFill>
            <a:prstDash val="solid"/>
          </a:ln>
        </p:spPr>
      </p:sp>
      <p:pic>
        <p:nvPicPr>
          <p:cNvPr id="10" name="toggle-star" descr="preencoded.png">    </p:cNvPr>
          <p:cNvPicPr>
            <a:picLocks noChangeAspect="1"/>
          </p:cNvPicPr>
          <p:nvPr/>
        </p:nvPicPr>
        <p:blipFill>
          <a:blip r:embed="rId1"/>
          <a:stretch>
            <a:fillRect/>
          </a:stretch>
        </p:blipFill>
        <p:spPr>
          <a:xfrm>
            <a:off x="11254435" y="1129284"/>
            <a:ext cx="118872" cy="118872"/>
          </a:xfrm>
          <a:prstGeom prst="rect">
            <a:avLst/>
          </a:prstGeom>
        </p:spPr>
      </p:pic>
      <p:pic>
        <p:nvPicPr>
          <p:cNvPr id="11" name="Dua eksekutif berbincang di koridor" descr="preencoded.png">    </p:cNvPr>
          <p:cNvPicPr>
            <a:picLocks noChangeAspect="1"/>
          </p:cNvPicPr>
          <p:nvPr/>
        </p:nvPicPr>
        <p:blipFill>
          <a:blip r:embed="rId2"/>
          <a:stretch>
            <a:fillRect/>
          </a:stretch>
        </p:blipFill>
        <p:spPr>
          <a:xfrm>
            <a:off x="502920" y="1828800"/>
            <a:ext cx="3570122" cy="1920240"/>
          </a:xfrm>
          <a:prstGeom prst="rect">
            <a:avLst/>
          </a:prstGeom>
        </p:spPr>
      </p:pic>
      <p:sp>
        <p:nvSpPr>
          <p:cNvPr id="12" name="card"/>
          <p:cNvSpPr/>
          <p:nvPr/>
        </p:nvSpPr>
        <p:spPr>
          <a:xfrm>
            <a:off x="502920" y="3950208"/>
            <a:ext cx="3570122" cy="2331720"/>
          </a:xfrm>
          <a:prstGeom prst="roundRect">
            <a:avLst>
              <a:gd name="adj" fmla="val 7843"/>
            </a:avLst>
          </a:prstGeom>
          <a:solidFill>
            <a:srgbClr val="141417"/>
          </a:solidFill>
          <a:ln w="6350">
            <a:solidFill>
              <a:srgbClr val="141417"/>
            </a:solidFill>
            <a:prstDash val="solid"/>
          </a:ln>
        </p:spPr>
      </p:sp>
      <p:sp>
        <p:nvSpPr>
          <p:cNvPr id="13" name="text"/>
          <p:cNvSpPr txBox="1"/>
          <p:nvPr/>
        </p:nvSpPr>
        <p:spPr>
          <a:xfrm>
            <a:off x="777240" y="4224528"/>
            <a:ext cx="3021482"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PROFIL YANG DICARI</a:t>
            </a:r>
            <a:endParaRPr lang="en-US" sz="1200" dirty="0"/>
          </a:p>
        </p:txBody>
      </p:sp>
      <p:sp>
        <p:nvSpPr>
          <p:cNvPr id="14" name="text"/>
          <p:cNvSpPr txBox="1"/>
          <p:nvPr/>
        </p:nvSpPr>
        <p:spPr>
          <a:xfrm>
            <a:off x="777240" y="4572000"/>
            <a:ext cx="3021482" cy="1600200"/>
          </a:xfrm>
          <a:prstGeom prst="rect">
            <a:avLst/>
          </a:prstGeom>
          <a:noFill/>
          <a:ln/>
        </p:spPr>
        <p:txBody>
          <a:bodyPr wrap="square" lIns="0" tIns="0" rIns="0" bIns="0" rtlCol="0" anchor="t"/>
          <a:lstStyle/>
          <a:p>
            <a:pPr algn="l" indent="0" marL="0">
              <a:lnSpc>
                <a:spcPct val="110000"/>
              </a:lnSpc>
              <a:buNone/>
            </a:pPr>
            <a:r>
              <a:rPr lang="en-US" sz="1400" dirty="0">
                <a:solidFill>
                  <a:srgbClr val="E4E4E7"/>
                </a:solidFill>
                <a:latin typeface="Outfit" pitchFamily="34" charset="0"/>
                <a:ea typeface="Outfit" pitchFamily="34" charset="-122"/>
                <a:cs typeface="Outfit" pitchFamily="34" charset="-120"/>
              </a:rPr>
              <a:t>Berpikir jernih, mahir mengelola orang, paham detail bisnis, dan terbukti menyelesaikan pekerjaan.</a:t>
            </a:r>
            <a:endParaRPr lang="en-US" sz="1400" dirty="0"/>
          </a:p>
        </p:txBody>
      </p:sp>
      <p:pic>
        <p:nvPicPr>
          <p:cNvPr id="15" name="Orang bekerja di laptop" descr="preencoded.png">    </p:cNvPr>
          <p:cNvPicPr>
            <a:picLocks noChangeAspect="1"/>
          </p:cNvPicPr>
          <p:nvPr/>
        </p:nvPicPr>
        <p:blipFill>
          <a:blip r:embed="rId3"/>
          <a:stretch>
            <a:fillRect/>
          </a:stretch>
        </p:blipFill>
        <p:spPr>
          <a:xfrm>
            <a:off x="4310786" y="1828800"/>
            <a:ext cx="3570122" cy="1920240"/>
          </a:xfrm>
          <a:prstGeom prst="rect">
            <a:avLst/>
          </a:prstGeom>
        </p:spPr>
      </p:pic>
      <p:sp>
        <p:nvSpPr>
          <p:cNvPr id="16" name="card"/>
          <p:cNvSpPr/>
          <p:nvPr/>
        </p:nvSpPr>
        <p:spPr>
          <a:xfrm>
            <a:off x="4310786" y="3950208"/>
            <a:ext cx="3570122" cy="2331720"/>
          </a:xfrm>
          <a:prstGeom prst="roundRect">
            <a:avLst>
              <a:gd name="adj" fmla="val 7843"/>
            </a:avLst>
          </a:prstGeom>
          <a:solidFill>
            <a:srgbClr val="D4FC00"/>
          </a:solidFill>
          <a:ln w="6350">
            <a:solidFill>
              <a:srgbClr val="D4FC00"/>
            </a:solidFill>
            <a:prstDash val="solid"/>
          </a:ln>
        </p:spPr>
      </p:sp>
      <p:sp>
        <p:nvSpPr>
          <p:cNvPr id="17" name="text"/>
          <p:cNvSpPr txBox="1"/>
          <p:nvPr/>
        </p:nvSpPr>
        <p:spPr>
          <a:xfrm>
            <a:off x="4585106" y="4224528"/>
            <a:ext cx="3021482"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CARA MEMPERKUAT TIM</a:t>
            </a:r>
            <a:endParaRPr lang="en-US" sz="1200" dirty="0"/>
          </a:p>
        </p:txBody>
      </p:sp>
      <p:sp>
        <p:nvSpPr>
          <p:cNvPr id="18" name="text"/>
          <p:cNvSpPr txBox="1"/>
          <p:nvPr/>
        </p:nvSpPr>
        <p:spPr>
          <a:xfrm>
            <a:off x="4585106" y="4572000"/>
            <a:ext cx="3021482" cy="160020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Promosi dari dalam atau rekrut dari luar; perekrutan eksternal lazim saat turnaround. Manajer yang tak mampu berubah diganti.</a:t>
            </a:r>
            <a:endParaRPr lang="en-US" sz="1400" dirty="0"/>
          </a:p>
        </p:txBody>
      </p:sp>
      <p:pic>
        <p:nvPicPr>
          <p:cNvPr id="19" name="Tiga kolega berdiskusi" descr="preencoded.png">    </p:cNvPr>
          <p:cNvPicPr>
            <a:picLocks noChangeAspect="1"/>
          </p:cNvPicPr>
          <p:nvPr/>
        </p:nvPicPr>
        <p:blipFill>
          <a:blip r:embed="rId4"/>
          <a:stretch>
            <a:fillRect/>
          </a:stretch>
        </p:blipFill>
        <p:spPr>
          <a:xfrm>
            <a:off x="8118653" y="1828800"/>
            <a:ext cx="3570122" cy="1920240"/>
          </a:xfrm>
          <a:prstGeom prst="rect">
            <a:avLst/>
          </a:prstGeom>
        </p:spPr>
      </p:pic>
      <p:sp>
        <p:nvSpPr>
          <p:cNvPr id="20" name="card"/>
          <p:cNvSpPr/>
          <p:nvPr/>
        </p:nvSpPr>
        <p:spPr>
          <a:xfrm>
            <a:off x="8118653" y="3950208"/>
            <a:ext cx="3570122" cy="2331720"/>
          </a:xfrm>
          <a:prstGeom prst="roundRect">
            <a:avLst>
              <a:gd name="adj" fmla="val 7843"/>
            </a:avLst>
          </a:prstGeom>
          <a:solidFill>
            <a:srgbClr val="E8E8E8"/>
          </a:solidFill>
          <a:ln w="6350">
            <a:solidFill>
              <a:srgbClr val="E8E8E8"/>
            </a:solidFill>
            <a:prstDash val="solid"/>
          </a:ln>
        </p:spPr>
      </p:sp>
      <p:sp>
        <p:nvSpPr>
          <p:cNvPr id="21" name="text"/>
          <p:cNvSpPr txBox="1"/>
          <p:nvPr/>
        </p:nvSpPr>
        <p:spPr>
          <a:xfrm>
            <a:off x="8392973" y="4224528"/>
            <a:ext cx="3021482"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TUJUANNYA</a:t>
            </a:r>
            <a:endParaRPr lang="en-US" sz="1200" dirty="0"/>
          </a:p>
        </p:txBody>
      </p:sp>
      <p:sp>
        <p:nvSpPr>
          <p:cNvPr id="22" name="text"/>
          <p:cNvSpPr txBox="1"/>
          <p:nvPr/>
        </p:nvSpPr>
        <p:spPr>
          <a:xfrm>
            <a:off x="8392973" y="4572000"/>
            <a:ext cx="3021482" cy="160020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Critical mass manajer berbakat sebagai agents of change; manfaat tim puncak yang beragam makin diakui (IC 10.1).</a:t>
            </a:r>
            <a:endParaRPr lang="en-US" sz="1400" dirty="0"/>
          </a:p>
        </p:txBody>
      </p:sp>
      <p:sp>
        <p:nvSpPr>
          <p:cNvPr id="23"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card"/>
          <p:cNvSpPr/>
          <p:nvPr/>
        </p:nvSpPr>
        <p:spPr>
          <a:xfrm>
            <a:off x="502920" y="658368"/>
            <a:ext cx="6309360" cy="1344168"/>
          </a:xfrm>
          <a:prstGeom prst="roundRect">
            <a:avLst>
              <a:gd name="adj" fmla="val 13605"/>
            </a:avLst>
          </a:prstGeom>
          <a:solidFill>
            <a:srgbClr val="D4FC00"/>
          </a:solidFill>
          <a:ln w="6350">
            <a:solidFill>
              <a:srgbClr val="D4FC00"/>
            </a:solidFill>
            <a:prstDash val="solid"/>
          </a:ln>
        </p:spPr>
      </p:sp>
      <p:sp>
        <p:nvSpPr>
          <p:cNvPr id="8" name="text"/>
          <p:cNvSpPr txBox="1"/>
          <p:nvPr/>
        </p:nvSpPr>
        <p:spPr>
          <a:xfrm>
            <a:off x="777240" y="914400"/>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SELEKSI DAN PENUGASAN</a:t>
            </a:r>
            <a:endParaRPr lang="en-US" sz="1200" dirty="0"/>
          </a:p>
        </p:txBody>
      </p:sp>
      <p:sp>
        <p:nvSpPr>
          <p:cNvPr id="9" name="text"/>
          <p:cNvSpPr txBox="1"/>
          <p:nvPr/>
        </p:nvSpPr>
        <p:spPr>
          <a:xfrm>
            <a:off x="2651760" y="896112"/>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Saring ketat skill dan kecocokan budaya; beri tugas menantang. Southwest menerima sekitar 3% pelamar.</a:t>
            </a:r>
            <a:endParaRPr lang="en-US" sz="1400" dirty="0"/>
          </a:p>
        </p:txBody>
      </p:sp>
      <p:sp>
        <p:nvSpPr>
          <p:cNvPr id="10" name="dot"/>
          <p:cNvSpPr/>
          <p:nvPr/>
        </p:nvSpPr>
        <p:spPr>
          <a:xfrm>
            <a:off x="6245352" y="1193292"/>
            <a:ext cx="274320" cy="274320"/>
          </a:xfrm>
          <a:prstGeom prst="ellipse">
            <a:avLst/>
          </a:prstGeom>
          <a:solidFill>
            <a:srgbClr val="141417"/>
          </a:solidFill>
          <a:ln w="6350">
            <a:solidFill>
              <a:srgbClr val="141417"/>
            </a:solidFill>
            <a:prstDash val="solid"/>
          </a:ln>
        </p:spPr>
      </p:sp>
      <p:pic>
        <p:nvPicPr>
          <p:cNvPr id="11" name="dot-icon" descr="preencoded.png">    </p:cNvPr>
          <p:cNvPicPr>
            <a:picLocks noChangeAspect="1"/>
          </p:cNvPicPr>
          <p:nvPr/>
        </p:nvPicPr>
        <p:blipFill>
          <a:blip r:embed="rId1"/>
          <a:stretch>
            <a:fillRect/>
          </a:stretch>
        </p:blipFill>
        <p:spPr>
          <a:xfrm>
            <a:off x="6305702" y="1253642"/>
            <a:ext cx="153619" cy="153619"/>
          </a:xfrm>
          <a:prstGeom prst="rect">
            <a:avLst/>
          </a:prstGeom>
        </p:spPr>
      </p:pic>
      <p:sp>
        <p:nvSpPr>
          <p:cNvPr id="12" name="card"/>
          <p:cNvSpPr/>
          <p:nvPr/>
        </p:nvSpPr>
        <p:spPr>
          <a:xfrm>
            <a:off x="502920" y="2130552"/>
            <a:ext cx="6309360" cy="1344168"/>
          </a:xfrm>
          <a:prstGeom prst="roundRect">
            <a:avLst>
              <a:gd name="adj" fmla="val 13605"/>
            </a:avLst>
          </a:prstGeom>
          <a:solidFill>
            <a:srgbClr val="E8E8E8"/>
          </a:solidFill>
          <a:ln w="6350">
            <a:solidFill>
              <a:srgbClr val="E8E8E8"/>
            </a:solidFill>
            <a:prstDash val="solid"/>
          </a:ln>
        </p:spPr>
      </p:sp>
      <p:sp>
        <p:nvSpPr>
          <p:cNvPr id="13" name="text"/>
          <p:cNvSpPr txBox="1"/>
          <p:nvPr/>
        </p:nvSpPr>
        <p:spPr>
          <a:xfrm>
            <a:off x="777240" y="2386584"/>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PELATIHAN DAN ROTASI</a:t>
            </a:r>
            <a:endParaRPr lang="en-US" sz="1200" dirty="0"/>
          </a:p>
        </p:txBody>
      </p:sp>
      <p:sp>
        <p:nvSpPr>
          <p:cNvPr id="14" name="text"/>
          <p:cNvSpPr txBox="1"/>
          <p:nvPr/>
        </p:nvSpPr>
        <p:spPr>
          <a:xfrm>
            <a:off x="2651760" y="2368296"/>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Belajar sepanjang karier dan rotasi lintas fungsi. Bila strategi menuntut skill baru, pelatihan naik ke puncak action agenda.</a:t>
            </a:r>
            <a:endParaRPr lang="en-US" sz="1400" dirty="0"/>
          </a:p>
        </p:txBody>
      </p:sp>
      <p:sp>
        <p:nvSpPr>
          <p:cNvPr id="15" name="dot"/>
          <p:cNvSpPr/>
          <p:nvPr/>
        </p:nvSpPr>
        <p:spPr>
          <a:xfrm>
            <a:off x="6245352" y="2665476"/>
            <a:ext cx="274320" cy="274320"/>
          </a:xfrm>
          <a:prstGeom prst="ellipse">
            <a:avLst/>
          </a:prstGeom>
          <a:solidFill>
            <a:srgbClr val="141417"/>
          </a:solidFill>
          <a:ln w="6350">
            <a:solidFill>
              <a:srgbClr val="141417"/>
            </a:solidFill>
            <a:prstDash val="solid"/>
          </a:ln>
        </p:spPr>
      </p:sp>
      <p:pic>
        <p:nvPicPr>
          <p:cNvPr id="16" name="dot-icon" descr="preencoded.png">    </p:cNvPr>
          <p:cNvPicPr>
            <a:picLocks noChangeAspect="1"/>
          </p:cNvPicPr>
          <p:nvPr/>
        </p:nvPicPr>
        <p:blipFill>
          <a:blip r:embed="rId2"/>
          <a:stretch>
            <a:fillRect/>
          </a:stretch>
        </p:blipFill>
        <p:spPr>
          <a:xfrm>
            <a:off x="6305702" y="2725826"/>
            <a:ext cx="153619" cy="153619"/>
          </a:xfrm>
          <a:prstGeom prst="rect">
            <a:avLst/>
          </a:prstGeom>
        </p:spPr>
      </p:pic>
      <p:sp>
        <p:nvSpPr>
          <p:cNvPr id="17" name="card"/>
          <p:cNvSpPr/>
          <p:nvPr/>
        </p:nvSpPr>
        <p:spPr>
          <a:xfrm>
            <a:off x="502920" y="3602736"/>
            <a:ext cx="6309360" cy="1344168"/>
          </a:xfrm>
          <a:prstGeom prst="roundRect">
            <a:avLst>
              <a:gd name="adj" fmla="val 13605"/>
            </a:avLst>
          </a:prstGeom>
          <a:solidFill>
            <a:srgbClr val="D4FC00"/>
          </a:solidFill>
          <a:ln w="6350">
            <a:solidFill>
              <a:srgbClr val="D4FC00"/>
            </a:solidFill>
            <a:prstDash val="solid"/>
          </a:ln>
        </p:spPr>
      </p:sp>
      <p:sp>
        <p:nvSpPr>
          <p:cNvPr id="18" name="text"/>
          <p:cNvSpPr txBox="1"/>
          <p:nvPr/>
        </p:nvSpPr>
        <p:spPr>
          <a:xfrm>
            <a:off x="777240" y="3858768"/>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LINGKUNGAN DAN SUARA</a:t>
            </a:r>
            <a:endParaRPr lang="en-US" sz="1200" dirty="0"/>
          </a:p>
        </p:txBody>
      </p:sp>
      <p:sp>
        <p:nvSpPr>
          <p:cNvPr id="19" name="text"/>
          <p:cNvSpPr txBox="1"/>
          <p:nvPr/>
        </p:nvSpPr>
        <p:spPr>
          <a:xfrm>
            <a:off x="2651760" y="3840480"/>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Tempat kerja yang menstimulasi; ide dan kritik karyawan dihargai.</a:t>
            </a:r>
            <a:endParaRPr lang="en-US" sz="1400" dirty="0"/>
          </a:p>
        </p:txBody>
      </p:sp>
      <p:sp>
        <p:nvSpPr>
          <p:cNvPr id="20" name="dot"/>
          <p:cNvSpPr/>
          <p:nvPr/>
        </p:nvSpPr>
        <p:spPr>
          <a:xfrm>
            <a:off x="6245352" y="4137660"/>
            <a:ext cx="274320" cy="274320"/>
          </a:xfrm>
          <a:prstGeom prst="ellipse">
            <a:avLst/>
          </a:prstGeom>
          <a:solidFill>
            <a:srgbClr val="141417"/>
          </a:solidFill>
          <a:ln w="6350">
            <a:solidFill>
              <a:srgbClr val="141417"/>
            </a:solidFill>
            <a:prstDash val="solid"/>
          </a:ln>
        </p:spPr>
      </p:sp>
      <p:pic>
        <p:nvPicPr>
          <p:cNvPr id="21" name="dot-icon" descr="preencoded.png">    </p:cNvPr>
          <p:cNvPicPr>
            <a:picLocks noChangeAspect="1"/>
          </p:cNvPicPr>
          <p:nvPr/>
        </p:nvPicPr>
        <p:blipFill>
          <a:blip r:embed="rId3"/>
          <a:stretch>
            <a:fillRect/>
          </a:stretch>
        </p:blipFill>
        <p:spPr>
          <a:xfrm>
            <a:off x="6305702" y="4198010"/>
            <a:ext cx="153619" cy="153619"/>
          </a:xfrm>
          <a:prstGeom prst="rect">
            <a:avLst/>
          </a:prstGeom>
        </p:spPr>
      </p:pic>
      <p:sp>
        <p:nvSpPr>
          <p:cNvPr id="22" name="card"/>
          <p:cNvSpPr/>
          <p:nvPr/>
        </p:nvSpPr>
        <p:spPr>
          <a:xfrm>
            <a:off x="502920" y="5074920"/>
            <a:ext cx="6309360" cy="1344168"/>
          </a:xfrm>
          <a:prstGeom prst="roundRect">
            <a:avLst>
              <a:gd name="adj" fmla="val 13605"/>
            </a:avLst>
          </a:prstGeom>
          <a:solidFill>
            <a:srgbClr val="141417"/>
          </a:solidFill>
          <a:ln w="6350">
            <a:solidFill>
              <a:srgbClr val="141417"/>
            </a:solidFill>
            <a:prstDash val="solid"/>
          </a:ln>
        </p:spPr>
      </p:sp>
      <p:sp>
        <p:nvSpPr>
          <p:cNvPr id="23" name="text"/>
          <p:cNvSpPr txBox="1"/>
          <p:nvPr/>
        </p:nvSpPr>
        <p:spPr>
          <a:xfrm>
            <a:off x="777240" y="5330952"/>
            <a:ext cx="1737360" cy="886968"/>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RETENSI DAN PEMBINAAN</a:t>
            </a:r>
            <a:endParaRPr lang="en-US" sz="1200" dirty="0"/>
          </a:p>
        </p:txBody>
      </p:sp>
      <p:sp>
        <p:nvSpPr>
          <p:cNvPr id="24" name="text"/>
          <p:cNvSpPr txBox="1"/>
          <p:nvPr/>
        </p:nvSpPr>
        <p:spPr>
          <a:xfrm>
            <a:off x="2651760" y="5312664"/>
            <a:ext cx="3383280" cy="978408"/>
          </a:xfrm>
          <a:prstGeom prst="rect">
            <a:avLst/>
          </a:prstGeom>
          <a:noFill/>
          <a:ln/>
        </p:spPr>
        <p:txBody>
          <a:bodyPr wrap="square" lIns="0" tIns="0" rIns="0" bIns="0" rtlCol="0" anchor="t"/>
          <a:lstStyle/>
          <a:p>
            <a:pPr algn="l" indent="0" marL="0">
              <a:lnSpc>
                <a:spcPct val="108000"/>
              </a:lnSpc>
              <a:buNone/>
            </a:pPr>
            <a:r>
              <a:rPr lang="en-US" sz="1400" dirty="0">
                <a:solidFill>
                  <a:srgbClr val="E4E4E7"/>
                </a:solidFill>
                <a:latin typeface="Outfit" pitchFamily="34" charset="0"/>
                <a:ea typeface="Outfit" pitchFamily="34" charset="-122"/>
                <a:cs typeface="Outfit" pitchFamily="34" charset="-120"/>
              </a:rPr>
              <a:t>Promosi, bonus, equity, fleksibilitas; bina yang rata-rata, lepaskan yang tertinggal.</a:t>
            </a:r>
            <a:endParaRPr lang="en-US" sz="1400" dirty="0"/>
          </a:p>
        </p:txBody>
      </p:sp>
      <p:sp>
        <p:nvSpPr>
          <p:cNvPr id="25" name="dot"/>
          <p:cNvSpPr/>
          <p:nvPr/>
        </p:nvSpPr>
        <p:spPr>
          <a:xfrm>
            <a:off x="6245352" y="5609844"/>
            <a:ext cx="274320" cy="274320"/>
          </a:xfrm>
          <a:prstGeom prst="ellipse">
            <a:avLst/>
          </a:prstGeom>
          <a:solidFill>
            <a:srgbClr val="D4FC00"/>
          </a:solidFill>
          <a:ln w="6350">
            <a:solidFill>
              <a:srgbClr val="D4FC00"/>
            </a:solidFill>
            <a:prstDash val="solid"/>
          </a:ln>
        </p:spPr>
      </p:sp>
      <p:pic>
        <p:nvPicPr>
          <p:cNvPr id="26" name="dot-icon" descr="preencoded.png">    </p:cNvPr>
          <p:cNvPicPr>
            <a:picLocks noChangeAspect="1"/>
          </p:cNvPicPr>
          <p:nvPr/>
        </p:nvPicPr>
        <p:blipFill>
          <a:blip r:embed="rId4"/>
          <a:stretch>
            <a:fillRect/>
          </a:stretch>
        </p:blipFill>
        <p:spPr>
          <a:xfrm>
            <a:off x="6305702" y="5670194"/>
            <a:ext cx="153619" cy="153619"/>
          </a:xfrm>
          <a:prstGeom prst="rect">
            <a:avLst/>
          </a:prstGeom>
        </p:spPr>
      </p:pic>
      <p:pic>
        <p:nvPicPr>
          <p:cNvPr id="27" name="Sesi pelatihan di ruang putih" descr="preencoded.png">    </p:cNvPr>
          <p:cNvPicPr>
            <a:picLocks noChangeAspect="1"/>
          </p:cNvPicPr>
          <p:nvPr/>
        </p:nvPicPr>
        <p:blipFill>
          <a:blip r:embed="rId5"/>
          <a:stretch>
            <a:fillRect/>
          </a:stretch>
        </p:blipFill>
        <p:spPr>
          <a:xfrm>
            <a:off x="7269480" y="658368"/>
            <a:ext cx="4419295" cy="2377440"/>
          </a:xfrm>
          <a:prstGeom prst="rect">
            <a:avLst/>
          </a:prstGeom>
        </p:spPr>
      </p:pic>
      <p:sp>
        <p:nvSpPr>
          <p:cNvPr id="28" name="text"/>
          <p:cNvSpPr txBox="1"/>
          <p:nvPr/>
        </p:nvSpPr>
        <p:spPr>
          <a:xfrm>
            <a:off x="7269480" y="3291840"/>
            <a:ext cx="4419295" cy="2286000"/>
          </a:xfrm>
          <a:prstGeom prst="rect">
            <a:avLst/>
          </a:prstGeom>
          <a:noFill/>
          <a:ln/>
        </p:spPr>
        <p:txBody>
          <a:bodyPr wrap="square" lIns="0" tIns="0" rIns="0" bIns="0" rtlCol="0" anchor="t"/>
          <a:lstStyle/>
          <a:p>
            <a:pPr algn="l" indent="0" marL="0">
              <a:lnSpc>
                <a:spcPct val="98000"/>
              </a:lnSpc>
              <a:buNone/>
            </a:pPr>
            <a:r>
              <a:rPr lang="en-US" sz="3000" spc="-50" kern="0" dirty="0">
                <a:solidFill>
                  <a:srgbClr val="141417"/>
                </a:solidFill>
                <a:latin typeface="Outfit Medium" pitchFamily="34" charset="0"/>
                <a:ea typeface="Outfit Medium" pitchFamily="34" charset="-122"/>
                <a:cs typeface="Outfit Medium" pitchFamily="34" charset="-120"/>
              </a:rPr>
              <a:t>MEREKRUT, MELATIH, DAN MEMPERTAHANKAN KARYAWAN</a:t>
            </a:r>
            <a:endParaRPr lang="en-US" sz="3000" dirty="0"/>
          </a:p>
        </p:txBody>
      </p:sp>
      <p:sp>
        <p:nvSpPr>
          <p:cNvPr id="29" name="text"/>
          <p:cNvSpPr txBox="1"/>
          <p:nvPr/>
        </p:nvSpPr>
        <p:spPr>
          <a:xfrm>
            <a:off x="7269480" y="5532120"/>
            <a:ext cx="4419295" cy="868680"/>
          </a:xfrm>
          <a:prstGeom prst="rect">
            <a:avLst/>
          </a:prstGeom>
          <a:noFill/>
          <a:ln/>
        </p:spPr>
        <p:txBody>
          <a:bodyPr wrap="square" lIns="0" tIns="0" rIns="0" bIns="0" rtlCol="0" anchor="t"/>
          <a:lstStyle/>
          <a:p>
            <a:pPr algn="l" indent="0" marL="0">
              <a:lnSpc>
                <a:spcPct val="110000"/>
              </a:lnSpc>
              <a:buNone/>
            </a:pPr>
            <a:r>
              <a:rPr lang="en-US" sz="1300" dirty="0">
                <a:solidFill>
                  <a:srgbClr val="1A1A1C"/>
                </a:solidFill>
                <a:latin typeface="Outfit" pitchFamily="34" charset="0"/>
                <a:ea typeface="Outfit" pitchFamily="34" charset="-122"/>
                <a:cs typeface="Outfit" pitchFamily="34" charset="-120"/>
              </a:rPr>
              <a:t>Talenta dan intellectual capital sering lebih menentukan daripada tambahan proyek modal.</a:t>
            </a:r>
            <a:endParaRPr lang="en-US" sz="1300" dirty="0"/>
          </a:p>
        </p:txBody>
      </p:sp>
      <p:sp>
        <p:nvSpPr>
          <p:cNvPr id="30"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960120"/>
            <a:ext cx="6400800" cy="265176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TIGA JALAN MEMBANGUN ORGANIZATIONAL CAPABILITIES</a:t>
            </a:r>
            <a:endParaRPr lang="en-US" sz="3800" dirty="0"/>
          </a:p>
        </p:txBody>
      </p:sp>
      <p:sp>
        <p:nvSpPr>
          <p:cNvPr id="8" name="pill"/>
          <p:cNvSpPr/>
          <p:nvPr/>
        </p:nvSpPr>
        <p:spPr>
          <a:xfrm>
            <a:off x="502920" y="3611880"/>
            <a:ext cx="3566160" cy="365760"/>
          </a:xfrm>
          <a:prstGeom prst="roundRect">
            <a:avLst>
              <a:gd name="adj" fmla="val 125000"/>
            </a:avLst>
          </a:prstGeom>
          <a:solidFill>
            <a:srgbClr val="F4F4F4"/>
          </a:solidFill>
          <a:ln w="9525">
            <a:solidFill>
              <a:srgbClr val="141417"/>
            </a:solidFill>
            <a:prstDash val="solid"/>
          </a:ln>
        </p:spPr>
      </p:sp>
      <p:sp>
        <p:nvSpPr>
          <p:cNvPr id="9" name="text"/>
          <p:cNvSpPr txBox="1"/>
          <p:nvPr/>
        </p:nvSpPr>
        <p:spPr>
          <a:xfrm>
            <a:off x="612648" y="3611880"/>
            <a:ext cx="3346704" cy="365760"/>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BAB 4: VRIN DAN DYNAMIC CAPABILITIES</a:t>
            </a:r>
            <a:endParaRPr lang="en-US" sz="1050" dirty="0"/>
          </a:p>
        </p:txBody>
      </p:sp>
      <p:sp>
        <p:nvSpPr>
          <p:cNvPr id="10" name="card"/>
          <p:cNvSpPr/>
          <p:nvPr/>
        </p:nvSpPr>
        <p:spPr>
          <a:xfrm>
            <a:off x="502920" y="4114800"/>
            <a:ext cx="2148840" cy="1600200"/>
          </a:xfrm>
          <a:prstGeom prst="roundRect">
            <a:avLst>
              <a:gd name="adj" fmla="val 11429"/>
            </a:avLst>
          </a:prstGeom>
          <a:solidFill>
            <a:srgbClr val="E8E8E8"/>
          </a:solidFill>
          <a:ln w="6350">
            <a:solidFill>
              <a:srgbClr val="E8E8E8"/>
            </a:solidFill>
            <a:prstDash val="solid"/>
          </a:ln>
        </p:spPr>
      </p:sp>
      <p:sp>
        <p:nvSpPr>
          <p:cNvPr id="11" name="text"/>
          <p:cNvSpPr txBox="1"/>
          <p:nvPr/>
        </p:nvSpPr>
        <p:spPr>
          <a:xfrm>
            <a:off x="731520"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Internal</a:t>
            </a:r>
            <a:endParaRPr lang="en-US" sz="2200" dirty="0"/>
          </a:p>
        </p:txBody>
      </p:sp>
      <p:sp>
        <p:nvSpPr>
          <p:cNvPr id="12" name="text"/>
          <p:cNvSpPr txBox="1"/>
          <p:nvPr/>
        </p:nvSpPr>
        <p:spPr>
          <a:xfrm>
            <a:off x="731520"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Tumbuh bertahap lewat rutinitas. Kendali penuh, paling lama.</a:t>
            </a:r>
            <a:endParaRPr lang="en-US" sz="1200" dirty="0"/>
          </a:p>
        </p:txBody>
      </p:sp>
      <p:sp>
        <p:nvSpPr>
          <p:cNvPr id="13" name="card"/>
          <p:cNvSpPr/>
          <p:nvPr/>
        </p:nvSpPr>
        <p:spPr>
          <a:xfrm>
            <a:off x="2779776" y="4114800"/>
            <a:ext cx="2148840" cy="1600200"/>
          </a:xfrm>
          <a:prstGeom prst="roundRect">
            <a:avLst>
              <a:gd name="adj" fmla="val 11429"/>
            </a:avLst>
          </a:prstGeom>
          <a:solidFill>
            <a:srgbClr val="D4FC00"/>
          </a:solidFill>
          <a:ln w="6350">
            <a:solidFill>
              <a:srgbClr val="D4FC00"/>
            </a:solidFill>
            <a:prstDash val="solid"/>
          </a:ln>
        </p:spPr>
      </p:sp>
      <p:sp>
        <p:nvSpPr>
          <p:cNvPr id="14" name="text"/>
          <p:cNvSpPr txBox="1"/>
          <p:nvPr/>
        </p:nvSpPr>
        <p:spPr>
          <a:xfrm>
            <a:off x="3008376"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Akuisisi</a:t>
            </a:r>
            <a:endParaRPr lang="en-US" sz="2200" dirty="0"/>
          </a:p>
        </p:txBody>
      </p:sp>
      <p:sp>
        <p:nvSpPr>
          <p:cNvPr id="15" name="text"/>
          <p:cNvSpPr txBox="1"/>
          <p:nvPr/>
        </p:nvSpPr>
        <p:spPr>
          <a:xfrm>
            <a:off x="3008376"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Paling cepat; risikonya pada integrasi tacit knowledge.</a:t>
            </a:r>
            <a:endParaRPr lang="en-US" sz="1200" dirty="0"/>
          </a:p>
        </p:txBody>
      </p:sp>
      <p:sp>
        <p:nvSpPr>
          <p:cNvPr id="16" name="card"/>
          <p:cNvSpPr/>
          <p:nvPr/>
        </p:nvSpPr>
        <p:spPr>
          <a:xfrm>
            <a:off x="5056632" y="4114800"/>
            <a:ext cx="2148840" cy="1600200"/>
          </a:xfrm>
          <a:prstGeom prst="roundRect">
            <a:avLst>
              <a:gd name="adj" fmla="val 11429"/>
            </a:avLst>
          </a:prstGeom>
          <a:solidFill>
            <a:srgbClr val="141417"/>
          </a:solidFill>
          <a:ln w="6350">
            <a:solidFill>
              <a:srgbClr val="141417"/>
            </a:solidFill>
            <a:prstDash val="solid"/>
          </a:ln>
        </p:spPr>
      </p:sp>
      <p:sp>
        <p:nvSpPr>
          <p:cNvPr id="17" name="text"/>
          <p:cNvSpPr txBox="1"/>
          <p:nvPr/>
        </p:nvSpPr>
        <p:spPr>
          <a:xfrm>
            <a:off x="5285232"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FFFFFF"/>
                </a:solidFill>
                <a:latin typeface="Outfit Medium" pitchFamily="34" charset="0"/>
                <a:ea typeface="Outfit Medium" pitchFamily="34" charset="-122"/>
                <a:cs typeface="Outfit Medium" pitchFamily="34" charset="-120"/>
              </a:rPr>
              <a:t>Kemitraan</a:t>
            </a:r>
            <a:endParaRPr lang="en-US" sz="2200" dirty="0"/>
          </a:p>
        </p:txBody>
      </p:sp>
      <p:sp>
        <p:nvSpPr>
          <p:cNvPr id="18" name="text"/>
          <p:cNvSpPr txBox="1"/>
          <p:nvPr/>
        </p:nvSpPr>
        <p:spPr>
          <a:xfrm>
            <a:off x="5285232"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BDBDC2"/>
                </a:solidFill>
                <a:latin typeface="Outfit" pitchFamily="34" charset="0"/>
                <a:ea typeface="Outfit" pitchFamily="34" charset="-122"/>
                <a:cs typeface="Outfit" pitchFamily="34" charset="-120"/>
              </a:rPr>
              <a:t>Outsourcing, aliansi, belajar dari mitra. Hemat sumber daya.</a:t>
            </a:r>
            <a:endParaRPr lang="en-US" sz="1200" dirty="0"/>
          </a:p>
        </p:txBody>
      </p:sp>
      <p:sp>
        <p:nvSpPr>
          <p:cNvPr id="19" name="text"/>
          <p:cNvSpPr txBox="1"/>
          <p:nvPr/>
        </p:nvSpPr>
        <p:spPr>
          <a:xfrm>
            <a:off x="502920" y="5943600"/>
            <a:ext cx="6675120" cy="54864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Merumuskan berarti mengidentifikasi capability; mengeksekusi berarti memperoleh dan terus menyegarkannya.</a:t>
            </a:r>
            <a:endParaRPr lang="en-US" sz="1400" dirty="0"/>
          </a:p>
        </p:txBody>
      </p:sp>
      <p:pic>
        <p:nvPicPr>
          <p:cNvPr id="20" name="Teknisi mengajari pemagang" descr="preencoded.png">    </p:cNvPr>
          <p:cNvPicPr>
            <a:picLocks noChangeAspect="1"/>
          </p:cNvPicPr>
          <p:nvPr/>
        </p:nvPicPr>
        <p:blipFill>
          <a:blip r:embed="rId1"/>
          <a:stretch>
            <a:fillRect/>
          </a:stretch>
        </p:blipFill>
        <p:spPr>
          <a:xfrm>
            <a:off x="7589520" y="658368"/>
            <a:ext cx="4099255" cy="6473952"/>
          </a:xfrm>
          <a:prstGeom prst="rect">
            <a:avLst/>
          </a:prstGeom>
        </p:spPr>
      </p:pic>
      <p:sp>
        <p:nvSpPr>
          <p:cNvPr id="21"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5303520" cy="182880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CAPABILITY TUMBUH BERTAHAP</a:t>
            </a:r>
            <a:endParaRPr lang="en-US" sz="3800" dirty="0"/>
          </a:p>
        </p:txBody>
      </p:sp>
      <p:sp>
        <p:nvSpPr>
          <p:cNvPr id="8" name="text"/>
          <p:cNvSpPr txBox="1"/>
          <p:nvPr/>
        </p:nvSpPr>
        <p:spPr>
          <a:xfrm>
            <a:off x="6675120" y="914400"/>
            <a:ext cx="4983480" cy="201168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Jalur internal berjalan evolusioner: ability yang belum sempurna menjadi tried-and-true competence lewat pengulangan, lalu dijaga dan diperbarui sebagai dynamic capability. Pembelajaran yang sengaja dirancang dan insentif mempercepatnya.</a:t>
            </a:r>
            <a:endParaRPr lang="en-US" sz="1400" dirty="0"/>
          </a:p>
        </p:txBody>
      </p:sp>
      <p:sp>
        <p:nvSpPr>
          <p:cNvPr id="9" name="card"/>
          <p:cNvSpPr/>
          <p:nvPr/>
        </p:nvSpPr>
        <p:spPr>
          <a:xfrm>
            <a:off x="502920" y="3154680"/>
            <a:ext cx="4206240" cy="3017520"/>
          </a:xfrm>
          <a:prstGeom prst="roundRect">
            <a:avLst>
              <a:gd name="adj" fmla="val 6061"/>
            </a:avLst>
          </a:prstGeom>
          <a:solidFill>
            <a:srgbClr val="141417"/>
          </a:solidFill>
          <a:ln w="6350">
            <a:solidFill>
              <a:srgbClr val="141417"/>
            </a:solidFill>
            <a:prstDash val="solid"/>
          </a:ln>
        </p:spPr>
      </p:sp>
      <p:sp>
        <p:nvSpPr>
          <p:cNvPr id="10" name="text"/>
          <p:cNvSpPr txBox="1"/>
          <p:nvPr/>
        </p:nvSpPr>
        <p:spPr>
          <a:xfrm>
            <a:off x="822960" y="3429000"/>
            <a:ext cx="3566160"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BDBDC2"/>
                </a:solidFill>
                <a:latin typeface="Outfit" pitchFamily="34" charset="0"/>
                <a:ea typeface="Outfit" pitchFamily="34" charset="-122"/>
                <a:cs typeface="Outfit" pitchFamily="34" charset="-120"/>
              </a:rPr>
              <a:t>Dua tahap di buku, lalu dijaga</a:t>
            </a:r>
            <a:endParaRPr lang="en-US" sz="1200" dirty="0"/>
          </a:p>
        </p:txBody>
      </p:sp>
      <p:sp>
        <p:nvSpPr>
          <p:cNvPr id="11" name="text"/>
          <p:cNvSpPr txBox="1"/>
          <p:nvPr/>
        </p:nvSpPr>
        <p:spPr>
          <a:xfrm>
            <a:off x="822960" y="3794760"/>
            <a:ext cx="3566160" cy="1357884"/>
          </a:xfrm>
          <a:prstGeom prst="rect">
            <a:avLst/>
          </a:prstGeom>
          <a:noFill/>
          <a:ln/>
        </p:spPr>
        <p:txBody>
          <a:bodyPr wrap="square" lIns="0" tIns="0" rIns="0" bIns="0" rtlCol="0" anchor="ctr"/>
          <a:lstStyle/>
          <a:p>
            <a:pPr algn="l" indent="0" marL="0">
              <a:lnSpc>
                <a:spcPct val="110000"/>
              </a:lnSpc>
              <a:buNone/>
            </a:pPr>
            <a:r>
              <a:rPr lang="en-US" sz="4400" spc="-100" kern="0" dirty="0">
                <a:solidFill>
                  <a:srgbClr val="FFFFFF"/>
                </a:solidFill>
                <a:latin typeface="Outfit Medium" pitchFamily="34" charset="0"/>
                <a:ea typeface="Outfit Medium" pitchFamily="34" charset="-122"/>
                <a:cs typeface="Outfit Medium" pitchFamily="34" charset="-120"/>
              </a:rPr>
              <a:t>2</a:t>
            </a:r>
            <a:endParaRPr lang="en-US" sz="4400" dirty="0"/>
          </a:p>
        </p:txBody>
      </p:sp>
      <p:sp>
        <p:nvSpPr>
          <p:cNvPr id="12" name="text"/>
          <p:cNvSpPr txBox="1"/>
          <p:nvPr/>
        </p:nvSpPr>
        <p:spPr>
          <a:xfrm>
            <a:off x="822960" y="4983480"/>
            <a:ext cx="3566160" cy="1005840"/>
          </a:xfrm>
          <a:prstGeom prst="rect">
            <a:avLst/>
          </a:prstGeom>
          <a:noFill/>
          <a:ln/>
        </p:spPr>
        <p:txBody>
          <a:bodyPr wrap="square" lIns="0" tIns="0" rIns="0" bIns="0" rtlCol="0" anchor="t"/>
          <a:lstStyle/>
          <a:p>
            <a:pPr algn="l" indent="0" marL="0">
              <a:lnSpc>
                <a:spcPct val="115000"/>
              </a:lnSpc>
              <a:buNone/>
            </a:pPr>
            <a:r>
              <a:rPr lang="en-US" sz="1300" dirty="0">
                <a:solidFill>
                  <a:srgbClr val="BDBDC2"/>
                </a:solidFill>
                <a:latin typeface="Outfit" pitchFamily="34" charset="0"/>
                <a:ea typeface="Outfit" pitchFamily="34" charset="-122"/>
                <a:cs typeface="Outfit" pitchFamily="34" charset="-120"/>
              </a:rPr>
              <a:t>Merekombinasi capability yang ada lebih mudah daripada membangun dari nol.</a:t>
            </a:r>
            <a:endParaRPr lang="en-US" sz="1300" dirty="0"/>
          </a:p>
        </p:txBody>
      </p:sp>
      <p:sp>
        <p:nvSpPr>
          <p:cNvPr id="13" name="track"/>
          <p:cNvSpPr/>
          <p:nvPr/>
        </p:nvSpPr>
        <p:spPr>
          <a:xfrm>
            <a:off x="6035040" y="3154680"/>
            <a:ext cx="384048" cy="1920240"/>
          </a:xfrm>
          <a:prstGeom prst="roundRect">
            <a:avLst>
              <a:gd name="adj" fmla="val 119048"/>
            </a:avLst>
          </a:prstGeom>
          <a:solidFill>
            <a:srgbClr val="E8E8E8"/>
          </a:solidFill>
          <a:ln w="6350">
            <a:solidFill>
              <a:srgbClr val="E8E8E8"/>
            </a:solidFill>
            <a:prstDash val="solid"/>
          </a:ln>
        </p:spPr>
      </p:sp>
      <p:sp>
        <p:nvSpPr>
          <p:cNvPr id="14" name="bar"/>
          <p:cNvSpPr/>
          <p:nvPr/>
        </p:nvSpPr>
        <p:spPr>
          <a:xfrm>
            <a:off x="6035040" y="4402836"/>
            <a:ext cx="384048" cy="672084"/>
          </a:xfrm>
          <a:prstGeom prst="roundRect">
            <a:avLst>
              <a:gd name="adj" fmla="val 119048"/>
            </a:avLst>
          </a:prstGeom>
          <a:solidFill>
            <a:srgbClr val="D4FC00"/>
          </a:solidFill>
          <a:ln w="6350">
            <a:solidFill>
              <a:srgbClr val="D4FC00"/>
            </a:solidFill>
            <a:prstDash val="solid"/>
          </a:ln>
        </p:spPr>
      </p:sp>
      <p:sp>
        <p:nvSpPr>
          <p:cNvPr id="15" name="text"/>
          <p:cNvSpPr txBox="1"/>
          <p:nvPr/>
        </p:nvSpPr>
        <p:spPr>
          <a:xfrm>
            <a:off x="6583680" y="4402836"/>
            <a:ext cx="1554480" cy="32004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Ability</a:t>
            </a:r>
            <a:endParaRPr lang="en-US" sz="1600" dirty="0"/>
          </a:p>
        </p:txBody>
      </p:sp>
      <p:sp>
        <p:nvSpPr>
          <p:cNvPr id="16" name="text"/>
          <p:cNvSpPr txBox="1"/>
          <p:nvPr/>
        </p:nvSpPr>
        <p:spPr>
          <a:xfrm>
            <a:off x="6583680" y="4750308"/>
            <a:ext cx="1554480" cy="64008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memilih orang, bereksperimen</a:t>
            </a:r>
            <a:endParaRPr lang="en-US" sz="1200" dirty="0"/>
          </a:p>
        </p:txBody>
      </p:sp>
      <p:sp>
        <p:nvSpPr>
          <p:cNvPr id="17" name="track"/>
          <p:cNvSpPr/>
          <p:nvPr/>
        </p:nvSpPr>
        <p:spPr>
          <a:xfrm>
            <a:off x="8101584" y="3154680"/>
            <a:ext cx="384048" cy="1920240"/>
          </a:xfrm>
          <a:prstGeom prst="roundRect">
            <a:avLst>
              <a:gd name="adj" fmla="val 119048"/>
            </a:avLst>
          </a:prstGeom>
          <a:solidFill>
            <a:srgbClr val="E8E8E8"/>
          </a:solidFill>
          <a:ln w="6350">
            <a:solidFill>
              <a:srgbClr val="E8E8E8"/>
            </a:solidFill>
            <a:prstDash val="solid"/>
          </a:ln>
        </p:spPr>
      </p:sp>
      <p:sp>
        <p:nvSpPr>
          <p:cNvPr id="18" name="bar"/>
          <p:cNvSpPr/>
          <p:nvPr/>
        </p:nvSpPr>
        <p:spPr>
          <a:xfrm>
            <a:off x="8101584" y="3826764"/>
            <a:ext cx="384048" cy="1248156"/>
          </a:xfrm>
          <a:prstGeom prst="roundRect">
            <a:avLst>
              <a:gd name="adj" fmla="val 119048"/>
            </a:avLst>
          </a:prstGeom>
          <a:solidFill>
            <a:srgbClr val="D4FC00"/>
          </a:solidFill>
          <a:ln w="6350">
            <a:solidFill>
              <a:srgbClr val="D4FC00"/>
            </a:solidFill>
            <a:prstDash val="solid"/>
          </a:ln>
        </p:spPr>
      </p:sp>
      <p:sp>
        <p:nvSpPr>
          <p:cNvPr id="19" name="text"/>
          <p:cNvSpPr txBox="1"/>
          <p:nvPr/>
        </p:nvSpPr>
        <p:spPr>
          <a:xfrm>
            <a:off x="8650224" y="3826764"/>
            <a:ext cx="1554480" cy="32004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Competence</a:t>
            </a:r>
            <a:endParaRPr lang="en-US" sz="1600" dirty="0"/>
          </a:p>
        </p:txBody>
      </p:sp>
      <p:sp>
        <p:nvSpPr>
          <p:cNvPr id="20" name="text"/>
          <p:cNvSpPr txBox="1"/>
          <p:nvPr/>
        </p:nvSpPr>
        <p:spPr>
          <a:xfrm>
            <a:off x="8650224" y="4174236"/>
            <a:ext cx="1554480" cy="64008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konsisten lewat pengulangan</a:t>
            </a:r>
            <a:endParaRPr lang="en-US" sz="1200" dirty="0"/>
          </a:p>
        </p:txBody>
      </p:sp>
      <p:sp>
        <p:nvSpPr>
          <p:cNvPr id="21" name="track"/>
          <p:cNvSpPr/>
          <p:nvPr/>
        </p:nvSpPr>
        <p:spPr>
          <a:xfrm>
            <a:off x="10168128" y="3154680"/>
            <a:ext cx="384048" cy="1920240"/>
          </a:xfrm>
          <a:prstGeom prst="roundRect">
            <a:avLst>
              <a:gd name="adj" fmla="val 119048"/>
            </a:avLst>
          </a:prstGeom>
          <a:solidFill>
            <a:srgbClr val="E8E8E8"/>
          </a:solidFill>
          <a:ln w="6350">
            <a:solidFill>
              <a:srgbClr val="E8E8E8"/>
            </a:solidFill>
            <a:prstDash val="solid"/>
          </a:ln>
        </p:spPr>
      </p:sp>
      <p:sp>
        <p:nvSpPr>
          <p:cNvPr id="22" name="bar"/>
          <p:cNvSpPr/>
          <p:nvPr/>
        </p:nvSpPr>
        <p:spPr>
          <a:xfrm>
            <a:off x="10168128" y="3250692"/>
            <a:ext cx="384048" cy="1824228"/>
          </a:xfrm>
          <a:prstGeom prst="roundRect">
            <a:avLst>
              <a:gd name="adj" fmla="val 119048"/>
            </a:avLst>
          </a:prstGeom>
          <a:solidFill>
            <a:srgbClr val="D4FC00"/>
          </a:solidFill>
          <a:ln w="6350">
            <a:solidFill>
              <a:srgbClr val="D4FC00"/>
            </a:solidFill>
            <a:prstDash val="solid"/>
          </a:ln>
        </p:spPr>
      </p:sp>
      <p:sp>
        <p:nvSpPr>
          <p:cNvPr id="23" name="text"/>
          <p:cNvSpPr txBox="1"/>
          <p:nvPr/>
        </p:nvSpPr>
        <p:spPr>
          <a:xfrm>
            <a:off x="10716768" y="3250692"/>
            <a:ext cx="1554480" cy="32004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Diperbarui</a:t>
            </a:r>
            <a:endParaRPr lang="en-US" sz="1600" dirty="0"/>
          </a:p>
        </p:txBody>
      </p:sp>
      <p:sp>
        <p:nvSpPr>
          <p:cNvPr id="24" name="text"/>
          <p:cNvSpPr txBox="1"/>
          <p:nvPr/>
        </p:nvSpPr>
        <p:spPr>
          <a:xfrm>
            <a:off x="10716768" y="3598164"/>
            <a:ext cx="1554480" cy="64008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dynamic capability (Bab 4)</a:t>
            </a:r>
            <a:endParaRPr lang="en-US" sz="1200" dirty="0"/>
          </a:p>
        </p:txBody>
      </p:sp>
      <p:sp>
        <p:nvSpPr>
          <p:cNvPr id="25" name="text"/>
          <p:cNvSpPr txBox="1"/>
          <p:nvPr/>
        </p:nvSpPr>
        <p:spPr>
          <a:xfrm>
            <a:off x="6035040" y="5349240"/>
            <a:ext cx="5559552" cy="822960"/>
          </a:xfrm>
          <a:prstGeom prst="rect">
            <a:avLst/>
          </a:prstGeom>
          <a:noFill/>
          <a:ln/>
        </p:spPr>
        <p:txBody>
          <a:bodyPr wrap="square" lIns="0" tIns="0" rIns="0" bIns="0" rtlCol="0" anchor="t"/>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Contoh: Williams-Sonoma, dari katalog (1970) ke e-commerce (2000) hingga Fortune 500 (2019); Toyota menyempurnakan TPS hingga melampaui GM.</a:t>
            </a:r>
            <a:endParaRPr lang="en-US" sz="1200" dirty="0"/>
          </a:p>
        </p:txBody>
      </p:sp>
      <p:sp>
        <p:nvSpPr>
          <p:cNvPr id="26"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pic>
        <p:nvPicPr>
          <p:cNvPr id="7" name="Menempel catatan di dinding putih" descr="preencoded.png">    </p:cNvPr>
          <p:cNvPicPr>
            <a:picLocks noChangeAspect="1"/>
          </p:cNvPicPr>
          <p:nvPr/>
        </p:nvPicPr>
        <p:blipFill>
          <a:blip r:embed="rId1"/>
          <a:stretch>
            <a:fillRect/>
          </a:stretch>
        </p:blipFill>
        <p:spPr>
          <a:xfrm>
            <a:off x="6172200" y="658368"/>
            <a:ext cx="2880360" cy="2743200"/>
          </a:xfrm>
          <a:prstGeom prst="rect">
            <a:avLst/>
          </a:prstGeom>
        </p:spPr>
      </p:pic>
      <p:sp>
        <p:nvSpPr>
          <p:cNvPr id="8" name="card"/>
          <p:cNvSpPr/>
          <p:nvPr/>
        </p:nvSpPr>
        <p:spPr>
          <a:xfrm>
            <a:off x="5897880" y="1234440"/>
            <a:ext cx="685800" cy="685800"/>
          </a:xfrm>
          <a:prstGeom prst="roundRect">
            <a:avLst>
              <a:gd name="adj" fmla="val 21333"/>
            </a:avLst>
          </a:prstGeom>
          <a:solidFill>
            <a:srgbClr val="141417"/>
          </a:solidFill>
          <a:ln w="6350">
            <a:solidFill>
              <a:srgbClr val="141417"/>
            </a:solidFill>
            <a:prstDash val="solid"/>
          </a:ln>
        </p:spPr>
      </p:sp>
      <p:pic>
        <p:nvPicPr>
          <p:cNvPr id="9" name="star" descr="preencoded.png">    </p:cNvPr>
          <p:cNvPicPr>
            <a:picLocks noChangeAspect="1"/>
          </p:cNvPicPr>
          <p:nvPr/>
        </p:nvPicPr>
        <p:blipFill>
          <a:blip r:embed="rId2"/>
          <a:stretch>
            <a:fillRect/>
          </a:stretch>
        </p:blipFill>
        <p:spPr>
          <a:xfrm>
            <a:off x="6069330" y="1405890"/>
            <a:ext cx="342900" cy="342900"/>
          </a:xfrm>
          <a:prstGeom prst="rect">
            <a:avLst/>
          </a:prstGeom>
        </p:spPr>
      </p:pic>
      <p:pic>
        <p:nvPicPr>
          <p:cNvPr id="10" name="Rapat di ruang putih" descr="preencoded.png">    </p:cNvPr>
          <p:cNvPicPr>
            <a:picLocks noChangeAspect="1"/>
          </p:cNvPicPr>
          <p:nvPr/>
        </p:nvPicPr>
        <p:blipFill>
          <a:blip r:embed="rId3"/>
          <a:stretch>
            <a:fillRect/>
          </a:stretch>
        </p:blipFill>
        <p:spPr>
          <a:xfrm>
            <a:off x="9235440" y="658368"/>
            <a:ext cx="2453335" cy="5120640"/>
          </a:xfrm>
          <a:prstGeom prst="rect">
            <a:avLst/>
          </a:prstGeom>
        </p:spPr>
      </p:pic>
      <p:sp>
        <p:nvSpPr>
          <p:cNvPr id="11" name="card"/>
          <p:cNvSpPr/>
          <p:nvPr/>
        </p:nvSpPr>
        <p:spPr>
          <a:xfrm>
            <a:off x="9921240" y="4297680"/>
            <a:ext cx="1767535" cy="1645920"/>
          </a:xfrm>
          <a:prstGeom prst="roundRect">
            <a:avLst>
              <a:gd name="adj" fmla="val 11111"/>
            </a:avLst>
          </a:prstGeom>
          <a:solidFill>
            <a:srgbClr val="D4FC00"/>
          </a:solidFill>
          <a:ln w="6350">
            <a:solidFill>
              <a:srgbClr val="D4FC00"/>
            </a:solidFill>
            <a:prstDash val="solid"/>
          </a:ln>
        </p:spPr>
      </p:sp>
      <p:sp>
        <p:nvSpPr>
          <p:cNvPr id="12" name="text"/>
          <p:cNvSpPr txBox="1"/>
          <p:nvPr/>
        </p:nvSpPr>
        <p:spPr>
          <a:xfrm>
            <a:off x="10104120" y="4389120"/>
            <a:ext cx="1508760" cy="731520"/>
          </a:xfrm>
          <a:prstGeom prst="rect">
            <a:avLst/>
          </a:prstGeom>
          <a:noFill/>
          <a:ln/>
        </p:spPr>
        <p:txBody>
          <a:bodyPr wrap="square" lIns="0" tIns="0" rIns="0" bIns="0" rtlCol="0" anchor="ctr"/>
          <a:lstStyle/>
          <a:p>
            <a:pPr algn="l" indent="0" marL="0">
              <a:lnSpc>
                <a:spcPct val="95000"/>
              </a:lnSpc>
              <a:buNone/>
            </a:pPr>
            <a:r>
              <a:rPr lang="en-US" sz="2000" spc="-30" kern="0" dirty="0">
                <a:solidFill>
                  <a:srgbClr val="141417"/>
                </a:solidFill>
                <a:latin typeface="Outfit Medium" pitchFamily="34" charset="0"/>
                <a:ea typeface="Outfit Medium" pitchFamily="34" charset="-122"/>
                <a:cs typeface="Outfit Medium" pitchFamily="34" charset="-120"/>
              </a:rPr>
              <a:t>&gt; US$25 miliar</a:t>
            </a:r>
            <a:endParaRPr lang="en-US" sz="2000" dirty="0"/>
          </a:p>
        </p:txBody>
      </p:sp>
      <p:sp>
        <p:nvSpPr>
          <p:cNvPr id="13" name="text"/>
          <p:cNvSpPr txBox="1"/>
          <p:nvPr/>
        </p:nvSpPr>
        <p:spPr>
          <a:xfrm>
            <a:off x="10104120" y="5138928"/>
            <a:ext cx="1508760" cy="777240"/>
          </a:xfrm>
          <a:prstGeom prst="rect">
            <a:avLst/>
          </a:prstGeom>
          <a:noFill/>
          <a:ln/>
        </p:spPr>
        <p:txBody>
          <a:bodyPr wrap="square" lIns="0" tIns="0" rIns="0" bIns="0" rtlCol="0" anchor="t"/>
          <a:lstStyle/>
          <a:p>
            <a:pPr algn="l" indent="0" marL="0">
              <a:lnSpc>
                <a:spcPct val="110000"/>
              </a:lnSpc>
              <a:buNone/>
            </a:pPr>
            <a:r>
              <a:rPr lang="en-US" sz="1100" dirty="0">
                <a:solidFill>
                  <a:srgbClr val="1A1A1C"/>
                </a:solidFill>
                <a:latin typeface="Outfit" pitchFamily="34" charset="0"/>
                <a:ea typeface="Outfit" pitchFamily="34" charset="-122"/>
                <a:cs typeface="Outfit" pitchFamily="34" charset="-120"/>
              </a:rPr>
              <a:t>belanja akuisisi teknologi Meta; manfaatnya belum tentu terintegrasi</a:t>
            </a:r>
            <a:endParaRPr lang="en-US" sz="1100" dirty="0"/>
          </a:p>
        </p:txBody>
      </p:sp>
      <p:sp>
        <p:nvSpPr>
          <p:cNvPr id="14" name="text"/>
          <p:cNvSpPr txBox="1"/>
          <p:nvPr/>
        </p:nvSpPr>
        <p:spPr>
          <a:xfrm>
            <a:off x="502920" y="2834640"/>
            <a:ext cx="5394960" cy="201168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AKUISISI DAN KEMITRAAN MEMBELI WAKTU, BUKAN INTEGRASI</a:t>
            </a:r>
            <a:endParaRPr lang="en-US" sz="3400" dirty="0"/>
          </a:p>
        </p:txBody>
      </p:sp>
      <p:sp>
        <p:nvSpPr>
          <p:cNvPr id="15" name="text"/>
          <p:cNvSpPr txBox="1"/>
          <p:nvPr/>
        </p:nvSpPr>
        <p:spPr>
          <a:xfrm>
            <a:off x="502920" y="4846320"/>
            <a:ext cx="5212080" cy="155448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Akuisisi tepat bila capability terlalu jauh dari basis yang ada atau waktu mendesak, tetapi tacit knowledge sulit dipindahkan. Kemitraan punya tiga jalur: outsource, aliansi, dan belajar dari mitra secara dua arah.</a:t>
            </a:r>
            <a:endParaRPr lang="en-US" sz="1400" dirty="0"/>
          </a:p>
        </p:txBody>
      </p:sp>
      <p:sp>
        <p:nvSpPr>
          <p:cNvPr id="16"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pic>
        <p:nvPicPr>
          <p:cNvPr id="7" name="Atelier busana putih" descr="preencoded.png">    </p:cNvPr>
          <p:cNvPicPr>
            <a:picLocks noChangeAspect="1"/>
          </p:cNvPicPr>
          <p:nvPr/>
        </p:nvPicPr>
        <p:blipFill>
          <a:blip r:embed="rId1"/>
          <a:stretch>
            <a:fillRect/>
          </a:stretch>
        </p:blipFill>
        <p:spPr>
          <a:xfrm>
            <a:off x="502920" y="658368"/>
            <a:ext cx="11185855" cy="3246120"/>
          </a:xfrm>
          <a:prstGeom prst="rect">
            <a:avLst/>
          </a:prstGeom>
        </p:spPr>
      </p:pic>
      <p:sp>
        <p:nvSpPr>
          <p:cNvPr id="8" name="toggle"/>
          <p:cNvSpPr/>
          <p:nvPr/>
        </p:nvSpPr>
        <p:spPr>
          <a:xfrm>
            <a:off x="10911535" y="868680"/>
            <a:ext cx="566928" cy="274320"/>
          </a:xfrm>
          <a:prstGeom prst="roundRect">
            <a:avLst>
              <a:gd name="adj" fmla="val 166667"/>
            </a:avLst>
          </a:prstGeom>
          <a:solidFill>
            <a:srgbClr val="F4F4F4"/>
          </a:solidFill>
          <a:ln w="9525">
            <a:solidFill>
              <a:srgbClr val="141417"/>
            </a:solidFill>
            <a:prstDash val="solid"/>
          </a:ln>
        </p:spPr>
      </p:sp>
      <p:sp>
        <p:nvSpPr>
          <p:cNvPr id="9" name="toggle-dot"/>
          <p:cNvSpPr/>
          <p:nvPr/>
        </p:nvSpPr>
        <p:spPr>
          <a:xfrm>
            <a:off x="11213287" y="905256"/>
            <a:ext cx="201168" cy="201168"/>
          </a:xfrm>
          <a:prstGeom prst="ellipse">
            <a:avLst/>
          </a:prstGeom>
          <a:solidFill>
            <a:srgbClr val="D4FC00"/>
          </a:solidFill>
          <a:ln w="6350">
            <a:solidFill>
              <a:srgbClr val="D4FC00"/>
            </a:solidFill>
            <a:prstDash val="solid"/>
          </a:ln>
        </p:spPr>
      </p:sp>
      <p:pic>
        <p:nvPicPr>
          <p:cNvPr id="10" name="toggle-star" descr="preencoded.png">    </p:cNvPr>
          <p:cNvPicPr>
            <a:picLocks noChangeAspect="1"/>
          </p:cNvPicPr>
          <p:nvPr/>
        </p:nvPicPr>
        <p:blipFill>
          <a:blip r:embed="rId2"/>
          <a:stretch>
            <a:fillRect/>
          </a:stretch>
        </p:blipFill>
        <p:spPr>
          <a:xfrm>
            <a:off x="11254435" y="946404"/>
            <a:ext cx="118872" cy="118872"/>
          </a:xfrm>
          <a:prstGeom prst="rect">
            <a:avLst/>
          </a:prstGeom>
        </p:spPr>
      </p:pic>
      <p:sp>
        <p:nvSpPr>
          <p:cNvPr id="11" name="card"/>
          <p:cNvSpPr/>
          <p:nvPr/>
        </p:nvSpPr>
        <p:spPr>
          <a:xfrm>
            <a:off x="731520" y="1965960"/>
            <a:ext cx="5852160" cy="1783080"/>
          </a:xfrm>
          <a:prstGeom prst="roundRect">
            <a:avLst>
              <a:gd name="adj" fmla="val 7179"/>
            </a:avLst>
          </a:prstGeom>
          <a:solidFill>
            <a:srgbClr val="F4F4F4"/>
          </a:solidFill>
          <a:ln w="6350">
            <a:solidFill>
              <a:srgbClr val="F4F4F4"/>
            </a:solidFill>
            <a:prstDash val="solid"/>
          </a:ln>
        </p:spPr>
      </p:sp>
      <p:sp>
        <p:nvSpPr>
          <p:cNvPr id="12" name="text"/>
          <p:cNvSpPr txBox="1"/>
          <p:nvPr/>
        </p:nvSpPr>
        <p:spPr>
          <a:xfrm>
            <a:off x="914400" y="2011680"/>
            <a:ext cx="5577840" cy="1691640"/>
          </a:xfrm>
          <a:prstGeom prst="rect">
            <a:avLst/>
          </a:prstGeom>
          <a:noFill/>
          <a:ln/>
        </p:spPr>
        <p:txBody>
          <a:bodyPr wrap="square" lIns="0" tIns="0" rIns="0" bIns="0" rtlCol="0" anchor="ctr"/>
          <a:lstStyle/>
          <a:p>
            <a:pPr algn="l" indent="0" marL="0">
              <a:lnSpc>
                <a:spcPct val="98000"/>
              </a:lnSpc>
              <a:buNone/>
            </a:pPr>
            <a:r>
              <a:rPr lang="en-US" sz="3200" spc="-50" kern="0" dirty="0">
                <a:solidFill>
                  <a:srgbClr val="141417"/>
                </a:solidFill>
                <a:latin typeface="Outfit Medium" pitchFamily="34" charset="0"/>
                <a:ea typeface="Outfit Medium" pitchFamily="34" charset="-122"/>
                <a:cs typeface="Outfit Medium" pitchFamily="34" charset="-120"/>
              </a:rPr>
              <a:t>EKSEKUSI YANG UNGGUL ADALAH KEUNGGULAN ITU SENDIRI</a:t>
            </a:r>
            <a:endParaRPr lang="en-US" sz="3200" dirty="0"/>
          </a:p>
        </p:txBody>
      </p:sp>
      <p:sp>
        <p:nvSpPr>
          <p:cNvPr id="13" name="card"/>
          <p:cNvSpPr/>
          <p:nvPr/>
        </p:nvSpPr>
        <p:spPr>
          <a:xfrm>
            <a:off x="502920" y="4023360"/>
            <a:ext cx="4023360" cy="1463040"/>
          </a:xfrm>
          <a:prstGeom prst="roundRect">
            <a:avLst>
              <a:gd name="adj" fmla="val 12500"/>
            </a:avLst>
          </a:prstGeom>
          <a:solidFill>
            <a:srgbClr val="D4FC00"/>
          </a:solidFill>
          <a:ln w="6350">
            <a:solidFill>
              <a:srgbClr val="D4FC00"/>
            </a:solidFill>
            <a:prstDash val="solid"/>
          </a:ln>
        </p:spPr>
      </p:sp>
      <p:sp>
        <p:nvSpPr>
          <p:cNvPr id="14" name="text"/>
          <p:cNvSpPr txBox="1"/>
          <p:nvPr/>
        </p:nvSpPr>
        <p:spPr>
          <a:xfrm>
            <a:off x="731520" y="4023360"/>
            <a:ext cx="1920240" cy="1463040"/>
          </a:xfrm>
          <a:prstGeom prst="rect">
            <a:avLst/>
          </a:prstGeom>
          <a:noFill/>
          <a:ln/>
        </p:spPr>
        <p:txBody>
          <a:bodyPr wrap="square" lIns="0" tIns="0" rIns="0" bIns="0" rtlCol="0" anchor="ctr"/>
          <a:lstStyle/>
          <a:p>
            <a:pPr algn="l" indent="0" marL="0">
              <a:lnSpc>
                <a:spcPct val="110000"/>
              </a:lnSpc>
              <a:buNone/>
            </a:pPr>
            <a:r>
              <a:rPr lang="en-US" sz="3400" spc="-50" kern="0" dirty="0">
                <a:solidFill>
                  <a:srgbClr val="141417"/>
                </a:solidFill>
                <a:latin typeface="Outfit Medium" pitchFamily="34" charset="0"/>
                <a:ea typeface="Outfit Medium" pitchFamily="34" charset="-122"/>
                <a:cs typeface="Outfit Medium" pitchFamily="34" charset="-120"/>
              </a:rPr>
              <a:t>4 minggu</a:t>
            </a:r>
            <a:endParaRPr lang="en-US" sz="3400" dirty="0"/>
          </a:p>
        </p:txBody>
      </p:sp>
      <p:sp>
        <p:nvSpPr>
          <p:cNvPr id="15" name="text"/>
          <p:cNvSpPr txBox="1"/>
          <p:nvPr/>
        </p:nvSpPr>
        <p:spPr>
          <a:xfrm>
            <a:off x="2743200" y="4023360"/>
            <a:ext cx="1645920" cy="1463040"/>
          </a:xfrm>
          <a:prstGeom prst="rect">
            <a:avLst/>
          </a:prstGeom>
          <a:noFill/>
          <a:ln/>
        </p:spPr>
        <p:txBody>
          <a:bodyPr wrap="square" lIns="0" tIns="0" rIns="0" bIns="0" rtlCol="0" anchor="ctr"/>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dari desain sampai rak toko; peritel lain 6 bulan</a:t>
            </a:r>
            <a:endParaRPr lang="en-US" sz="1200" dirty="0"/>
          </a:p>
        </p:txBody>
      </p:sp>
      <p:sp>
        <p:nvSpPr>
          <p:cNvPr id="16" name="card"/>
          <p:cNvSpPr/>
          <p:nvPr/>
        </p:nvSpPr>
        <p:spPr>
          <a:xfrm>
            <a:off x="4663440" y="4023360"/>
            <a:ext cx="5166360" cy="1463040"/>
          </a:xfrm>
          <a:prstGeom prst="roundRect">
            <a:avLst>
              <a:gd name="adj" fmla="val 12500"/>
            </a:avLst>
          </a:prstGeom>
          <a:solidFill>
            <a:srgbClr val="E8E8E8"/>
          </a:solidFill>
          <a:ln w="6350">
            <a:solidFill>
              <a:srgbClr val="E8E8E8"/>
            </a:solidFill>
            <a:prstDash val="solid"/>
          </a:ln>
        </p:spPr>
      </p:sp>
      <p:sp>
        <p:nvSpPr>
          <p:cNvPr id="17" name="card"/>
          <p:cNvSpPr/>
          <p:nvPr/>
        </p:nvSpPr>
        <p:spPr>
          <a:xfrm>
            <a:off x="4663440" y="4023360"/>
            <a:ext cx="2560320" cy="1463040"/>
          </a:xfrm>
          <a:prstGeom prst="roundRect">
            <a:avLst>
              <a:gd name="adj" fmla="val 12500"/>
            </a:avLst>
          </a:prstGeom>
          <a:solidFill>
            <a:srgbClr val="E8E8E8"/>
          </a:solidFill>
          <a:ln w="6350">
            <a:solidFill>
              <a:srgbClr val="E8E8E8"/>
            </a:solidFill>
            <a:prstDash val="solid"/>
          </a:ln>
        </p:spPr>
      </p:sp>
      <p:sp>
        <p:nvSpPr>
          <p:cNvPr id="18" name="text"/>
          <p:cNvSpPr txBox="1"/>
          <p:nvPr/>
        </p:nvSpPr>
        <p:spPr>
          <a:xfrm>
            <a:off x="4892040" y="4187952"/>
            <a:ext cx="210312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12.000</a:t>
            </a:r>
            <a:endParaRPr lang="en-US" sz="2200" dirty="0"/>
          </a:p>
        </p:txBody>
      </p:sp>
      <p:sp>
        <p:nvSpPr>
          <p:cNvPr id="19" name="text"/>
          <p:cNvSpPr txBox="1"/>
          <p:nvPr/>
        </p:nvSpPr>
        <p:spPr>
          <a:xfrm>
            <a:off x="4892040" y="4736592"/>
            <a:ext cx="2103120" cy="68580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model baru per tahun; industri 3.000</a:t>
            </a:r>
            <a:endParaRPr lang="en-US" sz="1200" dirty="0"/>
          </a:p>
        </p:txBody>
      </p:sp>
      <p:sp>
        <p:nvSpPr>
          <p:cNvPr id="20" name="card"/>
          <p:cNvSpPr/>
          <p:nvPr/>
        </p:nvSpPr>
        <p:spPr>
          <a:xfrm>
            <a:off x="7269480" y="4023360"/>
            <a:ext cx="2560320" cy="1463040"/>
          </a:xfrm>
          <a:prstGeom prst="roundRect">
            <a:avLst>
              <a:gd name="adj" fmla="val 12500"/>
            </a:avLst>
          </a:prstGeom>
          <a:solidFill>
            <a:srgbClr val="E8E8E8"/>
          </a:solidFill>
          <a:ln w="6350">
            <a:solidFill>
              <a:srgbClr val="E8E8E8"/>
            </a:solidFill>
            <a:prstDash val="solid"/>
          </a:ln>
        </p:spPr>
      </p:sp>
      <p:sp>
        <p:nvSpPr>
          <p:cNvPr id="21" name="text"/>
          <p:cNvSpPr txBox="1"/>
          <p:nvPr/>
        </p:nvSpPr>
        <p:spPr>
          <a:xfrm>
            <a:off x="7498080" y="4187952"/>
            <a:ext cx="210312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17 kali</a:t>
            </a:r>
            <a:endParaRPr lang="en-US" sz="2200" dirty="0"/>
          </a:p>
        </p:txBody>
      </p:sp>
      <p:sp>
        <p:nvSpPr>
          <p:cNvPr id="22" name="text"/>
          <p:cNvSpPr txBox="1"/>
          <p:nvPr/>
        </p:nvSpPr>
        <p:spPr>
          <a:xfrm>
            <a:off x="7498080" y="4736592"/>
            <a:ext cx="2103120" cy="68580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kunjungan pelanggan per tahun; pesaing 2 kali</a:t>
            </a:r>
            <a:endParaRPr lang="en-US" sz="1200" dirty="0"/>
          </a:p>
        </p:txBody>
      </p:sp>
      <p:sp>
        <p:nvSpPr>
          <p:cNvPr id="23" name="card"/>
          <p:cNvSpPr/>
          <p:nvPr/>
        </p:nvSpPr>
        <p:spPr>
          <a:xfrm>
            <a:off x="9966960" y="4023360"/>
            <a:ext cx="1721815" cy="1463040"/>
          </a:xfrm>
          <a:prstGeom prst="roundRect">
            <a:avLst>
              <a:gd name="adj" fmla="val 12500"/>
            </a:avLst>
          </a:prstGeom>
          <a:solidFill>
            <a:srgbClr val="141417"/>
          </a:solidFill>
          <a:ln w="6350">
            <a:solidFill>
              <a:srgbClr val="141417"/>
            </a:solidFill>
            <a:prstDash val="solid"/>
          </a:ln>
        </p:spPr>
      </p:sp>
      <p:sp>
        <p:nvSpPr>
          <p:cNvPr id="24" name="text"/>
          <p:cNvSpPr txBox="1"/>
          <p:nvPr/>
        </p:nvSpPr>
        <p:spPr>
          <a:xfrm>
            <a:off x="10195560" y="4187952"/>
            <a:ext cx="1264615"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FFFFFF"/>
                </a:solidFill>
                <a:latin typeface="Outfit Medium" pitchFamily="34" charset="0"/>
                <a:ea typeface="Outfit Medium" pitchFamily="34" charset="-122"/>
                <a:cs typeface="Outfit Medium" pitchFamily="34" charset="-120"/>
              </a:rPr>
              <a:t>11 hari</a:t>
            </a:r>
            <a:endParaRPr lang="en-US" sz="2200" dirty="0"/>
          </a:p>
        </p:txBody>
      </p:sp>
      <p:sp>
        <p:nvSpPr>
          <p:cNvPr id="25" name="text"/>
          <p:cNvSpPr txBox="1"/>
          <p:nvPr/>
        </p:nvSpPr>
        <p:spPr>
          <a:xfrm>
            <a:off x="10195560" y="4736592"/>
            <a:ext cx="1264615" cy="685800"/>
          </a:xfrm>
          <a:prstGeom prst="rect">
            <a:avLst/>
          </a:prstGeom>
          <a:noFill/>
          <a:ln/>
        </p:spPr>
        <p:txBody>
          <a:bodyPr wrap="square" lIns="0" tIns="0" rIns="0" bIns="0" rtlCol="0" anchor="t"/>
          <a:lstStyle/>
          <a:p>
            <a:pPr algn="l" indent="0" marL="0">
              <a:lnSpc>
                <a:spcPct val="110000"/>
              </a:lnSpc>
              <a:buNone/>
            </a:pPr>
            <a:r>
              <a:rPr lang="en-US" sz="1200" dirty="0">
                <a:solidFill>
                  <a:srgbClr val="BDBDC2"/>
                </a:solidFill>
                <a:latin typeface="Outfit" pitchFamily="34" charset="0"/>
                <a:ea typeface="Outfit" pitchFamily="34" charset="-122"/>
                <a:cs typeface="Outfit" pitchFamily="34" charset="-120"/>
              </a:rPr>
              <a:t>umur rata-rata item di toko</a:t>
            </a:r>
            <a:endParaRPr lang="en-US" sz="1200" dirty="0"/>
          </a:p>
        </p:txBody>
      </p:sp>
      <p:sp>
        <p:nvSpPr>
          <p:cNvPr id="26" name="text"/>
          <p:cNvSpPr txBox="1"/>
          <p:nvPr/>
        </p:nvSpPr>
        <p:spPr>
          <a:xfrm>
            <a:off x="502920" y="5623560"/>
            <a:ext cx="9418320" cy="82296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Strategi fast fashion Zara tidak unik; keunggulannya ada pada eksekusi yang socially complex dan sulit ditiru. Bila strategi mudah ditiru, jalan satu-satunya adalah out-execute pesaing.</a:t>
            </a:r>
            <a:endParaRPr lang="en-US" sz="1400" dirty="0"/>
          </a:p>
        </p:txBody>
      </p:sp>
      <p:sp>
        <p:nvSpPr>
          <p:cNvPr id="27"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card"/>
          <p:cNvSpPr/>
          <p:nvPr/>
        </p:nvSpPr>
        <p:spPr>
          <a:xfrm>
            <a:off x="502920" y="658368"/>
            <a:ext cx="6309360" cy="1049731"/>
          </a:xfrm>
          <a:prstGeom prst="roundRect">
            <a:avLst>
              <a:gd name="adj" fmla="val 17422"/>
            </a:avLst>
          </a:prstGeom>
          <a:solidFill>
            <a:srgbClr val="D4FC00"/>
          </a:solidFill>
          <a:ln w="6350">
            <a:solidFill>
              <a:srgbClr val="D4FC00"/>
            </a:solidFill>
            <a:prstDash val="solid"/>
          </a:ln>
        </p:spPr>
      </p:sp>
      <p:sp>
        <p:nvSpPr>
          <p:cNvPr id="8" name="text"/>
          <p:cNvSpPr txBox="1"/>
          <p:nvPr/>
        </p:nvSpPr>
        <p:spPr>
          <a:xfrm>
            <a:off x="777240" y="914400"/>
            <a:ext cx="1737360" cy="592531"/>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01 OUTSOURCING</a:t>
            </a:r>
            <a:endParaRPr lang="en-US" sz="1200" dirty="0"/>
          </a:p>
        </p:txBody>
      </p:sp>
      <p:sp>
        <p:nvSpPr>
          <p:cNvPr id="9" name="text"/>
          <p:cNvSpPr txBox="1"/>
          <p:nvPr/>
        </p:nvSpPr>
        <p:spPr>
          <a:xfrm>
            <a:off x="2651760" y="896112"/>
            <a:ext cx="3383280" cy="683971"/>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Mana dikerjakan sendiri, mana diserahkan ke pihak luar.</a:t>
            </a:r>
            <a:endParaRPr lang="en-US" sz="1400" dirty="0"/>
          </a:p>
        </p:txBody>
      </p:sp>
      <p:sp>
        <p:nvSpPr>
          <p:cNvPr id="10" name="dot"/>
          <p:cNvSpPr/>
          <p:nvPr/>
        </p:nvSpPr>
        <p:spPr>
          <a:xfrm>
            <a:off x="6245352" y="1046074"/>
            <a:ext cx="274320" cy="274320"/>
          </a:xfrm>
          <a:prstGeom prst="ellipse">
            <a:avLst/>
          </a:prstGeom>
          <a:solidFill>
            <a:srgbClr val="141417"/>
          </a:solidFill>
          <a:ln w="6350">
            <a:solidFill>
              <a:srgbClr val="141417"/>
            </a:solidFill>
            <a:prstDash val="solid"/>
          </a:ln>
        </p:spPr>
      </p:sp>
      <p:pic>
        <p:nvPicPr>
          <p:cNvPr id="11" name="dot-icon" descr="preencoded.png">    </p:cNvPr>
          <p:cNvPicPr>
            <a:picLocks noChangeAspect="1"/>
          </p:cNvPicPr>
          <p:nvPr/>
        </p:nvPicPr>
        <p:blipFill>
          <a:blip r:embed="rId1"/>
          <a:stretch>
            <a:fillRect/>
          </a:stretch>
        </p:blipFill>
        <p:spPr>
          <a:xfrm>
            <a:off x="6305702" y="1106424"/>
            <a:ext cx="153619" cy="153619"/>
          </a:xfrm>
          <a:prstGeom prst="rect">
            <a:avLst/>
          </a:prstGeom>
        </p:spPr>
      </p:pic>
      <p:sp>
        <p:nvSpPr>
          <p:cNvPr id="12" name="card"/>
          <p:cNvSpPr/>
          <p:nvPr/>
        </p:nvSpPr>
        <p:spPr>
          <a:xfrm>
            <a:off x="502920" y="1836115"/>
            <a:ext cx="6309360" cy="1049731"/>
          </a:xfrm>
          <a:prstGeom prst="roundRect">
            <a:avLst>
              <a:gd name="adj" fmla="val 17422"/>
            </a:avLst>
          </a:prstGeom>
          <a:solidFill>
            <a:srgbClr val="E8E8E8"/>
          </a:solidFill>
          <a:ln w="6350">
            <a:solidFill>
              <a:srgbClr val="E8E8E8"/>
            </a:solidFill>
            <a:prstDash val="solid"/>
          </a:ln>
        </p:spPr>
      </p:sp>
      <p:sp>
        <p:nvSpPr>
          <p:cNvPr id="13" name="text"/>
          <p:cNvSpPr txBox="1"/>
          <p:nvPr/>
        </p:nvSpPr>
        <p:spPr>
          <a:xfrm>
            <a:off x="777240" y="2092147"/>
            <a:ext cx="1737360" cy="592531"/>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02 TIPE STRUKTUR</a:t>
            </a:r>
            <a:endParaRPr lang="en-US" sz="1200" dirty="0"/>
          </a:p>
        </p:txBody>
      </p:sp>
      <p:sp>
        <p:nvSpPr>
          <p:cNvPr id="14" name="text"/>
          <p:cNvSpPr txBox="1"/>
          <p:nvPr/>
        </p:nvSpPr>
        <p:spPr>
          <a:xfrm>
            <a:off x="2651760" y="2073859"/>
            <a:ext cx="3383280" cy="683971"/>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Menyelaraskan bentuk organisasi dengan strategi.</a:t>
            </a:r>
            <a:endParaRPr lang="en-US" sz="1400" dirty="0"/>
          </a:p>
        </p:txBody>
      </p:sp>
      <p:sp>
        <p:nvSpPr>
          <p:cNvPr id="15" name="dot"/>
          <p:cNvSpPr/>
          <p:nvPr/>
        </p:nvSpPr>
        <p:spPr>
          <a:xfrm>
            <a:off x="6245352" y="2223821"/>
            <a:ext cx="274320" cy="274320"/>
          </a:xfrm>
          <a:prstGeom prst="ellipse">
            <a:avLst/>
          </a:prstGeom>
          <a:solidFill>
            <a:srgbClr val="141417"/>
          </a:solidFill>
          <a:ln w="6350">
            <a:solidFill>
              <a:srgbClr val="141417"/>
            </a:solidFill>
            <a:prstDash val="solid"/>
          </a:ln>
        </p:spPr>
      </p:sp>
      <p:pic>
        <p:nvPicPr>
          <p:cNvPr id="16" name="dot-icon" descr="preencoded.png">    </p:cNvPr>
          <p:cNvPicPr>
            <a:picLocks noChangeAspect="1"/>
          </p:cNvPicPr>
          <p:nvPr/>
        </p:nvPicPr>
        <p:blipFill>
          <a:blip r:embed="rId2"/>
          <a:stretch>
            <a:fillRect/>
          </a:stretch>
        </p:blipFill>
        <p:spPr>
          <a:xfrm>
            <a:off x="6305702" y="2284171"/>
            <a:ext cx="153619" cy="153619"/>
          </a:xfrm>
          <a:prstGeom prst="rect">
            <a:avLst/>
          </a:prstGeom>
        </p:spPr>
      </p:pic>
      <p:sp>
        <p:nvSpPr>
          <p:cNvPr id="17" name="card"/>
          <p:cNvSpPr/>
          <p:nvPr/>
        </p:nvSpPr>
        <p:spPr>
          <a:xfrm>
            <a:off x="502920" y="3013862"/>
            <a:ext cx="6309360" cy="1049731"/>
          </a:xfrm>
          <a:prstGeom prst="roundRect">
            <a:avLst>
              <a:gd name="adj" fmla="val 17422"/>
            </a:avLst>
          </a:prstGeom>
          <a:solidFill>
            <a:srgbClr val="D4FC00"/>
          </a:solidFill>
          <a:ln w="6350">
            <a:solidFill>
              <a:srgbClr val="D4FC00"/>
            </a:solidFill>
            <a:prstDash val="solid"/>
          </a:ln>
        </p:spPr>
      </p:sp>
      <p:sp>
        <p:nvSpPr>
          <p:cNvPr id="18" name="text"/>
          <p:cNvSpPr txBox="1"/>
          <p:nvPr/>
        </p:nvSpPr>
        <p:spPr>
          <a:xfrm>
            <a:off x="777240" y="3269894"/>
            <a:ext cx="1737360" cy="592531"/>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03 DELEGASI</a:t>
            </a:r>
            <a:endParaRPr lang="en-US" sz="1200" dirty="0"/>
          </a:p>
        </p:txBody>
      </p:sp>
      <p:sp>
        <p:nvSpPr>
          <p:cNvPr id="19" name="text"/>
          <p:cNvSpPr txBox="1"/>
          <p:nvPr/>
        </p:nvSpPr>
        <p:spPr>
          <a:xfrm>
            <a:off x="2651760" y="3251606"/>
            <a:ext cx="3383280" cy="683971"/>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Seberapa besar wewenang dipusatkan atau didelegasikan.</a:t>
            </a:r>
            <a:endParaRPr lang="en-US" sz="1400" dirty="0"/>
          </a:p>
        </p:txBody>
      </p:sp>
      <p:sp>
        <p:nvSpPr>
          <p:cNvPr id="20" name="dot"/>
          <p:cNvSpPr/>
          <p:nvPr/>
        </p:nvSpPr>
        <p:spPr>
          <a:xfrm>
            <a:off x="6245352" y="3401568"/>
            <a:ext cx="274320" cy="274320"/>
          </a:xfrm>
          <a:prstGeom prst="ellipse">
            <a:avLst/>
          </a:prstGeom>
          <a:solidFill>
            <a:srgbClr val="141417"/>
          </a:solidFill>
          <a:ln w="6350">
            <a:solidFill>
              <a:srgbClr val="141417"/>
            </a:solidFill>
            <a:prstDash val="solid"/>
          </a:ln>
        </p:spPr>
      </p:sp>
      <p:pic>
        <p:nvPicPr>
          <p:cNvPr id="21" name="dot-icon" descr="preencoded.png">    </p:cNvPr>
          <p:cNvPicPr>
            <a:picLocks noChangeAspect="1"/>
          </p:cNvPicPr>
          <p:nvPr/>
        </p:nvPicPr>
        <p:blipFill>
          <a:blip r:embed="rId3"/>
          <a:stretch>
            <a:fillRect/>
          </a:stretch>
        </p:blipFill>
        <p:spPr>
          <a:xfrm>
            <a:off x="6305702" y="3461918"/>
            <a:ext cx="153619" cy="153619"/>
          </a:xfrm>
          <a:prstGeom prst="rect">
            <a:avLst/>
          </a:prstGeom>
        </p:spPr>
      </p:pic>
      <p:sp>
        <p:nvSpPr>
          <p:cNvPr id="22" name="card"/>
          <p:cNvSpPr/>
          <p:nvPr/>
        </p:nvSpPr>
        <p:spPr>
          <a:xfrm>
            <a:off x="502920" y="4191610"/>
            <a:ext cx="6309360" cy="1049731"/>
          </a:xfrm>
          <a:prstGeom prst="roundRect">
            <a:avLst>
              <a:gd name="adj" fmla="val 17422"/>
            </a:avLst>
          </a:prstGeom>
          <a:solidFill>
            <a:srgbClr val="E8E8E8"/>
          </a:solidFill>
          <a:ln w="6350">
            <a:solidFill>
              <a:srgbClr val="E8E8E8"/>
            </a:solidFill>
            <a:prstDash val="solid"/>
          </a:ln>
        </p:spPr>
      </p:sp>
      <p:sp>
        <p:nvSpPr>
          <p:cNvPr id="23" name="text"/>
          <p:cNvSpPr txBox="1"/>
          <p:nvPr/>
        </p:nvSpPr>
        <p:spPr>
          <a:xfrm>
            <a:off x="777240" y="4447642"/>
            <a:ext cx="1737360" cy="592531"/>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04 KOORDINASI</a:t>
            </a:r>
            <a:endParaRPr lang="en-US" sz="1200" dirty="0"/>
          </a:p>
        </p:txBody>
      </p:sp>
      <p:sp>
        <p:nvSpPr>
          <p:cNvPr id="24" name="text"/>
          <p:cNvSpPr txBox="1"/>
          <p:nvPr/>
        </p:nvSpPr>
        <p:spPr>
          <a:xfrm>
            <a:off x="2651760" y="4429354"/>
            <a:ext cx="3383280" cy="683971"/>
          </a:xfrm>
          <a:prstGeom prst="rect">
            <a:avLst/>
          </a:prstGeom>
          <a:noFill/>
          <a:ln/>
        </p:spPr>
        <p:txBody>
          <a:bodyPr wrap="square" lIns="0" tIns="0" rIns="0" bIns="0" rtlCol="0" anchor="t"/>
          <a:lstStyle/>
          <a:p>
            <a:pPr algn="l" indent="0" marL="0">
              <a:lnSpc>
                <a:spcPct val="108000"/>
              </a:lnSpc>
              <a:buNone/>
            </a:pPr>
            <a:r>
              <a:rPr lang="en-US" sz="1400" dirty="0">
                <a:solidFill>
                  <a:srgbClr val="1A1A1C"/>
                </a:solidFill>
                <a:latin typeface="Outfit" pitchFamily="34" charset="0"/>
                <a:ea typeface="Outfit" pitchFamily="34" charset="-122"/>
                <a:cs typeface="Outfit" pitchFamily="34" charset="-120"/>
              </a:rPr>
              <a:t>Kerja sama lintas unit untuk membangun capability.</a:t>
            </a:r>
            <a:endParaRPr lang="en-US" sz="1400" dirty="0"/>
          </a:p>
        </p:txBody>
      </p:sp>
      <p:sp>
        <p:nvSpPr>
          <p:cNvPr id="25" name="dot"/>
          <p:cNvSpPr/>
          <p:nvPr/>
        </p:nvSpPr>
        <p:spPr>
          <a:xfrm>
            <a:off x="6245352" y="4579315"/>
            <a:ext cx="274320" cy="274320"/>
          </a:xfrm>
          <a:prstGeom prst="ellipse">
            <a:avLst/>
          </a:prstGeom>
          <a:solidFill>
            <a:srgbClr val="141417"/>
          </a:solidFill>
          <a:ln w="6350">
            <a:solidFill>
              <a:srgbClr val="141417"/>
            </a:solidFill>
            <a:prstDash val="solid"/>
          </a:ln>
        </p:spPr>
      </p:sp>
      <p:pic>
        <p:nvPicPr>
          <p:cNvPr id="26" name="dot-icon" descr="preencoded.png">    </p:cNvPr>
          <p:cNvPicPr>
            <a:picLocks noChangeAspect="1"/>
          </p:cNvPicPr>
          <p:nvPr/>
        </p:nvPicPr>
        <p:blipFill>
          <a:blip r:embed="rId4"/>
          <a:stretch>
            <a:fillRect/>
          </a:stretch>
        </p:blipFill>
        <p:spPr>
          <a:xfrm>
            <a:off x="6305702" y="4639666"/>
            <a:ext cx="153619" cy="153619"/>
          </a:xfrm>
          <a:prstGeom prst="rect">
            <a:avLst/>
          </a:prstGeom>
        </p:spPr>
      </p:pic>
      <p:sp>
        <p:nvSpPr>
          <p:cNvPr id="27" name="card"/>
          <p:cNvSpPr/>
          <p:nvPr/>
        </p:nvSpPr>
        <p:spPr>
          <a:xfrm>
            <a:off x="502920" y="5369357"/>
            <a:ext cx="6309360" cy="1049731"/>
          </a:xfrm>
          <a:prstGeom prst="roundRect">
            <a:avLst>
              <a:gd name="adj" fmla="val 17422"/>
            </a:avLst>
          </a:prstGeom>
          <a:solidFill>
            <a:srgbClr val="141417"/>
          </a:solidFill>
          <a:ln w="6350">
            <a:solidFill>
              <a:srgbClr val="141417"/>
            </a:solidFill>
            <a:prstDash val="solid"/>
          </a:ln>
        </p:spPr>
      </p:sp>
      <p:sp>
        <p:nvSpPr>
          <p:cNvPr id="28" name="text"/>
          <p:cNvSpPr txBox="1"/>
          <p:nvPr/>
        </p:nvSpPr>
        <p:spPr>
          <a:xfrm>
            <a:off x="777240" y="5625389"/>
            <a:ext cx="1737360" cy="592531"/>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05 MITRA EKSTERNAL</a:t>
            </a:r>
            <a:endParaRPr lang="en-US" sz="1200" dirty="0"/>
          </a:p>
        </p:txBody>
      </p:sp>
      <p:sp>
        <p:nvSpPr>
          <p:cNvPr id="29" name="text"/>
          <p:cNvSpPr txBox="1"/>
          <p:nvPr/>
        </p:nvSpPr>
        <p:spPr>
          <a:xfrm>
            <a:off x="2651760" y="5607101"/>
            <a:ext cx="3383280" cy="683971"/>
          </a:xfrm>
          <a:prstGeom prst="rect">
            <a:avLst/>
          </a:prstGeom>
          <a:noFill/>
          <a:ln/>
        </p:spPr>
        <p:txBody>
          <a:bodyPr wrap="square" lIns="0" tIns="0" rIns="0" bIns="0" rtlCol="0" anchor="t"/>
          <a:lstStyle/>
          <a:p>
            <a:pPr algn="l" indent="0" marL="0">
              <a:lnSpc>
                <a:spcPct val="108000"/>
              </a:lnSpc>
              <a:buNone/>
            </a:pPr>
            <a:r>
              <a:rPr lang="en-US" sz="1400" dirty="0">
                <a:solidFill>
                  <a:srgbClr val="E4E4E7"/>
                </a:solidFill>
                <a:latin typeface="Outfit" pitchFamily="34" charset="0"/>
                <a:ea typeface="Outfit" pitchFamily="34" charset="-122"/>
                <a:cs typeface="Outfit" pitchFamily="34" charset="-120"/>
              </a:rPr>
              <a:t>Kolaborasi dengan pemasok, aliansi, dan jaringan.</a:t>
            </a:r>
            <a:endParaRPr lang="en-US" sz="1400" dirty="0"/>
          </a:p>
        </p:txBody>
      </p:sp>
      <p:sp>
        <p:nvSpPr>
          <p:cNvPr id="30" name="dot"/>
          <p:cNvSpPr/>
          <p:nvPr/>
        </p:nvSpPr>
        <p:spPr>
          <a:xfrm>
            <a:off x="6245352" y="5757062"/>
            <a:ext cx="274320" cy="274320"/>
          </a:xfrm>
          <a:prstGeom prst="ellipse">
            <a:avLst/>
          </a:prstGeom>
          <a:solidFill>
            <a:srgbClr val="D4FC00"/>
          </a:solidFill>
          <a:ln w="6350">
            <a:solidFill>
              <a:srgbClr val="D4FC00"/>
            </a:solidFill>
            <a:prstDash val="solid"/>
          </a:ln>
        </p:spPr>
      </p:sp>
      <p:pic>
        <p:nvPicPr>
          <p:cNvPr id="31" name="dot-icon" descr="preencoded.png">    </p:cNvPr>
          <p:cNvPicPr>
            <a:picLocks noChangeAspect="1"/>
          </p:cNvPicPr>
          <p:nvPr/>
        </p:nvPicPr>
        <p:blipFill>
          <a:blip r:embed="rId5"/>
          <a:stretch>
            <a:fillRect/>
          </a:stretch>
        </p:blipFill>
        <p:spPr>
          <a:xfrm>
            <a:off x="6305702" y="5817413"/>
            <a:ext cx="153619" cy="153619"/>
          </a:xfrm>
          <a:prstGeom prst="rect">
            <a:avLst/>
          </a:prstGeom>
        </p:spPr>
      </p:pic>
      <p:pic>
        <p:nvPicPr>
          <p:cNvPr id="32" name="Interior putih dengan tangga melengkung" descr="preencoded.png">    </p:cNvPr>
          <p:cNvPicPr>
            <a:picLocks noChangeAspect="1"/>
          </p:cNvPicPr>
          <p:nvPr/>
        </p:nvPicPr>
        <p:blipFill>
          <a:blip r:embed="rId6"/>
          <a:stretch>
            <a:fillRect/>
          </a:stretch>
        </p:blipFill>
        <p:spPr>
          <a:xfrm>
            <a:off x="7269480" y="658368"/>
            <a:ext cx="4419295" cy="2377440"/>
          </a:xfrm>
          <a:prstGeom prst="rect">
            <a:avLst/>
          </a:prstGeom>
        </p:spPr>
      </p:pic>
      <p:sp>
        <p:nvSpPr>
          <p:cNvPr id="33" name="text"/>
          <p:cNvSpPr txBox="1"/>
          <p:nvPr/>
        </p:nvSpPr>
        <p:spPr>
          <a:xfrm>
            <a:off x="7269480" y="3291840"/>
            <a:ext cx="4419295" cy="228600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STRUKTUR MENGIKUTI STRATEGI</a:t>
            </a:r>
            <a:endParaRPr lang="en-US" sz="3400" dirty="0"/>
          </a:p>
        </p:txBody>
      </p:sp>
      <p:sp>
        <p:nvSpPr>
          <p:cNvPr id="34" name="text"/>
          <p:cNvSpPr txBox="1"/>
          <p:nvPr/>
        </p:nvSpPr>
        <p:spPr>
          <a:xfrm>
            <a:off x="7269480" y="5532120"/>
            <a:ext cx="4419295" cy="868680"/>
          </a:xfrm>
          <a:prstGeom prst="rect">
            <a:avLst/>
          </a:prstGeom>
          <a:noFill/>
          <a:ln/>
        </p:spPr>
        <p:txBody>
          <a:bodyPr wrap="square" lIns="0" tIns="0" rIns="0" bIns="0" rtlCol="0" anchor="t"/>
          <a:lstStyle/>
          <a:p>
            <a:pPr algn="l" indent="0" marL="0">
              <a:lnSpc>
                <a:spcPct val="110000"/>
              </a:lnSpc>
              <a:buNone/>
            </a:pPr>
            <a:r>
              <a:rPr lang="en-US" sz="1300" dirty="0">
                <a:solidFill>
                  <a:srgbClr val="1A1A1C"/>
                </a:solidFill>
                <a:latin typeface="Outfit" pitchFamily="34" charset="0"/>
                <a:ea typeface="Outfit" pitchFamily="34" charset="-122"/>
                <a:cs typeface="Outfit" pitchFamily="34" charset="-120"/>
              </a:rPr>
              <a:t>Figure 10.3, digambar ulang. Lima keputusan bermuara pada satu hasil: struktur yang cocok dengan kebutuhan eksekusi.</a:t>
            </a:r>
            <a:endParaRPr lang="en-US" sz="1300" dirty="0"/>
          </a:p>
        </p:txBody>
      </p:sp>
      <p:sp>
        <p:nvSpPr>
          <p:cNvPr id="35"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card"/>
          <p:cNvSpPr/>
          <p:nvPr/>
        </p:nvSpPr>
        <p:spPr>
          <a:xfrm>
            <a:off x="7452360" y="-274320"/>
            <a:ext cx="3429000" cy="7406640"/>
          </a:xfrm>
          <a:prstGeom prst="roundRect">
            <a:avLst>
              <a:gd name="adj" fmla="val 9333"/>
            </a:avLst>
          </a:prstGeom>
          <a:solidFill>
            <a:srgbClr val="D4FC00"/>
          </a:solidFill>
          <a:ln w="6350">
            <a:solidFill>
              <a:srgbClr val="D4FC00"/>
            </a:solidFill>
            <a:prstDash val="solid"/>
          </a:ln>
        </p:spPr>
      </p:sp>
      <p:sp>
        <p:nvSpPr>
          <p:cNvPr id="8"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9"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10"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11"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12"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13" name="text"/>
          <p:cNvSpPr txBox="1"/>
          <p:nvPr/>
        </p:nvSpPr>
        <p:spPr>
          <a:xfrm>
            <a:off x="502920" y="960120"/>
            <a:ext cx="5394960" cy="265176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DIKERJAKAN SENDIRI ATAU DI-OUTSOURCE</a:t>
            </a:r>
            <a:endParaRPr lang="en-US" sz="3800" dirty="0"/>
          </a:p>
        </p:txBody>
      </p:sp>
      <p:sp>
        <p:nvSpPr>
          <p:cNvPr id="14" name="toggle"/>
          <p:cNvSpPr/>
          <p:nvPr/>
        </p:nvSpPr>
        <p:spPr>
          <a:xfrm>
            <a:off x="502920" y="3310128"/>
            <a:ext cx="566928" cy="274320"/>
          </a:xfrm>
          <a:prstGeom prst="roundRect">
            <a:avLst>
              <a:gd name="adj" fmla="val 166667"/>
            </a:avLst>
          </a:prstGeom>
          <a:solidFill>
            <a:srgbClr val="F4F4F4"/>
          </a:solidFill>
          <a:ln w="9525">
            <a:solidFill>
              <a:srgbClr val="141417"/>
            </a:solidFill>
            <a:prstDash val="solid"/>
          </a:ln>
        </p:spPr>
      </p:sp>
      <p:sp>
        <p:nvSpPr>
          <p:cNvPr id="15" name="toggle-dot"/>
          <p:cNvSpPr/>
          <p:nvPr/>
        </p:nvSpPr>
        <p:spPr>
          <a:xfrm>
            <a:off x="804672" y="3346704"/>
            <a:ext cx="201168" cy="201168"/>
          </a:xfrm>
          <a:prstGeom prst="ellipse">
            <a:avLst/>
          </a:prstGeom>
          <a:solidFill>
            <a:srgbClr val="D4FC00"/>
          </a:solidFill>
          <a:ln w="6350">
            <a:solidFill>
              <a:srgbClr val="D4FC00"/>
            </a:solidFill>
            <a:prstDash val="solid"/>
          </a:ln>
        </p:spPr>
      </p:sp>
      <p:pic>
        <p:nvPicPr>
          <p:cNvPr id="16" name="toggle-star" descr="preencoded.png">    </p:cNvPr>
          <p:cNvPicPr>
            <a:picLocks noChangeAspect="1"/>
          </p:cNvPicPr>
          <p:nvPr/>
        </p:nvPicPr>
        <p:blipFill>
          <a:blip r:embed="rId1"/>
          <a:stretch>
            <a:fillRect/>
          </a:stretch>
        </p:blipFill>
        <p:spPr>
          <a:xfrm>
            <a:off x="845820" y="3387852"/>
            <a:ext cx="118872" cy="118872"/>
          </a:xfrm>
          <a:prstGeom prst="rect">
            <a:avLst/>
          </a:prstGeom>
        </p:spPr>
      </p:pic>
      <p:sp>
        <p:nvSpPr>
          <p:cNvPr id="17" name="text"/>
          <p:cNvSpPr txBox="1"/>
          <p:nvPr/>
        </p:nvSpPr>
        <p:spPr>
          <a:xfrm>
            <a:off x="502920" y="3749040"/>
            <a:ext cx="5029200" cy="137160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Apple memegang desain dan pengembangan produk, lalu menyerahkan manufaktur ke Foxconn. Harganya: kendali atas kondisi kerja berkurang. Batasnya: jangan kehilangan keahlian pada aktivitas inti strategi.</a:t>
            </a:r>
            <a:endParaRPr lang="en-US" sz="1400" dirty="0"/>
          </a:p>
        </p:txBody>
      </p:sp>
      <p:pic>
        <p:nvPicPr>
          <p:cNvPr id="18" name="Bekerja di laptop" descr="preencoded.png">    </p:cNvPr>
          <p:cNvPicPr>
            <a:picLocks noChangeAspect="1"/>
          </p:cNvPicPr>
          <p:nvPr/>
        </p:nvPicPr>
        <p:blipFill>
          <a:blip r:embed="rId2"/>
          <a:stretch>
            <a:fillRect/>
          </a:stretch>
        </p:blipFill>
        <p:spPr>
          <a:xfrm>
            <a:off x="502920" y="5212080"/>
            <a:ext cx="2377440" cy="1463040"/>
          </a:xfrm>
          <a:prstGeom prst="rect">
            <a:avLst/>
          </a:prstGeom>
        </p:spPr>
      </p:pic>
      <p:sp>
        <p:nvSpPr>
          <p:cNvPr id="19" name="badge"/>
          <p:cNvSpPr/>
          <p:nvPr/>
        </p:nvSpPr>
        <p:spPr>
          <a:xfrm>
            <a:off x="2514600" y="5349240"/>
            <a:ext cx="256032" cy="256032"/>
          </a:xfrm>
          <a:prstGeom prst="ellipse">
            <a:avLst/>
          </a:prstGeom>
          <a:solidFill>
            <a:srgbClr val="D4FC00"/>
          </a:solidFill>
          <a:ln w="6350">
            <a:solidFill>
              <a:srgbClr val="D4FC00"/>
            </a:solidFill>
            <a:prstDash val="solid"/>
          </a:ln>
        </p:spPr>
      </p:sp>
      <p:pic>
        <p:nvPicPr>
          <p:cNvPr id="20" name="Ruang perakitan elektronik putih" descr="preencoded.png">    </p:cNvPr>
          <p:cNvPicPr>
            <a:picLocks noChangeAspect="1"/>
          </p:cNvPicPr>
          <p:nvPr/>
        </p:nvPicPr>
        <p:blipFill>
          <a:blip r:embed="rId3"/>
          <a:stretch>
            <a:fillRect/>
          </a:stretch>
        </p:blipFill>
        <p:spPr>
          <a:xfrm>
            <a:off x="5989320" y="914400"/>
            <a:ext cx="2926080" cy="6217920"/>
          </a:xfrm>
          <a:prstGeom prst="rect">
            <a:avLst/>
          </a:prstGeom>
        </p:spPr>
      </p:pic>
      <p:sp>
        <p:nvSpPr>
          <p:cNvPr id="21" name="card"/>
          <p:cNvSpPr/>
          <p:nvPr/>
        </p:nvSpPr>
        <p:spPr>
          <a:xfrm>
            <a:off x="9738360" y="1965960"/>
            <a:ext cx="777240" cy="777240"/>
          </a:xfrm>
          <a:prstGeom prst="roundRect">
            <a:avLst>
              <a:gd name="adj" fmla="val 18824"/>
            </a:avLst>
          </a:prstGeom>
          <a:solidFill>
            <a:srgbClr val="141417"/>
          </a:solidFill>
          <a:ln w="6350">
            <a:solidFill>
              <a:srgbClr val="141417"/>
            </a:solidFill>
            <a:prstDash val="solid"/>
          </a:ln>
        </p:spPr>
      </p:sp>
      <p:pic>
        <p:nvPicPr>
          <p:cNvPr id="22" name="star" descr="preencoded.png">    </p:cNvPr>
          <p:cNvPicPr>
            <a:picLocks noChangeAspect="1"/>
          </p:cNvPicPr>
          <p:nvPr/>
        </p:nvPicPr>
        <p:blipFill>
          <a:blip r:embed="rId4"/>
          <a:stretch>
            <a:fillRect/>
          </a:stretch>
        </p:blipFill>
        <p:spPr>
          <a:xfrm>
            <a:off x="9932670" y="2160270"/>
            <a:ext cx="388620" cy="388620"/>
          </a:xfrm>
          <a:prstGeom prst="rect">
            <a:avLst/>
          </a:prstGeom>
        </p:spPr>
      </p:pic>
      <p:sp>
        <p:nvSpPr>
          <p:cNvPr id="23" name="pill"/>
          <p:cNvSpPr/>
          <p:nvPr/>
        </p:nvSpPr>
        <p:spPr>
          <a:xfrm>
            <a:off x="9098280" y="4526280"/>
            <a:ext cx="2697480" cy="384048"/>
          </a:xfrm>
          <a:prstGeom prst="roundRect">
            <a:avLst>
              <a:gd name="adj" fmla="val 119048"/>
            </a:avLst>
          </a:prstGeom>
          <a:solidFill>
            <a:srgbClr val="D4FC00"/>
          </a:solidFill>
          <a:ln w="9525">
            <a:solidFill>
              <a:srgbClr val="141417"/>
            </a:solidFill>
            <a:prstDash val="solid"/>
          </a:ln>
        </p:spPr>
      </p:sp>
      <p:sp>
        <p:nvSpPr>
          <p:cNvPr id="24" name="text"/>
          <p:cNvSpPr txBox="1"/>
          <p:nvPr/>
        </p:nvSpPr>
        <p:spPr>
          <a:xfrm>
            <a:off x="9208008" y="4526280"/>
            <a:ext cx="247802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FOKUS LEBIH TAJAM</a:t>
            </a:r>
            <a:endParaRPr lang="en-US" sz="1050" dirty="0"/>
          </a:p>
        </p:txBody>
      </p:sp>
      <p:sp>
        <p:nvSpPr>
          <p:cNvPr id="25" name="pill"/>
          <p:cNvSpPr/>
          <p:nvPr/>
        </p:nvSpPr>
        <p:spPr>
          <a:xfrm>
            <a:off x="9098280" y="5020056"/>
            <a:ext cx="2697480" cy="384048"/>
          </a:xfrm>
          <a:prstGeom prst="roundRect">
            <a:avLst>
              <a:gd name="adj" fmla="val 119048"/>
            </a:avLst>
          </a:prstGeom>
          <a:solidFill>
            <a:srgbClr val="D4FC00"/>
          </a:solidFill>
          <a:ln w="9525">
            <a:solidFill>
              <a:srgbClr val="141417"/>
            </a:solidFill>
            <a:prstDash val="solid"/>
          </a:ln>
        </p:spPr>
      </p:sp>
      <p:sp>
        <p:nvSpPr>
          <p:cNvPr id="26" name="text"/>
          <p:cNvSpPr txBox="1"/>
          <p:nvPr/>
        </p:nvSpPr>
        <p:spPr>
          <a:xfrm>
            <a:off x="9208008" y="5020056"/>
            <a:ext cx="247802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ORGANISASI LEBIH RAMPING</a:t>
            </a:r>
            <a:endParaRPr lang="en-US" sz="1050" dirty="0"/>
          </a:p>
        </p:txBody>
      </p:sp>
      <p:sp>
        <p:nvSpPr>
          <p:cNvPr id="27" name="pill"/>
          <p:cNvSpPr/>
          <p:nvPr/>
        </p:nvSpPr>
        <p:spPr>
          <a:xfrm>
            <a:off x="9098280" y="5513832"/>
            <a:ext cx="2697480" cy="384048"/>
          </a:xfrm>
          <a:prstGeom prst="roundRect">
            <a:avLst>
              <a:gd name="adj" fmla="val 119048"/>
            </a:avLst>
          </a:prstGeom>
          <a:solidFill>
            <a:srgbClr val="D4FC00"/>
          </a:solidFill>
          <a:ln w="9525">
            <a:solidFill>
              <a:srgbClr val="141417"/>
            </a:solidFill>
            <a:prstDash val="solid"/>
          </a:ln>
        </p:spPr>
      </p:sp>
      <p:sp>
        <p:nvSpPr>
          <p:cNvPr id="28" name="text"/>
          <p:cNvSpPr txBox="1"/>
          <p:nvPr/>
        </p:nvSpPr>
        <p:spPr>
          <a:xfrm>
            <a:off x="9208008" y="5513832"/>
            <a:ext cx="247802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CAPABILITY MITRA TERPAKAI</a:t>
            </a:r>
            <a:endParaRPr lang="en-US" sz="10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7772400" cy="91440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EMPAT TIPE STRUKTUR, SATU PRINSIP</a:t>
            </a:r>
            <a:endParaRPr lang="en-US" sz="3800" dirty="0"/>
          </a:p>
        </p:txBody>
      </p:sp>
      <p:sp>
        <p:nvSpPr>
          <p:cNvPr id="8" name="toggle"/>
          <p:cNvSpPr/>
          <p:nvPr/>
        </p:nvSpPr>
        <p:spPr>
          <a:xfrm>
            <a:off x="8778240" y="1051560"/>
            <a:ext cx="566928" cy="274320"/>
          </a:xfrm>
          <a:prstGeom prst="roundRect">
            <a:avLst>
              <a:gd name="adj" fmla="val 166667"/>
            </a:avLst>
          </a:prstGeom>
          <a:solidFill>
            <a:srgbClr val="F4F4F4"/>
          </a:solidFill>
          <a:ln w="9525">
            <a:solidFill>
              <a:srgbClr val="141417"/>
            </a:solidFill>
            <a:prstDash val="solid"/>
          </a:ln>
        </p:spPr>
      </p:sp>
      <p:sp>
        <p:nvSpPr>
          <p:cNvPr id="9" name="toggle-dot"/>
          <p:cNvSpPr/>
          <p:nvPr/>
        </p:nvSpPr>
        <p:spPr>
          <a:xfrm>
            <a:off x="9079992" y="1088136"/>
            <a:ext cx="201168" cy="201168"/>
          </a:xfrm>
          <a:prstGeom prst="ellipse">
            <a:avLst/>
          </a:prstGeom>
          <a:solidFill>
            <a:srgbClr val="D4FC00"/>
          </a:solidFill>
          <a:ln w="6350">
            <a:solidFill>
              <a:srgbClr val="D4FC00"/>
            </a:solidFill>
            <a:prstDash val="solid"/>
          </a:ln>
        </p:spPr>
      </p:sp>
      <p:pic>
        <p:nvPicPr>
          <p:cNvPr id="10" name="toggle-star" descr="preencoded.png">    </p:cNvPr>
          <p:cNvPicPr>
            <a:picLocks noChangeAspect="1"/>
          </p:cNvPicPr>
          <p:nvPr/>
        </p:nvPicPr>
        <p:blipFill>
          <a:blip r:embed="rId1"/>
          <a:stretch>
            <a:fillRect/>
          </a:stretch>
        </p:blipFill>
        <p:spPr>
          <a:xfrm>
            <a:off x="9121140" y="1129284"/>
            <a:ext cx="118872" cy="118872"/>
          </a:xfrm>
          <a:prstGeom prst="rect">
            <a:avLst/>
          </a:prstGeom>
        </p:spPr>
      </p:pic>
      <p:sp>
        <p:nvSpPr>
          <p:cNvPr id="11" name="card"/>
          <p:cNvSpPr/>
          <p:nvPr/>
        </p:nvSpPr>
        <p:spPr>
          <a:xfrm>
            <a:off x="502920" y="2103120"/>
            <a:ext cx="2679878" cy="3063240"/>
          </a:xfrm>
          <a:prstGeom prst="roundRect">
            <a:avLst>
              <a:gd name="adj" fmla="val 6824"/>
            </a:avLst>
          </a:prstGeom>
          <a:solidFill>
            <a:srgbClr val="E8E8E8"/>
          </a:solidFill>
          <a:ln w="6350">
            <a:solidFill>
              <a:srgbClr val="E8E8E8"/>
            </a:solidFill>
            <a:prstDash val="solid"/>
          </a:ln>
        </p:spPr>
      </p:sp>
      <p:sp>
        <p:nvSpPr>
          <p:cNvPr id="12" name="text"/>
          <p:cNvSpPr txBox="1"/>
          <p:nvPr/>
        </p:nvSpPr>
        <p:spPr>
          <a:xfrm>
            <a:off x="777240"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01</a:t>
            </a:r>
            <a:endParaRPr lang="en-US" sz="1600" dirty="0"/>
          </a:p>
        </p:txBody>
      </p:sp>
      <p:sp>
        <p:nvSpPr>
          <p:cNvPr id="13" name="text"/>
          <p:cNvSpPr txBox="1"/>
          <p:nvPr/>
        </p:nvSpPr>
        <p:spPr>
          <a:xfrm>
            <a:off x="777240"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Eksekutif pusat dan staf kecil. Murah dan lentur, tidak memadai saat tumbuh.</a:t>
            </a:r>
            <a:endParaRPr lang="en-US" sz="1400" dirty="0"/>
          </a:p>
        </p:txBody>
      </p:sp>
      <p:sp>
        <p:nvSpPr>
          <p:cNvPr id="14" name="text"/>
          <p:cNvSpPr txBox="1"/>
          <p:nvPr/>
        </p:nvSpPr>
        <p:spPr>
          <a:xfrm>
            <a:off x="777240"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SIMPLE · LINE-AND-STAFF</a:t>
            </a:r>
            <a:endParaRPr lang="en-US" sz="1200" dirty="0"/>
          </a:p>
        </p:txBody>
      </p:sp>
      <p:sp>
        <p:nvSpPr>
          <p:cNvPr id="15" name="card"/>
          <p:cNvSpPr/>
          <p:nvPr/>
        </p:nvSpPr>
        <p:spPr>
          <a:xfrm>
            <a:off x="3338246" y="2103120"/>
            <a:ext cx="2679878" cy="3063240"/>
          </a:xfrm>
          <a:prstGeom prst="roundRect">
            <a:avLst>
              <a:gd name="adj" fmla="val 6824"/>
            </a:avLst>
          </a:prstGeom>
          <a:solidFill>
            <a:srgbClr val="D4FC00"/>
          </a:solidFill>
          <a:ln w="6350">
            <a:solidFill>
              <a:srgbClr val="D4FC00"/>
            </a:solidFill>
            <a:prstDash val="solid"/>
          </a:ln>
        </p:spPr>
      </p:sp>
      <p:sp>
        <p:nvSpPr>
          <p:cNvPr id="16" name="text"/>
          <p:cNvSpPr txBox="1"/>
          <p:nvPr/>
        </p:nvSpPr>
        <p:spPr>
          <a:xfrm>
            <a:off x="3612566"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02</a:t>
            </a:r>
            <a:endParaRPr lang="en-US" sz="1600" dirty="0"/>
          </a:p>
        </p:txBody>
      </p:sp>
      <p:sp>
        <p:nvSpPr>
          <p:cNvPr id="17" name="text"/>
          <p:cNvSpPr txBox="1"/>
          <p:nvPr/>
        </p:nvSpPr>
        <p:spPr>
          <a:xfrm>
            <a:off x="3612566"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Departemen per fungsi untuk satu bisnis. Spesialisasi kuat, sekat antardepartemen.</a:t>
            </a:r>
            <a:endParaRPr lang="en-US" sz="1400" dirty="0"/>
          </a:p>
        </p:txBody>
      </p:sp>
      <p:sp>
        <p:nvSpPr>
          <p:cNvPr id="18" name="text"/>
          <p:cNvSpPr txBox="1"/>
          <p:nvPr/>
        </p:nvSpPr>
        <p:spPr>
          <a:xfrm>
            <a:off x="3612566"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FUNCTIONAL · U-FORM</a:t>
            </a:r>
            <a:endParaRPr lang="en-US" sz="1200" dirty="0"/>
          </a:p>
        </p:txBody>
      </p:sp>
      <p:sp>
        <p:nvSpPr>
          <p:cNvPr id="19" name="card"/>
          <p:cNvSpPr/>
          <p:nvPr/>
        </p:nvSpPr>
        <p:spPr>
          <a:xfrm>
            <a:off x="6173572" y="2103120"/>
            <a:ext cx="2679878" cy="3063240"/>
          </a:xfrm>
          <a:prstGeom prst="roundRect">
            <a:avLst>
              <a:gd name="adj" fmla="val 6824"/>
            </a:avLst>
          </a:prstGeom>
          <a:solidFill>
            <a:srgbClr val="E8E8E8"/>
          </a:solidFill>
          <a:ln w="6350">
            <a:solidFill>
              <a:srgbClr val="E8E8E8"/>
            </a:solidFill>
            <a:prstDash val="solid"/>
          </a:ln>
        </p:spPr>
      </p:sp>
      <p:sp>
        <p:nvSpPr>
          <p:cNvPr id="20" name="text"/>
          <p:cNvSpPr txBox="1"/>
          <p:nvPr/>
        </p:nvSpPr>
        <p:spPr>
          <a:xfrm>
            <a:off x="6447892"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03</a:t>
            </a:r>
            <a:endParaRPr lang="en-US" sz="1600" dirty="0"/>
          </a:p>
        </p:txBody>
      </p:sp>
      <p:sp>
        <p:nvSpPr>
          <p:cNvPr id="21" name="text"/>
          <p:cNvSpPr txBox="1"/>
          <p:nvPr/>
        </p:nvSpPr>
        <p:spPr>
          <a:xfrm>
            <a:off x="6447892"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Divisi sebagai profit center untuk diversifikasi. Sinergi lintas bisnis sulit.</a:t>
            </a:r>
            <a:endParaRPr lang="en-US" sz="1400" dirty="0"/>
          </a:p>
        </p:txBody>
      </p:sp>
      <p:sp>
        <p:nvSpPr>
          <p:cNvPr id="22" name="text"/>
          <p:cNvSpPr txBox="1"/>
          <p:nvPr/>
        </p:nvSpPr>
        <p:spPr>
          <a:xfrm>
            <a:off x="6447892"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MULTIDIVISIONAL · M-FORM</a:t>
            </a:r>
            <a:endParaRPr lang="en-US" sz="1200" dirty="0"/>
          </a:p>
        </p:txBody>
      </p:sp>
      <p:sp>
        <p:nvSpPr>
          <p:cNvPr id="23" name="card"/>
          <p:cNvSpPr/>
          <p:nvPr/>
        </p:nvSpPr>
        <p:spPr>
          <a:xfrm>
            <a:off x="9008897" y="2103120"/>
            <a:ext cx="2679878" cy="3063240"/>
          </a:xfrm>
          <a:prstGeom prst="roundRect">
            <a:avLst>
              <a:gd name="adj" fmla="val 6824"/>
            </a:avLst>
          </a:prstGeom>
          <a:solidFill>
            <a:srgbClr val="141417"/>
          </a:solidFill>
          <a:ln w="6350">
            <a:solidFill>
              <a:srgbClr val="141417"/>
            </a:solidFill>
            <a:prstDash val="solid"/>
          </a:ln>
        </p:spPr>
      </p:sp>
      <p:sp>
        <p:nvSpPr>
          <p:cNvPr id="24" name="text"/>
          <p:cNvSpPr txBox="1"/>
          <p:nvPr/>
        </p:nvSpPr>
        <p:spPr>
          <a:xfrm>
            <a:off x="9283217"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Outfit Medium" pitchFamily="34" charset="0"/>
                <a:ea typeface="Outfit Medium" pitchFamily="34" charset="-122"/>
                <a:cs typeface="Outfit Medium" pitchFamily="34" charset="-120"/>
              </a:rPr>
              <a:t>04</a:t>
            </a:r>
            <a:endParaRPr lang="en-US" sz="1600" dirty="0"/>
          </a:p>
        </p:txBody>
      </p:sp>
      <p:sp>
        <p:nvSpPr>
          <p:cNvPr id="25" name="text"/>
          <p:cNvSpPr txBox="1"/>
          <p:nvPr/>
        </p:nvSpPr>
        <p:spPr>
          <a:xfrm>
            <a:off x="9283217"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E4E4E7"/>
                </a:solidFill>
                <a:latin typeface="Outfit" pitchFamily="34" charset="0"/>
                <a:ea typeface="Outfit" pitchFamily="34" charset="-122"/>
                <a:cs typeface="Outfit" pitchFamily="34" charset="-120"/>
              </a:rPr>
              <a:t>Dua dimensi atau lebih, beberapa atasan; versi modern: satu garis utama plus garis sekunder sementara.</a:t>
            </a:r>
            <a:endParaRPr lang="en-US" sz="1400" dirty="0"/>
          </a:p>
        </p:txBody>
      </p:sp>
      <p:sp>
        <p:nvSpPr>
          <p:cNvPr id="26" name="text"/>
          <p:cNvSpPr txBox="1"/>
          <p:nvPr/>
        </p:nvSpPr>
        <p:spPr>
          <a:xfrm>
            <a:off x="9283217"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MATRIX · COMPOSITE</a:t>
            </a:r>
            <a:endParaRPr lang="en-US" sz="1200" dirty="0"/>
          </a:p>
        </p:txBody>
      </p:sp>
      <p:sp>
        <p:nvSpPr>
          <p:cNvPr id="27" name="text"/>
          <p:cNvSpPr txBox="1"/>
          <p:nvPr/>
        </p:nvSpPr>
        <p:spPr>
          <a:xfrm>
            <a:off x="502920" y="5532120"/>
            <a:ext cx="7498080" cy="457200"/>
          </a:xfrm>
          <a:prstGeom prst="rect">
            <a:avLst/>
          </a:prstGeom>
          <a:noFill/>
          <a:ln/>
        </p:spPr>
        <p:txBody>
          <a:bodyPr wrap="square" lIns="0" tIns="0" rIns="0" bIns="0" rtlCol="0" anchor="ctr"/>
          <a:lstStyle/>
          <a:p>
            <a:pPr algn="l" indent="0" marL="0">
              <a:lnSpc>
                <a:spcPct val="110000"/>
              </a:lnSpc>
              <a:buNone/>
            </a:pPr>
            <a:r>
              <a:rPr lang="en-US" sz="1400" spc="50" kern="0" dirty="0">
                <a:solidFill>
                  <a:srgbClr val="1A1A1C"/>
                </a:solidFill>
                <a:latin typeface="Outfit Medium" pitchFamily="34" charset="0"/>
                <a:ea typeface="Outfit Medium" pitchFamily="34" charset="-122"/>
                <a:cs typeface="Outfit Medium" pitchFamily="34" charset="-120"/>
              </a:rPr>
              <a:t>AKTIVITAS KRITIS BAGI STRATEGI MENJADI BUILDING BLOCKS</a:t>
            </a:r>
            <a:endParaRPr lang="en-US" sz="1400" dirty="0"/>
          </a:p>
        </p:txBody>
      </p:sp>
      <p:sp>
        <p:nvSpPr>
          <p:cNvPr id="28" name="pill"/>
          <p:cNvSpPr/>
          <p:nvPr/>
        </p:nvSpPr>
        <p:spPr>
          <a:xfrm>
            <a:off x="8122615" y="5550408"/>
            <a:ext cx="3566160" cy="420624"/>
          </a:xfrm>
          <a:prstGeom prst="roundRect">
            <a:avLst>
              <a:gd name="adj" fmla="val 108696"/>
            </a:avLst>
          </a:prstGeom>
          <a:solidFill>
            <a:srgbClr val="F4F4F4"/>
          </a:solidFill>
          <a:ln w="9525">
            <a:solidFill>
              <a:srgbClr val="141417"/>
            </a:solidFill>
            <a:prstDash val="solid"/>
          </a:ln>
        </p:spPr>
      </p:sp>
      <p:sp>
        <p:nvSpPr>
          <p:cNvPr id="29" name="text"/>
          <p:cNvSpPr txBox="1"/>
          <p:nvPr/>
        </p:nvSpPr>
        <p:spPr>
          <a:xfrm>
            <a:off x="8232343" y="5550408"/>
            <a:ext cx="3346704" cy="420624"/>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SIMPLE → FUNCTIONAL → MULTIDIVISIONAL → MATRIX</a:t>
            </a:r>
            <a:endParaRPr lang="en-US" sz="1050" dirty="0"/>
          </a:p>
        </p:txBody>
      </p:sp>
      <p:sp>
        <p:nvSpPr>
          <p:cNvPr id="30"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7315200" cy="146304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MEMUSATKAN ATAU MENDELEGASIKAN KEPUTUSAN</a:t>
            </a:r>
            <a:endParaRPr lang="en-US" sz="3400" dirty="0"/>
          </a:p>
        </p:txBody>
      </p:sp>
      <p:sp>
        <p:nvSpPr>
          <p:cNvPr id="8" name="card"/>
          <p:cNvSpPr/>
          <p:nvPr/>
        </p:nvSpPr>
        <p:spPr>
          <a:xfrm>
            <a:off x="502920" y="2788920"/>
            <a:ext cx="3429000" cy="3429000"/>
          </a:xfrm>
          <a:prstGeom prst="roundRect">
            <a:avLst>
              <a:gd name="adj" fmla="val 5333"/>
            </a:avLst>
          </a:prstGeom>
          <a:solidFill>
            <a:srgbClr val="141417"/>
          </a:solidFill>
          <a:ln w="6350">
            <a:solidFill>
              <a:srgbClr val="141417"/>
            </a:solidFill>
            <a:prstDash val="solid"/>
          </a:ln>
        </p:spPr>
      </p:sp>
      <p:sp>
        <p:nvSpPr>
          <p:cNvPr id="9" name="text"/>
          <p:cNvSpPr txBox="1"/>
          <p:nvPr/>
        </p:nvSpPr>
        <p:spPr>
          <a:xfrm>
            <a:off x="777240" y="3063240"/>
            <a:ext cx="914400" cy="365760"/>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Outfit Medium" pitchFamily="34" charset="0"/>
                <a:ea typeface="Outfit Medium" pitchFamily="34" charset="-122"/>
                <a:cs typeface="Outfit Medium" pitchFamily="34" charset="-120"/>
              </a:rPr>
              <a:t>01</a:t>
            </a:r>
            <a:endParaRPr lang="en-US" sz="1600" dirty="0"/>
          </a:p>
        </p:txBody>
      </p:sp>
      <p:sp>
        <p:nvSpPr>
          <p:cNvPr id="10" name="text"/>
          <p:cNvSpPr txBox="1"/>
          <p:nvPr/>
        </p:nvSpPr>
        <p:spPr>
          <a:xfrm>
            <a:off x="777240" y="3520440"/>
            <a:ext cx="2880360" cy="2194560"/>
          </a:xfrm>
          <a:prstGeom prst="rect">
            <a:avLst/>
          </a:prstGeom>
          <a:noFill/>
          <a:ln/>
        </p:spPr>
        <p:txBody>
          <a:bodyPr wrap="square" lIns="0" tIns="0" rIns="0" bIns="0" rtlCol="0" anchor="b"/>
          <a:lstStyle/>
          <a:p>
            <a:pPr algn="l" marL="152400" indent="-152400">
              <a:lnSpc>
                <a:spcPct val="110000"/>
              </a:lnSpc>
              <a:spcAft>
                <a:spcPts val="800"/>
              </a:spcAft>
              <a:buSzPct val="100000"/>
              <a:buChar char="•"/>
            </a:pPr>
            <a:r>
              <a:rPr lang="en-US" sz="1350" dirty="0">
                <a:solidFill>
                  <a:srgbClr val="E4E4E7"/>
                </a:solidFill>
                <a:latin typeface="Outfit" pitchFamily="34" charset="0"/>
                <a:ea typeface="Outfit" pitchFamily="34" charset="-122"/>
                <a:cs typeface="Outfit" pitchFamily="34" charset="-120"/>
              </a:rPr>
              <a:t>Asumsi: lini bawah tak punya pengetahuan atau waktu untuk memutuskan</a:t>
            </a:r>
            <a:endParaRPr lang="en-US" sz="1350" dirty="0"/>
          </a:p>
          <a:p>
            <a:pPr algn="l" marL="152400" indent="-152400">
              <a:lnSpc>
                <a:spcPct val="110000"/>
              </a:lnSpc>
              <a:spcAft>
                <a:spcPts val="800"/>
              </a:spcAft>
              <a:buSzPct val="100000"/>
              <a:buChar char="•"/>
            </a:pPr>
            <a:r>
              <a:rPr lang="en-US" sz="1350" dirty="0">
                <a:solidFill>
                  <a:srgbClr val="E4E4E7"/>
                </a:solidFill>
                <a:latin typeface="Outfit" pitchFamily="34" charset="0"/>
                <a:ea typeface="Outfit" pitchFamily="34" charset="-122"/>
                <a:cs typeface="Outfit" pitchFamily="34" charset="-120"/>
              </a:rPr>
              <a:t>Akuntabilitas jelas, tegas saat krisis</a:t>
            </a:r>
            <a:endParaRPr lang="en-US" sz="1350" dirty="0"/>
          </a:p>
          <a:p>
            <a:pPr algn="l" marL="152400" indent="-152400">
              <a:lnSpc>
                <a:spcPct val="110000"/>
              </a:lnSpc>
              <a:spcAft>
                <a:spcPts val="800"/>
              </a:spcAft>
              <a:buSzPct val="100000"/>
              <a:buChar char="•"/>
            </a:pPr>
            <a:r>
              <a:rPr lang="en-US" sz="1350" dirty="0">
                <a:solidFill>
                  <a:srgbClr val="E4E4E7"/>
                </a:solidFill>
                <a:latin typeface="Outfit" pitchFamily="34" charset="0"/>
                <a:ea typeface="Outfit" pitchFamily="34" charset="-122"/>
                <a:cs typeface="Outfit" pitchFamily="34" charset="-120"/>
              </a:rPr>
              <a:t>Respons lambat, inisiatif bawah mati</a:t>
            </a:r>
            <a:endParaRPr lang="en-US" sz="1350" dirty="0"/>
          </a:p>
        </p:txBody>
      </p:sp>
      <p:sp>
        <p:nvSpPr>
          <p:cNvPr id="11" name="text"/>
          <p:cNvSpPr txBox="1"/>
          <p:nvPr/>
        </p:nvSpPr>
        <p:spPr>
          <a:xfrm>
            <a:off x="777240" y="5760720"/>
            <a:ext cx="2880360"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CENTRALIZED</a:t>
            </a:r>
            <a:endParaRPr lang="en-US" sz="1200" dirty="0"/>
          </a:p>
        </p:txBody>
      </p:sp>
      <p:sp>
        <p:nvSpPr>
          <p:cNvPr id="12" name="card"/>
          <p:cNvSpPr/>
          <p:nvPr/>
        </p:nvSpPr>
        <p:spPr>
          <a:xfrm>
            <a:off x="4087368" y="2788920"/>
            <a:ext cx="3429000" cy="3429000"/>
          </a:xfrm>
          <a:prstGeom prst="roundRect">
            <a:avLst>
              <a:gd name="adj" fmla="val 5333"/>
            </a:avLst>
          </a:prstGeom>
          <a:solidFill>
            <a:srgbClr val="D4FC00"/>
          </a:solidFill>
          <a:ln w="6350">
            <a:solidFill>
              <a:srgbClr val="D4FC00"/>
            </a:solidFill>
            <a:prstDash val="solid"/>
          </a:ln>
        </p:spPr>
      </p:sp>
      <p:sp>
        <p:nvSpPr>
          <p:cNvPr id="13" name="text"/>
          <p:cNvSpPr txBox="1"/>
          <p:nvPr/>
        </p:nvSpPr>
        <p:spPr>
          <a:xfrm>
            <a:off x="4361688" y="3063240"/>
            <a:ext cx="91440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02</a:t>
            </a:r>
            <a:endParaRPr lang="en-US" sz="1600" dirty="0"/>
          </a:p>
        </p:txBody>
      </p:sp>
      <p:sp>
        <p:nvSpPr>
          <p:cNvPr id="14" name="text"/>
          <p:cNvSpPr txBox="1"/>
          <p:nvPr/>
        </p:nvSpPr>
        <p:spPr>
          <a:xfrm>
            <a:off x="4361688" y="3520440"/>
            <a:ext cx="2880360" cy="2194560"/>
          </a:xfrm>
          <a:prstGeom prst="rect">
            <a:avLst/>
          </a:prstGeom>
          <a:noFill/>
          <a:ln/>
        </p:spPr>
        <p:txBody>
          <a:bodyPr wrap="square" lIns="0" tIns="0" rIns="0" bIns="0" rtlCol="0" anchor="b"/>
          <a:lstStyle/>
          <a:p>
            <a:pPr algn="l" marL="152400" indent="-152400">
              <a:lnSpc>
                <a:spcPct val="110000"/>
              </a:lnSpc>
              <a:spcAft>
                <a:spcPts val="800"/>
              </a:spcAft>
              <a:buSzPct val="100000"/>
              <a:buChar char="•"/>
            </a:pPr>
            <a:r>
              <a:rPr lang="en-US" sz="1350" dirty="0">
                <a:solidFill>
                  <a:srgbClr val="1A1A1C"/>
                </a:solidFill>
                <a:latin typeface="Outfit" pitchFamily="34" charset="0"/>
                <a:ea typeface="Outfit" pitchFamily="34" charset="-122"/>
                <a:cs typeface="Outfit" pitchFamily="34" charset="-120"/>
              </a:rPr>
              <a:t>Asumsi: yang terdekat dengan situasi paling tahu, dan intellectual capital semua karyawan bernilai</a:t>
            </a:r>
            <a:endParaRPr lang="en-US" sz="1350" dirty="0"/>
          </a:p>
          <a:p>
            <a:pPr algn="l" marL="152400" indent="-152400">
              <a:lnSpc>
                <a:spcPct val="110000"/>
              </a:lnSpc>
              <a:spcAft>
                <a:spcPts val="800"/>
              </a:spcAft>
              <a:buSzPct val="100000"/>
              <a:buChar char="•"/>
            </a:pPr>
            <a:r>
              <a:rPr lang="en-US" sz="1350" dirty="0">
                <a:solidFill>
                  <a:srgbClr val="1A1A1C"/>
                </a:solidFill>
                <a:latin typeface="Outfit" pitchFamily="34" charset="0"/>
                <a:ea typeface="Outfit" pitchFamily="34" charset="-122"/>
                <a:cs typeface="Outfit" pitchFamily="34" charset="-120"/>
              </a:rPr>
              <a:t>Inisiatif, ide baru, respons cepat, lapisan lebih sedikit</a:t>
            </a:r>
            <a:endParaRPr lang="en-US" sz="1350" dirty="0"/>
          </a:p>
          <a:p>
            <a:pPr algn="l" marL="152400" indent="-152400">
              <a:lnSpc>
                <a:spcPct val="110000"/>
              </a:lnSpc>
              <a:spcAft>
                <a:spcPts val="800"/>
              </a:spcAft>
              <a:buSzPct val="100000"/>
              <a:buChar char="•"/>
            </a:pPr>
            <a:r>
              <a:rPr lang="en-US" sz="1350" dirty="0">
                <a:solidFill>
                  <a:srgbClr val="1A1A1C"/>
                </a:solidFill>
                <a:latin typeface="Outfit" pitchFamily="34" charset="0"/>
                <a:ea typeface="Outfit" pitchFamily="34" charset="-122"/>
                <a:cs typeface="Outfit" pitchFamily="34" charset="-120"/>
              </a:rPr>
              <a:t>Puncak bisa tak tahu, koordinasi lemah</a:t>
            </a:r>
            <a:endParaRPr lang="en-US" sz="1350" dirty="0"/>
          </a:p>
        </p:txBody>
      </p:sp>
      <p:sp>
        <p:nvSpPr>
          <p:cNvPr id="15" name="text"/>
          <p:cNvSpPr txBox="1"/>
          <p:nvPr/>
        </p:nvSpPr>
        <p:spPr>
          <a:xfrm>
            <a:off x="4361688" y="5760720"/>
            <a:ext cx="2880360"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DECENTRALIZED</a:t>
            </a:r>
            <a:endParaRPr lang="en-US" sz="1200" dirty="0"/>
          </a:p>
        </p:txBody>
      </p:sp>
      <p:pic>
        <p:nvPicPr>
          <p:cNvPr id="16" name="Barista di kafe putih" descr="preencoded.png">    </p:cNvPr>
          <p:cNvPicPr>
            <a:picLocks noChangeAspect="1"/>
          </p:cNvPicPr>
          <p:nvPr/>
        </p:nvPicPr>
        <p:blipFill>
          <a:blip r:embed="rId1"/>
          <a:stretch>
            <a:fillRect/>
          </a:stretch>
        </p:blipFill>
        <p:spPr>
          <a:xfrm>
            <a:off x="7726680" y="658368"/>
            <a:ext cx="3962095" cy="5559552"/>
          </a:xfrm>
          <a:prstGeom prst="rect">
            <a:avLst/>
          </a:prstGeom>
        </p:spPr>
      </p:pic>
      <p:sp>
        <p:nvSpPr>
          <p:cNvPr id="17" name="text"/>
          <p:cNvSpPr txBox="1"/>
          <p:nvPr/>
        </p:nvSpPr>
        <p:spPr>
          <a:xfrm>
            <a:off x="502920" y="2011680"/>
            <a:ext cx="6949440" cy="640080"/>
          </a:xfrm>
          <a:prstGeom prst="rect">
            <a:avLst/>
          </a:prstGeom>
          <a:noFill/>
          <a:ln/>
        </p:spPr>
        <p:txBody>
          <a:bodyPr wrap="square" lIns="0" tIns="0" rIns="0" bIns="0" rtlCol="0" anchor="t"/>
          <a:lstStyle/>
          <a:p>
            <a:pPr algn="l" indent="0" marL="0">
              <a:lnSpc>
                <a:spcPct val="110000"/>
              </a:lnSpc>
              <a:buNone/>
            </a:pPr>
            <a:r>
              <a:rPr lang="en-US" sz="1300" dirty="0">
                <a:solidFill>
                  <a:srgbClr val="1A1A1C"/>
                </a:solidFill>
                <a:latin typeface="Outfit" pitchFamily="34" charset="0"/>
                <a:ea typeface="Outfit" pitchFamily="34" charset="-122"/>
                <a:cs typeface="Outfit" pitchFamily="34" charset="-120"/>
              </a:rPr>
              <a:t>Table 10.1, dipadatkan. Delegasi bukan tanpa kendali: batas wewenang, control systems, akuntabilitas, insentif, budaya (Simons, 1995).</a:t>
            </a:r>
            <a:endParaRPr lang="en-US" sz="1300" dirty="0"/>
          </a:p>
        </p:txBody>
      </p:sp>
      <p:sp>
        <p:nvSpPr>
          <p:cNvPr id="18"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pic>
        <p:nvPicPr>
          <p:cNvPr id="7" name="Tim gudang memeriksa tablet" descr="preencoded.png">    </p:cNvPr>
          <p:cNvPicPr>
            <a:picLocks noChangeAspect="1"/>
          </p:cNvPicPr>
          <p:nvPr/>
        </p:nvPicPr>
        <p:blipFill>
          <a:blip r:embed="rId1"/>
          <a:stretch>
            <a:fillRect/>
          </a:stretch>
        </p:blipFill>
        <p:spPr>
          <a:xfrm>
            <a:off x="6172200" y="658368"/>
            <a:ext cx="2880360" cy="2743200"/>
          </a:xfrm>
          <a:prstGeom prst="rect">
            <a:avLst/>
          </a:prstGeom>
        </p:spPr>
      </p:pic>
      <p:sp>
        <p:nvSpPr>
          <p:cNvPr id="8" name="card"/>
          <p:cNvSpPr/>
          <p:nvPr/>
        </p:nvSpPr>
        <p:spPr>
          <a:xfrm>
            <a:off x="5897880" y="1234440"/>
            <a:ext cx="685800" cy="685800"/>
          </a:xfrm>
          <a:prstGeom prst="roundRect">
            <a:avLst>
              <a:gd name="adj" fmla="val 21333"/>
            </a:avLst>
          </a:prstGeom>
          <a:solidFill>
            <a:srgbClr val="141417"/>
          </a:solidFill>
          <a:ln w="6350">
            <a:solidFill>
              <a:srgbClr val="141417"/>
            </a:solidFill>
            <a:prstDash val="solid"/>
          </a:ln>
        </p:spPr>
      </p:sp>
      <p:pic>
        <p:nvPicPr>
          <p:cNvPr id="9" name="star" descr="preencoded.png">    </p:cNvPr>
          <p:cNvPicPr>
            <a:picLocks noChangeAspect="1"/>
          </p:cNvPicPr>
          <p:nvPr/>
        </p:nvPicPr>
        <p:blipFill>
          <a:blip r:embed="rId2"/>
          <a:stretch>
            <a:fillRect/>
          </a:stretch>
        </p:blipFill>
        <p:spPr>
          <a:xfrm>
            <a:off x="6069330" y="1405890"/>
            <a:ext cx="342900" cy="342900"/>
          </a:xfrm>
          <a:prstGeom prst="rect">
            <a:avLst/>
          </a:prstGeom>
        </p:spPr>
      </p:pic>
      <p:pic>
        <p:nvPicPr>
          <p:cNvPr id="10" name="Tiga kolega berdiskusi" descr="preencoded.png">    </p:cNvPr>
          <p:cNvPicPr>
            <a:picLocks noChangeAspect="1"/>
          </p:cNvPicPr>
          <p:nvPr/>
        </p:nvPicPr>
        <p:blipFill>
          <a:blip r:embed="rId3"/>
          <a:stretch>
            <a:fillRect/>
          </a:stretch>
        </p:blipFill>
        <p:spPr>
          <a:xfrm>
            <a:off x="9235440" y="658368"/>
            <a:ext cx="2453335" cy="5120640"/>
          </a:xfrm>
          <a:prstGeom prst="rect">
            <a:avLst/>
          </a:prstGeom>
        </p:spPr>
      </p:pic>
      <p:sp>
        <p:nvSpPr>
          <p:cNvPr id="11" name="card"/>
          <p:cNvSpPr/>
          <p:nvPr/>
        </p:nvSpPr>
        <p:spPr>
          <a:xfrm>
            <a:off x="9921240" y="4297680"/>
            <a:ext cx="1767535" cy="1645920"/>
          </a:xfrm>
          <a:prstGeom prst="roundRect">
            <a:avLst>
              <a:gd name="adj" fmla="val 11111"/>
            </a:avLst>
          </a:prstGeom>
          <a:solidFill>
            <a:srgbClr val="D4FC00"/>
          </a:solidFill>
          <a:ln w="6350">
            <a:solidFill>
              <a:srgbClr val="D4FC00"/>
            </a:solidFill>
            <a:prstDash val="solid"/>
          </a:ln>
        </p:spPr>
      </p:sp>
      <p:sp>
        <p:nvSpPr>
          <p:cNvPr id="12" name="text"/>
          <p:cNvSpPr txBox="1"/>
          <p:nvPr/>
        </p:nvSpPr>
        <p:spPr>
          <a:xfrm>
            <a:off x="10104120" y="4389120"/>
            <a:ext cx="1508760" cy="731520"/>
          </a:xfrm>
          <a:prstGeom prst="rect">
            <a:avLst/>
          </a:prstGeom>
          <a:noFill/>
          <a:ln/>
        </p:spPr>
        <p:txBody>
          <a:bodyPr wrap="square" lIns="0" tIns="0" rIns="0" bIns="0" rtlCol="0" anchor="ctr"/>
          <a:lstStyle/>
          <a:p>
            <a:pPr algn="l" indent="0" marL="0">
              <a:lnSpc>
                <a:spcPct val="95000"/>
              </a:lnSpc>
              <a:buNone/>
            </a:pPr>
            <a:r>
              <a:rPr lang="en-US" sz="2000" spc="-30" kern="0" dirty="0">
                <a:solidFill>
                  <a:srgbClr val="141417"/>
                </a:solidFill>
                <a:latin typeface="Outfit Medium" pitchFamily="34" charset="0"/>
                <a:ea typeface="Outfit Medium" pitchFamily="34" charset="-122"/>
                <a:cs typeface="Outfit Medium" pitchFamily="34" charset="-120"/>
              </a:rPr>
              <a:t>2 bentuk</a:t>
            </a:r>
            <a:endParaRPr lang="en-US" sz="2000" dirty="0"/>
          </a:p>
        </p:txBody>
      </p:sp>
      <p:sp>
        <p:nvSpPr>
          <p:cNvPr id="13" name="text"/>
          <p:cNvSpPr txBox="1"/>
          <p:nvPr/>
        </p:nvSpPr>
        <p:spPr>
          <a:xfrm>
            <a:off x="10104120" y="5138928"/>
            <a:ext cx="1508760" cy="777240"/>
          </a:xfrm>
          <a:prstGeom prst="rect">
            <a:avLst/>
          </a:prstGeom>
          <a:noFill/>
          <a:ln/>
        </p:spPr>
        <p:txBody>
          <a:bodyPr wrap="square" lIns="0" tIns="0" rIns="0" bIns="0" rtlCol="0" anchor="t"/>
          <a:lstStyle/>
          <a:p>
            <a:pPr algn="l" indent="0" marL="0">
              <a:lnSpc>
                <a:spcPct val="110000"/>
              </a:lnSpc>
              <a:buNone/>
            </a:pPr>
            <a:r>
              <a:rPr lang="en-US" sz="1100" dirty="0">
                <a:solidFill>
                  <a:srgbClr val="1A1A1C"/>
                </a:solidFill>
                <a:latin typeface="Outfit" pitchFamily="34" charset="0"/>
                <a:ea typeface="Outfit" pitchFamily="34" charset="-122"/>
                <a:cs typeface="Outfit" pitchFamily="34" charset="-120"/>
              </a:rPr>
              <a:t>kerja sama eksternal: network (Ducati), ecosystem (Silicon Valley)</a:t>
            </a:r>
            <a:endParaRPr lang="en-US" sz="1100" dirty="0"/>
          </a:p>
        </p:txBody>
      </p:sp>
      <p:sp>
        <p:nvSpPr>
          <p:cNvPr id="14" name="text"/>
          <p:cNvSpPr txBox="1"/>
          <p:nvPr/>
        </p:nvSpPr>
        <p:spPr>
          <a:xfrm>
            <a:off x="502920" y="2834640"/>
            <a:ext cx="5394960" cy="2011680"/>
          </a:xfrm>
          <a:prstGeom prst="rect">
            <a:avLst/>
          </a:prstGeom>
          <a:noFill/>
          <a:ln/>
        </p:spPr>
        <p:txBody>
          <a:bodyPr wrap="square" lIns="0" tIns="0" rIns="0" bIns="0" rtlCol="0" anchor="t"/>
          <a:lstStyle/>
          <a:p>
            <a:pPr algn="l" indent="0" marL="0">
              <a:lnSpc>
                <a:spcPct val="98000"/>
              </a:lnSpc>
              <a:buNone/>
            </a:pPr>
            <a:r>
              <a:rPr lang="en-US" sz="3400" spc="-50" kern="0" dirty="0">
                <a:solidFill>
                  <a:srgbClr val="141417"/>
                </a:solidFill>
                <a:latin typeface="Outfit Medium" pitchFamily="34" charset="0"/>
                <a:ea typeface="Outfit Medium" pitchFamily="34" charset="-122"/>
                <a:cs typeface="Outfit Medium" pitchFamily="34" charset="-120"/>
              </a:rPr>
              <a:t>KOORDINASI KE DALAM DAN KE LUAR</a:t>
            </a:r>
            <a:endParaRPr lang="en-US" sz="3400" dirty="0"/>
          </a:p>
        </p:txBody>
      </p:sp>
      <p:sp>
        <p:nvSpPr>
          <p:cNvPr id="15" name="text"/>
          <p:cNvSpPr txBox="1"/>
          <p:nvPr/>
        </p:nvSpPr>
        <p:spPr>
          <a:xfrm>
            <a:off x="502920" y="4846320"/>
            <a:ext cx="5212080" cy="1554480"/>
          </a:xfrm>
          <a:prstGeom prst="rect">
            <a:avLst/>
          </a:prstGeom>
          <a:noFill/>
          <a:ln/>
        </p:spPr>
        <p:txBody>
          <a:bodyPr wrap="square" lIns="0" tIns="0" rIns="0" bIns="0" rtlCol="0" anchor="t"/>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Capability seperti speed-to-market melintasi banyak unit, sehingga kerja sama harus dirancang: komite lintas fungsi, tim proyek, project management office, dan terutama kompensasi yang terikat kinerja kelompok. Ke luar, kemitraan butuh relationship managers.</a:t>
            </a:r>
            <a:endParaRPr lang="en-US" sz="1400" dirty="0"/>
          </a:p>
        </p:txBody>
      </p:sp>
      <p:sp>
        <p:nvSpPr>
          <p:cNvPr id="16"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960120"/>
            <a:ext cx="6400800" cy="265176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ORGANISASI YANG MAMPU MENGEKSEKUSI</a:t>
            </a:r>
            <a:endParaRPr lang="en-US" sz="3800" dirty="0"/>
          </a:p>
        </p:txBody>
      </p:sp>
      <p:sp>
        <p:nvSpPr>
          <p:cNvPr id="8" name="card"/>
          <p:cNvSpPr/>
          <p:nvPr/>
        </p:nvSpPr>
        <p:spPr>
          <a:xfrm>
            <a:off x="502920" y="4114800"/>
            <a:ext cx="2148840" cy="1600200"/>
          </a:xfrm>
          <a:prstGeom prst="roundRect">
            <a:avLst>
              <a:gd name="adj" fmla="val 11429"/>
            </a:avLst>
          </a:prstGeom>
          <a:solidFill>
            <a:srgbClr val="E8E8E8"/>
          </a:solidFill>
          <a:ln w="6350">
            <a:solidFill>
              <a:srgbClr val="E8E8E8"/>
            </a:solidFill>
            <a:prstDash val="solid"/>
          </a:ln>
        </p:spPr>
      </p:sp>
      <p:sp>
        <p:nvSpPr>
          <p:cNvPr id="9" name="text"/>
          <p:cNvSpPr txBox="1"/>
          <p:nvPr/>
        </p:nvSpPr>
        <p:spPr>
          <a:xfrm>
            <a:off x="731520"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Orang</a:t>
            </a:r>
            <a:endParaRPr lang="en-US" sz="2200" dirty="0"/>
          </a:p>
        </p:txBody>
      </p:sp>
      <p:sp>
        <p:nvSpPr>
          <p:cNvPr id="10" name="text"/>
          <p:cNvSpPr txBox="1"/>
          <p:nvPr/>
        </p:nvSpPr>
        <p:spPr>
          <a:xfrm>
            <a:off x="731520"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5A5A5F"/>
                </a:solidFill>
                <a:latin typeface="Outfit" pitchFamily="34" charset="0"/>
                <a:ea typeface="Outfit" pitchFamily="34" charset="-122"/>
                <a:cs typeface="Outfit" pitchFamily="34" charset="-120"/>
              </a:rPr>
              <a:t>Tim manajemen dan karyawan yang tepat</a:t>
            </a:r>
            <a:endParaRPr lang="en-US" sz="1200" dirty="0"/>
          </a:p>
        </p:txBody>
      </p:sp>
      <p:sp>
        <p:nvSpPr>
          <p:cNvPr id="11" name="card"/>
          <p:cNvSpPr/>
          <p:nvPr/>
        </p:nvSpPr>
        <p:spPr>
          <a:xfrm>
            <a:off x="2779776" y="4114800"/>
            <a:ext cx="2148840" cy="1600200"/>
          </a:xfrm>
          <a:prstGeom prst="roundRect">
            <a:avLst>
              <a:gd name="adj" fmla="val 11429"/>
            </a:avLst>
          </a:prstGeom>
          <a:solidFill>
            <a:srgbClr val="D4FC00"/>
          </a:solidFill>
          <a:ln w="6350">
            <a:solidFill>
              <a:srgbClr val="D4FC00"/>
            </a:solidFill>
            <a:prstDash val="solid"/>
          </a:ln>
        </p:spPr>
      </p:sp>
      <p:sp>
        <p:nvSpPr>
          <p:cNvPr id="12" name="text"/>
          <p:cNvSpPr txBox="1"/>
          <p:nvPr/>
        </p:nvSpPr>
        <p:spPr>
          <a:xfrm>
            <a:off x="3008376"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141417"/>
                </a:solidFill>
                <a:latin typeface="Outfit Medium" pitchFamily="34" charset="0"/>
                <a:ea typeface="Outfit Medium" pitchFamily="34" charset="-122"/>
                <a:cs typeface="Outfit Medium" pitchFamily="34" charset="-120"/>
              </a:rPr>
              <a:t>Capability</a:t>
            </a:r>
            <a:endParaRPr lang="en-US" sz="2200" dirty="0"/>
          </a:p>
        </p:txBody>
      </p:sp>
      <p:sp>
        <p:nvSpPr>
          <p:cNvPr id="13" name="text"/>
          <p:cNvSpPr txBox="1"/>
          <p:nvPr/>
        </p:nvSpPr>
        <p:spPr>
          <a:xfrm>
            <a:off x="3008376"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1A1A1C"/>
                </a:solidFill>
                <a:latin typeface="Outfit" pitchFamily="34" charset="0"/>
                <a:ea typeface="Outfit" pitchFamily="34" charset="-122"/>
                <a:cs typeface="Outfit" pitchFamily="34" charset="-120"/>
              </a:rPr>
              <a:t>Dibangun, dibeli, atau diakses, lalu disegarkan</a:t>
            </a:r>
            <a:endParaRPr lang="en-US" sz="1200" dirty="0"/>
          </a:p>
        </p:txBody>
      </p:sp>
      <p:sp>
        <p:nvSpPr>
          <p:cNvPr id="14" name="card"/>
          <p:cNvSpPr/>
          <p:nvPr/>
        </p:nvSpPr>
        <p:spPr>
          <a:xfrm>
            <a:off x="5056632" y="4114800"/>
            <a:ext cx="2148840" cy="1600200"/>
          </a:xfrm>
          <a:prstGeom prst="roundRect">
            <a:avLst>
              <a:gd name="adj" fmla="val 11429"/>
            </a:avLst>
          </a:prstGeom>
          <a:solidFill>
            <a:srgbClr val="141417"/>
          </a:solidFill>
          <a:ln w="6350">
            <a:solidFill>
              <a:srgbClr val="141417"/>
            </a:solidFill>
            <a:prstDash val="solid"/>
          </a:ln>
        </p:spPr>
      </p:sp>
      <p:sp>
        <p:nvSpPr>
          <p:cNvPr id="15" name="text"/>
          <p:cNvSpPr txBox="1"/>
          <p:nvPr/>
        </p:nvSpPr>
        <p:spPr>
          <a:xfrm>
            <a:off x="5285232" y="4279392"/>
            <a:ext cx="1691640" cy="502920"/>
          </a:xfrm>
          <a:prstGeom prst="rect">
            <a:avLst/>
          </a:prstGeom>
          <a:noFill/>
          <a:ln/>
        </p:spPr>
        <p:txBody>
          <a:bodyPr wrap="square" lIns="0" tIns="0" rIns="0" bIns="0" rtlCol="0" anchor="ctr"/>
          <a:lstStyle/>
          <a:p>
            <a:pPr algn="l" indent="0" marL="0">
              <a:lnSpc>
                <a:spcPct val="110000"/>
              </a:lnSpc>
              <a:buNone/>
            </a:pPr>
            <a:r>
              <a:rPr lang="en-US" sz="2200" spc="-30" kern="0" dirty="0">
                <a:solidFill>
                  <a:srgbClr val="FFFFFF"/>
                </a:solidFill>
                <a:latin typeface="Outfit Medium" pitchFamily="34" charset="0"/>
                <a:ea typeface="Outfit Medium" pitchFamily="34" charset="-122"/>
                <a:cs typeface="Outfit Medium" pitchFamily="34" charset="-120"/>
              </a:rPr>
              <a:t>Struktur</a:t>
            </a:r>
            <a:endParaRPr lang="en-US" sz="2200" dirty="0"/>
          </a:p>
        </p:txBody>
      </p:sp>
      <p:sp>
        <p:nvSpPr>
          <p:cNvPr id="16" name="text"/>
          <p:cNvSpPr txBox="1"/>
          <p:nvPr/>
        </p:nvSpPr>
        <p:spPr>
          <a:xfrm>
            <a:off x="5285232" y="4828032"/>
            <a:ext cx="1691640" cy="822960"/>
          </a:xfrm>
          <a:prstGeom prst="rect">
            <a:avLst/>
          </a:prstGeom>
          <a:noFill/>
          <a:ln/>
        </p:spPr>
        <p:txBody>
          <a:bodyPr wrap="square" lIns="0" tIns="0" rIns="0" bIns="0" rtlCol="0" anchor="t"/>
          <a:lstStyle/>
          <a:p>
            <a:pPr algn="l" indent="0" marL="0">
              <a:lnSpc>
                <a:spcPct val="110000"/>
              </a:lnSpc>
              <a:buNone/>
            </a:pPr>
            <a:r>
              <a:rPr lang="en-US" sz="1200" dirty="0">
                <a:solidFill>
                  <a:srgbClr val="BDBDC2"/>
                </a:solidFill>
                <a:latin typeface="Outfit" pitchFamily="34" charset="0"/>
                <a:ea typeface="Outfit" pitchFamily="34" charset="-122"/>
                <a:cs typeface="Outfit" pitchFamily="34" charset="-120"/>
              </a:rPr>
              <a:t>Lima keputusan menata pekerjaan</a:t>
            </a:r>
            <a:endParaRPr lang="en-US" sz="1200" dirty="0"/>
          </a:p>
        </p:txBody>
      </p:sp>
      <p:sp>
        <p:nvSpPr>
          <p:cNvPr id="17" name="text"/>
          <p:cNvSpPr txBox="1"/>
          <p:nvPr/>
        </p:nvSpPr>
        <p:spPr>
          <a:xfrm>
            <a:off x="502920" y="2971800"/>
            <a:ext cx="6492240" cy="1051560"/>
          </a:xfrm>
          <a:prstGeom prst="rect">
            <a:avLst/>
          </a:prstGeom>
          <a:noFill/>
          <a:ln/>
        </p:spPr>
        <p:txBody>
          <a:bodyPr wrap="square" lIns="0" tIns="0" rIns="0" bIns="0" rtlCol="0" anchor="t"/>
          <a:lstStyle/>
          <a:p>
            <a:pPr algn="l" indent="0" marL="0">
              <a:lnSpc>
                <a:spcPct val="110000"/>
              </a:lnSpc>
              <a:buNone/>
            </a:pPr>
            <a:r>
              <a:rPr lang="en-US" sz="1350" dirty="0">
                <a:solidFill>
                  <a:srgbClr val="1A1A1C"/>
                </a:solidFill>
                <a:latin typeface="Outfit" pitchFamily="34" charset="0"/>
                <a:ea typeface="Outfit" pitchFamily="34" charset="-122"/>
                <a:cs typeface="Outfit" pitchFamily="34" charset="-120"/>
              </a:rPr>
              <a:t>Ketiganya menghasilkan proficiency pada aktivitas kritis dan target yang tercapai. Capability yang tacit dan socially complex adalah pengetahuan yang sulit ditiru; network dan ecosystem menggeser competitive advantage menuju collaborative advantage (Kanter, 1994).</a:t>
            </a:r>
            <a:endParaRPr lang="en-US" sz="1350" dirty="0"/>
          </a:p>
        </p:txBody>
      </p:sp>
      <p:sp>
        <p:nvSpPr>
          <p:cNvPr id="18" name="pill"/>
          <p:cNvSpPr/>
          <p:nvPr/>
        </p:nvSpPr>
        <p:spPr>
          <a:xfrm>
            <a:off x="502920" y="5897880"/>
            <a:ext cx="2148840" cy="384048"/>
          </a:xfrm>
          <a:prstGeom prst="roundRect">
            <a:avLst>
              <a:gd name="adj" fmla="val 119048"/>
            </a:avLst>
          </a:prstGeom>
          <a:solidFill>
            <a:srgbClr val="F4F4F4"/>
          </a:solidFill>
          <a:ln w="9525">
            <a:solidFill>
              <a:srgbClr val="141417"/>
            </a:solidFill>
            <a:prstDash val="solid"/>
          </a:ln>
        </p:spPr>
      </p:sp>
      <p:sp>
        <p:nvSpPr>
          <p:cNvPr id="19" name="text"/>
          <p:cNvSpPr txBox="1"/>
          <p:nvPr/>
        </p:nvSpPr>
        <p:spPr>
          <a:xfrm>
            <a:off x="612648" y="5897880"/>
            <a:ext cx="192938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BAB 11 · MENGGERAKKAN</a:t>
            </a:r>
            <a:endParaRPr lang="en-US" sz="1050" dirty="0"/>
          </a:p>
        </p:txBody>
      </p:sp>
      <p:sp>
        <p:nvSpPr>
          <p:cNvPr id="20" name="pill"/>
          <p:cNvSpPr/>
          <p:nvPr/>
        </p:nvSpPr>
        <p:spPr>
          <a:xfrm>
            <a:off x="2779776" y="5897880"/>
            <a:ext cx="2148840" cy="384048"/>
          </a:xfrm>
          <a:prstGeom prst="roundRect">
            <a:avLst>
              <a:gd name="adj" fmla="val 119048"/>
            </a:avLst>
          </a:prstGeom>
          <a:solidFill>
            <a:srgbClr val="F4F4F4"/>
          </a:solidFill>
          <a:ln w="9525">
            <a:solidFill>
              <a:srgbClr val="141417"/>
            </a:solidFill>
            <a:prstDash val="solid"/>
          </a:ln>
        </p:spPr>
      </p:sp>
      <p:sp>
        <p:nvSpPr>
          <p:cNvPr id="21" name="text"/>
          <p:cNvSpPr txBox="1"/>
          <p:nvPr/>
        </p:nvSpPr>
        <p:spPr>
          <a:xfrm>
            <a:off x="2889504" y="5897880"/>
            <a:ext cx="192938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BAB 12 · MENOPANG</a:t>
            </a:r>
            <a:endParaRPr lang="en-US" sz="1050" dirty="0"/>
          </a:p>
        </p:txBody>
      </p:sp>
      <p:sp>
        <p:nvSpPr>
          <p:cNvPr id="22" name="pill"/>
          <p:cNvSpPr/>
          <p:nvPr/>
        </p:nvSpPr>
        <p:spPr>
          <a:xfrm>
            <a:off x="5056632" y="5897880"/>
            <a:ext cx="2148840" cy="384048"/>
          </a:xfrm>
          <a:prstGeom prst="roundRect">
            <a:avLst>
              <a:gd name="adj" fmla="val 119048"/>
            </a:avLst>
          </a:prstGeom>
          <a:solidFill>
            <a:srgbClr val="D4FC00"/>
          </a:solidFill>
          <a:ln w="9525">
            <a:solidFill>
              <a:srgbClr val="141417"/>
            </a:solidFill>
            <a:prstDash val="solid"/>
          </a:ln>
        </p:spPr>
      </p:sp>
      <p:sp>
        <p:nvSpPr>
          <p:cNvPr id="23" name="text"/>
          <p:cNvSpPr txBox="1"/>
          <p:nvPr/>
        </p:nvSpPr>
        <p:spPr>
          <a:xfrm>
            <a:off x="5166360" y="5897880"/>
            <a:ext cx="1929384" cy="384048"/>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4DX · DISIPLIN EKSEKUSI</a:t>
            </a:r>
            <a:endParaRPr lang="en-US" sz="1050" dirty="0"/>
          </a:p>
        </p:txBody>
      </p:sp>
      <p:pic>
        <p:nvPicPr>
          <p:cNvPr id="24" name="Bidak catur putih" descr="preencoded.png">    </p:cNvPr>
          <p:cNvPicPr>
            <a:picLocks noChangeAspect="1"/>
          </p:cNvPicPr>
          <p:nvPr/>
        </p:nvPicPr>
        <p:blipFill>
          <a:blip r:embed="rId1"/>
          <a:stretch>
            <a:fillRect/>
          </a:stretch>
        </p:blipFill>
        <p:spPr>
          <a:xfrm>
            <a:off x="7589520" y="658368"/>
            <a:ext cx="4099255" cy="6473952"/>
          </a:xfrm>
          <a:prstGeom prst="rect">
            <a:avLst/>
          </a:prstGeom>
        </p:spPr>
      </p:pic>
      <p:sp>
        <p:nvSpPr>
          <p:cNvPr id="25"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7772400" cy="914400"/>
          </a:xfrm>
          <a:prstGeom prst="rect">
            <a:avLst/>
          </a:prstGeom>
          <a:noFill/>
          <a:ln/>
        </p:spPr>
        <p:txBody>
          <a:bodyPr wrap="square" lIns="0" tIns="0" rIns="0" bIns="0" rtlCol="0" anchor="t"/>
          <a:lstStyle/>
          <a:p>
            <a:pPr algn="l" indent="0" marL="0">
              <a:lnSpc>
                <a:spcPct val="98000"/>
              </a:lnSpc>
              <a:buNone/>
            </a:pPr>
            <a:r>
              <a:rPr lang="en-US" sz="3800" spc="-50" kern="0" dirty="0">
                <a:solidFill>
                  <a:srgbClr val="141417"/>
                </a:solidFill>
                <a:latin typeface="Outfit Medium" pitchFamily="34" charset="0"/>
                <a:ea typeface="Outfit Medium" pitchFamily="34" charset="-122"/>
                <a:cs typeface="Outfit Medium" pitchFamily="34" charset="-120"/>
              </a:rPr>
              <a:t>BAHAN RENUNGAN</a:t>
            </a:r>
            <a:endParaRPr lang="en-US" sz="3800" dirty="0"/>
          </a:p>
        </p:txBody>
      </p:sp>
      <p:sp>
        <p:nvSpPr>
          <p:cNvPr id="8" name="toggle"/>
          <p:cNvSpPr/>
          <p:nvPr/>
        </p:nvSpPr>
        <p:spPr>
          <a:xfrm>
            <a:off x="8778240" y="1051560"/>
            <a:ext cx="566928" cy="274320"/>
          </a:xfrm>
          <a:prstGeom prst="roundRect">
            <a:avLst>
              <a:gd name="adj" fmla="val 166667"/>
            </a:avLst>
          </a:prstGeom>
          <a:solidFill>
            <a:srgbClr val="F4F4F4"/>
          </a:solidFill>
          <a:ln w="9525">
            <a:solidFill>
              <a:srgbClr val="141417"/>
            </a:solidFill>
            <a:prstDash val="solid"/>
          </a:ln>
        </p:spPr>
      </p:sp>
      <p:sp>
        <p:nvSpPr>
          <p:cNvPr id="9" name="toggle-dot"/>
          <p:cNvSpPr/>
          <p:nvPr/>
        </p:nvSpPr>
        <p:spPr>
          <a:xfrm>
            <a:off x="9079992" y="1088136"/>
            <a:ext cx="201168" cy="201168"/>
          </a:xfrm>
          <a:prstGeom prst="ellipse">
            <a:avLst/>
          </a:prstGeom>
          <a:solidFill>
            <a:srgbClr val="D4FC00"/>
          </a:solidFill>
          <a:ln w="6350">
            <a:solidFill>
              <a:srgbClr val="D4FC00"/>
            </a:solidFill>
            <a:prstDash val="solid"/>
          </a:ln>
        </p:spPr>
      </p:sp>
      <p:pic>
        <p:nvPicPr>
          <p:cNvPr id="10" name="toggle-star" descr="preencoded.png">    </p:cNvPr>
          <p:cNvPicPr>
            <a:picLocks noChangeAspect="1"/>
          </p:cNvPicPr>
          <p:nvPr/>
        </p:nvPicPr>
        <p:blipFill>
          <a:blip r:embed="rId1"/>
          <a:stretch>
            <a:fillRect/>
          </a:stretch>
        </p:blipFill>
        <p:spPr>
          <a:xfrm>
            <a:off x="9121140" y="1129284"/>
            <a:ext cx="118872" cy="118872"/>
          </a:xfrm>
          <a:prstGeom prst="rect">
            <a:avLst/>
          </a:prstGeom>
        </p:spPr>
      </p:pic>
      <p:sp>
        <p:nvSpPr>
          <p:cNvPr id="11" name="card"/>
          <p:cNvSpPr/>
          <p:nvPr/>
        </p:nvSpPr>
        <p:spPr>
          <a:xfrm>
            <a:off x="502920" y="2103120"/>
            <a:ext cx="2679878" cy="3063240"/>
          </a:xfrm>
          <a:prstGeom prst="roundRect">
            <a:avLst>
              <a:gd name="adj" fmla="val 6824"/>
            </a:avLst>
          </a:prstGeom>
          <a:solidFill>
            <a:srgbClr val="E8E8E8"/>
          </a:solidFill>
          <a:ln w="6350">
            <a:solidFill>
              <a:srgbClr val="E8E8E8"/>
            </a:solidFill>
            <a:prstDash val="solid"/>
          </a:ln>
        </p:spPr>
      </p:sp>
      <p:sp>
        <p:nvSpPr>
          <p:cNvPr id="12" name="text"/>
          <p:cNvSpPr txBox="1"/>
          <p:nvPr/>
        </p:nvSpPr>
        <p:spPr>
          <a:xfrm>
            <a:off x="777240"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01</a:t>
            </a:r>
            <a:endParaRPr lang="en-US" sz="1600" dirty="0"/>
          </a:p>
        </p:txBody>
      </p:sp>
      <p:sp>
        <p:nvSpPr>
          <p:cNvPr id="13" name="text"/>
          <p:cNvSpPr txBox="1"/>
          <p:nvPr/>
        </p:nvSpPr>
        <p:spPr>
          <a:xfrm>
            <a:off x="777240"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Layar dan haluan sudah ada. Apa jadinya bila awak tak terlatih atau komando tak jelas?</a:t>
            </a:r>
            <a:endParaRPr lang="en-US" sz="1400" dirty="0"/>
          </a:p>
        </p:txBody>
      </p:sp>
      <p:sp>
        <p:nvSpPr>
          <p:cNvPr id="14" name="text"/>
          <p:cNvSpPr txBox="1"/>
          <p:nvPr/>
        </p:nvSpPr>
        <p:spPr>
          <a:xfrm>
            <a:off x="777240"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AWAK KAPAL</a:t>
            </a:r>
            <a:endParaRPr lang="en-US" sz="1200" dirty="0"/>
          </a:p>
        </p:txBody>
      </p:sp>
      <p:sp>
        <p:nvSpPr>
          <p:cNvPr id="15" name="card"/>
          <p:cNvSpPr/>
          <p:nvPr/>
        </p:nvSpPr>
        <p:spPr>
          <a:xfrm>
            <a:off x="3338246" y="2103120"/>
            <a:ext cx="2679878" cy="3063240"/>
          </a:xfrm>
          <a:prstGeom prst="roundRect">
            <a:avLst>
              <a:gd name="adj" fmla="val 6824"/>
            </a:avLst>
          </a:prstGeom>
          <a:solidFill>
            <a:srgbClr val="D4FC00"/>
          </a:solidFill>
          <a:ln w="6350">
            <a:solidFill>
              <a:srgbClr val="D4FC00"/>
            </a:solidFill>
            <a:prstDash val="solid"/>
          </a:ln>
        </p:spPr>
      </p:sp>
      <p:sp>
        <p:nvSpPr>
          <p:cNvPr id="16" name="text"/>
          <p:cNvSpPr txBox="1"/>
          <p:nvPr/>
        </p:nvSpPr>
        <p:spPr>
          <a:xfrm>
            <a:off x="3612566"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02</a:t>
            </a:r>
            <a:endParaRPr lang="en-US" sz="1600" dirty="0"/>
          </a:p>
        </p:txBody>
      </p:sp>
      <p:sp>
        <p:nvSpPr>
          <p:cNvPr id="17" name="text"/>
          <p:cNvSpPr txBox="1"/>
          <p:nvPr/>
        </p:nvSpPr>
        <p:spPr>
          <a:xfrm>
            <a:off x="3612566"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Dua jaringan minimarket berstrategi nyaris sama. Di eksekusi mana keunggulan dibangun, dan apa pembandingnya?</a:t>
            </a:r>
            <a:endParaRPr lang="en-US" sz="1400" dirty="0"/>
          </a:p>
        </p:txBody>
      </p:sp>
      <p:sp>
        <p:nvSpPr>
          <p:cNvPr id="18" name="text"/>
          <p:cNvSpPr txBox="1"/>
          <p:nvPr/>
        </p:nvSpPr>
        <p:spPr>
          <a:xfrm>
            <a:off x="3612566"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STRATEGI YANG MUDAH DITIRU</a:t>
            </a:r>
            <a:endParaRPr lang="en-US" sz="1200" dirty="0"/>
          </a:p>
        </p:txBody>
      </p:sp>
      <p:sp>
        <p:nvSpPr>
          <p:cNvPr id="19" name="card"/>
          <p:cNvSpPr/>
          <p:nvPr/>
        </p:nvSpPr>
        <p:spPr>
          <a:xfrm>
            <a:off x="6173572" y="2103120"/>
            <a:ext cx="2679878" cy="3063240"/>
          </a:xfrm>
          <a:prstGeom prst="roundRect">
            <a:avLst>
              <a:gd name="adj" fmla="val 6824"/>
            </a:avLst>
          </a:prstGeom>
          <a:solidFill>
            <a:srgbClr val="E8E8E8"/>
          </a:solidFill>
          <a:ln w="6350">
            <a:solidFill>
              <a:srgbClr val="E8E8E8"/>
            </a:solidFill>
            <a:prstDash val="solid"/>
          </a:ln>
        </p:spPr>
      </p:sp>
      <p:sp>
        <p:nvSpPr>
          <p:cNvPr id="20" name="text"/>
          <p:cNvSpPr txBox="1"/>
          <p:nvPr/>
        </p:nvSpPr>
        <p:spPr>
          <a:xfrm>
            <a:off x="6447892"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1A1A1C"/>
                </a:solidFill>
                <a:latin typeface="Outfit Medium" pitchFamily="34" charset="0"/>
                <a:ea typeface="Outfit Medium" pitchFamily="34" charset="-122"/>
                <a:cs typeface="Outfit Medium" pitchFamily="34" charset="-120"/>
              </a:rPr>
              <a:t>03</a:t>
            </a:r>
            <a:endParaRPr lang="en-US" sz="1600" dirty="0"/>
          </a:p>
        </p:txBody>
      </p:sp>
      <p:sp>
        <p:nvSpPr>
          <p:cNvPr id="21" name="text"/>
          <p:cNvSpPr txBox="1"/>
          <p:nvPr/>
        </p:nvSpPr>
        <p:spPr>
          <a:xfrm>
            <a:off x="6447892"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1A1A1C"/>
                </a:solidFill>
                <a:latin typeface="Outfit" pitchFamily="34" charset="0"/>
                <a:ea typeface="Outfit" pitchFamily="34" charset="-122"/>
                <a:cs typeface="Outfit" pitchFamily="34" charset="-120"/>
              </a:rPr>
              <a:t>Merger Gojek dan Tokopedia (2021): mengapa capability yang tacit sulit dipindahkan?</a:t>
            </a:r>
            <a:endParaRPr lang="en-US" sz="1400" dirty="0"/>
          </a:p>
        </p:txBody>
      </p:sp>
      <p:sp>
        <p:nvSpPr>
          <p:cNvPr id="22" name="text"/>
          <p:cNvSpPr txBox="1"/>
          <p:nvPr/>
        </p:nvSpPr>
        <p:spPr>
          <a:xfrm>
            <a:off x="6447892"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1A1A1C"/>
                </a:solidFill>
                <a:latin typeface="Outfit" pitchFamily="34" charset="0"/>
                <a:ea typeface="Outfit" pitchFamily="34" charset="-122"/>
                <a:cs typeface="Outfit" pitchFamily="34" charset="-120"/>
              </a:rPr>
              <a:t>MEMBELI CAPABILITY</a:t>
            </a:r>
            <a:endParaRPr lang="en-US" sz="1200" dirty="0"/>
          </a:p>
        </p:txBody>
      </p:sp>
      <p:sp>
        <p:nvSpPr>
          <p:cNvPr id="23" name="card"/>
          <p:cNvSpPr/>
          <p:nvPr/>
        </p:nvSpPr>
        <p:spPr>
          <a:xfrm>
            <a:off x="9008897" y="2103120"/>
            <a:ext cx="2679878" cy="3063240"/>
          </a:xfrm>
          <a:prstGeom prst="roundRect">
            <a:avLst>
              <a:gd name="adj" fmla="val 6824"/>
            </a:avLst>
          </a:prstGeom>
          <a:solidFill>
            <a:srgbClr val="141417"/>
          </a:solidFill>
          <a:ln w="6350">
            <a:solidFill>
              <a:srgbClr val="141417"/>
            </a:solidFill>
            <a:prstDash val="solid"/>
          </a:ln>
        </p:spPr>
      </p:sp>
      <p:sp>
        <p:nvSpPr>
          <p:cNvPr id="24" name="text"/>
          <p:cNvSpPr txBox="1"/>
          <p:nvPr/>
        </p:nvSpPr>
        <p:spPr>
          <a:xfrm>
            <a:off x="9283217" y="2377440"/>
            <a:ext cx="1097280" cy="365760"/>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Outfit Medium" pitchFamily="34" charset="0"/>
                <a:ea typeface="Outfit Medium" pitchFamily="34" charset="-122"/>
                <a:cs typeface="Outfit Medium" pitchFamily="34" charset="-120"/>
              </a:rPr>
              <a:t>04</a:t>
            </a:r>
            <a:endParaRPr lang="en-US" sz="1600" dirty="0"/>
          </a:p>
        </p:txBody>
      </p:sp>
      <p:sp>
        <p:nvSpPr>
          <p:cNvPr id="25" name="text"/>
          <p:cNvSpPr txBox="1"/>
          <p:nvPr/>
        </p:nvSpPr>
        <p:spPr>
          <a:xfrm>
            <a:off x="9283217" y="3063240"/>
            <a:ext cx="2131238" cy="1600200"/>
          </a:xfrm>
          <a:prstGeom prst="rect">
            <a:avLst/>
          </a:prstGeom>
          <a:noFill/>
          <a:ln/>
        </p:spPr>
        <p:txBody>
          <a:bodyPr wrap="square" lIns="0" tIns="0" rIns="0" bIns="0" rtlCol="0" anchor="b"/>
          <a:lstStyle/>
          <a:p>
            <a:pPr algn="l" indent="0" marL="0">
              <a:lnSpc>
                <a:spcPct val="110000"/>
              </a:lnSpc>
              <a:buNone/>
            </a:pPr>
            <a:r>
              <a:rPr lang="en-US" sz="1400" dirty="0">
                <a:solidFill>
                  <a:srgbClr val="E4E4E7"/>
                </a:solidFill>
                <a:latin typeface="Outfit" pitchFamily="34" charset="0"/>
                <a:ea typeface="Outfit" pitchFamily="34" charset="-122"/>
                <a:cs typeface="Outfit" pitchFamily="34" charset="-120"/>
              </a:rPr>
              <a:t>Kapan memusatkan keputusan lebih baik daripada mendelegasikan? Krisis versus inovasi.</a:t>
            </a:r>
            <a:endParaRPr lang="en-US" sz="1400" dirty="0"/>
          </a:p>
        </p:txBody>
      </p:sp>
      <p:sp>
        <p:nvSpPr>
          <p:cNvPr id="26" name="text"/>
          <p:cNvSpPr txBox="1"/>
          <p:nvPr/>
        </p:nvSpPr>
        <p:spPr>
          <a:xfrm>
            <a:off x="9283217" y="4709160"/>
            <a:ext cx="2131238" cy="274320"/>
          </a:xfrm>
          <a:prstGeom prst="rect">
            <a:avLst/>
          </a:prstGeom>
          <a:noFill/>
          <a:ln/>
        </p:spPr>
        <p:txBody>
          <a:bodyPr wrap="square" lIns="0" tIns="0" rIns="0" bIns="0" rtlCol="0" anchor="t"/>
          <a:lstStyle/>
          <a:p>
            <a:pPr algn="l" indent="0" marL="0">
              <a:lnSpc>
                <a:spcPct val="110000"/>
              </a:lnSpc>
              <a:buNone/>
            </a:pPr>
            <a:r>
              <a:rPr lang="en-US" sz="1200" spc="100" kern="0" dirty="0">
                <a:solidFill>
                  <a:srgbClr val="D4FC00"/>
                </a:solidFill>
                <a:latin typeface="Outfit" pitchFamily="34" charset="0"/>
                <a:ea typeface="Outfit" pitchFamily="34" charset="-122"/>
                <a:cs typeface="Outfit" pitchFamily="34" charset="-120"/>
              </a:rPr>
              <a:t>KENDALI ATAU INISIATIF</a:t>
            </a:r>
            <a:endParaRPr lang="en-US" sz="1200" dirty="0"/>
          </a:p>
        </p:txBody>
      </p:sp>
      <p:sp>
        <p:nvSpPr>
          <p:cNvPr id="27" name="text"/>
          <p:cNvSpPr txBox="1"/>
          <p:nvPr/>
        </p:nvSpPr>
        <p:spPr>
          <a:xfrm>
            <a:off x="502920" y="5532120"/>
            <a:ext cx="7498080" cy="457200"/>
          </a:xfrm>
          <a:prstGeom prst="rect">
            <a:avLst/>
          </a:prstGeom>
          <a:noFill/>
          <a:ln/>
        </p:spPr>
        <p:txBody>
          <a:bodyPr wrap="square" lIns="0" tIns="0" rIns="0" bIns="0" rtlCol="0" anchor="ctr"/>
          <a:lstStyle/>
          <a:p>
            <a:pPr algn="l" indent="0" marL="0">
              <a:lnSpc>
                <a:spcPct val="110000"/>
              </a:lnSpc>
              <a:buNone/>
            </a:pPr>
            <a:r>
              <a:rPr lang="en-US" sz="1400" spc="50" kern="0" dirty="0">
                <a:solidFill>
                  <a:srgbClr val="1A1A1C"/>
                </a:solidFill>
                <a:latin typeface="Outfit Medium" pitchFamily="34" charset="0"/>
                <a:ea typeface="Outfit Medium" pitchFamily="34" charset="-122"/>
                <a:cs typeface="Outfit Medium" pitchFamily="34" charset="-120"/>
              </a:rPr>
              <a:t>CUKUPKAH STRATEGI YANG TEPAT?</a:t>
            </a:r>
            <a:endParaRPr lang="en-US" sz="1400" dirty="0"/>
          </a:p>
        </p:txBody>
      </p:sp>
      <p:sp>
        <p:nvSpPr>
          <p:cNvPr id="28" name="pill"/>
          <p:cNvSpPr/>
          <p:nvPr/>
        </p:nvSpPr>
        <p:spPr>
          <a:xfrm>
            <a:off x="8122615" y="5550408"/>
            <a:ext cx="3566160" cy="420624"/>
          </a:xfrm>
          <a:prstGeom prst="roundRect">
            <a:avLst>
              <a:gd name="adj" fmla="val 108696"/>
            </a:avLst>
          </a:prstGeom>
          <a:solidFill>
            <a:srgbClr val="F4F4F4"/>
          </a:solidFill>
          <a:ln w="9525">
            <a:solidFill>
              <a:srgbClr val="141417"/>
            </a:solidFill>
            <a:prstDash val="solid"/>
          </a:ln>
        </p:spPr>
      </p:sp>
      <p:sp>
        <p:nvSpPr>
          <p:cNvPr id="29" name="text"/>
          <p:cNvSpPr txBox="1"/>
          <p:nvPr/>
        </p:nvSpPr>
        <p:spPr>
          <a:xfrm>
            <a:off x="8232343" y="5550408"/>
            <a:ext cx="3346704" cy="420624"/>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1A1A1C"/>
                </a:solidFill>
                <a:latin typeface="Outfit" pitchFamily="34" charset="0"/>
                <a:ea typeface="Outfit" pitchFamily="34" charset="-122"/>
                <a:cs typeface="Outfit" pitchFamily="34" charset="-120"/>
              </a:rPr>
              <a:t>DISKUSI KELAS</a:t>
            </a:r>
            <a:endParaRPr lang="en-US" sz="1050" dirty="0"/>
          </a:p>
        </p:txBody>
      </p:sp>
      <p:sp>
        <p:nvSpPr>
          <p:cNvPr id="30" name="text"/>
          <p:cNvSpPr txBox="1"/>
          <p:nvPr/>
        </p:nvSpPr>
        <p:spPr>
          <a:xfrm>
            <a:off x="502920" y="6510528"/>
            <a:ext cx="8229600" cy="219456"/>
          </a:xfrm>
          <a:prstGeom prst="rect">
            <a:avLst/>
          </a:prstGeom>
          <a:noFill/>
          <a:ln/>
        </p:spPr>
        <p:txBody>
          <a:bodyPr wrap="square" lIns="0" tIns="0" rIns="0" bIns="0" rtlCol="0" anchor="t"/>
          <a:lstStyle/>
          <a:p>
            <a:pPr algn="l" indent="0" marL="0">
              <a:lnSpc>
                <a:spcPct val="110000"/>
              </a:lnSpc>
              <a:buNone/>
            </a:pPr>
            <a:r>
              <a:rPr lang="en-US" sz="850" dirty="0">
                <a:solidFill>
                  <a:srgbClr val="8A8A8E"/>
                </a:solidFill>
                <a:latin typeface="Outfit" pitchFamily="34" charset="0"/>
                <a:ea typeface="Outfit" pitchFamily="34" charset="-122"/>
                <a:cs typeface="Outfit" pitchFamily="34" charset="-120"/>
              </a:rPr>
              <a:t>Thompson, Peteraf, Gamble &amp; Strickland (2024), Crafting &amp; Executing Strategy, Bab 10</a:t>
            </a:r>
            <a:endParaRPr lang="en-US" sz="85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p:cNvSpPr txBox="1"/>
          <p:nvPr/>
        </p:nvSpPr>
        <p:spPr>
          <a:xfrm>
            <a:off x="50292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1A1A1C"/>
                </a:solidFill>
                <a:latin typeface="Outfit" pitchFamily="34" charset="0"/>
                <a:ea typeface="Outfit" pitchFamily="34" charset="-122"/>
                <a:cs typeface="Outfit" pitchFamily="34" charset="-120"/>
              </a:rPr>
              <a:t>KELOMPOK 3 · MM FEB UGM</a:t>
            </a:r>
            <a:endParaRPr lang="en-US" sz="950" dirty="0"/>
          </a:p>
        </p:txBody>
      </p:sp>
      <p:sp>
        <p:nvSpPr>
          <p:cNvPr id="3" name="text"/>
          <p:cNvSpPr txBox="1"/>
          <p:nvPr/>
        </p:nvSpPr>
        <p:spPr>
          <a:xfrm>
            <a:off x="3291840" y="219456"/>
            <a:ext cx="265176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Strategic Management · MAN 5422</a:t>
            </a:r>
            <a:endParaRPr lang="en-US" sz="950" dirty="0"/>
          </a:p>
        </p:txBody>
      </p:sp>
      <p:sp>
        <p:nvSpPr>
          <p:cNvPr id="4" name="text"/>
          <p:cNvSpPr txBox="1"/>
          <p:nvPr/>
        </p:nvSpPr>
        <p:spPr>
          <a:xfrm>
            <a:off x="5943600" y="219456"/>
            <a:ext cx="274320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Chapter 10 · Thompson et al. (2024)</a:t>
            </a:r>
            <a:endParaRPr lang="en-US" sz="950" dirty="0"/>
          </a:p>
        </p:txBody>
      </p:sp>
      <p:sp>
        <p:nvSpPr>
          <p:cNvPr id="5" name="text"/>
          <p:cNvSpPr txBox="1"/>
          <p:nvPr/>
        </p:nvSpPr>
        <p:spPr>
          <a:xfrm>
            <a:off x="8503920" y="219456"/>
            <a:ext cx="1463040" cy="237744"/>
          </a:xfrm>
          <a:prstGeom prst="rect">
            <a:avLst/>
          </a:prstGeom>
          <a:noFill/>
          <a:ln/>
        </p:spPr>
        <p:txBody>
          <a:bodyPr wrap="square" lIns="0" tIns="0" rIns="0" bIns="0" rtlCol="0" anchor="t"/>
          <a:lstStyle/>
          <a:p>
            <a:pPr algn="l" indent="0" marL="0">
              <a:lnSpc>
                <a:spcPct val="110000"/>
              </a:lnSpc>
              <a:buNone/>
            </a:pPr>
            <a:r>
              <a:rPr lang="en-US" sz="950" dirty="0">
                <a:solidFill>
                  <a:srgbClr val="5A5A5F"/>
                </a:solidFill>
                <a:latin typeface="Outfit" pitchFamily="34" charset="0"/>
                <a:ea typeface="Outfit" pitchFamily="34" charset="-122"/>
                <a:cs typeface="Outfit" pitchFamily="34" charset="-120"/>
              </a:rPr>
              <a:t>Sesi 9 · 7 Nov 2026</a:t>
            </a:r>
            <a:endParaRPr lang="en-US" sz="950" dirty="0"/>
          </a:p>
        </p:txBody>
      </p:sp>
      <p:sp>
        <p:nvSpPr>
          <p:cNvPr id="6" name="text"/>
          <p:cNvSpPr txBox="1"/>
          <p:nvPr/>
        </p:nvSpPr>
        <p:spPr>
          <a:xfrm>
            <a:off x="9692640" y="219456"/>
            <a:ext cx="1554480" cy="237744"/>
          </a:xfrm>
          <a:prstGeom prst="rect">
            <a:avLst/>
          </a:prstGeom>
          <a:noFill/>
          <a:ln/>
        </p:spPr>
        <p:txBody>
          <a:bodyPr wrap="square" lIns="0" tIns="0" rIns="0" bIns="0" rtlCol="0" anchor="t"/>
          <a:lstStyle/>
          <a:p>
            <a:pPr algn="r" indent="0" marL="0">
              <a:lnSpc>
                <a:spcPct val="110000"/>
              </a:lnSpc>
              <a:buNone/>
            </a:pPr>
            <a:endParaRPr lang="en-US" sz="950" dirty="0"/>
          </a:p>
        </p:txBody>
      </p:sp>
      <p:sp>
        <p:nvSpPr>
          <p:cNvPr id="7" name="text"/>
          <p:cNvSpPr txBox="1"/>
          <p:nvPr/>
        </p:nvSpPr>
        <p:spPr>
          <a:xfrm>
            <a:off x="502920" y="868680"/>
            <a:ext cx="4572000" cy="731520"/>
          </a:xfrm>
          <a:prstGeom prst="rect">
            <a:avLst/>
          </a:prstGeom>
          <a:noFill/>
          <a:ln/>
        </p:spPr>
        <p:txBody>
          <a:bodyPr wrap="square" lIns="0" tIns="0" rIns="0" bIns="0" rtlCol="0" anchor="t"/>
          <a:lstStyle/>
          <a:p>
            <a:pPr algn="l" indent="0" marL="0">
              <a:lnSpc>
                <a:spcPct val="98000"/>
              </a:lnSpc>
              <a:buNone/>
            </a:pPr>
            <a:r>
              <a:rPr lang="en-US" sz="3600" spc="-50" kern="0" dirty="0">
                <a:solidFill>
                  <a:srgbClr val="141417"/>
                </a:solidFill>
                <a:latin typeface="Outfit Medium" pitchFamily="34" charset="0"/>
                <a:ea typeface="Outfit Medium" pitchFamily="34" charset="-122"/>
                <a:cs typeface="Outfit Medium" pitchFamily="34" charset="-120"/>
              </a:rPr>
              <a:t>REFERENSI</a:t>
            </a:r>
            <a:endParaRPr lang="en-US" sz="3600" dirty="0"/>
          </a:p>
        </p:txBody>
      </p:sp>
      <p:pic>
        <p:nvPicPr>
          <p:cNvPr id="8" name="Tumpukan buku di meja putih" descr="preencoded.png">    </p:cNvPr>
          <p:cNvPicPr>
            <a:picLocks noChangeAspect="1"/>
          </p:cNvPicPr>
          <p:nvPr/>
        </p:nvPicPr>
        <p:blipFill>
          <a:blip r:embed="rId1"/>
          <a:stretch>
            <a:fillRect/>
          </a:stretch>
        </p:blipFill>
        <p:spPr>
          <a:xfrm>
            <a:off x="502920" y="2011680"/>
            <a:ext cx="3291840" cy="4206240"/>
          </a:xfrm>
          <a:prstGeom prst="rect">
            <a:avLst/>
          </a:prstGeom>
        </p:spPr>
      </p:pic>
      <p:sp>
        <p:nvSpPr>
          <p:cNvPr id="9" name="card"/>
          <p:cNvSpPr/>
          <p:nvPr/>
        </p:nvSpPr>
        <p:spPr>
          <a:xfrm>
            <a:off x="4069080" y="868680"/>
            <a:ext cx="7619695" cy="5349240"/>
          </a:xfrm>
          <a:prstGeom prst="roundRect">
            <a:avLst>
              <a:gd name="adj" fmla="val 3419"/>
            </a:avLst>
          </a:prstGeom>
          <a:solidFill>
            <a:srgbClr val="E8E8E8"/>
          </a:solidFill>
          <a:ln w="6350">
            <a:solidFill>
              <a:srgbClr val="E8E8E8"/>
            </a:solidFill>
            <a:prstDash val="solid"/>
          </a:ln>
        </p:spPr>
      </p:sp>
      <p:sp>
        <p:nvSpPr>
          <p:cNvPr id="10" name="text"/>
          <p:cNvSpPr txBox="1"/>
          <p:nvPr/>
        </p:nvSpPr>
        <p:spPr>
          <a:xfrm>
            <a:off x="4389120" y="1143000"/>
            <a:ext cx="6979615" cy="4892040"/>
          </a:xfrm>
          <a:prstGeom prst="rect">
            <a:avLst/>
          </a:prstGeom>
          <a:noFill/>
          <a:ln/>
        </p:spPr>
        <p:txBody>
          <a:bodyPr wrap="square" lIns="0" tIns="0" rIns="0" bIns="0" rtlCol="0" anchor="t"/>
          <a:lstStyle/>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Thompson, A. A., Peteraf, M. A., Gamble, J. E., &amp; Strickland III, A. J. (2024). Crafting &amp; Executing Strategy: The Quest for Competitive Advantage, Concepts and Cases (2024 Release, ISE). McGraw Hill. Bab 10, hlm. 294 sampai 325.</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Thompson, A. A., &amp; Strickland III, A. J. (2019). Strategic Management: Concepts and Cases (22nd ed.). McGraw-Hill/Irwin. Buku acuan silabus.</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Chandler, A. D. (1962). Strategy and Structure. MIT Press.</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Sull, D., Homkes, R., &amp; Sull, C. (2015). Why strategy execution unravels, and what to do about it. Harvard Business Review, 93(3).</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Collins, J. (2001). Good to Great. HarperBusiness.</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Kanter, R. M. (1994). Collaborative advantage: The art of the alliance. Harvard Business Review, 72(4), 96 sampai 108.</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Helfat, C. E., &amp; Peteraf, M. A. (2003). The dynamic resource-based view: Capability lifecycles. Strategic Management Journal, 24(10), 997 sampai 1010.</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Simons, R. (1995). Control in an age of empowerment. Harvard Business Review, 73(2), 80 sampai 88.</a:t>
            </a:r>
            <a:endParaRPr lang="en-US" sz="1100" dirty="0"/>
          </a:p>
          <a:p>
            <a:pPr algn="l" marL="127000" indent="-127000">
              <a:lnSpc>
                <a:spcPct val="110000"/>
              </a:lnSpc>
              <a:spcAft>
                <a:spcPts val="500"/>
              </a:spcAft>
              <a:buSzPct val="100000"/>
              <a:buChar char="•"/>
            </a:pPr>
            <a:r>
              <a:rPr lang="en-US" sz="1100" dirty="0">
                <a:solidFill>
                  <a:srgbClr val="1A1A1C"/>
                </a:solidFill>
                <a:latin typeface="Outfit" pitchFamily="34" charset="0"/>
                <a:ea typeface="Outfit" pitchFamily="34" charset="-122"/>
                <a:cs typeface="Outfit" pitchFamily="34" charset="-120"/>
              </a:rPr>
              <a:t>McChesney, C., Covey, S., &amp; Huling, J. (2012). The 4 Disciplines of Execution. Free Press.</a:t>
            </a:r>
            <a:endParaRPr lang="en-US" sz="1100" dirty="0"/>
          </a:p>
        </p:txBody>
      </p:sp>
      <p:sp>
        <p:nvSpPr>
          <p:cNvPr id="25" name="Slide Number Placeholder 0"/>
          <p:cNvSpPr>
            <a:spLocks noGrp="1"/>
          </p:cNvSpPr>
          <p:nvPr>
            <p:ph type="sldNum" sz="quarter" idx="4294967295"/>
          </p:nvPr>
        </p:nvSpPr>
        <p:spPr>
          <a:xfrm>
            <a:off x="11247120" y="219456"/>
            <a:ext cx="438912" cy="237744"/>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5A5A5F"/>
                </a:solidFill>
                <a:latin typeface="Outfit"/>
                <a:ea typeface="Outfit"/>
                <a:cs typeface="Outfi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Ruang rapat terang" descr="preencoded.png">    </p:cNvPr>
          <p:cNvPicPr>
            <a:picLocks noChangeAspect="1"/>
          </p:cNvPicPr>
          <p:nvPr/>
        </p:nvPicPr>
        <p:blipFill>
          <a:blip r:embed="rId1"/>
          <a:stretch>
            <a:fillRect/>
          </a:stretch>
        </p:blipFill>
        <p:spPr>
          <a:xfrm>
            <a:off x="502920" y="502920"/>
            <a:ext cx="11185855" cy="5852160"/>
          </a:xfrm>
          <a:prstGeom prst="rect">
            <a:avLst/>
          </a:prstGeom>
        </p:spPr>
      </p:pic>
      <p:sp>
        <p:nvSpPr>
          <p:cNvPr id="3" name="card"/>
          <p:cNvSpPr/>
          <p:nvPr/>
        </p:nvSpPr>
        <p:spPr>
          <a:xfrm>
            <a:off x="914400" y="4206240"/>
            <a:ext cx="4754880" cy="1188720"/>
          </a:xfrm>
          <a:prstGeom prst="roundRect">
            <a:avLst>
              <a:gd name="adj" fmla="val 10769"/>
            </a:avLst>
          </a:prstGeom>
          <a:solidFill>
            <a:srgbClr val="F4F4F4"/>
          </a:solidFill>
          <a:ln w="6350">
            <a:solidFill>
              <a:srgbClr val="F4F4F4"/>
            </a:solidFill>
            <a:prstDash val="solid"/>
          </a:ln>
        </p:spPr>
      </p:sp>
      <p:sp>
        <p:nvSpPr>
          <p:cNvPr id="4" name="text"/>
          <p:cNvSpPr txBox="1"/>
          <p:nvPr/>
        </p:nvSpPr>
        <p:spPr>
          <a:xfrm>
            <a:off x="1097280" y="4224528"/>
            <a:ext cx="4572000" cy="1152144"/>
          </a:xfrm>
          <a:prstGeom prst="rect">
            <a:avLst/>
          </a:prstGeom>
          <a:noFill/>
          <a:ln/>
        </p:spPr>
        <p:txBody>
          <a:bodyPr wrap="square" lIns="0" tIns="0" rIns="0" bIns="0" rtlCol="0" anchor="ctr"/>
          <a:lstStyle/>
          <a:p>
            <a:pPr algn="l" indent="0" marL="0">
              <a:lnSpc>
                <a:spcPct val="98000"/>
              </a:lnSpc>
              <a:buNone/>
            </a:pPr>
            <a:r>
              <a:rPr lang="en-US" sz="4000" spc="-50" kern="0" dirty="0">
                <a:solidFill>
                  <a:srgbClr val="141417"/>
                </a:solidFill>
                <a:latin typeface="Outfit Medium" pitchFamily="34" charset="0"/>
                <a:ea typeface="Outfit Medium" pitchFamily="34" charset="-122"/>
                <a:cs typeface="Outfit Medium" pitchFamily="34" charset="-120"/>
              </a:rPr>
              <a:t>TERIMA KASIH</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utfit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utf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 Organization Capable of Good Strategy Execution</dc:title>
  <dc:subject>PptxGenJS Presentation</dc:subject>
  <dc:creator>Kelompok 3</dc:creator>
  <cp:lastModifiedBy>Kelompok 3</cp:lastModifiedBy>
  <cp:revision>1</cp:revision>
  <dcterms:created xsi:type="dcterms:W3CDTF">2026-10-31T04:22:22Z</dcterms:created>
  <dcterms:modified xsi:type="dcterms:W3CDTF">2026-10-31T04:22:22Z</dcterms:modified>
</cp:coreProperties>
</file>