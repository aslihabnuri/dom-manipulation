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dc6c59a5-5748-a5c8-05da-43cab60532c3}">
          <p14:sldIdLst>
            <p14:sldId id="256"/>
            <p14:sldId id="257"/>
          </p14:sldIdLst>
        </p14:section>
        <p14:section name="01 Landasan" id="{93cf9b24-79e7-aed6-1cb6-50629ce9f0b3}">
          <p14:sldIdLst>
            <p14:sldId id="258"/>
            <p14:sldId id="259"/>
            <p14:sldId id="260"/>
            <p14:sldId id="261"/>
          </p14:sldIdLst>
        </p14:section>
        <p14:section name="02 Staffing" id="{4ea8cd01-ad95-5177-2b1f-e85f9babbdc4}">
          <p14:sldIdLst>
            <p14:sldId id="262"/>
            <p14:sldId id="263"/>
          </p14:sldIdLst>
        </p14:section>
        <p14:section name="03 Capabilities" id="{a7afb158-8215-65e3-30ba-ee829439ea82}">
          <p14:sldIdLst>
            <p14:sldId id="264"/>
            <p14:sldId id="265"/>
            <p14:sldId id="266"/>
            <p14:sldId id="267"/>
          </p14:sldIdLst>
        </p14:section>
        <p14:section name="04 Structure" id="{077df7b3-54d5-c2a9-8635-85bdd8bdb338}">
          <p14:sldIdLst>
            <p14:sldId id="268"/>
            <p14:sldId id="269"/>
            <p14:sldId id="270"/>
            <p14:sldId id="271"/>
            <p14:sldId id="272"/>
          </p14:sldIdLst>
        </p14:section>
        <p14:section name="05 Sintesis" id="{8f5aef33-bb0e-c941-68ac-a9848b2835e0}">
          <p14:sldIdLst>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Perkenalkan kelompok dan topik: Bab 10, bab pertama dari tiga bab tentang eksekusi strategi (Bab 10 sampai 12). Satu kalimat pengantar, lalu ke alur pembahasan.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alur dan tegaskan keterkaitannya: tiap bagian adalah prasyarat bagian berikutnya. Pembagian pembicara: Aslih (slide 1 sampai 6 dan 18 sampai 21), Tifani (7 sampai 8), Happy (9 sampai 12), Dara (13 sampai 17). Sekitar 15 menit. Bila waktu dipotong, lewati slide 4 dan 10; slide 5 dan 6 dapat digabung menjadi satu penjelasan. Slide 18 adalah titik lompat bila diminta langsung ke kesimpulan.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dengan sesi sebelumnya lewat analogi kapal Pak Rangga. Merumuskan bersifat analitis; mengeksekusi bersifat operasional dan menyangkut orang. Dalam proses lima tahap Bab 2, eksekusi adalah tahap keempat dan menuntut keterampilan manajerial yang berbeda. Kutipan Lecuona menjadi tesis presentasi.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Alasan eksekusi lebih sulit: banyak orang dan aktivitas yang saling bergantung, tidak ada resep tunggal, dan ada resistensi yang menuntut kepemimpinan. Dua tanda eksekusi yang baik menjadi alat diagnosis.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10.1 digambar ulang mengikuti bentuk buku: heksagon pusat dikelilingi sepuluh tugas. Jangan membaca sepuluh tugas satu per satu. Sebutkan tiga yang berwarna lime, lalu katakan tujuh sisanya dibahas Kelompok 4 (Bab 11) dan Kelompok 5 (Bab 12). Interpretasi penyaji atas urutan ini: sistem insentif hanya berguna bila orangnya sudah tepat.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10.2 adalah peta Bab 10. Mengapa ketiganya didahulukan: eksekusi yang mahir bergantung pertama-tama pada organisasi yang mampu, dan strategic assets terdepresiasi sehingga pembaruan diperlukan bahkan saat strategi tidak berubah.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1 bagian pertama. Mengapa penting: tanpa tim yang kapabel dan berorientasi hasil, tenggat meleset, upaya salah arah, dan mutu kerja di bawah eksekutif yang lemah ikut merosot. Tujuan akhir bukan satu bintang, melainkan critical mass manajer yang saling memperkuat (Collins, Good to Great). Contoh IC 10.1: Mary Barra, Satya Nadella, Rosalind Brewer.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Delapan praktik buku dipadatkan menjadi empat pasang. Deloitte (IC 10.2): jalur jelas menuju partner, milestone school, dan sponsorship. Pelatihan adalah bagian eksekusi strategi; bila strategi menuntut skill baru, pelatihan harus didanai memadai.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2. Tiga pendekatan buku dibedakan lewat kecepatan, kendali, dan risiko; pembacaan itu adalah cara baca penyaji. Analogi buku: mempelajari Shaun White tidak membuat seseorang juara halfpipe. Dua slide berikutnya memperdalam jalur internal dan eksternal.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Buku menamai dua tahap: ability lalu tried-and-true competence; tahap ketiga pada grafik adalah penjagaan dan pembaruan (dynamic capability, Helfat &amp; Peteraf, 2003). Jalur evolusioner menjelaskan mengapa capability tidak bisa dibeli semalam. Dua bentuk tindakan manajerial: memperkuat basis skill dan pengetahuan (semua level), dan mengoordinasikan kelompok kerja lintas unit (eksekutif senior yang punya wibawa). Williams-Sonoma mencatat pendapatan US$8,7 miliar pada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jalur eksternal. Paradoks akuisisi: yang dibeli adalah rutinitas yang tacit, sehingga integrasi menjadi titik rawan. Pilih mitra dari gaya manajemen dan budaya, bukan hanya aset; pembelajaran sepihak merusak kepercayaan. Kemitraan lintas industri lebih aman: produsen mobil dengan Waymo, Nvidia, Mobileye; Nike dengan Bluesign. Capability yang dibeli tetap harus ditanam ke rutinitas sendiri.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Kapsul 10.3. Semua angka diberi pembanding agar tidak menjadi klaim kosong. Produksi lot kecil dekat kantor pusat, rantai pasok terintegrasi tanpa gudang, nol iklan tetapi lokasi premium, pengiriman hingga dua kali seminggu. Tantangan: H&amp;M, Uniqlo, Shein, belanja daring. Tautkan ke empat uji resource Bab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3 dipecah menjadi lima keputusan. Struktur adalah pengaturan formal dan informal atas tugas, tanggung jawab, garis wewenang, dan pelaporan (buku merujuk Chandler, 1962, untuk definisi ini). Struktur yang tidak cocok menaikkan biaya birokrasi dan merusak koordinasi; desain yang baik menurunkan biaya dan mempercepat pembangunan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1. Tiga manfaat eksekusi dari outsourcing (pil di panel lime) dan satu batasnya (Bab 6). Pertanyaannya bukan bisakah di-outsource, melainkan apakah ini inti strategi kami. Contoh lain: 83 persen dari sepuluh farmasi terbesar meng-outsource pengelolaan data klinis; Nike; Broadcom.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2. Empat tipe dibaca sebagai spektrum evolusi. Catatan buku: tipe struktur bergantung pada ukuran dan kompleksitas, bukan pada generic strategy yang dipilih. Contoh: GM kini satu struktur fungsional untuk semua merek; Texas Instruments, Caterpillar, Philips memakai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3. Pilihan bergantung pada letak pengetahuan dan kebutuhan kecepatan. Contoh: karyawan Starbucks membagikan kopi gratis saat kasir offline; buyer TJX memangkas anggarannya sendiri. Untuk cross-business strategic fit, fungsi yang menuntut koordinasi erat disentralisasi. Tren: struktur makin datar karena aset paling bernilai adalah intellectual capital karyawan.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4 dan 5 menutup aksi 3. Hambatan: dalam struktur terdesentralisasi, kepala departemen cenderung mendahulukan unitnya. Membangun organisasi berarti merajut upaya orang dan kelompok secara sadar; ini tugas manajemen senior.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sintesis; bila waktu habis, lompat ke sini. Tautkan ke narasi Pak Rangga: pergeseran dari resource-based ke knowledge-based, dan dari competitive advantage ke collaborative advantage; bab menyediakan kaitnya lewat tacit knowledge, socially complex capabilities, intellectual capital karyawan, serta network dan ecosystem (Kanter, 1994, dikutip bab sebagai endnote 27). Jembatan: Bab 11 menggerakkan organisasi (tugas 4 sampai 8), Bab 12 menopangnya dengan budaya dan kepemimpinan (tugas 9 dan 10), dan 4DX memberi disiplin eksekusi di tingkat tim (fokus pada yang terpenting, lead measures, scoreboard, akuntabilitas berkala), yang akan dibahas Kelompok 3 pada presentasi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4F4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4F4F4"/>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2.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10000"/>
              </a:lnSpc>
              <a:buNone/>
            </a:pPr>
            <a:r>
              <a:rPr lang="en-US" sz="1050" dirty="0">
                <a:solidFill>
                  <a:srgbClr val="5A5A5F"/>
                </a:solidFill>
                <a:latin typeface="Outfit" pitchFamily="34" charset="0"/>
                <a:ea typeface="Outfit" pitchFamily="34" charset="-122"/>
                <a:cs typeface="Outfit" pitchFamily="34" charset="-120"/>
              </a:rPr>
              <a:t>Chapter presentation</a:t>
            </a:r>
            <a:endParaRPr lang="en-US" sz="1050" dirty="0"/>
          </a:p>
        </p:txBody>
      </p:sp>
      <p:sp>
        <p:nvSpPr>
          <p:cNvPr id="7" name="toggle"/>
          <p:cNvSpPr/>
          <p:nvPr/>
        </p:nvSpPr>
        <p:spPr>
          <a:xfrm>
            <a:off x="502920" y="658368"/>
            <a:ext cx="566928" cy="274320"/>
          </a:xfrm>
          <a:prstGeom prst="roundRect">
            <a:avLst>
              <a:gd name="adj" fmla="val 166667"/>
            </a:avLst>
          </a:prstGeom>
          <a:solidFill>
            <a:srgbClr val="F4F4F4"/>
          </a:solidFill>
          <a:ln w="9525">
            <a:solidFill>
              <a:srgbClr val="141417"/>
            </a:solidFill>
            <a:prstDash val="solid"/>
          </a:ln>
        </p:spPr>
      </p:sp>
      <p:sp>
        <p:nvSpPr>
          <p:cNvPr id="8" name="toggle-dot"/>
          <p:cNvSpPr/>
          <p:nvPr/>
        </p:nvSpPr>
        <p:spPr>
          <a:xfrm>
            <a:off x="804672" y="694944"/>
            <a:ext cx="201168" cy="201168"/>
          </a:xfrm>
          <a:prstGeom prst="ellipse">
            <a:avLst/>
          </a:prstGeom>
          <a:solidFill>
            <a:srgbClr val="D4FC00"/>
          </a:solidFill>
          <a:ln w="6350">
            <a:solidFill>
              <a:srgbClr val="D4FC00"/>
            </a:solidFill>
            <a:prstDash val="solid"/>
          </a:ln>
        </p:spPr>
      </p:sp>
      <p:pic>
        <p:nvPicPr>
          <p:cNvPr id="9" name="toggle-star" descr="preencoded.png">    </p:cNvPr>
          <p:cNvPicPr>
            <a:picLocks noChangeAspect="1"/>
          </p:cNvPicPr>
          <p:nvPr/>
        </p:nvPicPr>
        <p:blipFill>
          <a:blip r:embed="rId1"/>
          <a:stretch>
            <a:fillRect/>
          </a:stretch>
        </p:blipFill>
        <p:spPr>
          <a:xfrm>
            <a:off x="845820" y="736092"/>
            <a:ext cx="118872" cy="118872"/>
          </a:xfrm>
          <a:prstGeom prst="rect">
            <a:avLst/>
          </a:prstGeom>
        </p:spPr>
      </p:pic>
      <p:sp>
        <p:nvSpPr>
          <p:cNvPr id="10" name="text"/>
          <p:cNvSpPr txBox="1"/>
          <p:nvPr/>
        </p:nvSpPr>
        <p:spPr>
          <a:xfrm>
            <a:off x="502920" y="960120"/>
            <a:ext cx="6400800" cy="2651760"/>
          </a:xfrm>
          <a:prstGeom prst="rect">
            <a:avLst/>
          </a:prstGeom>
          <a:noFill/>
          <a:ln/>
        </p:spPr>
        <p:txBody>
          <a:bodyPr wrap="square" lIns="0" tIns="0" rIns="0" bIns="0" rtlCol="0" anchor="t"/>
          <a:lstStyle/>
          <a:p>
            <a:pPr algn="l" indent="0" marL="0">
              <a:lnSpc>
                <a:spcPct val="98000"/>
              </a:lnSpc>
              <a:buNone/>
            </a:pPr>
            <a:r>
              <a:rPr lang="en-US" sz="3800" spc="-50" kern="0" dirty="0">
                <a:solidFill>
                  <a:srgbClr val="141417"/>
                </a:solidFill>
                <a:latin typeface="Outfit Medium" pitchFamily="34" charset="0"/>
                <a:ea typeface="Outfit Medium" pitchFamily="34" charset="-122"/>
                <a:cs typeface="Outfit Medium" pitchFamily="34" charset="-120"/>
              </a:rPr>
              <a:t>BUILDING AN ORGANIZATION CAPABLE OF GOOD STRATEGY EXECUTION</a:t>
            </a:r>
            <a:endParaRPr lang="en-US" sz="3800" dirty="0"/>
          </a:p>
        </p:txBody>
      </p:sp>
      <p:sp>
        <p:nvSpPr>
          <p:cNvPr id="11" name="pill"/>
          <p:cNvSpPr/>
          <p:nvPr/>
        </p:nvSpPr>
        <p:spPr>
          <a:xfrm>
            <a:off x="502920" y="3566160"/>
            <a:ext cx="4023360" cy="402336"/>
          </a:xfrm>
          <a:prstGeom prst="roundRect">
            <a:avLst>
              <a:gd name="adj" fmla="val 113636"/>
            </a:avLst>
          </a:prstGeom>
          <a:solidFill>
            <a:srgbClr val="F4F4F4"/>
          </a:solidFill>
          <a:ln w="9525">
            <a:solidFill>
              <a:srgbClr val="141417"/>
            </a:solidFill>
            <a:prstDash val="solid"/>
          </a:ln>
        </p:spPr>
      </p:sp>
      <p:sp>
        <p:nvSpPr>
          <p:cNvPr id="12" name="text"/>
          <p:cNvSpPr txBox="1"/>
          <p:nvPr/>
        </p:nvSpPr>
        <p:spPr>
          <a:xfrm>
            <a:off x="612648" y="3566160"/>
            <a:ext cx="3803904" cy="402336"/>
          </a:xfrm>
          <a:prstGeom prst="rect">
            <a:avLst/>
          </a:prstGeom>
          <a:noFill/>
          <a:ln/>
        </p:spPr>
        <p:txBody>
          <a:bodyPr wrap="square" lIns="0" tIns="0" rIns="0" bIns="0" rtlCol="0" anchor="ctr"/>
          <a:lstStyle/>
          <a:p>
            <a:pPr algn="ctr" indent="0" marL="0">
              <a:lnSpc>
                <a:spcPct val="110000"/>
              </a:lnSpc>
              <a:buNone/>
            </a:pPr>
            <a:r>
              <a:rPr lang="en-US" sz="1300" spc="50" kern="0" dirty="0">
                <a:solidFill>
                  <a:srgbClr val="1A1A1C"/>
                </a:solidFill>
                <a:latin typeface="Outfit" pitchFamily="34" charset="0"/>
                <a:ea typeface="Outfit" pitchFamily="34" charset="-122"/>
                <a:cs typeface="Outfit" pitchFamily="34" charset="-120"/>
              </a:rPr>
              <a:t>PEOPLE, CAPABILITIES, AND STRUCTURE</a:t>
            </a:r>
            <a:endParaRPr lang="en-US" sz="1300" dirty="0"/>
          </a:p>
        </p:txBody>
      </p:sp>
      <p:sp>
        <p:nvSpPr>
          <p:cNvPr id="13" name="card"/>
          <p:cNvSpPr/>
          <p:nvPr/>
        </p:nvSpPr>
        <p:spPr>
          <a:xfrm>
            <a:off x="502920" y="4069080"/>
            <a:ext cx="2194560" cy="1691640"/>
          </a:xfrm>
          <a:prstGeom prst="roundRect">
            <a:avLst>
              <a:gd name="adj" fmla="val 10811"/>
            </a:avLst>
          </a:prstGeom>
          <a:solidFill>
            <a:srgbClr val="E8E8E8"/>
          </a:solidFill>
          <a:ln w="6350">
            <a:solidFill>
              <a:srgbClr val="E8E8E8"/>
            </a:solidFill>
            <a:prstDash val="solid"/>
          </a:ln>
        </p:spPr>
      </p:sp>
      <p:sp>
        <p:nvSpPr>
          <p:cNvPr id="14" name="text"/>
          <p:cNvSpPr txBox="1"/>
          <p:nvPr/>
        </p:nvSpPr>
        <p:spPr>
          <a:xfrm>
            <a:off x="731520" y="4215384"/>
            <a:ext cx="1737360" cy="502920"/>
          </a:xfrm>
          <a:prstGeom prst="rect">
            <a:avLst/>
          </a:prstGeom>
          <a:noFill/>
          <a:ln/>
        </p:spPr>
        <p:txBody>
          <a:bodyPr wrap="square" lIns="0" tIns="0" rIns="0" bIns="0" rtlCol="0" anchor="ctr"/>
          <a:lstStyle/>
          <a:p>
            <a:pPr algn="l" indent="0" marL="0">
              <a:lnSpc>
                <a:spcPct val="110000"/>
              </a:lnSpc>
              <a:buNone/>
            </a:pPr>
            <a:r>
              <a:rPr lang="en-US" sz="2400" spc="-30" kern="0" dirty="0">
                <a:solidFill>
                  <a:srgbClr val="141417"/>
                </a:solidFill>
                <a:latin typeface="Outfit Medium" pitchFamily="34" charset="0"/>
                <a:ea typeface="Outfit Medium" pitchFamily="34" charset="-122"/>
                <a:cs typeface="Outfit Medium" pitchFamily="34" charset="-120"/>
              </a:rPr>
              <a:t>Bab 10</a:t>
            </a:r>
            <a:endParaRPr lang="en-US" sz="2400" dirty="0"/>
          </a:p>
        </p:txBody>
      </p:sp>
      <p:sp>
        <p:nvSpPr>
          <p:cNvPr id="15" name="text"/>
          <p:cNvSpPr txBox="1"/>
          <p:nvPr/>
        </p:nvSpPr>
        <p:spPr>
          <a:xfrm>
            <a:off x="731520" y="4764024"/>
            <a:ext cx="1737360" cy="941832"/>
          </a:xfrm>
          <a:prstGeom prst="rect">
            <a:avLst/>
          </a:prstGeom>
          <a:noFill/>
          <a:ln/>
        </p:spPr>
        <p:txBody>
          <a:bodyPr wrap="square" lIns="0" tIns="0" rIns="0" bIns="0" rtlCol="0" anchor="t"/>
          <a:lstStyle/>
          <a:p>
            <a:pPr algn="l" indent="0" marL="0">
              <a:lnSpc>
                <a:spcPct val="108000"/>
              </a:lnSpc>
              <a:buNone/>
            </a:pPr>
            <a:r>
              <a:rPr lang="en-US" sz="1400" dirty="0">
                <a:solidFill>
                  <a:srgbClr val="5A5A5F"/>
                </a:solidFill>
                <a:latin typeface="Outfit" pitchFamily="34" charset="0"/>
                <a:ea typeface="Outfit" pitchFamily="34" charset="-122"/>
                <a:cs typeface="Outfit" pitchFamily="34" charset="-120"/>
              </a:rPr>
              <a:t>Thompson, Peteraf, Gamble &amp; Strickland (2024)</a:t>
            </a:r>
            <a:endParaRPr lang="en-US" sz="1400" dirty="0"/>
          </a:p>
        </p:txBody>
      </p:sp>
      <p:sp>
        <p:nvSpPr>
          <p:cNvPr id="16" name="card"/>
          <p:cNvSpPr/>
          <p:nvPr/>
        </p:nvSpPr>
        <p:spPr>
          <a:xfrm>
            <a:off x="2825496" y="4069080"/>
            <a:ext cx="2194560" cy="1691640"/>
          </a:xfrm>
          <a:prstGeom prst="roundRect">
            <a:avLst>
              <a:gd name="adj" fmla="val 10811"/>
            </a:avLst>
          </a:prstGeom>
          <a:solidFill>
            <a:srgbClr val="D4FC00"/>
          </a:solidFill>
          <a:ln w="6350">
            <a:solidFill>
              <a:srgbClr val="D4FC00"/>
            </a:solidFill>
            <a:prstDash val="solid"/>
          </a:ln>
        </p:spPr>
      </p:sp>
      <p:sp>
        <p:nvSpPr>
          <p:cNvPr id="17" name="text"/>
          <p:cNvSpPr txBox="1"/>
          <p:nvPr/>
        </p:nvSpPr>
        <p:spPr>
          <a:xfrm>
            <a:off x="3054096" y="4215384"/>
            <a:ext cx="1737360" cy="502920"/>
          </a:xfrm>
          <a:prstGeom prst="rect">
            <a:avLst/>
          </a:prstGeom>
          <a:noFill/>
          <a:ln/>
        </p:spPr>
        <p:txBody>
          <a:bodyPr wrap="square" lIns="0" tIns="0" rIns="0" bIns="0" rtlCol="0" anchor="ctr"/>
          <a:lstStyle/>
          <a:p>
            <a:pPr algn="l" indent="0" marL="0">
              <a:lnSpc>
                <a:spcPct val="110000"/>
              </a:lnSpc>
              <a:buNone/>
            </a:pPr>
            <a:r>
              <a:rPr lang="en-US" sz="2400" spc="-30" kern="0" dirty="0">
                <a:solidFill>
                  <a:srgbClr val="141417"/>
                </a:solidFill>
                <a:latin typeface="Outfit Medium" pitchFamily="34" charset="0"/>
                <a:ea typeface="Outfit Medium" pitchFamily="34" charset="-122"/>
                <a:cs typeface="Outfit Medium" pitchFamily="34" charset="-120"/>
              </a:rPr>
              <a:t>Sesi 9</a:t>
            </a:r>
            <a:endParaRPr lang="en-US" sz="2400" dirty="0"/>
          </a:p>
        </p:txBody>
      </p:sp>
      <p:sp>
        <p:nvSpPr>
          <p:cNvPr id="18" name="text"/>
          <p:cNvSpPr txBox="1"/>
          <p:nvPr/>
        </p:nvSpPr>
        <p:spPr>
          <a:xfrm>
            <a:off x="3054096" y="4764024"/>
            <a:ext cx="1737360" cy="941832"/>
          </a:xfrm>
          <a:prstGeom prst="rect">
            <a:avLst/>
          </a:prstGeom>
          <a:noFill/>
          <a:ln/>
        </p:spPr>
        <p:txBody>
          <a:bodyPr wrap="square" lIns="0" tIns="0" rIns="0" bIns="0" rtlCol="0" anchor="t"/>
          <a:lstStyle/>
          <a:p>
            <a:pPr algn="l" indent="0" marL="0">
              <a:lnSpc>
                <a:spcPct val="108000"/>
              </a:lnSpc>
              <a:buNone/>
            </a:pPr>
            <a:r>
              <a:rPr lang="en-US" sz="1400" dirty="0">
                <a:solidFill>
                  <a:srgbClr val="1A1A1C"/>
                </a:solidFill>
                <a:latin typeface="Outfit" pitchFamily="34" charset="0"/>
                <a:ea typeface="Outfit" pitchFamily="34" charset="-122"/>
                <a:cs typeface="Outfit" pitchFamily="34" charset="-120"/>
              </a:rPr>
              <a:t>Dosen: Dr. Rangga Almahendra, S.T., M.M.</a:t>
            </a:r>
            <a:endParaRPr lang="en-US" sz="1400" dirty="0"/>
          </a:p>
        </p:txBody>
      </p:sp>
      <p:sp>
        <p:nvSpPr>
          <p:cNvPr id="19" name="card"/>
          <p:cNvSpPr/>
          <p:nvPr/>
        </p:nvSpPr>
        <p:spPr>
          <a:xfrm>
            <a:off x="5148072" y="4069080"/>
            <a:ext cx="2194560" cy="1691640"/>
          </a:xfrm>
          <a:prstGeom prst="roundRect">
            <a:avLst>
              <a:gd name="adj" fmla="val 10811"/>
            </a:avLst>
          </a:prstGeom>
          <a:solidFill>
            <a:srgbClr val="141417"/>
          </a:solidFill>
          <a:ln w="6350">
            <a:solidFill>
              <a:srgbClr val="141417"/>
            </a:solidFill>
            <a:prstDash val="solid"/>
          </a:ln>
        </p:spPr>
      </p:sp>
      <p:sp>
        <p:nvSpPr>
          <p:cNvPr id="20" name="text"/>
          <p:cNvSpPr txBox="1"/>
          <p:nvPr/>
        </p:nvSpPr>
        <p:spPr>
          <a:xfrm>
            <a:off x="5376672" y="4215384"/>
            <a:ext cx="1737360" cy="502920"/>
          </a:xfrm>
          <a:prstGeom prst="rect">
            <a:avLst/>
          </a:prstGeom>
          <a:noFill/>
          <a:ln/>
        </p:spPr>
        <p:txBody>
          <a:bodyPr wrap="square" lIns="0" tIns="0" rIns="0" bIns="0" rtlCol="0" anchor="ctr"/>
          <a:lstStyle/>
          <a:p>
            <a:pPr algn="l" indent="0" marL="0">
              <a:lnSpc>
                <a:spcPct val="110000"/>
              </a:lnSpc>
              <a:buNone/>
            </a:pPr>
            <a:r>
              <a:rPr lang="en-US" sz="2400" spc="-30" kern="0" dirty="0">
                <a:solidFill>
                  <a:srgbClr val="FFFFFF"/>
                </a:solidFill>
                <a:latin typeface="Outfit Medium" pitchFamily="34" charset="0"/>
                <a:ea typeface="Outfit Medium" pitchFamily="34" charset="-122"/>
                <a:cs typeface="Outfit Medium" pitchFamily="34" charset="-120"/>
              </a:rPr>
              <a:t>Kelompok 3</a:t>
            </a:r>
            <a:endParaRPr lang="en-US" sz="2400" dirty="0"/>
          </a:p>
        </p:txBody>
      </p:sp>
      <p:sp>
        <p:nvSpPr>
          <p:cNvPr id="21" name="text"/>
          <p:cNvSpPr txBox="1"/>
          <p:nvPr/>
        </p:nvSpPr>
        <p:spPr>
          <a:xfrm>
            <a:off x="5376672" y="4764024"/>
            <a:ext cx="1737360" cy="941832"/>
          </a:xfrm>
          <a:prstGeom prst="rect">
            <a:avLst/>
          </a:prstGeom>
          <a:noFill/>
          <a:ln/>
        </p:spPr>
        <p:txBody>
          <a:bodyPr wrap="square" lIns="0" tIns="0" rIns="0" bIns="0" rtlCol="0" anchor="t"/>
          <a:lstStyle/>
          <a:p>
            <a:pPr algn="l" indent="0" marL="0">
              <a:lnSpc>
                <a:spcPct val="108000"/>
              </a:lnSpc>
              <a:buNone/>
            </a:pPr>
            <a:r>
              <a:rPr lang="en-US" sz="1400" dirty="0">
                <a:solidFill>
                  <a:srgbClr val="BDBDC2"/>
                </a:solidFill>
                <a:latin typeface="Outfit" pitchFamily="34" charset="0"/>
                <a:ea typeface="Outfit" pitchFamily="34" charset="-122"/>
                <a:cs typeface="Outfit" pitchFamily="34" charset="-120"/>
              </a:rPr>
              <a:t>Magister Manajemen FEB UGM</a:t>
            </a:r>
            <a:endParaRPr lang="en-US" sz="1400" dirty="0"/>
          </a:p>
        </p:txBody>
      </p:sp>
      <p:sp>
        <p:nvSpPr>
          <p:cNvPr id="22" name="text"/>
          <p:cNvSpPr txBox="1"/>
          <p:nvPr/>
        </p:nvSpPr>
        <p:spPr>
          <a:xfrm>
            <a:off x="502920" y="5943600"/>
            <a:ext cx="1920240" cy="310896"/>
          </a:xfrm>
          <a:prstGeom prst="rect">
            <a:avLst/>
          </a:prstGeom>
          <a:noFill/>
          <a:ln/>
        </p:spPr>
        <p:txBody>
          <a:bodyPr wrap="square" lIns="0" tIns="0" rIns="0" bIns="0" rtlCol="0" anchor="ctr"/>
          <a:lstStyle/>
          <a:p>
            <a:pPr algn="l" indent="0" marL="0">
              <a:lnSpc>
                <a:spcPct val="110000"/>
              </a:lnSpc>
              <a:buNone/>
            </a:pPr>
            <a:r>
              <a:rPr lang="en-US" sz="1400" dirty="0">
                <a:solidFill>
                  <a:srgbClr val="1A1A1C"/>
                </a:solidFill>
                <a:latin typeface="Outfit" pitchFamily="34" charset="0"/>
                <a:ea typeface="Outfit" pitchFamily="34" charset="-122"/>
                <a:cs typeface="Outfit" pitchFamily="34" charset="-120"/>
              </a:rPr>
              <a:t>Aslih Abnuri</a:t>
            </a:r>
            <a:endParaRPr lang="en-US" sz="1400" dirty="0"/>
          </a:p>
        </p:txBody>
      </p:sp>
      <p:sp>
        <p:nvSpPr>
          <p:cNvPr id="23" name="text"/>
          <p:cNvSpPr txBox="1"/>
          <p:nvPr/>
        </p:nvSpPr>
        <p:spPr>
          <a:xfrm>
            <a:off x="2423160" y="5943600"/>
            <a:ext cx="1508760" cy="310896"/>
          </a:xfrm>
          <a:prstGeom prst="rect">
            <a:avLst/>
          </a:prstGeom>
          <a:noFill/>
          <a:ln/>
        </p:spPr>
        <p:txBody>
          <a:bodyPr wrap="square" lIns="0" tIns="0" rIns="0" bIns="0" rtlCol="0" anchor="ctr"/>
          <a:lstStyle/>
          <a:p>
            <a:pPr algn="l" indent="0" marL="0">
              <a:lnSpc>
                <a:spcPct val="110000"/>
              </a:lnSpc>
              <a:buNone/>
            </a:pPr>
            <a:r>
              <a:rPr lang="en-US" sz="1200" dirty="0">
                <a:solidFill>
                  <a:srgbClr val="5A5A5F"/>
                </a:solidFill>
                <a:latin typeface="Outfit" pitchFamily="34" charset="0"/>
                <a:ea typeface="Outfit" pitchFamily="34" charset="-122"/>
                <a:cs typeface="Outfit" pitchFamily="34" charset="-120"/>
              </a:rPr>
              <a:t>25/574338/PEK/31801</a:t>
            </a:r>
            <a:endParaRPr lang="en-US" sz="1200" dirty="0"/>
          </a:p>
        </p:txBody>
      </p:sp>
      <p:sp>
        <p:nvSpPr>
          <p:cNvPr id="24" name="text"/>
          <p:cNvSpPr txBox="1"/>
          <p:nvPr/>
        </p:nvSpPr>
        <p:spPr>
          <a:xfrm>
            <a:off x="3977640" y="5943600"/>
            <a:ext cx="1920240" cy="310896"/>
          </a:xfrm>
          <a:prstGeom prst="rect">
            <a:avLst/>
          </a:prstGeom>
          <a:noFill/>
          <a:ln/>
        </p:spPr>
        <p:txBody>
          <a:bodyPr wrap="square" lIns="0" tIns="0" rIns="0" bIns="0" rtlCol="0" anchor="ctr"/>
          <a:lstStyle/>
          <a:p>
            <a:pPr algn="l" indent="0" marL="0">
              <a:lnSpc>
                <a:spcPct val="110000"/>
              </a:lnSpc>
              <a:buNone/>
            </a:pPr>
            <a:r>
              <a:rPr lang="en-US" sz="1400" dirty="0">
                <a:solidFill>
                  <a:srgbClr val="1A1A1C"/>
                </a:solidFill>
                <a:latin typeface="Outfit" pitchFamily="34" charset="0"/>
                <a:ea typeface="Outfit" pitchFamily="34" charset="-122"/>
                <a:cs typeface="Outfit" pitchFamily="34" charset="-120"/>
              </a:rPr>
              <a:t>Tifani Puspita</a:t>
            </a:r>
            <a:endParaRPr lang="en-US" sz="1400" dirty="0"/>
          </a:p>
        </p:txBody>
      </p:sp>
      <p:sp>
        <p:nvSpPr>
          <p:cNvPr id="25" name="text"/>
          <p:cNvSpPr txBox="1"/>
          <p:nvPr/>
        </p:nvSpPr>
        <p:spPr>
          <a:xfrm>
            <a:off x="5897880" y="5943600"/>
            <a:ext cx="1508760" cy="310896"/>
          </a:xfrm>
          <a:prstGeom prst="rect">
            <a:avLst/>
          </a:prstGeom>
          <a:noFill/>
          <a:ln/>
        </p:spPr>
        <p:txBody>
          <a:bodyPr wrap="square" lIns="0" tIns="0" rIns="0" bIns="0" rtlCol="0" anchor="ctr"/>
          <a:lstStyle/>
          <a:p>
            <a:pPr algn="l" indent="0" marL="0">
              <a:lnSpc>
                <a:spcPct val="110000"/>
              </a:lnSpc>
              <a:buNone/>
            </a:pPr>
            <a:r>
              <a:rPr lang="en-US" sz="1200" dirty="0">
                <a:solidFill>
                  <a:srgbClr val="5A5A5F"/>
                </a:solidFill>
                <a:latin typeface="Outfit" pitchFamily="34" charset="0"/>
                <a:ea typeface="Outfit" pitchFamily="34" charset="-122"/>
                <a:cs typeface="Outfit" pitchFamily="34" charset="-120"/>
              </a:rPr>
              <a:t>25/574443/PEK/31851</a:t>
            </a:r>
            <a:endParaRPr lang="en-US" sz="1200" dirty="0"/>
          </a:p>
        </p:txBody>
      </p:sp>
      <p:sp>
        <p:nvSpPr>
          <p:cNvPr id="26" name="text"/>
          <p:cNvSpPr txBox="1"/>
          <p:nvPr/>
        </p:nvSpPr>
        <p:spPr>
          <a:xfrm>
            <a:off x="502920" y="6327648"/>
            <a:ext cx="1920240" cy="310896"/>
          </a:xfrm>
          <a:prstGeom prst="rect">
            <a:avLst/>
          </a:prstGeom>
          <a:noFill/>
          <a:ln/>
        </p:spPr>
        <p:txBody>
          <a:bodyPr wrap="square" lIns="0" tIns="0" rIns="0" bIns="0" rtlCol="0" anchor="ctr"/>
          <a:lstStyle/>
          <a:p>
            <a:pPr algn="l" indent="0" marL="0">
              <a:lnSpc>
                <a:spcPct val="110000"/>
              </a:lnSpc>
              <a:buNone/>
            </a:pPr>
            <a:r>
              <a:rPr lang="en-US" sz="1400" dirty="0">
                <a:solidFill>
                  <a:srgbClr val="1A1A1C"/>
                </a:solidFill>
                <a:latin typeface="Outfit" pitchFamily="34" charset="0"/>
                <a:ea typeface="Outfit" pitchFamily="34" charset="-122"/>
                <a:cs typeface="Outfit" pitchFamily="34" charset="-120"/>
              </a:rPr>
              <a:t>Happy Dinithasari</a:t>
            </a:r>
            <a:endParaRPr lang="en-US" sz="1400" dirty="0"/>
          </a:p>
        </p:txBody>
      </p:sp>
      <p:sp>
        <p:nvSpPr>
          <p:cNvPr id="27" name="text"/>
          <p:cNvSpPr txBox="1"/>
          <p:nvPr/>
        </p:nvSpPr>
        <p:spPr>
          <a:xfrm>
            <a:off x="2423160" y="6327648"/>
            <a:ext cx="1508760" cy="310896"/>
          </a:xfrm>
          <a:prstGeom prst="rect">
            <a:avLst/>
          </a:prstGeom>
          <a:noFill/>
          <a:ln/>
        </p:spPr>
        <p:txBody>
          <a:bodyPr wrap="square" lIns="0" tIns="0" rIns="0" bIns="0" rtlCol="0" anchor="ctr"/>
          <a:lstStyle/>
          <a:p>
            <a:pPr algn="l" indent="0" marL="0">
              <a:lnSpc>
                <a:spcPct val="110000"/>
              </a:lnSpc>
              <a:buNone/>
            </a:pPr>
            <a:r>
              <a:rPr lang="en-US" sz="1200" dirty="0">
                <a:solidFill>
                  <a:srgbClr val="5A5A5F"/>
                </a:solidFill>
                <a:latin typeface="Outfit" pitchFamily="34" charset="0"/>
                <a:ea typeface="Outfit" pitchFamily="34" charset="-122"/>
                <a:cs typeface="Outfit" pitchFamily="34" charset="-120"/>
              </a:rPr>
              <a:t>25/574400/PEK/31831</a:t>
            </a:r>
            <a:endParaRPr lang="en-US" sz="1200" dirty="0"/>
          </a:p>
        </p:txBody>
      </p:sp>
      <p:sp>
        <p:nvSpPr>
          <p:cNvPr id="28" name="text"/>
          <p:cNvSpPr txBox="1"/>
          <p:nvPr/>
        </p:nvSpPr>
        <p:spPr>
          <a:xfrm>
            <a:off x="3977640" y="6327648"/>
            <a:ext cx="1920240" cy="310896"/>
          </a:xfrm>
          <a:prstGeom prst="rect">
            <a:avLst/>
          </a:prstGeom>
          <a:noFill/>
          <a:ln/>
        </p:spPr>
        <p:txBody>
          <a:bodyPr wrap="square" lIns="0" tIns="0" rIns="0" bIns="0" rtlCol="0" anchor="ctr"/>
          <a:lstStyle/>
          <a:p>
            <a:pPr algn="l" indent="0" marL="0">
              <a:lnSpc>
                <a:spcPct val="110000"/>
              </a:lnSpc>
              <a:buNone/>
            </a:pPr>
            <a:r>
              <a:rPr lang="en-US" sz="1400" dirty="0">
                <a:solidFill>
                  <a:srgbClr val="1A1A1C"/>
                </a:solidFill>
                <a:latin typeface="Outfit" pitchFamily="34" charset="0"/>
                <a:ea typeface="Outfit" pitchFamily="34" charset="-122"/>
                <a:cs typeface="Outfit" pitchFamily="34" charset="-120"/>
              </a:rPr>
              <a:t>Dara Astrini Rahayu K</a:t>
            </a:r>
            <a:endParaRPr lang="en-US" sz="1400" dirty="0"/>
          </a:p>
        </p:txBody>
      </p:sp>
      <p:sp>
        <p:nvSpPr>
          <p:cNvPr id="29" name="text"/>
          <p:cNvSpPr txBox="1"/>
          <p:nvPr/>
        </p:nvSpPr>
        <p:spPr>
          <a:xfrm>
            <a:off x="5897880" y="6327648"/>
            <a:ext cx="1508760" cy="310896"/>
          </a:xfrm>
          <a:prstGeom prst="rect">
            <a:avLst/>
          </a:prstGeom>
          <a:noFill/>
          <a:ln/>
        </p:spPr>
        <p:txBody>
          <a:bodyPr wrap="square" lIns="0" tIns="0" rIns="0" bIns="0" rtlCol="0" anchor="ctr"/>
          <a:lstStyle/>
          <a:p>
            <a:pPr algn="l" indent="0" marL="0">
              <a:lnSpc>
                <a:spcPct val="110000"/>
              </a:lnSpc>
              <a:buNone/>
            </a:pPr>
            <a:r>
              <a:rPr lang="en-US" sz="1200" dirty="0">
                <a:solidFill>
                  <a:srgbClr val="5A5A5F"/>
                </a:solidFill>
                <a:latin typeface="Outfit" pitchFamily="34" charset="0"/>
                <a:ea typeface="Outfit" pitchFamily="34" charset="-122"/>
                <a:cs typeface="Outfit" pitchFamily="34" charset="-120"/>
              </a:rPr>
              <a:t>25/574437/PEK/31847</a:t>
            </a:r>
            <a:endParaRPr lang="en-US" sz="1200" dirty="0"/>
          </a:p>
        </p:txBody>
      </p:sp>
      <p:pic>
        <p:nvPicPr>
          <p:cNvPr id="30" name="Tekstur marmer putih" descr="preencoded.png">    </p:cNvPr>
          <p:cNvPicPr>
            <a:picLocks noChangeAspect="1"/>
          </p:cNvPicPr>
          <p:nvPr/>
        </p:nvPicPr>
        <p:blipFill>
          <a:blip r:embed="rId2"/>
          <a:stretch>
            <a:fillRect/>
          </a:stretch>
        </p:blipFill>
        <p:spPr>
          <a:xfrm>
            <a:off x="7589520" y="658368"/>
            <a:ext cx="4099255" cy="647395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10000"/>
              </a:lnSpc>
              <a:buNone/>
            </a:pPr>
            <a:endParaRPr lang="en-US" sz="1050" dirty="0"/>
          </a:p>
        </p:txBody>
      </p:sp>
      <p:sp>
        <p:nvSpPr>
          <p:cNvPr id="7" name="text"/>
          <p:cNvSpPr txBox="1"/>
          <p:nvPr/>
        </p:nvSpPr>
        <p:spPr>
          <a:xfrm>
            <a:off x="502920" y="868680"/>
            <a:ext cx="7772400" cy="914400"/>
          </a:xfrm>
          <a:prstGeom prst="rect">
            <a:avLst/>
          </a:prstGeom>
          <a:noFill/>
          <a:ln/>
        </p:spPr>
        <p:txBody>
          <a:bodyPr wrap="square" lIns="0" tIns="0" rIns="0" bIns="0" rtlCol="0" anchor="t"/>
          <a:lstStyle/>
          <a:p>
            <a:pPr algn="l" indent="0" marL="0">
              <a:lnSpc>
                <a:spcPct val="98000"/>
              </a:lnSpc>
              <a:buNone/>
            </a:pPr>
            <a:r>
              <a:rPr lang="en-US" sz="3800" spc="-50" kern="0" dirty="0">
                <a:solidFill>
                  <a:srgbClr val="141417"/>
                </a:solidFill>
                <a:latin typeface="Outfit Medium" pitchFamily="34" charset="0"/>
                <a:ea typeface="Outfit Medium" pitchFamily="34" charset="-122"/>
                <a:cs typeface="Outfit Medium" pitchFamily="34" charset="-120"/>
              </a:rPr>
              <a:t>ALUR PEMBAHASAN</a:t>
            </a:r>
            <a:endParaRPr lang="en-US" sz="3800" dirty="0"/>
          </a:p>
        </p:txBody>
      </p:sp>
      <p:sp>
        <p:nvSpPr>
          <p:cNvPr id="8" name="toggle"/>
          <p:cNvSpPr/>
          <p:nvPr/>
        </p:nvSpPr>
        <p:spPr>
          <a:xfrm>
            <a:off x="8778240" y="105156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9079992" y="108813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1"/>
          <a:stretch>
            <a:fillRect/>
          </a:stretch>
        </p:blipFill>
        <p:spPr>
          <a:xfrm>
            <a:off x="9121140" y="1129284"/>
            <a:ext cx="118872" cy="118872"/>
          </a:xfrm>
          <a:prstGeom prst="rect">
            <a:avLst/>
          </a:prstGeom>
        </p:spPr>
      </p:pic>
      <p:sp>
        <p:nvSpPr>
          <p:cNvPr id="11" name="card"/>
          <p:cNvSpPr/>
          <p:nvPr/>
        </p:nvSpPr>
        <p:spPr>
          <a:xfrm>
            <a:off x="502920" y="2057400"/>
            <a:ext cx="2679878" cy="3291840"/>
          </a:xfrm>
          <a:prstGeom prst="roundRect">
            <a:avLst>
              <a:gd name="adj" fmla="val 6824"/>
            </a:avLst>
          </a:prstGeom>
          <a:solidFill>
            <a:srgbClr val="E8E8E8"/>
          </a:solidFill>
          <a:ln w="6350">
            <a:solidFill>
              <a:srgbClr val="E8E8E8"/>
            </a:solidFill>
            <a:prstDash val="solid"/>
          </a:ln>
        </p:spPr>
      </p:sp>
      <p:sp>
        <p:nvSpPr>
          <p:cNvPr id="12" name="text"/>
          <p:cNvSpPr txBox="1"/>
          <p:nvPr/>
        </p:nvSpPr>
        <p:spPr>
          <a:xfrm>
            <a:off x="777240" y="2331720"/>
            <a:ext cx="1097280" cy="365760"/>
          </a:xfrm>
          <a:prstGeom prst="rect">
            <a:avLst/>
          </a:prstGeom>
          <a:noFill/>
          <a:ln/>
        </p:spPr>
        <p:txBody>
          <a:bodyPr wrap="square" lIns="0" tIns="0" rIns="0" bIns="0" rtlCol="0" anchor="t"/>
          <a:lstStyle/>
          <a:p>
            <a:pPr algn="l" indent="0" marL="0">
              <a:lnSpc>
                <a:spcPct val="110000"/>
              </a:lnSpc>
              <a:buNone/>
            </a:pPr>
            <a:r>
              <a:rPr lang="en-US" sz="1800" dirty="0">
                <a:solidFill>
                  <a:srgbClr val="1A1A1C"/>
                </a:solidFill>
                <a:latin typeface="Outfit Medium" pitchFamily="34" charset="0"/>
                <a:ea typeface="Outfit Medium" pitchFamily="34" charset="-122"/>
                <a:cs typeface="Outfit Medium" pitchFamily="34" charset="-120"/>
              </a:rPr>
              <a:t>01</a:t>
            </a:r>
            <a:endParaRPr lang="en-US" sz="1800" dirty="0"/>
          </a:p>
        </p:txBody>
      </p:sp>
      <p:sp>
        <p:nvSpPr>
          <p:cNvPr id="13" name="text"/>
          <p:cNvSpPr txBox="1"/>
          <p:nvPr/>
        </p:nvSpPr>
        <p:spPr>
          <a:xfrm>
            <a:off x="777240" y="2834640"/>
            <a:ext cx="2131238" cy="1920240"/>
          </a:xfrm>
          <a:prstGeom prst="rect">
            <a:avLst/>
          </a:prstGeom>
          <a:noFill/>
          <a:ln/>
        </p:spPr>
        <p:txBody>
          <a:bodyPr wrap="square" lIns="0" tIns="0" rIns="0" bIns="0" rtlCol="0" anchor="b"/>
          <a:lstStyle/>
          <a:p>
            <a:pPr algn="l" indent="0" marL="0">
              <a:lnSpc>
                <a:spcPct val="108000"/>
              </a:lnSpc>
              <a:buNone/>
            </a:pPr>
            <a:r>
              <a:rPr lang="en-US" sz="1800" dirty="0">
                <a:solidFill>
                  <a:srgbClr val="1A1A1C"/>
                </a:solidFill>
                <a:latin typeface="Outfit" pitchFamily="34" charset="0"/>
                <a:ea typeface="Outfit" pitchFamily="34" charset="-122"/>
                <a:cs typeface="Outfit" pitchFamily="34" charset="-120"/>
              </a:rPr>
              <a:t>Mengapa eksekusi berbeda, sepuluh tugas, tiga aksi kunci.</a:t>
            </a:r>
            <a:endParaRPr lang="en-US" sz="1800" dirty="0"/>
          </a:p>
        </p:txBody>
      </p:sp>
      <p:sp>
        <p:nvSpPr>
          <p:cNvPr id="14" name="text"/>
          <p:cNvSpPr txBox="1"/>
          <p:nvPr/>
        </p:nvSpPr>
        <p:spPr>
          <a:xfrm>
            <a:off x="777240" y="4846320"/>
            <a:ext cx="2131238" cy="292608"/>
          </a:xfrm>
          <a:prstGeom prst="rect">
            <a:avLst/>
          </a:prstGeom>
          <a:noFill/>
          <a:ln/>
        </p:spPr>
        <p:txBody>
          <a:bodyPr wrap="square" lIns="0" tIns="0" rIns="0" bIns="0" rtlCol="0" anchor="t"/>
          <a:lstStyle/>
          <a:p>
            <a:pPr algn="l" indent="0" marL="0">
              <a:lnSpc>
                <a:spcPct val="110000"/>
              </a:lnSpc>
              <a:buNone/>
            </a:pPr>
            <a:r>
              <a:rPr lang="en-US" sz="1400" spc="50" kern="0" dirty="0">
                <a:solidFill>
                  <a:srgbClr val="1A1A1C"/>
                </a:solidFill>
                <a:latin typeface="Outfit" pitchFamily="34" charset="0"/>
                <a:ea typeface="Outfit" pitchFamily="34" charset="-122"/>
                <a:cs typeface="Outfit" pitchFamily="34" charset="-120"/>
              </a:rPr>
              <a:t>LANDASAN</a:t>
            </a:r>
            <a:endParaRPr lang="en-US" sz="1400" dirty="0"/>
          </a:p>
        </p:txBody>
      </p:sp>
      <p:sp>
        <p:nvSpPr>
          <p:cNvPr id="15" name="card"/>
          <p:cNvSpPr/>
          <p:nvPr/>
        </p:nvSpPr>
        <p:spPr>
          <a:xfrm>
            <a:off x="3338246" y="2057400"/>
            <a:ext cx="2679878" cy="3291840"/>
          </a:xfrm>
          <a:prstGeom prst="roundRect">
            <a:avLst>
              <a:gd name="adj" fmla="val 6824"/>
            </a:avLst>
          </a:prstGeom>
          <a:solidFill>
            <a:srgbClr val="D4FC00"/>
          </a:solidFill>
          <a:ln w="6350">
            <a:solidFill>
              <a:srgbClr val="D4FC00"/>
            </a:solidFill>
            <a:prstDash val="solid"/>
          </a:ln>
        </p:spPr>
      </p:sp>
      <p:sp>
        <p:nvSpPr>
          <p:cNvPr id="16" name="text"/>
          <p:cNvSpPr txBox="1"/>
          <p:nvPr/>
        </p:nvSpPr>
        <p:spPr>
          <a:xfrm>
            <a:off x="3612566" y="2331720"/>
            <a:ext cx="1097280" cy="365760"/>
          </a:xfrm>
          <a:prstGeom prst="rect">
            <a:avLst/>
          </a:prstGeom>
          <a:noFill/>
          <a:ln/>
        </p:spPr>
        <p:txBody>
          <a:bodyPr wrap="square" lIns="0" tIns="0" rIns="0" bIns="0" rtlCol="0" anchor="t"/>
          <a:lstStyle/>
          <a:p>
            <a:pPr algn="l" indent="0" marL="0">
              <a:lnSpc>
                <a:spcPct val="110000"/>
              </a:lnSpc>
              <a:buNone/>
            </a:pPr>
            <a:r>
              <a:rPr lang="en-US" sz="1800" dirty="0">
                <a:solidFill>
                  <a:srgbClr val="1A1A1C"/>
                </a:solidFill>
                <a:latin typeface="Outfit Medium" pitchFamily="34" charset="0"/>
                <a:ea typeface="Outfit Medium" pitchFamily="34" charset="-122"/>
                <a:cs typeface="Outfit Medium" pitchFamily="34" charset="-120"/>
              </a:rPr>
              <a:t>02</a:t>
            </a:r>
            <a:endParaRPr lang="en-US" sz="1800" dirty="0"/>
          </a:p>
        </p:txBody>
      </p:sp>
      <p:sp>
        <p:nvSpPr>
          <p:cNvPr id="17" name="text"/>
          <p:cNvSpPr txBox="1"/>
          <p:nvPr/>
        </p:nvSpPr>
        <p:spPr>
          <a:xfrm>
            <a:off x="3612566" y="2834640"/>
            <a:ext cx="2131238" cy="1920240"/>
          </a:xfrm>
          <a:prstGeom prst="rect">
            <a:avLst/>
          </a:prstGeom>
          <a:noFill/>
          <a:ln/>
        </p:spPr>
        <p:txBody>
          <a:bodyPr wrap="square" lIns="0" tIns="0" rIns="0" bIns="0" rtlCol="0" anchor="b"/>
          <a:lstStyle/>
          <a:p>
            <a:pPr algn="l" indent="0" marL="0">
              <a:lnSpc>
                <a:spcPct val="108000"/>
              </a:lnSpc>
              <a:buNone/>
            </a:pPr>
            <a:r>
              <a:rPr lang="en-US" sz="1800" dirty="0">
                <a:solidFill>
                  <a:srgbClr val="1A1A1C"/>
                </a:solidFill>
                <a:latin typeface="Outfit" pitchFamily="34" charset="0"/>
                <a:ea typeface="Outfit" pitchFamily="34" charset="-122"/>
                <a:cs typeface="Outfit" pitchFamily="34" charset="-120"/>
              </a:rPr>
              <a:t>Tim manajemen yang kuat dan karyawan yang tepat.</a:t>
            </a:r>
            <a:endParaRPr lang="en-US" sz="1800" dirty="0"/>
          </a:p>
        </p:txBody>
      </p:sp>
      <p:sp>
        <p:nvSpPr>
          <p:cNvPr id="18" name="text"/>
          <p:cNvSpPr txBox="1"/>
          <p:nvPr/>
        </p:nvSpPr>
        <p:spPr>
          <a:xfrm>
            <a:off x="3612566" y="4846320"/>
            <a:ext cx="2131238" cy="292608"/>
          </a:xfrm>
          <a:prstGeom prst="rect">
            <a:avLst/>
          </a:prstGeom>
          <a:noFill/>
          <a:ln/>
        </p:spPr>
        <p:txBody>
          <a:bodyPr wrap="square" lIns="0" tIns="0" rIns="0" bIns="0" rtlCol="0" anchor="t"/>
          <a:lstStyle/>
          <a:p>
            <a:pPr algn="l" indent="0" marL="0">
              <a:lnSpc>
                <a:spcPct val="110000"/>
              </a:lnSpc>
              <a:buNone/>
            </a:pPr>
            <a:r>
              <a:rPr lang="en-US" sz="1400" spc="50" kern="0" dirty="0">
                <a:solidFill>
                  <a:srgbClr val="1A1A1C"/>
                </a:solidFill>
                <a:latin typeface="Outfit" pitchFamily="34" charset="0"/>
                <a:ea typeface="Outfit" pitchFamily="34" charset="-122"/>
                <a:cs typeface="Outfit" pitchFamily="34" charset="-120"/>
              </a:rPr>
              <a:t>STAFFING</a:t>
            </a:r>
            <a:endParaRPr lang="en-US" sz="1400" dirty="0"/>
          </a:p>
        </p:txBody>
      </p:sp>
      <p:sp>
        <p:nvSpPr>
          <p:cNvPr id="19" name="card"/>
          <p:cNvSpPr/>
          <p:nvPr/>
        </p:nvSpPr>
        <p:spPr>
          <a:xfrm>
            <a:off x="6173572" y="2057400"/>
            <a:ext cx="2679878" cy="3291840"/>
          </a:xfrm>
          <a:prstGeom prst="roundRect">
            <a:avLst>
              <a:gd name="adj" fmla="val 6824"/>
            </a:avLst>
          </a:prstGeom>
          <a:solidFill>
            <a:srgbClr val="E8E8E8"/>
          </a:solidFill>
          <a:ln w="6350">
            <a:solidFill>
              <a:srgbClr val="E8E8E8"/>
            </a:solidFill>
            <a:prstDash val="solid"/>
          </a:ln>
        </p:spPr>
      </p:sp>
      <p:sp>
        <p:nvSpPr>
          <p:cNvPr id="20" name="text"/>
          <p:cNvSpPr txBox="1"/>
          <p:nvPr/>
        </p:nvSpPr>
        <p:spPr>
          <a:xfrm>
            <a:off x="6447892" y="2331720"/>
            <a:ext cx="1097280" cy="365760"/>
          </a:xfrm>
          <a:prstGeom prst="rect">
            <a:avLst/>
          </a:prstGeom>
          <a:noFill/>
          <a:ln/>
        </p:spPr>
        <p:txBody>
          <a:bodyPr wrap="square" lIns="0" tIns="0" rIns="0" bIns="0" rtlCol="0" anchor="t"/>
          <a:lstStyle/>
          <a:p>
            <a:pPr algn="l" indent="0" marL="0">
              <a:lnSpc>
                <a:spcPct val="110000"/>
              </a:lnSpc>
              <a:buNone/>
            </a:pPr>
            <a:r>
              <a:rPr lang="en-US" sz="1800" dirty="0">
                <a:solidFill>
                  <a:srgbClr val="1A1A1C"/>
                </a:solidFill>
                <a:latin typeface="Outfit Medium" pitchFamily="34" charset="0"/>
                <a:ea typeface="Outfit Medium" pitchFamily="34" charset="-122"/>
                <a:cs typeface="Outfit Medium" pitchFamily="34" charset="-120"/>
              </a:rPr>
              <a:t>03</a:t>
            </a:r>
            <a:endParaRPr lang="en-US" sz="1800" dirty="0"/>
          </a:p>
        </p:txBody>
      </p:sp>
      <p:sp>
        <p:nvSpPr>
          <p:cNvPr id="21" name="text"/>
          <p:cNvSpPr txBox="1"/>
          <p:nvPr/>
        </p:nvSpPr>
        <p:spPr>
          <a:xfrm>
            <a:off x="6447892" y="2834640"/>
            <a:ext cx="2131238" cy="1920240"/>
          </a:xfrm>
          <a:prstGeom prst="rect">
            <a:avLst/>
          </a:prstGeom>
          <a:noFill/>
          <a:ln/>
        </p:spPr>
        <p:txBody>
          <a:bodyPr wrap="square" lIns="0" tIns="0" rIns="0" bIns="0" rtlCol="0" anchor="b"/>
          <a:lstStyle/>
          <a:p>
            <a:pPr algn="l" indent="0" marL="0">
              <a:lnSpc>
                <a:spcPct val="108000"/>
              </a:lnSpc>
              <a:buNone/>
            </a:pPr>
            <a:r>
              <a:rPr lang="en-US" sz="1800" dirty="0">
                <a:solidFill>
                  <a:srgbClr val="1A1A1C"/>
                </a:solidFill>
                <a:latin typeface="Outfit" pitchFamily="34" charset="0"/>
                <a:ea typeface="Outfit" pitchFamily="34" charset="-122"/>
                <a:cs typeface="Outfit" pitchFamily="34" charset="-120"/>
              </a:rPr>
              <a:t>Tiga jalan membangun capability; eksekusi sebagai keunggulan.</a:t>
            </a:r>
            <a:endParaRPr lang="en-US" sz="1800" dirty="0"/>
          </a:p>
        </p:txBody>
      </p:sp>
      <p:sp>
        <p:nvSpPr>
          <p:cNvPr id="22" name="text"/>
          <p:cNvSpPr txBox="1"/>
          <p:nvPr/>
        </p:nvSpPr>
        <p:spPr>
          <a:xfrm>
            <a:off x="6447892" y="4846320"/>
            <a:ext cx="2131238" cy="292608"/>
          </a:xfrm>
          <a:prstGeom prst="rect">
            <a:avLst/>
          </a:prstGeom>
          <a:noFill/>
          <a:ln/>
        </p:spPr>
        <p:txBody>
          <a:bodyPr wrap="square" lIns="0" tIns="0" rIns="0" bIns="0" rtlCol="0" anchor="t"/>
          <a:lstStyle/>
          <a:p>
            <a:pPr algn="l" indent="0" marL="0">
              <a:lnSpc>
                <a:spcPct val="110000"/>
              </a:lnSpc>
              <a:buNone/>
            </a:pPr>
            <a:r>
              <a:rPr lang="en-US" sz="1400" spc="50" kern="0" dirty="0">
                <a:solidFill>
                  <a:srgbClr val="1A1A1C"/>
                </a:solidFill>
                <a:latin typeface="Outfit" pitchFamily="34" charset="0"/>
                <a:ea typeface="Outfit" pitchFamily="34" charset="-122"/>
                <a:cs typeface="Outfit" pitchFamily="34" charset="-120"/>
              </a:rPr>
              <a:t>CAPABILITIES</a:t>
            </a:r>
            <a:endParaRPr lang="en-US" sz="1400" dirty="0"/>
          </a:p>
        </p:txBody>
      </p:sp>
      <p:sp>
        <p:nvSpPr>
          <p:cNvPr id="23" name="card"/>
          <p:cNvSpPr/>
          <p:nvPr/>
        </p:nvSpPr>
        <p:spPr>
          <a:xfrm>
            <a:off x="9008897" y="2057400"/>
            <a:ext cx="2679878" cy="3291840"/>
          </a:xfrm>
          <a:prstGeom prst="roundRect">
            <a:avLst>
              <a:gd name="adj" fmla="val 6824"/>
            </a:avLst>
          </a:prstGeom>
          <a:solidFill>
            <a:srgbClr val="141417"/>
          </a:solidFill>
          <a:ln w="6350">
            <a:solidFill>
              <a:srgbClr val="141417"/>
            </a:solidFill>
            <a:prstDash val="solid"/>
          </a:ln>
        </p:spPr>
      </p:sp>
      <p:sp>
        <p:nvSpPr>
          <p:cNvPr id="24" name="text"/>
          <p:cNvSpPr txBox="1"/>
          <p:nvPr/>
        </p:nvSpPr>
        <p:spPr>
          <a:xfrm>
            <a:off x="9283217" y="2331720"/>
            <a:ext cx="1097280" cy="365760"/>
          </a:xfrm>
          <a:prstGeom prst="rect">
            <a:avLst/>
          </a:prstGeom>
          <a:noFill/>
          <a:ln/>
        </p:spPr>
        <p:txBody>
          <a:bodyPr wrap="square" lIns="0" tIns="0" rIns="0" bIns="0" rtlCol="0" anchor="t"/>
          <a:lstStyle/>
          <a:p>
            <a:pPr algn="l" indent="0" marL="0">
              <a:lnSpc>
                <a:spcPct val="110000"/>
              </a:lnSpc>
              <a:buNone/>
            </a:pPr>
            <a:r>
              <a:rPr lang="en-US" sz="1800" dirty="0">
                <a:solidFill>
                  <a:srgbClr val="FFFFFF"/>
                </a:solidFill>
                <a:latin typeface="Outfit Medium" pitchFamily="34" charset="0"/>
                <a:ea typeface="Outfit Medium" pitchFamily="34" charset="-122"/>
                <a:cs typeface="Outfit Medium" pitchFamily="34" charset="-120"/>
              </a:rPr>
              <a:t>04</a:t>
            </a:r>
            <a:endParaRPr lang="en-US" sz="1800" dirty="0"/>
          </a:p>
        </p:txBody>
      </p:sp>
      <p:sp>
        <p:nvSpPr>
          <p:cNvPr id="25" name="text"/>
          <p:cNvSpPr txBox="1"/>
          <p:nvPr/>
        </p:nvSpPr>
        <p:spPr>
          <a:xfrm>
            <a:off x="9283217" y="2834640"/>
            <a:ext cx="2131238" cy="1920240"/>
          </a:xfrm>
          <a:prstGeom prst="rect">
            <a:avLst/>
          </a:prstGeom>
          <a:noFill/>
          <a:ln/>
        </p:spPr>
        <p:txBody>
          <a:bodyPr wrap="square" lIns="0" tIns="0" rIns="0" bIns="0" rtlCol="0" anchor="b"/>
          <a:lstStyle/>
          <a:p>
            <a:pPr algn="l" indent="0" marL="0">
              <a:lnSpc>
                <a:spcPct val="108000"/>
              </a:lnSpc>
              <a:buNone/>
            </a:pPr>
            <a:r>
              <a:rPr lang="en-US" sz="1800" dirty="0">
                <a:solidFill>
                  <a:srgbClr val="E4E4E7"/>
                </a:solidFill>
                <a:latin typeface="Outfit" pitchFamily="34" charset="0"/>
                <a:ea typeface="Outfit" pitchFamily="34" charset="-122"/>
                <a:cs typeface="Outfit" pitchFamily="34" charset="-120"/>
              </a:rPr>
              <a:t>Lima keputusan menata organisasi dan pekerjaan.</a:t>
            </a:r>
            <a:endParaRPr lang="en-US" sz="1800" dirty="0"/>
          </a:p>
        </p:txBody>
      </p:sp>
      <p:sp>
        <p:nvSpPr>
          <p:cNvPr id="26" name="text"/>
          <p:cNvSpPr txBox="1"/>
          <p:nvPr/>
        </p:nvSpPr>
        <p:spPr>
          <a:xfrm>
            <a:off x="9283217" y="4846320"/>
            <a:ext cx="2131238" cy="292608"/>
          </a:xfrm>
          <a:prstGeom prst="rect">
            <a:avLst/>
          </a:prstGeom>
          <a:noFill/>
          <a:ln/>
        </p:spPr>
        <p:txBody>
          <a:bodyPr wrap="square" lIns="0" tIns="0" rIns="0" bIns="0" rtlCol="0" anchor="t"/>
          <a:lstStyle/>
          <a:p>
            <a:pPr algn="l" indent="0" marL="0">
              <a:lnSpc>
                <a:spcPct val="110000"/>
              </a:lnSpc>
              <a:buNone/>
            </a:pPr>
            <a:r>
              <a:rPr lang="en-US" sz="1400" spc="50" kern="0" dirty="0">
                <a:solidFill>
                  <a:srgbClr val="D4FC00"/>
                </a:solidFill>
                <a:latin typeface="Outfit" pitchFamily="34" charset="0"/>
                <a:ea typeface="Outfit" pitchFamily="34" charset="-122"/>
                <a:cs typeface="Outfit" pitchFamily="34" charset="-120"/>
              </a:rPr>
              <a:t>STRUCTURE</a:t>
            </a:r>
            <a:endParaRPr lang="en-US" sz="1400" dirty="0"/>
          </a:p>
        </p:txBody>
      </p:sp>
      <p:sp>
        <p:nvSpPr>
          <p:cNvPr id="27" name="text"/>
          <p:cNvSpPr txBox="1"/>
          <p:nvPr/>
        </p:nvSpPr>
        <p:spPr>
          <a:xfrm>
            <a:off x="502920" y="5669280"/>
            <a:ext cx="7315200" cy="502920"/>
          </a:xfrm>
          <a:prstGeom prst="rect">
            <a:avLst/>
          </a:prstGeom>
          <a:noFill/>
          <a:ln/>
        </p:spPr>
        <p:txBody>
          <a:bodyPr wrap="square" lIns="0" tIns="0" rIns="0" bIns="0" rtlCol="0" anchor="ctr"/>
          <a:lstStyle/>
          <a:p>
            <a:pPr algn="l" indent="0" marL="0">
              <a:lnSpc>
                <a:spcPct val="110000"/>
              </a:lnSpc>
              <a:buNone/>
            </a:pPr>
            <a:r>
              <a:rPr lang="en-US" sz="1600" spc="50" kern="0" dirty="0">
                <a:solidFill>
                  <a:srgbClr val="1A1A1C"/>
                </a:solidFill>
                <a:latin typeface="Outfit Medium" pitchFamily="34" charset="0"/>
                <a:ea typeface="Outfit Medium" pitchFamily="34" charset="-122"/>
                <a:cs typeface="Outfit Medium" pitchFamily="34" charset="-120"/>
              </a:rPr>
              <a:t>CAPABILITY DIBANGUN ORANG; STRUKTUR MENENTUKAN APAKAH IA TERPAKAI</a:t>
            </a:r>
            <a:endParaRPr lang="en-US" sz="1600" dirty="0"/>
          </a:p>
        </p:txBody>
      </p:sp>
      <p:sp>
        <p:nvSpPr>
          <p:cNvPr id="28" name="pill"/>
          <p:cNvSpPr/>
          <p:nvPr/>
        </p:nvSpPr>
        <p:spPr>
          <a:xfrm>
            <a:off x="8031175" y="5715000"/>
            <a:ext cx="3657600" cy="420624"/>
          </a:xfrm>
          <a:prstGeom prst="roundRect">
            <a:avLst>
              <a:gd name="adj" fmla="val 108696"/>
            </a:avLst>
          </a:prstGeom>
          <a:solidFill>
            <a:srgbClr val="F4F4F4"/>
          </a:solidFill>
          <a:ln w="9525">
            <a:solidFill>
              <a:srgbClr val="141417"/>
            </a:solidFill>
            <a:prstDash val="solid"/>
          </a:ln>
        </p:spPr>
      </p:sp>
      <p:sp>
        <p:nvSpPr>
          <p:cNvPr id="29" name="text"/>
          <p:cNvSpPr txBox="1"/>
          <p:nvPr/>
        </p:nvSpPr>
        <p:spPr>
          <a:xfrm>
            <a:off x="8140903" y="5715000"/>
            <a:ext cx="3438144" cy="420624"/>
          </a:xfrm>
          <a:prstGeom prst="rect">
            <a:avLst/>
          </a:prstGeom>
          <a:noFill/>
          <a:ln/>
        </p:spPr>
        <p:txBody>
          <a:bodyPr wrap="square" lIns="0" tIns="0" rIns="0" bIns="0" rtlCol="0" anchor="ctr"/>
          <a:lstStyle/>
          <a:p>
            <a:pPr algn="ctr" indent="0" marL="0">
              <a:lnSpc>
                <a:spcPct val="110000"/>
              </a:lnSpc>
              <a:buNone/>
            </a:pPr>
            <a:r>
              <a:rPr lang="en-US" sz="1200" spc="50" kern="0" dirty="0">
                <a:solidFill>
                  <a:srgbClr val="1A1A1C"/>
                </a:solidFill>
                <a:latin typeface="Outfit" pitchFamily="34" charset="0"/>
                <a:ea typeface="Outfit" pitchFamily="34" charset="-122"/>
                <a:cs typeface="Outfit" pitchFamily="34" charset="-120"/>
              </a:rPr>
              <a:t>05 · SINTESIS</a:t>
            </a:r>
            <a:endParaRPr lang="en-US" sz="1200" dirty="0"/>
          </a:p>
        </p:txBody>
      </p:sp>
      <p:sp>
        <p:nvSpPr>
          <p:cNvPr id="30"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10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10000"/>
              </a:lnSpc>
              <a:buNone/>
            </a:pPr>
            <a:endParaRPr lang="en-US" sz="1050" dirty="0"/>
          </a:p>
        </p:txBody>
      </p:sp>
      <p:pic>
        <p:nvPicPr>
          <p:cNvPr id="7" name="Perahu layar putih di laut tenang" descr="preencoded.png">    </p:cNvPr>
          <p:cNvPicPr>
            <a:picLocks noChangeAspect="1"/>
          </p:cNvPicPr>
          <p:nvPr/>
        </p:nvPicPr>
        <p:blipFill>
          <a:blip r:embed="rId1"/>
          <a:stretch>
            <a:fillRect/>
          </a:stretch>
        </p:blipFill>
        <p:spPr>
          <a:xfrm>
            <a:off x="502920" y="658368"/>
            <a:ext cx="11185855" cy="3246120"/>
          </a:xfrm>
          <a:prstGeom prst="rect">
            <a:avLst/>
          </a:prstGeom>
        </p:spPr>
      </p:pic>
      <p:sp>
        <p:nvSpPr>
          <p:cNvPr id="8" name="toggle"/>
          <p:cNvSpPr/>
          <p:nvPr/>
        </p:nvSpPr>
        <p:spPr>
          <a:xfrm>
            <a:off x="10911535" y="86868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11213287" y="90525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2"/>
          <a:stretch>
            <a:fillRect/>
          </a:stretch>
        </p:blipFill>
        <p:spPr>
          <a:xfrm>
            <a:off x="11254435" y="946404"/>
            <a:ext cx="118872" cy="118872"/>
          </a:xfrm>
          <a:prstGeom prst="rect">
            <a:avLst/>
          </a:prstGeom>
        </p:spPr>
      </p:pic>
      <p:sp>
        <p:nvSpPr>
          <p:cNvPr id="11" name="card"/>
          <p:cNvSpPr/>
          <p:nvPr/>
        </p:nvSpPr>
        <p:spPr>
          <a:xfrm>
            <a:off x="731520" y="2423160"/>
            <a:ext cx="5852160" cy="1325880"/>
          </a:xfrm>
          <a:prstGeom prst="roundRect">
            <a:avLst>
              <a:gd name="adj" fmla="val 9655"/>
            </a:avLst>
          </a:prstGeom>
          <a:solidFill>
            <a:srgbClr val="F4F4F4"/>
          </a:solidFill>
          <a:ln w="6350">
            <a:solidFill>
              <a:srgbClr val="F4F4F4"/>
            </a:solidFill>
            <a:prstDash val="solid"/>
          </a:ln>
        </p:spPr>
      </p:sp>
      <p:sp>
        <p:nvSpPr>
          <p:cNvPr id="12" name="text"/>
          <p:cNvSpPr txBox="1"/>
          <p:nvPr/>
        </p:nvSpPr>
        <p:spPr>
          <a:xfrm>
            <a:off x="914400" y="2468880"/>
            <a:ext cx="5577840" cy="1234440"/>
          </a:xfrm>
          <a:prstGeom prst="rect">
            <a:avLst/>
          </a:prstGeom>
          <a:noFill/>
          <a:ln/>
        </p:spPr>
        <p:txBody>
          <a:bodyPr wrap="square" lIns="0" tIns="0" rIns="0" bIns="0" rtlCol="0" anchor="ctr"/>
          <a:lstStyle/>
          <a:p>
            <a:pPr algn="l" indent="0" marL="0">
              <a:lnSpc>
                <a:spcPct val="98000"/>
              </a:lnSpc>
              <a:buNone/>
            </a:pPr>
            <a:r>
              <a:rPr lang="en-US" sz="3200" spc="-50" kern="0" dirty="0">
                <a:solidFill>
                  <a:srgbClr val="141417"/>
                </a:solidFill>
                <a:latin typeface="Outfit Medium" pitchFamily="34" charset="0"/>
                <a:ea typeface="Outfit Medium" pitchFamily="34" charset="-122"/>
                <a:cs typeface="Outfit Medium" pitchFamily="34" charset="-120"/>
              </a:rPr>
              <a:t>DARI MERUMUSKAN KE MENGEKSEKUSI STRATEGI</a:t>
            </a:r>
            <a:endParaRPr lang="en-US" sz="3200" dirty="0"/>
          </a:p>
        </p:txBody>
      </p:sp>
      <p:sp>
        <p:nvSpPr>
          <p:cNvPr id="13" name="card"/>
          <p:cNvSpPr/>
          <p:nvPr/>
        </p:nvSpPr>
        <p:spPr>
          <a:xfrm>
            <a:off x="502920" y="3977640"/>
            <a:ext cx="4023360" cy="1554480"/>
          </a:xfrm>
          <a:prstGeom prst="roundRect">
            <a:avLst>
              <a:gd name="adj" fmla="val 11765"/>
            </a:avLst>
          </a:prstGeom>
          <a:solidFill>
            <a:srgbClr val="D4FC00"/>
          </a:solidFill>
          <a:ln w="6350">
            <a:solidFill>
              <a:srgbClr val="D4FC00"/>
            </a:solidFill>
            <a:prstDash val="solid"/>
          </a:ln>
        </p:spPr>
      </p:sp>
      <p:sp>
        <p:nvSpPr>
          <p:cNvPr id="14" name="text"/>
          <p:cNvSpPr txBox="1"/>
          <p:nvPr/>
        </p:nvSpPr>
        <p:spPr>
          <a:xfrm>
            <a:off x="731520" y="3977640"/>
            <a:ext cx="1737360" cy="1554480"/>
          </a:xfrm>
          <a:prstGeom prst="rect">
            <a:avLst/>
          </a:prstGeom>
          <a:noFill/>
          <a:ln/>
        </p:spPr>
        <p:txBody>
          <a:bodyPr wrap="square" lIns="0" tIns="0" rIns="0" bIns="0" rtlCol="0" anchor="ctr"/>
          <a:lstStyle/>
          <a:p>
            <a:pPr algn="l" indent="0" marL="0">
              <a:lnSpc>
                <a:spcPct val="110000"/>
              </a:lnSpc>
              <a:buNone/>
            </a:pPr>
            <a:r>
              <a:rPr lang="en-US" sz="3400" spc="-50" kern="0" dirty="0">
                <a:solidFill>
                  <a:srgbClr val="141417"/>
                </a:solidFill>
                <a:latin typeface="Outfit Medium" pitchFamily="34" charset="0"/>
                <a:ea typeface="Outfit Medium" pitchFamily="34" charset="-122"/>
                <a:cs typeface="Outfit Medium" pitchFamily="34" charset="-120"/>
              </a:rPr>
              <a:t>1/2</a:t>
            </a:r>
            <a:endParaRPr lang="en-US" sz="3400" dirty="0"/>
          </a:p>
        </p:txBody>
      </p:sp>
      <p:sp>
        <p:nvSpPr>
          <p:cNvPr id="15" name="text"/>
          <p:cNvSpPr txBox="1"/>
          <p:nvPr/>
        </p:nvSpPr>
        <p:spPr>
          <a:xfrm>
            <a:off x="2560320" y="3977640"/>
            <a:ext cx="1828800" cy="1554480"/>
          </a:xfrm>
          <a:prstGeom prst="rect">
            <a:avLst/>
          </a:prstGeom>
          <a:noFill/>
          <a:ln/>
        </p:spPr>
        <p:txBody>
          <a:bodyPr wrap="square" lIns="0" tIns="0" rIns="0" bIns="0" rtlCol="0" anchor="ctr"/>
          <a:lstStyle/>
          <a:p>
            <a:pPr algn="l" indent="0" marL="0">
              <a:lnSpc>
                <a:spcPct val="108000"/>
              </a:lnSpc>
              <a:buNone/>
            </a:pPr>
            <a:r>
              <a:rPr lang="en-US" sz="1400" dirty="0">
                <a:solidFill>
                  <a:srgbClr val="1A1A1C"/>
                </a:solidFill>
                <a:latin typeface="Outfit" pitchFamily="34" charset="0"/>
                <a:ea typeface="Outfit" pitchFamily="34" charset="-122"/>
                <a:cs typeface="Outfit" pitchFamily="34" charset="-120"/>
              </a:rPr>
              <a:t>pekerjaan selesai saat strategi dirumuskan; sisanya membangun organisasi (Lecuona)</a:t>
            </a:r>
            <a:endParaRPr lang="en-US" sz="1400" dirty="0"/>
          </a:p>
        </p:txBody>
      </p:sp>
      <p:sp>
        <p:nvSpPr>
          <p:cNvPr id="16" name="card"/>
          <p:cNvSpPr/>
          <p:nvPr/>
        </p:nvSpPr>
        <p:spPr>
          <a:xfrm>
            <a:off x="4663440" y="3977640"/>
            <a:ext cx="5166360" cy="1554480"/>
          </a:xfrm>
          <a:prstGeom prst="roundRect">
            <a:avLst>
              <a:gd name="adj" fmla="val 11765"/>
            </a:avLst>
          </a:prstGeom>
          <a:solidFill>
            <a:srgbClr val="E8E8E8"/>
          </a:solidFill>
          <a:ln w="6350">
            <a:solidFill>
              <a:srgbClr val="E8E8E8"/>
            </a:solidFill>
            <a:prstDash val="solid"/>
          </a:ln>
        </p:spPr>
      </p:sp>
      <p:sp>
        <p:nvSpPr>
          <p:cNvPr id="17" name="card"/>
          <p:cNvSpPr/>
          <p:nvPr/>
        </p:nvSpPr>
        <p:spPr>
          <a:xfrm>
            <a:off x="4663440" y="3977640"/>
            <a:ext cx="2560320" cy="1554480"/>
          </a:xfrm>
          <a:prstGeom prst="roundRect">
            <a:avLst>
              <a:gd name="adj" fmla="val 11765"/>
            </a:avLst>
          </a:prstGeom>
          <a:solidFill>
            <a:srgbClr val="E8E8E8"/>
          </a:solidFill>
          <a:ln w="6350">
            <a:solidFill>
              <a:srgbClr val="E8E8E8"/>
            </a:solidFill>
            <a:prstDash val="solid"/>
          </a:ln>
        </p:spPr>
      </p:sp>
      <p:sp>
        <p:nvSpPr>
          <p:cNvPr id="18" name="text"/>
          <p:cNvSpPr txBox="1"/>
          <p:nvPr/>
        </p:nvSpPr>
        <p:spPr>
          <a:xfrm>
            <a:off x="4892040" y="4123944"/>
            <a:ext cx="2103120" cy="502920"/>
          </a:xfrm>
          <a:prstGeom prst="rect">
            <a:avLst/>
          </a:prstGeom>
          <a:noFill/>
          <a:ln/>
        </p:spPr>
        <p:txBody>
          <a:bodyPr wrap="square" lIns="0" tIns="0" rIns="0" bIns="0" rtlCol="0" anchor="ctr"/>
          <a:lstStyle/>
          <a:p>
            <a:pPr algn="l" indent="0" marL="0">
              <a:lnSpc>
                <a:spcPct val="110000"/>
              </a:lnSpc>
              <a:buNone/>
            </a:pPr>
            <a:r>
              <a:rPr lang="en-US" sz="2400" spc="-30" kern="0" dirty="0">
                <a:solidFill>
                  <a:srgbClr val="141417"/>
                </a:solidFill>
                <a:latin typeface="Outfit Medium" pitchFamily="34" charset="0"/>
                <a:ea typeface="Outfit Medium" pitchFamily="34" charset="-122"/>
                <a:cs typeface="Outfit Medium" pitchFamily="34" charset="-120"/>
              </a:rPr>
              <a:t>Analitis</a:t>
            </a:r>
            <a:endParaRPr lang="en-US" sz="2400" dirty="0"/>
          </a:p>
        </p:txBody>
      </p:sp>
      <p:sp>
        <p:nvSpPr>
          <p:cNvPr id="19" name="text"/>
          <p:cNvSpPr txBox="1"/>
          <p:nvPr/>
        </p:nvSpPr>
        <p:spPr>
          <a:xfrm>
            <a:off x="4892040" y="4672584"/>
            <a:ext cx="2103120" cy="804672"/>
          </a:xfrm>
          <a:prstGeom prst="rect">
            <a:avLst/>
          </a:prstGeom>
          <a:noFill/>
          <a:ln/>
        </p:spPr>
        <p:txBody>
          <a:bodyPr wrap="square" lIns="0" tIns="0" rIns="0" bIns="0" rtlCol="0" anchor="t"/>
          <a:lstStyle/>
          <a:p>
            <a:pPr algn="l" indent="0" marL="0">
              <a:lnSpc>
                <a:spcPct val="108000"/>
              </a:lnSpc>
              <a:buNone/>
            </a:pPr>
            <a:r>
              <a:rPr lang="en-US" sz="1400" dirty="0">
                <a:solidFill>
                  <a:srgbClr val="5A5A5F"/>
                </a:solidFill>
                <a:latin typeface="Outfit" pitchFamily="34" charset="0"/>
                <a:ea typeface="Outfit" pitchFamily="34" charset="-122"/>
                <a:cs typeface="Outfit" pitchFamily="34" charset="-120"/>
              </a:rPr>
              <a:t>Merumuskan: pasar, resources, capabilities (Bab 1 sampai 9)</a:t>
            </a:r>
            <a:endParaRPr lang="en-US" sz="1400" dirty="0"/>
          </a:p>
        </p:txBody>
      </p:sp>
      <p:sp>
        <p:nvSpPr>
          <p:cNvPr id="20" name="card"/>
          <p:cNvSpPr/>
          <p:nvPr/>
        </p:nvSpPr>
        <p:spPr>
          <a:xfrm>
            <a:off x="7269480" y="3977640"/>
            <a:ext cx="2560320" cy="1554480"/>
          </a:xfrm>
          <a:prstGeom prst="roundRect">
            <a:avLst>
              <a:gd name="adj" fmla="val 11765"/>
            </a:avLst>
          </a:prstGeom>
          <a:solidFill>
            <a:srgbClr val="E8E8E8"/>
          </a:solidFill>
          <a:ln w="6350">
            <a:solidFill>
              <a:srgbClr val="E8E8E8"/>
            </a:solidFill>
            <a:prstDash val="solid"/>
          </a:ln>
        </p:spPr>
      </p:sp>
      <p:sp>
        <p:nvSpPr>
          <p:cNvPr id="21" name="text"/>
          <p:cNvSpPr txBox="1"/>
          <p:nvPr/>
        </p:nvSpPr>
        <p:spPr>
          <a:xfrm>
            <a:off x="7498080" y="4123944"/>
            <a:ext cx="2103120" cy="502920"/>
          </a:xfrm>
          <a:prstGeom prst="rect">
            <a:avLst/>
          </a:prstGeom>
          <a:noFill/>
          <a:ln/>
        </p:spPr>
        <p:txBody>
          <a:bodyPr wrap="square" lIns="0" tIns="0" rIns="0" bIns="0" rtlCol="0" anchor="ctr"/>
          <a:lstStyle/>
          <a:p>
            <a:pPr algn="l" indent="0" marL="0">
              <a:lnSpc>
                <a:spcPct val="110000"/>
              </a:lnSpc>
              <a:buNone/>
            </a:pPr>
            <a:r>
              <a:rPr lang="en-US" sz="2400" spc="-30" kern="0" dirty="0">
                <a:solidFill>
                  <a:srgbClr val="141417"/>
                </a:solidFill>
                <a:latin typeface="Outfit Medium" pitchFamily="34" charset="0"/>
                <a:ea typeface="Outfit Medium" pitchFamily="34" charset="-122"/>
                <a:cs typeface="Outfit Medium" pitchFamily="34" charset="-120"/>
              </a:rPr>
              <a:t>Operasional</a:t>
            </a:r>
            <a:endParaRPr lang="en-US" sz="2400" dirty="0"/>
          </a:p>
        </p:txBody>
      </p:sp>
      <p:sp>
        <p:nvSpPr>
          <p:cNvPr id="22" name="text"/>
          <p:cNvSpPr txBox="1"/>
          <p:nvPr/>
        </p:nvSpPr>
        <p:spPr>
          <a:xfrm>
            <a:off x="7498080" y="4672584"/>
            <a:ext cx="2103120" cy="804672"/>
          </a:xfrm>
          <a:prstGeom prst="rect">
            <a:avLst/>
          </a:prstGeom>
          <a:noFill/>
          <a:ln/>
        </p:spPr>
        <p:txBody>
          <a:bodyPr wrap="square" lIns="0" tIns="0" rIns="0" bIns="0" rtlCol="0" anchor="t"/>
          <a:lstStyle/>
          <a:p>
            <a:pPr algn="l" indent="0" marL="0">
              <a:lnSpc>
                <a:spcPct val="108000"/>
              </a:lnSpc>
              <a:buNone/>
            </a:pPr>
            <a:r>
              <a:rPr lang="en-US" sz="1400" dirty="0">
                <a:solidFill>
                  <a:srgbClr val="5A5A5F"/>
                </a:solidFill>
                <a:latin typeface="Outfit" pitchFamily="34" charset="0"/>
                <a:ea typeface="Outfit" pitchFamily="34" charset="-122"/>
                <a:cs typeface="Outfit" pitchFamily="34" charset="-120"/>
              </a:rPr>
              <a:t>Mengeksekusi: orang, proses, struktur (Bab 10 sampai 12)</a:t>
            </a:r>
            <a:endParaRPr lang="en-US" sz="1400" dirty="0"/>
          </a:p>
        </p:txBody>
      </p:sp>
      <p:sp>
        <p:nvSpPr>
          <p:cNvPr id="23" name="card"/>
          <p:cNvSpPr/>
          <p:nvPr/>
        </p:nvSpPr>
        <p:spPr>
          <a:xfrm>
            <a:off x="9966960" y="3977640"/>
            <a:ext cx="1554480" cy="1554480"/>
          </a:xfrm>
          <a:prstGeom prst="roundRect">
            <a:avLst>
              <a:gd name="adj" fmla="val 9412"/>
            </a:avLst>
          </a:prstGeom>
          <a:solidFill>
            <a:srgbClr val="141417"/>
          </a:solidFill>
          <a:ln w="6350">
            <a:solidFill>
              <a:srgbClr val="141417"/>
            </a:solidFill>
            <a:prstDash val="solid"/>
          </a:ln>
        </p:spPr>
      </p:sp>
      <p:pic>
        <p:nvPicPr>
          <p:cNvPr id="24" name="star" descr="preencoded.png">    </p:cNvPr>
          <p:cNvPicPr>
            <a:picLocks noChangeAspect="1"/>
          </p:cNvPicPr>
          <p:nvPr/>
        </p:nvPicPr>
        <p:blipFill>
          <a:blip r:embed="rId3"/>
          <a:stretch>
            <a:fillRect/>
          </a:stretch>
        </p:blipFill>
        <p:spPr>
          <a:xfrm>
            <a:off x="10355580" y="4366260"/>
            <a:ext cx="777240" cy="777240"/>
          </a:xfrm>
          <a:prstGeom prst="rect">
            <a:avLst/>
          </a:prstGeom>
        </p:spPr>
      </p:pic>
      <p:sp>
        <p:nvSpPr>
          <p:cNvPr id="25" name="text"/>
          <p:cNvSpPr txBox="1"/>
          <p:nvPr/>
        </p:nvSpPr>
        <p:spPr>
          <a:xfrm>
            <a:off x="502920" y="5623560"/>
            <a:ext cx="11155680" cy="777240"/>
          </a:xfrm>
          <a:prstGeom prst="rect">
            <a:avLst/>
          </a:prstGeom>
          <a:noFill/>
          <a:ln/>
        </p:spPr>
        <p:txBody>
          <a:bodyPr wrap="square" lIns="0" tIns="0" rIns="0" bIns="0" rtlCol="0" anchor="t"/>
          <a:lstStyle/>
          <a:p>
            <a:pPr algn="l" indent="0" marL="0">
              <a:lnSpc>
                <a:spcPct val="106000"/>
              </a:lnSpc>
              <a:buNone/>
            </a:pPr>
            <a:r>
              <a:rPr lang="en-US" sz="1800" dirty="0">
                <a:solidFill>
                  <a:srgbClr val="1A1A1C"/>
                </a:solidFill>
                <a:latin typeface="Outfit" pitchFamily="34" charset="0"/>
                <a:ea typeface="Outfit" pitchFamily="34" charset="-122"/>
                <a:cs typeface="Outfit" pitchFamily="34" charset="-120"/>
              </a:rPr>
              <a:t>Analogi kapal: visi adalah bintang, lingkungan adalah angin, capability adalah layar dan mesin. Bab 10 bertanya siapa awaknya dan bagaimana mereka ditata.</a:t>
            </a:r>
            <a:endParaRPr lang="en-US" sz="1800" dirty="0"/>
          </a:p>
        </p:txBody>
      </p:sp>
      <p:sp>
        <p:nvSpPr>
          <p:cNvPr id="26"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10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10000"/>
              </a:lnSpc>
              <a:buNone/>
            </a:pPr>
            <a:endParaRPr lang="en-US" sz="1050" dirty="0"/>
          </a:p>
        </p:txBody>
      </p:sp>
      <p:sp>
        <p:nvSpPr>
          <p:cNvPr id="7" name="card"/>
          <p:cNvSpPr/>
          <p:nvPr/>
        </p:nvSpPr>
        <p:spPr>
          <a:xfrm>
            <a:off x="502920" y="658368"/>
            <a:ext cx="6675120" cy="1344168"/>
          </a:xfrm>
          <a:prstGeom prst="roundRect">
            <a:avLst>
              <a:gd name="adj" fmla="val 13605"/>
            </a:avLst>
          </a:prstGeom>
          <a:solidFill>
            <a:srgbClr val="D4FC00"/>
          </a:solidFill>
          <a:ln w="6350">
            <a:solidFill>
              <a:srgbClr val="D4FC00"/>
            </a:solidFill>
            <a:prstDash val="solid"/>
          </a:ln>
        </p:spPr>
      </p:sp>
      <p:sp>
        <p:nvSpPr>
          <p:cNvPr id="8" name="text"/>
          <p:cNvSpPr txBox="1"/>
          <p:nvPr/>
        </p:nvSpPr>
        <p:spPr>
          <a:xfrm>
            <a:off x="777240" y="896112"/>
            <a:ext cx="1828800" cy="932688"/>
          </a:xfrm>
          <a:prstGeom prst="rect">
            <a:avLst/>
          </a:prstGeom>
          <a:noFill/>
          <a:ln/>
        </p:spPr>
        <p:txBody>
          <a:bodyPr wrap="square" lIns="0" tIns="0" rIns="0" bIns="0" rtlCol="0" anchor="t"/>
          <a:lstStyle/>
          <a:p>
            <a:pPr algn="l" indent="0" marL="0">
              <a:lnSpc>
                <a:spcPct val="110000"/>
              </a:lnSpc>
              <a:buNone/>
            </a:pPr>
            <a:r>
              <a:rPr lang="en-US" sz="1400" spc="50" kern="0" dirty="0">
                <a:solidFill>
                  <a:srgbClr val="1A1A1C"/>
                </a:solidFill>
                <a:latin typeface="Outfit" pitchFamily="34" charset="0"/>
                <a:ea typeface="Outfit" pitchFamily="34" charset="-122"/>
                <a:cs typeface="Outfit" pitchFamily="34" charset="-120"/>
              </a:rPr>
              <a:t>TANTANGAN NOMOR SATU</a:t>
            </a:r>
            <a:endParaRPr lang="en-US" sz="1400" dirty="0"/>
          </a:p>
        </p:txBody>
      </p:sp>
      <p:sp>
        <p:nvSpPr>
          <p:cNvPr id="9" name="text"/>
          <p:cNvSpPr txBox="1"/>
          <p:nvPr/>
        </p:nvSpPr>
        <p:spPr>
          <a:xfrm>
            <a:off x="2743200" y="877824"/>
            <a:ext cx="3657600" cy="1014984"/>
          </a:xfrm>
          <a:prstGeom prst="rect">
            <a:avLst/>
          </a:prstGeom>
          <a:noFill/>
          <a:ln/>
        </p:spPr>
        <p:txBody>
          <a:bodyPr wrap="square" lIns="0" tIns="0" rIns="0" bIns="0" rtlCol="0" anchor="t"/>
          <a:lstStyle/>
          <a:p>
            <a:pPr algn="l" indent="0" marL="0">
              <a:lnSpc>
                <a:spcPct val="106000"/>
              </a:lnSpc>
              <a:buNone/>
            </a:pPr>
            <a:r>
              <a:rPr lang="en-US" sz="1800" dirty="0">
                <a:solidFill>
                  <a:srgbClr val="1A1A1C"/>
                </a:solidFill>
                <a:latin typeface="Outfit" pitchFamily="34" charset="0"/>
                <a:ea typeface="Outfit" pitchFamily="34" charset="-122"/>
                <a:cs typeface="Outfit" pitchFamily="34" charset="-120"/>
              </a:rPr>
              <a:t>Survei 400 CEO di tiga benua: executional excellence (Sull dkk., 2015).</a:t>
            </a:r>
            <a:endParaRPr lang="en-US" sz="1800" dirty="0"/>
          </a:p>
        </p:txBody>
      </p:sp>
      <p:sp>
        <p:nvSpPr>
          <p:cNvPr id="10" name="dot"/>
          <p:cNvSpPr/>
          <p:nvPr/>
        </p:nvSpPr>
        <p:spPr>
          <a:xfrm>
            <a:off x="6611112" y="1193292"/>
            <a:ext cx="274320" cy="274320"/>
          </a:xfrm>
          <a:prstGeom prst="ellipse">
            <a:avLst/>
          </a:prstGeom>
          <a:solidFill>
            <a:srgbClr val="141417"/>
          </a:solidFill>
          <a:ln w="6350">
            <a:solidFill>
              <a:srgbClr val="141417"/>
            </a:solidFill>
            <a:prstDash val="solid"/>
          </a:ln>
        </p:spPr>
      </p:sp>
      <p:pic>
        <p:nvPicPr>
          <p:cNvPr id="11" name="dot-icon" descr="preencoded.png">    </p:cNvPr>
          <p:cNvPicPr>
            <a:picLocks noChangeAspect="1"/>
          </p:cNvPicPr>
          <p:nvPr/>
        </p:nvPicPr>
        <p:blipFill>
          <a:blip r:embed="rId1"/>
          <a:stretch>
            <a:fillRect/>
          </a:stretch>
        </p:blipFill>
        <p:spPr>
          <a:xfrm>
            <a:off x="6671462" y="1253642"/>
            <a:ext cx="153619" cy="153619"/>
          </a:xfrm>
          <a:prstGeom prst="rect">
            <a:avLst/>
          </a:prstGeom>
        </p:spPr>
      </p:pic>
      <p:sp>
        <p:nvSpPr>
          <p:cNvPr id="12" name="card"/>
          <p:cNvSpPr/>
          <p:nvPr/>
        </p:nvSpPr>
        <p:spPr>
          <a:xfrm>
            <a:off x="502920" y="2130552"/>
            <a:ext cx="6675120" cy="1344168"/>
          </a:xfrm>
          <a:prstGeom prst="roundRect">
            <a:avLst>
              <a:gd name="adj" fmla="val 13605"/>
            </a:avLst>
          </a:prstGeom>
          <a:solidFill>
            <a:srgbClr val="E8E8E8"/>
          </a:solidFill>
          <a:ln w="6350">
            <a:solidFill>
              <a:srgbClr val="E8E8E8"/>
            </a:solidFill>
            <a:prstDash val="solid"/>
          </a:ln>
        </p:spPr>
      </p:sp>
      <p:sp>
        <p:nvSpPr>
          <p:cNvPr id="13" name="text"/>
          <p:cNvSpPr txBox="1"/>
          <p:nvPr/>
        </p:nvSpPr>
        <p:spPr>
          <a:xfrm>
            <a:off x="777240" y="2368296"/>
            <a:ext cx="1828800" cy="932688"/>
          </a:xfrm>
          <a:prstGeom prst="rect">
            <a:avLst/>
          </a:prstGeom>
          <a:noFill/>
          <a:ln/>
        </p:spPr>
        <p:txBody>
          <a:bodyPr wrap="square" lIns="0" tIns="0" rIns="0" bIns="0" rtlCol="0" anchor="t"/>
          <a:lstStyle/>
          <a:p>
            <a:pPr algn="l" indent="0" marL="0">
              <a:lnSpc>
                <a:spcPct val="110000"/>
              </a:lnSpc>
              <a:buNone/>
            </a:pPr>
            <a:r>
              <a:rPr lang="en-US" sz="1400" spc="50" kern="0" dirty="0">
                <a:solidFill>
                  <a:srgbClr val="1A1A1C"/>
                </a:solidFill>
                <a:latin typeface="Outfit" pitchFamily="34" charset="0"/>
                <a:ea typeface="Outfit" pitchFamily="34" charset="-122"/>
                <a:cs typeface="Outfit" pitchFamily="34" charset="-120"/>
              </a:rPr>
              <a:t>SALING BERGANTUNG</a:t>
            </a:r>
            <a:endParaRPr lang="en-US" sz="1400" dirty="0"/>
          </a:p>
        </p:txBody>
      </p:sp>
      <p:sp>
        <p:nvSpPr>
          <p:cNvPr id="14" name="text"/>
          <p:cNvSpPr txBox="1"/>
          <p:nvPr/>
        </p:nvSpPr>
        <p:spPr>
          <a:xfrm>
            <a:off x="2743200" y="2350008"/>
            <a:ext cx="3657600" cy="1014984"/>
          </a:xfrm>
          <a:prstGeom prst="rect">
            <a:avLst/>
          </a:prstGeom>
          <a:noFill/>
          <a:ln/>
        </p:spPr>
        <p:txBody>
          <a:bodyPr wrap="square" lIns="0" tIns="0" rIns="0" bIns="0" rtlCol="0" anchor="t"/>
          <a:lstStyle/>
          <a:p>
            <a:pPr algn="l" indent="0" marL="0">
              <a:lnSpc>
                <a:spcPct val="106000"/>
              </a:lnSpc>
              <a:buNone/>
            </a:pPr>
            <a:r>
              <a:rPr lang="en-US" sz="1800" dirty="0">
                <a:solidFill>
                  <a:srgbClr val="1A1A1C"/>
                </a:solidFill>
                <a:latin typeface="Outfit" pitchFamily="34" charset="0"/>
                <a:ea typeface="Outfit" pitchFamily="34" charset="-122"/>
                <a:cs typeface="Outfit" pitchFamily="34" charset="-120"/>
              </a:rPr>
              <a:t>Seluruh rantai nilai terlibat; butuh bulan sampai tahun.</a:t>
            </a:r>
            <a:endParaRPr lang="en-US" sz="1800" dirty="0"/>
          </a:p>
        </p:txBody>
      </p:sp>
      <p:sp>
        <p:nvSpPr>
          <p:cNvPr id="15" name="dot"/>
          <p:cNvSpPr/>
          <p:nvPr/>
        </p:nvSpPr>
        <p:spPr>
          <a:xfrm>
            <a:off x="6611112" y="2665476"/>
            <a:ext cx="274320" cy="274320"/>
          </a:xfrm>
          <a:prstGeom prst="ellipse">
            <a:avLst/>
          </a:prstGeom>
          <a:solidFill>
            <a:srgbClr val="141417"/>
          </a:solidFill>
          <a:ln w="6350">
            <a:solidFill>
              <a:srgbClr val="141417"/>
            </a:solidFill>
            <a:prstDash val="solid"/>
          </a:ln>
        </p:spPr>
      </p:sp>
      <p:pic>
        <p:nvPicPr>
          <p:cNvPr id="16" name="dot-icon" descr="preencoded.png">    </p:cNvPr>
          <p:cNvPicPr>
            <a:picLocks noChangeAspect="1"/>
          </p:cNvPicPr>
          <p:nvPr/>
        </p:nvPicPr>
        <p:blipFill>
          <a:blip r:embed="rId2"/>
          <a:stretch>
            <a:fillRect/>
          </a:stretch>
        </p:blipFill>
        <p:spPr>
          <a:xfrm>
            <a:off x="6671462" y="2725826"/>
            <a:ext cx="153619" cy="153619"/>
          </a:xfrm>
          <a:prstGeom prst="rect">
            <a:avLst/>
          </a:prstGeom>
        </p:spPr>
      </p:pic>
      <p:sp>
        <p:nvSpPr>
          <p:cNvPr id="17" name="card"/>
          <p:cNvSpPr/>
          <p:nvPr/>
        </p:nvSpPr>
        <p:spPr>
          <a:xfrm>
            <a:off x="502920" y="3602736"/>
            <a:ext cx="6675120" cy="1344168"/>
          </a:xfrm>
          <a:prstGeom prst="roundRect">
            <a:avLst>
              <a:gd name="adj" fmla="val 13605"/>
            </a:avLst>
          </a:prstGeom>
          <a:solidFill>
            <a:srgbClr val="D4FC00"/>
          </a:solidFill>
          <a:ln w="6350">
            <a:solidFill>
              <a:srgbClr val="D4FC00"/>
            </a:solidFill>
            <a:prstDash val="solid"/>
          </a:ln>
        </p:spPr>
      </p:sp>
      <p:sp>
        <p:nvSpPr>
          <p:cNvPr id="18" name="text"/>
          <p:cNvSpPr txBox="1"/>
          <p:nvPr/>
        </p:nvSpPr>
        <p:spPr>
          <a:xfrm>
            <a:off x="777240" y="3840480"/>
            <a:ext cx="1828800" cy="932688"/>
          </a:xfrm>
          <a:prstGeom prst="rect">
            <a:avLst/>
          </a:prstGeom>
          <a:noFill/>
          <a:ln/>
        </p:spPr>
        <p:txBody>
          <a:bodyPr wrap="square" lIns="0" tIns="0" rIns="0" bIns="0" rtlCol="0" anchor="t"/>
          <a:lstStyle/>
          <a:p>
            <a:pPr algn="l" indent="0" marL="0">
              <a:lnSpc>
                <a:spcPct val="110000"/>
              </a:lnSpc>
              <a:buNone/>
            </a:pPr>
            <a:r>
              <a:rPr lang="en-US" sz="1400" spc="50" kern="0" dirty="0">
                <a:solidFill>
                  <a:srgbClr val="1A1A1C"/>
                </a:solidFill>
                <a:latin typeface="Outfit" pitchFamily="34" charset="0"/>
                <a:ea typeface="Outfit" pitchFamily="34" charset="-122"/>
                <a:cs typeface="Outfit" pitchFamily="34" charset="-120"/>
              </a:rPr>
              <a:t>TIDAK ADA RESEP TUNGGAL</a:t>
            </a:r>
            <a:endParaRPr lang="en-US" sz="1400" dirty="0"/>
          </a:p>
        </p:txBody>
      </p:sp>
      <p:sp>
        <p:nvSpPr>
          <p:cNvPr id="19" name="text"/>
          <p:cNvSpPr txBox="1"/>
          <p:nvPr/>
        </p:nvSpPr>
        <p:spPr>
          <a:xfrm>
            <a:off x="2743200" y="3822192"/>
            <a:ext cx="3657600" cy="1014984"/>
          </a:xfrm>
          <a:prstGeom prst="rect">
            <a:avLst/>
          </a:prstGeom>
          <a:noFill/>
          <a:ln/>
        </p:spPr>
        <p:txBody>
          <a:bodyPr wrap="square" lIns="0" tIns="0" rIns="0" bIns="0" rtlCol="0" anchor="t"/>
          <a:lstStyle/>
          <a:p>
            <a:pPr algn="l" indent="0" marL="0">
              <a:lnSpc>
                <a:spcPct val="106000"/>
              </a:lnSpc>
              <a:buNone/>
            </a:pPr>
            <a:r>
              <a:rPr lang="en-US" sz="1800" dirty="0">
                <a:solidFill>
                  <a:srgbClr val="1A1A1C"/>
                </a:solidFill>
                <a:latin typeface="Outfit" pitchFamily="34" charset="0"/>
                <a:ea typeface="Outfit" pitchFamily="34" charset="-122"/>
                <a:cs typeface="Outfit" pitchFamily="34" charset="-120"/>
              </a:rPr>
              <a:t>Biaya rendah berbeda dari diferensiasi; krisis berbeda dari sehat.</a:t>
            </a:r>
            <a:endParaRPr lang="en-US" sz="1800" dirty="0"/>
          </a:p>
        </p:txBody>
      </p:sp>
      <p:sp>
        <p:nvSpPr>
          <p:cNvPr id="20" name="dot"/>
          <p:cNvSpPr/>
          <p:nvPr/>
        </p:nvSpPr>
        <p:spPr>
          <a:xfrm>
            <a:off x="6611112" y="4137660"/>
            <a:ext cx="274320" cy="274320"/>
          </a:xfrm>
          <a:prstGeom prst="ellipse">
            <a:avLst/>
          </a:prstGeom>
          <a:solidFill>
            <a:srgbClr val="141417"/>
          </a:solidFill>
          <a:ln w="6350">
            <a:solidFill>
              <a:srgbClr val="141417"/>
            </a:solidFill>
            <a:prstDash val="solid"/>
          </a:ln>
        </p:spPr>
      </p:sp>
      <p:pic>
        <p:nvPicPr>
          <p:cNvPr id="21" name="dot-icon" descr="preencoded.png">    </p:cNvPr>
          <p:cNvPicPr>
            <a:picLocks noChangeAspect="1"/>
          </p:cNvPicPr>
          <p:nvPr/>
        </p:nvPicPr>
        <p:blipFill>
          <a:blip r:embed="rId3"/>
          <a:stretch>
            <a:fillRect/>
          </a:stretch>
        </p:blipFill>
        <p:spPr>
          <a:xfrm>
            <a:off x="6671462" y="4198010"/>
            <a:ext cx="153619" cy="153619"/>
          </a:xfrm>
          <a:prstGeom prst="rect">
            <a:avLst/>
          </a:prstGeom>
        </p:spPr>
      </p:pic>
      <p:sp>
        <p:nvSpPr>
          <p:cNvPr id="22" name="card"/>
          <p:cNvSpPr/>
          <p:nvPr/>
        </p:nvSpPr>
        <p:spPr>
          <a:xfrm>
            <a:off x="502920" y="5074920"/>
            <a:ext cx="6675120" cy="1344168"/>
          </a:xfrm>
          <a:prstGeom prst="roundRect">
            <a:avLst>
              <a:gd name="adj" fmla="val 13605"/>
            </a:avLst>
          </a:prstGeom>
          <a:solidFill>
            <a:srgbClr val="141417"/>
          </a:solidFill>
          <a:ln w="6350">
            <a:solidFill>
              <a:srgbClr val="141417"/>
            </a:solidFill>
            <a:prstDash val="solid"/>
          </a:ln>
        </p:spPr>
      </p:sp>
      <p:sp>
        <p:nvSpPr>
          <p:cNvPr id="23" name="text"/>
          <p:cNvSpPr txBox="1"/>
          <p:nvPr/>
        </p:nvSpPr>
        <p:spPr>
          <a:xfrm>
            <a:off x="777240" y="5312664"/>
            <a:ext cx="1828800" cy="932688"/>
          </a:xfrm>
          <a:prstGeom prst="rect">
            <a:avLst/>
          </a:prstGeom>
          <a:noFill/>
          <a:ln/>
        </p:spPr>
        <p:txBody>
          <a:bodyPr wrap="square" lIns="0" tIns="0" rIns="0" bIns="0" rtlCol="0" anchor="t"/>
          <a:lstStyle/>
          <a:p>
            <a:pPr algn="l" indent="0" marL="0">
              <a:lnSpc>
                <a:spcPct val="110000"/>
              </a:lnSpc>
              <a:buNone/>
            </a:pPr>
            <a:r>
              <a:rPr lang="en-US" sz="1400" spc="50" kern="0" dirty="0">
                <a:solidFill>
                  <a:srgbClr val="D4FC00"/>
                </a:solidFill>
                <a:latin typeface="Outfit" pitchFamily="34" charset="0"/>
                <a:ea typeface="Outfit" pitchFamily="34" charset="-122"/>
                <a:cs typeface="Outfit" pitchFamily="34" charset="-120"/>
              </a:rPr>
              <a:t>DUA TANDA EKSEKUSI BAIK</a:t>
            </a:r>
            <a:endParaRPr lang="en-US" sz="1400" dirty="0"/>
          </a:p>
        </p:txBody>
      </p:sp>
      <p:sp>
        <p:nvSpPr>
          <p:cNvPr id="24" name="text"/>
          <p:cNvSpPr txBox="1"/>
          <p:nvPr/>
        </p:nvSpPr>
        <p:spPr>
          <a:xfrm>
            <a:off x="2743200" y="5294376"/>
            <a:ext cx="3657600" cy="1014984"/>
          </a:xfrm>
          <a:prstGeom prst="rect">
            <a:avLst/>
          </a:prstGeom>
          <a:noFill/>
          <a:ln/>
        </p:spPr>
        <p:txBody>
          <a:bodyPr wrap="square" lIns="0" tIns="0" rIns="0" bIns="0" rtlCol="0" anchor="t"/>
          <a:lstStyle/>
          <a:p>
            <a:pPr algn="l" indent="0" marL="0">
              <a:lnSpc>
                <a:spcPct val="106000"/>
              </a:lnSpc>
              <a:buNone/>
            </a:pPr>
            <a:r>
              <a:rPr lang="en-US" sz="1800" dirty="0">
                <a:solidFill>
                  <a:srgbClr val="E4E4E7"/>
                </a:solidFill>
                <a:latin typeface="Outfit" pitchFamily="34" charset="0"/>
                <a:ea typeface="Outfit" pitchFamily="34" charset="-122"/>
                <a:cs typeface="Outfit" pitchFamily="34" charset="-120"/>
              </a:rPr>
              <a:t>Target tercapai, dan aktivitas kritis dijalankan mahir.</a:t>
            </a:r>
            <a:endParaRPr lang="en-US" sz="1800" dirty="0"/>
          </a:p>
        </p:txBody>
      </p:sp>
      <p:sp>
        <p:nvSpPr>
          <p:cNvPr id="25" name="dot"/>
          <p:cNvSpPr/>
          <p:nvPr/>
        </p:nvSpPr>
        <p:spPr>
          <a:xfrm>
            <a:off x="6611112" y="5609844"/>
            <a:ext cx="274320" cy="274320"/>
          </a:xfrm>
          <a:prstGeom prst="ellipse">
            <a:avLst/>
          </a:prstGeom>
          <a:solidFill>
            <a:srgbClr val="D4FC00"/>
          </a:solidFill>
          <a:ln w="6350">
            <a:solidFill>
              <a:srgbClr val="D4FC00"/>
            </a:solidFill>
            <a:prstDash val="solid"/>
          </a:ln>
        </p:spPr>
      </p:sp>
      <p:pic>
        <p:nvPicPr>
          <p:cNvPr id="26" name="dot-icon" descr="preencoded.png">    </p:cNvPr>
          <p:cNvPicPr>
            <a:picLocks noChangeAspect="1"/>
          </p:cNvPicPr>
          <p:nvPr/>
        </p:nvPicPr>
        <p:blipFill>
          <a:blip r:embed="rId4"/>
          <a:stretch>
            <a:fillRect/>
          </a:stretch>
        </p:blipFill>
        <p:spPr>
          <a:xfrm>
            <a:off x="6671462" y="5670194"/>
            <a:ext cx="153619" cy="153619"/>
          </a:xfrm>
          <a:prstGeom prst="rect">
            <a:avLst/>
          </a:prstGeom>
        </p:spPr>
      </p:pic>
      <p:pic>
        <p:nvPicPr>
          <p:cNvPr id="27" name="Meja kerja putih dengan laptop dan buku catatan" descr="preencoded.png">    </p:cNvPr>
          <p:cNvPicPr>
            <a:picLocks noChangeAspect="1"/>
          </p:cNvPicPr>
          <p:nvPr/>
        </p:nvPicPr>
        <p:blipFill>
          <a:blip r:embed="rId5"/>
          <a:stretch>
            <a:fillRect/>
          </a:stretch>
        </p:blipFill>
        <p:spPr>
          <a:xfrm>
            <a:off x="7635240" y="658368"/>
            <a:ext cx="4053535" cy="2103120"/>
          </a:xfrm>
          <a:prstGeom prst="rect">
            <a:avLst/>
          </a:prstGeom>
        </p:spPr>
      </p:pic>
      <p:sp>
        <p:nvSpPr>
          <p:cNvPr id="28" name="text"/>
          <p:cNvSpPr txBox="1"/>
          <p:nvPr/>
        </p:nvSpPr>
        <p:spPr>
          <a:xfrm>
            <a:off x="7635240" y="2971800"/>
            <a:ext cx="4053535" cy="2286000"/>
          </a:xfrm>
          <a:prstGeom prst="rect">
            <a:avLst/>
          </a:prstGeom>
          <a:noFill/>
          <a:ln/>
        </p:spPr>
        <p:txBody>
          <a:bodyPr wrap="square" lIns="0" tIns="0" rIns="0" bIns="0" rtlCol="0" anchor="t"/>
          <a:lstStyle/>
          <a:p>
            <a:pPr algn="l" indent="0" marL="0">
              <a:lnSpc>
                <a:spcPct val="98000"/>
              </a:lnSpc>
              <a:buNone/>
            </a:pPr>
            <a:r>
              <a:rPr lang="en-US" sz="3200" spc="-50" kern="0" dirty="0">
                <a:solidFill>
                  <a:srgbClr val="141417"/>
                </a:solidFill>
                <a:latin typeface="Outfit Medium" pitchFamily="34" charset="0"/>
                <a:ea typeface="Outfit Medium" pitchFamily="34" charset="-122"/>
                <a:cs typeface="Outfit Medium" pitchFamily="34" charset="-120"/>
              </a:rPr>
              <a:t>EKSEKUSI ADALAH UJIAN YANG SESUNGGUHNYA</a:t>
            </a:r>
            <a:endParaRPr lang="en-US" sz="3200" dirty="0"/>
          </a:p>
        </p:txBody>
      </p:sp>
      <p:sp>
        <p:nvSpPr>
          <p:cNvPr id="29" name="text"/>
          <p:cNvSpPr txBox="1"/>
          <p:nvPr/>
        </p:nvSpPr>
        <p:spPr>
          <a:xfrm>
            <a:off x="7635240" y="5257800"/>
            <a:ext cx="4053535" cy="114300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Eksekusi adalah team effort: setiap manajer bertanggung jawab di areanya.</a:t>
            </a:r>
            <a:endParaRPr lang="en-US" sz="1600" dirty="0"/>
          </a:p>
        </p:txBody>
      </p:sp>
      <p:sp>
        <p:nvSpPr>
          <p:cNvPr id="30"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10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10000"/>
              </a:lnSpc>
              <a:buNone/>
            </a:pPr>
            <a:endParaRPr lang="en-US" sz="1050" dirty="0"/>
          </a:p>
        </p:txBody>
      </p:sp>
      <p:sp>
        <p:nvSpPr>
          <p:cNvPr id="7" name="card"/>
          <p:cNvSpPr/>
          <p:nvPr/>
        </p:nvSpPr>
        <p:spPr>
          <a:xfrm>
            <a:off x="7863840" y="-274320"/>
            <a:ext cx="3017520" cy="7406640"/>
          </a:xfrm>
          <a:prstGeom prst="roundRect">
            <a:avLst>
              <a:gd name="adj" fmla="val 10606"/>
            </a:avLst>
          </a:prstGeom>
          <a:solidFill>
            <a:srgbClr val="D4FC00"/>
          </a:solidFill>
          <a:ln w="6350">
            <a:solidFill>
              <a:srgbClr val="D4FC00"/>
            </a:solidFill>
            <a:prstDash val="solid"/>
          </a:ln>
        </p:spPr>
      </p:sp>
      <p:sp>
        <p:nvSpPr>
          <p:cNvPr id="8"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9"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10"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11"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12"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10000"/>
              </a:lnSpc>
              <a:buNone/>
            </a:pPr>
            <a:endParaRPr lang="en-US" sz="1050" dirty="0"/>
          </a:p>
        </p:txBody>
      </p:sp>
      <p:sp>
        <p:nvSpPr>
          <p:cNvPr id="13" name="text"/>
          <p:cNvSpPr txBox="1"/>
          <p:nvPr/>
        </p:nvSpPr>
        <p:spPr>
          <a:xfrm>
            <a:off x="502920" y="868680"/>
            <a:ext cx="5943600" cy="731520"/>
          </a:xfrm>
          <a:prstGeom prst="rect">
            <a:avLst/>
          </a:prstGeom>
          <a:noFill/>
          <a:ln/>
        </p:spPr>
        <p:txBody>
          <a:bodyPr wrap="square" lIns="0" tIns="0" rIns="0" bIns="0" rtlCol="0" anchor="t"/>
          <a:lstStyle/>
          <a:p>
            <a:pPr algn="l" indent="0" marL="0">
              <a:lnSpc>
                <a:spcPct val="98000"/>
              </a:lnSpc>
              <a:buNone/>
            </a:pPr>
            <a:r>
              <a:rPr lang="en-US" sz="3400" spc="-50" kern="0" dirty="0">
                <a:solidFill>
                  <a:srgbClr val="141417"/>
                </a:solidFill>
                <a:latin typeface="Outfit Medium" pitchFamily="34" charset="0"/>
                <a:ea typeface="Outfit Medium" pitchFamily="34" charset="-122"/>
                <a:cs typeface="Outfit Medium" pitchFamily="34" charset="-120"/>
              </a:rPr>
              <a:t>SEPULUH TUGAS EKSEKUSI</a:t>
            </a:r>
            <a:endParaRPr lang="en-US" sz="3400" dirty="0"/>
          </a:p>
        </p:txBody>
      </p:sp>
      <p:sp>
        <p:nvSpPr>
          <p:cNvPr id="14" name="text"/>
          <p:cNvSpPr txBox="1"/>
          <p:nvPr/>
        </p:nvSpPr>
        <p:spPr>
          <a:xfrm>
            <a:off x="502920" y="1572768"/>
            <a:ext cx="6035040" cy="77724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Figure 10.1, digambar ulang. Tiga tugas pertama membangun organisasi yang mampu; tujuh berikutnya menggerakkannya.</a:t>
            </a:r>
            <a:endParaRPr lang="en-US" sz="1600" dirty="0"/>
          </a:p>
        </p:txBody>
      </p:sp>
      <p:sp>
        <p:nvSpPr>
          <p:cNvPr id="15" name="connector"/>
          <p:cNvSpPr/>
          <p:nvPr/>
        </p:nvSpPr>
        <p:spPr>
          <a:xfrm flipH="1">
            <a:off x="3749040" y="2739030"/>
            <a:ext cx="777054" cy="1695810"/>
          </a:xfrm>
          <a:prstGeom prst="line">
            <a:avLst/>
          </a:prstGeom>
          <a:noFill/>
          <a:ln w="12700">
            <a:solidFill>
              <a:srgbClr val="C9C9CC"/>
            </a:solidFill>
            <a:prstDash val="solid"/>
          </a:ln>
        </p:spPr>
      </p:sp>
      <p:sp>
        <p:nvSpPr>
          <p:cNvPr id="16" name="connector"/>
          <p:cNvSpPr/>
          <p:nvPr/>
        </p:nvSpPr>
        <p:spPr>
          <a:xfrm flipH="1">
            <a:off x="3749040" y="3386772"/>
            <a:ext cx="2034354" cy="1048068"/>
          </a:xfrm>
          <a:prstGeom prst="line">
            <a:avLst/>
          </a:prstGeom>
          <a:noFill/>
          <a:ln w="12700">
            <a:solidFill>
              <a:srgbClr val="C9C9CC"/>
            </a:solidFill>
            <a:prstDash val="solid"/>
          </a:ln>
        </p:spPr>
      </p:sp>
      <p:sp>
        <p:nvSpPr>
          <p:cNvPr id="17" name="connector"/>
          <p:cNvSpPr/>
          <p:nvPr/>
        </p:nvSpPr>
        <p:spPr>
          <a:xfrm>
            <a:off x="3749040" y="4434840"/>
            <a:ext cx="2514600" cy="0"/>
          </a:xfrm>
          <a:prstGeom prst="line">
            <a:avLst/>
          </a:prstGeom>
          <a:noFill/>
          <a:ln w="12700">
            <a:solidFill>
              <a:srgbClr val="C9C9CC"/>
            </a:solidFill>
            <a:prstDash val="solid"/>
          </a:ln>
        </p:spPr>
      </p:sp>
      <p:sp>
        <p:nvSpPr>
          <p:cNvPr id="18" name="connector"/>
          <p:cNvSpPr/>
          <p:nvPr/>
        </p:nvSpPr>
        <p:spPr>
          <a:xfrm>
            <a:off x="3749040" y="4434840"/>
            <a:ext cx="2034354" cy="1048068"/>
          </a:xfrm>
          <a:prstGeom prst="line">
            <a:avLst/>
          </a:prstGeom>
          <a:noFill/>
          <a:ln w="12700">
            <a:solidFill>
              <a:srgbClr val="C9C9CC"/>
            </a:solidFill>
            <a:prstDash val="solid"/>
          </a:ln>
        </p:spPr>
      </p:sp>
      <p:sp>
        <p:nvSpPr>
          <p:cNvPr id="19" name="connector"/>
          <p:cNvSpPr/>
          <p:nvPr/>
        </p:nvSpPr>
        <p:spPr>
          <a:xfrm>
            <a:off x="3749040" y="4434840"/>
            <a:ext cx="777054" cy="1695810"/>
          </a:xfrm>
          <a:prstGeom prst="line">
            <a:avLst/>
          </a:prstGeom>
          <a:noFill/>
          <a:ln w="12700">
            <a:solidFill>
              <a:srgbClr val="C9C9CC"/>
            </a:solidFill>
            <a:prstDash val="solid"/>
          </a:ln>
        </p:spPr>
      </p:sp>
      <p:sp>
        <p:nvSpPr>
          <p:cNvPr id="20" name="connector"/>
          <p:cNvSpPr/>
          <p:nvPr/>
        </p:nvSpPr>
        <p:spPr>
          <a:xfrm flipH="1">
            <a:off x="2971986" y="4434840"/>
            <a:ext cx="777054" cy="1695810"/>
          </a:xfrm>
          <a:prstGeom prst="line">
            <a:avLst/>
          </a:prstGeom>
          <a:noFill/>
          <a:ln w="12700">
            <a:solidFill>
              <a:srgbClr val="C9C9CC"/>
            </a:solidFill>
            <a:prstDash val="solid"/>
          </a:ln>
        </p:spPr>
      </p:sp>
      <p:sp>
        <p:nvSpPr>
          <p:cNvPr id="21" name="connector"/>
          <p:cNvSpPr/>
          <p:nvPr/>
        </p:nvSpPr>
        <p:spPr>
          <a:xfrm flipH="1">
            <a:off x="1714686" y="4434840"/>
            <a:ext cx="2034354" cy="1048068"/>
          </a:xfrm>
          <a:prstGeom prst="line">
            <a:avLst/>
          </a:prstGeom>
          <a:noFill/>
          <a:ln w="12700">
            <a:solidFill>
              <a:srgbClr val="C9C9CC"/>
            </a:solidFill>
            <a:prstDash val="solid"/>
          </a:ln>
        </p:spPr>
      </p:sp>
      <p:sp>
        <p:nvSpPr>
          <p:cNvPr id="22" name="connector"/>
          <p:cNvSpPr/>
          <p:nvPr/>
        </p:nvSpPr>
        <p:spPr>
          <a:xfrm flipH="1">
            <a:off x="1234440" y="4434840"/>
            <a:ext cx="2514600" cy="0"/>
          </a:xfrm>
          <a:prstGeom prst="line">
            <a:avLst/>
          </a:prstGeom>
          <a:noFill/>
          <a:ln w="12700">
            <a:solidFill>
              <a:srgbClr val="C9C9CC"/>
            </a:solidFill>
            <a:prstDash val="solid"/>
          </a:ln>
        </p:spPr>
      </p:sp>
      <p:sp>
        <p:nvSpPr>
          <p:cNvPr id="23" name="connector"/>
          <p:cNvSpPr/>
          <p:nvPr/>
        </p:nvSpPr>
        <p:spPr>
          <a:xfrm>
            <a:off x="1714686" y="3386772"/>
            <a:ext cx="2034354" cy="1048068"/>
          </a:xfrm>
          <a:prstGeom prst="line">
            <a:avLst/>
          </a:prstGeom>
          <a:noFill/>
          <a:ln w="12700">
            <a:solidFill>
              <a:srgbClr val="C9C9CC"/>
            </a:solidFill>
            <a:prstDash val="solid"/>
          </a:ln>
        </p:spPr>
      </p:sp>
      <p:sp>
        <p:nvSpPr>
          <p:cNvPr id="24" name="connector"/>
          <p:cNvSpPr/>
          <p:nvPr/>
        </p:nvSpPr>
        <p:spPr>
          <a:xfrm>
            <a:off x="2971986" y="2739030"/>
            <a:ext cx="777054" cy="1695810"/>
          </a:xfrm>
          <a:prstGeom prst="line">
            <a:avLst/>
          </a:prstGeom>
          <a:noFill/>
          <a:ln w="12700">
            <a:solidFill>
              <a:srgbClr val="C9C9CC"/>
            </a:solidFill>
            <a:prstDash val="solid"/>
          </a:ln>
        </p:spPr>
      </p:sp>
      <p:sp>
        <p:nvSpPr>
          <p:cNvPr id="25" name="pusat"/>
          <p:cNvSpPr/>
          <p:nvPr/>
        </p:nvSpPr>
        <p:spPr>
          <a:xfrm>
            <a:off x="2880360" y="3657600"/>
            <a:ext cx="1737360" cy="1554480"/>
          </a:xfrm>
          <a:prstGeom prst="hexagon">
            <a:avLst/>
          </a:prstGeom>
          <a:solidFill>
            <a:srgbClr val="141417"/>
          </a:solidFill>
          <a:ln w="6350">
            <a:solidFill>
              <a:srgbClr val="141417"/>
            </a:solidFill>
            <a:prstDash val="solid"/>
          </a:ln>
        </p:spPr>
      </p:sp>
      <p:sp>
        <p:nvSpPr>
          <p:cNvPr id="26" name="text"/>
          <p:cNvSpPr txBox="1"/>
          <p:nvPr/>
        </p:nvSpPr>
        <p:spPr>
          <a:xfrm>
            <a:off x="3072384" y="3904488"/>
            <a:ext cx="1353312" cy="1060704"/>
          </a:xfrm>
          <a:prstGeom prst="rect">
            <a:avLst/>
          </a:prstGeom>
          <a:noFill/>
          <a:ln/>
        </p:spPr>
        <p:txBody>
          <a:bodyPr wrap="square" lIns="0" tIns="0" rIns="0" bIns="0" rtlCol="0" anchor="ctr"/>
          <a:lstStyle/>
          <a:p>
            <a:pPr algn="ctr" indent="0" marL="0">
              <a:lnSpc>
                <a:spcPct val="110000"/>
              </a:lnSpc>
              <a:buNone/>
            </a:pPr>
            <a:r>
              <a:rPr lang="en-US" sz="1200" dirty="0">
                <a:solidFill>
                  <a:srgbClr val="D4FC00"/>
                </a:solidFill>
                <a:latin typeface="Outfit Medium" pitchFamily="34" charset="0"/>
                <a:ea typeface="Outfit Medium" pitchFamily="34" charset="-122"/>
                <a:cs typeface="Outfit Medium" pitchFamily="34" charset="-120"/>
              </a:rPr>
              <a:t>The Action Agenda for Executing Strategy</a:t>
            </a:r>
            <a:endParaRPr lang="en-US" sz="1200" dirty="0"/>
          </a:p>
        </p:txBody>
      </p:sp>
      <p:sp>
        <p:nvSpPr>
          <p:cNvPr id="27" name="card"/>
          <p:cNvSpPr/>
          <p:nvPr/>
        </p:nvSpPr>
        <p:spPr>
          <a:xfrm>
            <a:off x="3794574" y="2455566"/>
            <a:ext cx="1463040" cy="566928"/>
          </a:xfrm>
          <a:prstGeom prst="roundRect">
            <a:avLst>
              <a:gd name="adj" fmla="val 19355"/>
            </a:avLst>
          </a:prstGeom>
          <a:solidFill>
            <a:srgbClr val="D4FC00"/>
          </a:solidFill>
          <a:ln w="6350">
            <a:solidFill>
              <a:srgbClr val="D4FC00"/>
            </a:solidFill>
            <a:prstDash val="solid"/>
          </a:ln>
        </p:spPr>
      </p:sp>
      <p:sp>
        <p:nvSpPr>
          <p:cNvPr id="28" name="text"/>
          <p:cNvSpPr txBox="1"/>
          <p:nvPr/>
        </p:nvSpPr>
        <p:spPr>
          <a:xfrm>
            <a:off x="3904302" y="2455566"/>
            <a:ext cx="292608" cy="566928"/>
          </a:xfrm>
          <a:prstGeom prst="rect">
            <a:avLst/>
          </a:prstGeom>
          <a:noFill/>
          <a:ln/>
        </p:spPr>
        <p:txBody>
          <a:bodyPr wrap="square" lIns="0" tIns="0" rIns="0" bIns="0" rtlCol="0" anchor="ctr"/>
          <a:lstStyle/>
          <a:p>
            <a:pPr algn="l" indent="0" marL="0">
              <a:lnSpc>
                <a:spcPct val="110000"/>
              </a:lnSpc>
              <a:buNone/>
            </a:pPr>
            <a:r>
              <a:rPr lang="en-US" sz="1300" dirty="0">
                <a:solidFill>
                  <a:srgbClr val="1A1A1C"/>
                </a:solidFill>
                <a:latin typeface="Outfit Medium" pitchFamily="34" charset="0"/>
                <a:ea typeface="Outfit Medium" pitchFamily="34" charset="-122"/>
                <a:cs typeface="Outfit Medium" pitchFamily="34" charset="-120"/>
              </a:rPr>
              <a:t>1</a:t>
            </a:r>
            <a:endParaRPr lang="en-US" sz="1300" dirty="0"/>
          </a:p>
        </p:txBody>
      </p:sp>
      <p:sp>
        <p:nvSpPr>
          <p:cNvPr id="29" name="text"/>
          <p:cNvSpPr txBox="1"/>
          <p:nvPr/>
        </p:nvSpPr>
        <p:spPr>
          <a:xfrm>
            <a:off x="4196910" y="2455566"/>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Staffing</a:t>
            </a:r>
            <a:endParaRPr lang="en-US" sz="1200" dirty="0"/>
          </a:p>
        </p:txBody>
      </p:sp>
      <p:sp>
        <p:nvSpPr>
          <p:cNvPr id="30" name="card"/>
          <p:cNvSpPr/>
          <p:nvPr/>
        </p:nvSpPr>
        <p:spPr>
          <a:xfrm>
            <a:off x="5051874" y="3103308"/>
            <a:ext cx="1463040" cy="566928"/>
          </a:xfrm>
          <a:prstGeom prst="roundRect">
            <a:avLst>
              <a:gd name="adj" fmla="val 19355"/>
            </a:avLst>
          </a:prstGeom>
          <a:solidFill>
            <a:srgbClr val="D4FC00"/>
          </a:solidFill>
          <a:ln w="6350">
            <a:solidFill>
              <a:srgbClr val="D4FC00"/>
            </a:solidFill>
            <a:prstDash val="solid"/>
          </a:ln>
        </p:spPr>
      </p:sp>
      <p:sp>
        <p:nvSpPr>
          <p:cNvPr id="31" name="text"/>
          <p:cNvSpPr txBox="1"/>
          <p:nvPr/>
        </p:nvSpPr>
        <p:spPr>
          <a:xfrm>
            <a:off x="5161602" y="3103308"/>
            <a:ext cx="292608" cy="566928"/>
          </a:xfrm>
          <a:prstGeom prst="rect">
            <a:avLst/>
          </a:prstGeom>
          <a:noFill/>
          <a:ln/>
        </p:spPr>
        <p:txBody>
          <a:bodyPr wrap="square" lIns="0" tIns="0" rIns="0" bIns="0" rtlCol="0" anchor="ctr"/>
          <a:lstStyle/>
          <a:p>
            <a:pPr algn="l" indent="0" marL="0">
              <a:lnSpc>
                <a:spcPct val="110000"/>
              </a:lnSpc>
              <a:buNone/>
            </a:pPr>
            <a:r>
              <a:rPr lang="en-US" sz="1300" dirty="0">
                <a:solidFill>
                  <a:srgbClr val="1A1A1C"/>
                </a:solidFill>
                <a:latin typeface="Outfit Medium" pitchFamily="34" charset="0"/>
                <a:ea typeface="Outfit Medium" pitchFamily="34" charset="-122"/>
                <a:cs typeface="Outfit Medium" pitchFamily="34" charset="-120"/>
              </a:rPr>
              <a:t>2</a:t>
            </a:r>
            <a:endParaRPr lang="en-US" sz="1300" dirty="0"/>
          </a:p>
        </p:txBody>
      </p:sp>
      <p:sp>
        <p:nvSpPr>
          <p:cNvPr id="32" name="text"/>
          <p:cNvSpPr txBox="1"/>
          <p:nvPr/>
        </p:nvSpPr>
        <p:spPr>
          <a:xfrm>
            <a:off x="5454210" y="3103308"/>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Capabilities</a:t>
            </a:r>
            <a:endParaRPr lang="en-US" sz="1200" dirty="0"/>
          </a:p>
        </p:txBody>
      </p:sp>
      <p:sp>
        <p:nvSpPr>
          <p:cNvPr id="33" name="card"/>
          <p:cNvSpPr/>
          <p:nvPr/>
        </p:nvSpPr>
        <p:spPr>
          <a:xfrm>
            <a:off x="5532120" y="4151376"/>
            <a:ext cx="1463040" cy="566928"/>
          </a:xfrm>
          <a:prstGeom prst="roundRect">
            <a:avLst>
              <a:gd name="adj" fmla="val 19355"/>
            </a:avLst>
          </a:prstGeom>
          <a:solidFill>
            <a:srgbClr val="D4FC00"/>
          </a:solidFill>
          <a:ln w="6350">
            <a:solidFill>
              <a:srgbClr val="D4FC00"/>
            </a:solidFill>
            <a:prstDash val="solid"/>
          </a:ln>
        </p:spPr>
      </p:sp>
      <p:sp>
        <p:nvSpPr>
          <p:cNvPr id="34" name="text"/>
          <p:cNvSpPr txBox="1"/>
          <p:nvPr/>
        </p:nvSpPr>
        <p:spPr>
          <a:xfrm>
            <a:off x="5641848" y="4151376"/>
            <a:ext cx="292608" cy="566928"/>
          </a:xfrm>
          <a:prstGeom prst="rect">
            <a:avLst/>
          </a:prstGeom>
          <a:noFill/>
          <a:ln/>
        </p:spPr>
        <p:txBody>
          <a:bodyPr wrap="square" lIns="0" tIns="0" rIns="0" bIns="0" rtlCol="0" anchor="ctr"/>
          <a:lstStyle/>
          <a:p>
            <a:pPr algn="l" indent="0" marL="0">
              <a:lnSpc>
                <a:spcPct val="110000"/>
              </a:lnSpc>
              <a:buNone/>
            </a:pPr>
            <a:r>
              <a:rPr lang="en-US" sz="1300" dirty="0">
                <a:solidFill>
                  <a:srgbClr val="1A1A1C"/>
                </a:solidFill>
                <a:latin typeface="Outfit Medium" pitchFamily="34" charset="0"/>
                <a:ea typeface="Outfit Medium" pitchFamily="34" charset="-122"/>
                <a:cs typeface="Outfit Medium" pitchFamily="34" charset="-120"/>
              </a:rPr>
              <a:t>3</a:t>
            </a:r>
            <a:endParaRPr lang="en-US" sz="1300" dirty="0"/>
          </a:p>
        </p:txBody>
      </p:sp>
      <p:sp>
        <p:nvSpPr>
          <p:cNvPr id="35" name="text"/>
          <p:cNvSpPr txBox="1"/>
          <p:nvPr/>
        </p:nvSpPr>
        <p:spPr>
          <a:xfrm>
            <a:off x="5934456" y="4151376"/>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Structure</a:t>
            </a:r>
            <a:endParaRPr lang="en-US" sz="1200" dirty="0"/>
          </a:p>
        </p:txBody>
      </p:sp>
      <p:sp>
        <p:nvSpPr>
          <p:cNvPr id="36" name="card"/>
          <p:cNvSpPr/>
          <p:nvPr/>
        </p:nvSpPr>
        <p:spPr>
          <a:xfrm>
            <a:off x="5051874" y="5199444"/>
            <a:ext cx="1463040" cy="566928"/>
          </a:xfrm>
          <a:prstGeom prst="roundRect">
            <a:avLst>
              <a:gd name="adj" fmla="val 19355"/>
            </a:avLst>
          </a:prstGeom>
          <a:solidFill>
            <a:srgbClr val="E8E8E8"/>
          </a:solidFill>
          <a:ln w="6350">
            <a:solidFill>
              <a:srgbClr val="E8E8E8"/>
            </a:solidFill>
            <a:prstDash val="solid"/>
          </a:ln>
        </p:spPr>
      </p:sp>
      <p:sp>
        <p:nvSpPr>
          <p:cNvPr id="37" name="text"/>
          <p:cNvSpPr txBox="1"/>
          <p:nvPr/>
        </p:nvSpPr>
        <p:spPr>
          <a:xfrm>
            <a:off x="5161602" y="5199444"/>
            <a:ext cx="292608" cy="566928"/>
          </a:xfrm>
          <a:prstGeom prst="rect">
            <a:avLst/>
          </a:prstGeom>
          <a:noFill/>
          <a:ln/>
        </p:spPr>
        <p:txBody>
          <a:bodyPr wrap="square" lIns="0" tIns="0" rIns="0" bIns="0" rtlCol="0" anchor="ctr"/>
          <a:lstStyle/>
          <a:p>
            <a:pPr algn="l" indent="0" marL="0">
              <a:lnSpc>
                <a:spcPct val="110000"/>
              </a:lnSpc>
              <a:buNone/>
            </a:pPr>
            <a:r>
              <a:rPr lang="en-US" sz="1300" dirty="0">
                <a:solidFill>
                  <a:srgbClr val="1A1A1C"/>
                </a:solidFill>
                <a:latin typeface="Outfit Medium" pitchFamily="34" charset="0"/>
                <a:ea typeface="Outfit Medium" pitchFamily="34" charset="-122"/>
                <a:cs typeface="Outfit Medium" pitchFamily="34" charset="-120"/>
              </a:rPr>
              <a:t>4</a:t>
            </a:r>
            <a:endParaRPr lang="en-US" sz="1300" dirty="0"/>
          </a:p>
        </p:txBody>
      </p:sp>
      <p:sp>
        <p:nvSpPr>
          <p:cNvPr id="38" name="text"/>
          <p:cNvSpPr txBox="1"/>
          <p:nvPr/>
        </p:nvSpPr>
        <p:spPr>
          <a:xfrm>
            <a:off x="5454210" y="5199444"/>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Resources</a:t>
            </a:r>
            <a:endParaRPr lang="en-US" sz="1200" dirty="0"/>
          </a:p>
        </p:txBody>
      </p:sp>
      <p:sp>
        <p:nvSpPr>
          <p:cNvPr id="39" name="card"/>
          <p:cNvSpPr/>
          <p:nvPr/>
        </p:nvSpPr>
        <p:spPr>
          <a:xfrm>
            <a:off x="3794574" y="5847186"/>
            <a:ext cx="1463040" cy="566928"/>
          </a:xfrm>
          <a:prstGeom prst="roundRect">
            <a:avLst>
              <a:gd name="adj" fmla="val 19355"/>
            </a:avLst>
          </a:prstGeom>
          <a:solidFill>
            <a:srgbClr val="E8E8E8"/>
          </a:solidFill>
          <a:ln w="6350">
            <a:solidFill>
              <a:srgbClr val="E8E8E8"/>
            </a:solidFill>
            <a:prstDash val="solid"/>
          </a:ln>
        </p:spPr>
      </p:sp>
      <p:sp>
        <p:nvSpPr>
          <p:cNvPr id="40" name="text"/>
          <p:cNvSpPr txBox="1"/>
          <p:nvPr/>
        </p:nvSpPr>
        <p:spPr>
          <a:xfrm>
            <a:off x="3904302" y="5847186"/>
            <a:ext cx="292608" cy="566928"/>
          </a:xfrm>
          <a:prstGeom prst="rect">
            <a:avLst/>
          </a:prstGeom>
          <a:noFill/>
          <a:ln/>
        </p:spPr>
        <p:txBody>
          <a:bodyPr wrap="square" lIns="0" tIns="0" rIns="0" bIns="0" rtlCol="0" anchor="ctr"/>
          <a:lstStyle/>
          <a:p>
            <a:pPr algn="l" indent="0" marL="0">
              <a:lnSpc>
                <a:spcPct val="110000"/>
              </a:lnSpc>
              <a:buNone/>
            </a:pPr>
            <a:r>
              <a:rPr lang="en-US" sz="1300" dirty="0">
                <a:solidFill>
                  <a:srgbClr val="1A1A1C"/>
                </a:solidFill>
                <a:latin typeface="Outfit Medium" pitchFamily="34" charset="0"/>
                <a:ea typeface="Outfit Medium" pitchFamily="34" charset="-122"/>
                <a:cs typeface="Outfit Medium" pitchFamily="34" charset="-120"/>
              </a:rPr>
              <a:t>5</a:t>
            </a:r>
            <a:endParaRPr lang="en-US" sz="1300" dirty="0"/>
          </a:p>
        </p:txBody>
      </p:sp>
      <p:sp>
        <p:nvSpPr>
          <p:cNvPr id="41" name="text"/>
          <p:cNvSpPr txBox="1"/>
          <p:nvPr/>
        </p:nvSpPr>
        <p:spPr>
          <a:xfrm>
            <a:off x="4196910" y="5847186"/>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Policies</a:t>
            </a:r>
            <a:endParaRPr lang="en-US" sz="1200" dirty="0"/>
          </a:p>
        </p:txBody>
      </p:sp>
      <p:sp>
        <p:nvSpPr>
          <p:cNvPr id="42" name="card"/>
          <p:cNvSpPr/>
          <p:nvPr/>
        </p:nvSpPr>
        <p:spPr>
          <a:xfrm>
            <a:off x="2240466" y="5847186"/>
            <a:ext cx="1463040" cy="566928"/>
          </a:xfrm>
          <a:prstGeom prst="roundRect">
            <a:avLst>
              <a:gd name="adj" fmla="val 19355"/>
            </a:avLst>
          </a:prstGeom>
          <a:solidFill>
            <a:srgbClr val="E8E8E8"/>
          </a:solidFill>
          <a:ln w="6350">
            <a:solidFill>
              <a:srgbClr val="E8E8E8"/>
            </a:solidFill>
            <a:prstDash val="solid"/>
          </a:ln>
        </p:spPr>
      </p:sp>
      <p:sp>
        <p:nvSpPr>
          <p:cNvPr id="43" name="text"/>
          <p:cNvSpPr txBox="1"/>
          <p:nvPr/>
        </p:nvSpPr>
        <p:spPr>
          <a:xfrm>
            <a:off x="2350194" y="5847186"/>
            <a:ext cx="292608" cy="566928"/>
          </a:xfrm>
          <a:prstGeom prst="rect">
            <a:avLst/>
          </a:prstGeom>
          <a:noFill/>
          <a:ln/>
        </p:spPr>
        <p:txBody>
          <a:bodyPr wrap="square" lIns="0" tIns="0" rIns="0" bIns="0" rtlCol="0" anchor="ctr"/>
          <a:lstStyle/>
          <a:p>
            <a:pPr algn="l" indent="0" marL="0">
              <a:lnSpc>
                <a:spcPct val="110000"/>
              </a:lnSpc>
              <a:buNone/>
            </a:pPr>
            <a:r>
              <a:rPr lang="en-US" sz="1300" dirty="0">
                <a:solidFill>
                  <a:srgbClr val="1A1A1C"/>
                </a:solidFill>
                <a:latin typeface="Outfit Medium" pitchFamily="34" charset="0"/>
                <a:ea typeface="Outfit Medium" pitchFamily="34" charset="-122"/>
                <a:cs typeface="Outfit Medium" pitchFamily="34" charset="-120"/>
              </a:rPr>
              <a:t>6</a:t>
            </a:r>
            <a:endParaRPr lang="en-US" sz="1300" dirty="0"/>
          </a:p>
        </p:txBody>
      </p:sp>
      <p:sp>
        <p:nvSpPr>
          <p:cNvPr id="44" name="text"/>
          <p:cNvSpPr txBox="1"/>
          <p:nvPr/>
        </p:nvSpPr>
        <p:spPr>
          <a:xfrm>
            <a:off x="2642802" y="5847186"/>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Process improvement</a:t>
            </a:r>
            <a:endParaRPr lang="en-US" sz="1200" dirty="0"/>
          </a:p>
        </p:txBody>
      </p:sp>
      <p:sp>
        <p:nvSpPr>
          <p:cNvPr id="45" name="card"/>
          <p:cNvSpPr/>
          <p:nvPr/>
        </p:nvSpPr>
        <p:spPr>
          <a:xfrm>
            <a:off x="983166" y="5199444"/>
            <a:ext cx="1463040" cy="566928"/>
          </a:xfrm>
          <a:prstGeom prst="roundRect">
            <a:avLst>
              <a:gd name="adj" fmla="val 19355"/>
            </a:avLst>
          </a:prstGeom>
          <a:solidFill>
            <a:srgbClr val="E8E8E8"/>
          </a:solidFill>
          <a:ln w="6350">
            <a:solidFill>
              <a:srgbClr val="E8E8E8"/>
            </a:solidFill>
            <a:prstDash val="solid"/>
          </a:ln>
        </p:spPr>
      </p:sp>
      <p:sp>
        <p:nvSpPr>
          <p:cNvPr id="46" name="text"/>
          <p:cNvSpPr txBox="1"/>
          <p:nvPr/>
        </p:nvSpPr>
        <p:spPr>
          <a:xfrm>
            <a:off x="1092894" y="5199444"/>
            <a:ext cx="292608" cy="566928"/>
          </a:xfrm>
          <a:prstGeom prst="rect">
            <a:avLst/>
          </a:prstGeom>
          <a:noFill/>
          <a:ln/>
        </p:spPr>
        <p:txBody>
          <a:bodyPr wrap="square" lIns="0" tIns="0" rIns="0" bIns="0" rtlCol="0" anchor="ctr"/>
          <a:lstStyle/>
          <a:p>
            <a:pPr algn="l" indent="0" marL="0">
              <a:lnSpc>
                <a:spcPct val="110000"/>
              </a:lnSpc>
              <a:buNone/>
            </a:pPr>
            <a:r>
              <a:rPr lang="en-US" sz="1300" dirty="0">
                <a:solidFill>
                  <a:srgbClr val="1A1A1C"/>
                </a:solidFill>
                <a:latin typeface="Outfit Medium" pitchFamily="34" charset="0"/>
                <a:ea typeface="Outfit Medium" pitchFamily="34" charset="-122"/>
                <a:cs typeface="Outfit Medium" pitchFamily="34" charset="-120"/>
              </a:rPr>
              <a:t>7</a:t>
            </a:r>
            <a:endParaRPr lang="en-US" sz="1300" dirty="0"/>
          </a:p>
        </p:txBody>
      </p:sp>
      <p:sp>
        <p:nvSpPr>
          <p:cNvPr id="47" name="text"/>
          <p:cNvSpPr txBox="1"/>
          <p:nvPr/>
        </p:nvSpPr>
        <p:spPr>
          <a:xfrm>
            <a:off x="1385502" y="5199444"/>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Information systems</a:t>
            </a:r>
            <a:endParaRPr lang="en-US" sz="1200" dirty="0"/>
          </a:p>
        </p:txBody>
      </p:sp>
      <p:sp>
        <p:nvSpPr>
          <p:cNvPr id="48" name="card"/>
          <p:cNvSpPr/>
          <p:nvPr/>
        </p:nvSpPr>
        <p:spPr>
          <a:xfrm>
            <a:off x="502920" y="4151376"/>
            <a:ext cx="1463040" cy="566928"/>
          </a:xfrm>
          <a:prstGeom prst="roundRect">
            <a:avLst>
              <a:gd name="adj" fmla="val 19355"/>
            </a:avLst>
          </a:prstGeom>
          <a:solidFill>
            <a:srgbClr val="E8E8E8"/>
          </a:solidFill>
          <a:ln w="6350">
            <a:solidFill>
              <a:srgbClr val="E8E8E8"/>
            </a:solidFill>
            <a:prstDash val="solid"/>
          </a:ln>
        </p:spPr>
      </p:sp>
      <p:sp>
        <p:nvSpPr>
          <p:cNvPr id="49" name="text"/>
          <p:cNvSpPr txBox="1"/>
          <p:nvPr/>
        </p:nvSpPr>
        <p:spPr>
          <a:xfrm>
            <a:off x="612648" y="4151376"/>
            <a:ext cx="292608" cy="566928"/>
          </a:xfrm>
          <a:prstGeom prst="rect">
            <a:avLst/>
          </a:prstGeom>
          <a:noFill/>
          <a:ln/>
        </p:spPr>
        <p:txBody>
          <a:bodyPr wrap="square" lIns="0" tIns="0" rIns="0" bIns="0" rtlCol="0" anchor="ctr"/>
          <a:lstStyle/>
          <a:p>
            <a:pPr algn="l" indent="0" marL="0">
              <a:lnSpc>
                <a:spcPct val="110000"/>
              </a:lnSpc>
              <a:buNone/>
            </a:pPr>
            <a:r>
              <a:rPr lang="en-US" sz="1300" dirty="0">
                <a:solidFill>
                  <a:srgbClr val="1A1A1C"/>
                </a:solidFill>
                <a:latin typeface="Outfit Medium" pitchFamily="34" charset="0"/>
                <a:ea typeface="Outfit Medium" pitchFamily="34" charset="-122"/>
                <a:cs typeface="Outfit Medium" pitchFamily="34" charset="-120"/>
              </a:rPr>
              <a:t>8</a:t>
            </a:r>
            <a:endParaRPr lang="en-US" sz="1300" dirty="0"/>
          </a:p>
        </p:txBody>
      </p:sp>
      <p:sp>
        <p:nvSpPr>
          <p:cNvPr id="50" name="text"/>
          <p:cNvSpPr txBox="1"/>
          <p:nvPr/>
        </p:nvSpPr>
        <p:spPr>
          <a:xfrm>
            <a:off x="905256" y="4151376"/>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Rewards</a:t>
            </a:r>
            <a:endParaRPr lang="en-US" sz="1200" dirty="0"/>
          </a:p>
        </p:txBody>
      </p:sp>
      <p:sp>
        <p:nvSpPr>
          <p:cNvPr id="51" name="card"/>
          <p:cNvSpPr/>
          <p:nvPr/>
        </p:nvSpPr>
        <p:spPr>
          <a:xfrm>
            <a:off x="983166" y="3103308"/>
            <a:ext cx="1463040" cy="566928"/>
          </a:xfrm>
          <a:prstGeom prst="roundRect">
            <a:avLst>
              <a:gd name="adj" fmla="val 19355"/>
            </a:avLst>
          </a:prstGeom>
          <a:solidFill>
            <a:srgbClr val="141417"/>
          </a:solidFill>
          <a:ln w="6350">
            <a:solidFill>
              <a:srgbClr val="141417"/>
            </a:solidFill>
            <a:prstDash val="solid"/>
          </a:ln>
        </p:spPr>
      </p:sp>
      <p:sp>
        <p:nvSpPr>
          <p:cNvPr id="52" name="text"/>
          <p:cNvSpPr txBox="1"/>
          <p:nvPr/>
        </p:nvSpPr>
        <p:spPr>
          <a:xfrm>
            <a:off x="1092894" y="3103308"/>
            <a:ext cx="292608" cy="566928"/>
          </a:xfrm>
          <a:prstGeom prst="rect">
            <a:avLst/>
          </a:prstGeom>
          <a:noFill/>
          <a:ln/>
        </p:spPr>
        <p:txBody>
          <a:bodyPr wrap="square" lIns="0" tIns="0" rIns="0" bIns="0" rtlCol="0" anchor="ctr"/>
          <a:lstStyle/>
          <a:p>
            <a:pPr algn="l" indent="0" marL="0">
              <a:lnSpc>
                <a:spcPct val="110000"/>
              </a:lnSpc>
              <a:buNone/>
            </a:pPr>
            <a:r>
              <a:rPr lang="en-US" sz="1300" dirty="0">
                <a:solidFill>
                  <a:srgbClr val="D4FC00"/>
                </a:solidFill>
                <a:latin typeface="Outfit Medium" pitchFamily="34" charset="0"/>
                <a:ea typeface="Outfit Medium" pitchFamily="34" charset="-122"/>
                <a:cs typeface="Outfit Medium" pitchFamily="34" charset="-120"/>
              </a:rPr>
              <a:t>9</a:t>
            </a:r>
            <a:endParaRPr lang="en-US" sz="1300" dirty="0"/>
          </a:p>
        </p:txBody>
      </p:sp>
      <p:sp>
        <p:nvSpPr>
          <p:cNvPr id="53" name="text"/>
          <p:cNvSpPr txBox="1"/>
          <p:nvPr/>
        </p:nvSpPr>
        <p:spPr>
          <a:xfrm>
            <a:off x="1385502" y="3103308"/>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FFFFFF"/>
                </a:solidFill>
                <a:latin typeface="Outfit" pitchFamily="34" charset="0"/>
                <a:ea typeface="Outfit" pitchFamily="34" charset="-122"/>
                <a:cs typeface="Outfit" pitchFamily="34" charset="-120"/>
              </a:rPr>
              <a:t>Culture</a:t>
            </a:r>
            <a:endParaRPr lang="en-US" sz="1200" dirty="0"/>
          </a:p>
        </p:txBody>
      </p:sp>
      <p:sp>
        <p:nvSpPr>
          <p:cNvPr id="54" name="card"/>
          <p:cNvSpPr/>
          <p:nvPr/>
        </p:nvSpPr>
        <p:spPr>
          <a:xfrm>
            <a:off x="2240466" y="2455566"/>
            <a:ext cx="1463040" cy="566928"/>
          </a:xfrm>
          <a:prstGeom prst="roundRect">
            <a:avLst>
              <a:gd name="adj" fmla="val 19355"/>
            </a:avLst>
          </a:prstGeom>
          <a:solidFill>
            <a:srgbClr val="141417"/>
          </a:solidFill>
          <a:ln w="6350">
            <a:solidFill>
              <a:srgbClr val="141417"/>
            </a:solidFill>
            <a:prstDash val="solid"/>
          </a:ln>
        </p:spPr>
      </p:sp>
      <p:sp>
        <p:nvSpPr>
          <p:cNvPr id="55" name="text"/>
          <p:cNvSpPr txBox="1"/>
          <p:nvPr/>
        </p:nvSpPr>
        <p:spPr>
          <a:xfrm>
            <a:off x="2350194" y="2455566"/>
            <a:ext cx="292608" cy="566928"/>
          </a:xfrm>
          <a:prstGeom prst="rect">
            <a:avLst/>
          </a:prstGeom>
          <a:noFill/>
          <a:ln/>
        </p:spPr>
        <p:txBody>
          <a:bodyPr wrap="square" lIns="0" tIns="0" rIns="0" bIns="0" rtlCol="0" anchor="ctr"/>
          <a:lstStyle/>
          <a:p>
            <a:pPr algn="l" indent="0" marL="0">
              <a:lnSpc>
                <a:spcPct val="110000"/>
              </a:lnSpc>
              <a:buNone/>
            </a:pPr>
            <a:r>
              <a:rPr lang="en-US" sz="1300" dirty="0">
                <a:solidFill>
                  <a:srgbClr val="D4FC00"/>
                </a:solidFill>
                <a:latin typeface="Outfit Medium" pitchFamily="34" charset="0"/>
                <a:ea typeface="Outfit Medium" pitchFamily="34" charset="-122"/>
                <a:cs typeface="Outfit Medium" pitchFamily="34" charset="-120"/>
              </a:rPr>
              <a:t>10</a:t>
            </a:r>
            <a:endParaRPr lang="en-US" sz="1300" dirty="0"/>
          </a:p>
        </p:txBody>
      </p:sp>
      <p:sp>
        <p:nvSpPr>
          <p:cNvPr id="56" name="text"/>
          <p:cNvSpPr txBox="1"/>
          <p:nvPr/>
        </p:nvSpPr>
        <p:spPr>
          <a:xfrm>
            <a:off x="2642802" y="2455566"/>
            <a:ext cx="1005840" cy="566928"/>
          </a:xfrm>
          <a:prstGeom prst="rect">
            <a:avLst/>
          </a:prstGeom>
          <a:noFill/>
          <a:ln/>
        </p:spPr>
        <p:txBody>
          <a:bodyPr wrap="square" lIns="0" tIns="0" rIns="0" bIns="0" rtlCol="0" anchor="ctr"/>
          <a:lstStyle/>
          <a:p>
            <a:pPr algn="l" indent="0" marL="0">
              <a:lnSpc>
                <a:spcPct val="100000"/>
              </a:lnSpc>
              <a:buNone/>
            </a:pPr>
            <a:r>
              <a:rPr lang="en-US" sz="1200" dirty="0">
                <a:solidFill>
                  <a:srgbClr val="FFFFFF"/>
                </a:solidFill>
                <a:latin typeface="Outfit" pitchFamily="34" charset="0"/>
                <a:ea typeface="Outfit" pitchFamily="34" charset="-122"/>
                <a:cs typeface="Outfit" pitchFamily="34" charset="-120"/>
              </a:rPr>
              <a:t>Leadership</a:t>
            </a:r>
            <a:endParaRPr lang="en-US" sz="1200" dirty="0"/>
          </a:p>
        </p:txBody>
      </p:sp>
      <p:pic>
        <p:nvPicPr>
          <p:cNvPr id="57" name="Tangan menata kartu kertas" descr="preencoded.png">    </p:cNvPr>
          <p:cNvPicPr>
            <a:picLocks noChangeAspect="1"/>
          </p:cNvPicPr>
          <p:nvPr/>
        </p:nvPicPr>
        <p:blipFill>
          <a:blip r:embed="rId1"/>
          <a:stretch>
            <a:fillRect/>
          </a:stretch>
        </p:blipFill>
        <p:spPr>
          <a:xfrm>
            <a:off x="7178040" y="914400"/>
            <a:ext cx="2331720" cy="6217920"/>
          </a:xfrm>
          <a:prstGeom prst="rect">
            <a:avLst/>
          </a:prstGeom>
        </p:spPr>
      </p:pic>
      <p:sp>
        <p:nvSpPr>
          <p:cNvPr id="58" name="card"/>
          <p:cNvSpPr/>
          <p:nvPr/>
        </p:nvSpPr>
        <p:spPr>
          <a:xfrm>
            <a:off x="9692640" y="1051560"/>
            <a:ext cx="731520" cy="731520"/>
          </a:xfrm>
          <a:prstGeom prst="roundRect">
            <a:avLst>
              <a:gd name="adj" fmla="val 20000"/>
            </a:avLst>
          </a:prstGeom>
          <a:solidFill>
            <a:srgbClr val="141417"/>
          </a:solidFill>
          <a:ln w="6350">
            <a:solidFill>
              <a:srgbClr val="141417"/>
            </a:solidFill>
            <a:prstDash val="solid"/>
          </a:ln>
        </p:spPr>
      </p:sp>
      <p:pic>
        <p:nvPicPr>
          <p:cNvPr id="59" name="star" descr="preencoded.png">    </p:cNvPr>
          <p:cNvPicPr>
            <a:picLocks noChangeAspect="1"/>
          </p:cNvPicPr>
          <p:nvPr/>
        </p:nvPicPr>
        <p:blipFill>
          <a:blip r:embed="rId2"/>
          <a:stretch>
            <a:fillRect/>
          </a:stretch>
        </p:blipFill>
        <p:spPr>
          <a:xfrm>
            <a:off x="9875520" y="1234440"/>
            <a:ext cx="365760" cy="365760"/>
          </a:xfrm>
          <a:prstGeom prst="rect">
            <a:avLst/>
          </a:prstGeom>
        </p:spPr>
      </p:pic>
      <p:sp>
        <p:nvSpPr>
          <p:cNvPr id="60" name="pill"/>
          <p:cNvSpPr/>
          <p:nvPr/>
        </p:nvSpPr>
        <p:spPr>
          <a:xfrm>
            <a:off x="9418320" y="3611880"/>
            <a:ext cx="2286000" cy="420624"/>
          </a:xfrm>
          <a:prstGeom prst="roundRect">
            <a:avLst>
              <a:gd name="adj" fmla="val 108696"/>
            </a:avLst>
          </a:prstGeom>
          <a:solidFill>
            <a:srgbClr val="141417"/>
          </a:solidFill>
          <a:ln w="9525">
            <a:solidFill>
              <a:srgbClr val="141417"/>
            </a:solidFill>
            <a:prstDash val="solid"/>
          </a:ln>
        </p:spPr>
      </p:sp>
      <p:sp>
        <p:nvSpPr>
          <p:cNvPr id="61" name="text"/>
          <p:cNvSpPr txBox="1"/>
          <p:nvPr/>
        </p:nvSpPr>
        <p:spPr>
          <a:xfrm>
            <a:off x="9528048" y="3611880"/>
            <a:ext cx="2066544" cy="420624"/>
          </a:xfrm>
          <a:prstGeom prst="rect">
            <a:avLst/>
          </a:prstGeom>
          <a:noFill/>
          <a:ln/>
        </p:spPr>
        <p:txBody>
          <a:bodyPr wrap="square" lIns="0" tIns="0" rIns="0" bIns="0" rtlCol="0" anchor="ctr"/>
          <a:lstStyle/>
          <a:p>
            <a:pPr algn="ctr" indent="0" marL="0">
              <a:lnSpc>
                <a:spcPct val="110000"/>
              </a:lnSpc>
              <a:buNone/>
            </a:pPr>
            <a:r>
              <a:rPr lang="en-US" sz="1200" spc="50" kern="0" dirty="0">
                <a:solidFill>
                  <a:srgbClr val="D4FC00"/>
                </a:solidFill>
                <a:latin typeface="Outfit" pitchFamily="34" charset="0"/>
                <a:ea typeface="Outfit" pitchFamily="34" charset="-122"/>
                <a:cs typeface="Outfit" pitchFamily="34" charset="-120"/>
              </a:rPr>
              <a:t>BAB 10 · TUGAS 1 SAMPAI 3</a:t>
            </a:r>
            <a:endParaRPr lang="en-US" sz="1200" dirty="0"/>
          </a:p>
        </p:txBody>
      </p:sp>
      <p:sp>
        <p:nvSpPr>
          <p:cNvPr id="62" name="pill"/>
          <p:cNvSpPr/>
          <p:nvPr/>
        </p:nvSpPr>
        <p:spPr>
          <a:xfrm>
            <a:off x="9418320" y="4142232"/>
            <a:ext cx="2286000" cy="420624"/>
          </a:xfrm>
          <a:prstGeom prst="roundRect">
            <a:avLst>
              <a:gd name="adj" fmla="val 108696"/>
            </a:avLst>
          </a:prstGeom>
          <a:solidFill>
            <a:srgbClr val="D4FC00"/>
          </a:solidFill>
          <a:ln w="9525">
            <a:solidFill>
              <a:srgbClr val="141417"/>
            </a:solidFill>
            <a:prstDash val="solid"/>
          </a:ln>
        </p:spPr>
      </p:sp>
      <p:sp>
        <p:nvSpPr>
          <p:cNvPr id="63" name="text"/>
          <p:cNvSpPr txBox="1"/>
          <p:nvPr/>
        </p:nvSpPr>
        <p:spPr>
          <a:xfrm>
            <a:off x="9528048" y="4142232"/>
            <a:ext cx="2066544" cy="420624"/>
          </a:xfrm>
          <a:prstGeom prst="rect">
            <a:avLst/>
          </a:prstGeom>
          <a:noFill/>
          <a:ln/>
        </p:spPr>
        <p:txBody>
          <a:bodyPr wrap="square" lIns="0" tIns="0" rIns="0" bIns="0" rtlCol="0" anchor="ctr"/>
          <a:lstStyle/>
          <a:p>
            <a:pPr algn="ctr" indent="0" marL="0">
              <a:lnSpc>
                <a:spcPct val="110000"/>
              </a:lnSpc>
              <a:buNone/>
            </a:pPr>
            <a:r>
              <a:rPr lang="en-US" sz="1200" spc="50" kern="0" dirty="0">
                <a:solidFill>
                  <a:srgbClr val="1A1A1C"/>
                </a:solidFill>
                <a:latin typeface="Outfit" pitchFamily="34" charset="0"/>
                <a:ea typeface="Outfit" pitchFamily="34" charset="-122"/>
                <a:cs typeface="Outfit" pitchFamily="34" charset="-120"/>
              </a:rPr>
              <a:t>BAB 11 · TUGAS 4 SAMPAI 8</a:t>
            </a:r>
            <a:endParaRPr lang="en-US" sz="1200" dirty="0"/>
          </a:p>
        </p:txBody>
      </p:sp>
      <p:sp>
        <p:nvSpPr>
          <p:cNvPr id="64" name="pill"/>
          <p:cNvSpPr/>
          <p:nvPr/>
        </p:nvSpPr>
        <p:spPr>
          <a:xfrm>
            <a:off x="9418320" y="4672584"/>
            <a:ext cx="2286000" cy="420624"/>
          </a:xfrm>
          <a:prstGeom prst="roundRect">
            <a:avLst>
              <a:gd name="adj" fmla="val 108696"/>
            </a:avLst>
          </a:prstGeom>
          <a:solidFill>
            <a:srgbClr val="D4FC00"/>
          </a:solidFill>
          <a:ln w="9525">
            <a:solidFill>
              <a:srgbClr val="141417"/>
            </a:solidFill>
            <a:prstDash val="solid"/>
          </a:ln>
        </p:spPr>
      </p:sp>
      <p:sp>
        <p:nvSpPr>
          <p:cNvPr id="65" name="text"/>
          <p:cNvSpPr txBox="1"/>
          <p:nvPr/>
        </p:nvSpPr>
        <p:spPr>
          <a:xfrm>
            <a:off x="9528048" y="4672584"/>
            <a:ext cx="2066544" cy="420624"/>
          </a:xfrm>
          <a:prstGeom prst="rect">
            <a:avLst/>
          </a:prstGeom>
          <a:noFill/>
          <a:ln/>
        </p:spPr>
        <p:txBody>
          <a:bodyPr wrap="square" lIns="0" tIns="0" rIns="0" bIns="0" rtlCol="0" anchor="ctr"/>
          <a:lstStyle/>
          <a:p>
            <a:pPr algn="ctr" indent="0" marL="0">
              <a:lnSpc>
                <a:spcPct val="110000"/>
              </a:lnSpc>
              <a:buNone/>
            </a:pPr>
            <a:r>
              <a:rPr lang="en-US" sz="1200" spc="50" kern="0" dirty="0">
                <a:solidFill>
                  <a:srgbClr val="1A1A1C"/>
                </a:solidFill>
                <a:latin typeface="Outfit" pitchFamily="34" charset="0"/>
                <a:ea typeface="Outfit" pitchFamily="34" charset="-122"/>
                <a:cs typeface="Outfit" pitchFamily="34" charset="-120"/>
              </a:rPr>
              <a:t>BAB 12 · TUGAS 9 DAN 10</a:t>
            </a:r>
            <a:endParaRPr lang="en-US" sz="12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10000"/>
              </a:lnSpc>
              <a:buNone/>
            </a:pPr>
            <a:endParaRPr lang="en-US" sz="1050" dirty="0"/>
          </a:p>
        </p:txBody>
      </p:sp>
      <p:sp>
        <p:nvSpPr>
          <p:cNvPr id="7" name="text"/>
          <p:cNvSpPr txBox="1"/>
          <p:nvPr/>
        </p:nvSpPr>
        <p:spPr>
          <a:xfrm>
            <a:off x="502920" y="868680"/>
            <a:ext cx="6766560" cy="1554480"/>
          </a:xfrm>
          <a:prstGeom prst="rect">
            <a:avLst/>
          </a:prstGeom>
          <a:noFill/>
          <a:ln/>
        </p:spPr>
        <p:txBody>
          <a:bodyPr wrap="square" lIns="0" tIns="0" rIns="0" bIns="0" rtlCol="0" anchor="t"/>
          <a:lstStyle/>
          <a:p>
            <a:pPr algn="l" indent="0" marL="0">
              <a:lnSpc>
                <a:spcPct val="98000"/>
              </a:lnSpc>
              <a:buNone/>
            </a:pPr>
            <a:r>
              <a:rPr lang="en-US" sz="3400" spc="-50" kern="0" dirty="0">
                <a:solidFill>
                  <a:srgbClr val="141417"/>
                </a:solidFill>
                <a:latin typeface="Outfit Medium" pitchFamily="34" charset="0"/>
                <a:ea typeface="Outfit Medium" pitchFamily="34" charset="-122"/>
                <a:cs typeface="Outfit Medium" pitchFamily="34" charset="-120"/>
              </a:rPr>
              <a:t>TIGA AKSI KUNCI MEMBANGUN ORGANISASI YANG MAMPU</a:t>
            </a:r>
            <a:endParaRPr lang="en-US" sz="3400" dirty="0"/>
          </a:p>
        </p:txBody>
      </p:sp>
      <p:sp>
        <p:nvSpPr>
          <p:cNvPr id="8" name="text"/>
          <p:cNvSpPr txBox="1"/>
          <p:nvPr/>
        </p:nvSpPr>
        <p:spPr>
          <a:xfrm>
            <a:off x="7772400" y="868680"/>
            <a:ext cx="3931920" cy="155448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Figure 10.2, digambar ulang. Aksi 1 dan 2 menghasilkan capability, aksi 3 menghasilkan struktur; keduanya saling menopang.</a:t>
            </a:r>
            <a:endParaRPr lang="en-US" sz="1600" dirty="0"/>
          </a:p>
        </p:txBody>
      </p:sp>
      <p:sp>
        <p:nvSpPr>
          <p:cNvPr id="9" name="card"/>
          <p:cNvSpPr/>
          <p:nvPr/>
        </p:nvSpPr>
        <p:spPr>
          <a:xfrm>
            <a:off x="502920" y="2560320"/>
            <a:ext cx="6766560" cy="1188720"/>
          </a:xfrm>
          <a:prstGeom prst="roundRect">
            <a:avLst>
              <a:gd name="adj" fmla="val 15385"/>
            </a:avLst>
          </a:prstGeom>
          <a:solidFill>
            <a:srgbClr val="D4FC00"/>
          </a:solidFill>
          <a:ln w="6350">
            <a:solidFill>
              <a:srgbClr val="D4FC00"/>
            </a:solidFill>
            <a:prstDash val="solid"/>
          </a:ln>
        </p:spPr>
      </p:sp>
      <p:sp>
        <p:nvSpPr>
          <p:cNvPr id="10" name="text"/>
          <p:cNvSpPr txBox="1"/>
          <p:nvPr/>
        </p:nvSpPr>
        <p:spPr>
          <a:xfrm>
            <a:off x="777240" y="2788920"/>
            <a:ext cx="365760" cy="320040"/>
          </a:xfrm>
          <a:prstGeom prst="rect">
            <a:avLst/>
          </a:prstGeom>
          <a:noFill/>
          <a:ln/>
        </p:spPr>
        <p:txBody>
          <a:bodyPr wrap="square" lIns="0" tIns="0" rIns="0" bIns="0" rtlCol="0" anchor="t"/>
          <a:lstStyle/>
          <a:p>
            <a:pPr algn="l" indent="0" marL="0">
              <a:lnSpc>
                <a:spcPct val="110000"/>
              </a:lnSpc>
              <a:buNone/>
            </a:pPr>
            <a:r>
              <a:rPr lang="en-US" sz="1800" dirty="0">
                <a:solidFill>
                  <a:srgbClr val="1A1A1C"/>
                </a:solidFill>
                <a:latin typeface="Outfit Medium" pitchFamily="34" charset="0"/>
                <a:ea typeface="Outfit Medium" pitchFamily="34" charset="-122"/>
                <a:cs typeface="Outfit Medium" pitchFamily="34" charset="-120"/>
              </a:rPr>
              <a:t>1</a:t>
            </a:r>
            <a:endParaRPr lang="en-US" sz="1800" dirty="0"/>
          </a:p>
        </p:txBody>
      </p:sp>
      <p:sp>
        <p:nvSpPr>
          <p:cNvPr id="11" name="text"/>
          <p:cNvSpPr txBox="1"/>
          <p:nvPr/>
        </p:nvSpPr>
        <p:spPr>
          <a:xfrm>
            <a:off x="1188720" y="2816352"/>
            <a:ext cx="2240280" cy="777240"/>
          </a:xfrm>
          <a:prstGeom prst="rect">
            <a:avLst/>
          </a:prstGeom>
          <a:noFill/>
          <a:ln/>
        </p:spPr>
        <p:txBody>
          <a:bodyPr wrap="square" lIns="0" tIns="0" rIns="0" bIns="0" rtlCol="0" anchor="t"/>
          <a:lstStyle/>
          <a:p>
            <a:pPr algn="l" indent="0" marL="0">
              <a:lnSpc>
                <a:spcPct val="110000"/>
              </a:lnSpc>
              <a:buNone/>
            </a:pPr>
            <a:r>
              <a:rPr lang="en-US" sz="1400" spc="50" kern="0" dirty="0">
                <a:solidFill>
                  <a:srgbClr val="1A1A1C"/>
                </a:solidFill>
                <a:latin typeface="Outfit" pitchFamily="34" charset="0"/>
                <a:ea typeface="Outfit" pitchFamily="34" charset="-122"/>
                <a:cs typeface="Outfit" pitchFamily="34" charset="-120"/>
              </a:rPr>
              <a:t>STAFFING THE ORGANIZATION</a:t>
            </a:r>
            <a:endParaRPr lang="en-US" sz="1400" dirty="0"/>
          </a:p>
        </p:txBody>
      </p:sp>
      <p:sp>
        <p:nvSpPr>
          <p:cNvPr id="12" name="text"/>
          <p:cNvSpPr txBox="1"/>
          <p:nvPr/>
        </p:nvSpPr>
        <p:spPr>
          <a:xfrm>
            <a:off x="3611880" y="2779776"/>
            <a:ext cx="2971800" cy="859536"/>
          </a:xfrm>
          <a:prstGeom prst="rect">
            <a:avLst/>
          </a:prstGeom>
          <a:noFill/>
          <a:ln/>
        </p:spPr>
        <p:txBody>
          <a:bodyPr wrap="square" lIns="0" tIns="0" rIns="0" bIns="0" rtlCol="0" anchor="t"/>
          <a:lstStyle/>
          <a:p>
            <a:pPr algn="l" indent="0" marL="0">
              <a:lnSpc>
                <a:spcPct val="106000"/>
              </a:lnSpc>
              <a:buNone/>
            </a:pPr>
            <a:r>
              <a:rPr lang="en-US" sz="1700" dirty="0">
                <a:solidFill>
                  <a:srgbClr val="1A1A1C"/>
                </a:solidFill>
                <a:latin typeface="Outfit" pitchFamily="34" charset="0"/>
                <a:ea typeface="Outfit" pitchFamily="34" charset="-122"/>
                <a:cs typeface="Outfit" pitchFamily="34" charset="-120"/>
              </a:rPr>
              <a:t>Tim manajemen yang kuat; karyawan yang tepat.</a:t>
            </a:r>
            <a:endParaRPr lang="en-US" sz="1700" dirty="0"/>
          </a:p>
        </p:txBody>
      </p:sp>
      <p:sp>
        <p:nvSpPr>
          <p:cNvPr id="13" name="dot"/>
          <p:cNvSpPr/>
          <p:nvPr/>
        </p:nvSpPr>
        <p:spPr>
          <a:xfrm>
            <a:off x="6702552" y="3017520"/>
            <a:ext cx="274320" cy="274320"/>
          </a:xfrm>
          <a:prstGeom prst="ellipse">
            <a:avLst/>
          </a:prstGeom>
          <a:solidFill>
            <a:srgbClr val="141417"/>
          </a:solidFill>
          <a:ln w="6350">
            <a:solidFill>
              <a:srgbClr val="141417"/>
            </a:solidFill>
            <a:prstDash val="solid"/>
          </a:ln>
        </p:spPr>
      </p:sp>
      <p:pic>
        <p:nvPicPr>
          <p:cNvPr id="14" name="dot-icon" descr="preencoded.png">    </p:cNvPr>
          <p:cNvPicPr>
            <a:picLocks noChangeAspect="1"/>
          </p:cNvPicPr>
          <p:nvPr/>
        </p:nvPicPr>
        <p:blipFill>
          <a:blip r:embed="rId1"/>
          <a:stretch>
            <a:fillRect/>
          </a:stretch>
        </p:blipFill>
        <p:spPr>
          <a:xfrm>
            <a:off x="6762902" y="3077870"/>
            <a:ext cx="153619" cy="153619"/>
          </a:xfrm>
          <a:prstGeom prst="rect">
            <a:avLst/>
          </a:prstGeom>
        </p:spPr>
      </p:pic>
      <p:sp>
        <p:nvSpPr>
          <p:cNvPr id="15" name="card"/>
          <p:cNvSpPr/>
          <p:nvPr/>
        </p:nvSpPr>
        <p:spPr>
          <a:xfrm>
            <a:off x="502920" y="3877056"/>
            <a:ext cx="6766560" cy="1188720"/>
          </a:xfrm>
          <a:prstGeom prst="roundRect">
            <a:avLst>
              <a:gd name="adj" fmla="val 15385"/>
            </a:avLst>
          </a:prstGeom>
          <a:solidFill>
            <a:srgbClr val="E8E8E8"/>
          </a:solidFill>
          <a:ln w="6350">
            <a:solidFill>
              <a:srgbClr val="E8E8E8"/>
            </a:solidFill>
            <a:prstDash val="solid"/>
          </a:ln>
        </p:spPr>
      </p:sp>
      <p:sp>
        <p:nvSpPr>
          <p:cNvPr id="16" name="text"/>
          <p:cNvSpPr txBox="1"/>
          <p:nvPr/>
        </p:nvSpPr>
        <p:spPr>
          <a:xfrm>
            <a:off x="777240" y="4105656"/>
            <a:ext cx="365760" cy="320040"/>
          </a:xfrm>
          <a:prstGeom prst="rect">
            <a:avLst/>
          </a:prstGeom>
          <a:noFill/>
          <a:ln/>
        </p:spPr>
        <p:txBody>
          <a:bodyPr wrap="square" lIns="0" tIns="0" rIns="0" bIns="0" rtlCol="0" anchor="t"/>
          <a:lstStyle/>
          <a:p>
            <a:pPr algn="l" indent="0" marL="0">
              <a:lnSpc>
                <a:spcPct val="110000"/>
              </a:lnSpc>
              <a:buNone/>
            </a:pPr>
            <a:r>
              <a:rPr lang="en-US" sz="1800" dirty="0">
                <a:solidFill>
                  <a:srgbClr val="1A1A1C"/>
                </a:solidFill>
                <a:latin typeface="Outfit Medium" pitchFamily="34" charset="0"/>
                <a:ea typeface="Outfit Medium" pitchFamily="34" charset="-122"/>
                <a:cs typeface="Outfit Medium" pitchFamily="34" charset="-120"/>
              </a:rPr>
              <a:t>2</a:t>
            </a:r>
            <a:endParaRPr lang="en-US" sz="1800" dirty="0"/>
          </a:p>
        </p:txBody>
      </p:sp>
      <p:sp>
        <p:nvSpPr>
          <p:cNvPr id="17" name="text"/>
          <p:cNvSpPr txBox="1"/>
          <p:nvPr/>
        </p:nvSpPr>
        <p:spPr>
          <a:xfrm>
            <a:off x="1188720" y="4133088"/>
            <a:ext cx="2240280" cy="777240"/>
          </a:xfrm>
          <a:prstGeom prst="rect">
            <a:avLst/>
          </a:prstGeom>
          <a:noFill/>
          <a:ln/>
        </p:spPr>
        <p:txBody>
          <a:bodyPr wrap="square" lIns="0" tIns="0" rIns="0" bIns="0" rtlCol="0" anchor="t"/>
          <a:lstStyle/>
          <a:p>
            <a:pPr algn="l" indent="0" marL="0">
              <a:lnSpc>
                <a:spcPct val="110000"/>
              </a:lnSpc>
              <a:buNone/>
            </a:pPr>
            <a:r>
              <a:rPr lang="en-US" sz="1400" spc="50" kern="0" dirty="0">
                <a:solidFill>
                  <a:srgbClr val="1A1A1C"/>
                </a:solidFill>
                <a:latin typeface="Outfit" pitchFamily="34" charset="0"/>
                <a:ea typeface="Outfit" pitchFamily="34" charset="-122"/>
                <a:cs typeface="Outfit" pitchFamily="34" charset="-120"/>
              </a:rPr>
              <a:t>DEVELOPING CAPABILITIES</a:t>
            </a:r>
            <a:endParaRPr lang="en-US" sz="1400" dirty="0"/>
          </a:p>
        </p:txBody>
      </p:sp>
      <p:sp>
        <p:nvSpPr>
          <p:cNvPr id="18" name="text"/>
          <p:cNvSpPr txBox="1"/>
          <p:nvPr/>
        </p:nvSpPr>
        <p:spPr>
          <a:xfrm>
            <a:off x="3611880" y="4096512"/>
            <a:ext cx="2971800" cy="859536"/>
          </a:xfrm>
          <a:prstGeom prst="rect">
            <a:avLst/>
          </a:prstGeom>
          <a:noFill/>
          <a:ln/>
        </p:spPr>
        <p:txBody>
          <a:bodyPr wrap="square" lIns="0" tIns="0" rIns="0" bIns="0" rtlCol="0" anchor="t"/>
          <a:lstStyle/>
          <a:p>
            <a:pPr algn="l" indent="0" marL="0">
              <a:lnSpc>
                <a:spcPct val="106000"/>
              </a:lnSpc>
              <a:buNone/>
            </a:pPr>
            <a:r>
              <a:rPr lang="en-US" sz="1700" dirty="0">
                <a:solidFill>
                  <a:srgbClr val="1A1A1C"/>
                </a:solidFill>
                <a:latin typeface="Outfit" pitchFamily="34" charset="0"/>
                <a:ea typeface="Outfit" pitchFamily="34" charset="-122"/>
                <a:cs typeface="Outfit" pitchFamily="34" charset="-120"/>
              </a:rPr>
              <a:t>Membangun capability yang sesuai strategi dan memperbaruinya.</a:t>
            </a:r>
            <a:endParaRPr lang="en-US" sz="1700" dirty="0"/>
          </a:p>
        </p:txBody>
      </p:sp>
      <p:sp>
        <p:nvSpPr>
          <p:cNvPr id="19" name="dot"/>
          <p:cNvSpPr/>
          <p:nvPr/>
        </p:nvSpPr>
        <p:spPr>
          <a:xfrm>
            <a:off x="6702552" y="4334256"/>
            <a:ext cx="274320" cy="274320"/>
          </a:xfrm>
          <a:prstGeom prst="ellipse">
            <a:avLst/>
          </a:prstGeom>
          <a:solidFill>
            <a:srgbClr val="141417"/>
          </a:solidFill>
          <a:ln w="6350">
            <a:solidFill>
              <a:srgbClr val="141417"/>
            </a:solidFill>
            <a:prstDash val="solid"/>
          </a:ln>
        </p:spPr>
      </p:sp>
      <p:pic>
        <p:nvPicPr>
          <p:cNvPr id="20" name="dot-icon" descr="preencoded.png">    </p:cNvPr>
          <p:cNvPicPr>
            <a:picLocks noChangeAspect="1"/>
          </p:cNvPicPr>
          <p:nvPr/>
        </p:nvPicPr>
        <p:blipFill>
          <a:blip r:embed="rId2"/>
          <a:stretch>
            <a:fillRect/>
          </a:stretch>
        </p:blipFill>
        <p:spPr>
          <a:xfrm>
            <a:off x="6762902" y="4394606"/>
            <a:ext cx="153619" cy="153619"/>
          </a:xfrm>
          <a:prstGeom prst="rect">
            <a:avLst/>
          </a:prstGeom>
        </p:spPr>
      </p:pic>
      <p:sp>
        <p:nvSpPr>
          <p:cNvPr id="21" name="card"/>
          <p:cNvSpPr/>
          <p:nvPr/>
        </p:nvSpPr>
        <p:spPr>
          <a:xfrm>
            <a:off x="502920" y="5193792"/>
            <a:ext cx="6766560" cy="1188720"/>
          </a:xfrm>
          <a:prstGeom prst="roundRect">
            <a:avLst>
              <a:gd name="adj" fmla="val 15385"/>
            </a:avLst>
          </a:prstGeom>
          <a:solidFill>
            <a:srgbClr val="141417"/>
          </a:solidFill>
          <a:ln w="6350">
            <a:solidFill>
              <a:srgbClr val="141417"/>
            </a:solidFill>
            <a:prstDash val="solid"/>
          </a:ln>
        </p:spPr>
      </p:sp>
      <p:sp>
        <p:nvSpPr>
          <p:cNvPr id="22" name="text"/>
          <p:cNvSpPr txBox="1"/>
          <p:nvPr/>
        </p:nvSpPr>
        <p:spPr>
          <a:xfrm>
            <a:off x="777240" y="5422392"/>
            <a:ext cx="365760" cy="320040"/>
          </a:xfrm>
          <a:prstGeom prst="rect">
            <a:avLst/>
          </a:prstGeom>
          <a:noFill/>
          <a:ln/>
        </p:spPr>
        <p:txBody>
          <a:bodyPr wrap="square" lIns="0" tIns="0" rIns="0" bIns="0" rtlCol="0" anchor="t"/>
          <a:lstStyle/>
          <a:p>
            <a:pPr algn="l" indent="0" marL="0">
              <a:lnSpc>
                <a:spcPct val="110000"/>
              </a:lnSpc>
              <a:buNone/>
            </a:pPr>
            <a:r>
              <a:rPr lang="en-US" sz="1800" dirty="0">
                <a:solidFill>
                  <a:srgbClr val="D4FC00"/>
                </a:solidFill>
                <a:latin typeface="Outfit Medium" pitchFamily="34" charset="0"/>
                <a:ea typeface="Outfit Medium" pitchFamily="34" charset="-122"/>
                <a:cs typeface="Outfit Medium" pitchFamily="34" charset="-120"/>
              </a:rPr>
              <a:t>3</a:t>
            </a:r>
            <a:endParaRPr lang="en-US" sz="1800" dirty="0"/>
          </a:p>
        </p:txBody>
      </p:sp>
      <p:sp>
        <p:nvSpPr>
          <p:cNvPr id="23" name="text"/>
          <p:cNvSpPr txBox="1"/>
          <p:nvPr/>
        </p:nvSpPr>
        <p:spPr>
          <a:xfrm>
            <a:off x="1188720" y="5449824"/>
            <a:ext cx="2240280" cy="777240"/>
          </a:xfrm>
          <a:prstGeom prst="rect">
            <a:avLst/>
          </a:prstGeom>
          <a:noFill/>
          <a:ln/>
        </p:spPr>
        <p:txBody>
          <a:bodyPr wrap="square" lIns="0" tIns="0" rIns="0" bIns="0" rtlCol="0" anchor="t"/>
          <a:lstStyle/>
          <a:p>
            <a:pPr algn="l" indent="0" marL="0">
              <a:lnSpc>
                <a:spcPct val="110000"/>
              </a:lnSpc>
              <a:buNone/>
            </a:pPr>
            <a:r>
              <a:rPr lang="en-US" sz="1400" spc="50" kern="0" dirty="0">
                <a:solidFill>
                  <a:srgbClr val="D4FC00"/>
                </a:solidFill>
                <a:latin typeface="Outfit" pitchFamily="34" charset="0"/>
                <a:ea typeface="Outfit" pitchFamily="34" charset="-122"/>
                <a:cs typeface="Outfit" pitchFamily="34" charset="-120"/>
              </a:rPr>
              <a:t>STRUCTURING THE ORGANIZATION</a:t>
            </a:r>
            <a:endParaRPr lang="en-US" sz="1400" dirty="0"/>
          </a:p>
        </p:txBody>
      </p:sp>
      <p:sp>
        <p:nvSpPr>
          <p:cNvPr id="24" name="text"/>
          <p:cNvSpPr txBox="1"/>
          <p:nvPr/>
        </p:nvSpPr>
        <p:spPr>
          <a:xfrm>
            <a:off x="3611880" y="5413248"/>
            <a:ext cx="2971800" cy="859536"/>
          </a:xfrm>
          <a:prstGeom prst="rect">
            <a:avLst/>
          </a:prstGeom>
          <a:noFill/>
          <a:ln/>
        </p:spPr>
        <p:txBody>
          <a:bodyPr wrap="square" lIns="0" tIns="0" rIns="0" bIns="0" rtlCol="0" anchor="t"/>
          <a:lstStyle/>
          <a:p>
            <a:pPr algn="l" indent="0" marL="0">
              <a:lnSpc>
                <a:spcPct val="106000"/>
              </a:lnSpc>
              <a:buNone/>
            </a:pPr>
            <a:r>
              <a:rPr lang="en-US" sz="1700" dirty="0">
                <a:solidFill>
                  <a:srgbClr val="E4E4E7"/>
                </a:solidFill>
                <a:latin typeface="Outfit" pitchFamily="34" charset="0"/>
                <a:ea typeface="Outfit" pitchFamily="34" charset="-122"/>
                <a:cs typeface="Outfit" pitchFamily="34" charset="-120"/>
              </a:rPr>
              <a:t>Pengaturan organisasi, garis wewenang, derajat delegasi.</a:t>
            </a:r>
            <a:endParaRPr lang="en-US" sz="1700" dirty="0"/>
          </a:p>
        </p:txBody>
      </p:sp>
      <p:sp>
        <p:nvSpPr>
          <p:cNvPr id="25" name="dot"/>
          <p:cNvSpPr/>
          <p:nvPr/>
        </p:nvSpPr>
        <p:spPr>
          <a:xfrm>
            <a:off x="6702552" y="5650992"/>
            <a:ext cx="274320" cy="274320"/>
          </a:xfrm>
          <a:prstGeom prst="ellipse">
            <a:avLst/>
          </a:prstGeom>
          <a:solidFill>
            <a:srgbClr val="D4FC00"/>
          </a:solidFill>
          <a:ln w="6350">
            <a:solidFill>
              <a:srgbClr val="D4FC00"/>
            </a:solidFill>
            <a:prstDash val="solid"/>
          </a:ln>
        </p:spPr>
      </p:sp>
      <p:pic>
        <p:nvPicPr>
          <p:cNvPr id="26" name="dot-icon" descr="preencoded.png">    </p:cNvPr>
          <p:cNvPicPr>
            <a:picLocks noChangeAspect="1"/>
          </p:cNvPicPr>
          <p:nvPr/>
        </p:nvPicPr>
        <p:blipFill>
          <a:blip r:embed="rId3"/>
          <a:stretch>
            <a:fillRect/>
          </a:stretch>
        </p:blipFill>
        <p:spPr>
          <a:xfrm>
            <a:off x="6762902" y="5711342"/>
            <a:ext cx="153619" cy="153619"/>
          </a:xfrm>
          <a:prstGeom prst="rect">
            <a:avLst/>
          </a:prstGeom>
        </p:spPr>
      </p:pic>
      <p:sp>
        <p:nvSpPr>
          <p:cNvPr id="27" name="card"/>
          <p:cNvSpPr/>
          <p:nvPr/>
        </p:nvSpPr>
        <p:spPr>
          <a:xfrm>
            <a:off x="7726680" y="2560320"/>
            <a:ext cx="3962095" cy="2505456"/>
          </a:xfrm>
          <a:prstGeom prst="roundRect">
            <a:avLst>
              <a:gd name="adj" fmla="val 7299"/>
            </a:avLst>
          </a:prstGeom>
          <a:solidFill>
            <a:srgbClr val="D4FC00"/>
          </a:solidFill>
          <a:ln w="6350">
            <a:solidFill>
              <a:srgbClr val="D4FC00"/>
            </a:solidFill>
            <a:prstDash val="solid"/>
          </a:ln>
        </p:spPr>
      </p:sp>
      <p:sp>
        <p:nvSpPr>
          <p:cNvPr id="28" name="text"/>
          <p:cNvSpPr txBox="1"/>
          <p:nvPr/>
        </p:nvSpPr>
        <p:spPr>
          <a:xfrm>
            <a:off x="8001000" y="2834640"/>
            <a:ext cx="3413455" cy="292608"/>
          </a:xfrm>
          <a:prstGeom prst="rect">
            <a:avLst/>
          </a:prstGeom>
          <a:noFill/>
          <a:ln/>
        </p:spPr>
        <p:txBody>
          <a:bodyPr wrap="square" lIns="0" tIns="0" rIns="0" bIns="0" rtlCol="0" anchor="t"/>
          <a:lstStyle/>
          <a:p>
            <a:pPr algn="l" indent="0" marL="0">
              <a:lnSpc>
                <a:spcPct val="110000"/>
              </a:lnSpc>
              <a:buNone/>
            </a:pPr>
            <a:r>
              <a:rPr lang="en-US" sz="1400" spc="50" kern="0" dirty="0">
                <a:solidFill>
                  <a:srgbClr val="1A1A1C"/>
                </a:solidFill>
                <a:latin typeface="Outfit" pitchFamily="34" charset="0"/>
                <a:ea typeface="Outfit" pitchFamily="34" charset="-122"/>
                <a:cs typeface="Outfit" pitchFamily="34" charset="-120"/>
              </a:rPr>
              <a:t>HASIL AKSI 1 DAN 2</a:t>
            </a:r>
            <a:endParaRPr lang="en-US" sz="1400" dirty="0"/>
          </a:p>
        </p:txBody>
      </p:sp>
      <p:sp>
        <p:nvSpPr>
          <p:cNvPr id="29" name="text"/>
          <p:cNvSpPr txBox="1"/>
          <p:nvPr/>
        </p:nvSpPr>
        <p:spPr>
          <a:xfrm>
            <a:off x="8001000" y="3200400"/>
            <a:ext cx="3413455" cy="1728216"/>
          </a:xfrm>
          <a:prstGeom prst="rect">
            <a:avLst/>
          </a:prstGeom>
          <a:noFill/>
          <a:ln/>
        </p:spPr>
        <p:txBody>
          <a:bodyPr wrap="square" lIns="0" tIns="0" rIns="0" bIns="0" rtlCol="0" anchor="t"/>
          <a:lstStyle/>
          <a:p>
            <a:pPr algn="l" indent="0" marL="0">
              <a:lnSpc>
                <a:spcPct val="102000"/>
              </a:lnSpc>
              <a:buNone/>
            </a:pPr>
            <a:r>
              <a:rPr lang="en-US" sz="2000" dirty="0">
                <a:solidFill>
                  <a:srgbClr val="141417"/>
                </a:solidFill>
                <a:latin typeface="Outfit Medium" pitchFamily="34" charset="0"/>
                <a:ea typeface="Outfit Medium" pitchFamily="34" charset="-122"/>
                <a:cs typeface="Outfit Medium" pitchFamily="34" charset="-120"/>
              </a:rPr>
              <a:t>Strategy-supportive resources and organizational capabilities</a:t>
            </a:r>
            <a:endParaRPr lang="en-US" sz="2000" dirty="0"/>
          </a:p>
        </p:txBody>
      </p:sp>
      <p:sp>
        <p:nvSpPr>
          <p:cNvPr id="30" name="card"/>
          <p:cNvSpPr/>
          <p:nvPr/>
        </p:nvSpPr>
        <p:spPr>
          <a:xfrm>
            <a:off x="7726680" y="5193792"/>
            <a:ext cx="3962095" cy="1188720"/>
          </a:xfrm>
          <a:prstGeom prst="roundRect">
            <a:avLst>
              <a:gd name="adj" fmla="val 15385"/>
            </a:avLst>
          </a:prstGeom>
          <a:solidFill>
            <a:srgbClr val="141417"/>
          </a:solidFill>
          <a:ln w="6350">
            <a:solidFill>
              <a:srgbClr val="141417"/>
            </a:solidFill>
            <a:prstDash val="solid"/>
          </a:ln>
        </p:spPr>
      </p:sp>
      <p:sp>
        <p:nvSpPr>
          <p:cNvPr id="31" name="text"/>
          <p:cNvSpPr txBox="1"/>
          <p:nvPr/>
        </p:nvSpPr>
        <p:spPr>
          <a:xfrm>
            <a:off x="8001000" y="5422392"/>
            <a:ext cx="3413455" cy="292608"/>
          </a:xfrm>
          <a:prstGeom prst="rect">
            <a:avLst/>
          </a:prstGeom>
          <a:noFill/>
          <a:ln/>
        </p:spPr>
        <p:txBody>
          <a:bodyPr wrap="square" lIns="0" tIns="0" rIns="0" bIns="0" rtlCol="0" anchor="t"/>
          <a:lstStyle/>
          <a:p>
            <a:pPr algn="l" indent="0" marL="0">
              <a:lnSpc>
                <a:spcPct val="110000"/>
              </a:lnSpc>
              <a:buNone/>
            </a:pPr>
            <a:r>
              <a:rPr lang="en-US" sz="1400" spc="50" kern="0" dirty="0">
                <a:solidFill>
                  <a:srgbClr val="D4FC00"/>
                </a:solidFill>
                <a:latin typeface="Outfit" pitchFamily="34" charset="0"/>
                <a:ea typeface="Outfit" pitchFamily="34" charset="-122"/>
                <a:cs typeface="Outfit" pitchFamily="34" charset="-120"/>
              </a:rPr>
              <a:t>HASIL AKSI 3</a:t>
            </a:r>
            <a:endParaRPr lang="en-US" sz="1400" dirty="0"/>
          </a:p>
        </p:txBody>
      </p:sp>
      <p:sp>
        <p:nvSpPr>
          <p:cNvPr id="32" name="text"/>
          <p:cNvSpPr txBox="1"/>
          <p:nvPr/>
        </p:nvSpPr>
        <p:spPr>
          <a:xfrm>
            <a:off x="8001000" y="5696712"/>
            <a:ext cx="3413455" cy="640080"/>
          </a:xfrm>
          <a:prstGeom prst="rect">
            <a:avLst/>
          </a:prstGeom>
          <a:noFill/>
          <a:ln/>
        </p:spPr>
        <p:txBody>
          <a:bodyPr wrap="square" lIns="0" tIns="0" rIns="0" bIns="0" rtlCol="0" anchor="t"/>
          <a:lstStyle/>
          <a:p>
            <a:pPr algn="l" indent="0" marL="0">
              <a:lnSpc>
                <a:spcPct val="102000"/>
              </a:lnSpc>
              <a:buNone/>
            </a:pPr>
            <a:r>
              <a:rPr lang="en-US" sz="1800" dirty="0">
                <a:solidFill>
                  <a:srgbClr val="FFFFFF"/>
                </a:solidFill>
                <a:latin typeface="Outfit Medium" pitchFamily="34" charset="0"/>
                <a:ea typeface="Outfit Medium" pitchFamily="34" charset="-122"/>
                <a:cs typeface="Outfit Medium" pitchFamily="34" charset="-120"/>
              </a:rPr>
              <a:t>Strategy-supportive organizational structure</a:t>
            </a:r>
            <a:endParaRPr lang="en-US" sz="1800" dirty="0"/>
          </a:p>
        </p:txBody>
      </p:sp>
      <p:sp>
        <p:nvSpPr>
          <p:cNvPr id="33" name="saling menopang"/>
          <p:cNvSpPr/>
          <p:nvPr/>
        </p:nvSpPr>
        <p:spPr>
          <a:xfrm>
            <a:off x="11002975" y="4882896"/>
            <a:ext cx="274320" cy="493776"/>
          </a:xfrm>
          <a:prstGeom prst="upDownArrow">
            <a:avLst/>
          </a:prstGeom>
          <a:solidFill>
            <a:srgbClr val="141417"/>
          </a:solidFill>
          <a:ln w="6350">
            <a:solidFill>
              <a:srgbClr val="141417"/>
            </a:solidFill>
            <a:prstDash val="solid"/>
          </a:ln>
        </p:spPr>
      </p:sp>
      <p:sp>
        <p:nvSpPr>
          <p:cNvPr id="34"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10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10000"/>
              </a:lnSpc>
              <a:buNone/>
            </a:pPr>
            <a:endParaRPr lang="en-US" sz="1050" dirty="0"/>
          </a:p>
        </p:txBody>
      </p:sp>
      <p:sp>
        <p:nvSpPr>
          <p:cNvPr id="7" name="text"/>
          <p:cNvSpPr txBox="1"/>
          <p:nvPr/>
        </p:nvSpPr>
        <p:spPr>
          <a:xfrm>
            <a:off x="502920" y="868680"/>
            <a:ext cx="11185855" cy="731520"/>
          </a:xfrm>
          <a:prstGeom prst="rect">
            <a:avLst/>
          </a:prstGeom>
          <a:noFill/>
          <a:ln/>
        </p:spPr>
        <p:txBody>
          <a:bodyPr wrap="square" lIns="0" tIns="0" rIns="0" bIns="0" rtlCol="0" anchor="t"/>
          <a:lstStyle/>
          <a:p>
            <a:pPr algn="ctr" indent="0" marL="0">
              <a:lnSpc>
                <a:spcPct val="98000"/>
              </a:lnSpc>
              <a:buNone/>
            </a:pPr>
            <a:r>
              <a:rPr lang="en-US" sz="3600" spc="-50" kern="0" dirty="0">
                <a:solidFill>
                  <a:srgbClr val="141417"/>
                </a:solidFill>
                <a:latin typeface="Outfit Medium" pitchFamily="34" charset="0"/>
                <a:ea typeface="Outfit Medium" pitchFamily="34" charset="-122"/>
                <a:cs typeface="Outfit Medium" pitchFamily="34" charset="-120"/>
              </a:rPr>
              <a:t>MENYUSUN TIM MANAJEMEN YANG KUAT</a:t>
            </a:r>
            <a:endParaRPr lang="en-US" sz="3600" dirty="0"/>
          </a:p>
        </p:txBody>
      </p:sp>
      <p:sp>
        <p:nvSpPr>
          <p:cNvPr id="8" name="toggle"/>
          <p:cNvSpPr/>
          <p:nvPr/>
        </p:nvSpPr>
        <p:spPr>
          <a:xfrm>
            <a:off x="10911535" y="105156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11213287" y="108813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1"/>
          <a:stretch>
            <a:fillRect/>
          </a:stretch>
        </p:blipFill>
        <p:spPr>
          <a:xfrm>
            <a:off x="11254435" y="1129284"/>
            <a:ext cx="118872" cy="118872"/>
          </a:xfrm>
          <a:prstGeom prst="rect">
            <a:avLst/>
          </a:prstGeom>
        </p:spPr>
      </p:pic>
      <p:pic>
        <p:nvPicPr>
          <p:cNvPr id="11" name="Dua eksekutif berbincang di koridor" descr="preencoded.png">    </p:cNvPr>
          <p:cNvPicPr>
            <a:picLocks noChangeAspect="1"/>
          </p:cNvPicPr>
          <p:nvPr/>
        </p:nvPicPr>
        <p:blipFill>
          <a:blip r:embed="rId2"/>
          <a:stretch>
            <a:fillRect/>
          </a:stretch>
        </p:blipFill>
        <p:spPr>
          <a:xfrm>
            <a:off x="502920" y="1783080"/>
            <a:ext cx="3570122" cy="1737360"/>
          </a:xfrm>
          <a:prstGeom prst="rect">
            <a:avLst/>
          </a:prstGeom>
        </p:spPr>
      </p:pic>
      <p:sp>
        <p:nvSpPr>
          <p:cNvPr id="12" name="card"/>
          <p:cNvSpPr/>
          <p:nvPr/>
        </p:nvSpPr>
        <p:spPr>
          <a:xfrm>
            <a:off x="502920" y="3703320"/>
            <a:ext cx="3570122" cy="2606040"/>
          </a:xfrm>
          <a:prstGeom prst="roundRect">
            <a:avLst>
              <a:gd name="adj" fmla="val 7018"/>
            </a:avLst>
          </a:prstGeom>
          <a:solidFill>
            <a:srgbClr val="141417"/>
          </a:solidFill>
          <a:ln w="6350">
            <a:solidFill>
              <a:srgbClr val="141417"/>
            </a:solidFill>
            <a:prstDash val="solid"/>
          </a:ln>
        </p:spPr>
      </p:sp>
      <p:sp>
        <p:nvSpPr>
          <p:cNvPr id="13" name="text"/>
          <p:cNvSpPr txBox="1"/>
          <p:nvPr/>
        </p:nvSpPr>
        <p:spPr>
          <a:xfrm>
            <a:off x="777240" y="3977640"/>
            <a:ext cx="3021482" cy="292608"/>
          </a:xfrm>
          <a:prstGeom prst="rect">
            <a:avLst/>
          </a:prstGeom>
          <a:noFill/>
          <a:ln/>
        </p:spPr>
        <p:txBody>
          <a:bodyPr wrap="square" lIns="0" tIns="0" rIns="0" bIns="0" rtlCol="0" anchor="t"/>
          <a:lstStyle/>
          <a:p>
            <a:pPr algn="l" indent="0" marL="0">
              <a:lnSpc>
                <a:spcPct val="110000"/>
              </a:lnSpc>
              <a:buNone/>
            </a:pPr>
            <a:r>
              <a:rPr lang="en-US" sz="1400" spc="50" kern="0" dirty="0">
                <a:solidFill>
                  <a:srgbClr val="D4FC00"/>
                </a:solidFill>
                <a:latin typeface="Outfit" pitchFamily="34" charset="0"/>
                <a:ea typeface="Outfit" pitchFamily="34" charset="-122"/>
                <a:cs typeface="Outfit" pitchFamily="34" charset="-120"/>
              </a:rPr>
              <a:t>PROFIL YANG DICARI</a:t>
            </a:r>
            <a:endParaRPr lang="en-US" sz="1400" dirty="0"/>
          </a:p>
        </p:txBody>
      </p:sp>
      <p:sp>
        <p:nvSpPr>
          <p:cNvPr id="14" name="text"/>
          <p:cNvSpPr txBox="1"/>
          <p:nvPr/>
        </p:nvSpPr>
        <p:spPr>
          <a:xfrm>
            <a:off x="777240" y="4343400"/>
            <a:ext cx="3021482" cy="1874520"/>
          </a:xfrm>
          <a:prstGeom prst="rect">
            <a:avLst/>
          </a:prstGeom>
          <a:noFill/>
          <a:ln/>
        </p:spPr>
        <p:txBody>
          <a:bodyPr wrap="square" lIns="0" tIns="0" rIns="0" bIns="0" rtlCol="0" anchor="t"/>
          <a:lstStyle/>
          <a:p>
            <a:pPr algn="l" indent="0" marL="0">
              <a:lnSpc>
                <a:spcPct val="108000"/>
              </a:lnSpc>
              <a:buNone/>
            </a:pPr>
            <a:r>
              <a:rPr lang="en-US" sz="1800" dirty="0">
                <a:solidFill>
                  <a:srgbClr val="E4E4E7"/>
                </a:solidFill>
                <a:latin typeface="Outfit" pitchFamily="34" charset="0"/>
                <a:ea typeface="Outfit" pitchFamily="34" charset="-122"/>
                <a:cs typeface="Outfit" pitchFamily="34" charset="-120"/>
              </a:rPr>
              <a:t>Berpikir jernih, mahir mengelola orang, paham bisnis, terbukti menyelesaikan pekerjaan.</a:t>
            </a:r>
            <a:endParaRPr lang="en-US" sz="1800" dirty="0"/>
          </a:p>
        </p:txBody>
      </p:sp>
      <p:pic>
        <p:nvPicPr>
          <p:cNvPr id="15" name="Orang bekerja di laptop" descr="preencoded.png">    </p:cNvPr>
          <p:cNvPicPr>
            <a:picLocks noChangeAspect="1"/>
          </p:cNvPicPr>
          <p:nvPr/>
        </p:nvPicPr>
        <p:blipFill>
          <a:blip r:embed="rId3"/>
          <a:stretch>
            <a:fillRect/>
          </a:stretch>
        </p:blipFill>
        <p:spPr>
          <a:xfrm>
            <a:off x="4310786" y="1783080"/>
            <a:ext cx="3570122" cy="1737360"/>
          </a:xfrm>
          <a:prstGeom prst="rect">
            <a:avLst/>
          </a:prstGeom>
        </p:spPr>
      </p:pic>
      <p:sp>
        <p:nvSpPr>
          <p:cNvPr id="16" name="card"/>
          <p:cNvSpPr/>
          <p:nvPr/>
        </p:nvSpPr>
        <p:spPr>
          <a:xfrm>
            <a:off x="4310786" y="3703320"/>
            <a:ext cx="3570122" cy="2606040"/>
          </a:xfrm>
          <a:prstGeom prst="roundRect">
            <a:avLst>
              <a:gd name="adj" fmla="val 7018"/>
            </a:avLst>
          </a:prstGeom>
          <a:solidFill>
            <a:srgbClr val="D4FC00"/>
          </a:solidFill>
          <a:ln w="6350">
            <a:solidFill>
              <a:srgbClr val="D4FC00"/>
            </a:solidFill>
            <a:prstDash val="solid"/>
          </a:ln>
        </p:spPr>
      </p:sp>
      <p:sp>
        <p:nvSpPr>
          <p:cNvPr id="17" name="text"/>
          <p:cNvSpPr txBox="1"/>
          <p:nvPr/>
        </p:nvSpPr>
        <p:spPr>
          <a:xfrm>
            <a:off x="4585106" y="3977640"/>
            <a:ext cx="3021482" cy="292608"/>
          </a:xfrm>
          <a:prstGeom prst="rect">
            <a:avLst/>
          </a:prstGeom>
          <a:noFill/>
          <a:ln/>
        </p:spPr>
        <p:txBody>
          <a:bodyPr wrap="square" lIns="0" tIns="0" rIns="0" bIns="0" rtlCol="0" anchor="t"/>
          <a:lstStyle/>
          <a:p>
            <a:pPr algn="l" indent="0" marL="0">
              <a:lnSpc>
                <a:spcPct val="110000"/>
              </a:lnSpc>
              <a:buNone/>
            </a:pPr>
            <a:r>
              <a:rPr lang="en-US" sz="1400" spc="50" kern="0" dirty="0">
                <a:solidFill>
                  <a:srgbClr val="1A1A1C"/>
                </a:solidFill>
                <a:latin typeface="Outfit" pitchFamily="34" charset="0"/>
                <a:ea typeface="Outfit" pitchFamily="34" charset="-122"/>
                <a:cs typeface="Outfit" pitchFamily="34" charset="-120"/>
              </a:rPr>
              <a:t>CARA MEMPERKUAT TIM</a:t>
            </a:r>
            <a:endParaRPr lang="en-US" sz="1400" dirty="0"/>
          </a:p>
        </p:txBody>
      </p:sp>
      <p:sp>
        <p:nvSpPr>
          <p:cNvPr id="18" name="text"/>
          <p:cNvSpPr txBox="1"/>
          <p:nvPr/>
        </p:nvSpPr>
        <p:spPr>
          <a:xfrm>
            <a:off x="4585106" y="4343400"/>
            <a:ext cx="3021482" cy="1874520"/>
          </a:xfrm>
          <a:prstGeom prst="rect">
            <a:avLst/>
          </a:prstGeom>
          <a:noFill/>
          <a:ln/>
        </p:spPr>
        <p:txBody>
          <a:bodyPr wrap="square" lIns="0" tIns="0" rIns="0" bIns="0" rtlCol="0" anchor="t"/>
          <a:lstStyle/>
          <a:p>
            <a:pPr algn="l" indent="0" marL="0">
              <a:lnSpc>
                <a:spcPct val="108000"/>
              </a:lnSpc>
              <a:buNone/>
            </a:pPr>
            <a:r>
              <a:rPr lang="en-US" sz="1800" dirty="0">
                <a:solidFill>
                  <a:srgbClr val="1A1A1C"/>
                </a:solidFill>
                <a:latin typeface="Outfit" pitchFamily="34" charset="0"/>
                <a:ea typeface="Outfit" pitchFamily="34" charset="-122"/>
                <a:cs typeface="Outfit" pitchFamily="34" charset="-120"/>
              </a:rPr>
              <a:t>Promosi dari dalam atau rekrut dari luar, terutama saat turnaround. Yang tak mampu berubah diganti.</a:t>
            </a:r>
            <a:endParaRPr lang="en-US" sz="1800" dirty="0"/>
          </a:p>
        </p:txBody>
      </p:sp>
      <p:pic>
        <p:nvPicPr>
          <p:cNvPr id="19" name="Tiga kolega berdiskusi" descr="preencoded.png">    </p:cNvPr>
          <p:cNvPicPr>
            <a:picLocks noChangeAspect="1"/>
          </p:cNvPicPr>
          <p:nvPr/>
        </p:nvPicPr>
        <p:blipFill>
          <a:blip r:embed="rId4"/>
          <a:stretch>
            <a:fillRect/>
          </a:stretch>
        </p:blipFill>
        <p:spPr>
          <a:xfrm>
            <a:off x="8118653" y="1783080"/>
            <a:ext cx="3570122" cy="1737360"/>
          </a:xfrm>
          <a:prstGeom prst="rect">
            <a:avLst/>
          </a:prstGeom>
        </p:spPr>
      </p:pic>
      <p:sp>
        <p:nvSpPr>
          <p:cNvPr id="20" name="card"/>
          <p:cNvSpPr/>
          <p:nvPr/>
        </p:nvSpPr>
        <p:spPr>
          <a:xfrm>
            <a:off x="8118653" y="3703320"/>
            <a:ext cx="3570122" cy="2606040"/>
          </a:xfrm>
          <a:prstGeom prst="roundRect">
            <a:avLst>
              <a:gd name="adj" fmla="val 7018"/>
            </a:avLst>
          </a:prstGeom>
          <a:solidFill>
            <a:srgbClr val="E8E8E8"/>
          </a:solidFill>
          <a:ln w="6350">
            <a:solidFill>
              <a:srgbClr val="E8E8E8"/>
            </a:solidFill>
            <a:prstDash val="solid"/>
          </a:ln>
        </p:spPr>
      </p:sp>
      <p:sp>
        <p:nvSpPr>
          <p:cNvPr id="21" name="text"/>
          <p:cNvSpPr txBox="1"/>
          <p:nvPr/>
        </p:nvSpPr>
        <p:spPr>
          <a:xfrm>
            <a:off x="8392973" y="3977640"/>
            <a:ext cx="3021482" cy="292608"/>
          </a:xfrm>
          <a:prstGeom prst="rect">
            <a:avLst/>
          </a:prstGeom>
          <a:noFill/>
          <a:ln/>
        </p:spPr>
        <p:txBody>
          <a:bodyPr wrap="square" lIns="0" tIns="0" rIns="0" bIns="0" rtlCol="0" anchor="t"/>
          <a:lstStyle/>
          <a:p>
            <a:pPr algn="l" indent="0" marL="0">
              <a:lnSpc>
                <a:spcPct val="110000"/>
              </a:lnSpc>
              <a:buNone/>
            </a:pPr>
            <a:r>
              <a:rPr lang="en-US" sz="1400" spc="50" kern="0" dirty="0">
                <a:solidFill>
                  <a:srgbClr val="1A1A1C"/>
                </a:solidFill>
                <a:latin typeface="Outfit" pitchFamily="34" charset="0"/>
                <a:ea typeface="Outfit" pitchFamily="34" charset="-122"/>
                <a:cs typeface="Outfit" pitchFamily="34" charset="-120"/>
              </a:rPr>
              <a:t>TUJUANNYA</a:t>
            </a:r>
            <a:endParaRPr lang="en-US" sz="1400" dirty="0"/>
          </a:p>
        </p:txBody>
      </p:sp>
      <p:sp>
        <p:nvSpPr>
          <p:cNvPr id="22" name="text"/>
          <p:cNvSpPr txBox="1"/>
          <p:nvPr/>
        </p:nvSpPr>
        <p:spPr>
          <a:xfrm>
            <a:off x="8392973" y="4343400"/>
            <a:ext cx="3021482" cy="1874520"/>
          </a:xfrm>
          <a:prstGeom prst="rect">
            <a:avLst/>
          </a:prstGeom>
          <a:noFill/>
          <a:ln/>
        </p:spPr>
        <p:txBody>
          <a:bodyPr wrap="square" lIns="0" tIns="0" rIns="0" bIns="0" rtlCol="0" anchor="t"/>
          <a:lstStyle/>
          <a:p>
            <a:pPr algn="l" indent="0" marL="0">
              <a:lnSpc>
                <a:spcPct val="108000"/>
              </a:lnSpc>
              <a:buNone/>
            </a:pPr>
            <a:r>
              <a:rPr lang="en-US" sz="1800" dirty="0">
                <a:solidFill>
                  <a:srgbClr val="1A1A1C"/>
                </a:solidFill>
                <a:latin typeface="Outfit" pitchFamily="34" charset="0"/>
                <a:ea typeface="Outfit" pitchFamily="34" charset="-122"/>
                <a:cs typeface="Outfit" pitchFamily="34" charset="-120"/>
              </a:rPr>
              <a:t>Critical mass manajer berbakat sebagai agents of change; tim puncak yang beragam (IC 10.1).</a:t>
            </a:r>
            <a:endParaRPr lang="en-US" sz="1800" dirty="0"/>
          </a:p>
        </p:txBody>
      </p:sp>
      <p:sp>
        <p:nvSpPr>
          <p:cNvPr id="23"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10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10000"/>
              </a:lnSpc>
              <a:buNone/>
            </a:pPr>
            <a:endParaRPr lang="en-US" sz="1050" dirty="0"/>
          </a:p>
        </p:txBody>
      </p:sp>
      <p:sp>
        <p:nvSpPr>
          <p:cNvPr id="7" name="card"/>
          <p:cNvSpPr/>
          <p:nvPr/>
        </p:nvSpPr>
        <p:spPr>
          <a:xfrm>
            <a:off x="502920" y="658368"/>
            <a:ext cx="6675120" cy="1344168"/>
          </a:xfrm>
          <a:prstGeom prst="roundRect">
            <a:avLst>
              <a:gd name="adj" fmla="val 13605"/>
            </a:avLst>
          </a:prstGeom>
          <a:solidFill>
            <a:srgbClr val="D4FC00"/>
          </a:solidFill>
          <a:ln w="6350">
            <a:solidFill>
              <a:srgbClr val="D4FC00"/>
            </a:solidFill>
            <a:prstDash val="solid"/>
          </a:ln>
        </p:spPr>
      </p:sp>
      <p:sp>
        <p:nvSpPr>
          <p:cNvPr id="8" name="text"/>
          <p:cNvSpPr txBox="1"/>
          <p:nvPr/>
        </p:nvSpPr>
        <p:spPr>
          <a:xfrm>
            <a:off x="777240" y="896112"/>
            <a:ext cx="1828800" cy="932688"/>
          </a:xfrm>
          <a:prstGeom prst="rect">
            <a:avLst/>
          </a:prstGeom>
          <a:noFill/>
          <a:ln/>
        </p:spPr>
        <p:txBody>
          <a:bodyPr wrap="square" lIns="0" tIns="0" rIns="0" bIns="0" rtlCol="0" anchor="t"/>
          <a:lstStyle/>
          <a:p>
            <a:pPr algn="l" indent="0" marL="0">
              <a:lnSpc>
                <a:spcPct val="110000"/>
              </a:lnSpc>
              <a:buNone/>
            </a:pPr>
            <a:r>
              <a:rPr lang="en-US" sz="1400" spc="50" kern="0" dirty="0">
                <a:solidFill>
                  <a:srgbClr val="1A1A1C"/>
                </a:solidFill>
                <a:latin typeface="Outfit" pitchFamily="34" charset="0"/>
                <a:ea typeface="Outfit" pitchFamily="34" charset="-122"/>
                <a:cs typeface="Outfit" pitchFamily="34" charset="-120"/>
              </a:rPr>
              <a:t>SELEKSI DAN PENUGASAN</a:t>
            </a:r>
            <a:endParaRPr lang="en-US" sz="1400" dirty="0"/>
          </a:p>
        </p:txBody>
      </p:sp>
      <p:sp>
        <p:nvSpPr>
          <p:cNvPr id="9" name="text"/>
          <p:cNvSpPr txBox="1"/>
          <p:nvPr/>
        </p:nvSpPr>
        <p:spPr>
          <a:xfrm>
            <a:off x="2743200" y="877824"/>
            <a:ext cx="3657600" cy="1014984"/>
          </a:xfrm>
          <a:prstGeom prst="rect">
            <a:avLst/>
          </a:prstGeom>
          <a:noFill/>
          <a:ln/>
        </p:spPr>
        <p:txBody>
          <a:bodyPr wrap="square" lIns="0" tIns="0" rIns="0" bIns="0" rtlCol="0" anchor="t"/>
          <a:lstStyle/>
          <a:p>
            <a:pPr algn="l" indent="0" marL="0">
              <a:lnSpc>
                <a:spcPct val="106000"/>
              </a:lnSpc>
              <a:buNone/>
            </a:pPr>
            <a:r>
              <a:rPr lang="en-US" sz="1800" dirty="0">
                <a:solidFill>
                  <a:srgbClr val="1A1A1C"/>
                </a:solidFill>
                <a:latin typeface="Outfit" pitchFamily="34" charset="0"/>
                <a:ea typeface="Outfit" pitchFamily="34" charset="-122"/>
                <a:cs typeface="Outfit" pitchFamily="34" charset="-120"/>
              </a:rPr>
              <a:t>Saring ketat skill dan budaya; Southwest menerima sekitar 3% pelamar.</a:t>
            </a:r>
            <a:endParaRPr lang="en-US" sz="1800" dirty="0"/>
          </a:p>
        </p:txBody>
      </p:sp>
      <p:sp>
        <p:nvSpPr>
          <p:cNvPr id="10" name="dot"/>
          <p:cNvSpPr/>
          <p:nvPr/>
        </p:nvSpPr>
        <p:spPr>
          <a:xfrm>
            <a:off x="6611112" y="1193292"/>
            <a:ext cx="274320" cy="274320"/>
          </a:xfrm>
          <a:prstGeom prst="ellipse">
            <a:avLst/>
          </a:prstGeom>
          <a:solidFill>
            <a:srgbClr val="141417"/>
          </a:solidFill>
          <a:ln w="6350">
            <a:solidFill>
              <a:srgbClr val="141417"/>
            </a:solidFill>
            <a:prstDash val="solid"/>
          </a:ln>
        </p:spPr>
      </p:sp>
      <p:pic>
        <p:nvPicPr>
          <p:cNvPr id="11" name="dot-icon" descr="preencoded.png">    </p:cNvPr>
          <p:cNvPicPr>
            <a:picLocks noChangeAspect="1"/>
          </p:cNvPicPr>
          <p:nvPr/>
        </p:nvPicPr>
        <p:blipFill>
          <a:blip r:embed="rId1"/>
          <a:stretch>
            <a:fillRect/>
          </a:stretch>
        </p:blipFill>
        <p:spPr>
          <a:xfrm>
            <a:off x="6671462" y="1253642"/>
            <a:ext cx="153619" cy="153619"/>
          </a:xfrm>
          <a:prstGeom prst="rect">
            <a:avLst/>
          </a:prstGeom>
        </p:spPr>
      </p:pic>
      <p:sp>
        <p:nvSpPr>
          <p:cNvPr id="12" name="card"/>
          <p:cNvSpPr/>
          <p:nvPr/>
        </p:nvSpPr>
        <p:spPr>
          <a:xfrm>
            <a:off x="502920" y="2130552"/>
            <a:ext cx="6675120" cy="1344168"/>
          </a:xfrm>
          <a:prstGeom prst="roundRect">
            <a:avLst>
              <a:gd name="adj" fmla="val 13605"/>
            </a:avLst>
          </a:prstGeom>
          <a:solidFill>
            <a:srgbClr val="E8E8E8"/>
          </a:solidFill>
          <a:ln w="6350">
            <a:solidFill>
              <a:srgbClr val="E8E8E8"/>
            </a:solidFill>
            <a:prstDash val="solid"/>
          </a:ln>
        </p:spPr>
      </p:sp>
      <p:sp>
        <p:nvSpPr>
          <p:cNvPr id="13" name="text"/>
          <p:cNvSpPr txBox="1"/>
          <p:nvPr/>
        </p:nvSpPr>
        <p:spPr>
          <a:xfrm>
            <a:off x="777240" y="2368296"/>
            <a:ext cx="1828800" cy="932688"/>
          </a:xfrm>
          <a:prstGeom prst="rect">
            <a:avLst/>
          </a:prstGeom>
          <a:noFill/>
          <a:ln/>
        </p:spPr>
        <p:txBody>
          <a:bodyPr wrap="square" lIns="0" tIns="0" rIns="0" bIns="0" rtlCol="0" anchor="t"/>
          <a:lstStyle/>
          <a:p>
            <a:pPr algn="l" indent="0" marL="0">
              <a:lnSpc>
                <a:spcPct val="110000"/>
              </a:lnSpc>
              <a:buNone/>
            </a:pPr>
            <a:r>
              <a:rPr lang="en-US" sz="1400" spc="50" kern="0" dirty="0">
                <a:solidFill>
                  <a:srgbClr val="1A1A1C"/>
                </a:solidFill>
                <a:latin typeface="Outfit" pitchFamily="34" charset="0"/>
                <a:ea typeface="Outfit" pitchFamily="34" charset="-122"/>
                <a:cs typeface="Outfit" pitchFamily="34" charset="-120"/>
              </a:rPr>
              <a:t>PELATIHAN DAN ROTASI</a:t>
            </a:r>
            <a:endParaRPr lang="en-US" sz="1400" dirty="0"/>
          </a:p>
        </p:txBody>
      </p:sp>
      <p:sp>
        <p:nvSpPr>
          <p:cNvPr id="14" name="text"/>
          <p:cNvSpPr txBox="1"/>
          <p:nvPr/>
        </p:nvSpPr>
        <p:spPr>
          <a:xfrm>
            <a:off x="2743200" y="2350008"/>
            <a:ext cx="3657600" cy="1014984"/>
          </a:xfrm>
          <a:prstGeom prst="rect">
            <a:avLst/>
          </a:prstGeom>
          <a:noFill/>
          <a:ln/>
        </p:spPr>
        <p:txBody>
          <a:bodyPr wrap="square" lIns="0" tIns="0" rIns="0" bIns="0" rtlCol="0" anchor="t"/>
          <a:lstStyle/>
          <a:p>
            <a:pPr algn="l" indent="0" marL="0">
              <a:lnSpc>
                <a:spcPct val="106000"/>
              </a:lnSpc>
              <a:buNone/>
            </a:pPr>
            <a:r>
              <a:rPr lang="en-US" sz="1800" dirty="0">
                <a:solidFill>
                  <a:srgbClr val="1A1A1C"/>
                </a:solidFill>
                <a:latin typeface="Outfit" pitchFamily="34" charset="0"/>
                <a:ea typeface="Outfit" pitchFamily="34" charset="-122"/>
                <a:cs typeface="Outfit" pitchFamily="34" charset="-120"/>
              </a:rPr>
              <a:t>Bila strategi menuntut skill baru, pelatihan naik ke puncak action agenda.</a:t>
            </a:r>
            <a:endParaRPr lang="en-US" sz="1800" dirty="0"/>
          </a:p>
        </p:txBody>
      </p:sp>
      <p:sp>
        <p:nvSpPr>
          <p:cNvPr id="15" name="dot"/>
          <p:cNvSpPr/>
          <p:nvPr/>
        </p:nvSpPr>
        <p:spPr>
          <a:xfrm>
            <a:off x="6611112" y="2665476"/>
            <a:ext cx="274320" cy="274320"/>
          </a:xfrm>
          <a:prstGeom prst="ellipse">
            <a:avLst/>
          </a:prstGeom>
          <a:solidFill>
            <a:srgbClr val="141417"/>
          </a:solidFill>
          <a:ln w="6350">
            <a:solidFill>
              <a:srgbClr val="141417"/>
            </a:solidFill>
            <a:prstDash val="solid"/>
          </a:ln>
        </p:spPr>
      </p:sp>
      <p:pic>
        <p:nvPicPr>
          <p:cNvPr id="16" name="dot-icon" descr="preencoded.png">    </p:cNvPr>
          <p:cNvPicPr>
            <a:picLocks noChangeAspect="1"/>
          </p:cNvPicPr>
          <p:nvPr/>
        </p:nvPicPr>
        <p:blipFill>
          <a:blip r:embed="rId2"/>
          <a:stretch>
            <a:fillRect/>
          </a:stretch>
        </p:blipFill>
        <p:spPr>
          <a:xfrm>
            <a:off x="6671462" y="2725826"/>
            <a:ext cx="153619" cy="153619"/>
          </a:xfrm>
          <a:prstGeom prst="rect">
            <a:avLst/>
          </a:prstGeom>
        </p:spPr>
      </p:pic>
      <p:sp>
        <p:nvSpPr>
          <p:cNvPr id="17" name="card"/>
          <p:cNvSpPr/>
          <p:nvPr/>
        </p:nvSpPr>
        <p:spPr>
          <a:xfrm>
            <a:off x="502920" y="3602736"/>
            <a:ext cx="6675120" cy="1344168"/>
          </a:xfrm>
          <a:prstGeom prst="roundRect">
            <a:avLst>
              <a:gd name="adj" fmla="val 13605"/>
            </a:avLst>
          </a:prstGeom>
          <a:solidFill>
            <a:srgbClr val="D4FC00"/>
          </a:solidFill>
          <a:ln w="6350">
            <a:solidFill>
              <a:srgbClr val="D4FC00"/>
            </a:solidFill>
            <a:prstDash val="solid"/>
          </a:ln>
        </p:spPr>
      </p:sp>
      <p:sp>
        <p:nvSpPr>
          <p:cNvPr id="18" name="text"/>
          <p:cNvSpPr txBox="1"/>
          <p:nvPr/>
        </p:nvSpPr>
        <p:spPr>
          <a:xfrm>
            <a:off x="777240" y="3840480"/>
            <a:ext cx="1828800" cy="932688"/>
          </a:xfrm>
          <a:prstGeom prst="rect">
            <a:avLst/>
          </a:prstGeom>
          <a:noFill/>
          <a:ln/>
        </p:spPr>
        <p:txBody>
          <a:bodyPr wrap="square" lIns="0" tIns="0" rIns="0" bIns="0" rtlCol="0" anchor="t"/>
          <a:lstStyle/>
          <a:p>
            <a:pPr algn="l" indent="0" marL="0">
              <a:lnSpc>
                <a:spcPct val="110000"/>
              </a:lnSpc>
              <a:buNone/>
            </a:pPr>
            <a:r>
              <a:rPr lang="en-US" sz="1400" spc="50" kern="0" dirty="0">
                <a:solidFill>
                  <a:srgbClr val="1A1A1C"/>
                </a:solidFill>
                <a:latin typeface="Outfit" pitchFamily="34" charset="0"/>
                <a:ea typeface="Outfit" pitchFamily="34" charset="-122"/>
                <a:cs typeface="Outfit" pitchFamily="34" charset="-120"/>
              </a:rPr>
              <a:t>LINGKUNGAN DAN SUARA</a:t>
            </a:r>
            <a:endParaRPr lang="en-US" sz="1400" dirty="0"/>
          </a:p>
        </p:txBody>
      </p:sp>
      <p:sp>
        <p:nvSpPr>
          <p:cNvPr id="19" name="text"/>
          <p:cNvSpPr txBox="1"/>
          <p:nvPr/>
        </p:nvSpPr>
        <p:spPr>
          <a:xfrm>
            <a:off x="2743200" y="3822192"/>
            <a:ext cx="3657600" cy="1014984"/>
          </a:xfrm>
          <a:prstGeom prst="rect">
            <a:avLst/>
          </a:prstGeom>
          <a:noFill/>
          <a:ln/>
        </p:spPr>
        <p:txBody>
          <a:bodyPr wrap="square" lIns="0" tIns="0" rIns="0" bIns="0" rtlCol="0" anchor="t"/>
          <a:lstStyle/>
          <a:p>
            <a:pPr algn="l" indent="0" marL="0">
              <a:lnSpc>
                <a:spcPct val="106000"/>
              </a:lnSpc>
              <a:buNone/>
            </a:pPr>
            <a:r>
              <a:rPr lang="en-US" sz="1800" dirty="0">
                <a:solidFill>
                  <a:srgbClr val="1A1A1C"/>
                </a:solidFill>
                <a:latin typeface="Outfit" pitchFamily="34" charset="0"/>
                <a:ea typeface="Outfit" pitchFamily="34" charset="-122"/>
                <a:cs typeface="Outfit" pitchFamily="34" charset="-120"/>
              </a:rPr>
              <a:t>Tempat kerja yang menstimulasi; ide karyawan dihargai.</a:t>
            </a:r>
            <a:endParaRPr lang="en-US" sz="1800" dirty="0"/>
          </a:p>
        </p:txBody>
      </p:sp>
      <p:sp>
        <p:nvSpPr>
          <p:cNvPr id="20" name="dot"/>
          <p:cNvSpPr/>
          <p:nvPr/>
        </p:nvSpPr>
        <p:spPr>
          <a:xfrm>
            <a:off x="6611112" y="4137660"/>
            <a:ext cx="274320" cy="274320"/>
          </a:xfrm>
          <a:prstGeom prst="ellipse">
            <a:avLst/>
          </a:prstGeom>
          <a:solidFill>
            <a:srgbClr val="141417"/>
          </a:solidFill>
          <a:ln w="6350">
            <a:solidFill>
              <a:srgbClr val="141417"/>
            </a:solidFill>
            <a:prstDash val="solid"/>
          </a:ln>
        </p:spPr>
      </p:sp>
      <p:pic>
        <p:nvPicPr>
          <p:cNvPr id="21" name="dot-icon" descr="preencoded.png">    </p:cNvPr>
          <p:cNvPicPr>
            <a:picLocks noChangeAspect="1"/>
          </p:cNvPicPr>
          <p:nvPr/>
        </p:nvPicPr>
        <p:blipFill>
          <a:blip r:embed="rId3"/>
          <a:stretch>
            <a:fillRect/>
          </a:stretch>
        </p:blipFill>
        <p:spPr>
          <a:xfrm>
            <a:off x="6671462" y="4198010"/>
            <a:ext cx="153619" cy="153619"/>
          </a:xfrm>
          <a:prstGeom prst="rect">
            <a:avLst/>
          </a:prstGeom>
        </p:spPr>
      </p:pic>
      <p:sp>
        <p:nvSpPr>
          <p:cNvPr id="22" name="card"/>
          <p:cNvSpPr/>
          <p:nvPr/>
        </p:nvSpPr>
        <p:spPr>
          <a:xfrm>
            <a:off x="502920" y="5074920"/>
            <a:ext cx="6675120" cy="1344168"/>
          </a:xfrm>
          <a:prstGeom prst="roundRect">
            <a:avLst>
              <a:gd name="adj" fmla="val 13605"/>
            </a:avLst>
          </a:prstGeom>
          <a:solidFill>
            <a:srgbClr val="141417"/>
          </a:solidFill>
          <a:ln w="6350">
            <a:solidFill>
              <a:srgbClr val="141417"/>
            </a:solidFill>
            <a:prstDash val="solid"/>
          </a:ln>
        </p:spPr>
      </p:sp>
      <p:sp>
        <p:nvSpPr>
          <p:cNvPr id="23" name="text"/>
          <p:cNvSpPr txBox="1"/>
          <p:nvPr/>
        </p:nvSpPr>
        <p:spPr>
          <a:xfrm>
            <a:off x="777240" y="5312664"/>
            <a:ext cx="1828800" cy="932688"/>
          </a:xfrm>
          <a:prstGeom prst="rect">
            <a:avLst/>
          </a:prstGeom>
          <a:noFill/>
          <a:ln/>
        </p:spPr>
        <p:txBody>
          <a:bodyPr wrap="square" lIns="0" tIns="0" rIns="0" bIns="0" rtlCol="0" anchor="t"/>
          <a:lstStyle/>
          <a:p>
            <a:pPr algn="l" indent="0" marL="0">
              <a:lnSpc>
                <a:spcPct val="110000"/>
              </a:lnSpc>
              <a:buNone/>
            </a:pPr>
            <a:r>
              <a:rPr lang="en-US" sz="1400" spc="50" kern="0" dirty="0">
                <a:solidFill>
                  <a:srgbClr val="D4FC00"/>
                </a:solidFill>
                <a:latin typeface="Outfit" pitchFamily="34" charset="0"/>
                <a:ea typeface="Outfit" pitchFamily="34" charset="-122"/>
                <a:cs typeface="Outfit" pitchFamily="34" charset="-120"/>
              </a:rPr>
              <a:t>RETENSI DAN PEMBINAAN</a:t>
            </a:r>
            <a:endParaRPr lang="en-US" sz="1400" dirty="0"/>
          </a:p>
        </p:txBody>
      </p:sp>
      <p:sp>
        <p:nvSpPr>
          <p:cNvPr id="24" name="text"/>
          <p:cNvSpPr txBox="1"/>
          <p:nvPr/>
        </p:nvSpPr>
        <p:spPr>
          <a:xfrm>
            <a:off x="2743200" y="5294376"/>
            <a:ext cx="3657600" cy="1014984"/>
          </a:xfrm>
          <a:prstGeom prst="rect">
            <a:avLst/>
          </a:prstGeom>
          <a:noFill/>
          <a:ln/>
        </p:spPr>
        <p:txBody>
          <a:bodyPr wrap="square" lIns="0" tIns="0" rIns="0" bIns="0" rtlCol="0" anchor="t"/>
          <a:lstStyle/>
          <a:p>
            <a:pPr algn="l" indent="0" marL="0">
              <a:lnSpc>
                <a:spcPct val="106000"/>
              </a:lnSpc>
              <a:buNone/>
            </a:pPr>
            <a:r>
              <a:rPr lang="en-US" sz="1800" dirty="0">
                <a:solidFill>
                  <a:srgbClr val="E4E4E7"/>
                </a:solidFill>
                <a:latin typeface="Outfit" pitchFamily="34" charset="0"/>
                <a:ea typeface="Outfit" pitchFamily="34" charset="-122"/>
                <a:cs typeface="Outfit" pitchFamily="34" charset="-120"/>
              </a:rPr>
              <a:t>Promosi, bonus, equity; bina yang rata-rata, lepaskan yang tertinggal.</a:t>
            </a:r>
            <a:endParaRPr lang="en-US" sz="1800" dirty="0"/>
          </a:p>
        </p:txBody>
      </p:sp>
      <p:sp>
        <p:nvSpPr>
          <p:cNvPr id="25" name="dot"/>
          <p:cNvSpPr/>
          <p:nvPr/>
        </p:nvSpPr>
        <p:spPr>
          <a:xfrm>
            <a:off x="6611112" y="5609844"/>
            <a:ext cx="274320" cy="274320"/>
          </a:xfrm>
          <a:prstGeom prst="ellipse">
            <a:avLst/>
          </a:prstGeom>
          <a:solidFill>
            <a:srgbClr val="D4FC00"/>
          </a:solidFill>
          <a:ln w="6350">
            <a:solidFill>
              <a:srgbClr val="D4FC00"/>
            </a:solidFill>
            <a:prstDash val="solid"/>
          </a:ln>
        </p:spPr>
      </p:sp>
      <p:pic>
        <p:nvPicPr>
          <p:cNvPr id="26" name="dot-icon" descr="preencoded.png">    </p:cNvPr>
          <p:cNvPicPr>
            <a:picLocks noChangeAspect="1"/>
          </p:cNvPicPr>
          <p:nvPr/>
        </p:nvPicPr>
        <p:blipFill>
          <a:blip r:embed="rId4"/>
          <a:stretch>
            <a:fillRect/>
          </a:stretch>
        </p:blipFill>
        <p:spPr>
          <a:xfrm>
            <a:off x="6671462" y="5670194"/>
            <a:ext cx="153619" cy="153619"/>
          </a:xfrm>
          <a:prstGeom prst="rect">
            <a:avLst/>
          </a:prstGeom>
        </p:spPr>
      </p:pic>
      <p:pic>
        <p:nvPicPr>
          <p:cNvPr id="27" name="Sesi pelatihan di ruang putih" descr="preencoded.png">    </p:cNvPr>
          <p:cNvPicPr>
            <a:picLocks noChangeAspect="1"/>
          </p:cNvPicPr>
          <p:nvPr/>
        </p:nvPicPr>
        <p:blipFill>
          <a:blip r:embed="rId5"/>
          <a:stretch>
            <a:fillRect/>
          </a:stretch>
        </p:blipFill>
        <p:spPr>
          <a:xfrm>
            <a:off x="7635240" y="658368"/>
            <a:ext cx="4053535" cy="2103120"/>
          </a:xfrm>
          <a:prstGeom prst="rect">
            <a:avLst/>
          </a:prstGeom>
        </p:spPr>
      </p:pic>
      <p:sp>
        <p:nvSpPr>
          <p:cNvPr id="28" name="text"/>
          <p:cNvSpPr txBox="1"/>
          <p:nvPr/>
        </p:nvSpPr>
        <p:spPr>
          <a:xfrm>
            <a:off x="7635240" y="2971800"/>
            <a:ext cx="4053535" cy="2286000"/>
          </a:xfrm>
          <a:prstGeom prst="rect">
            <a:avLst/>
          </a:prstGeom>
          <a:noFill/>
          <a:ln/>
        </p:spPr>
        <p:txBody>
          <a:bodyPr wrap="square" lIns="0" tIns="0" rIns="0" bIns="0" rtlCol="0" anchor="t"/>
          <a:lstStyle/>
          <a:p>
            <a:pPr algn="l" indent="0" marL="0">
              <a:lnSpc>
                <a:spcPct val="98000"/>
              </a:lnSpc>
              <a:buNone/>
            </a:pPr>
            <a:r>
              <a:rPr lang="en-US" sz="2800" spc="-50" kern="0" dirty="0">
                <a:solidFill>
                  <a:srgbClr val="141417"/>
                </a:solidFill>
                <a:latin typeface="Outfit Medium" pitchFamily="34" charset="0"/>
                <a:ea typeface="Outfit Medium" pitchFamily="34" charset="-122"/>
                <a:cs typeface="Outfit Medium" pitchFamily="34" charset="-120"/>
              </a:rPr>
              <a:t>MEREKRUT, MELATIH, DAN MEMPERTAHANKAN KARYAWAN</a:t>
            </a:r>
            <a:endParaRPr lang="en-US" sz="2800" dirty="0"/>
          </a:p>
        </p:txBody>
      </p:sp>
      <p:sp>
        <p:nvSpPr>
          <p:cNvPr id="29" name="text"/>
          <p:cNvSpPr txBox="1"/>
          <p:nvPr/>
        </p:nvSpPr>
        <p:spPr>
          <a:xfrm>
            <a:off x="7635240" y="5257800"/>
            <a:ext cx="4053535" cy="114300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Talenta dan intellectual capital sering lebih menentukan daripada proyek modal.</a:t>
            </a:r>
            <a:endParaRPr lang="en-US" sz="1600" dirty="0"/>
          </a:p>
        </p:txBody>
      </p:sp>
      <p:sp>
        <p:nvSpPr>
          <p:cNvPr id="30"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10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10000"/>
              </a:lnSpc>
              <a:buNone/>
            </a:pPr>
            <a:endParaRPr lang="en-US" sz="1050" dirty="0"/>
          </a:p>
        </p:txBody>
      </p:sp>
      <p:sp>
        <p:nvSpPr>
          <p:cNvPr id="7" name="text"/>
          <p:cNvSpPr txBox="1"/>
          <p:nvPr/>
        </p:nvSpPr>
        <p:spPr>
          <a:xfrm>
            <a:off x="502920" y="960120"/>
            <a:ext cx="6400800" cy="2651760"/>
          </a:xfrm>
          <a:prstGeom prst="rect">
            <a:avLst/>
          </a:prstGeom>
          <a:noFill/>
          <a:ln/>
        </p:spPr>
        <p:txBody>
          <a:bodyPr wrap="square" lIns="0" tIns="0" rIns="0" bIns="0" rtlCol="0" anchor="t"/>
          <a:lstStyle/>
          <a:p>
            <a:pPr algn="l" indent="0" marL="0">
              <a:lnSpc>
                <a:spcPct val="98000"/>
              </a:lnSpc>
              <a:buNone/>
            </a:pPr>
            <a:r>
              <a:rPr lang="en-US" sz="3800" spc="-50" kern="0" dirty="0">
                <a:solidFill>
                  <a:srgbClr val="141417"/>
                </a:solidFill>
                <a:latin typeface="Outfit Medium" pitchFamily="34" charset="0"/>
                <a:ea typeface="Outfit Medium" pitchFamily="34" charset="-122"/>
                <a:cs typeface="Outfit Medium" pitchFamily="34" charset="-120"/>
              </a:rPr>
              <a:t>TIGA JALAN MEMBANGUN ORGANIZATIONAL CAPABILITIES</a:t>
            </a:r>
            <a:endParaRPr lang="en-US" sz="3800" dirty="0"/>
          </a:p>
        </p:txBody>
      </p:sp>
      <p:sp>
        <p:nvSpPr>
          <p:cNvPr id="8" name="pill"/>
          <p:cNvSpPr/>
          <p:nvPr/>
        </p:nvSpPr>
        <p:spPr>
          <a:xfrm>
            <a:off x="502920" y="3566160"/>
            <a:ext cx="4023360" cy="402336"/>
          </a:xfrm>
          <a:prstGeom prst="roundRect">
            <a:avLst>
              <a:gd name="adj" fmla="val 113636"/>
            </a:avLst>
          </a:prstGeom>
          <a:solidFill>
            <a:srgbClr val="F4F4F4"/>
          </a:solidFill>
          <a:ln w="9525">
            <a:solidFill>
              <a:srgbClr val="141417"/>
            </a:solidFill>
            <a:prstDash val="solid"/>
          </a:ln>
        </p:spPr>
      </p:sp>
      <p:sp>
        <p:nvSpPr>
          <p:cNvPr id="9" name="text"/>
          <p:cNvSpPr txBox="1"/>
          <p:nvPr/>
        </p:nvSpPr>
        <p:spPr>
          <a:xfrm>
            <a:off x="612648" y="3566160"/>
            <a:ext cx="3803904" cy="402336"/>
          </a:xfrm>
          <a:prstGeom prst="rect">
            <a:avLst/>
          </a:prstGeom>
          <a:noFill/>
          <a:ln/>
        </p:spPr>
        <p:txBody>
          <a:bodyPr wrap="square" lIns="0" tIns="0" rIns="0" bIns="0" rtlCol="0" anchor="ctr"/>
          <a:lstStyle/>
          <a:p>
            <a:pPr algn="ctr" indent="0" marL="0">
              <a:lnSpc>
                <a:spcPct val="110000"/>
              </a:lnSpc>
              <a:buNone/>
            </a:pPr>
            <a:r>
              <a:rPr lang="en-US" sz="1300" spc="50" kern="0" dirty="0">
                <a:solidFill>
                  <a:srgbClr val="1A1A1C"/>
                </a:solidFill>
                <a:latin typeface="Outfit" pitchFamily="34" charset="0"/>
                <a:ea typeface="Outfit" pitchFamily="34" charset="-122"/>
                <a:cs typeface="Outfit" pitchFamily="34" charset="-120"/>
              </a:rPr>
              <a:t>BAB 4: VRIN DAN DYNAMIC CAPABILITIES</a:t>
            </a:r>
            <a:endParaRPr lang="en-US" sz="1300" dirty="0"/>
          </a:p>
        </p:txBody>
      </p:sp>
      <p:sp>
        <p:nvSpPr>
          <p:cNvPr id="10" name="card"/>
          <p:cNvSpPr/>
          <p:nvPr/>
        </p:nvSpPr>
        <p:spPr>
          <a:xfrm>
            <a:off x="502920" y="4069080"/>
            <a:ext cx="2194560" cy="1691640"/>
          </a:xfrm>
          <a:prstGeom prst="roundRect">
            <a:avLst>
              <a:gd name="adj" fmla="val 10811"/>
            </a:avLst>
          </a:prstGeom>
          <a:solidFill>
            <a:srgbClr val="E8E8E8"/>
          </a:solidFill>
          <a:ln w="6350">
            <a:solidFill>
              <a:srgbClr val="E8E8E8"/>
            </a:solidFill>
            <a:prstDash val="solid"/>
          </a:ln>
        </p:spPr>
      </p:sp>
      <p:sp>
        <p:nvSpPr>
          <p:cNvPr id="11" name="text"/>
          <p:cNvSpPr txBox="1"/>
          <p:nvPr/>
        </p:nvSpPr>
        <p:spPr>
          <a:xfrm>
            <a:off x="731520" y="4215384"/>
            <a:ext cx="1737360" cy="502920"/>
          </a:xfrm>
          <a:prstGeom prst="rect">
            <a:avLst/>
          </a:prstGeom>
          <a:noFill/>
          <a:ln/>
        </p:spPr>
        <p:txBody>
          <a:bodyPr wrap="square" lIns="0" tIns="0" rIns="0" bIns="0" rtlCol="0" anchor="ctr"/>
          <a:lstStyle/>
          <a:p>
            <a:pPr algn="l" indent="0" marL="0">
              <a:lnSpc>
                <a:spcPct val="110000"/>
              </a:lnSpc>
              <a:buNone/>
            </a:pPr>
            <a:r>
              <a:rPr lang="en-US" sz="2400" spc="-30" kern="0" dirty="0">
                <a:solidFill>
                  <a:srgbClr val="141417"/>
                </a:solidFill>
                <a:latin typeface="Outfit Medium" pitchFamily="34" charset="0"/>
                <a:ea typeface="Outfit Medium" pitchFamily="34" charset="-122"/>
                <a:cs typeface="Outfit Medium" pitchFamily="34" charset="-120"/>
              </a:rPr>
              <a:t>Internal</a:t>
            </a:r>
            <a:endParaRPr lang="en-US" sz="2400" dirty="0"/>
          </a:p>
        </p:txBody>
      </p:sp>
      <p:sp>
        <p:nvSpPr>
          <p:cNvPr id="12" name="text"/>
          <p:cNvSpPr txBox="1"/>
          <p:nvPr/>
        </p:nvSpPr>
        <p:spPr>
          <a:xfrm>
            <a:off x="731520" y="4764024"/>
            <a:ext cx="1737360" cy="941832"/>
          </a:xfrm>
          <a:prstGeom prst="rect">
            <a:avLst/>
          </a:prstGeom>
          <a:noFill/>
          <a:ln/>
        </p:spPr>
        <p:txBody>
          <a:bodyPr wrap="square" lIns="0" tIns="0" rIns="0" bIns="0" rtlCol="0" anchor="t"/>
          <a:lstStyle/>
          <a:p>
            <a:pPr algn="l" indent="0" marL="0">
              <a:lnSpc>
                <a:spcPct val="108000"/>
              </a:lnSpc>
              <a:buNone/>
            </a:pPr>
            <a:r>
              <a:rPr lang="en-US" sz="1400" dirty="0">
                <a:solidFill>
                  <a:srgbClr val="5A5A5F"/>
                </a:solidFill>
                <a:latin typeface="Outfit" pitchFamily="34" charset="0"/>
                <a:ea typeface="Outfit" pitchFamily="34" charset="-122"/>
                <a:cs typeface="Outfit" pitchFamily="34" charset="-120"/>
              </a:rPr>
              <a:t>Tumbuh bertahap. Kendali penuh, paling lama.</a:t>
            </a:r>
            <a:endParaRPr lang="en-US" sz="1400" dirty="0"/>
          </a:p>
        </p:txBody>
      </p:sp>
      <p:sp>
        <p:nvSpPr>
          <p:cNvPr id="13" name="card"/>
          <p:cNvSpPr/>
          <p:nvPr/>
        </p:nvSpPr>
        <p:spPr>
          <a:xfrm>
            <a:off x="2825496" y="4069080"/>
            <a:ext cx="2194560" cy="1691640"/>
          </a:xfrm>
          <a:prstGeom prst="roundRect">
            <a:avLst>
              <a:gd name="adj" fmla="val 10811"/>
            </a:avLst>
          </a:prstGeom>
          <a:solidFill>
            <a:srgbClr val="D4FC00"/>
          </a:solidFill>
          <a:ln w="6350">
            <a:solidFill>
              <a:srgbClr val="D4FC00"/>
            </a:solidFill>
            <a:prstDash val="solid"/>
          </a:ln>
        </p:spPr>
      </p:sp>
      <p:sp>
        <p:nvSpPr>
          <p:cNvPr id="14" name="text"/>
          <p:cNvSpPr txBox="1"/>
          <p:nvPr/>
        </p:nvSpPr>
        <p:spPr>
          <a:xfrm>
            <a:off x="3054096" y="4215384"/>
            <a:ext cx="1737360" cy="502920"/>
          </a:xfrm>
          <a:prstGeom prst="rect">
            <a:avLst/>
          </a:prstGeom>
          <a:noFill/>
          <a:ln/>
        </p:spPr>
        <p:txBody>
          <a:bodyPr wrap="square" lIns="0" tIns="0" rIns="0" bIns="0" rtlCol="0" anchor="ctr"/>
          <a:lstStyle/>
          <a:p>
            <a:pPr algn="l" indent="0" marL="0">
              <a:lnSpc>
                <a:spcPct val="110000"/>
              </a:lnSpc>
              <a:buNone/>
            </a:pPr>
            <a:r>
              <a:rPr lang="en-US" sz="2400" spc="-30" kern="0" dirty="0">
                <a:solidFill>
                  <a:srgbClr val="141417"/>
                </a:solidFill>
                <a:latin typeface="Outfit Medium" pitchFamily="34" charset="0"/>
                <a:ea typeface="Outfit Medium" pitchFamily="34" charset="-122"/>
                <a:cs typeface="Outfit Medium" pitchFamily="34" charset="-120"/>
              </a:rPr>
              <a:t>Akuisisi</a:t>
            </a:r>
            <a:endParaRPr lang="en-US" sz="2400" dirty="0"/>
          </a:p>
        </p:txBody>
      </p:sp>
      <p:sp>
        <p:nvSpPr>
          <p:cNvPr id="15" name="text"/>
          <p:cNvSpPr txBox="1"/>
          <p:nvPr/>
        </p:nvSpPr>
        <p:spPr>
          <a:xfrm>
            <a:off x="3054096" y="4764024"/>
            <a:ext cx="1737360" cy="941832"/>
          </a:xfrm>
          <a:prstGeom prst="rect">
            <a:avLst/>
          </a:prstGeom>
          <a:noFill/>
          <a:ln/>
        </p:spPr>
        <p:txBody>
          <a:bodyPr wrap="square" lIns="0" tIns="0" rIns="0" bIns="0" rtlCol="0" anchor="t"/>
          <a:lstStyle/>
          <a:p>
            <a:pPr algn="l" indent="0" marL="0">
              <a:lnSpc>
                <a:spcPct val="108000"/>
              </a:lnSpc>
              <a:buNone/>
            </a:pPr>
            <a:r>
              <a:rPr lang="en-US" sz="1400" dirty="0">
                <a:solidFill>
                  <a:srgbClr val="1A1A1C"/>
                </a:solidFill>
                <a:latin typeface="Outfit" pitchFamily="34" charset="0"/>
                <a:ea typeface="Outfit" pitchFamily="34" charset="-122"/>
                <a:cs typeface="Outfit" pitchFamily="34" charset="-120"/>
              </a:rPr>
              <a:t>Paling cepat; risiko pada integrasi.</a:t>
            </a:r>
            <a:endParaRPr lang="en-US" sz="1400" dirty="0"/>
          </a:p>
        </p:txBody>
      </p:sp>
      <p:sp>
        <p:nvSpPr>
          <p:cNvPr id="16" name="card"/>
          <p:cNvSpPr/>
          <p:nvPr/>
        </p:nvSpPr>
        <p:spPr>
          <a:xfrm>
            <a:off x="5148072" y="4069080"/>
            <a:ext cx="2194560" cy="1691640"/>
          </a:xfrm>
          <a:prstGeom prst="roundRect">
            <a:avLst>
              <a:gd name="adj" fmla="val 10811"/>
            </a:avLst>
          </a:prstGeom>
          <a:solidFill>
            <a:srgbClr val="141417"/>
          </a:solidFill>
          <a:ln w="6350">
            <a:solidFill>
              <a:srgbClr val="141417"/>
            </a:solidFill>
            <a:prstDash val="solid"/>
          </a:ln>
        </p:spPr>
      </p:sp>
      <p:sp>
        <p:nvSpPr>
          <p:cNvPr id="17" name="text"/>
          <p:cNvSpPr txBox="1"/>
          <p:nvPr/>
        </p:nvSpPr>
        <p:spPr>
          <a:xfrm>
            <a:off x="5376672" y="4215384"/>
            <a:ext cx="1737360" cy="502920"/>
          </a:xfrm>
          <a:prstGeom prst="rect">
            <a:avLst/>
          </a:prstGeom>
          <a:noFill/>
          <a:ln/>
        </p:spPr>
        <p:txBody>
          <a:bodyPr wrap="square" lIns="0" tIns="0" rIns="0" bIns="0" rtlCol="0" anchor="ctr"/>
          <a:lstStyle/>
          <a:p>
            <a:pPr algn="l" indent="0" marL="0">
              <a:lnSpc>
                <a:spcPct val="110000"/>
              </a:lnSpc>
              <a:buNone/>
            </a:pPr>
            <a:r>
              <a:rPr lang="en-US" sz="2400" spc="-30" kern="0" dirty="0">
                <a:solidFill>
                  <a:srgbClr val="FFFFFF"/>
                </a:solidFill>
                <a:latin typeface="Outfit Medium" pitchFamily="34" charset="0"/>
                <a:ea typeface="Outfit Medium" pitchFamily="34" charset="-122"/>
                <a:cs typeface="Outfit Medium" pitchFamily="34" charset="-120"/>
              </a:rPr>
              <a:t>Kemitraan</a:t>
            </a:r>
            <a:endParaRPr lang="en-US" sz="2400" dirty="0"/>
          </a:p>
        </p:txBody>
      </p:sp>
      <p:sp>
        <p:nvSpPr>
          <p:cNvPr id="18" name="text"/>
          <p:cNvSpPr txBox="1"/>
          <p:nvPr/>
        </p:nvSpPr>
        <p:spPr>
          <a:xfrm>
            <a:off x="5376672" y="4764024"/>
            <a:ext cx="1737360" cy="941832"/>
          </a:xfrm>
          <a:prstGeom prst="rect">
            <a:avLst/>
          </a:prstGeom>
          <a:noFill/>
          <a:ln/>
        </p:spPr>
        <p:txBody>
          <a:bodyPr wrap="square" lIns="0" tIns="0" rIns="0" bIns="0" rtlCol="0" anchor="t"/>
          <a:lstStyle/>
          <a:p>
            <a:pPr algn="l" indent="0" marL="0">
              <a:lnSpc>
                <a:spcPct val="108000"/>
              </a:lnSpc>
              <a:buNone/>
            </a:pPr>
            <a:r>
              <a:rPr lang="en-US" sz="1400" dirty="0">
                <a:solidFill>
                  <a:srgbClr val="BDBDC2"/>
                </a:solidFill>
                <a:latin typeface="Outfit" pitchFamily="34" charset="0"/>
                <a:ea typeface="Outfit" pitchFamily="34" charset="-122"/>
                <a:cs typeface="Outfit" pitchFamily="34" charset="-120"/>
              </a:rPr>
              <a:t>Outsourcing, aliansi, belajar dari mitra.</a:t>
            </a:r>
            <a:endParaRPr lang="en-US" sz="1400" dirty="0"/>
          </a:p>
        </p:txBody>
      </p:sp>
      <p:sp>
        <p:nvSpPr>
          <p:cNvPr id="19" name="text"/>
          <p:cNvSpPr txBox="1"/>
          <p:nvPr/>
        </p:nvSpPr>
        <p:spPr>
          <a:xfrm>
            <a:off x="502920" y="5943600"/>
            <a:ext cx="6858000" cy="640080"/>
          </a:xfrm>
          <a:prstGeom prst="rect">
            <a:avLst/>
          </a:prstGeom>
          <a:noFill/>
          <a:ln/>
        </p:spPr>
        <p:txBody>
          <a:bodyPr wrap="square" lIns="0" tIns="0" rIns="0" bIns="0" rtlCol="0" anchor="t"/>
          <a:lstStyle/>
          <a:p>
            <a:pPr algn="l" indent="0" marL="0">
              <a:lnSpc>
                <a:spcPct val="106000"/>
              </a:lnSpc>
              <a:buNone/>
            </a:pPr>
            <a:r>
              <a:rPr lang="en-US" sz="1700" dirty="0">
                <a:solidFill>
                  <a:srgbClr val="1A1A1C"/>
                </a:solidFill>
                <a:latin typeface="Outfit" pitchFamily="34" charset="0"/>
                <a:ea typeface="Outfit" pitchFamily="34" charset="-122"/>
                <a:cs typeface="Outfit" pitchFamily="34" charset="-120"/>
              </a:rPr>
              <a:t>Merumuskan berarti mengidentifikasi capability; mengeksekusi berarti memperoleh dan menyegarkannya.</a:t>
            </a:r>
            <a:endParaRPr lang="en-US" sz="1700" dirty="0"/>
          </a:p>
        </p:txBody>
      </p:sp>
      <p:pic>
        <p:nvPicPr>
          <p:cNvPr id="20" name="Teknisi mengajari pemagang" descr="preencoded.png">    </p:cNvPr>
          <p:cNvPicPr>
            <a:picLocks noChangeAspect="1"/>
          </p:cNvPicPr>
          <p:nvPr/>
        </p:nvPicPr>
        <p:blipFill>
          <a:blip r:embed="rId1"/>
          <a:stretch>
            <a:fillRect/>
          </a:stretch>
        </p:blipFill>
        <p:spPr>
          <a:xfrm>
            <a:off x="7589520" y="658368"/>
            <a:ext cx="4099255" cy="6473952"/>
          </a:xfrm>
          <a:prstGeom prst="rect">
            <a:avLst/>
          </a:prstGeom>
        </p:spPr>
      </p:pic>
      <p:sp>
        <p:nvSpPr>
          <p:cNvPr id="21"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10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10000"/>
              </a:lnSpc>
              <a:buNone/>
            </a:pPr>
            <a:endParaRPr lang="en-US" sz="1050" dirty="0"/>
          </a:p>
        </p:txBody>
      </p:sp>
      <p:sp>
        <p:nvSpPr>
          <p:cNvPr id="7" name="text"/>
          <p:cNvSpPr txBox="1"/>
          <p:nvPr/>
        </p:nvSpPr>
        <p:spPr>
          <a:xfrm>
            <a:off x="502920" y="868680"/>
            <a:ext cx="5303520" cy="1828800"/>
          </a:xfrm>
          <a:prstGeom prst="rect">
            <a:avLst/>
          </a:prstGeom>
          <a:noFill/>
          <a:ln/>
        </p:spPr>
        <p:txBody>
          <a:bodyPr wrap="square" lIns="0" tIns="0" rIns="0" bIns="0" rtlCol="0" anchor="t"/>
          <a:lstStyle/>
          <a:p>
            <a:pPr algn="l" indent="0" marL="0">
              <a:lnSpc>
                <a:spcPct val="98000"/>
              </a:lnSpc>
              <a:buNone/>
            </a:pPr>
            <a:r>
              <a:rPr lang="en-US" sz="3800" spc="-50" kern="0" dirty="0">
                <a:solidFill>
                  <a:srgbClr val="141417"/>
                </a:solidFill>
                <a:latin typeface="Outfit Medium" pitchFamily="34" charset="0"/>
                <a:ea typeface="Outfit Medium" pitchFamily="34" charset="-122"/>
                <a:cs typeface="Outfit Medium" pitchFamily="34" charset="-120"/>
              </a:rPr>
              <a:t>CAPABILITY TUMBUH BERTAHAP</a:t>
            </a:r>
            <a:endParaRPr lang="en-US" sz="3800" dirty="0"/>
          </a:p>
        </p:txBody>
      </p:sp>
      <p:sp>
        <p:nvSpPr>
          <p:cNvPr id="8" name="text"/>
          <p:cNvSpPr txBox="1"/>
          <p:nvPr/>
        </p:nvSpPr>
        <p:spPr>
          <a:xfrm>
            <a:off x="6400800" y="868680"/>
            <a:ext cx="5257800" cy="2103120"/>
          </a:xfrm>
          <a:prstGeom prst="rect">
            <a:avLst/>
          </a:prstGeom>
          <a:noFill/>
          <a:ln/>
        </p:spPr>
        <p:txBody>
          <a:bodyPr wrap="square" lIns="0" tIns="0" rIns="0" bIns="0" rtlCol="0" anchor="t"/>
          <a:lstStyle/>
          <a:p>
            <a:pPr algn="l" indent="0" marL="0">
              <a:lnSpc>
                <a:spcPct val="108000"/>
              </a:lnSpc>
              <a:buNone/>
            </a:pPr>
            <a:r>
              <a:rPr lang="en-US" sz="1800" dirty="0">
                <a:solidFill>
                  <a:srgbClr val="1A1A1C"/>
                </a:solidFill>
                <a:latin typeface="Outfit" pitchFamily="34" charset="0"/>
                <a:ea typeface="Outfit" pitchFamily="34" charset="-122"/>
                <a:cs typeface="Outfit" pitchFamily="34" charset="-120"/>
              </a:rPr>
              <a:t>Ability yang belum sempurna menjadi tried-and-true competence lewat pengulangan, lalu dijaga sebagai dynamic capability. Pembelajaran yang dirancang dan insentif mempercepatnya.</a:t>
            </a:r>
            <a:endParaRPr lang="en-US" sz="1800" dirty="0"/>
          </a:p>
        </p:txBody>
      </p:sp>
      <p:sp>
        <p:nvSpPr>
          <p:cNvPr id="9" name="card"/>
          <p:cNvSpPr/>
          <p:nvPr/>
        </p:nvSpPr>
        <p:spPr>
          <a:xfrm>
            <a:off x="502920" y="3154680"/>
            <a:ext cx="4206240" cy="3017520"/>
          </a:xfrm>
          <a:prstGeom prst="roundRect">
            <a:avLst>
              <a:gd name="adj" fmla="val 6061"/>
            </a:avLst>
          </a:prstGeom>
          <a:solidFill>
            <a:srgbClr val="141417"/>
          </a:solidFill>
          <a:ln w="6350">
            <a:solidFill>
              <a:srgbClr val="141417"/>
            </a:solidFill>
            <a:prstDash val="solid"/>
          </a:ln>
        </p:spPr>
      </p:sp>
      <p:sp>
        <p:nvSpPr>
          <p:cNvPr id="10" name="text"/>
          <p:cNvSpPr txBox="1"/>
          <p:nvPr/>
        </p:nvSpPr>
        <p:spPr>
          <a:xfrm>
            <a:off x="822960" y="3429000"/>
            <a:ext cx="3566160" cy="320040"/>
          </a:xfrm>
          <a:prstGeom prst="rect">
            <a:avLst/>
          </a:prstGeom>
          <a:noFill/>
          <a:ln/>
        </p:spPr>
        <p:txBody>
          <a:bodyPr wrap="square" lIns="0" tIns="0" rIns="0" bIns="0" rtlCol="0" anchor="t"/>
          <a:lstStyle/>
          <a:p>
            <a:pPr algn="l" indent="0" marL="0">
              <a:lnSpc>
                <a:spcPct val="110000"/>
              </a:lnSpc>
              <a:buNone/>
            </a:pPr>
            <a:r>
              <a:rPr lang="en-US" sz="1400" spc="50" kern="0" dirty="0">
                <a:solidFill>
                  <a:srgbClr val="BDBDC2"/>
                </a:solidFill>
                <a:latin typeface="Outfit" pitchFamily="34" charset="0"/>
                <a:ea typeface="Outfit" pitchFamily="34" charset="-122"/>
                <a:cs typeface="Outfit" pitchFamily="34" charset="-120"/>
              </a:rPr>
              <a:t>Dua tahap di buku, lalu dijaga</a:t>
            </a:r>
            <a:endParaRPr lang="en-US" sz="1400" dirty="0"/>
          </a:p>
        </p:txBody>
      </p:sp>
      <p:sp>
        <p:nvSpPr>
          <p:cNvPr id="11" name="text"/>
          <p:cNvSpPr txBox="1"/>
          <p:nvPr/>
        </p:nvSpPr>
        <p:spPr>
          <a:xfrm>
            <a:off x="822960" y="3794760"/>
            <a:ext cx="3566160" cy="1357884"/>
          </a:xfrm>
          <a:prstGeom prst="rect">
            <a:avLst/>
          </a:prstGeom>
          <a:noFill/>
          <a:ln/>
        </p:spPr>
        <p:txBody>
          <a:bodyPr wrap="square" lIns="0" tIns="0" rIns="0" bIns="0" rtlCol="0" anchor="ctr"/>
          <a:lstStyle/>
          <a:p>
            <a:pPr algn="l" indent="0" marL="0">
              <a:lnSpc>
                <a:spcPct val="110000"/>
              </a:lnSpc>
              <a:buNone/>
            </a:pPr>
            <a:r>
              <a:rPr lang="en-US" sz="4400" spc="-100" kern="0" dirty="0">
                <a:solidFill>
                  <a:srgbClr val="FFFFFF"/>
                </a:solidFill>
                <a:latin typeface="Outfit Medium" pitchFamily="34" charset="0"/>
                <a:ea typeface="Outfit Medium" pitchFamily="34" charset="-122"/>
                <a:cs typeface="Outfit Medium" pitchFamily="34" charset="-120"/>
              </a:rPr>
              <a:t>2</a:t>
            </a:r>
            <a:endParaRPr lang="en-US" sz="4400" dirty="0"/>
          </a:p>
        </p:txBody>
      </p:sp>
      <p:sp>
        <p:nvSpPr>
          <p:cNvPr id="12" name="text"/>
          <p:cNvSpPr txBox="1"/>
          <p:nvPr/>
        </p:nvSpPr>
        <p:spPr>
          <a:xfrm>
            <a:off x="822960" y="4846320"/>
            <a:ext cx="3566160" cy="1143000"/>
          </a:xfrm>
          <a:prstGeom prst="rect">
            <a:avLst/>
          </a:prstGeom>
          <a:noFill/>
          <a:ln/>
        </p:spPr>
        <p:txBody>
          <a:bodyPr wrap="square" lIns="0" tIns="0" rIns="0" bIns="0" rtlCol="0" anchor="t"/>
          <a:lstStyle/>
          <a:p>
            <a:pPr algn="l" indent="0" marL="0">
              <a:lnSpc>
                <a:spcPct val="112000"/>
              </a:lnSpc>
              <a:buNone/>
            </a:pPr>
            <a:r>
              <a:rPr lang="en-US" sz="1600" dirty="0">
                <a:solidFill>
                  <a:srgbClr val="BDBDC2"/>
                </a:solidFill>
                <a:latin typeface="Outfit" pitchFamily="34" charset="0"/>
                <a:ea typeface="Outfit" pitchFamily="34" charset="-122"/>
                <a:cs typeface="Outfit" pitchFamily="34" charset="-120"/>
              </a:rPr>
              <a:t>Merekombinasi yang ada lebih mudah daripada membangun dari nol.</a:t>
            </a:r>
            <a:endParaRPr lang="en-US" sz="1600" dirty="0"/>
          </a:p>
        </p:txBody>
      </p:sp>
      <p:sp>
        <p:nvSpPr>
          <p:cNvPr id="13" name="track"/>
          <p:cNvSpPr/>
          <p:nvPr/>
        </p:nvSpPr>
        <p:spPr>
          <a:xfrm>
            <a:off x="6035040" y="3154680"/>
            <a:ext cx="384048" cy="1920240"/>
          </a:xfrm>
          <a:prstGeom prst="roundRect">
            <a:avLst>
              <a:gd name="adj" fmla="val 119048"/>
            </a:avLst>
          </a:prstGeom>
          <a:solidFill>
            <a:srgbClr val="E8E8E8"/>
          </a:solidFill>
          <a:ln w="6350">
            <a:solidFill>
              <a:srgbClr val="E8E8E8"/>
            </a:solidFill>
            <a:prstDash val="solid"/>
          </a:ln>
        </p:spPr>
      </p:sp>
      <p:sp>
        <p:nvSpPr>
          <p:cNvPr id="14" name="bar"/>
          <p:cNvSpPr/>
          <p:nvPr/>
        </p:nvSpPr>
        <p:spPr>
          <a:xfrm>
            <a:off x="6035040" y="4402836"/>
            <a:ext cx="384048" cy="672084"/>
          </a:xfrm>
          <a:prstGeom prst="roundRect">
            <a:avLst>
              <a:gd name="adj" fmla="val 119048"/>
            </a:avLst>
          </a:prstGeom>
          <a:solidFill>
            <a:srgbClr val="D4FC00"/>
          </a:solidFill>
          <a:ln w="6350">
            <a:solidFill>
              <a:srgbClr val="D4FC00"/>
            </a:solidFill>
            <a:prstDash val="solid"/>
          </a:ln>
        </p:spPr>
      </p:sp>
      <p:sp>
        <p:nvSpPr>
          <p:cNvPr id="15" name="text"/>
          <p:cNvSpPr txBox="1"/>
          <p:nvPr/>
        </p:nvSpPr>
        <p:spPr>
          <a:xfrm>
            <a:off x="6583680" y="4402836"/>
            <a:ext cx="1554480" cy="347472"/>
          </a:xfrm>
          <a:prstGeom prst="rect">
            <a:avLst/>
          </a:prstGeom>
          <a:noFill/>
          <a:ln/>
        </p:spPr>
        <p:txBody>
          <a:bodyPr wrap="square" lIns="0" tIns="0" rIns="0" bIns="0" rtlCol="0" anchor="t"/>
          <a:lstStyle/>
          <a:p>
            <a:pPr algn="l" indent="0" marL="0">
              <a:lnSpc>
                <a:spcPct val="110000"/>
              </a:lnSpc>
              <a:buNone/>
            </a:pPr>
            <a:r>
              <a:rPr lang="en-US" sz="1800" dirty="0">
                <a:solidFill>
                  <a:srgbClr val="1A1A1C"/>
                </a:solidFill>
                <a:latin typeface="Outfit Medium" pitchFamily="34" charset="0"/>
                <a:ea typeface="Outfit Medium" pitchFamily="34" charset="-122"/>
                <a:cs typeface="Outfit Medium" pitchFamily="34" charset="-120"/>
              </a:rPr>
              <a:t>Ability</a:t>
            </a:r>
            <a:endParaRPr lang="en-US" sz="1800" dirty="0"/>
          </a:p>
        </p:txBody>
      </p:sp>
      <p:sp>
        <p:nvSpPr>
          <p:cNvPr id="16" name="text"/>
          <p:cNvSpPr txBox="1"/>
          <p:nvPr/>
        </p:nvSpPr>
        <p:spPr>
          <a:xfrm>
            <a:off x="6583680" y="4768596"/>
            <a:ext cx="1554480" cy="731520"/>
          </a:xfrm>
          <a:prstGeom prst="rect">
            <a:avLst/>
          </a:prstGeom>
          <a:noFill/>
          <a:ln/>
        </p:spPr>
        <p:txBody>
          <a:bodyPr wrap="square" lIns="0" tIns="0" rIns="0" bIns="0" rtlCol="0" anchor="t"/>
          <a:lstStyle/>
          <a:p>
            <a:pPr algn="l" indent="0" marL="0">
              <a:lnSpc>
                <a:spcPct val="110000"/>
              </a:lnSpc>
              <a:buNone/>
            </a:pPr>
            <a:r>
              <a:rPr lang="en-US" sz="1400" dirty="0">
                <a:solidFill>
                  <a:srgbClr val="1A1A1C"/>
                </a:solidFill>
                <a:latin typeface="Outfit" pitchFamily="34" charset="0"/>
                <a:ea typeface="Outfit" pitchFamily="34" charset="-122"/>
                <a:cs typeface="Outfit" pitchFamily="34" charset="-120"/>
              </a:rPr>
              <a:t>memilih orang, bereksperimen</a:t>
            </a:r>
            <a:endParaRPr lang="en-US" sz="1400" dirty="0"/>
          </a:p>
        </p:txBody>
      </p:sp>
      <p:sp>
        <p:nvSpPr>
          <p:cNvPr id="17" name="track"/>
          <p:cNvSpPr/>
          <p:nvPr/>
        </p:nvSpPr>
        <p:spPr>
          <a:xfrm>
            <a:off x="8101584" y="3154680"/>
            <a:ext cx="384048" cy="1920240"/>
          </a:xfrm>
          <a:prstGeom prst="roundRect">
            <a:avLst>
              <a:gd name="adj" fmla="val 119048"/>
            </a:avLst>
          </a:prstGeom>
          <a:solidFill>
            <a:srgbClr val="E8E8E8"/>
          </a:solidFill>
          <a:ln w="6350">
            <a:solidFill>
              <a:srgbClr val="E8E8E8"/>
            </a:solidFill>
            <a:prstDash val="solid"/>
          </a:ln>
        </p:spPr>
      </p:sp>
      <p:sp>
        <p:nvSpPr>
          <p:cNvPr id="18" name="bar"/>
          <p:cNvSpPr/>
          <p:nvPr/>
        </p:nvSpPr>
        <p:spPr>
          <a:xfrm>
            <a:off x="8101584" y="3826764"/>
            <a:ext cx="384048" cy="1248156"/>
          </a:xfrm>
          <a:prstGeom prst="roundRect">
            <a:avLst>
              <a:gd name="adj" fmla="val 119048"/>
            </a:avLst>
          </a:prstGeom>
          <a:solidFill>
            <a:srgbClr val="D4FC00"/>
          </a:solidFill>
          <a:ln w="6350">
            <a:solidFill>
              <a:srgbClr val="D4FC00"/>
            </a:solidFill>
            <a:prstDash val="solid"/>
          </a:ln>
        </p:spPr>
      </p:sp>
      <p:sp>
        <p:nvSpPr>
          <p:cNvPr id="19" name="text"/>
          <p:cNvSpPr txBox="1"/>
          <p:nvPr/>
        </p:nvSpPr>
        <p:spPr>
          <a:xfrm>
            <a:off x="8650224" y="3826764"/>
            <a:ext cx="1554480" cy="347472"/>
          </a:xfrm>
          <a:prstGeom prst="rect">
            <a:avLst/>
          </a:prstGeom>
          <a:noFill/>
          <a:ln/>
        </p:spPr>
        <p:txBody>
          <a:bodyPr wrap="square" lIns="0" tIns="0" rIns="0" bIns="0" rtlCol="0" anchor="t"/>
          <a:lstStyle/>
          <a:p>
            <a:pPr algn="l" indent="0" marL="0">
              <a:lnSpc>
                <a:spcPct val="110000"/>
              </a:lnSpc>
              <a:buNone/>
            </a:pPr>
            <a:r>
              <a:rPr lang="en-US" sz="1800" dirty="0">
                <a:solidFill>
                  <a:srgbClr val="1A1A1C"/>
                </a:solidFill>
                <a:latin typeface="Outfit Medium" pitchFamily="34" charset="0"/>
                <a:ea typeface="Outfit Medium" pitchFamily="34" charset="-122"/>
                <a:cs typeface="Outfit Medium" pitchFamily="34" charset="-120"/>
              </a:rPr>
              <a:t>Competence</a:t>
            </a:r>
            <a:endParaRPr lang="en-US" sz="1800" dirty="0"/>
          </a:p>
        </p:txBody>
      </p:sp>
      <p:sp>
        <p:nvSpPr>
          <p:cNvPr id="20" name="text"/>
          <p:cNvSpPr txBox="1"/>
          <p:nvPr/>
        </p:nvSpPr>
        <p:spPr>
          <a:xfrm>
            <a:off x="8650224" y="4192524"/>
            <a:ext cx="1554480" cy="731520"/>
          </a:xfrm>
          <a:prstGeom prst="rect">
            <a:avLst/>
          </a:prstGeom>
          <a:noFill/>
          <a:ln/>
        </p:spPr>
        <p:txBody>
          <a:bodyPr wrap="square" lIns="0" tIns="0" rIns="0" bIns="0" rtlCol="0" anchor="t"/>
          <a:lstStyle/>
          <a:p>
            <a:pPr algn="l" indent="0" marL="0">
              <a:lnSpc>
                <a:spcPct val="110000"/>
              </a:lnSpc>
              <a:buNone/>
            </a:pPr>
            <a:r>
              <a:rPr lang="en-US" sz="1400" dirty="0">
                <a:solidFill>
                  <a:srgbClr val="1A1A1C"/>
                </a:solidFill>
                <a:latin typeface="Outfit" pitchFamily="34" charset="0"/>
                <a:ea typeface="Outfit" pitchFamily="34" charset="-122"/>
                <a:cs typeface="Outfit" pitchFamily="34" charset="-120"/>
              </a:rPr>
              <a:t>konsisten lewat pengulangan</a:t>
            </a:r>
            <a:endParaRPr lang="en-US" sz="1400" dirty="0"/>
          </a:p>
        </p:txBody>
      </p:sp>
      <p:sp>
        <p:nvSpPr>
          <p:cNvPr id="21" name="track"/>
          <p:cNvSpPr/>
          <p:nvPr/>
        </p:nvSpPr>
        <p:spPr>
          <a:xfrm>
            <a:off x="10168128" y="3154680"/>
            <a:ext cx="384048" cy="1920240"/>
          </a:xfrm>
          <a:prstGeom prst="roundRect">
            <a:avLst>
              <a:gd name="adj" fmla="val 119048"/>
            </a:avLst>
          </a:prstGeom>
          <a:solidFill>
            <a:srgbClr val="E8E8E8"/>
          </a:solidFill>
          <a:ln w="6350">
            <a:solidFill>
              <a:srgbClr val="E8E8E8"/>
            </a:solidFill>
            <a:prstDash val="solid"/>
          </a:ln>
        </p:spPr>
      </p:sp>
      <p:sp>
        <p:nvSpPr>
          <p:cNvPr id="22" name="bar"/>
          <p:cNvSpPr/>
          <p:nvPr/>
        </p:nvSpPr>
        <p:spPr>
          <a:xfrm>
            <a:off x="10168128" y="3250692"/>
            <a:ext cx="384048" cy="1824228"/>
          </a:xfrm>
          <a:prstGeom prst="roundRect">
            <a:avLst>
              <a:gd name="adj" fmla="val 119048"/>
            </a:avLst>
          </a:prstGeom>
          <a:solidFill>
            <a:srgbClr val="D4FC00"/>
          </a:solidFill>
          <a:ln w="6350">
            <a:solidFill>
              <a:srgbClr val="D4FC00"/>
            </a:solidFill>
            <a:prstDash val="solid"/>
          </a:ln>
        </p:spPr>
      </p:sp>
      <p:sp>
        <p:nvSpPr>
          <p:cNvPr id="23" name="text"/>
          <p:cNvSpPr txBox="1"/>
          <p:nvPr/>
        </p:nvSpPr>
        <p:spPr>
          <a:xfrm>
            <a:off x="10716768" y="3250692"/>
            <a:ext cx="1554480" cy="347472"/>
          </a:xfrm>
          <a:prstGeom prst="rect">
            <a:avLst/>
          </a:prstGeom>
          <a:noFill/>
          <a:ln/>
        </p:spPr>
        <p:txBody>
          <a:bodyPr wrap="square" lIns="0" tIns="0" rIns="0" bIns="0" rtlCol="0" anchor="t"/>
          <a:lstStyle/>
          <a:p>
            <a:pPr algn="l" indent="0" marL="0">
              <a:lnSpc>
                <a:spcPct val="110000"/>
              </a:lnSpc>
              <a:buNone/>
            </a:pPr>
            <a:r>
              <a:rPr lang="en-US" sz="1800" dirty="0">
                <a:solidFill>
                  <a:srgbClr val="1A1A1C"/>
                </a:solidFill>
                <a:latin typeface="Outfit Medium" pitchFamily="34" charset="0"/>
                <a:ea typeface="Outfit Medium" pitchFamily="34" charset="-122"/>
                <a:cs typeface="Outfit Medium" pitchFamily="34" charset="-120"/>
              </a:rPr>
              <a:t>Diperbarui</a:t>
            </a:r>
            <a:endParaRPr lang="en-US" sz="1800" dirty="0"/>
          </a:p>
        </p:txBody>
      </p:sp>
      <p:sp>
        <p:nvSpPr>
          <p:cNvPr id="24" name="text"/>
          <p:cNvSpPr txBox="1"/>
          <p:nvPr/>
        </p:nvSpPr>
        <p:spPr>
          <a:xfrm>
            <a:off x="10716768" y="3616452"/>
            <a:ext cx="1554480" cy="731520"/>
          </a:xfrm>
          <a:prstGeom prst="rect">
            <a:avLst/>
          </a:prstGeom>
          <a:noFill/>
          <a:ln/>
        </p:spPr>
        <p:txBody>
          <a:bodyPr wrap="square" lIns="0" tIns="0" rIns="0" bIns="0" rtlCol="0" anchor="t"/>
          <a:lstStyle/>
          <a:p>
            <a:pPr algn="l" indent="0" marL="0">
              <a:lnSpc>
                <a:spcPct val="110000"/>
              </a:lnSpc>
              <a:buNone/>
            </a:pPr>
            <a:r>
              <a:rPr lang="en-US" sz="1400" dirty="0">
                <a:solidFill>
                  <a:srgbClr val="1A1A1C"/>
                </a:solidFill>
                <a:latin typeface="Outfit" pitchFamily="34" charset="0"/>
                <a:ea typeface="Outfit" pitchFamily="34" charset="-122"/>
                <a:cs typeface="Outfit" pitchFamily="34" charset="-120"/>
              </a:rPr>
              <a:t>dynamic capability (Bab 4)</a:t>
            </a:r>
            <a:endParaRPr lang="en-US" sz="1400" dirty="0"/>
          </a:p>
        </p:txBody>
      </p:sp>
      <p:sp>
        <p:nvSpPr>
          <p:cNvPr id="25" name="text"/>
          <p:cNvSpPr txBox="1"/>
          <p:nvPr/>
        </p:nvSpPr>
        <p:spPr>
          <a:xfrm>
            <a:off x="6035040" y="5394960"/>
            <a:ext cx="5559552" cy="868680"/>
          </a:xfrm>
          <a:prstGeom prst="rect">
            <a:avLst/>
          </a:prstGeom>
          <a:noFill/>
          <a:ln/>
        </p:spPr>
        <p:txBody>
          <a:bodyPr wrap="square" lIns="0" tIns="0" rIns="0" bIns="0" rtlCol="0" anchor="t"/>
          <a:lstStyle/>
          <a:p>
            <a:pPr algn="l" indent="0" marL="0">
              <a:lnSpc>
                <a:spcPct val="106000"/>
              </a:lnSpc>
              <a:buNone/>
            </a:pPr>
            <a:r>
              <a:rPr lang="en-US" sz="1500" dirty="0">
                <a:solidFill>
                  <a:srgbClr val="1A1A1C"/>
                </a:solidFill>
                <a:latin typeface="Outfit" pitchFamily="34" charset="0"/>
                <a:ea typeface="Outfit" pitchFamily="34" charset="-122"/>
                <a:cs typeface="Outfit" pitchFamily="34" charset="-120"/>
              </a:rPr>
              <a:t>Contoh: Williams-Sonoma, dari katalog (1970) ke e-commerce (2000); Toyota menyempurnakan TPS hingga melampaui GM.</a:t>
            </a:r>
            <a:endParaRPr lang="en-US" sz="1500" dirty="0"/>
          </a:p>
        </p:txBody>
      </p:sp>
      <p:sp>
        <p:nvSpPr>
          <p:cNvPr id="26"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10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10000"/>
              </a:lnSpc>
              <a:buNone/>
            </a:pPr>
            <a:endParaRPr lang="en-US" sz="1050" dirty="0"/>
          </a:p>
        </p:txBody>
      </p:sp>
      <p:pic>
        <p:nvPicPr>
          <p:cNvPr id="7" name="Menempel catatan di dinding putih" descr="preencoded.png">    </p:cNvPr>
          <p:cNvPicPr>
            <a:picLocks noChangeAspect="1"/>
          </p:cNvPicPr>
          <p:nvPr/>
        </p:nvPicPr>
        <p:blipFill>
          <a:blip r:embed="rId1"/>
          <a:stretch>
            <a:fillRect/>
          </a:stretch>
        </p:blipFill>
        <p:spPr>
          <a:xfrm>
            <a:off x="6172200" y="658368"/>
            <a:ext cx="2880360" cy="2743200"/>
          </a:xfrm>
          <a:prstGeom prst="rect">
            <a:avLst/>
          </a:prstGeom>
        </p:spPr>
      </p:pic>
      <p:sp>
        <p:nvSpPr>
          <p:cNvPr id="8" name="card"/>
          <p:cNvSpPr/>
          <p:nvPr/>
        </p:nvSpPr>
        <p:spPr>
          <a:xfrm>
            <a:off x="5897880" y="1234440"/>
            <a:ext cx="685800" cy="685800"/>
          </a:xfrm>
          <a:prstGeom prst="roundRect">
            <a:avLst>
              <a:gd name="adj" fmla="val 21333"/>
            </a:avLst>
          </a:prstGeom>
          <a:solidFill>
            <a:srgbClr val="141417"/>
          </a:solidFill>
          <a:ln w="6350">
            <a:solidFill>
              <a:srgbClr val="141417"/>
            </a:solidFill>
            <a:prstDash val="solid"/>
          </a:ln>
        </p:spPr>
      </p:sp>
      <p:pic>
        <p:nvPicPr>
          <p:cNvPr id="9" name="star" descr="preencoded.png">    </p:cNvPr>
          <p:cNvPicPr>
            <a:picLocks noChangeAspect="1"/>
          </p:cNvPicPr>
          <p:nvPr/>
        </p:nvPicPr>
        <p:blipFill>
          <a:blip r:embed="rId2"/>
          <a:stretch>
            <a:fillRect/>
          </a:stretch>
        </p:blipFill>
        <p:spPr>
          <a:xfrm>
            <a:off x="6069330" y="1405890"/>
            <a:ext cx="342900" cy="342900"/>
          </a:xfrm>
          <a:prstGeom prst="rect">
            <a:avLst/>
          </a:prstGeom>
        </p:spPr>
      </p:pic>
      <p:pic>
        <p:nvPicPr>
          <p:cNvPr id="10" name="Rapat di ruang putih" descr="preencoded.png">    </p:cNvPr>
          <p:cNvPicPr>
            <a:picLocks noChangeAspect="1"/>
          </p:cNvPicPr>
          <p:nvPr/>
        </p:nvPicPr>
        <p:blipFill>
          <a:blip r:embed="rId3"/>
          <a:stretch>
            <a:fillRect/>
          </a:stretch>
        </p:blipFill>
        <p:spPr>
          <a:xfrm>
            <a:off x="9235440" y="658368"/>
            <a:ext cx="2453335" cy="5120640"/>
          </a:xfrm>
          <a:prstGeom prst="rect">
            <a:avLst/>
          </a:prstGeom>
        </p:spPr>
      </p:pic>
      <p:sp>
        <p:nvSpPr>
          <p:cNvPr id="11" name="card"/>
          <p:cNvSpPr/>
          <p:nvPr/>
        </p:nvSpPr>
        <p:spPr>
          <a:xfrm>
            <a:off x="9921240" y="4297680"/>
            <a:ext cx="1767535" cy="1645920"/>
          </a:xfrm>
          <a:prstGeom prst="roundRect">
            <a:avLst>
              <a:gd name="adj" fmla="val 11111"/>
            </a:avLst>
          </a:prstGeom>
          <a:solidFill>
            <a:srgbClr val="D4FC00"/>
          </a:solidFill>
          <a:ln w="6350">
            <a:solidFill>
              <a:srgbClr val="D4FC00"/>
            </a:solidFill>
            <a:prstDash val="solid"/>
          </a:ln>
        </p:spPr>
      </p:sp>
      <p:sp>
        <p:nvSpPr>
          <p:cNvPr id="12" name="text"/>
          <p:cNvSpPr txBox="1"/>
          <p:nvPr/>
        </p:nvSpPr>
        <p:spPr>
          <a:xfrm>
            <a:off x="10104120" y="4389120"/>
            <a:ext cx="1508760" cy="731520"/>
          </a:xfrm>
          <a:prstGeom prst="rect">
            <a:avLst/>
          </a:prstGeom>
          <a:noFill/>
          <a:ln/>
        </p:spPr>
        <p:txBody>
          <a:bodyPr wrap="square" lIns="0" tIns="0" rIns="0" bIns="0" rtlCol="0" anchor="ctr"/>
          <a:lstStyle/>
          <a:p>
            <a:pPr algn="l" indent="0" marL="0">
              <a:lnSpc>
                <a:spcPct val="95000"/>
              </a:lnSpc>
              <a:buNone/>
            </a:pPr>
            <a:r>
              <a:rPr lang="en-US" sz="2000" spc="-30" kern="0" dirty="0">
                <a:solidFill>
                  <a:srgbClr val="141417"/>
                </a:solidFill>
                <a:latin typeface="Outfit Medium" pitchFamily="34" charset="0"/>
                <a:ea typeface="Outfit Medium" pitchFamily="34" charset="-122"/>
                <a:cs typeface="Outfit Medium" pitchFamily="34" charset="-120"/>
              </a:rPr>
              <a:t>&gt; US$25 miliar</a:t>
            </a:r>
            <a:endParaRPr lang="en-US" sz="2000" dirty="0"/>
          </a:p>
        </p:txBody>
      </p:sp>
      <p:sp>
        <p:nvSpPr>
          <p:cNvPr id="13" name="text"/>
          <p:cNvSpPr txBox="1"/>
          <p:nvPr/>
        </p:nvSpPr>
        <p:spPr>
          <a:xfrm>
            <a:off x="10104120" y="5120640"/>
            <a:ext cx="1508760" cy="822960"/>
          </a:xfrm>
          <a:prstGeom prst="rect">
            <a:avLst/>
          </a:prstGeom>
          <a:noFill/>
          <a:ln/>
        </p:spPr>
        <p:txBody>
          <a:bodyPr wrap="square" lIns="0" tIns="0" rIns="0" bIns="0" rtlCol="0" anchor="t"/>
          <a:lstStyle/>
          <a:p>
            <a:pPr algn="l" indent="0" marL="0">
              <a:lnSpc>
                <a:spcPct val="108000"/>
              </a:lnSpc>
              <a:buNone/>
            </a:pPr>
            <a:r>
              <a:rPr lang="en-US" sz="1300" dirty="0">
                <a:solidFill>
                  <a:srgbClr val="1A1A1C"/>
                </a:solidFill>
                <a:latin typeface="Outfit" pitchFamily="34" charset="0"/>
                <a:ea typeface="Outfit" pitchFamily="34" charset="-122"/>
                <a:cs typeface="Outfit" pitchFamily="34" charset="-120"/>
              </a:rPr>
              <a:t>akuisisi teknologi Meta; belum tentu terintegrasi</a:t>
            </a:r>
            <a:endParaRPr lang="en-US" sz="1300" dirty="0"/>
          </a:p>
        </p:txBody>
      </p:sp>
      <p:sp>
        <p:nvSpPr>
          <p:cNvPr id="14" name="text"/>
          <p:cNvSpPr txBox="1"/>
          <p:nvPr/>
        </p:nvSpPr>
        <p:spPr>
          <a:xfrm>
            <a:off x="502920" y="2377440"/>
            <a:ext cx="5394960" cy="2011680"/>
          </a:xfrm>
          <a:prstGeom prst="rect">
            <a:avLst/>
          </a:prstGeom>
          <a:noFill/>
          <a:ln/>
        </p:spPr>
        <p:txBody>
          <a:bodyPr wrap="square" lIns="0" tIns="0" rIns="0" bIns="0" rtlCol="0" anchor="t"/>
          <a:lstStyle/>
          <a:p>
            <a:pPr algn="l" indent="0" marL="0">
              <a:lnSpc>
                <a:spcPct val="98000"/>
              </a:lnSpc>
              <a:buNone/>
            </a:pPr>
            <a:r>
              <a:rPr lang="en-US" sz="3400" spc="-50" kern="0" dirty="0">
                <a:solidFill>
                  <a:srgbClr val="141417"/>
                </a:solidFill>
                <a:latin typeface="Outfit Medium" pitchFamily="34" charset="0"/>
                <a:ea typeface="Outfit Medium" pitchFamily="34" charset="-122"/>
                <a:cs typeface="Outfit Medium" pitchFamily="34" charset="-120"/>
              </a:rPr>
              <a:t>AKUISISI DAN KEMITRAAN MEMBELI WAKTU, BUKAN INTEGRASI</a:t>
            </a:r>
            <a:endParaRPr lang="en-US" sz="3400" dirty="0"/>
          </a:p>
        </p:txBody>
      </p:sp>
      <p:sp>
        <p:nvSpPr>
          <p:cNvPr id="15" name="text"/>
          <p:cNvSpPr txBox="1"/>
          <p:nvPr/>
        </p:nvSpPr>
        <p:spPr>
          <a:xfrm>
            <a:off x="502920" y="4434840"/>
            <a:ext cx="5349240" cy="1920240"/>
          </a:xfrm>
          <a:prstGeom prst="rect">
            <a:avLst/>
          </a:prstGeom>
          <a:noFill/>
          <a:ln/>
        </p:spPr>
        <p:txBody>
          <a:bodyPr wrap="square" lIns="0" tIns="0" rIns="0" bIns="0" rtlCol="0" anchor="t"/>
          <a:lstStyle/>
          <a:p>
            <a:pPr algn="l" indent="0" marL="0">
              <a:lnSpc>
                <a:spcPct val="108000"/>
              </a:lnSpc>
              <a:buNone/>
            </a:pPr>
            <a:r>
              <a:rPr lang="en-US" sz="1800" dirty="0">
                <a:solidFill>
                  <a:srgbClr val="1A1A1C"/>
                </a:solidFill>
                <a:latin typeface="Outfit" pitchFamily="34" charset="0"/>
                <a:ea typeface="Outfit" pitchFamily="34" charset="-122"/>
                <a:cs typeface="Outfit" pitchFamily="34" charset="-120"/>
              </a:rPr>
              <a:t>Akuisisi tepat bila capability jauh dari basis yang ada atau waktu mendesak, tetapi tacit knowledge sulit dipindahkan. Kemitraan: outsource, aliansi, dan belajar dari mitra.</a:t>
            </a:r>
            <a:endParaRPr lang="en-US" sz="1800" dirty="0"/>
          </a:p>
        </p:txBody>
      </p:sp>
      <p:sp>
        <p:nvSpPr>
          <p:cNvPr id="16"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10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10000"/>
              </a:lnSpc>
              <a:buNone/>
            </a:pPr>
            <a:endParaRPr lang="en-US" sz="1050" dirty="0"/>
          </a:p>
        </p:txBody>
      </p:sp>
      <p:pic>
        <p:nvPicPr>
          <p:cNvPr id="7" name="Atelier busana putih" descr="preencoded.png">    </p:cNvPr>
          <p:cNvPicPr>
            <a:picLocks noChangeAspect="1"/>
          </p:cNvPicPr>
          <p:nvPr/>
        </p:nvPicPr>
        <p:blipFill>
          <a:blip r:embed="rId1"/>
          <a:stretch>
            <a:fillRect/>
          </a:stretch>
        </p:blipFill>
        <p:spPr>
          <a:xfrm>
            <a:off x="502920" y="658368"/>
            <a:ext cx="11185855" cy="3246120"/>
          </a:xfrm>
          <a:prstGeom prst="rect">
            <a:avLst/>
          </a:prstGeom>
        </p:spPr>
      </p:pic>
      <p:sp>
        <p:nvSpPr>
          <p:cNvPr id="8" name="toggle"/>
          <p:cNvSpPr/>
          <p:nvPr/>
        </p:nvSpPr>
        <p:spPr>
          <a:xfrm>
            <a:off x="10911535" y="86868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11213287" y="90525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2"/>
          <a:stretch>
            <a:fillRect/>
          </a:stretch>
        </p:blipFill>
        <p:spPr>
          <a:xfrm>
            <a:off x="11254435" y="946404"/>
            <a:ext cx="118872" cy="118872"/>
          </a:xfrm>
          <a:prstGeom prst="rect">
            <a:avLst/>
          </a:prstGeom>
        </p:spPr>
      </p:pic>
      <p:sp>
        <p:nvSpPr>
          <p:cNvPr id="11" name="card"/>
          <p:cNvSpPr/>
          <p:nvPr/>
        </p:nvSpPr>
        <p:spPr>
          <a:xfrm>
            <a:off x="731520" y="1965960"/>
            <a:ext cx="5852160" cy="1783080"/>
          </a:xfrm>
          <a:prstGeom prst="roundRect">
            <a:avLst>
              <a:gd name="adj" fmla="val 7179"/>
            </a:avLst>
          </a:prstGeom>
          <a:solidFill>
            <a:srgbClr val="F4F4F4"/>
          </a:solidFill>
          <a:ln w="6350">
            <a:solidFill>
              <a:srgbClr val="F4F4F4"/>
            </a:solidFill>
            <a:prstDash val="solid"/>
          </a:ln>
        </p:spPr>
      </p:sp>
      <p:sp>
        <p:nvSpPr>
          <p:cNvPr id="12" name="text"/>
          <p:cNvSpPr txBox="1"/>
          <p:nvPr/>
        </p:nvSpPr>
        <p:spPr>
          <a:xfrm>
            <a:off x="914400" y="2011680"/>
            <a:ext cx="5577840" cy="1691640"/>
          </a:xfrm>
          <a:prstGeom prst="rect">
            <a:avLst/>
          </a:prstGeom>
          <a:noFill/>
          <a:ln/>
        </p:spPr>
        <p:txBody>
          <a:bodyPr wrap="square" lIns="0" tIns="0" rIns="0" bIns="0" rtlCol="0" anchor="ctr"/>
          <a:lstStyle/>
          <a:p>
            <a:pPr algn="l" indent="0" marL="0">
              <a:lnSpc>
                <a:spcPct val="98000"/>
              </a:lnSpc>
              <a:buNone/>
            </a:pPr>
            <a:r>
              <a:rPr lang="en-US" sz="3200" spc="-50" kern="0" dirty="0">
                <a:solidFill>
                  <a:srgbClr val="141417"/>
                </a:solidFill>
                <a:latin typeface="Outfit Medium" pitchFamily="34" charset="0"/>
                <a:ea typeface="Outfit Medium" pitchFamily="34" charset="-122"/>
                <a:cs typeface="Outfit Medium" pitchFamily="34" charset="-120"/>
              </a:rPr>
              <a:t>EKSEKUSI YANG UNGGUL ADALAH KEUNGGULAN ITU SENDIRI</a:t>
            </a:r>
            <a:endParaRPr lang="en-US" sz="3200" dirty="0"/>
          </a:p>
        </p:txBody>
      </p:sp>
      <p:sp>
        <p:nvSpPr>
          <p:cNvPr id="13" name="card"/>
          <p:cNvSpPr/>
          <p:nvPr/>
        </p:nvSpPr>
        <p:spPr>
          <a:xfrm>
            <a:off x="502920" y="3977640"/>
            <a:ext cx="4023360" cy="1554480"/>
          </a:xfrm>
          <a:prstGeom prst="roundRect">
            <a:avLst>
              <a:gd name="adj" fmla="val 11765"/>
            </a:avLst>
          </a:prstGeom>
          <a:solidFill>
            <a:srgbClr val="D4FC00"/>
          </a:solidFill>
          <a:ln w="6350">
            <a:solidFill>
              <a:srgbClr val="D4FC00"/>
            </a:solidFill>
            <a:prstDash val="solid"/>
          </a:ln>
        </p:spPr>
      </p:sp>
      <p:sp>
        <p:nvSpPr>
          <p:cNvPr id="14" name="text"/>
          <p:cNvSpPr txBox="1"/>
          <p:nvPr/>
        </p:nvSpPr>
        <p:spPr>
          <a:xfrm>
            <a:off x="731520" y="3977640"/>
            <a:ext cx="1737360" cy="1554480"/>
          </a:xfrm>
          <a:prstGeom prst="rect">
            <a:avLst/>
          </a:prstGeom>
          <a:noFill/>
          <a:ln/>
        </p:spPr>
        <p:txBody>
          <a:bodyPr wrap="square" lIns="0" tIns="0" rIns="0" bIns="0" rtlCol="0" anchor="ctr"/>
          <a:lstStyle/>
          <a:p>
            <a:pPr algn="l" indent="0" marL="0">
              <a:lnSpc>
                <a:spcPct val="110000"/>
              </a:lnSpc>
              <a:buNone/>
            </a:pPr>
            <a:r>
              <a:rPr lang="en-US" sz="3400" spc="-50" kern="0" dirty="0">
                <a:solidFill>
                  <a:srgbClr val="141417"/>
                </a:solidFill>
                <a:latin typeface="Outfit Medium" pitchFamily="34" charset="0"/>
                <a:ea typeface="Outfit Medium" pitchFamily="34" charset="-122"/>
                <a:cs typeface="Outfit Medium" pitchFamily="34" charset="-120"/>
              </a:rPr>
              <a:t>4 minggu</a:t>
            </a:r>
            <a:endParaRPr lang="en-US" sz="3400" dirty="0"/>
          </a:p>
        </p:txBody>
      </p:sp>
      <p:sp>
        <p:nvSpPr>
          <p:cNvPr id="15" name="text"/>
          <p:cNvSpPr txBox="1"/>
          <p:nvPr/>
        </p:nvSpPr>
        <p:spPr>
          <a:xfrm>
            <a:off x="2560320" y="3977640"/>
            <a:ext cx="1828800" cy="1554480"/>
          </a:xfrm>
          <a:prstGeom prst="rect">
            <a:avLst/>
          </a:prstGeom>
          <a:noFill/>
          <a:ln/>
        </p:spPr>
        <p:txBody>
          <a:bodyPr wrap="square" lIns="0" tIns="0" rIns="0" bIns="0" rtlCol="0" anchor="ctr"/>
          <a:lstStyle/>
          <a:p>
            <a:pPr algn="l" indent="0" marL="0">
              <a:lnSpc>
                <a:spcPct val="108000"/>
              </a:lnSpc>
              <a:buNone/>
            </a:pPr>
            <a:r>
              <a:rPr lang="en-US" sz="1400" dirty="0">
                <a:solidFill>
                  <a:srgbClr val="1A1A1C"/>
                </a:solidFill>
                <a:latin typeface="Outfit" pitchFamily="34" charset="0"/>
                <a:ea typeface="Outfit" pitchFamily="34" charset="-122"/>
                <a:cs typeface="Outfit" pitchFamily="34" charset="-120"/>
              </a:rPr>
              <a:t>dari desain sampai rak toko; peritel lain 6 bulan</a:t>
            </a:r>
            <a:endParaRPr lang="en-US" sz="1400" dirty="0"/>
          </a:p>
        </p:txBody>
      </p:sp>
      <p:sp>
        <p:nvSpPr>
          <p:cNvPr id="16" name="card"/>
          <p:cNvSpPr/>
          <p:nvPr/>
        </p:nvSpPr>
        <p:spPr>
          <a:xfrm>
            <a:off x="4663440" y="3977640"/>
            <a:ext cx="5166360" cy="1554480"/>
          </a:xfrm>
          <a:prstGeom prst="roundRect">
            <a:avLst>
              <a:gd name="adj" fmla="val 11765"/>
            </a:avLst>
          </a:prstGeom>
          <a:solidFill>
            <a:srgbClr val="E8E8E8"/>
          </a:solidFill>
          <a:ln w="6350">
            <a:solidFill>
              <a:srgbClr val="E8E8E8"/>
            </a:solidFill>
            <a:prstDash val="solid"/>
          </a:ln>
        </p:spPr>
      </p:sp>
      <p:sp>
        <p:nvSpPr>
          <p:cNvPr id="17" name="card"/>
          <p:cNvSpPr/>
          <p:nvPr/>
        </p:nvSpPr>
        <p:spPr>
          <a:xfrm>
            <a:off x="4663440" y="3977640"/>
            <a:ext cx="2560320" cy="1554480"/>
          </a:xfrm>
          <a:prstGeom prst="roundRect">
            <a:avLst>
              <a:gd name="adj" fmla="val 11765"/>
            </a:avLst>
          </a:prstGeom>
          <a:solidFill>
            <a:srgbClr val="E8E8E8"/>
          </a:solidFill>
          <a:ln w="6350">
            <a:solidFill>
              <a:srgbClr val="E8E8E8"/>
            </a:solidFill>
            <a:prstDash val="solid"/>
          </a:ln>
        </p:spPr>
      </p:sp>
      <p:sp>
        <p:nvSpPr>
          <p:cNvPr id="18" name="text"/>
          <p:cNvSpPr txBox="1"/>
          <p:nvPr/>
        </p:nvSpPr>
        <p:spPr>
          <a:xfrm>
            <a:off x="4892040" y="4123944"/>
            <a:ext cx="2103120" cy="502920"/>
          </a:xfrm>
          <a:prstGeom prst="rect">
            <a:avLst/>
          </a:prstGeom>
          <a:noFill/>
          <a:ln/>
        </p:spPr>
        <p:txBody>
          <a:bodyPr wrap="square" lIns="0" tIns="0" rIns="0" bIns="0" rtlCol="0" anchor="ctr"/>
          <a:lstStyle/>
          <a:p>
            <a:pPr algn="l" indent="0" marL="0">
              <a:lnSpc>
                <a:spcPct val="110000"/>
              </a:lnSpc>
              <a:buNone/>
            </a:pPr>
            <a:r>
              <a:rPr lang="en-US" sz="2400" spc="-30" kern="0" dirty="0">
                <a:solidFill>
                  <a:srgbClr val="141417"/>
                </a:solidFill>
                <a:latin typeface="Outfit Medium" pitchFamily="34" charset="0"/>
                <a:ea typeface="Outfit Medium" pitchFamily="34" charset="-122"/>
                <a:cs typeface="Outfit Medium" pitchFamily="34" charset="-120"/>
              </a:rPr>
              <a:t>12.000</a:t>
            </a:r>
            <a:endParaRPr lang="en-US" sz="2400" dirty="0"/>
          </a:p>
        </p:txBody>
      </p:sp>
      <p:sp>
        <p:nvSpPr>
          <p:cNvPr id="19" name="text"/>
          <p:cNvSpPr txBox="1"/>
          <p:nvPr/>
        </p:nvSpPr>
        <p:spPr>
          <a:xfrm>
            <a:off x="4892040" y="4672584"/>
            <a:ext cx="2103120" cy="804672"/>
          </a:xfrm>
          <a:prstGeom prst="rect">
            <a:avLst/>
          </a:prstGeom>
          <a:noFill/>
          <a:ln/>
        </p:spPr>
        <p:txBody>
          <a:bodyPr wrap="square" lIns="0" tIns="0" rIns="0" bIns="0" rtlCol="0" anchor="t"/>
          <a:lstStyle/>
          <a:p>
            <a:pPr algn="l" indent="0" marL="0">
              <a:lnSpc>
                <a:spcPct val="108000"/>
              </a:lnSpc>
              <a:buNone/>
            </a:pPr>
            <a:r>
              <a:rPr lang="en-US" sz="1400" dirty="0">
                <a:solidFill>
                  <a:srgbClr val="5A5A5F"/>
                </a:solidFill>
                <a:latin typeface="Outfit" pitchFamily="34" charset="0"/>
                <a:ea typeface="Outfit" pitchFamily="34" charset="-122"/>
                <a:cs typeface="Outfit" pitchFamily="34" charset="-120"/>
              </a:rPr>
              <a:t>model baru per tahun; industri 3.000</a:t>
            </a:r>
            <a:endParaRPr lang="en-US" sz="1400" dirty="0"/>
          </a:p>
        </p:txBody>
      </p:sp>
      <p:sp>
        <p:nvSpPr>
          <p:cNvPr id="20" name="card"/>
          <p:cNvSpPr/>
          <p:nvPr/>
        </p:nvSpPr>
        <p:spPr>
          <a:xfrm>
            <a:off x="7269480" y="3977640"/>
            <a:ext cx="2560320" cy="1554480"/>
          </a:xfrm>
          <a:prstGeom prst="roundRect">
            <a:avLst>
              <a:gd name="adj" fmla="val 11765"/>
            </a:avLst>
          </a:prstGeom>
          <a:solidFill>
            <a:srgbClr val="E8E8E8"/>
          </a:solidFill>
          <a:ln w="6350">
            <a:solidFill>
              <a:srgbClr val="E8E8E8"/>
            </a:solidFill>
            <a:prstDash val="solid"/>
          </a:ln>
        </p:spPr>
      </p:sp>
      <p:sp>
        <p:nvSpPr>
          <p:cNvPr id="21" name="text"/>
          <p:cNvSpPr txBox="1"/>
          <p:nvPr/>
        </p:nvSpPr>
        <p:spPr>
          <a:xfrm>
            <a:off x="7498080" y="4123944"/>
            <a:ext cx="2103120" cy="502920"/>
          </a:xfrm>
          <a:prstGeom prst="rect">
            <a:avLst/>
          </a:prstGeom>
          <a:noFill/>
          <a:ln/>
        </p:spPr>
        <p:txBody>
          <a:bodyPr wrap="square" lIns="0" tIns="0" rIns="0" bIns="0" rtlCol="0" anchor="ctr"/>
          <a:lstStyle/>
          <a:p>
            <a:pPr algn="l" indent="0" marL="0">
              <a:lnSpc>
                <a:spcPct val="110000"/>
              </a:lnSpc>
              <a:buNone/>
            </a:pPr>
            <a:r>
              <a:rPr lang="en-US" sz="2400" spc="-30" kern="0" dirty="0">
                <a:solidFill>
                  <a:srgbClr val="141417"/>
                </a:solidFill>
                <a:latin typeface="Outfit Medium" pitchFamily="34" charset="0"/>
                <a:ea typeface="Outfit Medium" pitchFamily="34" charset="-122"/>
                <a:cs typeface="Outfit Medium" pitchFamily="34" charset="-120"/>
              </a:rPr>
              <a:t>17 kali</a:t>
            </a:r>
            <a:endParaRPr lang="en-US" sz="2400" dirty="0"/>
          </a:p>
        </p:txBody>
      </p:sp>
      <p:sp>
        <p:nvSpPr>
          <p:cNvPr id="22" name="text"/>
          <p:cNvSpPr txBox="1"/>
          <p:nvPr/>
        </p:nvSpPr>
        <p:spPr>
          <a:xfrm>
            <a:off x="7498080" y="4672584"/>
            <a:ext cx="2103120" cy="804672"/>
          </a:xfrm>
          <a:prstGeom prst="rect">
            <a:avLst/>
          </a:prstGeom>
          <a:noFill/>
          <a:ln/>
        </p:spPr>
        <p:txBody>
          <a:bodyPr wrap="square" lIns="0" tIns="0" rIns="0" bIns="0" rtlCol="0" anchor="t"/>
          <a:lstStyle/>
          <a:p>
            <a:pPr algn="l" indent="0" marL="0">
              <a:lnSpc>
                <a:spcPct val="108000"/>
              </a:lnSpc>
              <a:buNone/>
            </a:pPr>
            <a:r>
              <a:rPr lang="en-US" sz="1400" dirty="0">
                <a:solidFill>
                  <a:srgbClr val="5A5A5F"/>
                </a:solidFill>
                <a:latin typeface="Outfit" pitchFamily="34" charset="0"/>
                <a:ea typeface="Outfit" pitchFamily="34" charset="-122"/>
                <a:cs typeface="Outfit" pitchFamily="34" charset="-120"/>
              </a:rPr>
              <a:t>kunjungan pelanggan per tahun; pesaing 2 kali</a:t>
            </a:r>
            <a:endParaRPr lang="en-US" sz="1400" dirty="0"/>
          </a:p>
        </p:txBody>
      </p:sp>
      <p:sp>
        <p:nvSpPr>
          <p:cNvPr id="23" name="card"/>
          <p:cNvSpPr/>
          <p:nvPr/>
        </p:nvSpPr>
        <p:spPr>
          <a:xfrm>
            <a:off x="9966960" y="3977640"/>
            <a:ext cx="1721815" cy="1554480"/>
          </a:xfrm>
          <a:prstGeom prst="roundRect">
            <a:avLst>
              <a:gd name="adj" fmla="val 11765"/>
            </a:avLst>
          </a:prstGeom>
          <a:solidFill>
            <a:srgbClr val="141417"/>
          </a:solidFill>
          <a:ln w="6350">
            <a:solidFill>
              <a:srgbClr val="141417"/>
            </a:solidFill>
            <a:prstDash val="solid"/>
          </a:ln>
        </p:spPr>
      </p:sp>
      <p:sp>
        <p:nvSpPr>
          <p:cNvPr id="24" name="text"/>
          <p:cNvSpPr txBox="1"/>
          <p:nvPr/>
        </p:nvSpPr>
        <p:spPr>
          <a:xfrm>
            <a:off x="10195560" y="4123944"/>
            <a:ext cx="1264615" cy="502920"/>
          </a:xfrm>
          <a:prstGeom prst="rect">
            <a:avLst/>
          </a:prstGeom>
          <a:noFill/>
          <a:ln/>
        </p:spPr>
        <p:txBody>
          <a:bodyPr wrap="square" lIns="0" tIns="0" rIns="0" bIns="0" rtlCol="0" anchor="ctr"/>
          <a:lstStyle/>
          <a:p>
            <a:pPr algn="l" indent="0" marL="0">
              <a:lnSpc>
                <a:spcPct val="110000"/>
              </a:lnSpc>
              <a:buNone/>
            </a:pPr>
            <a:r>
              <a:rPr lang="en-US" sz="2400" spc="-30" kern="0" dirty="0">
                <a:solidFill>
                  <a:srgbClr val="FFFFFF"/>
                </a:solidFill>
                <a:latin typeface="Outfit Medium" pitchFamily="34" charset="0"/>
                <a:ea typeface="Outfit Medium" pitchFamily="34" charset="-122"/>
                <a:cs typeface="Outfit Medium" pitchFamily="34" charset="-120"/>
              </a:rPr>
              <a:t>11 hari</a:t>
            </a:r>
            <a:endParaRPr lang="en-US" sz="2400" dirty="0"/>
          </a:p>
        </p:txBody>
      </p:sp>
      <p:sp>
        <p:nvSpPr>
          <p:cNvPr id="25" name="text"/>
          <p:cNvSpPr txBox="1"/>
          <p:nvPr/>
        </p:nvSpPr>
        <p:spPr>
          <a:xfrm>
            <a:off x="10195560" y="4672584"/>
            <a:ext cx="1264615" cy="804672"/>
          </a:xfrm>
          <a:prstGeom prst="rect">
            <a:avLst/>
          </a:prstGeom>
          <a:noFill/>
          <a:ln/>
        </p:spPr>
        <p:txBody>
          <a:bodyPr wrap="square" lIns="0" tIns="0" rIns="0" bIns="0" rtlCol="0" anchor="t"/>
          <a:lstStyle/>
          <a:p>
            <a:pPr algn="l" indent="0" marL="0">
              <a:lnSpc>
                <a:spcPct val="108000"/>
              </a:lnSpc>
              <a:buNone/>
            </a:pPr>
            <a:r>
              <a:rPr lang="en-US" sz="1400" dirty="0">
                <a:solidFill>
                  <a:srgbClr val="BDBDC2"/>
                </a:solidFill>
                <a:latin typeface="Outfit" pitchFamily="34" charset="0"/>
                <a:ea typeface="Outfit" pitchFamily="34" charset="-122"/>
                <a:cs typeface="Outfit" pitchFamily="34" charset="-120"/>
              </a:rPr>
              <a:t>umur rata-rata item di toko</a:t>
            </a:r>
            <a:endParaRPr lang="en-US" sz="1400" dirty="0"/>
          </a:p>
        </p:txBody>
      </p:sp>
      <p:sp>
        <p:nvSpPr>
          <p:cNvPr id="26" name="text"/>
          <p:cNvSpPr txBox="1"/>
          <p:nvPr/>
        </p:nvSpPr>
        <p:spPr>
          <a:xfrm>
            <a:off x="502920" y="5623560"/>
            <a:ext cx="11155680" cy="777240"/>
          </a:xfrm>
          <a:prstGeom prst="rect">
            <a:avLst/>
          </a:prstGeom>
          <a:noFill/>
          <a:ln/>
        </p:spPr>
        <p:txBody>
          <a:bodyPr wrap="square" lIns="0" tIns="0" rIns="0" bIns="0" rtlCol="0" anchor="t"/>
          <a:lstStyle/>
          <a:p>
            <a:pPr algn="l" indent="0" marL="0">
              <a:lnSpc>
                <a:spcPct val="106000"/>
              </a:lnSpc>
              <a:buNone/>
            </a:pPr>
            <a:r>
              <a:rPr lang="en-US" sz="1800" dirty="0">
                <a:solidFill>
                  <a:srgbClr val="1A1A1C"/>
                </a:solidFill>
                <a:latin typeface="Outfit" pitchFamily="34" charset="0"/>
                <a:ea typeface="Outfit" pitchFamily="34" charset="-122"/>
                <a:cs typeface="Outfit" pitchFamily="34" charset="-120"/>
              </a:rPr>
              <a:t>Strategi Zara tidak unik; keunggulannya ada pada eksekusi yang socially complex dan sulit ditiru. Bila strategi mudah ditiru, jalannya adalah out-execute.</a:t>
            </a:r>
            <a:endParaRPr lang="en-US" sz="1800" dirty="0"/>
          </a:p>
        </p:txBody>
      </p:sp>
      <p:sp>
        <p:nvSpPr>
          <p:cNvPr id="27"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10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10000"/>
              </a:lnSpc>
              <a:buNone/>
            </a:pPr>
            <a:endParaRPr lang="en-US" sz="1050" dirty="0"/>
          </a:p>
        </p:txBody>
      </p:sp>
      <p:sp>
        <p:nvSpPr>
          <p:cNvPr id="7" name="card"/>
          <p:cNvSpPr/>
          <p:nvPr/>
        </p:nvSpPr>
        <p:spPr>
          <a:xfrm>
            <a:off x="502920" y="658368"/>
            <a:ext cx="6675120" cy="1049731"/>
          </a:xfrm>
          <a:prstGeom prst="roundRect">
            <a:avLst>
              <a:gd name="adj" fmla="val 17422"/>
            </a:avLst>
          </a:prstGeom>
          <a:solidFill>
            <a:srgbClr val="D4FC00"/>
          </a:solidFill>
          <a:ln w="6350">
            <a:solidFill>
              <a:srgbClr val="D4FC00"/>
            </a:solidFill>
            <a:prstDash val="solid"/>
          </a:ln>
        </p:spPr>
      </p:sp>
      <p:sp>
        <p:nvSpPr>
          <p:cNvPr id="8" name="text"/>
          <p:cNvSpPr txBox="1"/>
          <p:nvPr/>
        </p:nvSpPr>
        <p:spPr>
          <a:xfrm>
            <a:off x="777240" y="896112"/>
            <a:ext cx="1828800" cy="638251"/>
          </a:xfrm>
          <a:prstGeom prst="rect">
            <a:avLst/>
          </a:prstGeom>
          <a:noFill/>
          <a:ln/>
        </p:spPr>
        <p:txBody>
          <a:bodyPr wrap="square" lIns="0" tIns="0" rIns="0" bIns="0" rtlCol="0" anchor="t"/>
          <a:lstStyle/>
          <a:p>
            <a:pPr algn="l" indent="0" marL="0">
              <a:lnSpc>
                <a:spcPct val="110000"/>
              </a:lnSpc>
              <a:buNone/>
            </a:pPr>
            <a:r>
              <a:rPr lang="en-US" sz="1400" spc="50" kern="0" dirty="0">
                <a:solidFill>
                  <a:srgbClr val="1A1A1C"/>
                </a:solidFill>
                <a:latin typeface="Outfit" pitchFamily="34" charset="0"/>
                <a:ea typeface="Outfit" pitchFamily="34" charset="-122"/>
                <a:cs typeface="Outfit" pitchFamily="34" charset="-120"/>
              </a:rPr>
              <a:t>01 OUTSOURCING</a:t>
            </a:r>
            <a:endParaRPr lang="en-US" sz="1400" dirty="0"/>
          </a:p>
        </p:txBody>
      </p:sp>
      <p:sp>
        <p:nvSpPr>
          <p:cNvPr id="9" name="text"/>
          <p:cNvSpPr txBox="1"/>
          <p:nvPr/>
        </p:nvSpPr>
        <p:spPr>
          <a:xfrm>
            <a:off x="2743200" y="877824"/>
            <a:ext cx="3657600" cy="720547"/>
          </a:xfrm>
          <a:prstGeom prst="rect">
            <a:avLst/>
          </a:prstGeom>
          <a:noFill/>
          <a:ln/>
        </p:spPr>
        <p:txBody>
          <a:bodyPr wrap="square" lIns="0" tIns="0" rIns="0" bIns="0" rtlCol="0" anchor="t"/>
          <a:lstStyle/>
          <a:p>
            <a:pPr algn="l" indent="0" marL="0">
              <a:lnSpc>
                <a:spcPct val="106000"/>
              </a:lnSpc>
              <a:buNone/>
            </a:pPr>
            <a:r>
              <a:rPr lang="en-US" sz="1800" dirty="0">
                <a:solidFill>
                  <a:srgbClr val="1A1A1C"/>
                </a:solidFill>
                <a:latin typeface="Outfit" pitchFamily="34" charset="0"/>
                <a:ea typeface="Outfit" pitchFamily="34" charset="-122"/>
                <a:cs typeface="Outfit" pitchFamily="34" charset="-120"/>
              </a:rPr>
              <a:t>Mana dikerjakan sendiri, mana diserahkan keluar.</a:t>
            </a:r>
            <a:endParaRPr lang="en-US" sz="1800" dirty="0"/>
          </a:p>
        </p:txBody>
      </p:sp>
      <p:sp>
        <p:nvSpPr>
          <p:cNvPr id="10" name="dot"/>
          <p:cNvSpPr/>
          <p:nvPr/>
        </p:nvSpPr>
        <p:spPr>
          <a:xfrm>
            <a:off x="6611112" y="1046074"/>
            <a:ext cx="274320" cy="274320"/>
          </a:xfrm>
          <a:prstGeom prst="ellipse">
            <a:avLst/>
          </a:prstGeom>
          <a:solidFill>
            <a:srgbClr val="141417"/>
          </a:solidFill>
          <a:ln w="6350">
            <a:solidFill>
              <a:srgbClr val="141417"/>
            </a:solidFill>
            <a:prstDash val="solid"/>
          </a:ln>
        </p:spPr>
      </p:sp>
      <p:pic>
        <p:nvPicPr>
          <p:cNvPr id="11" name="dot-icon" descr="preencoded.png">    </p:cNvPr>
          <p:cNvPicPr>
            <a:picLocks noChangeAspect="1"/>
          </p:cNvPicPr>
          <p:nvPr/>
        </p:nvPicPr>
        <p:blipFill>
          <a:blip r:embed="rId1"/>
          <a:stretch>
            <a:fillRect/>
          </a:stretch>
        </p:blipFill>
        <p:spPr>
          <a:xfrm>
            <a:off x="6671462" y="1106424"/>
            <a:ext cx="153619" cy="153619"/>
          </a:xfrm>
          <a:prstGeom prst="rect">
            <a:avLst/>
          </a:prstGeom>
        </p:spPr>
      </p:pic>
      <p:sp>
        <p:nvSpPr>
          <p:cNvPr id="12" name="card"/>
          <p:cNvSpPr/>
          <p:nvPr/>
        </p:nvSpPr>
        <p:spPr>
          <a:xfrm>
            <a:off x="502920" y="1836115"/>
            <a:ext cx="6675120" cy="1049731"/>
          </a:xfrm>
          <a:prstGeom prst="roundRect">
            <a:avLst>
              <a:gd name="adj" fmla="val 17422"/>
            </a:avLst>
          </a:prstGeom>
          <a:solidFill>
            <a:srgbClr val="E8E8E8"/>
          </a:solidFill>
          <a:ln w="6350">
            <a:solidFill>
              <a:srgbClr val="E8E8E8"/>
            </a:solidFill>
            <a:prstDash val="solid"/>
          </a:ln>
        </p:spPr>
      </p:sp>
      <p:sp>
        <p:nvSpPr>
          <p:cNvPr id="13" name="text"/>
          <p:cNvSpPr txBox="1"/>
          <p:nvPr/>
        </p:nvSpPr>
        <p:spPr>
          <a:xfrm>
            <a:off x="777240" y="2073859"/>
            <a:ext cx="1828800" cy="638251"/>
          </a:xfrm>
          <a:prstGeom prst="rect">
            <a:avLst/>
          </a:prstGeom>
          <a:noFill/>
          <a:ln/>
        </p:spPr>
        <p:txBody>
          <a:bodyPr wrap="square" lIns="0" tIns="0" rIns="0" bIns="0" rtlCol="0" anchor="t"/>
          <a:lstStyle/>
          <a:p>
            <a:pPr algn="l" indent="0" marL="0">
              <a:lnSpc>
                <a:spcPct val="110000"/>
              </a:lnSpc>
              <a:buNone/>
            </a:pPr>
            <a:r>
              <a:rPr lang="en-US" sz="1400" spc="50" kern="0" dirty="0">
                <a:solidFill>
                  <a:srgbClr val="1A1A1C"/>
                </a:solidFill>
                <a:latin typeface="Outfit" pitchFamily="34" charset="0"/>
                <a:ea typeface="Outfit" pitchFamily="34" charset="-122"/>
                <a:cs typeface="Outfit" pitchFamily="34" charset="-120"/>
              </a:rPr>
              <a:t>02 TIPE STRUKTUR</a:t>
            </a:r>
            <a:endParaRPr lang="en-US" sz="1400" dirty="0"/>
          </a:p>
        </p:txBody>
      </p:sp>
      <p:sp>
        <p:nvSpPr>
          <p:cNvPr id="14" name="text"/>
          <p:cNvSpPr txBox="1"/>
          <p:nvPr/>
        </p:nvSpPr>
        <p:spPr>
          <a:xfrm>
            <a:off x="2743200" y="2055571"/>
            <a:ext cx="3657600" cy="720547"/>
          </a:xfrm>
          <a:prstGeom prst="rect">
            <a:avLst/>
          </a:prstGeom>
          <a:noFill/>
          <a:ln/>
        </p:spPr>
        <p:txBody>
          <a:bodyPr wrap="square" lIns="0" tIns="0" rIns="0" bIns="0" rtlCol="0" anchor="t"/>
          <a:lstStyle/>
          <a:p>
            <a:pPr algn="l" indent="0" marL="0">
              <a:lnSpc>
                <a:spcPct val="106000"/>
              </a:lnSpc>
              <a:buNone/>
            </a:pPr>
            <a:r>
              <a:rPr lang="en-US" sz="1800" dirty="0">
                <a:solidFill>
                  <a:srgbClr val="1A1A1C"/>
                </a:solidFill>
                <a:latin typeface="Outfit" pitchFamily="34" charset="0"/>
                <a:ea typeface="Outfit" pitchFamily="34" charset="-122"/>
                <a:cs typeface="Outfit" pitchFamily="34" charset="-120"/>
              </a:rPr>
              <a:t>Bentuk organisasi selaras dengan strategi.</a:t>
            </a:r>
            <a:endParaRPr lang="en-US" sz="1800" dirty="0"/>
          </a:p>
        </p:txBody>
      </p:sp>
      <p:sp>
        <p:nvSpPr>
          <p:cNvPr id="15" name="dot"/>
          <p:cNvSpPr/>
          <p:nvPr/>
        </p:nvSpPr>
        <p:spPr>
          <a:xfrm>
            <a:off x="6611112" y="2223821"/>
            <a:ext cx="274320" cy="274320"/>
          </a:xfrm>
          <a:prstGeom prst="ellipse">
            <a:avLst/>
          </a:prstGeom>
          <a:solidFill>
            <a:srgbClr val="141417"/>
          </a:solidFill>
          <a:ln w="6350">
            <a:solidFill>
              <a:srgbClr val="141417"/>
            </a:solidFill>
            <a:prstDash val="solid"/>
          </a:ln>
        </p:spPr>
      </p:sp>
      <p:pic>
        <p:nvPicPr>
          <p:cNvPr id="16" name="dot-icon" descr="preencoded.png">    </p:cNvPr>
          <p:cNvPicPr>
            <a:picLocks noChangeAspect="1"/>
          </p:cNvPicPr>
          <p:nvPr/>
        </p:nvPicPr>
        <p:blipFill>
          <a:blip r:embed="rId2"/>
          <a:stretch>
            <a:fillRect/>
          </a:stretch>
        </p:blipFill>
        <p:spPr>
          <a:xfrm>
            <a:off x="6671462" y="2284171"/>
            <a:ext cx="153619" cy="153619"/>
          </a:xfrm>
          <a:prstGeom prst="rect">
            <a:avLst/>
          </a:prstGeom>
        </p:spPr>
      </p:pic>
      <p:sp>
        <p:nvSpPr>
          <p:cNvPr id="17" name="card"/>
          <p:cNvSpPr/>
          <p:nvPr/>
        </p:nvSpPr>
        <p:spPr>
          <a:xfrm>
            <a:off x="502920" y="3013862"/>
            <a:ext cx="6675120" cy="1049731"/>
          </a:xfrm>
          <a:prstGeom prst="roundRect">
            <a:avLst>
              <a:gd name="adj" fmla="val 17422"/>
            </a:avLst>
          </a:prstGeom>
          <a:solidFill>
            <a:srgbClr val="D4FC00"/>
          </a:solidFill>
          <a:ln w="6350">
            <a:solidFill>
              <a:srgbClr val="D4FC00"/>
            </a:solidFill>
            <a:prstDash val="solid"/>
          </a:ln>
        </p:spPr>
      </p:sp>
      <p:sp>
        <p:nvSpPr>
          <p:cNvPr id="18" name="text"/>
          <p:cNvSpPr txBox="1"/>
          <p:nvPr/>
        </p:nvSpPr>
        <p:spPr>
          <a:xfrm>
            <a:off x="777240" y="3251606"/>
            <a:ext cx="1828800" cy="638251"/>
          </a:xfrm>
          <a:prstGeom prst="rect">
            <a:avLst/>
          </a:prstGeom>
          <a:noFill/>
          <a:ln/>
        </p:spPr>
        <p:txBody>
          <a:bodyPr wrap="square" lIns="0" tIns="0" rIns="0" bIns="0" rtlCol="0" anchor="t"/>
          <a:lstStyle/>
          <a:p>
            <a:pPr algn="l" indent="0" marL="0">
              <a:lnSpc>
                <a:spcPct val="110000"/>
              </a:lnSpc>
              <a:buNone/>
            </a:pPr>
            <a:r>
              <a:rPr lang="en-US" sz="1400" spc="50" kern="0" dirty="0">
                <a:solidFill>
                  <a:srgbClr val="1A1A1C"/>
                </a:solidFill>
                <a:latin typeface="Outfit" pitchFamily="34" charset="0"/>
                <a:ea typeface="Outfit" pitchFamily="34" charset="-122"/>
                <a:cs typeface="Outfit" pitchFamily="34" charset="-120"/>
              </a:rPr>
              <a:t>03 DELEGASI</a:t>
            </a:r>
            <a:endParaRPr lang="en-US" sz="1400" dirty="0"/>
          </a:p>
        </p:txBody>
      </p:sp>
      <p:sp>
        <p:nvSpPr>
          <p:cNvPr id="19" name="text"/>
          <p:cNvSpPr txBox="1"/>
          <p:nvPr/>
        </p:nvSpPr>
        <p:spPr>
          <a:xfrm>
            <a:off x="2743200" y="3233318"/>
            <a:ext cx="3657600" cy="720547"/>
          </a:xfrm>
          <a:prstGeom prst="rect">
            <a:avLst/>
          </a:prstGeom>
          <a:noFill/>
          <a:ln/>
        </p:spPr>
        <p:txBody>
          <a:bodyPr wrap="square" lIns="0" tIns="0" rIns="0" bIns="0" rtlCol="0" anchor="t"/>
          <a:lstStyle/>
          <a:p>
            <a:pPr algn="l" indent="0" marL="0">
              <a:lnSpc>
                <a:spcPct val="106000"/>
              </a:lnSpc>
              <a:buNone/>
            </a:pPr>
            <a:r>
              <a:rPr lang="en-US" sz="1800" dirty="0">
                <a:solidFill>
                  <a:srgbClr val="1A1A1C"/>
                </a:solidFill>
                <a:latin typeface="Outfit" pitchFamily="34" charset="0"/>
                <a:ea typeface="Outfit" pitchFamily="34" charset="-122"/>
                <a:cs typeface="Outfit" pitchFamily="34" charset="-120"/>
              </a:rPr>
              <a:t>Wewenang dipusatkan atau didelegasikan.</a:t>
            </a:r>
            <a:endParaRPr lang="en-US" sz="1800" dirty="0"/>
          </a:p>
        </p:txBody>
      </p:sp>
      <p:sp>
        <p:nvSpPr>
          <p:cNvPr id="20" name="dot"/>
          <p:cNvSpPr/>
          <p:nvPr/>
        </p:nvSpPr>
        <p:spPr>
          <a:xfrm>
            <a:off x="6611112" y="3401568"/>
            <a:ext cx="274320" cy="274320"/>
          </a:xfrm>
          <a:prstGeom prst="ellipse">
            <a:avLst/>
          </a:prstGeom>
          <a:solidFill>
            <a:srgbClr val="141417"/>
          </a:solidFill>
          <a:ln w="6350">
            <a:solidFill>
              <a:srgbClr val="141417"/>
            </a:solidFill>
            <a:prstDash val="solid"/>
          </a:ln>
        </p:spPr>
      </p:sp>
      <p:pic>
        <p:nvPicPr>
          <p:cNvPr id="21" name="dot-icon" descr="preencoded.png">    </p:cNvPr>
          <p:cNvPicPr>
            <a:picLocks noChangeAspect="1"/>
          </p:cNvPicPr>
          <p:nvPr/>
        </p:nvPicPr>
        <p:blipFill>
          <a:blip r:embed="rId3"/>
          <a:stretch>
            <a:fillRect/>
          </a:stretch>
        </p:blipFill>
        <p:spPr>
          <a:xfrm>
            <a:off x="6671462" y="3461918"/>
            <a:ext cx="153619" cy="153619"/>
          </a:xfrm>
          <a:prstGeom prst="rect">
            <a:avLst/>
          </a:prstGeom>
        </p:spPr>
      </p:pic>
      <p:sp>
        <p:nvSpPr>
          <p:cNvPr id="22" name="card"/>
          <p:cNvSpPr/>
          <p:nvPr/>
        </p:nvSpPr>
        <p:spPr>
          <a:xfrm>
            <a:off x="502920" y="4191610"/>
            <a:ext cx="6675120" cy="1049731"/>
          </a:xfrm>
          <a:prstGeom prst="roundRect">
            <a:avLst>
              <a:gd name="adj" fmla="val 17422"/>
            </a:avLst>
          </a:prstGeom>
          <a:solidFill>
            <a:srgbClr val="E8E8E8"/>
          </a:solidFill>
          <a:ln w="6350">
            <a:solidFill>
              <a:srgbClr val="E8E8E8"/>
            </a:solidFill>
            <a:prstDash val="solid"/>
          </a:ln>
        </p:spPr>
      </p:sp>
      <p:sp>
        <p:nvSpPr>
          <p:cNvPr id="23" name="text"/>
          <p:cNvSpPr txBox="1"/>
          <p:nvPr/>
        </p:nvSpPr>
        <p:spPr>
          <a:xfrm>
            <a:off x="777240" y="4429354"/>
            <a:ext cx="1828800" cy="638251"/>
          </a:xfrm>
          <a:prstGeom prst="rect">
            <a:avLst/>
          </a:prstGeom>
          <a:noFill/>
          <a:ln/>
        </p:spPr>
        <p:txBody>
          <a:bodyPr wrap="square" lIns="0" tIns="0" rIns="0" bIns="0" rtlCol="0" anchor="t"/>
          <a:lstStyle/>
          <a:p>
            <a:pPr algn="l" indent="0" marL="0">
              <a:lnSpc>
                <a:spcPct val="110000"/>
              </a:lnSpc>
              <a:buNone/>
            </a:pPr>
            <a:r>
              <a:rPr lang="en-US" sz="1400" spc="50" kern="0" dirty="0">
                <a:solidFill>
                  <a:srgbClr val="1A1A1C"/>
                </a:solidFill>
                <a:latin typeface="Outfit" pitchFamily="34" charset="0"/>
                <a:ea typeface="Outfit" pitchFamily="34" charset="-122"/>
                <a:cs typeface="Outfit" pitchFamily="34" charset="-120"/>
              </a:rPr>
              <a:t>04 KOORDINASI</a:t>
            </a:r>
            <a:endParaRPr lang="en-US" sz="1400" dirty="0"/>
          </a:p>
        </p:txBody>
      </p:sp>
      <p:sp>
        <p:nvSpPr>
          <p:cNvPr id="24" name="text"/>
          <p:cNvSpPr txBox="1"/>
          <p:nvPr/>
        </p:nvSpPr>
        <p:spPr>
          <a:xfrm>
            <a:off x="2743200" y="4411066"/>
            <a:ext cx="3657600" cy="720547"/>
          </a:xfrm>
          <a:prstGeom prst="rect">
            <a:avLst/>
          </a:prstGeom>
          <a:noFill/>
          <a:ln/>
        </p:spPr>
        <p:txBody>
          <a:bodyPr wrap="square" lIns="0" tIns="0" rIns="0" bIns="0" rtlCol="0" anchor="t"/>
          <a:lstStyle/>
          <a:p>
            <a:pPr algn="l" indent="0" marL="0">
              <a:lnSpc>
                <a:spcPct val="106000"/>
              </a:lnSpc>
              <a:buNone/>
            </a:pPr>
            <a:r>
              <a:rPr lang="en-US" sz="1800" dirty="0">
                <a:solidFill>
                  <a:srgbClr val="1A1A1C"/>
                </a:solidFill>
                <a:latin typeface="Outfit" pitchFamily="34" charset="0"/>
                <a:ea typeface="Outfit" pitchFamily="34" charset="-122"/>
                <a:cs typeface="Outfit" pitchFamily="34" charset="-120"/>
              </a:rPr>
              <a:t>Kerja sama lintas unit.</a:t>
            </a:r>
            <a:endParaRPr lang="en-US" sz="1800" dirty="0"/>
          </a:p>
        </p:txBody>
      </p:sp>
      <p:sp>
        <p:nvSpPr>
          <p:cNvPr id="25" name="dot"/>
          <p:cNvSpPr/>
          <p:nvPr/>
        </p:nvSpPr>
        <p:spPr>
          <a:xfrm>
            <a:off x="6611112" y="4579315"/>
            <a:ext cx="274320" cy="274320"/>
          </a:xfrm>
          <a:prstGeom prst="ellipse">
            <a:avLst/>
          </a:prstGeom>
          <a:solidFill>
            <a:srgbClr val="141417"/>
          </a:solidFill>
          <a:ln w="6350">
            <a:solidFill>
              <a:srgbClr val="141417"/>
            </a:solidFill>
            <a:prstDash val="solid"/>
          </a:ln>
        </p:spPr>
      </p:sp>
      <p:pic>
        <p:nvPicPr>
          <p:cNvPr id="26" name="dot-icon" descr="preencoded.png">    </p:cNvPr>
          <p:cNvPicPr>
            <a:picLocks noChangeAspect="1"/>
          </p:cNvPicPr>
          <p:nvPr/>
        </p:nvPicPr>
        <p:blipFill>
          <a:blip r:embed="rId4"/>
          <a:stretch>
            <a:fillRect/>
          </a:stretch>
        </p:blipFill>
        <p:spPr>
          <a:xfrm>
            <a:off x="6671462" y="4639666"/>
            <a:ext cx="153619" cy="153619"/>
          </a:xfrm>
          <a:prstGeom prst="rect">
            <a:avLst/>
          </a:prstGeom>
        </p:spPr>
      </p:pic>
      <p:sp>
        <p:nvSpPr>
          <p:cNvPr id="27" name="card"/>
          <p:cNvSpPr/>
          <p:nvPr/>
        </p:nvSpPr>
        <p:spPr>
          <a:xfrm>
            <a:off x="502920" y="5369357"/>
            <a:ext cx="6675120" cy="1049731"/>
          </a:xfrm>
          <a:prstGeom prst="roundRect">
            <a:avLst>
              <a:gd name="adj" fmla="val 17422"/>
            </a:avLst>
          </a:prstGeom>
          <a:solidFill>
            <a:srgbClr val="141417"/>
          </a:solidFill>
          <a:ln w="6350">
            <a:solidFill>
              <a:srgbClr val="141417"/>
            </a:solidFill>
            <a:prstDash val="solid"/>
          </a:ln>
        </p:spPr>
      </p:sp>
      <p:sp>
        <p:nvSpPr>
          <p:cNvPr id="28" name="text"/>
          <p:cNvSpPr txBox="1"/>
          <p:nvPr/>
        </p:nvSpPr>
        <p:spPr>
          <a:xfrm>
            <a:off x="777240" y="5607101"/>
            <a:ext cx="1828800" cy="638251"/>
          </a:xfrm>
          <a:prstGeom prst="rect">
            <a:avLst/>
          </a:prstGeom>
          <a:noFill/>
          <a:ln/>
        </p:spPr>
        <p:txBody>
          <a:bodyPr wrap="square" lIns="0" tIns="0" rIns="0" bIns="0" rtlCol="0" anchor="t"/>
          <a:lstStyle/>
          <a:p>
            <a:pPr algn="l" indent="0" marL="0">
              <a:lnSpc>
                <a:spcPct val="110000"/>
              </a:lnSpc>
              <a:buNone/>
            </a:pPr>
            <a:r>
              <a:rPr lang="en-US" sz="1400" spc="50" kern="0" dirty="0">
                <a:solidFill>
                  <a:srgbClr val="D4FC00"/>
                </a:solidFill>
                <a:latin typeface="Outfit" pitchFamily="34" charset="0"/>
                <a:ea typeface="Outfit" pitchFamily="34" charset="-122"/>
                <a:cs typeface="Outfit" pitchFamily="34" charset="-120"/>
              </a:rPr>
              <a:t>05 MITRA EKSTERNAL</a:t>
            </a:r>
            <a:endParaRPr lang="en-US" sz="1400" dirty="0"/>
          </a:p>
        </p:txBody>
      </p:sp>
      <p:sp>
        <p:nvSpPr>
          <p:cNvPr id="29" name="text"/>
          <p:cNvSpPr txBox="1"/>
          <p:nvPr/>
        </p:nvSpPr>
        <p:spPr>
          <a:xfrm>
            <a:off x="2743200" y="5588813"/>
            <a:ext cx="3657600" cy="720547"/>
          </a:xfrm>
          <a:prstGeom prst="rect">
            <a:avLst/>
          </a:prstGeom>
          <a:noFill/>
          <a:ln/>
        </p:spPr>
        <p:txBody>
          <a:bodyPr wrap="square" lIns="0" tIns="0" rIns="0" bIns="0" rtlCol="0" anchor="t"/>
          <a:lstStyle/>
          <a:p>
            <a:pPr algn="l" indent="0" marL="0">
              <a:lnSpc>
                <a:spcPct val="106000"/>
              </a:lnSpc>
              <a:buNone/>
            </a:pPr>
            <a:r>
              <a:rPr lang="en-US" sz="1800" dirty="0">
                <a:solidFill>
                  <a:srgbClr val="E4E4E7"/>
                </a:solidFill>
                <a:latin typeface="Outfit" pitchFamily="34" charset="0"/>
                <a:ea typeface="Outfit" pitchFamily="34" charset="-122"/>
                <a:cs typeface="Outfit" pitchFamily="34" charset="-120"/>
              </a:rPr>
              <a:t>Pemasok, aliansi, dan jaringan.</a:t>
            </a:r>
            <a:endParaRPr lang="en-US" sz="1800" dirty="0"/>
          </a:p>
        </p:txBody>
      </p:sp>
      <p:sp>
        <p:nvSpPr>
          <p:cNvPr id="30" name="dot"/>
          <p:cNvSpPr/>
          <p:nvPr/>
        </p:nvSpPr>
        <p:spPr>
          <a:xfrm>
            <a:off x="6611112" y="5757062"/>
            <a:ext cx="274320" cy="274320"/>
          </a:xfrm>
          <a:prstGeom prst="ellipse">
            <a:avLst/>
          </a:prstGeom>
          <a:solidFill>
            <a:srgbClr val="D4FC00"/>
          </a:solidFill>
          <a:ln w="6350">
            <a:solidFill>
              <a:srgbClr val="D4FC00"/>
            </a:solidFill>
            <a:prstDash val="solid"/>
          </a:ln>
        </p:spPr>
      </p:sp>
      <p:pic>
        <p:nvPicPr>
          <p:cNvPr id="31" name="dot-icon" descr="preencoded.png">    </p:cNvPr>
          <p:cNvPicPr>
            <a:picLocks noChangeAspect="1"/>
          </p:cNvPicPr>
          <p:nvPr/>
        </p:nvPicPr>
        <p:blipFill>
          <a:blip r:embed="rId5"/>
          <a:stretch>
            <a:fillRect/>
          </a:stretch>
        </p:blipFill>
        <p:spPr>
          <a:xfrm>
            <a:off x="6671462" y="5817413"/>
            <a:ext cx="153619" cy="153619"/>
          </a:xfrm>
          <a:prstGeom prst="rect">
            <a:avLst/>
          </a:prstGeom>
        </p:spPr>
      </p:pic>
      <p:pic>
        <p:nvPicPr>
          <p:cNvPr id="32" name="Interior putih dengan tangga melengkung" descr="preencoded.png">    </p:cNvPr>
          <p:cNvPicPr>
            <a:picLocks noChangeAspect="1"/>
          </p:cNvPicPr>
          <p:nvPr/>
        </p:nvPicPr>
        <p:blipFill>
          <a:blip r:embed="rId6"/>
          <a:stretch>
            <a:fillRect/>
          </a:stretch>
        </p:blipFill>
        <p:spPr>
          <a:xfrm>
            <a:off x="7635240" y="658368"/>
            <a:ext cx="4053535" cy="2103120"/>
          </a:xfrm>
          <a:prstGeom prst="rect">
            <a:avLst/>
          </a:prstGeom>
        </p:spPr>
      </p:pic>
      <p:sp>
        <p:nvSpPr>
          <p:cNvPr id="33" name="text"/>
          <p:cNvSpPr txBox="1"/>
          <p:nvPr/>
        </p:nvSpPr>
        <p:spPr>
          <a:xfrm>
            <a:off x="7635240" y="2971800"/>
            <a:ext cx="4053535" cy="2286000"/>
          </a:xfrm>
          <a:prstGeom prst="rect">
            <a:avLst/>
          </a:prstGeom>
          <a:noFill/>
          <a:ln/>
        </p:spPr>
        <p:txBody>
          <a:bodyPr wrap="square" lIns="0" tIns="0" rIns="0" bIns="0" rtlCol="0" anchor="t"/>
          <a:lstStyle/>
          <a:p>
            <a:pPr algn="l" indent="0" marL="0">
              <a:lnSpc>
                <a:spcPct val="98000"/>
              </a:lnSpc>
              <a:buNone/>
            </a:pPr>
            <a:r>
              <a:rPr lang="en-US" sz="3400" spc="-50" kern="0" dirty="0">
                <a:solidFill>
                  <a:srgbClr val="141417"/>
                </a:solidFill>
                <a:latin typeface="Outfit Medium" pitchFamily="34" charset="0"/>
                <a:ea typeface="Outfit Medium" pitchFamily="34" charset="-122"/>
                <a:cs typeface="Outfit Medium" pitchFamily="34" charset="-120"/>
              </a:rPr>
              <a:t>STRUKTUR MENGIKUTI STRATEGI</a:t>
            </a:r>
            <a:endParaRPr lang="en-US" sz="3400" dirty="0"/>
          </a:p>
        </p:txBody>
      </p:sp>
      <p:sp>
        <p:nvSpPr>
          <p:cNvPr id="34" name="text"/>
          <p:cNvSpPr txBox="1"/>
          <p:nvPr/>
        </p:nvSpPr>
        <p:spPr>
          <a:xfrm>
            <a:off x="7635240" y="5257800"/>
            <a:ext cx="4053535" cy="114300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Figure 10.3, digambar ulang. Lima keputusan bermuara pada struktur yang cocok dengan kebutuhan eksekusi.</a:t>
            </a:r>
            <a:endParaRPr lang="en-US" sz="1600" dirty="0"/>
          </a:p>
        </p:txBody>
      </p:sp>
      <p:sp>
        <p:nvSpPr>
          <p:cNvPr id="35"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10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10000"/>
              </a:lnSpc>
              <a:buNone/>
            </a:pPr>
            <a:endParaRPr lang="en-US" sz="1050" dirty="0"/>
          </a:p>
        </p:txBody>
      </p:sp>
      <p:sp>
        <p:nvSpPr>
          <p:cNvPr id="7" name="card"/>
          <p:cNvSpPr/>
          <p:nvPr/>
        </p:nvSpPr>
        <p:spPr>
          <a:xfrm>
            <a:off x="7452360" y="-274320"/>
            <a:ext cx="3429000" cy="7406640"/>
          </a:xfrm>
          <a:prstGeom prst="roundRect">
            <a:avLst>
              <a:gd name="adj" fmla="val 9333"/>
            </a:avLst>
          </a:prstGeom>
          <a:solidFill>
            <a:srgbClr val="D4FC00"/>
          </a:solidFill>
          <a:ln w="6350">
            <a:solidFill>
              <a:srgbClr val="D4FC00"/>
            </a:solidFill>
            <a:prstDash val="solid"/>
          </a:ln>
        </p:spPr>
      </p:sp>
      <p:sp>
        <p:nvSpPr>
          <p:cNvPr id="8"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9"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10"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11"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12"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10000"/>
              </a:lnSpc>
              <a:buNone/>
            </a:pPr>
            <a:endParaRPr lang="en-US" sz="1050" dirty="0"/>
          </a:p>
        </p:txBody>
      </p:sp>
      <p:sp>
        <p:nvSpPr>
          <p:cNvPr id="13" name="text"/>
          <p:cNvSpPr txBox="1"/>
          <p:nvPr/>
        </p:nvSpPr>
        <p:spPr>
          <a:xfrm>
            <a:off x="502920" y="960120"/>
            <a:ext cx="5394960" cy="2651760"/>
          </a:xfrm>
          <a:prstGeom prst="rect">
            <a:avLst/>
          </a:prstGeom>
          <a:noFill/>
          <a:ln/>
        </p:spPr>
        <p:txBody>
          <a:bodyPr wrap="square" lIns="0" tIns="0" rIns="0" bIns="0" rtlCol="0" anchor="t"/>
          <a:lstStyle/>
          <a:p>
            <a:pPr algn="l" indent="0" marL="0">
              <a:lnSpc>
                <a:spcPct val="98000"/>
              </a:lnSpc>
              <a:buNone/>
            </a:pPr>
            <a:r>
              <a:rPr lang="en-US" sz="3800" spc="-50" kern="0" dirty="0">
                <a:solidFill>
                  <a:srgbClr val="141417"/>
                </a:solidFill>
                <a:latin typeface="Outfit Medium" pitchFamily="34" charset="0"/>
                <a:ea typeface="Outfit Medium" pitchFamily="34" charset="-122"/>
                <a:cs typeface="Outfit Medium" pitchFamily="34" charset="-120"/>
              </a:rPr>
              <a:t>DIKERJAKAN SENDIRI ATAU DI-OUTSOURCE</a:t>
            </a:r>
            <a:endParaRPr lang="en-US" sz="3800" dirty="0"/>
          </a:p>
        </p:txBody>
      </p:sp>
      <p:sp>
        <p:nvSpPr>
          <p:cNvPr id="14" name="toggle"/>
          <p:cNvSpPr/>
          <p:nvPr/>
        </p:nvSpPr>
        <p:spPr>
          <a:xfrm>
            <a:off x="502920" y="3310128"/>
            <a:ext cx="566928" cy="274320"/>
          </a:xfrm>
          <a:prstGeom prst="roundRect">
            <a:avLst>
              <a:gd name="adj" fmla="val 166667"/>
            </a:avLst>
          </a:prstGeom>
          <a:solidFill>
            <a:srgbClr val="F4F4F4"/>
          </a:solidFill>
          <a:ln w="9525">
            <a:solidFill>
              <a:srgbClr val="141417"/>
            </a:solidFill>
            <a:prstDash val="solid"/>
          </a:ln>
        </p:spPr>
      </p:sp>
      <p:sp>
        <p:nvSpPr>
          <p:cNvPr id="15" name="toggle-dot"/>
          <p:cNvSpPr/>
          <p:nvPr/>
        </p:nvSpPr>
        <p:spPr>
          <a:xfrm>
            <a:off x="804672" y="3346704"/>
            <a:ext cx="201168" cy="201168"/>
          </a:xfrm>
          <a:prstGeom prst="ellipse">
            <a:avLst/>
          </a:prstGeom>
          <a:solidFill>
            <a:srgbClr val="D4FC00"/>
          </a:solidFill>
          <a:ln w="6350">
            <a:solidFill>
              <a:srgbClr val="D4FC00"/>
            </a:solidFill>
            <a:prstDash val="solid"/>
          </a:ln>
        </p:spPr>
      </p:sp>
      <p:pic>
        <p:nvPicPr>
          <p:cNvPr id="16" name="toggle-star" descr="preencoded.png">    </p:cNvPr>
          <p:cNvPicPr>
            <a:picLocks noChangeAspect="1"/>
          </p:cNvPicPr>
          <p:nvPr/>
        </p:nvPicPr>
        <p:blipFill>
          <a:blip r:embed="rId1"/>
          <a:stretch>
            <a:fillRect/>
          </a:stretch>
        </p:blipFill>
        <p:spPr>
          <a:xfrm>
            <a:off x="845820" y="3387852"/>
            <a:ext cx="118872" cy="118872"/>
          </a:xfrm>
          <a:prstGeom prst="rect">
            <a:avLst/>
          </a:prstGeom>
        </p:spPr>
      </p:pic>
      <p:sp>
        <p:nvSpPr>
          <p:cNvPr id="17" name="text"/>
          <p:cNvSpPr txBox="1"/>
          <p:nvPr/>
        </p:nvSpPr>
        <p:spPr>
          <a:xfrm>
            <a:off x="502920" y="3703320"/>
            <a:ext cx="5212080" cy="1463040"/>
          </a:xfrm>
          <a:prstGeom prst="rect">
            <a:avLst/>
          </a:prstGeom>
          <a:noFill/>
          <a:ln/>
        </p:spPr>
        <p:txBody>
          <a:bodyPr wrap="square" lIns="0" tIns="0" rIns="0" bIns="0" rtlCol="0" anchor="t"/>
          <a:lstStyle/>
          <a:p>
            <a:pPr algn="l" indent="0" marL="0">
              <a:lnSpc>
                <a:spcPct val="108000"/>
              </a:lnSpc>
              <a:buNone/>
            </a:pPr>
            <a:r>
              <a:rPr lang="en-US" sz="1800" dirty="0">
                <a:solidFill>
                  <a:srgbClr val="1A1A1C"/>
                </a:solidFill>
                <a:latin typeface="Outfit" pitchFamily="34" charset="0"/>
                <a:ea typeface="Outfit" pitchFamily="34" charset="-122"/>
                <a:cs typeface="Outfit" pitchFamily="34" charset="-120"/>
              </a:rPr>
              <a:t>Apple memegang desain dan pengembangan produk, menyerahkan manufaktur ke Foxconn. Harganya: kendali berkurang. Batasnya: jangan lepaskan aktivitas inti strategi.</a:t>
            </a:r>
            <a:endParaRPr lang="en-US" sz="1800" dirty="0"/>
          </a:p>
        </p:txBody>
      </p:sp>
      <p:pic>
        <p:nvPicPr>
          <p:cNvPr id="18" name="Bekerja di laptop" descr="preencoded.png">    </p:cNvPr>
          <p:cNvPicPr>
            <a:picLocks noChangeAspect="1"/>
          </p:cNvPicPr>
          <p:nvPr/>
        </p:nvPicPr>
        <p:blipFill>
          <a:blip r:embed="rId2"/>
          <a:stretch>
            <a:fillRect/>
          </a:stretch>
        </p:blipFill>
        <p:spPr>
          <a:xfrm>
            <a:off x="502920" y="5212080"/>
            <a:ext cx="2377440" cy="1463040"/>
          </a:xfrm>
          <a:prstGeom prst="rect">
            <a:avLst/>
          </a:prstGeom>
        </p:spPr>
      </p:pic>
      <p:sp>
        <p:nvSpPr>
          <p:cNvPr id="19" name="badge"/>
          <p:cNvSpPr/>
          <p:nvPr/>
        </p:nvSpPr>
        <p:spPr>
          <a:xfrm>
            <a:off x="2514600" y="5349240"/>
            <a:ext cx="256032" cy="256032"/>
          </a:xfrm>
          <a:prstGeom prst="ellipse">
            <a:avLst/>
          </a:prstGeom>
          <a:solidFill>
            <a:srgbClr val="D4FC00"/>
          </a:solidFill>
          <a:ln w="6350">
            <a:solidFill>
              <a:srgbClr val="D4FC00"/>
            </a:solidFill>
            <a:prstDash val="solid"/>
          </a:ln>
        </p:spPr>
      </p:sp>
      <p:pic>
        <p:nvPicPr>
          <p:cNvPr id="20" name="Ruang perakitan elektronik putih" descr="preencoded.png">    </p:cNvPr>
          <p:cNvPicPr>
            <a:picLocks noChangeAspect="1"/>
          </p:cNvPicPr>
          <p:nvPr/>
        </p:nvPicPr>
        <p:blipFill>
          <a:blip r:embed="rId3"/>
          <a:stretch>
            <a:fillRect/>
          </a:stretch>
        </p:blipFill>
        <p:spPr>
          <a:xfrm>
            <a:off x="5989320" y="914400"/>
            <a:ext cx="2926080" cy="6217920"/>
          </a:xfrm>
          <a:prstGeom prst="rect">
            <a:avLst/>
          </a:prstGeom>
        </p:spPr>
      </p:pic>
      <p:sp>
        <p:nvSpPr>
          <p:cNvPr id="21" name="card"/>
          <p:cNvSpPr/>
          <p:nvPr/>
        </p:nvSpPr>
        <p:spPr>
          <a:xfrm>
            <a:off x="9738360" y="1965960"/>
            <a:ext cx="777240" cy="777240"/>
          </a:xfrm>
          <a:prstGeom prst="roundRect">
            <a:avLst>
              <a:gd name="adj" fmla="val 18824"/>
            </a:avLst>
          </a:prstGeom>
          <a:solidFill>
            <a:srgbClr val="141417"/>
          </a:solidFill>
          <a:ln w="6350">
            <a:solidFill>
              <a:srgbClr val="141417"/>
            </a:solidFill>
            <a:prstDash val="solid"/>
          </a:ln>
        </p:spPr>
      </p:sp>
      <p:pic>
        <p:nvPicPr>
          <p:cNvPr id="22" name="star" descr="preencoded.png">    </p:cNvPr>
          <p:cNvPicPr>
            <a:picLocks noChangeAspect="1"/>
          </p:cNvPicPr>
          <p:nvPr/>
        </p:nvPicPr>
        <p:blipFill>
          <a:blip r:embed="rId4"/>
          <a:stretch>
            <a:fillRect/>
          </a:stretch>
        </p:blipFill>
        <p:spPr>
          <a:xfrm>
            <a:off x="9932670" y="2160270"/>
            <a:ext cx="388620" cy="388620"/>
          </a:xfrm>
          <a:prstGeom prst="rect">
            <a:avLst/>
          </a:prstGeom>
        </p:spPr>
      </p:pic>
      <p:sp>
        <p:nvSpPr>
          <p:cNvPr id="23" name="pill"/>
          <p:cNvSpPr/>
          <p:nvPr/>
        </p:nvSpPr>
        <p:spPr>
          <a:xfrm>
            <a:off x="9006840" y="4526280"/>
            <a:ext cx="2788920" cy="420624"/>
          </a:xfrm>
          <a:prstGeom prst="roundRect">
            <a:avLst>
              <a:gd name="adj" fmla="val 108696"/>
            </a:avLst>
          </a:prstGeom>
          <a:solidFill>
            <a:srgbClr val="D4FC00"/>
          </a:solidFill>
          <a:ln w="9525">
            <a:solidFill>
              <a:srgbClr val="141417"/>
            </a:solidFill>
            <a:prstDash val="solid"/>
          </a:ln>
        </p:spPr>
      </p:sp>
      <p:sp>
        <p:nvSpPr>
          <p:cNvPr id="24" name="text"/>
          <p:cNvSpPr txBox="1"/>
          <p:nvPr/>
        </p:nvSpPr>
        <p:spPr>
          <a:xfrm>
            <a:off x="9116568" y="4526280"/>
            <a:ext cx="2569464" cy="420624"/>
          </a:xfrm>
          <a:prstGeom prst="rect">
            <a:avLst/>
          </a:prstGeom>
          <a:noFill/>
          <a:ln/>
        </p:spPr>
        <p:txBody>
          <a:bodyPr wrap="square" lIns="0" tIns="0" rIns="0" bIns="0" rtlCol="0" anchor="ctr"/>
          <a:lstStyle/>
          <a:p>
            <a:pPr algn="ctr" indent="0" marL="0">
              <a:lnSpc>
                <a:spcPct val="110000"/>
              </a:lnSpc>
              <a:buNone/>
            </a:pPr>
            <a:r>
              <a:rPr lang="en-US" sz="1200" spc="50" kern="0" dirty="0">
                <a:solidFill>
                  <a:srgbClr val="1A1A1C"/>
                </a:solidFill>
                <a:latin typeface="Outfit" pitchFamily="34" charset="0"/>
                <a:ea typeface="Outfit" pitchFamily="34" charset="-122"/>
                <a:cs typeface="Outfit" pitchFamily="34" charset="-120"/>
              </a:rPr>
              <a:t>FOKUS LEBIH TAJAM</a:t>
            </a:r>
            <a:endParaRPr lang="en-US" sz="1200" dirty="0"/>
          </a:p>
        </p:txBody>
      </p:sp>
      <p:sp>
        <p:nvSpPr>
          <p:cNvPr id="25" name="pill"/>
          <p:cNvSpPr/>
          <p:nvPr/>
        </p:nvSpPr>
        <p:spPr>
          <a:xfrm>
            <a:off x="9006840" y="5056632"/>
            <a:ext cx="2788920" cy="420624"/>
          </a:xfrm>
          <a:prstGeom prst="roundRect">
            <a:avLst>
              <a:gd name="adj" fmla="val 108696"/>
            </a:avLst>
          </a:prstGeom>
          <a:solidFill>
            <a:srgbClr val="D4FC00"/>
          </a:solidFill>
          <a:ln w="9525">
            <a:solidFill>
              <a:srgbClr val="141417"/>
            </a:solidFill>
            <a:prstDash val="solid"/>
          </a:ln>
        </p:spPr>
      </p:sp>
      <p:sp>
        <p:nvSpPr>
          <p:cNvPr id="26" name="text"/>
          <p:cNvSpPr txBox="1"/>
          <p:nvPr/>
        </p:nvSpPr>
        <p:spPr>
          <a:xfrm>
            <a:off x="9116568" y="5056632"/>
            <a:ext cx="2569464" cy="420624"/>
          </a:xfrm>
          <a:prstGeom prst="rect">
            <a:avLst/>
          </a:prstGeom>
          <a:noFill/>
          <a:ln/>
        </p:spPr>
        <p:txBody>
          <a:bodyPr wrap="square" lIns="0" tIns="0" rIns="0" bIns="0" rtlCol="0" anchor="ctr"/>
          <a:lstStyle/>
          <a:p>
            <a:pPr algn="ctr" indent="0" marL="0">
              <a:lnSpc>
                <a:spcPct val="110000"/>
              </a:lnSpc>
              <a:buNone/>
            </a:pPr>
            <a:r>
              <a:rPr lang="en-US" sz="1200" spc="50" kern="0" dirty="0">
                <a:solidFill>
                  <a:srgbClr val="1A1A1C"/>
                </a:solidFill>
                <a:latin typeface="Outfit" pitchFamily="34" charset="0"/>
                <a:ea typeface="Outfit" pitchFamily="34" charset="-122"/>
                <a:cs typeface="Outfit" pitchFamily="34" charset="-120"/>
              </a:rPr>
              <a:t>ORGANISASI LEBIH RAMPING</a:t>
            </a:r>
            <a:endParaRPr lang="en-US" sz="1200" dirty="0"/>
          </a:p>
        </p:txBody>
      </p:sp>
      <p:sp>
        <p:nvSpPr>
          <p:cNvPr id="27" name="pill"/>
          <p:cNvSpPr/>
          <p:nvPr/>
        </p:nvSpPr>
        <p:spPr>
          <a:xfrm>
            <a:off x="9006840" y="5586984"/>
            <a:ext cx="2788920" cy="420624"/>
          </a:xfrm>
          <a:prstGeom prst="roundRect">
            <a:avLst>
              <a:gd name="adj" fmla="val 108696"/>
            </a:avLst>
          </a:prstGeom>
          <a:solidFill>
            <a:srgbClr val="D4FC00"/>
          </a:solidFill>
          <a:ln w="9525">
            <a:solidFill>
              <a:srgbClr val="141417"/>
            </a:solidFill>
            <a:prstDash val="solid"/>
          </a:ln>
        </p:spPr>
      </p:sp>
      <p:sp>
        <p:nvSpPr>
          <p:cNvPr id="28" name="text"/>
          <p:cNvSpPr txBox="1"/>
          <p:nvPr/>
        </p:nvSpPr>
        <p:spPr>
          <a:xfrm>
            <a:off x="9116568" y="5586984"/>
            <a:ext cx="2569464" cy="420624"/>
          </a:xfrm>
          <a:prstGeom prst="rect">
            <a:avLst/>
          </a:prstGeom>
          <a:noFill/>
          <a:ln/>
        </p:spPr>
        <p:txBody>
          <a:bodyPr wrap="square" lIns="0" tIns="0" rIns="0" bIns="0" rtlCol="0" anchor="ctr"/>
          <a:lstStyle/>
          <a:p>
            <a:pPr algn="ctr" indent="0" marL="0">
              <a:lnSpc>
                <a:spcPct val="110000"/>
              </a:lnSpc>
              <a:buNone/>
            </a:pPr>
            <a:r>
              <a:rPr lang="en-US" sz="1200" spc="50" kern="0" dirty="0">
                <a:solidFill>
                  <a:srgbClr val="1A1A1C"/>
                </a:solidFill>
                <a:latin typeface="Outfit" pitchFamily="34" charset="0"/>
                <a:ea typeface="Outfit" pitchFamily="34" charset="-122"/>
                <a:cs typeface="Outfit" pitchFamily="34" charset="-120"/>
              </a:rPr>
              <a:t>CAPABILITY MITRA TERPAKAI</a:t>
            </a:r>
            <a:endParaRPr lang="en-US" sz="12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10000"/>
              </a:lnSpc>
              <a:buNone/>
            </a:pPr>
            <a:endParaRPr lang="en-US" sz="1050" dirty="0"/>
          </a:p>
        </p:txBody>
      </p:sp>
      <p:sp>
        <p:nvSpPr>
          <p:cNvPr id="7" name="text"/>
          <p:cNvSpPr txBox="1"/>
          <p:nvPr/>
        </p:nvSpPr>
        <p:spPr>
          <a:xfrm>
            <a:off x="502920" y="868680"/>
            <a:ext cx="7772400" cy="914400"/>
          </a:xfrm>
          <a:prstGeom prst="rect">
            <a:avLst/>
          </a:prstGeom>
          <a:noFill/>
          <a:ln/>
        </p:spPr>
        <p:txBody>
          <a:bodyPr wrap="square" lIns="0" tIns="0" rIns="0" bIns="0" rtlCol="0" anchor="t"/>
          <a:lstStyle/>
          <a:p>
            <a:pPr algn="l" indent="0" marL="0">
              <a:lnSpc>
                <a:spcPct val="98000"/>
              </a:lnSpc>
              <a:buNone/>
            </a:pPr>
            <a:r>
              <a:rPr lang="en-US" sz="3800" spc="-50" kern="0" dirty="0">
                <a:solidFill>
                  <a:srgbClr val="141417"/>
                </a:solidFill>
                <a:latin typeface="Outfit Medium" pitchFamily="34" charset="0"/>
                <a:ea typeface="Outfit Medium" pitchFamily="34" charset="-122"/>
                <a:cs typeface="Outfit Medium" pitchFamily="34" charset="-120"/>
              </a:rPr>
              <a:t>EMPAT TIPE STRUKTUR, SATU PRINSIP</a:t>
            </a:r>
            <a:endParaRPr lang="en-US" sz="3800" dirty="0"/>
          </a:p>
        </p:txBody>
      </p:sp>
      <p:sp>
        <p:nvSpPr>
          <p:cNvPr id="8" name="toggle"/>
          <p:cNvSpPr/>
          <p:nvPr/>
        </p:nvSpPr>
        <p:spPr>
          <a:xfrm>
            <a:off x="8778240" y="105156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9079992" y="108813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1"/>
          <a:stretch>
            <a:fillRect/>
          </a:stretch>
        </p:blipFill>
        <p:spPr>
          <a:xfrm>
            <a:off x="9121140" y="1129284"/>
            <a:ext cx="118872" cy="118872"/>
          </a:xfrm>
          <a:prstGeom prst="rect">
            <a:avLst/>
          </a:prstGeom>
        </p:spPr>
      </p:pic>
      <p:sp>
        <p:nvSpPr>
          <p:cNvPr id="11" name="card"/>
          <p:cNvSpPr/>
          <p:nvPr/>
        </p:nvSpPr>
        <p:spPr>
          <a:xfrm>
            <a:off x="502920" y="2057400"/>
            <a:ext cx="2679878" cy="3291840"/>
          </a:xfrm>
          <a:prstGeom prst="roundRect">
            <a:avLst>
              <a:gd name="adj" fmla="val 6824"/>
            </a:avLst>
          </a:prstGeom>
          <a:solidFill>
            <a:srgbClr val="E8E8E8"/>
          </a:solidFill>
          <a:ln w="6350">
            <a:solidFill>
              <a:srgbClr val="E8E8E8"/>
            </a:solidFill>
            <a:prstDash val="solid"/>
          </a:ln>
        </p:spPr>
      </p:sp>
      <p:sp>
        <p:nvSpPr>
          <p:cNvPr id="12" name="text"/>
          <p:cNvSpPr txBox="1"/>
          <p:nvPr/>
        </p:nvSpPr>
        <p:spPr>
          <a:xfrm>
            <a:off x="777240" y="2331720"/>
            <a:ext cx="1097280" cy="365760"/>
          </a:xfrm>
          <a:prstGeom prst="rect">
            <a:avLst/>
          </a:prstGeom>
          <a:noFill/>
          <a:ln/>
        </p:spPr>
        <p:txBody>
          <a:bodyPr wrap="square" lIns="0" tIns="0" rIns="0" bIns="0" rtlCol="0" anchor="t"/>
          <a:lstStyle/>
          <a:p>
            <a:pPr algn="l" indent="0" marL="0">
              <a:lnSpc>
                <a:spcPct val="110000"/>
              </a:lnSpc>
              <a:buNone/>
            </a:pPr>
            <a:r>
              <a:rPr lang="en-US" sz="1800" dirty="0">
                <a:solidFill>
                  <a:srgbClr val="1A1A1C"/>
                </a:solidFill>
                <a:latin typeface="Outfit Medium" pitchFamily="34" charset="0"/>
                <a:ea typeface="Outfit Medium" pitchFamily="34" charset="-122"/>
                <a:cs typeface="Outfit Medium" pitchFamily="34" charset="-120"/>
              </a:rPr>
              <a:t>01</a:t>
            </a:r>
            <a:endParaRPr lang="en-US" sz="1800" dirty="0"/>
          </a:p>
        </p:txBody>
      </p:sp>
      <p:sp>
        <p:nvSpPr>
          <p:cNvPr id="13" name="text"/>
          <p:cNvSpPr txBox="1"/>
          <p:nvPr/>
        </p:nvSpPr>
        <p:spPr>
          <a:xfrm>
            <a:off x="777240" y="2834640"/>
            <a:ext cx="2131238" cy="1920240"/>
          </a:xfrm>
          <a:prstGeom prst="rect">
            <a:avLst/>
          </a:prstGeom>
          <a:noFill/>
          <a:ln/>
        </p:spPr>
        <p:txBody>
          <a:bodyPr wrap="square" lIns="0" tIns="0" rIns="0" bIns="0" rtlCol="0" anchor="b"/>
          <a:lstStyle/>
          <a:p>
            <a:pPr algn="l" indent="0" marL="0">
              <a:lnSpc>
                <a:spcPct val="108000"/>
              </a:lnSpc>
              <a:buNone/>
            </a:pPr>
            <a:r>
              <a:rPr lang="en-US" sz="1800" dirty="0">
                <a:solidFill>
                  <a:srgbClr val="1A1A1C"/>
                </a:solidFill>
                <a:latin typeface="Outfit" pitchFamily="34" charset="0"/>
                <a:ea typeface="Outfit" pitchFamily="34" charset="-122"/>
                <a:cs typeface="Outfit" pitchFamily="34" charset="-120"/>
              </a:rPr>
              <a:t>Eksekutif pusat, staf kecil. Lentur, tak memadai saat tumbuh.</a:t>
            </a:r>
            <a:endParaRPr lang="en-US" sz="1800" dirty="0"/>
          </a:p>
        </p:txBody>
      </p:sp>
      <p:sp>
        <p:nvSpPr>
          <p:cNvPr id="14" name="text"/>
          <p:cNvSpPr txBox="1"/>
          <p:nvPr/>
        </p:nvSpPr>
        <p:spPr>
          <a:xfrm>
            <a:off x="777240" y="4846320"/>
            <a:ext cx="2131238" cy="292608"/>
          </a:xfrm>
          <a:prstGeom prst="rect">
            <a:avLst/>
          </a:prstGeom>
          <a:noFill/>
          <a:ln/>
        </p:spPr>
        <p:txBody>
          <a:bodyPr wrap="square" lIns="0" tIns="0" rIns="0" bIns="0" rtlCol="0" anchor="t"/>
          <a:lstStyle/>
          <a:p>
            <a:pPr algn="l" indent="0" marL="0">
              <a:lnSpc>
                <a:spcPct val="110000"/>
              </a:lnSpc>
              <a:buNone/>
            </a:pPr>
            <a:r>
              <a:rPr lang="en-US" sz="1400" spc="50" kern="0" dirty="0">
                <a:solidFill>
                  <a:srgbClr val="1A1A1C"/>
                </a:solidFill>
                <a:latin typeface="Outfit" pitchFamily="34" charset="0"/>
                <a:ea typeface="Outfit" pitchFamily="34" charset="-122"/>
                <a:cs typeface="Outfit" pitchFamily="34" charset="-120"/>
              </a:rPr>
              <a:t>SIMPLE · LINE-AND-STAFF</a:t>
            </a:r>
            <a:endParaRPr lang="en-US" sz="1400" dirty="0"/>
          </a:p>
        </p:txBody>
      </p:sp>
      <p:sp>
        <p:nvSpPr>
          <p:cNvPr id="15" name="card"/>
          <p:cNvSpPr/>
          <p:nvPr/>
        </p:nvSpPr>
        <p:spPr>
          <a:xfrm>
            <a:off x="3338246" y="2057400"/>
            <a:ext cx="2679878" cy="3291840"/>
          </a:xfrm>
          <a:prstGeom prst="roundRect">
            <a:avLst>
              <a:gd name="adj" fmla="val 6824"/>
            </a:avLst>
          </a:prstGeom>
          <a:solidFill>
            <a:srgbClr val="D4FC00"/>
          </a:solidFill>
          <a:ln w="6350">
            <a:solidFill>
              <a:srgbClr val="D4FC00"/>
            </a:solidFill>
            <a:prstDash val="solid"/>
          </a:ln>
        </p:spPr>
      </p:sp>
      <p:sp>
        <p:nvSpPr>
          <p:cNvPr id="16" name="text"/>
          <p:cNvSpPr txBox="1"/>
          <p:nvPr/>
        </p:nvSpPr>
        <p:spPr>
          <a:xfrm>
            <a:off x="3612566" y="2331720"/>
            <a:ext cx="1097280" cy="365760"/>
          </a:xfrm>
          <a:prstGeom prst="rect">
            <a:avLst/>
          </a:prstGeom>
          <a:noFill/>
          <a:ln/>
        </p:spPr>
        <p:txBody>
          <a:bodyPr wrap="square" lIns="0" tIns="0" rIns="0" bIns="0" rtlCol="0" anchor="t"/>
          <a:lstStyle/>
          <a:p>
            <a:pPr algn="l" indent="0" marL="0">
              <a:lnSpc>
                <a:spcPct val="110000"/>
              </a:lnSpc>
              <a:buNone/>
            </a:pPr>
            <a:r>
              <a:rPr lang="en-US" sz="1800" dirty="0">
                <a:solidFill>
                  <a:srgbClr val="1A1A1C"/>
                </a:solidFill>
                <a:latin typeface="Outfit Medium" pitchFamily="34" charset="0"/>
                <a:ea typeface="Outfit Medium" pitchFamily="34" charset="-122"/>
                <a:cs typeface="Outfit Medium" pitchFamily="34" charset="-120"/>
              </a:rPr>
              <a:t>02</a:t>
            </a:r>
            <a:endParaRPr lang="en-US" sz="1800" dirty="0"/>
          </a:p>
        </p:txBody>
      </p:sp>
      <p:sp>
        <p:nvSpPr>
          <p:cNvPr id="17" name="text"/>
          <p:cNvSpPr txBox="1"/>
          <p:nvPr/>
        </p:nvSpPr>
        <p:spPr>
          <a:xfrm>
            <a:off x="3612566" y="2834640"/>
            <a:ext cx="2131238" cy="1920240"/>
          </a:xfrm>
          <a:prstGeom prst="rect">
            <a:avLst/>
          </a:prstGeom>
          <a:noFill/>
          <a:ln/>
        </p:spPr>
        <p:txBody>
          <a:bodyPr wrap="square" lIns="0" tIns="0" rIns="0" bIns="0" rtlCol="0" anchor="b"/>
          <a:lstStyle/>
          <a:p>
            <a:pPr algn="l" indent="0" marL="0">
              <a:lnSpc>
                <a:spcPct val="108000"/>
              </a:lnSpc>
              <a:buNone/>
            </a:pPr>
            <a:r>
              <a:rPr lang="en-US" sz="1800" dirty="0">
                <a:solidFill>
                  <a:srgbClr val="1A1A1C"/>
                </a:solidFill>
                <a:latin typeface="Outfit" pitchFamily="34" charset="0"/>
                <a:ea typeface="Outfit" pitchFamily="34" charset="-122"/>
                <a:cs typeface="Outfit" pitchFamily="34" charset="-120"/>
              </a:rPr>
              <a:t>Departemen per fungsi, satu bisnis. Spesialisasi kuat, bersekat.</a:t>
            </a:r>
            <a:endParaRPr lang="en-US" sz="1800" dirty="0"/>
          </a:p>
        </p:txBody>
      </p:sp>
      <p:sp>
        <p:nvSpPr>
          <p:cNvPr id="18" name="text"/>
          <p:cNvSpPr txBox="1"/>
          <p:nvPr/>
        </p:nvSpPr>
        <p:spPr>
          <a:xfrm>
            <a:off x="3612566" y="4846320"/>
            <a:ext cx="2131238" cy="292608"/>
          </a:xfrm>
          <a:prstGeom prst="rect">
            <a:avLst/>
          </a:prstGeom>
          <a:noFill/>
          <a:ln/>
        </p:spPr>
        <p:txBody>
          <a:bodyPr wrap="square" lIns="0" tIns="0" rIns="0" bIns="0" rtlCol="0" anchor="t"/>
          <a:lstStyle/>
          <a:p>
            <a:pPr algn="l" indent="0" marL="0">
              <a:lnSpc>
                <a:spcPct val="110000"/>
              </a:lnSpc>
              <a:buNone/>
            </a:pPr>
            <a:r>
              <a:rPr lang="en-US" sz="1400" spc="50" kern="0" dirty="0">
                <a:solidFill>
                  <a:srgbClr val="1A1A1C"/>
                </a:solidFill>
                <a:latin typeface="Outfit" pitchFamily="34" charset="0"/>
                <a:ea typeface="Outfit" pitchFamily="34" charset="-122"/>
                <a:cs typeface="Outfit" pitchFamily="34" charset="-120"/>
              </a:rPr>
              <a:t>FUNCTIONAL · U-FORM</a:t>
            </a:r>
            <a:endParaRPr lang="en-US" sz="1400" dirty="0"/>
          </a:p>
        </p:txBody>
      </p:sp>
      <p:sp>
        <p:nvSpPr>
          <p:cNvPr id="19" name="card"/>
          <p:cNvSpPr/>
          <p:nvPr/>
        </p:nvSpPr>
        <p:spPr>
          <a:xfrm>
            <a:off x="6173572" y="2057400"/>
            <a:ext cx="2679878" cy="3291840"/>
          </a:xfrm>
          <a:prstGeom prst="roundRect">
            <a:avLst>
              <a:gd name="adj" fmla="val 6824"/>
            </a:avLst>
          </a:prstGeom>
          <a:solidFill>
            <a:srgbClr val="E8E8E8"/>
          </a:solidFill>
          <a:ln w="6350">
            <a:solidFill>
              <a:srgbClr val="E8E8E8"/>
            </a:solidFill>
            <a:prstDash val="solid"/>
          </a:ln>
        </p:spPr>
      </p:sp>
      <p:sp>
        <p:nvSpPr>
          <p:cNvPr id="20" name="text"/>
          <p:cNvSpPr txBox="1"/>
          <p:nvPr/>
        </p:nvSpPr>
        <p:spPr>
          <a:xfrm>
            <a:off x="6447892" y="2331720"/>
            <a:ext cx="1097280" cy="365760"/>
          </a:xfrm>
          <a:prstGeom prst="rect">
            <a:avLst/>
          </a:prstGeom>
          <a:noFill/>
          <a:ln/>
        </p:spPr>
        <p:txBody>
          <a:bodyPr wrap="square" lIns="0" tIns="0" rIns="0" bIns="0" rtlCol="0" anchor="t"/>
          <a:lstStyle/>
          <a:p>
            <a:pPr algn="l" indent="0" marL="0">
              <a:lnSpc>
                <a:spcPct val="110000"/>
              </a:lnSpc>
              <a:buNone/>
            </a:pPr>
            <a:r>
              <a:rPr lang="en-US" sz="1800" dirty="0">
                <a:solidFill>
                  <a:srgbClr val="1A1A1C"/>
                </a:solidFill>
                <a:latin typeface="Outfit Medium" pitchFamily="34" charset="0"/>
                <a:ea typeface="Outfit Medium" pitchFamily="34" charset="-122"/>
                <a:cs typeface="Outfit Medium" pitchFamily="34" charset="-120"/>
              </a:rPr>
              <a:t>03</a:t>
            </a:r>
            <a:endParaRPr lang="en-US" sz="1800" dirty="0"/>
          </a:p>
        </p:txBody>
      </p:sp>
      <p:sp>
        <p:nvSpPr>
          <p:cNvPr id="21" name="text"/>
          <p:cNvSpPr txBox="1"/>
          <p:nvPr/>
        </p:nvSpPr>
        <p:spPr>
          <a:xfrm>
            <a:off x="6447892" y="2834640"/>
            <a:ext cx="2131238" cy="1920240"/>
          </a:xfrm>
          <a:prstGeom prst="rect">
            <a:avLst/>
          </a:prstGeom>
          <a:noFill/>
          <a:ln/>
        </p:spPr>
        <p:txBody>
          <a:bodyPr wrap="square" lIns="0" tIns="0" rIns="0" bIns="0" rtlCol="0" anchor="b"/>
          <a:lstStyle/>
          <a:p>
            <a:pPr algn="l" indent="0" marL="0">
              <a:lnSpc>
                <a:spcPct val="108000"/>
              </a:lnSpc>
              <a:buNone/>
            </a:pPr>
            <a:r>
              <a:rPr lang="en-US" sz="1800" dirty="0">
                <a:solidFill>
                  <a:srgbClr val="1A1A1C"/>
                </a:solidFill>
                <a:latin typeface="Outfit" pitchFamily="34" charset="0"/>
                <a:ea typeface="Outfit" pitchFamily="34" charset="-122"/>
                <a:cs typeface="Outfit" pitchFamily="34" charset="-120"/>
              </a:rPr>
              <a:t>Divisi sebagai profit center untuk diversifikasi. Sinergi sulit.</a:t>
            </a:r>
            <a:endParaRPr lang="en-US" sz="1800" dirty="0"/>
          </a:p>
        </p:txBody>
      </p:sp>
      <p:sp>
        <p:nvSpPr>
          <p:cNvPr id="22" name="text"/>
          <p:cNvSpPr txBox="1"/>
          <p:nvPr/>
        </p:nvSpPr>
        <p:spPr>
          <a:xfrm>
            <a:off x="6447892" y="4846320"/>
            <a:ext cx="2131238" cy="292608"/>
          </a:xfrm>
          <a:prstGeom prst="rect">
            <a:avLst/>
          </a:prstGeom>
          <a:noFill/>
          <a:ln/>
        </p:spPr>
        <p:txBody>
          <a:bodyPr wrap="square" lIns="0" tIns="0" rIns="0" bIns="0" rtlCol="0" anchor="t"/>
          <a:lstStyle/>
          <a:p>
            <a:pPr algn="l" indent="0" marL="0">
              <a:lnSpc>
                <a:spcPct val="110000"/>
              </a:lnSpc>
              <a:buNone/>
            </a:pPr>
            <a:r>
              <a:rPr lang="en-US" sz="1400" spc="50" kern="0" dirty="0">
                <a:solidFill>
                  <a:srgbClr val="1A1A1C"/>
                </a:solidFill>
                <a:latin typeface="Outfit" pitchFamily="34" charset="0"/>
                <a:ea typeface="Outfit" pitchFamily="34" charset="-122"/>
                <a:cs typeface="Outfit" pitchFamily="34" charset="-120"/>
              </a:rPr>
              <a:t>MULTIDIVISIONAL · M-FORM</a:t>
            </a:r>
            <a:endParaRPr lang="en-US" sz="1400" dirty="0"/>
          </a:p>
        </p:txBody>
      </p:sp>
      <p:sp>
        <p:nvSpPr>
          <p:cNvPr id="23" name="card"/>
          <p:cNvSpPr/>
          <p:nvPr/>
        </p:nvSpPr>
        <p:spPr>
          <a:xfrm>
            <a:off x="9008897" y="2057400"/>
            <a:ext cx="2679878" cy="3291840"/>
          </a:xfrm>
          <a:prstGeom prst="roundRect">
            <a:avLst>
              <a:gd name="adj" fmla="val 6824"/>
            </a:avLst>
          </a:prstGeom>
          <a:solidFill>
            <a:srgbClr val="141417"/>
          </a:solidFill>
          <a:ln w="6350">
            <a:solidFill>
              <a:srgbClr val="141417"/>
            </a:solidFill>
            <a:prstDash val="solid"/>
          </a:ln>
        </p:spPr>
      </p:sp>
      <p:sp>
        <p:nvSpPr>
          <p:cNvPr id="24" name="text"/>
          <p:cNvSpPr txBox="1"/>
          <p:nvPr/>
        </p:nvSpPr>
        <p:spPr>
          <a:xfrm>
            <a:off x="9283217" y="2331720"/>
            <a:ext cx="1097280" cy="365760"/>
          </a:xfrm>
          <a:prstGeom prst="rect">
            <a:avLst/>
          </a:prstGeom>
          <a:noFill/>
          <a:ln/>
        </p:spPr>
        <p:txBody>
          <a:bodyPr wrap="square" lIns="0" tIns="0" rIns="0" bIns="0" rtlCol="0" anchor="t"/>
          <a:lstStyle/>
          <a:p>
            <a:pPr algn="l" indent="0" marL="0">
              <a:lnSpc>
                <a:spcPct val="110000"/>
              </a:lnSpc>
              <a:buNone/>
            </a:pPr>
            <a:r>
              <a:rPr lang="en-US" sz="1800" dirty="0">
                <a:solidFill>
                  <a:srgbClr val="FFFFFF"/>
                </a:solidFill>
                <a:latin typeface="Outfit Medium" pitchFamily="34" charset="0"/>
                <a:ea typeface="Outfit Medium" pitchFamily="34" charset="-122"/>
                <a:cs typeface="Outfit Medium" pitchFamily="34" charset="-120"/>
              </a:rPr>
              <a:t>04</a:t>
            </a:r>
            <a:endParaRPr lang="en-US" sz="1800" dirty="0"/>
          </a:p>
        </p:txBody>
      </p:sp>
      <p:sp>
        <p:nvSpPr>
          <p:cNvPr id="25" name="text"/>
          <p:cNvSpPr txBox="1"/>
          <p:nvPr/>
        </p:nvSpPr>
        <p:spPr>
          <a:xfrm>
            <a:off x="9283217" y="2834640"/>
            <a:ext cx="2131238" cy="1920240"/>
          </a:xfrm>
          <a:prstGeom prst="rect">
            <a:avLst/>
          </a:prstGeom>
          <a:noFill/>
          <a:ln/>
        </p:spPr>
        <p:txBody>
          <a:bodyPr wrap="square" lIns="0" tIns="0" rIns="0" bIns="0" rtlCol="0" anchor="b"/>
          <a:lstStyle/>
          <a:p>
            <a:pPr algn="l" indent="0" marL="0">
              <a:lnSpc>
                <a:spcPct val="108000"/>
              </a:lnSpc>
              <a:buNone/>
            </a:pPr>
            <a:r>
              <a:rPr lang="en-US" sz="1800" dirty="0">
                <a:solidFill>
                  <a:srgbClr val="E4E4E7"/>
                </a:solidFill>
                <a:latin typeface="Outfit" pitchFamily="34" charset="0"/>
                <a:ea typeface="Outfit" pitchFamily="34" charset="-122"/>
                <a:cs typeface="Outfit" pitchFamily="34" charset="-120"/>
              </a:rPr>
              <a:t>Dua dimensi atau lebih, beberapa atasan; versi modern lebih lentur.</a:t>
            </a:r>
            <a:endParaRPr lang="en-US" sz="1800" dirty="0"/>
          </a:p>
        </p:txBody>
      </p:sp>
      <p:sp>
        <p:nvSpPr>
          <p:cNvPr id="26" name="text"/>
          <p:cNvSpPr txBox="1"/>
          <p:nvPr/>
        </p:nvSpPr>
        <p:spPr>
          <a:xfrm>
            <a:off x="9283217" y="4846320"/>
            <a:ext cx="2131238" cy="292608"/>
          </a:xfrm>
          <a:prstGeom prst="rect">
            <a:avLst/>
          </a:prstGeom>
          <a:noFill/>
          <a:ln/>
        </p:spPr>
        <p:txBody>
          <a:bodyPr wrap="square" lIns="0" tIns="0" rIns="0" bIns="0" rtlCol="0" anchor="t"/>
          <a:lstStyle/>
          <a:p>
            <a:pPr algn="l" indent="0" marL="0">
              <a:lnSpc>
                <a:spcPct val="110000"/>
              </a:lnSpc>
              <a:buNone/>
            </a:pPr>
            <a:r>
              <a:rPr lang="en-US" sz="1400" spc="50" kern="0" dirty="0">
                <a:solidFill>
                  <a:srgbClr val="D4FC00"/>
                </a:solidFill>
                <a:latin typeface="Outfit" pitchFamily="34" charset="0"/>
                <a:ea typeface="Outfit" pitchFamily="34" charset="-122"/>
                <a:cs typeface="Outfit" pitchFamily="34" charset="-120"/>
              </a:rPr>
              <a:t>MATRIX · COMPOSITE</a:t>
            </a:r>
            <a:endParaRPr lang="en-US" sz="1400" dirty="0"/>
          </a:p>
        </p:txBody>
      </p:sp>
      <p:sp>
        <p:nvSpPr>
          <p:cNvPr id="27" name="text"/>
          <p:cNvSpPr txBox="1"/>
          <p:nvPr/>
        </p:nvSpPr>
        <p:spPr>
          <a:xfrm>
            <a:off x="502920" y="5669280"/>
            <a:ext cx="7315200" cy="502920"/>
          </a:xfrm>
          <a:prstGeom prst="rect">
            <a:avLst/>
          </a:prstGeom>
          <a:noFill/>
          <a:ln/>
        </p:spPr>
        <p:txBody>
          <a:bodyPr wrap="square" lIns="0" tIns="0" rIns="0" bIns="0" rtlCol="0" anchor="ctr"/>
          <a:lstStyle/>
          <a:p>
            <a:pPr algn="l" indent="0" marL="0">
              <a:lnSpc>
                <a:spcPct val="110000"/>
              </a:lnSpc>
              <a:buNone/>
            </a:pPr>
            <a:r>
              <a:rPr lang="en-US" sz="1600" spc="50" kern="0" dirty="0">
                <a:solidFill>
                  <a:srgbClr val="1A1A1C"/>
                </a:solidFill>
                <a:latin typeface="Outfit Medium" pitchFamily="34" charset="0"/>
                <a:ea typeface="Outfit Medium" pitchFamily="34" charset="-122"/>
                <a:cs typeface="Outfit Medium" pitchFamily="34" charset="-120"/>
              </a:rPr>
              <a:t>AKTIVITAS KRITIS MENJADI BUILDING BLOCKS STRUKTUR</a:t>
            </a:r>
            <a:endParaRPr lang="en-US" sz="1600" dirty="0"/>
          </a:p>
        </p:txBody>
      </p:sp>
      <p:sp>
        <p:nvSpPr>
          <p:cNvPr id="28" name="pill"/>
          <p:cNvSpPr/>
          <p:nvPr/>
        </p:nvSpPr>
        <p:spPr>
          <a:xfrm>
            <a:off x="8031175" y="5715000"/>
            <a:ext cx="3657600" cy="420624"/>
          </a:xfrm>
          <a:prstGeom prst="roundRect">
            <a:avLst>
              <a:gd name="adj" fmla="val 108696"/>
            </a:avLst>
          </a:prstGeom>
          <a:solidFill>
            <a:srgbClr val="F4F4F4"/>
          </a:solidFill>
          <a:ln w="9525">
            <a:solidFill>
              <a:srgbClr val="141417"/>
            </a:solidFill>
            <a:prstDash val="solid"/>
          </a:ln>
        </p:spPr>
      </p:sp>
      <p:sp>
        <p:nvSpPr>
          <p:cNvPr id="29" name="text"/>
          <p:cNvSpPr txBox="1"/>
          <p:nvPr/>
        </p:nvSpPr>
        <p:spPr>
          <a:xfrm>
            <a:off x="8140903" y="5715000"/>
            <a:ext cx="3438144" cy="420624"/>
          </a:xfrm>
          <a:prstGeom prst="rect">
            <a:avLst/>
          </a:prstGeom>
          <a:noFill/>
          <a:ln/>
        </p:spPr>
        <p:txBody>
          <a:bodyPr wrap="square" lIns="0" tIns="0" rIns="0" bIns="0" rtlCol="0" anchor="ctr"/>
          <a:lstStyle/>
          <a:p>
            <a:pPr algn="ctr" indent="0" marL="0">
              <a:lnSpc>
                <a:spcPct val="110000"/>
              </a:lnSpc>
              <a:buNone/>
            </a:pPr>
            <a:r>
              <a:rPr lang="en-US" sz="1200" spc="50" kern="0" dirty="0">
                <a:solidFill>
                  <a:srgbClr val="1A1A1C"/>
                </a:solidFill>
                <a:latin typeface="Outfit" pitchFamily="34" charset="0"/>
                <a:ea typeface="Outfit" pitchFamily="34" charset="-122"/>
                <a:cs typeface="Outfit" pitchFamily="34" charset="-120"/>
              </a:rPr>
              <a:t>SIMPLE → FUNCTIONAL → MULTIDIVISIONAL → MATRIX</a:t>
            </a:r>
            <a:endParaRPr lang="en-US" sz="1200" dirty="0"/>
          </a:p>
        </p:txBody>
      </p:sp>
      <p:sp>
        <p:nvSpPr>
          <p:cNvPr id="30"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10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10000"/>
              </a:lnSpc>
              <a:buNone/>
            </a:pPr>
            <a:endParaRPr lang="en-US" sz="1050" dirty="0"/>
          </a:p>
        </p:txBody>
      </p:sp>
      <p:sp>
        <p:nvSpPr>
          <p:cNvPr id="7" name="text"/>
          <p:cNvSpPr txBox="1"/>
          <p:nvPr/>
        </p:nvSpPr>
        <p:spPr>
          <a:xfrm>
            <a:off x="502920" y="868680"/>
            <a:ext cx="7315200" cy="1463040"/>
          </a:xfrm>
          <a:prstGeom prst="rect">
            <a:avLst/>
          </a:prstGeom>
          <a:noFill/>
          <a:ln/>
        </p:spPr>
        <p:txBody>
          <a:bodyPr wrap="square" lIns="0" tIns="0" rIns="0" bIns="0" rtlCol="0" anchor="t"/>
          <a:lstStyle/>
          <a:p>
            <a:pPr algn="l" indent="0" marL="0">
              <a:lnSpc>
                <a:spcPct val="98000"/>
              </a:lnSpc>
              <a:buNone/>
            </a:pPr>
            <a:r>
              <a:rPr lang="en-US" sz="3400" spc="-50" kern="0" dirty="0">
                <a:solidFill>
                  <a:srgbClr val="141417"/>
                </a:solidFill>
                <a:latin typeface="Outfit Medium" pitchFamily="34" charset="0"/>
                <a:ea typeface="Outfit Medium" pitchFamily="34" charset="-122"/>
                <a:cs typeface="Outfit Medium" pitchFamily="34" charset="-120"/>
              </a:rPr>
              <a:t>MEMUSATKAN ATAU MENDELEGASIKAN KEPUTUSAN</a:t>
            </a:r>
            <a:endParaRPr lang="en-US" sz="3400" dirty="0"/>
          </a:p>
        </p:txBody>
      </p:sp>
      <p:sp>
        <p:nvSpPr>
          <p:cNvPr id="8" name="card"/>
          <p:cNvSpPr/>
          <p:nvPr/>
        </p:nvSpPr>
        <p:spPr>
          <a:xfrm>
            <a:off x="502920" y="2834640"/>
            <a:ext cx="3429000" cy="3383280"/>
          </a:xfrm>
          <a:prstGeom prst="roundRect">
            <a:avLst>
              <a:gd name="adj" fmla="val 5405"/>
            </a:avLst>
          </a:prstGeom>
          <a:solidFill>
            <a:srgbClr val="141417"/>
          </a:solidFill>
          <a:ln w="6350">
            <a:solidFill>
              <a:srgbClr val="141417"/>
            </a:solidFill>
            <a:prstDash val="solid"/>
          </a:ln>
        </p:spPr>
      </p:sp>
      <p:sp>
        <p:nvSpPr>
          <p:cNvPr id="9" name="text"/>
          <p:cNvSpPr txBox="1"/>
          <p:nvPr/>
        </p:nvSpPr>
        <p:spPr>
          <a:xfrm>
            <a:off x="777240" y="3108960"/>
            <a:ext cx="914400" cy="365760"/>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Outfit Medium" pitchFamily="34" charset="0"/>
                <a:ea typeface="Outfit Medium" pitchFamily="34" charset="-122"/>
                <a:cs typeface="Outfit Medium" pitchFamily="34" charset="-120"/>
              </a:rPr>
              <a:t>01</a:t>
            </a:r>
            <a:endParaRPr lang="en-US" sz="1600" dirty="0"/>
          </a:p>
        </p:txBody>
      </p:sp>
      <p:sp>
        <p:nvSpPr>
          <p:cNvPr id="10" name="text"/>
          <p:cNvSpPr txBox="1"/>
          <p:nvPr/>
        </p:nvSpPr>
        <p:spPr>
          <a:xfrm>
            <a:off x="777240" y="3474720"/>
            <a:ext cx="2880360" cy="2240280"/>
          </a:xfrm>
          <a:prstGeom prst="rect">
            <a:avLst/>
          </a:prstGeom>
          <a:noFill/>
          <a:ln/>
        </p:spPr>
        <p:txBody>
          <a:bodyPr wrap="square" lIns="0" tIns="0" rIns="0" bIns="0" rtlCol="0" anchor="b"/>
          <a:lstStyle/>
          <a:p>
            <a:pPr algn="l" marL="152400" indent="-152400">
              <a:lnSpc>
                <a:spcPct val="106000"/>
              </a:lnSpc>
              <a:spcAft>
                <a:spcPts val="800"/>
              </a:spcAft>
              <a:buSzPct val="100000"/>
              <a:buChar char="•"/>
            </a:pPr>
            <a:r>
              <a:rPr lang="en-US" sz="1700" dirty="0">
                <a:solidFill>
                  <a:srgbClr val="E4E4E7"/>
                </a:solidFill>
                <a:latin typeface="Outfit" pitchFamily="34" charset="0"/>
                <a:ea typeface="Outfit" pitchFamily="34" charset="-122"/>
                <a:cs typeface="Outfit" pitchFamily="34" charset="-120"/>
              </a:rPr>
              <a:t>Asumsi: lini bawah tak punya pengetahuan untuk memutuskan</a:t>
            </a:r>
            <a:endParaRPr lang="en-US" sz="1700" dirty="0"/>
          </a:p>
          <a:p>
            <a:pPr algn="l" marL="152400" indent="-152400">
              <a:lnSpc>
                <a:spcPct val="106000"/>
              </a:lnSpc>
              <a:spcAft>
                <a:spcPts val="800"/>
              </a:spcAft>
              <a:buSzPct val="100000"/>
              <a:buChar char="•"/>
            </a:pPr>
            <a:r>
              <a:rPr lang="en-US" sz="1700" dirty="0">
                <a:solidFill>
                  <a:srgbClr val="E4E4E7"/>
                </a:solidFill>
                <a:latin typeface="Outfit" pitchFamily="34" charset="0"/>
                <a:ea typeface="Outfit" pitchFamily="34" charset="-122"/>
                <a:cs typeface="Outfit" pitchFamily="34" charset="-120"/>
              </a:rPr>
              <a:t>Akuntabilitas jelas, tegas saat krisis</a:t>
            </a:r>
            <a:endParaRPr lang="en-US" sz="1700" dirty="0"/>
          </a:p>
          <a:p>
            <a:pPr algn="l" marL="152400" indent="-152400">
              <a:lnSpc>
                <a:spcPct val="106000"/>
              </a:lnSpc>
              <a:spcAft>
                <a:spcPts val="800"/>
              </a:spcAft>
              <a:buSzPct val="100000"/>
              <a:buChar char="•"/>
            </a:pPr>
            <a:r>
              <a:rPr lang="en-US" sz="1700" dirty="0">
                <a:solidFill>
                  <a:srgbClr val="E4E4E7"/>
                </a:solidFill>
                <a:latin typeface="Outfit" pitchFamily="34" charset="0"/>
                <a:ea typeface="Outfit" pitchFamily="34" charset="-122"/>
                <a:cs typeface="Outfit" pitchFamily="34" charset="-120"/>
              </a:rPr>
              <a:t>Respons lambat, inisiatif bawah mati</a:t>
            </a:r>
            <a:endParaRPr lang="en-US" sz="1700" dirty="0"/>
          </a:p>
        </p:txBody>
      </p:sp>
      <p:sp>
        <p:nvSpPr>
          <p:cNvPr id="11" name="text"/>
          <p:cNvSpPr txBox="1"/>
          <p:nvPr/>
        </p:nvSpPr>
        <p:spPr>
          <a:xfrm>
            <a:off x="777240" y="5760720"/>
            <a:ext cx="2880360" cy="292608"/>
          </a:xfrm>
          <a:prstGeom prst="rect">
            <a:avLst/>
          </a:prstGeom>
          <a:noFill/>
          <a:ln/>
        </p:spPr>
        <p:txBody>
          <a:bodyPr wrap="square" lIns="0" tIns="0" rIns="0" bIns="0" rtlCol="0" anchor="t"/>
          <a:lstStyle/>
          <a:p>
            <a:pPr algn="l" indent="0" marL="0">
              <a:lnSpc>
                <a:spcPct val="110000"/>
              </a:lnSpc>
              <a:buNone/>
            </a:pPr>
            <a:r>
              <a:rPr lang="en-US" sz="1400" spc="50" kern="0" dirty="0">
                <a:solidFill>
                  <a:srgbClr val="D4FC00"/>
                </a:solidFill>
                <a:latin typeface="Outfit" pitchFamily="34" charset="0"/>
                <a:ea typeface="Outfit" pitchFamily="34" charset="-122"/>
                <a:cs typeface="Outfit" pitchFamily="34" charset="-120"/>
              </a:rPr>
              <a:t>CENTRALIZED</a:t>
            </a:r>
            <a:endParaRPr lang="en-US" sz="1400" dirty="0"/>
          </a:p>
        </p:txBody>
      </p:sp>
      <p:sp>
        <p:nvSpPr>
          <p:cNvPr id="12" name="card"/>
          <p:cNvSpPr/>
          <p:nvPr/>
        </p:nvSpPr>
        <p:spPr>
          <a:xfrm>
            <a:off x="4087368" y="2834640"/>
            <a:ext cx="3429000" cy="3383280"/>
          </a:xfrm>
          <a:prstGeom prst="roundRect">
            <a:avLst>
              <a:gd name="adj" fmla="val 5405"/>
            </a:avLst>
          </a:prstGeom>
          <a:solidFill>
            <a:srgbClr val="D4FC00"/>
          </a:solidFill>
          <a:ln w="6350">
            <a:solidFill>
              <a:srgbClr val="D4FC00"/>
            </a:solidFill>
            <a:prstDash val="solid"/>
          </a:ln>
        </p:spPr>
      </p:sp>
      <p:sp>
        <p:nvSpPr>
          <p:cNvPr id="13" name="text"/>
          <p:cNvSpPr txBox="1"/>
          <p:nvPr/>
        </p:nvSpPr>
        <p:spPr>
          <a:xfrm>
            <a:off x="4361688" y="3108960"/>
            <a:ext cx="914400" cy="365760"/>
          </a:xfrm>
          <a:prstGeom prst="rect">
            <a:avLst/>
          </a:prstGeom>
          <a:noFill/>
          <a:ln/>
        </p:spPr>
        <p:txBody>
          <a:bodyPr wrap="square" lIns="0" tIns="0" rIns="0" bIns="0" rtlCol="0" anchor="t"/>
          <a:lstStyle/>
          <a:p>
            <a:pPr algn="l" indent="0" marL="0">
              <a:lnSpc>
                <a:spcPct val="110000"/>
              </a:lnSpc>
              <a:buNone/>
            </a:pPr>
            <a:r>
              <a:rPr lang="en-US" sz="1600" dirty="0">
                <a:solidFill>
                  <a:srgbClr val="1A1A1C"/>
                </a:solidFill>
                <a:latin typeface="Outfit Medium" pitchFamily="34" charset="0"/>
                <a:ea typeface="Outfit Medium" pitchFamily="34" charset="-122"/>
                <a:cs typeface="Outfit Medium" pitchFamily="34" charset="-120"/>
              </a:rPr>
              <a:t>02</a:t>
            </a:r>
            <a:endParaRPr lang="en-US" sz="1600" dirty="0"/>
          </a:p>
        </p:txBody>
      </p:sp>
      <p:sp>
        <p:nvSpPr>
          <p:cNvPr id="14" name="text"/>
          <p:cNvSpPr txBox="1"/>
          <p:nvPr/>
        </p:nvSpPr>
        <p:spPr>
          <a:xfrm>
            <a:off x="4361688" y="3474720"/>
            <a:ext cx="2880360" cy="2240280"/>
          </a:xfrm>
          <a:prstGeom prst="rect">
            <a:avLst/>
          </a:prstGeom>
          <a:noFill/>
          <a:ln/>
        </p:spPr>
        <p:txBody>
          <a:bodyPr wrap="square" lIns="0" tIns="0" rIns="0" bIns="0" rtlCol="0" anchor="b"/>
          <a:lstStyle/>
          <a:p>
            <a:pPr algn="l" marL="152400" indent="-152400">
              <a:lnSpc>
                <a:spcPct val="106000"/>
              </a:lnSpc>
              <a:spcAft>
                <a:spcPts val="800"/>
              </a:spcAft>
              <a:buSzPct val="100000"/>
              <a:buChar char="•"/>
            </a:pPr>
            <a:r>
              <a:rPr lang="en-US" sz="1700" dirty="0">
                <a:solidFill>
                  <a:srgbClr val="1A1A1C"/>
                </a:solidFill>
                <a:latin typeface="Outfit" pitchFamily="34" charset="0"/>
                <a:ea typeface="Outfit" pitchFamily="34" charset="-122"/>
                <a:cs typeface="Outfit" pitchFamily="34" charset="-120"/>
              </a:rPr>
              <a:t>Asumsi: yang terdekat dengan situasi paling tahu</a:t>
            </a:r>
            <a:endParaRPr lang="en-US" sz="1700" dirty="0"/>
          </a:p>
          <a:p>
            <a:pPr algn="l" marL="152400" indent="-152400">
              <a:lnSpc>
                <a:spcPct val="106000"/>
              </a:lnSpc>
              <a:spcAft>
                <a:spcPts val="800"/>
              </a:spcAft>
              <a:buSzPct val="100000"/>
              <a:buChar char="•"/>
            </a:pPr>
            <a:r>
              <a:rPr lang="en-US" sz="1700" dirty="0">
                <a:solidFill>
                  <a:srgbClr val="1A1A1C"/>
                </a:solidFill>
                <a:latin typeface="Outfit" pitchFamily="34" charset="0"/>
                <a:ea typeface="Outfit" pitchFamily="34" charset="-122"/>
                <a:cs typeface="Outfit" pitchFamily="34" charset="-120"/>
              </a:rPr>
              <a:t>Inisiatif, ide baru, respons cepat</a:t>
            </a:r>
            <a:endParaRPr lang="en-US" sz="1700" dirty="0"/>
          </a:p>
          <a:p>
            <a:pPr algn="l" marL="152400" indent="-152400">
              <a:lnSpc>
                <a:spcPct val="106000"/>
              </a:lnSpc>
              <a:spcAft>
                <a:spcPts val="800"/>
              </a:spcAft>
              <a:buSzPct val="100000"/>
              <a:buChar char="•"/>
            </a:pPr>
            <a:r>
              <a:rPr lang="en-US" sz="1700" dirty="0">
                <a:solidFill>
                  <a:srgbClr val="1A1A1C"/>
                </a:solidFill>
                <a:latin typeface="Outfit" pitchFamily="34" charset="0"/>
                <a:ea typeface="Outfit" pitchFamily="34" charset="-122"/>
                <a:cs typeface="Outfit" pitchFamily="34" charset="-120"/>
              </a:rPr>
              <a:t>Puncak bisa tak tahu, koordinasi lemah</a:t>
            </a:r>
            <a:endParaRPr lang="en-US" sz="1700" dirty="0"/>
          </a:p>
        </p:txBody>
      </p:sp>
      <p:sp>
        <p:nvSpPr>
          <p:cNvPr id="15" name="text"/>
          <p:cNvSpPr txBox="1"/>
          <p:nvPr/>
        </p:nvSpPr>
        <p:spPr>
          <a:xfrm>
            <a:off x="4361688" y="5760720"/>
            <a:ext cx="2880360" cy="292608"/>
          </a:xfrm>
          <a:prstGeom prst="rect">
            <a:avLst/>
          </a:prstGeom>
          <a:noFill/>
          <a:ln/>
        </p:spPr>
        <p:txBody>
          <a:bodyPr wrap="square" lIns="0" tIns="0" rIns="0" bIns="0" rtlCol="0" anchor="t"/>
          <a:lstStyle/>
          <a:p>
            <a:pPr algn="l" indent="0" marL="0">
              <a:lnSpc>
                <a:spcPct val="110000"/>
              </a:lnSpc>
              <a:buNone/>
            </a:pPr>
            <a:r>
              <a:rPr lang="en-US" sz="1400" spc="50" kern="0" dirty="0">
                <a:solidFill>
                  <a:srgbClr val="1A1A1C"/>
                </a:solidFill>
                <a:latin typeface="Outfit" pitchFamily="34" charset="0"/>
                <a:ea typeface="Outfit" pitchFamily="34" charset="-122"/>
                <a:cs typeface="Outfit" pitchFamily="34" charset="-120"/>
              </a:rPr>
              <a:t>DECENTRALIZED</a:t>
            </a:r>
            <a:endParaRPr lang="en-US" sz="1400" dirty="0"/>
          </a:p>
        </p:txBody>
      </p:sp>
      <p:pic>
        <p:nvPicPr>
          <p:cNvPr id="16" name="Barista di kafe putih" descr="preencoded.png">    </p:cNvPr>
          <p:cNvPicPr>
            <a:picLocks noChangeAspect="1"/>
          </p:cNvPicPr>
          <p:nvPr/>
        </p:nvPicPr>
        <p:blipFill>
          <a:blip r:embed="rId1"/>
          <a:stretch>
            <a:fillRect/>
          </a:stretch>
        </p:blipFill>
        <p:spPr>
          <a:xfrm>
            <a:off x="7726680" y="658368"/>
            <a:ext cx="3962095" cy="5559552"/>
          </a:xfrm>
          <a:prstGeom prst="rect">
            <a:avLst/>
          </a:prstGeom>
        </p:spPr>
      </p:pic>
      <p:sp>
        <p:nvSpPr>
          <p:cNvPr id="17" name="text"/>
          <p:cNvSpPr txBox="1"/>
          <p:nvPr/>
        </p:nvSpPr>
        <p:spPr>
          <a:xfrm>
            <a:off x="502920" y="1965960"/>
            <a:ext cx="7040880" cy="77724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Table 10.1, dipadatkan. Delegasi bukan tanpa kendali: batas wewenang, control systems, akuntabilitas, insentif, budaya.</a:t>
            </a:r>
            <a:endParaRPr lang="en-US" sz="1600" dirty="0"/>
          </a:p>
        </p:txBody>
      </p:sp>
      <p:sp>
        <p:nvSpPr>
          <p:cNvPr id="18"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10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10000"/>
              </a:lnSpc>
              <a:buNone/>
            </a:pPr>
            <a:endParaRPr lang="en-US" sz="1050" dirty="0"/>
          </a:p>
        </p:txBody>
      </p:sp>
      <p:pic>
        <p:nvPicPr>
          <p:cNvPr id="7" name="Tim gudang memeriksa tablet" descr="preencoded.png">    </p:cNvPr>
          <p:cNvPicPr>
            <a:picLocks noChangeAspect="1"/>
          </p:cNvPicPr>
          <p:nvPr/>
        </p:nvPicPr>
        <p:blipFill>
          <a:blip r:embed="rId1"/>
          <a:stretch>
            <a:fillRect/>
          </a:stretch>
        </p:blipFill>
        <p:spPr>
          <a:xfrm>
            <a:off x="6172200" y="658368"/>
            <a:ext cx="2880360" cy="2743200"/>
          </a:xfrm>
          <a:prstGeom prst="rect">
            <a:avLst/>
          </a:prstGeom>
        </p:spPr>
      </p:pic>
      <p:sp>
        <p:nvSpPr>
          <p:cNvPr id="8" name="card"/>
          <p:cNvSpPr/>
          <p:nvPr/>
        </p:nvSpPr>
        <p:spPr>
          <a:xfrm>
            <a:off x="5897880" y="1234440"/>
            <a:ext cx="685800" cy="685800"/>
          </a:xfrm>
          <a:prstGeom prst="roundRect">
            <a:avLst>
              <a:gd name="adj" fmla="val 21333"/>
            </a:avLst>
          </a:prstGeom>
          <a:solidFill>
            <a:srgbClr val="141417"/>
          </a:solidFill>
          <a:ln w="6350">
            <a:solidFill>
              <a:srgbClr val="141417"/>
            </a:solidFill>
            <a:prstDash val="solid"/>
          </a:ln>
        </p:spPr>
      </p:sp>
      <p:pic>
        <p:nvPicPr>
          <p:cNvPr id="9" name="star" descr="preencoded.png">    </p:cNvPr>
          <p:cNvPicPr>
            <a:picLocks noChangeAspect="1"/>
          </p:cNvPicPr>
          <p:nvPr/>
        </p:nvPicPr>
        <p:blipFill>
          <a:blip r:embed="rId2"/>
          <a:stretch>
            <a:fillRect/>
          </a:stretch>
        </p:blipFill>
        <p:spPr>
          <a:xfrm>
            <a:off x="6069330" y="1405890"/>
            <a:ext cx="342900" cy="342900"/>
          </a:xfrm>
          <a:prstGeom prst="rect">
            <a:avLst/>
          </a:prstGeom>
        </p:spPr>
      </p:pic>
      <p:pic>
        <p:nvPicPr>
          <p:cNvPr id="10" name="Tiga kolega berdiskusi" descr="preencoded.png">    </p:cNvPr>
          <p:cNvPicPr>
            <a:picLocks noChangeAspect="1"/>
          </p:cNvPicPr>
          <p:nvPr/>
        </p:nvPicPr>
        <p:blipFill>
          <a:blip r:embed="rId3"/>
          <a:stretch>
            <a:fillRect/>
          </a:stretch>
        </p:blipFill>
        <p:spPr>
          <a:xfrm>
            <a:off x="9235440" y="658368"/>
            <a:ext cx="2453335" cy="5120640"/>
          </a:xfrm>
          <a:prstGeom prst="rect">
            <a:avLst/>
          </a:prstGeom>
        </p:spPr>
      </p:pic>
      <p:sp>
        <p:nvSpPr>
          <p:cNvPr id="11" name="card"/>
          <p:cNvSpPr/>
          <p:nvPr/>
        </p:nvSpPr>
        <p:spPr>
          <a:xfrm>
            <a:off x="9921240" y="4297680"/>
            <a:ext cx="1767535" cy="1645920"/>
          </a:xfrm>
          <a:prstGeom prst="roundRect">
            <a:avLst>
              <a:gd name="adj" fmla="val 11111"/>
            </a:avLst>
          </a:prstGeom>
          <a:solidFill>
            <a:srgbClr val="D4FC00"/>
          </a:solidFill>
          <a:ln w="6350">
            <a:solidFill>
              <a:srgbClr val="D4FC00"/>
            </a:solidFill>
            <a:prstDash val="solid"/>
          </a:ln>
        </p:spPr>
      </p:sp>
      <p:sp>
        <p:nvSpPr>
          <p:cNvPr id="12" name="text"/>
          <p:cNvSpPr txBox="1"/>
          <p:nvPr/>
        </p:nvSpPr>
        <p:spPr>
          <a:xfrm>
            <a:off x="10104120" y="4389120"/>
            <a:ext cx="1508760" cy="731520"/>
          </a:xfrm>
          <a:prstGeom prst="rect">
            <a:avLst/>
          </a:prstGeom>
          <a:noFill/>
          <a:ln/>
        </p:spPr>
        <p:txBody>
          <a:bodyPr wrap="square" lIns="0" tIns="0" rIns="0" bIns="0" rtlCol="0" anchor="ctr"/>
          <a:lstStyle/>
          <a:p>
            <a:pPr algn="l" indent="0" marL="0">
              <a:lnSpc>
                <a:spcPct val="95000"/>
              </a:lnSpc>
              <a:buNone/>
            </a:pPr>
            <a:r>
              <a:rPr lang="en-US" sz="2000" spc="-30" kern="0" dirty="0">
                <a:solidFill>
                  <a:srgbClr val="141417"/>
                </a:solidFill>
                <a:latin typeface="Outfit Medium" pitchFamily="34" charset="0"/>
                <a:ea typeface="Outfit Medium" pitchFamily="34" charset="-122"/>
                <a:cs typeface="Outfit Medium" pitchFamily="34" charset="-120"/>
              </a:rPr>
              <a:t>2 bentuk</a:t>
            </a:r>
            <a:endParaRPr lang="en-US" sz="2000" dirty="0"/>
          </a:p>
        </p:txBody>
      </p:sp>
      <p:sp>
        <p:nvSpPr>
          <p:cNvPr id="13" name="text"/>
          <p:cNvSpPr txBox="1"/>
          <p:nvPr/>
        </p:nvSpPr>
        <p:spPr>
          <a:xfrm>
            <a:off x="10104120" y="5120640"/>
            <a:ext cx="1508760" cy="822960"/>
          </a:xfrm>
          <a:prstGeom prst="rect">
            <a:avLst/>
          </a:prstGeom>
          <a:noFill/>
          <a:ln/>
        </p:spPr>
        <p:txBody>
          <a:bodyPr wrap="square" lIns="0" tIns="0" rIns="0" bIns="0" rtlCol="0" anchor="t"/>
          <a:lstStyle/>
          <a:p>
            <a:pPr algn="l" indent="0" marL="0">
              <a:lnSpc>
                <a:spcPct val="108000"/>
              </a:lnSpc>
              <a:buNone/>
            </a:pPr>
            <a:r>
              <a:rPr lang="en-US" sz="1300" dirty="0">
                <a:solidFill>
                  <a:srgbClr val="1A1A1C"/>
                </a:solidFill>
                <a:latin typeface="Outfit" pitchFamily="34" charset="0"/>
                <a:ea typeface="Outfit" pitchFamily="34" charset="-122"/>
                <a:cs typeface="Outfit" pitchFamily="34" charset="-120"/>
              </a:rPr>
              <a:t>network (Ducati) dan ecosystem (Silicon Valley)</a:t>
            </a:r>
            <a:endParaRPr lang="en-US" sz="1300" dirty="0"/>
          </a:p>
        </p:txBody>
      </p:sp>
      <p:sp>
        <p:nvSpPr>
          <p:cNvPr id="14" name="text"/>
          <p:cNvSpPr txBox="1"/>
          <p:nvPr/>
        </p:nvSpPr>
        <p:spPr>
          <a:xfrm>
            <a:off x="502920" y="2377440"/>
            <a:ext cx="5394960" cy="2011680"/>
          </a:xfrm>
          <a:prstGeom prst="rect">
            <a:avLst/>
          </a:prstGeom>
          <a:noFill/>
          <a:ln/>
        </p:spPr>
        <p:txBody>
          <a:bodyPr wrap="square" lIns="0" tIns="0" rIns="0" bIns="0" rtlCol="0" anchor="t"/>
          <a:lstStyle/>
          <a:p>
            <a:pPr algn="l" indent="0" marL="0">
              <a:lnSpc>
                <a:spcPct val="98000"/>
              </a:lnSpc>
              <a:buNone/>
            </a:pPr>
            <a:r>
              <a:rPr lang="en-US" sz="3400" spc="-50" kern="0" dirty="0">
                <a:solidFill>
                  <a:srgbClr val="141417"/>
                </a:solidFill>
                <a:latin typeface="Outfit Medium" pitchFamily="34" charset="0"/>
                <a:ea typeface="Outfit Medium" pitchFamily="34" charset="-122"/>
                <a:cs typeface="Outfit Medium" pitchFamily="34" charset="-120"/>
              </a:rPr>
              <a:t>KOORDINASI KE DALAM DAN KE LUAR</a:t>
            </a:r>
            <a:endParaRPr lang="en-US" sz="3400" dirty="0"/>
          </a:p>
        </p:txBody>
      </p:sp>
      <p:sp>
        <p:nvSpPr>
          <p:cNvPr id="15" name="text"/>
          <p:cNvSpPr txBox="1"/>
          <p:nvPr/>
        </p:nvSpPr>
        <p:spPr>
          <a:xfrm>
            <a:off x="502920" y="4434840"/>
            <a:ext cx="5349240" cy="1920240"/>
          </a:xfrm>
          <a:prstGeom prst="rect">
            <a:avLst/>
          </a:prstGeom>
          <a:noFill/>
          <a:ln/>
        </p:spPr>
        <p:txBody>
          <a:bodyPr wrap="square" lIns="0" tIns="0" rIns="0" bIns="0" rtlCol="0" anchor="t"/>
          <a:lstStyle/>
          <a:p>
            <a:pPr algn="l" indent="0" marL="0">
              <a:lnSpc>
                <a:spcPct val="108000"/>
              </a:lnSpc>
              <a:buNone/>
            </a:pPr>
            <a:r>
              <a:rPr lang="en-US" sz="1800" dirty="0">
                <a:solidFill>
                  <a:srgbClr val="1A1A1C"/>
                </a:solidFill>
                <a:latin typeface="Outfit" pitchFamily="34" charset="0"/>
                <a:ea typeface="Outfit" pitchFamily="34" charset="-122"/>
                <a:cs typeface="Outfit" pitchFamily="34" charset="-120"/>
              </a:rPr>
              <a:t>Capability seperti speed-to-market melintasi banyak unit, sehingga kerja sama harus dirancang: tim lintas fungsi, project management office, dan kompensasi berbasis kinerja kelompok. Ke luar, kemitraan butuh relationship managers.</a:t>
            </a:r>
            <a:endParaRPr lang="en-US" sz="1800" dirty="0"/>
          </a:p>
        </p:txBody>
      </p:sp>
      <p:sp>
        <p:nvSpPr>
          <p:cNvPr id="16"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10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686800" y="201168"/>
            <a:ext cx="1371600" cy="274320"/>
          </a:xfrm>
          <a:prstGeom prst="rect">
            <a:avLst/>
          </a:prstGeom>
          <a:noFill/>
          <a:ln/>
        </p:spPr>
        <p:txBody>
          <a:bodyPr wrap="square" lIns="0" tIns="0" rIns="0" bIns="0" rtlCol="0" anchor="t"/>
          <a:lstStyle/>
          <a:p>
            <a:pPr algn="l" indent="0" marL="0">
              <a:lnSpc>
                <a:spcPct val="110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9692640" y="201168"/>
            <a:ext cx="1554480" cy="274320"/>
          </a:xfrm>
          <a:prstGeom prst="rect">
            <a:avLst/>
          </a:prstGeom>
          <a:noFill/>
          <a:ln/>
        </p:spPr>
        <p:txBody>
          <a:bodyPr wrap="square" lIns="0" tIns="0" rIns="0" bIns="0" rtlCol="0" anchor="t"/>
          <a:lstStyle/>
          <a:p>
            <a:pPr algn="r" indent="0" marL="0">
              <a:lnSpc>
                <a:spcPct val="110000"/>
              </a:lnSpc>
              <a:buNone/>
            </a:pPr>
            <a:endParaRPr lang="en-US" sz="1050" dirty="0"/>
          </a:p>
        </p:txBody>
      </p:sp>
      <p:sp>
        <p:nvSpPr>
          <p:cNvPr id="7" name="text"/>
          <p:cNvSpPr txBox="1"/>
          <p:nvPr/>
        </p:nvSpPr>
        <p:spPr>
          <a:xfrm>
            <a:off x="502920" y="960120"/>
            <a:ext cx="6400800" cy="2651760"/>
          </a:xfrm>
          <a:prstGeom prst="rect">
            <a:avLst/>
          </a:prstGeom>
          <a:noFill/>
          <a:ln/>
        </p:spPr>
        <p:txBody>
          <a:bodyPr wrap="square" lIns="0" tIns="0" rIns="0" bIns="0" rtlCol="0" anchor="t"/>
          <a:lstStyle/>
          <a:p>
            <a:pPr algn="l" indent="0" marL="0">
              <a:lnSpc>
                <a:spcPct val="98000"/>
              </a:lnSpc>
              <a:buNone/>
            </a:pPr>
            <a:r>
              <a:rPr lang="en-US" sz="3800" spc="-50" kern="0" dirty="0">
                <a:solidFill>
                  <a:srgbClr val="141417"/>
                </a:solidFill>
                <a:latin typeface="Outfit Medium" pitchFamily="34" charset="0"/>
                <a:ea typeface="Outfit Medium" pitchFamily="34" charset="-122"/>
                <a:cs typeface="Outfit Medium" pitchFamily="34" charset="-120"/>
              </a:rPr>
              <a:t>ORGANISASI YANG MAMPU MENGEKSEKUSI</a:t>
            </a:r>
            <a:endParaRPr lang="en-US" sz="3800" dirty="0"/>
          </a:p>
        </p:txBody>
      </p:sp>
      <p:sp>
        <p:nvSpPr>
          <p:cNvPr id="8" name="card"/>
          <p:cNvSpPr/>
          <p:nvPr/>
        </p:nvSpPr>
        <p:spPr>
          <a:xfrm>
            <a:off x="502920" y="4069080"/>
            <a:ext cx="2194560" cy="1691640"/>
          </a:xfrm>
          <a:prstGeom prst="roundRect">
            <a:avLst>
              <a:gd name="adj" fmla="val 10811"/>
            </a:avLst>
          </a:prstGeom>
          <a:solidFill>
            <a:srgbClr val="E8E8E8"/>
          </a:solidFill>
          <a:ln w="6350">
            <a:solidFill>
              <a:srgbClr val="E8E8E8"/>
            </a:solidFill>
            <a:prstDash val="solid"/>
          </a:ln>
        </p:spPr>
      </p:sp>
      <p:sp>
        <p:nvSpPr>
          <p:cNvPr id="9" name="text"/>
          <p:cNvSpPr txBox="1"/>
          <p:nvPr/>
        </p:nvSpPr>
        <p:spPr>
          <a:xfrm>
            <a:off x="731520" y="4215384"/>
            <a:ext cx="1737360" cy="502920"/>
          </a:xfrm>
          <a:prstGeom prst="rect">
            <a:avLst/>
          </a:prstGeom>
          <a:noFill/>
          <a:ln/>
        </p:spPr>
        <p:txBody>
          <a:bodyPr wrap="square" lIns="0" tIns="0" rIns="0" bIns="0" rtlCol="0" anchor="ctr"/>
          <a:lstStyle/>
          <a:p>
            <a:pPr algn="l" indent="0" marL="0">
              <a:lnSpc>
                <a:spcPct val="110000"/>
              </a:lnSpc>
              <a:buNone/>
            </a:pPr>
            <a:r>
              <a:rPr lang="en-US" sz="2400" spc="-30" kern="0" dirty="0">
                <a:solidFill>
                  <a:srgbClr val="141417"/>
                </a:solidFill>
                <a:latin typeface="Outfit Medium" pitchFamily="34" charset="0"/>
                <a:ea typeface="Outfit Medium" pitchFamily="34" charset="-122"/>
                <a:cs typeface="Outfit Medium" pitchFamily="34" charset="-120"/>
              </a:rPr>
              <a:t>Orang</a:t>
            </a:r>
            <a:endParaRPr lang="en-US" sz="2400" dirty="0"/>
          </a:p>
        </p:txBody>
      </p:sp>
      <p:sp>
        <p:nvSpPr>
          <p:cNvPr id="10" name="text"/>
          <p:cNvSpPr txBox="1"/>
          <p:nvPr/>
        </p:nvSpPr>
        <p:spPr>
          <a:xfrm>
            <a:off x="731520" y="4764024"/>
            <a:ext cx="1737360" cy="941832"/>
          </a:xfrm>
          <a:prstGeom prst="rect">
            <a:avLst/>
          </a:prstGeom>
          <a:noFill/>
          <a:ln/>
        </p:spPr>
        <p:txBody>
          <a:bodyPr wrap="square" lIns="0" tIns="0" rIns="0" bIns="0" rtlCol="0" anchor="t"/>
          <a:lstStyle/>
          <a:p>
            <a:pPr algn="l" indent="0" marL="0">
              <a:lnSpc>
                <a:spcPct val="108000"/>
              </a:lnSpc>
              <a:buNone/>
            </a:pPr>
            <a:r>
              <a:rPr lang="en-US" sz="1400" dirty="0">
                <a:solidFill>
                  <a:srgbClr val="5A5A5F"/>
                </a:solidFill>
                <a:latin typeface="Outfit" pitchFamily="34" charset="0"/>
                <a:ea typeface="Outfit" pitchFamily="34" charset="-122"/>
                <a:cs typeface="Outfit" pitchFamily="34" charset="-120"/>
              </a:rPr>
              <a:t>Tim manajemen dan karyawan yang tepat</a:t>
            </a:r>
            <a:endParaRPr lang="en-US" sz="1400" dirty="0"/>
          </a:p>
        </p:txBody>
      </p:sp>
      <p:sp>
        <p:nvSpPr>
          <p:cNvPr id="11" name="card"/>
          <p:cNvSpPr/>
          <p:nvPr/>
        </p:nvSpPr>
        <p:spPr>
          <a:xfrm>
            <a:off x="2825496" y="4069080"/>
            <a:ext cx="2194560" cy="1691640"/>
          </a:xfrm>
          <a:prstGeom prst="roundRect">
            <a:avLst>
              <a:gd name="adj" fmla="val 10811"/>
            </a:avLst>
          </a:prstGeom>
          <a:solidFill>
            <a:srgbClr val="D4FC00"/>
          </a:solidFill>
          <a:ln w="6350">
            <a:solidFill>
              <a:srgbClr val="D4FC00"/>
            </a:solidFill>
            <a:prstDash val="solid"/>
          </a:ln>
        </p:spPr>
      </p:sp>
      <p:sp>
        <p:nvSpPr>
          <p:cNvPr id="12" name="text"/>
          <p:cNvSpPr txBox="1"/>
          <p:nvPr/>
        </p:nvSpPr>
        <p:spPr>
          <a:xfrm>
            <a:off x="3054096" y="4215384"/>
            <a:ext cx="1737360" cy="502920"/>
          </a:xfrm>
          <a:prstGeom prst="rect">
            <a:avLst/>
          </a:prstGeom>
          <a:noFill/>
          <a:ln/>
        </p:spPr>
        <p:txBody>
          <a:bodyPr wrap="square" lIns="0" tIns="0" rIns="0" bIns="0" rtlCol="0" anchor="ctr"/>
          <a:lstStyle/>
          <a:p>
            <a:pPr algn="l" indent="0" marL="0">
              <a:lnSpc>
                <a:spcPct val="110000"/>
              </a:lnSpc>
              <a:buNone/>
            </a:pPr>
            <a:r>
              <a:rPr lang="en-US" sz="2400" spc="-30" kern="0" dirty="0">
                <a:solidFill>
                  <a:srgbClr val="141417"/>
                </a:solidFill>
                <a:latin typeface="Outfit Medium" pitchFamily="34" charset="0"/>
                <a:ea typeface="Outfit Medium" pitchFamily="34" charset="-122"/>
                <a:cs typeface="Outfit Medium" pitchFamily="34" charset="-120"/>
              </a:rPr>
              <a:t>Capability</a:t>
            </a:r>
            <a:endParaRPr lang="en-US" sz="2400" dirty="0"/>
          </a:p>
        </p:txBody>
      </p:sp>
      <p:sp>
        <p:nvSpPr>
          <p:cNvPr id="13" name="text"/>
          <p:cNvSpPr txBox="1"/>
          <p:nvPr/>
        </p:nvSpPr>
        <p:spPr>
          <a:xfrm>
            <a:off x="3054096" y="4764024"/>
            <a:ext cx="1737360" cy="941832"/>
          </a:xfrm>
          <a:prstGeom prst="rect">
            <a:avLst/>
          </a:prstGeom>
          <a:noFill/>
          <a:ln/>
        </p:spPr>
        <p:txBody>
          <a:bodyPr wrap="square" lIns="0" tIns="0" rIns="0" bIns="0" rtlCol="0" anchor="t"/>
          <a:lstStyle/>
          <a:p>
            <a:pPr algn="l" indent="0" marL="0">
              <a:lnSpc>
                <a:spcPct val="108000"/>
              </a:lnSpc>
              <a:buNone/>
            </a:pPr>
            <a:r>
              <a:rPr lang="en-US" sz="1400" dirty="0">
                <a:solidFill>
                  <a:srgbClr val="1A1A1C"/>
                </a:solidFill>
                <a:latin typeface="Outfit" pitchFamily="34" charset="0"/>
                <a:ea typeface="Outfit" pitchFamily="34" charset="-122"/>
                <a:cs typeface="Outfit" pitchFamily="34" charset="-120"/>
              </a:rPr>
              <a:t>Dibangun, dibeli, atau diakses</a:t>
            </a:r>
            <a:endParaRPr lang="en-US" sz="1400" dirty="0"/>
          </a:p>
        </p:txBody>
      </p:sp>
      <p:sp>
        <p:nvSpPr>
          <p:cNvPr id="14" name="card"/>
          <p:cNvSpPr/>
          <p:nvPr/>
        </p:nvSpPr>
        <p:spPr>
          <a:xfrm>
            <a:off x="5148072" y="4069080"/>
            <a:ext cx="2194560" cy="1691640"/>
          </a:xfrm>
          <a:prstGeom prst="roundRect">
            <a:avLst>
              <a:gd name="adj" fmla="val 10811"/>
            </a:avLst>
          </a:prstGeom>
          <a:solidFill>
            <a:srgbClr val="141417"/>
          </a:solidFill>
          <a:ln w="6350">
            <a:solidFill>
              <a:srgbClr val="141417"/>
            </a:solidFill>
            <a:prstDash val="solid"/>
          </a:ln>
        </p:spPr>
      </p:sp>
      <p:sp>
        <p:nvSpPr>
          <p:cNvPr id="15" name="text"/>
          <p:cNvSpPr txBox="1"/>
          <p:nvPr/>
        </p:nvSpPr>
        <p:spPr>
          <a:xfrm>
            <a:off x="5376672" y="4215384"/>
            <a:ext cx="1737360" cy="502920"/>
          </a:xfrm>
          <a:prstGeom prst="rect">
            <a:avLst/>
          </a:prstGeom>
          <a:noFill/>
          <a:ln/>
        </p:spPr>
        <p:txBody>
          <a:bodyPr wrap="square" lIns="0" tIns="0" rIns="0" bIns="0" rtlCol="0" anchor="ctr"/>
          <a:lstStyle/>
          <a:p>
            <a:pPr algn="l" indent="0" marL="0">
              <a:lnSpc>
                <a:spcPct val="110000"/>
              </a:lnSpc>
              <a:buNone/>
            </a:pPr>
            <a:r>
              <a:rPr lang="en-US" sz="2400" spc="-30" kern="0" dirty="0">
                <a:solidFill>
                  <a:srgbClr val="FFFFFF"/>
                </a:solidFill>
                <a:latin typeface="Outfit Medium" pitchFamily="34" charset="0"/>
                <a:ea typeface="Outfit Medium" pitchFamily="34" charset="-122"/>
                <a:cs typeface="Outfit Medium" pitchFamily="34" charset="-120"/>
              </a:rPr>
              <a:t>Struktur</a:t>
            </a:r>
            <a:endParaRPr lang="en-US" sz="2400" dirty="0"/>
          </a:p>
        </p:txBody>
      </p:sp>
      <p:sp>
        <p:nvSpPr>
          <p:cNvPr id="16" name="text"/>
          <p:cNvSpPr txBox="1"/>
          <p:nvPr/>
        </p:nvSpPr>
        <p:spPr>
          <a:xfrm>
            <a:off x="5376672" y="4764024"/>
            <a:ext cx="1737360" cy="941832"/>
          </a:xfrm>
          <a:prstGeom prst="rect">
            <a:avLst/>
          </a:prstGeom>
          <a:noFill/>
          <a:ln/>
        </p:spPr>
        <p:txBody>
          <a:bodyPr wrap="square" lIns="0" tIns="0" rIns="0" bIns="0" rtlCol="0" anchor="t"/>
          <a:lstStyle/>
          <a:p>
            <a:pPr algn="l" indent="0" marL="0">
              <a:lnSpc>
                <a:spcPct val="108000"/>
              </a:lnSpc>
              <a:buNone/>
            </a:pPr>
            <a:r>
              <a:rPr lang="en-US" sz="1400" dirty="0">
                <a:solidFill>
                  <a:srgbClr val="BDBDC2"/>
                </a:solidFill>
                <a:latin typeface="Outfit" pitchFamily="34" charset="0"/>
                <a:ea typeface="Outfit" pitchFamily="34" charset="-122"/>
                <a:cs typeface="Outfit" pitchFamily="34" charset="-120"/>
              </a:rPr>
              <a:t>Lima keputusan menata pekerjaan</a:t>
            </a:r>
            <a:endParaRPr lang="en-US" sz="1400" dirty="0"/>
          </a:p>
        </p:txBody>
      </p:sp>
      <p:sp>
        <p:nvSpPr>
          <p:cNvPr id="17" name="text"/>
          <p:cNvSpPr txBox="1"/>
          <p:nvPr/>
        </p:nvSpPr>
        <p:spPr>
          <a:xfrm>
            <a:off x="502920" y="2926080"/>
            <a:ext cx="6766560" cy="109728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Ketiganya menghasilkan proficiency pada aktivitas kritis. Capability yang tacit adalah pengetahuan yang sulit ditiru; network dan ecosystem menggeser competitive advantage menuju collaborative advantage (Kanter, 1994).</a:t>
            </a:r>
            <a:endParaRPr lang="en-US" sz="1600" dirty="0"/>
          </a:p>
        </p:txBody>
      </p:sp>
      <p:sp>
        <p:nvSpPr>
          <p:cNvPr id="18" name="pill"/>
          <p:cNvSpPr/>
          <p:nvPr/>
        </p:nvSpPr>
        <p:spPr>
          <a:xfrm>
            <a:off x="502920" y="5943600"/>
            <a:ext cx="2212848" cy="402336"/>
          </a:xfrm>
          <a:prstGeom prst="roundRect">
            <a:avLst>
              <a:gd name="adj" fmla="val 113636"/>
            </a:avLst>
          </a:prstGeom>
          <a:solidFill>
            <a:srgbClr val="F4F4F4"/>
          </a:solidFill>
          <a:ln w="9525">
            <a:solidFill>
              <a:srgbClr val="141417"/>
            </a:solidFill>
            <a:prstDash val="solid"/>
          </a:ln>
        </p:spPr>
      </p:sp>
      <p:sp>
        <p:nvSpPr>
          <p:cNvPr id="19" name="text"/>
          <p:cNvSpPr txBox="1"/>
          <p:nvPr/>
        </p:nvSpPr>
        <p:spPr>
          <a:xfrm>
            <a:off x="612648" y="5943600"/>
            <a:ext cx="1993392" cy="402336"/>
          </a:xfrm>
          <a:prstGeom prst="rect">
            <a:avLst/>
          </a:prstGeom>
          <a:noFill/>
          <a:ln/>
        </p:spPr>
        <p:txBody>
          <a:bodyPr wrap="square" lIns="0" tIns="0" rIns="0" bIns="0" rtlCol="0" anchor="ctr"/>
          <a:lstStyle/>
          <a:p>
            <a:pPr algn="ctr" indent="0" marL="0">
              <a:lnSpc>
                <a:spcPct val="110000"/>
              </a:lnSpc>
              <a:buNone/>
            </a:pPr>
            <a:r>
              <a:rPr lang="en-US" sz="1200" spc="50" kern="0" dirty="0">
                <a:solidFill>
                  <a:srgbClr val="1A1A1C"/>
                </a:solidFill>
                <a:latin typeface="Outfit" pitchFamily="34" charset="0"/>
                <a:ea typeface="Outfit" pitchFamily="34" charset="-122"/>
                <a:cs typeface="Outfit" pitchFamily="34" charset="-120"/>
              </a:rPr>
              <a:t>BAB 11 · MENGGERAKKAN</a:t>
            </a:r>
            <a:endParaRPr lang="en-US" sz="1200" dirty="0"/>
          </a:p>
        </p:txBody>
      </p:sp>
      <p:sp>
        <p:nvSpPr>
          <p:cNvPr id="20" name="pill"/>
          <p:cNvSpPr/>
          <p:nvPr/>
        </p:nvSpPr>
        <p:spPr>
          <a:xfrm>
            <a:off x="2834640" y="5943600"/>
            <a:ext cx="2212848" cy="402336"/>
          </a:xfrm>
          <a:prstGeom prst="roundRect">
            <a:avLst>
              <a:gd name="adj" fmla="val 113636"/>
            </a:avLst>
          </a:prstGeom>
          <a:solidFill>
            <a:srgbClr val="F4F4F4"/>
          </a:solidFill>
          <a:ln w="9525">
            <a:solidFill>
              <a:srgbClr val="141417"/>
            </a:solidFill>
            <a:prstDash val="solid"/>
          </a:ln>
        </p:spPr>
      </p:sp>
      <p:sp>
        <p:nvSpPr>
          <p:cNvPr id="21" name="text"/>
          <p:cNvSpPr txBox="1"/>
          <p:nvPr/>
        </p:nvSpPr>
        <p:spPr>
          <a:xfrm>
            <a:off x="2944368" y="5943600"/>
            <a:ext cx="1993392" cy="402336"/>
          </a:xfrm>
          <a:prstGeom prst="rect">
            <a:avLst/>
          </a:prstGeom>
          <a:noFill/>
          <a:ln/>
        </p:spPr>
        <p:txBody>
          <a:bodyPr wrap="square" lIns="0" tIns="0" rIns="0" bIns="0" rtlCol="0" anchor="ctr"/>
          <a:lstStyle/>
          <a:p>
            <a:pPr algn="ctr" indent="0" marL="0">
              <a:lnSpc>
                <a:spcPct val="110000"/>
              </a:lnSpc>
              <a:buNone/>
            </a:pPr>
            <a:r>
              <a:rPr lang="en-US" sz="1200" spc="50" kern="0" dirty="0">
                <a:solidFill>
                  <a:srgbClr val="1A1A1C"/>
                </a:solidFill>
                <a:latin typeface="Outfit" pitchFamily="34" charset="0"/>
                <a:ea typeface="Outfit" pitchFamily="34" charset="-122"/>
                <a:cs typeface="Outfit" pitchFamily="34" charset="-120"/>
              </a:rPr>
              <a:t>BAB 12 · MENOPANG</a:t>
            </a:r>
            <a:endParaRPr lang="en-US" sz="1200" dirty="0"/>
          </a:p>
        </p:txBody>
      </p:sp>
      <p:sp>
        <p:nvSpPr>
          <p:cNvPr id="22" name="pill"/>
          <p:cNvSpPr/>
          <p:nvPr/>
        </p:nvSpPr>
        <p:spPr>
          <a:xfrm>
            <a:off x="5166360" y="5943600"/>
            <a:ext cx="2212848" cy="402336"/>
          </a:xfrm>
          <a:prstGeom prst="roundRect">
            <a:avLst>
              <a:gd name="adj" fmla="val 113636"/>
            </a:avLst>
          </a:prstGeom>
          <a:solidFill>
            <a:srgbClr val="D4FC00"/>
          </a:solidFill>
          <a:ln w="9525">
            <a:solidFill>
              <a:srgbClr val="141417"/>
            </a:solidFill>
            <a:prstDash val="solid"/>
          </a:ln>
        </p:spPr>
      </p:sp>
      <p:sp>
        <p:nvSpPr>
          <p:cNvPr id="23" name="text"/>
          <p:cNvSpPr txBox="1"/>
          <p:nvPr/>
        </p:nvSpPr>
        <p:spPr>
          <a:xfrm>
            <a:off x="5276088" y="5943600"/>
            <a:ext cx="1993392" cy="402336"/>
          </a:xfrm>
          <a:prstGeom prst="rect">
            <a:avLst/>
          </a:prstGeom>
          <a:noFill/>
          <a:ln/>
        </p:spPr>
        <p:txBody>
          <a:bodyPr wrap="square" lIns="0" tIns="0" rIns="0" bIns="0" rtlCol="0" anchor="ctr"/>
          <a:lstStyle/>
          <a:p>
            <a:pPr algn="ctr" indent="0" marL="0">
              <a:lnSpc>
                <a:spcPct val="110000"/>
              </a:lnSpc>
              <a:buNone/>
            </a:pPr>
            <a:r>
              <a:rPr lang="en-US" sz="1200" spc="50" kern="0" dirty="0">
                <a:solidFill>
                  <a:srgbClr val="1A1A1C"/>
                </a:solidFill>
                <a:latin typeface="Outfit" pitchFamily="34" charset="0"/>
                <a:ea typeface="Outfit" pitchFamily="34" charset="-122"/>
                <a:cs typeface="Outfit" pitchFamily="34" charset="-120"/>
              </a:rPr>
              <a:t>4DX · DISIPLIN EKSEKUSI</a:t>
            </a:r>
            <a:endParaRPr lang="en-US" sz="1200" dirty="0"/>
          </a:p>
        </p:txBody>
      </p:sp>
      <p:pic>
        <p:nvPicPr>
          <p:cNvPr id="24" name="Bidak catur putih" descr="preencoded.png">    </p:cNvPr>
          <p:cNvPicPr>
            <a:picLocks noChangeAspect="1"/>
          </p:cNvPicPr>
          <p:nvPr/>
        </p:nvPicPr>
        <p:blipFill>
          <a:blip r:embed="rId1"/>
          <a:stretch>
            <a:fillRect/>
          </a:stretch>
        </p:blipFill>
        <p:spPr>
          <a:xfrm>
            <a:off x="7589520" y="658368"/>
            <a:ext cx="4099255" cy="6473952"/>
          </a:xfrm>
          <a:prstGeom prst="rect">
            <a:avLst/>
          </a:prstGeom>
        </p:spPr>
      </p:pic>
      <p:sp>
        <p:nvSpPr>
          <p:cNvPr id="25"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10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Ruang rapat terang" descr="preencoded.png">    </p:cNvPr>
          <p:cNvPicPr>
            <a:picLocks noChangeAspect="1"/>
          </p:cNvPicPr>
          <p:nvPr/>
        </p:nvPicPr>
        <p:blipFill>
          <a:blip r:embed="rId1"/>
          <a:stretch>
            <a:fillRect/>
          </a:stretch>
        </p:blipFill>
        <p:spPr>
          <a:xfrm>
            <a:off x="502920" y="502920"/>
            <a:ext cx="11185855" cy="5852160"/>
          </a:xfrm>
          <a:prstGeom prst="rect">
            <a:avLst/>
          </a:prstGeom>
        </p:spPr>
      </p:pic>
      <p:sp>
        <p:nvSpPr>
          <p:cNvPr id="3" name="card"/>
          <p:cNvSpPr/>
          <p:nvPr/>
        </p:nvSpPr>
        <p:spPr>
          <a:xfrm>
            <a:off x="914400" y="4206240"/>
            <a:ext cx="4754880" cy="1188720"/>
          </a:xfrm>
          <a:prstGeom prst="roundRect">
            <a:avLst>
              <a:gd name="adj" fmla="val 10769"/>
            </a:avLst>
          </a:prstGeom>
          <a:solidFill>
            <a:srgbClr val="F4F4F4"/>
          </a:solidFill>
          <a:ln w="6350">
            <a:solidFill>
              <a:srgbClr val="F4F4F4"/>
            </a:solidFill>
            <a:prstDash val="solid"/>
          </a:ln>
        </p:spPr>
      </p:sp>
      <p:sp>
        <p:nvSpPr>
          <p:cNvPr id="4" name="text"/>
          <p:cNvSpPr txBox="1"/>
          <p:nvPr/>
        </p:nvSpPr>
        <p:spPr>
          <a:xfrm>
            <a:off x="1097280" y="4224528"/>
            <a:ext cx="4572000" cy="1152144"/>
          </a:xfrm>
          <a:prstGeom prst="rect">
            <a:avLst/>
          </a:prstGeom>
          <a:noFill/>
          <a:ln/>
        </p:spPr>
        <p:txBody>
          <a:bodyPr wrap="square" lIns="0" tIns="0" rIns="0" bIns="0" rtlCol="0" anchor="ctr"/>
          <a:lstStyle/>
          <a:p>
            <a:pPr algn="l" indent="0" marL="0">
              <a:lnSpc>
                <a:spcPct val="98000"/>
              </a:lnSpc>
              <a:buNone/>
            </a:pPr>
            <a:r>
              <a:rPr lang="en-US" sz="4000" spc="-50" kern="0" dirty="0">
                <a:solidFill>
                  <a:srgbClr val="141417"/>
                </a:solidFill>
                <a:latin typeface="Outfit Medium" pitchFamily="34" charset="0"/>
                <a:ea typeface="Outfit Medium" pitchFamily="34" charset="-122"/>
                <a:cs typeface="Outfit Medium" pitchFamily="34" charset="-120"/>
              </a:rPr>
              <a:t>TERIMA KASIH</a:t>
            </a:r>
            <a:endParaRPr lang="en-US" sz="4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Outfit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utfi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an Organization Capable of Good Strategy Execution</dc:title>
  <dc:subject>PptxGenJS Presentation</dc:subject>
  <dc:creator>Kelompok 3</dc:creator>
  <cp:lastModifiedBy>Kelompok 3</cp:lastModifiedBy>
  <cp:revision>1</cp:revision>
  <dcterms:created xsi:type="dcterms:W3CDTF">2026-10-31T04:33:27Z</dcterms:created>
  <dcterms:modified xsi:type="dcterms:W3CDTF">2026-10-31T04:33:27Z</dcterms:modified>
</cp:coreProperties>
</file>