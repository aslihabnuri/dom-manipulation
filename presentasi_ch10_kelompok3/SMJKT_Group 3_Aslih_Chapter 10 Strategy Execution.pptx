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2e97f0f2-846a-c427-e585-07c598b79465}">
          <p14:sldIdLst>
            <p14:sldId id="256"/>
            <p14:sldId id="257"/>
            <p14:sldId id="258"/>
          </p14:sldIdLst>
        </p14:section>
        <p14:section name="01 Landasan" id="{c05d145d-3ff2-1d5f-5fd7-319e8f0b66ed}">
          <p14:sldIdLst>
            <p14:sldId id="259"/>
            <p14:sldId id="260"/>
            <p14:sldId id="261"/>
            <p14:sldId id="262"/>
          </p14:sldIdLst>
        </p14:section>
        <p14:section name="02 Staffing" id="{f5065e2f-c7e9-080f-38c8-23b59e106df1}">
          <p14:sldIdLst>
            <p14:sldId id="263"/>
            <p14:sldId id="264"/>
          </p14:sldIdLst>
        </p14:section>
        <p14:section name="03 Capabilities" id="{21533ef3-aadc-f3b9-d7df-0be812d5651b}">
          <p14:sldIdLst>
            <p14:sldId id="265"/>
            <p14:sldId id="266"/>
            <p14:sldId id="267"/>
            <p14:sldId id="268"/>
          </p14:sldIdLst>
        </p14:section>
        <p14:section name="04 Structure" id="{6f105495-ea43-ea96-452b-f3fffea12914}">
          <p14:sldIdLst>
            <p14:sldId id="269"/>
            <p14:sldId id="270"/>
            <p14:sldId id="271"/>
            <p14:sldId id="272"/>
            <p14:sldId id="273"/>
          </p14:sldIdLst>
        </p14:section>
        <p14:section name="05 Sintesis" id="{eed00e1e-f6e1-13c7-c62f-d88b38f6daa4}">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presentation</a:t>
            </a:r>
            <a:endParaRPr lang="en-US" sz="1050" dirty="0"/>
          </a:p>
        </p:txBody>
      </p:sp>
      <p:sp>
        <p:nvSpPr>
          <p:cNvPr id="7" name="toggle"/>
          <p:cNvSpPr/>
          <p:nvPr/>
        </p:nvSpPr>
        <p:spPr>
          <a:xfrm>
            <a:off x="502920" y="658368"/>
            <a:ext cx="566928" cy="274320"/>
          </a:xfrm>
          <a:prstGeom prst="roundRect">
            <a:avLst>
              <a:gd name="adj" fmla="val 166667"/>
            </a:avLst>
          </a:prstGeom>
          <a:solidFill>
            <a:srgbClr val="F4F4F4"/>
          </a:solidFill>
          <a:ln w="9525">
            <a:solidFill>
              <a:srgbClr val="141417"/>
            </a:solidFill>
            <a:prstDash val="solid"/>
          </a:ln>
        </p:spPr>
      </p:sp>
      <p:sp>
        <p:nvSpPr>
          <p:cNvPr id="8" name="toggle-dot"/>
          <p:cNvSpPr/>
          <p:nvPr/>
        </p:nvSpPr>
        <p:spPr>
          <a:xfrm>
            <a:off x="804672" y="694944"/>
            <a:ext cx="201168" cy="201168"/>
          </a:xfrm>
          <a:prstGeom prst="ellipse">
            <a:avLst/>
          </a:prstGeom>
          <a:solidFill>
            <a:srgbClr val="D4FC00"/>
          </a:solidFill>
          <a:ln w="6350">
            <a:solidFill>
              <a:srgbClr val="D4FC00"/>
            </a:solidFill>
            <a:prstDash val="solid"/>
          </a:ln>
        </p:spPr>
      </p:sp>
      <p:pic>
        <p:nvPicPr>
          <p:cNvPr id="9" name="toggle-star" descr="preencoded.png">    </p:cNvPr>
          <p:cNvPicPr>
            <a:picLocks noChangeAspect="1"/>
          </p:cNvPicPr>
          <p:nvPr/>
        </p:nvPicPr>
        <p:blipFill>
          <a:blip r:embed="rId1"/>
          <a:stretch>
            <a:fillRect/>
          </a:stretch>
        </p:blipFill>
        <p:spPr>
          <a:xfrm>
            <a:off x="845820" y="736092"/>
            <a:ext cx="118872" cy="118872"/>
          </a:xfrm>
          <a:prstGeom prst="rect">
            <a:avLst/>
          </a:prstGeom>
        </p:spPr>
      </p:pic>
      <p:sp>
        <p:nvSpPr>
          <p:cNvPr id="10" name="text"/>
          <p:cNvSpPr txBox="1"/>
          <p:nvPr/>
        </p:nvSpPr>
        <p:spPr>
          <a:xfrm>
            <a:off x="502920" y="86868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BUILDING AN ORGANIZATION CAPABLE OF GOOD STRATEGY EXECUTION</a:t>
            </a:r>
            <a:endParaRPr lang="en-US" sz="3800" dirty="0"/>
          </a:p>
        </p:txBody>
      </p:sp>
      <p:sp>
        <p:nvSpPr>
          <p:cNvPr id="11" name="pill"/>
          <p:cNvSpPr/>
          <p:nvPr/>
        </p:nvSpPr>
        <p:spPr>
          <a:xfrm>
            <a:off x="502920" y="3154680"/>
            <a:ext cx="4023360" cy="402336"/>
          </a:xfrm>
          <a:prstGeom prst="roundRect">
            <a:avLst>
              <a:gd name="adj" fmla="val 113636"/>
            </a:avLst>
          </a:prstGeom>
          <a:solidFill>
            <a:srgbClr val="F4F4F4"/>
          </a:solidFill>
          <a:ln w="9525">
            <a:solidFill>
              <a:srgbClr val="141417"/>
            </a:solidFill>
            <a:prstDash val="solid"/>
          </a:ln>
        </p:spPr>
      </p:sp>
      <p:sp>
        <p:nvSpPr>
          <p:cNvPr id="12" name="text"/>
          <p:cNvSpPr txBox="1"/>
          <p:nvPr/>
        </p:nvSpPr>
        <p:spPr>
          <a:xfrm>
            <a:off x="612648" y="315468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PEOPLE, CAPABILITIES, AND STRUCTURE</a:t>
            </a:r>
            <a:endParaRPr lang="en-US" sz="1300" dirty="0"/>
          </a:p>
        </p:txBody>
      </p:sp>
      <p:sp>
        <p:nvSpPr>
          <p:cNvPr id="13" name="card"/>
          <p:cNvSpPr/>
          <p:nvPr/>
        </p:nvSpPr>
        <p:spPr>
          <a:xfrm>
            <a:off x="502920" y="3749040"/>
            <a:ext cx="2194560" cy="1691640"/>
          </a:xfrm>
          <a:prstGeom prst="roundRect">
            <a:avLst>
              <a:gd name="adj" fmla="val 10811"/>
            </a:avLst>
          </a:prstGeom>
          <a:solidFill>
            <a:srgbClr val="E8E8E8"/>
          </a:solidFill>
          <a:ln w="6350">
            <a:solidFill>
              <a:srgbClr val="E8E8E8"/>
            </a:solidFill>
            <a:prstDash val="solid"/>
          </a:ln>
        </p:spPr>
      </p:sp>
      <p:sp>
        <p:nvSpPr>
          <p:cNvPr id="14" name="text"/>
          <p:cNvSpPr txBox="1"/>
          <p:nvPr/>
        </p:nvSpPr>
        <p:spPr>
          <a:xfrm>
            <a:off x="758952" y="393192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Bab 10</a:t>
            </a:r>
            <a:endParaRPr lang="en-US" sz="2400" dirty="0"/>
          </a:p>
        </p:txBody>
      </p:sp>
      <p:sp>
        <p:nvSpPr>
          <p:cNvPr id="15" name="text"/>
          <p:cNvSpPr txBox="1"/>
          <p:nvPr/>
        </p:nvSpPr>
        <p:spPr>
          <a:xfrm>
            <a:off x="758952" y="453542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Thompson dkk. (2024)</a:t>
            </a:r>
            <a:endParaRPr lang="en-US" sz="1400" dirty="0"/>
          </a:p>
        </p:txBody>
      </p:sp>
      <p:sp>
        <p:nvSpPr>
          <p:cNvPr id="16" name="card"/>
          <p:cNvSpPr/>
          <p:nvPr/>
        </p:nvSpPr>
        <p:spPr>
          <a:xfrm>
            <a:off x="2825496" y="3749040"/>
            <a:ext cx="2194560" cy="1691640"/>
          </a:xfrm>
          <a:prstGeom prst="roundRect">
            <a:avLst>
              <a:gd name="adj" fmla="val 10811"/>
            </a:avLst>
          </a:prstGeom>
          <a:solidFill>
            <a:srgbClr val="D4FC00"/>
          </a:solidFill>
          <a:ln w="6350">
            <a:solidFill>
              <a:srgbClr val="D4FC00"/>
            </a:solidFill>
            <a:prstDash val="solid"/>
          </a:ln>
        </p:spPr>
      </p:sp>
      <p:sp>
        <p:nvSpPr>
          <p:cNvPr id="17" name="text"/>
          <p:cNvSpPr txBox="1"/>
          <p:nvPr/>
        </p:nvSpPr>
        <p:spPr>
          <a:xfrm>
            <a:off x="3081528" y="393192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Sesi 9</a:t>
            </a:r>
            <a:endParaRPr lang="en-US" sz="2400" dirty="0"/>
          </a:p>
        </p:txBody>
      </p:sp>
      <p:sp>
        <p:nvSpPr>
          <p:cNvPr id="18" name="text"/>
          <p:cNvSpPr txBox="1"/>
          <p:nvPr/>
        </p:nvSpPr>
        <p:spPr>
          <a:xfrm>
            <a:off x="3081528" y="453542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Dr. Rangga Almahendra, S.T., M.M.</a:t>
            </a:r>
            <a:endParaRPr lang="en-US" sz="1400" dirty="0"/>
          </a:p>
        </p:txBody>
      </p:sp>
      <p:sp>
        <p:nvSpPr>
          <p:cNvPr id="19" name="card"/>
          <p:cNvSpPr/>
          <p:nvPr/>
        </p:nvSpPr>
        <p:spPr>
          <a:xfrm>
            <a:off x="5148072" y="3749040"/>
            <a:ext cx="2194560" cy="1691640"/>
          </a:xfrm>
          <a:prstGeom prst="roundRect">
            <a:avLst>
              <a:gd name="adj" fmla="val 10811"/>
            </a:avLst>
          </a:prstGeom>
          <a:solidFill>
            <a:srgbClr val="141417"/>
          </a:solidFill>
          <a:ln w="6350">
            <a:solidFill>
              <a:srgbClr val="141417"/>
            </a:solidFill>
            <a:prstDash val="solid"/>
          </a:ln>
        </p:spPr>
      </p:sp>
      <p:sp>
        <p:nvSpPr>
          <p:cNvPr id="20" name="text"/>
          <p:cNvSpPr txBox="1"/>
          <p:nvPr/>
        </p:nvSpPr>
        <p:spPr>
          <a:xfrm>
            <a:off x="5404104" y="393192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Kelompok 3</a:t>
            </a:r>
            <a:endParaRPr lang="en-US" sz="2400" dirty="0"/>
          </a:p>
        </p:txBody>
      </p:sp>
      <p:sp>
        <p:nvSpPr>
          <p:cNvPr id="21" name="text"/>
          <p:cNvSpPr txBox="1"/>
          <p:nvPr/>
        </p:nvSpPr>
        <p:spPr>
          <a:xfrm>
            <a:off x="5404104" y="453542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MM FEB UGM</a:t>
            </a:r>
            <a:endParaRPr lang="en-US" sz="1400" dirty="0"/>
          </a:p>
        </p:txBody>
      </p:sp>
      <p:sp>
        <p:nvSpPr>
          <p:cNvPr id="22" name="text"/>
          <p:cNvSpPr txBox="1"/>
          <p:nvPr/>
        </p:nvSpPr>
        <p:spPr>
          <a:xfrm>
            <a:off x="502920" y="5623560"/>
            <a:ext cx="3200400" cy="2743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Aslih Abnuri</a:t>
            </a:r>
            <a:endParaRPr lang="en-US" sz="1400" dirty="0"/>
          </a:p>
        </p:txBody>
      </p:sp>
      <p:sp>
        <p:nvSpPr>
          <p:cNvPr id="23" name="text"/>
          <p:cNvSpPr txBox="1"/>
          <p:nvPr/>
        </p:nvSpPr>
        <p:spPr>
          <a:xfrm>
            <a:off x="502920" y="5897880"/>
            <a:ext cx="3200400" cy="237744"/>
          </a:xfrm>
          <a:prstGeom prst="rect">
            <a:avLst/>
          </a:prstGeom>
          <a:noFill/>
          <a:ln/>
        </p:spPr>
        <p:txBody>
          <a:bodyPr wrap="square" lIns="0" tIns="0" rIns="0" bIns="0" rtlCol="0" anchor="t"/>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25/574338/PEK/31801</a:t>
            </a:r>
            <a:endParaRPr lang="en-US" sz="1200" dirty="0"/>
          </a:p>
        </p:txBody>
      </p:sp>
      <p:sp>
        <p:nvSpPr>
          <p:cNvPr id="24" name="text"/>
          <p:cNvSpPr txBox="1"/>
          <p:nvPr/>
        </p:nvSpPr>
        <p:spPr>
          <a:xfrm>
            <a:off x="3977640" y="5623560"/>
            <a:ext cx="3200400" cy="2743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Tifani Puspita</a:t>
            </a:r>
            <a:endParaRPr lang="en-US" sz="1400" dirty="0"/>
          </a:p>
        </p:txBody>
      </p:sp>
      <p:sp>
        <p:nvSpPr>
          <p:cNvPr id="25" name="text"/>
          <p:cNvSpPr txBox="1"/>
          <p:nvPr/>
        </p:nvSpPr>
        <p:spPr>
          <a:xfrm>
            <a:off x="3977640" y="5897880"/>
            <a:ext cx="3200400" cy="237744"/>
          </a:xfrm>
          <a:prstGeom prst="rect">
            <a:avLst/>
          </a:prstGeom>
          <a:noFill/>
          <a:ln/>
        </p:spPr>
        <p:txBody>
          <a:bodyPr wrap="square" lIns="0" tIns="0" rIns="0" bIns="0" rtlCol="0" anchor="t"/>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25/574443/PEK/31851</a:t>
            </a:r>
            <a:endParaRPr lang="en-US" sz="1200" dirty="0"/>
          </a:p>
        </p:txBody>
      </p:sp>
      <p:sp>
        <p:nvSpPr>
          <p:cNvPr id="26" name="text"/>
          <p:cNvSpPr txBox="1"/>
          <p:nvPr/>
        </p:nvSpPr>
        <p:spPr>
          <a:xfrm>
            <a:off x="502920" y="6208776"/>
            <a:ext cx="3200400" cy="2743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Happy Dinithasari</a:t>
            </a:r>
            <a:endParaRPr lang="en-US" sz="1400" dirty="0"/>
          </a:p>
        </p:txBody>
      </p:sp>
      <p:sp>
        <p:nvSpPr>
          <p:cNvPr id="27" name="text"/>
          <p:cNvSpPr txBox="1"/>
          <p:nvPr/>
        </p:nvSpPr>
        <p:spPr>
          <a:xfrm>
            <a:off x="502920" y="6483096"/>
            <a:ext cx="3200400" cy="237744"/>
          </a:xfrm>
          <a:prstGeom prst="rect">
            <a:avLst/>
          </a:prstGeom>
          <a:noFill/>
          <a:ln/>
        </p:spPr>
        <p:txBody>
          <a:bodyPr wrap="square" lIns="0" tIns="0" rIns="0" bIns="0" rtlCol="0" anchor="t"/>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25/574400/PEK/31831</a:t>
            </a:r>
            <a:endParaRPr lang="en-US" sz="1200" dirty="0"/>
          </a:p>
        </p:txBody>
      </p:sp>
      <p:sp>
        <p:nvSpPr>
          <p:cNvPr id="28" name="text"/>
          <p:cNvSpPr txBox="1"/>
          <p:nvPr/>
        </p:nvSpPr>
        <p:spPr>
          <a:xfrm>
            <a:off x="3977640" y="6208776"/>
            <a:ext cx="3200400" cy="2743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Dara Astrini Rahayu K</a:t>
            </a:r>
            <a:endParaRPr lang="en-US" sz="1400" dirty="0"/>
          </a:p>
        </p:txBody>
      </p:sp>
      <p:sp>
        <p:nvSpPr>
          <p:cNvPr id="29" name="text"/>
          <p:cNvSpPr txBox="1"/>
          <p:nvPr/>
        </p:nvSpPr>
        <p:spPr>
          <a:xfrm>
            <a:off x="3977640" y="6483096"/>
            <a:ext cx="3200400" cy="237744"/>
          </a:xfrm>
          <a:prstGeom prst="rect">
            <a:avLst/>
          </a:prstGeom>
          <a:noFill/>
          <a:ln/>
        </p:spPr>
        <p:txBody>
          <a:bodyPr wrap="square" lIns="0" tIns="0" rIns="0" bIns="0" rtlCol="0" anchor="t"/>
          <a:lstStyle/>
          <a:p>
            <a:pPr algn="l" indent="0" marL="0">
              <a:lnSpc>
                <a:spcPct val="122000"/>
              </a:lnSpc>
              <a:buNone/>
            </a:pPr>
            <a:r>
              <a:rPr lang="en-US" sz="1200" dirty="0">
                <a:solidFill>
                  <a:srgbClr val="5A5A5F"/>
                </a:solidFill>
                <a:latin typeface="Outfit" pitchFamily="34" charset="0"/>
                <a:ea typeface="Outfit" pitchFamily="34" charset="-122"/>
                <a:cs typeface="Outfit" pitchFamily="34" charset="-120"/>
              </a:rPr>
              <a:t>25/574437/PEK/31847</a:t>
            </a:r>
            <a:endParaRPr lang="en-US" sz="1200" dirty="0"/>
          </a:p>
        </p:txBody>
      </p:sp>
      <p:pic>
        <p:nvPicPr>
          <p:cNvPr id="30"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ALUR PEMBAHASAN</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813816"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LANDASAN</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49142"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84468"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CAPABILITIES</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19793"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STRUCTURE</a:t>
            </a:r>
            <a:endParaRPr lang="en-US" sz="1400" dirty="0"/>
          </a:p>
        </p:txBody>
      </p:sp>
      <p:sp>
        <p:nvSpPr>
          <p:cNvPr id="27" name="text"/>
          <p:cNvSpPr txBox="1"/>
          <p:nvPr/>
        </p:nvSpPr>
        <p:spPr>
          <a:xfrm>
            <a:off x="502920" y="5696712"/>
            <a:ext cx="7315200"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05 · SINTESIS</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KERANGKA YANG DIPAKAI BAB 10</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813816"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SEPULUH TUGAS EKSEKUSI</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49142"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TIGA AKSI KUNCI</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84468"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LIMA KEPUTUSAN STRUKTUR</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19793"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Asumsi, keunggulan, kelemahan.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 VS DECENTRALIZED</a:t>
            </a:r>
            <a:endParaRPr lang="en-US" sz="1400" dirty="0"/>
          </a:p>
        </p:txBody>
      </p:sp>
      <p:sp>
        <p:nvSpPr>
          <p:cNvPr id="27" name="pill"/>
          <p:cNvSpPr/>
          <p:nvPr/>
        </p:nvSpPr>
        <p:spPr>
          <a:xfrm>
            <a:off x="502920" y="5715000"/>
            <a:ext cx="2679878" cy="420624"/>
          </a:xfrm>
          <a:prstGeom prst="roundRect">
            <a:avLst>
              <a:gd name="adj" fmla="val 108696"/>
            </a:avLst>
          </a:prstGeom>
          <a:solidFill>
            <a:srgbClr val="F4F4F4"/>
          </a:solidFill>
          <a:ln w="9525">
            <a:solidFill>
              <a:srgbClr val="141417"/>
            </a:solidFill>
            <a:prstDash val="solid"/>
          </a:ln>
        </p:spPr>
      </p:sp>
      <p:sp>
        <p:nvSpPr>
          <p:cNvPr id="28" name="text"/>
          <p:cNvSpPr txBox="1"/>
          <p:nvPr/>
        </p:nvSpPr>
        <p:spPr>
          <a:xfrm>
            <a:off x="612648"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3 JALAN MEMBANGUN CAPABILITY</a:t>
            </a:r>
            <a:endParaRPr lang="en-US" sz="1200" dirty="0"/>
          </a:p>
        </p:txBody>
      </p:sp>
      <p:sp>
        <p:nvSpPr>
          <p:cNvPr id="29" name="pill"/>
          <p:cNvSpPr/>
          <p:nvPr/>
        </p:nvSpPr>
        <p:spPr>
          <a:xfrm>
            <a:off x="3338246" y="5715000"/>
            <a:ext cx="2679878"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3447974"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 TIPE STRUKTUR ORGANISASI</a:t>
            </a:r>
            <a:endParaRPr lang="en-US" sz="1200" dirty="0"/>
          </a:p>
        </p:txBody>
      </p:sp>
      <p:sp>
        <p:nvSpPr>
          <p:cNvPr id="31" name="pill"/>
          <p:cNvSpPr/>
          <p:nvPr/>
        </p:nvSpPr>
        <p:spPr>
          <a:xfrm>
            <a:off x="6173572" y="5715000"/>
            <a:ext cx="2679878" cy="420624"/>
          </a:xfrm>
          <a:prstGeom prst="roundRect">
            <a:avLst>
              <a:gd name="adj" fmla="val 108696"/>
            </a:avLst>
          </a:prstGeom>
          <a:solidFill>
            <a:srgbClr val="F4F4F4"/>
          </a:solidFill>
          <a:ln w="9525">
            <a:solidFill>
              <a:srgbClr val="141417"/>
            </a:solidFill>
            <a:prstDash val="solid"/>
          </a:ln>
        </p:spPr>
      </p:sp>
      <p:sp>
        <p:nvSpPr>
          <p:cNvPr id="32" name="text"/>
          <p:cNvSpPr txBox="1"/>
          <p:nvPr/>
        </p:nvSpPr>
        <p:spPr>
          <a:xfrm>
            <a:off x="6283300"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3 JALUR KEMITRAAN</a:t>
            </a:r>
            <a:endParaRPr lang="en-US" sz="1200" dirty="0"/>
          </a:p>
        </p:txBody>
      </p:sp>
      <p:sp>
        <p:nvSpPr>
          <p:cNvPr id="33" name="pill"/>
          <p:cNvSpPr/>
          <p:nvPr/>
        </p:nvSpPr>
        <p:spPr>
          <a:xfrm>
            <a:off x="9008897" y="5715000"/>
            <a:ext cx="2679878" cy="420624"/>
          </a:xfrm>
          <a:prstGeom prst="roundRect">
            <a:avLst>
              <a:gd name="adj" fmla="val 108696"/>
            </a:avLst>
          </a:prstGeom>
          <a:solidFill>
            <a:srgbClr val="F4F4F4"/>
          </a:solidFill>
          <a:ln w="9525">
            <a:solidFill>
              <a:srgbClr val="141417"/>
            </a:solidFill>
            <a:prstDash val="solid"/>
          </a:ln>
        </p:spPr>
      </p:sp>
      <p:sp>
        <p:nvSpPr>
          <p:cNvPr id="34" name="text"/>
          <p:cNvSpPr txBox="1"/>
          <p:nvPr/>
        </p:nvSpPr>
        <p:spPr>
          <a:xfrm>
            <a:off x="9118625" y="5715000"/>
            <a:ext cx="2460422"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2 TANDA EKSEKUSI YANG BAIK</a:t>
            </a:r>
            <a:endParaRPr lang="en-US" sz="12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2"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DARI MERUMUSKAN KE MENGEKSEKUSI STRATEGI</a:t>
            </a:r>
            <a:endParaRPr lang="en-US" sz="3200" dirty="0"/>
          </a:p>
        </p:txBody>
      </p:sp>
      <p:sp>
        <p:nvSpPr>
          <p:cNvPr id="13" name="card"/>
          <p:cNvSpPr/>
          <p:nvPr/>
        </p:nvSpPr>
        <p:spPr>
          <a:xfrm>
            <a:off x="502920" y="4023360"/>
            <a:ext cx="4023360" cy="1600200"/>
          </a:xfrm>
          <a:prstGeom prst="roundRect">
            <a:avLst>
              <a:gd name="adj" fmla="val 11429"/>
            </a:avLst>
          </a:prstGeom>
          <a:solidFill>
            <a:srgbClr val="D4FC00"/>
          </a:solidFill>
          <a:ln w="6350">
            <a:solidFill>
              <a:srgbClr val="D4FC00"/>
            </a:solidFill>
            <a:prstDash val="solid"/>
          </a:ln>
        </p:spPr>
      </p:sp>
      <p:sp>
        <p:nvSpPr>
          <p:cNvPr id="14" name="text"/>
          <p:cNvSpPr txBox="1"/>
          <p:nvPr/>
        </p:nvSpPr>
        <p:spPr>
          <a:xfrm>
            <a:off x="731520" y="4023360"/>
            <a:ext cx="1188720" cy="1600200"/>
          </a:xfrm>
          <a:prstGeom prst="rect">
            <a:avLst/>
          </a:prstGeom>
          <a:noFill/>
          <a:ln/>
        </p:spPr>
        <p:txBody>
          <a:bodyPr wrap="square" lIns="0" tIns="0" rIns="0" bIns="0" rtlCol="0" anchor="ctr"/>
          <a:lstStyle/>
          <a:p>
            <a:pPr algn="l" indent="0" marL="0">
              <a:lnSpc>
                <a:spcPct val="122000"/>
              </a:lnSpc>
              <a:buNone/>
            </a:pPr>
            <a:r>
              <a:rPr lang="en-US" sz="3400" dirty="0">
                <a:solidFill>
                  <a:srgbClr val="141417"/>
                </a:solidFill>
                <a:latin typeface="Outfit Medium" pitchFamily="34" charset="0"/>
                <a:ea typeface="Outfit Medium" pitchFamily="34" charset="-122"/>
                <a:cs typeface="Outfit Medium" pitchFamily="34" charset="-120"/>
              </a:rPr>
              <a:t>1/2</a:t>
            </a:r>
            <a:endParaRPr lang="en-US" sz="3400" dirty="0"/>
          </a:p>
        </p:txBody>
      </p:sp>
      <p:sp>
        <p:nvSpPr>
          <p:cNvPr id="15" name="text"/>
          <p:cNvSpPr txBox="1"/>
          <p:nvPr/>
        </p:nvSpPr>
        <p:spPr>
          <a:xfrm>
            <a:off x="2011680" y="4023360"/>
            <a:ext cx="2377440" cy="160020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6" name="card"/>
          <p:cNvSpPr/>
          <p:nvPr/>
        </p:nvSpPr>
        <p:spPr>
          <a:xfrm>
            <a:off x="4663440" y="4023360"/>
            <a:ext cx="5166360" cy="1600200"/>
          </a:xfrm>
          <a:prstGeom prst="roundRect">
            <a:avLst>
              <a:gd name="adj" fmla="val 11429"/>
            </a:avLst>
          </a:prstGeom>
          <a:solidFill>
            <a:srgbClr val="E8E8E8"/>
          </a:solidFill>
          <a:ln w="6350">
            <a:solidFill>
              <a:srgbClr val="E8E8E8"/>
            </a:solidFill>
            <a:prstDash val="solid"/>
          </a:ln>
        </p:spPr>
      </p:sp>
      <p:sp>
        <p:nvSpPr>
          <p:cNvPr id="17" name="card"/>
          <p:cNvSpPr/>
          <p:nvPr/>
        </p:nvSpPr>
        <p:spPr>
          <a:xfrm>
            <a:off x="4663440" y="4023360"/>
            <a:ext cx="2560320" cy="1600200"/>
          </a:xfrm>
          <a:prstGeom prst="roundRect">
            <a:avLst>
              <a:gd name="adj" fmla="val 11429"/>
            </a:avLst>
          </a:prstGeom>
          <a:solidFill>
            <a:srgbClr val="E8E8E8"/>
          </a:solidFill>
          <a:ln w="6350">
            <a:solidFill>
              <a:srgbClr val="E8E8E8"/>
            </a:solidFill>
            <a:prstDash val="solid"/>
          </a:ln>
        </p:spPr>
      </p:sp>
      <p:sp>
        <p:nvSpPr>
          <p:cNvPr id="18" name="text"/>
          <p:cNvSpPr txBox="1"/>
          <p:nvPr/>
        </p:nvSpPr>
        <p:spPr>
          <a:xfrm>
            <a:off x="491947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19" name="text"/>
          <p:cNvSpPr txBox="1"/>
          <p:nvPr/>
        </p:nvSpPr>
        <p:spPr>
          <a:xfrm>
            <a:off x="491947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20" name="card"/>
          <p:cNvSpPr/>
          <p:nvPr/>
        </p:nvSpPr>
        <p:spPr>
          <a:xfrm>
            <a:off x="7269480" y="4023360"/>
            <a:ext cx="2560320" cy="1600200"/>
          </a:xfrm>
          <a:prstGeom prst="roundRect">
            <a:avLst>
              <a:gd name="adj" fmla="val 11429"/>
            </a:avLst>
          </a:prstGeom>
          <a:solidFill>
            <a:srgbClr val="E8E8E8"/>
          </a:solidFill>
          <a:ln w="6350">
            <a:solidFill>
              <a:srgbClr val="E8E8E8"/>
            </a:solidFill>
            <a:prstDash val="solid"/>
          </a:ln>
        </p:spPr>
      </p:sp>
      <p:sp>
        <p:nvSpPr>
          <p:cNvPr id="21" name="text"/>
          <p:cNvSpPr txBox="1"/>
          <p:nvPr/>
        </p:nvSpPr>
        <p:spPr>
          <a:xfrm>
            <a:off x="752551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2" name="text"/>
          <p:cNvSpPr txBox="1"/>
          <p:nvPr/>
        </p:nvSpPr>
        <p:spPr>
          <a:xfrm>
            <a:off x="752551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3" name="card"/>
          <p:cNvSpPr/>
          <p:nvPr/>
        </p:nvSpPr>
        <p:spPr>
          <a:xfrm>
            <a:off x="9966960" y="4023360"/>
            <a:ext cx="1600200" cy="1600200"/>
          </a:xfrm>
          <a:prstGeom prst="roundRect">
            <a:avLst>
              <a:gd name="adj" fmla="val 9143"/>
            </a:avLst>
          </a:prstGeom>
          <a:solidFill>
            <a:srgbClr val="141417"/>
          </a:solidFill>
          <a:ln w="6350">
            <a:solidFill>
              <a:srgbClr val="141417"/>
            </a:solidFill>
            <a:prstDash val="solid"/>
          </a:ln>
        </p:spPr>
      </p:sp>
      <p:pic>
        <p:nvPicPr>
          <p:cNvPr id="24" name="star" descr="preencoded.png">    </p:cNvPr>
          <p:cNvPicPr>
            <a:picLocks noChangeAspect="1"/>
          </p:cNvPicPr>
          <p:nvPr/>
        </p:nvPicPr>
        <p:blipFill>
          <a:blip r:embed="rId3"/>
          <a:stretch>
            <a:fillRect/>
          </a:stretch>
        </p:blipFill>
        <p:spPr>
          <a:xfrm>
            <a:off x="10367010" y="4423410"/>
            <a:ext cx="800100" cy="800100"/>
          </a:xfrm>
          <a:prstGeom prst="rect">
            <a:avLst/>
          </a:prstGeom>
        </p:spPr>
      </p:pic>
      <p:sp>
        <p:nvSpPr>
          <p:cNvPr id="25" name="text"/>
          <p:cNvSpPr txBox="1"/>
          <p:nvPr/>
        </p:nvSpPr>
        <p:spPr>
          <a:xfrm>
            <a:off x="502920" y="576072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TANTANGAN NOMOR SATU</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SALING BERGANTUNG</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TIDAK ADA RESEP TUNGGAL</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DUA TANDA EKSEKUSI BAIK</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ADALAH UJIAN YANG SESUNGGUHNYA</a:t>
            </a:r>
            <a:endParaRPr lang="en-US" sz="32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SEPULUH TUGAS EKSEKUSI</a:t>
            </a:r>
            <a:endParaRPr lang="en-US" sz="3400" dirty="0"/>
          </a:p>
        </p:txBody>
      </p:sp>
      <p:sp>
        <p:nvSpPr>
          <p:cNvPr id="14"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5" name="connector"/>
          <p:cNvSpPr/>
          <p:nvPr/>
        </p:nvSpPr>
        <p:spPr>
          <a:xfrm flipH="1">
            <a:off x="3749040" y="2741268"/>
            <a:ext cx="777054" cy="1739292"/>
          </a:xfrm>
          <a:prstGeom prst="line">
            <a:avLst/>
          </a:prstGeom>
          <a:noFill/>
          <a:ln w="12700">
            <a:solidFill>
              <a:srgbClr val="C9C9CC"/>
            </a:solidFill>
            <a:prstDash val="solid"/>
          </a:ln>
        </p:spPr>
      </p:sp>
      <p:sp>
        <p:nvSpPr>
          <p:cNvPr id="16" name="connector"/>
          <p:cNvSpPr/>
          <p:nvPr/>
        </p:nvSpPr>
        <p:spPr>
          <a:xfrm flipH="1">
            <a:off x="3749040" y="3405618"/>
            <a:ext cx="2034354" cy="1074942"/>
          </a:xfrm>
          <a:prstGeom prst="line">
            <a:avLst/>
          </a:prstGeom>
          <a:noFill/>
          <a:ln w="12700">
            <a:solidFill>
              <a:srgbClr val="C9C9CC"/>
            </a:solidFill>
            <a:prstDash val="solid"/>
          </a:ln>
        </p:spPr>
      </p:sp>
      <p:sp>
        <p:nvSpPr>
          <p:cNvPr id="17" name="connector"/>
          <p:cNvSpPr/>
          <p:nvPr/>
        </p:nvSpPr>
        <p:spPr>
          <a:xfrm>
            <a:off x="3749040" y="4480560"/>
            <a:ext cx="2514600" cy="0"/>
          </a:xfrm>
          <a:prstGeom prst="line">
            <a:avLst/>
          </a:prstGeom>
          <a:noFill/>
          <a:ln w="12700">
            <a:solidFill>
              <a:srgbClr val="C9C9CC"/>
            </a:solidFill>
            <a:prstDash val="solid"/>
          </a:ln>
        </p:spPr>
      </p:sp>
      <p:sp>
        <p:nvSpPr>
          <p:cNvPr id="18" name="connector"/>
          <p:cNvSpPr/>
          <p:nvPr/>
        </p:nvSpPr>
        <p:spPr>
          <a:xfrm>
            <a:off x="3749040" y="4480560"/>
            <a:ext cx="2034354" cy="1074942"/>
          </a:xfrm>
          <a:prstGeom prst="line">
            <a:avLst/>
          </a:prstGeom>
          <a:noFill/>
          <a:ln w="12700">
            <a:solidFill>
              <a:srgbClr val="C9C9CC"/>
            </a:solidFill>
            <a:prstDash val="solid"/>
          </a:ln>
        </p:spPr>
      </p:sp>
      <p:sp>
        <p:nvSpPr>
          <p:cNvPr id="19" name="connector"/>
          <p:cNvSpPr/>
          <p:nvPr/>
        </p:nvSpPr>
        <p:spPr>
          <a:xfrm>
            <a:off x="3749040" y="4480560"/>
            <a:ext cx="777054" cy="1739292"/>
          </a:xfrm>
          <a:prstGeom prst="line">
            <a:avLst/>
          </a:prstGeom>
          <a:noFill/>
          <a:ln w="12700">
            <a:solidFill>
              <a:srgbClr val="C9C9CC"/>
            </a:solidFill>
            <a:prstDash val="solid"/>
          </a:ln>
        </p:spPr>
      </p:sp>
      <p:sp>
        <p:nvSpPr>
          <p:cNvPr id="20" name="connector"/>
          <p:cNvSpPr/>
          <p:nvPr/>
        </p:nvSpPr>
        <p:spPr>
          <a:xfrm flipH="1">
            <a:off x="2971986" y="4480560"/>
            <a:ext cx="777054" cy="1739292"/>
          </a:xfrm>
          <a:prstGeom prst="line">
            <a:avLst/>
          </a:prstGeom>
          <a:noFill/>
          <a:ln w="12700">
            <a:solidFill>
              <a:srgbClr val="C9C9CC"/>
            </a:solidFill>
            <a:prstDash val="solid"/>
          </a:ln>
        </p:spPr>
      </p:sp>
      <p:sp>
        <p:nvSpPr>
          <p:cNvPr id="21" name="connector"/>
          <p:cNvSpPr/>
          <p:nvPr/>
        </p:nvSpPr>
        <p:spPr>
          <a:xfrm flipH="1">
            <a:off x="1714686" y="4480560"/>
            <a:ext cx="2034354" cy="1074942"/>
          </a:xfrm>
          <a:prstGeom prst="line">
            <a:avLst/>
          </a:prstGeom>
          <a:noFill/>
          <a:ln w="12700">
            <a:solidFill>
              <a:srgbClr val="C9C9CC"/>
            </a:solidFill>
            <a:prstDash val="solid"/>
          </a:ln>
        </p:spPr>
      </p:sp>
      <p:sp>
        <p:nvSpPr>
          <p:cNvPr id="22" name="connector"/>
          <p:cNvSpPr/>
          <p:nvPr/>
        </p:nvSpPr>
        <p:spPr>
          <a:xfrm flipH="1">
            <a:off x="1234440" y="4480560"/>
            <a:ext cx="2514600" cy="0"/>
          </a:xfrm>
          <a:prstGeom prst="line">
            <a:avLst/>
          </a:prstGeom>
          <a:noFill/>
          <a:ln w="12700">
            <a:solidFill>
              <a:srgbClr val="C9C9CC"/>
            </a:solidFill>
            <a:prstDash val="solid"/>
          </a:ln>
        </p:spPr>
      </p:sp>
      <p:sp>
        <p:nvSpPr>
          <p:cNvPr id="23" name="connector"/>
          <p:cNvSpPr/>
          <p:nvPr/>
        </p:nvSpPr>
        <p:spPr>
          <a:xfrm>
            <a:off x="1714686" y="3405618"/>
            <a:ext cx="2034354" cy="1074942"/>
          </a:xfrm>
          <a:prstGeom prst="line">
            <a:avLst/>
          </a:prstGeom>
          <a:noFill/>
          <a:ln w="12700">
            <a:solidFill>
              <a:srgbClr val="C9C9CC"/>
            </a:solidFill>
            <a:prstDash val="solid"/>
          </a:ln>
        </p:spPr>
      </p:sp>
      <p:sp>
        <p:nvSpPr>
          <p:cNvPr id="24" name="connector"/>
          <p:cNvSpPr/>
          <p:nvPr/>
        </p:nvSpPr>
        <p:spPr>
          <a:xfrm>
            <a:off x="2971986" y="2741268"/>
            <a:ext cx="777054" cy="1739292"/>
          </a:xfrm>
          <a:prstGeom prst="line">
            <a:avLst/>
          </a:prstGeom>
          <a:noFill/>
          <a:ln w="12700">
            <a:solidFill>
              <a:srgbClr val="C9C9CC"/>
            </a:solidFill>
            <a:prstDash val="solid"/>
          </a:ln>
        </p:spPr>
      </p:sp>
      <p:sp>
        <p:nvSpPr>
          <p:cNvPr id="25" name="pusat"/>
          <p:cNvSpPr/>
          <p:nvPr/>
        </p:nvSpPr>
        <p:spPr>
          <a:xfrm>
            <a:off x="2880360" y="3703320"/>
            <a:ext cx="1737360" cy="1554480"/>
          </a:xfrm>
          <a:prstGeom prst="hexagon">
            <a:avLst/>
          </a:prstGeom>
          <a:solidFill>
            <a:srgbClr val="141417"/>
          </a:solidFill>
          <a:ln w="6350">
            <a:solidFill>
              <a:srgbClr val="141417"/>
            </a:solidFill>
            <a:prstDash val="solid"/>
          </a:ln>
        </p:spPr>
      </p:sp>
      <p:sp>
        <p:nvSpPr>
          <p:cNvPr id="26" name="text"/>
          <p:cNvSpPr txBox="1"/>
          <p:nvPr/>
        </p:nvSpPr>
        <p:spPr>
          <a:xfrm>
            <a:off x="3072384" y="395020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27" name="card"/>
          <p:cNvSpPr/>
          <p:nvPr/>
        </p:nvSpPr>
        <p:spPr>
          <a:xfrm>
            <a:off x="3794574" y="2457804"/>
            <a:ext cx="1463040" cy="566928"/>
          </a:xfrm>
          <a:prstGeom prst="roundRect">
            <a:avLst>
              <a:gd name="adj" fmla="val 19355"/>
            </a:avLst>
          </a:prstGeom>
          <a:solidFill>
            <a:srgbClr val="D4FC00"/>
          </a:solidFill>
          <a:ln w="6350">
            <a:solidFill>
              <a:srgbClr val="D4FC00"/>
            </a:solidFill>
            <a:prstDash val="solid"/>
          </a:ln>
        </p:spPr>
      </p:sp>
      <p:sp>
        <p:nvSpPr>
          <p:cNvPr id="28" name="text"/>
          <p:cNvSpPr txBox="1"/>
          <p:nvPr/>
        </p:nvSpPr>
        <p:spPr>
          <a:xfrm>
            <a:off x="3904302" y="245780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29" name="text"/>
          <p:cNvSpPr txBox="1"/>
          <p:nvPr/>
        </p:nvSpPr>
        <p:spPr>
          <a:xfrm>
            <a:off x="4196910" y="245780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0" name="card"/>
          <p:cNvSpPr/>
          <p:nvPr/>
        </p:nvSpPr>
        <p:spPr>
          <a:xfrm>
            <a:off x="5051874" y="3122154"/>
            <a:ext cx="1463040" cy="566928"/>
          </a:xfrm>
          <a:prstGeom prst="roundRect">
            <a:avLst>
              <a:gd name="adj" fmla="val 19355"/>
            </a:avLst>
          </a:prstGeom>
          <a:solidFill>
            <a:srgbClr val="D4FC00"/>
          </a:solidFill>
          <a:ln w="6350">
            <a:solidFill>
              <a:srgbClr val="D4FC00"/>
            </a:solidFill>
            <a:prstDash val="solid"/>
          </a:ln>
        </p:spPr>
      </p:sp>
      <p:sp>
        <p:nvSpPr>
          <p:cNvPr id="31" name="text"/>
          <p:cNvSpPr txBox="1"/>
          <p:nvPr/>
        </p:nvSpPr>
        <p:spPr>
          <a:xfrm>
            <a:off x="5161602" y="312215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2" name="text"/>
          <p:cNvSpPr txBox="1"/>
          <p:nvPr/>
        </p:nvSpPr>
        <p:spPr>
          <a:xfrm>
            <a:off x="5454210" y="312215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3" name="card"/>
          <p:cNvSpPr/>
          <p:nvPr/>
        </p:nvSpPr>
        <p:spPr>
          <a:xfrm>
            <a:off x="5532120" y="4197096"/>
            <a:ext cx="1463040" cy="566928"/>
          </a:xfrm>
          <a:prstGeom prst="roundRect">
            <a:avLst>
              <a:gd name="adj" fmla="val 19355"/>
            </a:avLst>
          </a:prstGeom>
          <a:solidFill>
            <a:srgbClr val="D4FC00"/>
          </a:solidFill>
          <a:ln w="6350">
            <a:solidFill>
              <a:srgbClr val="D4FC00"/>
            </a:solidFill>
            <a:prstDash val="solid"/>
          </a:ln>
        </p:spPr>
      </p:sp>
      <p:sp>
        <p:nvSpPr>
          <p:cNvPr id="34" name="text"/>
          <p:cNvSpPr txBox="1"/>
          <p:nvPr/>
        </p:nvSpPr>
        <p:spPr>
          <a:xfrm>
            <a:off x="5641848" y="4197096"/>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5" name="text"/>
          <p:cNvSpPr txBox="1"/>
          <p:nvPr/>
        </p:nvSpPr>
        <p:spPr>
          <a:xfrm>
            <a:off x="5934456" y="419709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36" name="card"/>
          <p:cNvSpPr/>
          <p:nvPr/>
        </p:nvSpPr>
        <p:spPr>
          <a:xfrm>
            <a:off x="5051874" y="5272038"/>
            <a:ext cx="1463040" cy="566928"/>
          </a:xfrm>
          <a:prstGeom prst="roundRect">
            <a:avLst>
              <a:gd name="adj" fmla="val 19355"/>
            </a:avLst>
          </a:prstGeom>
          <a:solidFill>
            <a:srgbClr val="E8E8E8"/>
          </a:solidFill>
          <a:ln w="6350">
            <a:solidFill>
              <a:srgbClr val="E8E8E8"/>
            </a:solidFill>
            <a:prstDash val="solid"/>
          </a:ln>
        </p:spPr>
      </p:sp>
      <p:sp>
        <p:nvSpPr>
          <p:cNvPr id="37" name="text"/>
          <p:cNvSpPr txBox="1"/>
          <p:nvPr/>
        </p:nvSpPr>
        <p:spPr>
          <a:xfrm>
            <a:off x="5161602" y="527203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38" name="text"/>
          <p:cNvSpPr txBox="1"/>
          <p:nvPr/>
        </p:nvSpPr>
        <p:spPr>
          <a:xfrm>
            <a:off x="5454210" y="527203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39" name="card"/>
          <p:cNvSpPr/>
          <p:nvPr/>
        </p:nvSpPr>
        <p:spPr>
          <a:xfrm>
            <a:off x="3794574" y="5936388"/>
            <a:ext cx="1463040" cy="566928"/>
          </a:xfrm>
          <a:prstGeom prst="roundRect">
            <a:avLst>
              <a:gd name="adj" fmla="val 19355"/>
            </a:avLst>
          </a:prstGeom>
          <a:solidFill>
            <a:srgbClr val="E8E8E8"/>
          </a:solidFill>
          <a:ln w="6350">
            <a:solidFill>
              <a:srgbClr val="E8E8E8"/>
            </a:solidFill>
            <a:prstDash val="solid"/>
          </a:ln>
        </p:spPr>
      </p:sp>
      <p:sp>
        <p:nvSpPr>
          <p:cNvPr id="40" name="text"/>
          <p:cNvSpPr txBox="1"/>
          <p:nvPr/>
        </p:nvSpPr>
        <p:spPr>
          <a:xfrm>
            <a:off x="3904302" y="593638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1" name="text"/>
          <p:cNvSpPr txBox="1"/>
          <p:nvPr/>
        </p:nvSpPr>
        <p:spPr>
          <a:xfrm>
            <a:off x="4196910" y="593638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2" name="card"/>
          <p:cNvSpPr/>
          <p:nvPr/>
        </p:nvSpPr>
        <p:spPr>
          <a:xfrm>
            <a:off x="2240466" y="5936388"/>
            <a:ext cx="1463040" cy="566928"/>
          </a:xfrm>
          <a:prstGeom prst="roundRect">
            <a:avLst>
              <a:gd name="adj" fmla="val 19355"/>
            </a:avLst>
          </a:prstGeom>
          <a:solidFill>
            <a:srgbClr val="E8E8E8"/>
          </a:solidFill>
          <a:ln w="6350">
            <a:solidFill>
              <a:srgbClr val="E8E8E8"/>
            </a:solidFill>
            <a:prstDash val="solid"/>
          </a:ln>
        </p:spPr>
      </p:sp>
      <p:sp>
        <p:nvSpPr>
          <p:cNvPr id="43" name="text"/>
          <p:cNvSpPr txBox="1"/>
          <p:nvPr/>
        </p:nvSpPr>
        <p:spPr>
          <a:xfrm>
            <a:off x="2350194" y="593638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4" name="text"/>
          <p:cNvSpPr txBox="1"/>
          <p:nvPr/>
        </p:nvSpPr>
        <p:spPr>
          <a:xfrm>
            <a:off x="2642802" y="593638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5" name="card"/>
          <p:cNvSpPr/>
          <p:nvPr/>
        </p:nvSpPr>
        <p:spPr>
          <a:xfrm>
            <a:off x="983166" y="5272038"/>
            <a:ext cx="1463040" cy="566928"/>
          </a:xfrm>
          <a:prstGeom prst="roundRect">
            <a:avLst>
              <a:gd name="adj" fmla="val 19355"/>
            </a:avLst>
          </a:prstGeom>
          <a:solidFill>
            <a:srgbClr val="E8E8E8"/>
          </a:solidFill>
          <a:ln w="6350">
            <a:solidFill>
              <a:srgbClr val="E8E8E8"/>
            </a:solidFill>
            <a:prstDash val="solid"/>
          </a:ln>
        </p:spPr>
      </p:sp>
      <p:sp>
        <p:nvSpPr>
          <p:cNvPr id="46" name="text"/>
          <p:cNvSpPr txBox="1"/>
          <p:nvPr/>
        </p:nvSpPr>
        <p:spPr>
          <a:xfrm>
            <a:off x="1092894" y="527203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47" name="text"/>
          <p:cNvSpPr txBox="1"/>
          <p:nvPr/>
        </p:nvSpPr>
        <p:spPr>
          <a:xfrm>
            <a:off x="1385502" y="527203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48" name="card"/>
          <p:cNvSpPr/>
          <p:nvPr/>
        </p:nvSpPr>
        <p:spPr>
          <a:xfrm>
            <a:off x="502920" y="4197096"/>
            <a:ext cx="1463040" cy="566928"/>
          </a:xfrm>
          <a:prstGeom prst="roundRect">
            <a:avLst>
              <a:gd name="adj" fmla="val 19355"/>
            </a:avLst>
          </a:prstGeom>
          <a:solidFill>
            <a:srgbClr val="E8E8E8"/>
          </a:solidFill>
          <a:ln w="6350">
            <a:solidFill>
              <a:srgbClr val="E8E8E8"/>
            </a:solidFill>
            <a:prstDash val="solid"/>
          </a:ln>
        </p:spPr>
      </p:sp>
      <p:sp>
        <p:nvSpPr>
          <p:cNvPr id="49" name="text"/>
          <p:cNvSpPr txBox="1"/>
          <p:nvPr/>
        </p:nvSpPr>
        <p:spPr>
          <a:xfrm>
            <a:off x="612648" y="4197096"/>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0" name="text"/>
          <p:cNvSpPr txBox="1"/>
          <p:nvPr/>
        </p:nvSpPr>
        <p:spPr>
          <a:xfrm>
            <a:off x="905256" y="419709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1" name="card"/>
          <p:cNvSpPr/>
          <p:nvPr/>
        </p:nvSpPr>
        <p:spPr>
          <a:xfrm>
            <a:off x="983166" y="3122154"/>
            <a:ext cx="1463040" cy="566928"/>
          </a:xfrm>
          <a:prstGeom prst="roundRect">
            <a:avLst>
              <a:gd name="adj" fmla="val 19355"/>
            </a:avLst>
          </a:prstGeom>
          <a:solidFill>
            <a:srgbClr val="141417"/>
          </a:solidFill>
          <a:ln w="6350">
            <a:solidFill>
              <a:srgbClr val="141417"/>
            </a:solidFill>
            <a:prstDash val="solid"/>
          </a:ln>
        </p:spPr>
      </p:sp>
      <p:sp>
        <p:nvSpPr>
          <p:cNvPr id="52" name="text"/>
          <p:cNvSpPr txBox="1"/>
          <p:nvPr/>
        </p:nvSpPr>
        <p:spPr>
          <a:xfrm>
            <a:off x="1092894" y="312215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3" name="text"/>
          <p:cNvSpPr txBox="1"/>
          <p:nvPr/>
        </p:nvSpPr>
        <p:spPr>
          <a:xfrm>
            <a:off x="1385502" y="312215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4" name="card"/>
          <p:cNvSpPr/>
          <p:nvPr/>
        </p:nvSpPr>
        <p:spPr>
          <a:xfrm>
            <a:off x="2240466" y="2457804"/>
            <a:ext cx="1463040" cy="566928"/>
          </a:xfrm>
          <a:prstGeom prst="roundRect">
            <a:avLst>
              <a:gd name="adj" fmla="val 19355"/>
            </a:avLst>
          </a:prstGeom>
          <a:solidFill>
            <a:srgbClr val="141417"/>
          </a:solidFill>
          <a:ln w="6350">
            <a:solidFill>
              <a:srgbClr val="141417"/>
            </a:solidFill>
            <a:prstDash val="solid"/>
          </a:ln>
        </p:spPr>
      </p:sp>
      <p:sp>
        <p:nvSpPr>
          <p:cNvPr id="55" name="text"/>
          <p:cNvSpPr txBox="1"/>
          <p:nvPr/>
        </p:nvSpPr>
        <p:spPr>
          <a:xfrm>
            <a:off x="2350194" y="245780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56" name="text"/>
          <p:cNvSpPr txBox="1"/>
          <p:nvPr/>
        </p:nvSpPr>
        <p:spPr>
          <a:xfrm>
            <a:off x="2642802" y="245780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57"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58"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59"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0"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1"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Medium" pitchFamily="34" charset="0"/>
                <a:ea typeface="Outfit Medium" pitchFamily="34" charset="-122"/>
                <a:cs typeface="Outfit Medium" pitchFamily="34" charset="-120"/>
              </a:rPr>
              <a:t>BAB 10 · TUGAS 1 SAMPAI 3</a:t>
            </a:r>
            <a:endParaRPr lang="en-US" sz="1200" dirty="0"/>
          </a:p>
        </p:txBody>
      </p:sp>
      <p:sp>
        <p:nvSpPr>
          <p:cNvPr id="62" name="pill"/>
          <p:cNvSpPr/>
          <p:nvPr/>
        </p:nvSpPr>
        <p:spPr>
          <a:xfrm>
            <a:off x="9418320" y="4142232"/>
            <a:ext cx="2286000" cy="420624"/>
          </a:xfrm>
          <a:prstGeom prst="roundRect">
            <a:avLst>
              <a:gd name="adj" fmla="val 108696"/>
            </a:avLst>
          </a:prstGeom>
          <a:solidFill>
            <a:srgbClr val="D4FC00"/>
          </a:solidFill>
          <a:ln w="9525">
            <a:solidFill>
              <a:srgbClr val="141417"/>
            </a:solidFill>
            <a:prstDash val="solid"/>
          </a:ln>
        </p:spPr>
      </p:sp>
      <p:sp>
        <p:nvSpPr>
          <p:cNvPr id="63" name="text"/>
          <p:cNvSpPr txBox="1"/>
          <p:nvPr/>
        </p:nvSpPr>
        <p:spPr>
          <a:xfrm>
            <a:off x="9528048" y="4142232"/>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TUGAS 4 SAMPAI 8</a:t>
            </a:r>
            <a:endParaRPr lang="en-US" sz="1200" dirty="0"/>
          </a:p>
        </p:txBody>
      </p:sp>
      <p:sp>
        <p:nvSpPr>
          <p:cNvPr id="64" name="pill"/>
          <p:cNvSpPr/>
          <p:nvPr/>
        </p:nvSpPr>
        <p:spPr>
          <a:xfrm>
            <a:off x="9418320" y="4672584"/>
            <a:ext cx="2286000" cy="420624"/>
          </a:xfrm>
          <a:prstGeom prst="roundRect">
            <a:avLst>
              <a:gd name="adj" fmla="val 108696"/>
            </a:avLst>
          </a:prstGeom>
          <a:solidFill>
            <a:srgbClr val="D4FC00"/>
          </a:solidFill>
          <a:ln w="9525">
            <a:solidFill>
              <a:srgbClr val="141417"/>
            </a:solidFill>
            <a:prstDash val="solid"/>
          </a:ln>
        </p:spPr>
      </p:sp>
      <p:sp>
        <p:nvSpPr>
          <p:cNvPr id="65" name="text"/>
          <p:cNvSpPr txBox="1"/>
          <p:nvPr/>
        </p:nvSpPr>
        <p:spPr>
          <a:xfrm>
            <a:off x="9528048" y="46725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TIGA AKSI KUNCI MEMBANGUN ORGANISASI YANG MAMPU</a:t>
            </a:r>
            <a:endParaRPr lang="en-US" sz="3400" dirty="0"/>
          </a:p>
        </p:txBody>
      </p:sp>
      <p:sp>
        <p:nvSpPr>
          <p:cNvPr id="8"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9" name="card"/>
          <p:cNvSpPr/>
          <p:nvPr/>
        </p:nvSpPr>
        <p:spPr>
          <a:xfrm>
            <a:off x="502920" y="2560320"/>
            <a:ext cx="6766560" cy="1188720"/>
          </a:xfrm>
          <a:prstGeom prst="roundRect">
            <a:avLst>
              <a:gd name="adj" fmla="val 15385"/>
            </a:avLst>
          </a:prstGeom>
          <a:solidFill>
            <a:srgbClr val="D4FC00"/>
          </a:solidFill>
          <a:ln w="6350">
            <a:solidFill>
              <a:srgbClr val="D4FC00"/>
            </a:solidFill>
            <a:prstDash val="solid"/>
          </a:ln>
        </p:spPr>
      </p:sp>
      <p:sp>
        <p:nvSpPr>
          <p:cNvPr id="10"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1" name="text"/>
          <p:cNvSpPr txBox="1"/>
          <p:nvPr/>
        </p:nvSpPr>
        <p:spPr>
          <a:xfrm>
            <a:off x="1188720" y="2816352"/>
            <a:ext cx="2240280" cy="77724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 THE ORGANIZATION</a:t>
            </a:r>
            <a:endParaRPr lang="en-US" sz="1400" dirty="0"/>
          </a:p>
        </p:txBody>
      </p:sp>
      <p:sp>
        <p:nvSpPr>
          <p:cNvPr id="12" name="text"/>
          <p:cNvSpPr txBox="1"/>
          <p:nvPr/>
        </p:nvSpPr>
        <p:spPr>
          <a:xfrm>
            <a:off x="3611880" y="2779776"/>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3" name="dot"/>
          <p:cNvSpPr/>
          <p:nvPr/>
        </p:nvSpPr>
        <p:spPr>
          <a:xfrm>
            <a:off x="6702552" y="3017520"/>
            <a:ext cx="274320" cy="274320"/>
          </a:xfrm>
          <a:prstGeom prst="ellipse">
            <a:avLst/>
          </a:prstGeom>
          <a:solidFill>
            <a:srgbClr val="141417"/>
          </a:solidFill>
          <a:ln w="6350">
            <a:solidFill>
              <a:srgbClr val="141417"/>
            </a:solidFill>
            <a:prstDash val="solid"/>
          </a:ln>
        </p:spPr>
      </p:sp>
      <p:pic>
        <p:nvPicPr>
          <p:cNvPr id="14" name="dot-icon" descr="preencoded.png">    </p:cNvPr>
          <p:cNvPicPr>
            <a:picLocks noChangeAspect="1"/>
          </p:cNvPicPr>
          <p:nvPr/>
        </p:nvPicPr>
        <p:blipFill>
          <a:blip r:embed="rId1"/>
          <a:stretch>
            <a:fillRect/>
          </a:stretch>
        </p:blipFill>
        <p:spPr>
          <a:xfrm>
            <a:off x="6762902" y="3077870"/>
            <a:ext cx="153619" cy="153619"/>
          </a:xfrm>
          <a:prstGeom prst="rect">
            <a:avLst/>
          </a:prstGeom>
        </p:spPr>
      </p:pic>
      <p:sp>
        <p:nvSpPr>
          <p:cNvPr id="15" name="card"/>
          <p:cNvSpPr/>
          <p:nvPr/>
        </p:nvSpPr>
        <p:spPr>
          <a:xfrm>
            <a:off x="502920" y="3877056"/>
            <a:ext cx="6766560" cy="1188720"/>
          </a:xfrm>
          <a:prstGeom prst="roundRect">
            <a:avLst>
              <a:gd name="adj" fmla="val 15385"/>
            </a:avLst>
          </a:prstGeom>
          <a:solidFill>
            <a:srgbClr val="E8E8E8"/>
          </a:solidFill>
          <a:ln w="6350">
            <a:solidFill>
              <a:srgbClr val="E8E8E8"/>
            </a:solidFill>
            <a:prstDash val="solid"/>
          </a:ln>
        </p:spPr>
      </p:sp>
      <p:sp>
        <p:nvSpPr>
          <p:cNvPr id="16" name="text"/>
          <p:cNvSpPr txBox="1"/>
          <p:nvPr/>
        </p:nvSpPr>
        <p:spPr>
          <a:xfrm>
            <a:off x="777240" y="4105656"/>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7" name="text"/>
          <p:cNvSpPr txBox="1"/>
          <p:nvPr/>
        </p:nvSpPr>
        <p:spPr>
          <a:xfrm>
            <a:off x="1188720" y="4133088"/>
            <a:ext cx="2240280" cy="77724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DEVELOPING CAPABILITIES</a:t>
            </a:r>
            <a:endParaRPr lang="en-US" sz="1400" dirty="0"/>
          </a:p>
        </p:txBody>
      </p:sp>
      <p:sp>
        <p:nvSpPr>
          <p:cNvPr id="18" name="text"/>
          <p:cNvSpPr txBox="1"/>
          <p:nvPr/>
        </p:nvSpPr>
        <p:spPr>
          <a:xfrm>
            <a:off x="3611880" y="4096512"/>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capability yang sesuai strategi dan memperbaruinya.</a:t>
            </a:r>
            <a:endParaRPr lang="en-US" sz="1700" dirty="0"/>
          </a:p>
        </p:txBody>
      </p:sp>
      <p:sp>
        <p:nvSpPr>
          <p:cNvPr id="19" name="dot"/>
          <p:cNvSpPr/>
          <p:nvPr/>
        </p:nvSpPr>
        <p:spPr>
          <a:xfrm>
            <a:off x="6702552" y="4334256"/>
            <a:ext cx="274320" cy="274320"/>
          </a:xfrm>
          <a:prstGeom prst="ellipse">
            <a:avLst/>
          </a:prstGeom>
          <a:solidFill>
            <a:srgbClr val="141417"/>
          </a:solidFill>
          <a:ln w="6350">
            <a:solidFill>
              <a:srgbClr val="141417"/>
            </a:solidFill>
            <a:prstDash val="solid"/>
          </a:ln>
        </p:spPr>
      </p:sp>
      <p:pic>
        <p:nvPicPr>
          <p:cNvPr id="20" name="dot-icon" descr="preencoded.png">    </p:cNvPr>
          <p:cNvPicPr>
            <a:picLocks noChangeAspect="1"/>
          </p:cNvPicPr>
          <p:nvPr/>
        </p:nvPicPr>
        <p:blipFill>
          <a:blip r:embed="rId2"/>
          <a:stretch>
            <a:fillRect/>
          </a:stretch>
        </p:blipFill>
        <p:spPr>
          <a:xfrm>
            <a:off x="6762902" y="4394606"/>
            <a:ext cx="153619" cy="153619"/>
          </a:xfrm>
          <a:prstGeom prst="rect">
            <a:avLst/>
          </a:prstGeom>
        </p:spPr>
      </p:pic>
      <p:sp>
        <p:nvSpPr>
          <p:cNvPr id="21" name="card"/>
          <p:cNvSpPr/>
          <p:nvPr/>
        </p:nvSpPr>
        <p:spPr>
          <a:xfrm>
            <a:off x="502920" y="5193792"/>
            <a:ext cx="6766560" cy="1188720"/>
          </a:xfrm>
          <a:prstGeom prst="roundRect">
            <a:avLst>
              <a:gd name="adj" fmla="val 15385"/>
            </a:avLst>
          </a:prstGeom>
          <a:solidFill>
            <a:srgbClr val="141417"/>
          </a:solidFill>
          <a:ln w="6350">
            <a:solidFill>
              <a:srgbClr val="141417"/>
            </a:solidFill>
            <a:prstDash val="solid"/>
          </a:ln>
        </p:spPr>
      </p:sp>
      <p:sp>
        <p:nvSpPr>
          <p:cNvPr id="22" name="text"/>
          <p:cNvSpPr txBox="1"/>
          <p:nvPr/>
        </p:nvSpPr>
        <p:spPr>
          <a:xfrm>
            <a:off x="777240" y="5422392"/>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3" name="text"/>
          <p:cNvSpPr txBox="1"/>
          <p:nvPr/>
        </p:nvSpPr>
        <p:spPr>
          <a:xfrm>
            <a:off x="1188720" y="5449824"/>
            <a:ext cx="2240280" cy="77724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STRUCTURING THE ORGANIZATION</a:t>
            </a:r>
            <a:endParaRPr lang="en-US" sz="1400" dirty="0"/>
          </a:p>
        </p:txBody>
      </p:sp>
      <p:sp>
        <p:nvSpPr>
          <p:cNvPr id="24" name="text"/>
          <p:cNvSpPr txBox="1"/>
          <p:nvPr/>
        </p:nvSpPr>
        <p:spPr>
          <a:xfrm>
            <a:off x="3611880" y="5413248"/>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5" name="dot"/>
          <p:cNvSpPr/>
          <p:nvPr/>
        </p:nvSpPr>
        <p:spPr>
          <a:xfrm>
            <a:off x="6702552" y="5650992"/>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3"/>
          <a:stretch>
            <a:fillRect/>
          </a:stretch>
        </p:blipFill>
        <p:spPr>
          <a:xfrm>
            <a:off x="6762902" y="5711342"/>
            <a:ext cx="153619" cy="153619"/>
          </a:xfrm>
          <a:prstGeom prst="rect">
            <a:avLst/>
          </a:prstGeom>
        </p:spPr>
      </p:pic>
      <p:sp>
        <p:nvSpPr>
          <p:cNvPr id="27" name="card"/>
          <p:cNvSpPr/>
          <p:nvPr/>
        </p:nvSpPr>
        <p:spPr>
          <a:xfrm>
            <a:off x="7726680" y="2560320"/>
            <a:ext cx="3962095" cy="2505456"/>
          </a:xfrm>
          <a:prstGeom prst="roundRect">
            <a:avLst>
              <a:gd name="adj" fmla="val 7299"/>
            </a:avLst>
          </a:prstGeom>
          <a:solidFill>
            <a:srgbClr val="D4FC00"/>
          </a:solidFill>
          <a:ln w="6350">
            <a:solidFill>
              <a:srgbClr val="D4FC00"/>
            </a:solidFill>
            <a:prstDash val="solid"/>
          </a:ln>
        </p:spPr>
      </p:sp>
      <p:sp>
        <p:nvSpPr>
          <p:cNvPr id="28"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HASIL AKSI 1 DAN 2</a:t>
            </a:r>
            <a:endParaRPr lang="en-US" sz="1400" dirty="0"/>
          </a:p>
        </p:txBody>
      </p:sp>
      <p:sp>
        <p:nvSpPr>
          <p:cNvPr id="29" name="text"/>
          <p:cNvSpPr txBox="1"/>
          <p:nvPr/>
        </p:nvSpPr>
        <p:spPr>
          <a:xfrm>
            <a:off x="8001000" y="3200400"/>
            <a:ext cx="3413455" cy="1728216"/>
          </a:xfrm>
          <a:prstGeom prst="rect">
            <a:avLst/>
          </a:prstGeom>
          <a:noFill/>
          <a:ln/>
        </p:spPr>
        <p:txBody>
          <a:bodyPr wrap="square" lIns="0" tIns="0" rIns="0" bIns="0" rtlCol="0" anchor="t"/>
          <a:lstStyle/>
          <a:p>
            <a:pPr algn="l" indent="0" marL="0">
              <a:lnSpc>
                <a:spcPct val="110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0" name="card"/>
          <p:cNvSpPr/>
          <p:nvPr/>
        </p:nvSpPr>
        <p:spPr>
          <a:xfrm>
            <a:off x="7726680" y="5193792"/>
            <a:ext cx="3962095" cy="1188720"/>
          </a:xfrm>
          <a:prstGeom prst="roundRect">
            <a:avLst>
              <a:gd name="adj" fmla="val 15385"/>
            </a:avLst>
          </a:prstGeom>
          <a:solidFill>
            <a:srgbClr val="141417"/>
          </a:solidFill>
          <a:ln w="6350">
            <a:solidFill>
              <a:srgbClr val="141417"/>
            </a:solidFill>
            <a:prstDash val="solid"/>
          </a:ln>
        </p:spPr>
      </p:sp>
      <p:sp>
        <p:nvSpPr>
          <p:cNvPr id="31" name="text"/>
          <p:cNvSpPr txBox="1"/>
          <p:nvPr/>
        </p:nvSpPr>
        <p:spPr>
          <a:xfrm>
            <a:off x="8001000" y="5422392"/>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HASIL AKSI 3</a:t>
            </a:r>
            <a:endParaRPr lang="en-US" sz="1400" dirty="0"/>
          </a:p>
        </p:txBody>
      </p:sp>
      <p:sp>
        <p:nvSpPr>
          <p:cNvPr id="32" name="text"/>
          <p:cNvSpPr txBox="1"/>
          <p:nvPr/>
        </p:nvSpPr>
        <p:spPr>
          <a:xfrm>
            <a:off x="8001000" y="5696712"/>
            <a:ext cx="3413455" cy="640080"/>
          </a:xfrm>
          <a:prstGeom prst="rect">
            <a:avLst/>
          </a:prstGeom>
          <a:noFill/>
          <a:ln/>
        </p:spPr>
        <p:txBody>
          <a:bodyPr wrap="square" lIns="0" tIns="0" rIns="0" bIns="0" rtlCol="0" anchor="t"/>
          <a:lstStyle/>
          <a:p>
            <a:pPr algn="l" indent="0" marL="0">
              <a:lnSpc>
                <a:spcPct val="110000"/>
              </a:lnSpc>
              <a:buNone/>
            </a:pPr>
            <a:r>
              <a:rPr lang="en-US" sz="18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800" dirty="0"/>
          </a:p>
        </p:txBody>
      </p:sp>
      <p:sp>
        <p:nvSpPr>
          <p:cNvPr id="33" name="saling menopang"/>
          <p:cNvSpPr/>
          <p:nvPr/>
        </p:nvSpPr>
        <p:spPr>
          <a:xfrm>
            <a:off x="11002975" y="4882896"/>
            <a:ext cx="274320" cy="493776"/>
          </a:xfrm>
          <a:prstGeom prst="upDownArrow">
            <a:avLst/>
          </a:prstGeom>
          <a:solidFill>
            <a:srgbClr val="141417"/>
          </a:solidFill>
          <a:ln w="6350">
            <a:solidFill>
              <a:srgbClr val="141417"/>
            </a:solidFill>
            <a:prstDash val="solid"/>
          </a:ln>
        </p:spPr>
      </p:sp>
      <p:sp>
        <p:nvSpPr>
          <p:cNvPr id="34"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100000"/>
              </a:lnSpc>
              <a:buNone/>
            </a:pPr>
            <a:r>
              <a:rPr lang="en-US" sz="3600" dirty="0">
                <a:solidFill>
                  <a:srgbClr val="141417"/>
                </a:solidFill>
                <a:latin typeface="Outfit SemiBold" pitchFamily="34" charset="0"/>
                <a:ea typeface="Outfit SemiBold" pitchFamily="34" charset="-122"/>
                <a:cs typeface="Outfit SemiBold" pitchFamily="34" charset="-120"/>
              </a:rPr>
              <a:t>MENYUSUN TIM MANAJEMEN YANG KUAT</a:t>
            </a:r>
            <a:endParaRPr lang="en-US" sz="3600" dirty="0"/>
          </a:p>
        </p:txBody>
      </p:sp>
      <p:sp>
        <p:nvSpPr>
          <p:cNvPr id="8"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1"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2"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3"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PROFIL YANG DICARI</a:t>
            </a:r>
            <a:endParaRPr lang="en-US" sz="1400" dirty="0"/>
          </a:p>
        </p:txBody>
      </p:sp>
      <p:sp>
        <p:nvSpPr>
          <p:cNvPr id="14"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5"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6"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7"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CARA MEMPERKUAT TIM</a:t>
            </a:r>
            <a:endParaRPr lang="en-US" sz="1400" dirty="0"/>
          </a:p>
        </p:txBody>
      </p:sp>
      <p:sp>
        <p:nvSpPr>
          <p:cNvPr id="18"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19"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0"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1"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TUJUANNYA</a:t>
            </a:r>
            <a:endParaRPr lang="en-US" sz="1400" dirty="0"/>
          </a:p>
        </p:txBody>
      </p:sp>
      <p:sp>
        <p:nvSpPr>
          <p:cNvPr id="22"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SELEKSI DAN PENUGASAN</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PELATIHAN DAN ROTASI</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LINGKUNGAN DAN SUARA</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RETENSI DAN PEMBINAAN</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2800" dirty="0">
                <a:solidFill>
                  <a:srgbClr val="141417"/>
                </a:solidFill>
                <a:latin typeface="Outfit SemiBold" pitchFamily="34" charset="0"/>
                <a:ea typeface="Outfit SemiBold" pitchFamily="34" charset="-122"/>
                <a:cs typeface="Outfit SemiBold" pitchFamily="34" charset="-120"/>
              </a:rPr>
              <a:t>MEREKRUT, MELATIH, DAN MEMPERTAHANKAN KARYAWAN</a:t>
            </a:r>
            <a:endParaRPr lang="en-US" sz="28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TIGA JALAN MEMBANGUN ORGANIZATIONAL CAPABILITIES</a:t>
            </a:r>
            <a:endParaRPr lang="en-US" sz="3800" dirty="0"/>
          </a:p>
        </p:txBody>
      </p:sp>
      <p:sp>
        <p:nvSpPr>
          <p:cNvPr id="8" name="pill"/>
          <p:cNvSpPr/>
          <p:nvPr/>
        </p:nvSpPr>
        <p:spPr>
          <a:xfrm>
            <a:off x="502920" y="3429000"/>
            <a:ext cx="4023360" cy="402336"/>
          </a:xfrm>
          <a:prstGeom prst="roundRect">
            <a:avLst>
              <a:gd name="adj" fmla="val 113636"/>
            </a:avLst>
          </a:prstGeom>
          <a:solidFill>
            <a:srgbClr val="F4F4F4"/>
          </a:solidFill>
          <a:ln w="9525">
            <a:solidFill>
              <a:srgbClr val="141417"/>
            </a:solidFill>
            <a:prstDash val="solid"/>
          </a:ln>
        </p:spPr>
      </p:sp>
      <p:sp>
        <p:nvSpPr>
          <p:cNvPr id="9" name="text"/>
          <p:cNvSpPr txBox="1"/>
          <p:nvPr/>
        </p:nvSpPr>
        <p:spPr>
          <a:xfrm>
            <a:off x="612648" y="34290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BAB 4: VRIN DAN DYNAMIC CAPABILITIES</a:t>
            </a:r>
            <a:endParaRPr lang="en-US" sz="1300" dirty="0"/>
          </a:p>
        </p:txBody>
      </p:sp>
      <p:sp>
        <p:nvSpPr>
          <p:cNvPr id="10" name="card"/>
          <p:cNvSpPr/>
          <p:nvPr/>
        </p:nvSpPr>
        <p:spPr>
          <a:xfrm>
            <a:off x="502920" y="4023360"/>
            <a:ext cx="2194560" cy="1691640"/>
          </a:xfrm>
          <a:prstGeom prst="roundRect">
            <a:avLst>
              <a:gd name="adj" fmla="val 10811"/>
            </a:avLst>
          </a:prstGeom>
          <a:solidFill>
            <a:srgbClr val="E8E8E8"/>
          </a:solidFill>
          <a:ln w="6350">
            <a:solidFill>
              <a:srgbClr val="E8E8E8"/>
            </a:solidFill>
            <a:prstDash val="solid"/>
          </a:ln>
        </p:spPr>
      </p:sp>
      <p:sp>
        <p:nvSpPr>
          <p:cNvPr id="11" name="text"/>
          <p:cNvSpPr txBox="1"/>
          <p:nvPr/>
        </p:nvSpPr>
        <p:spPr>
          <a:xfrm>
            <a:off x="758952"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2" name="text"/>
          <p:cNvSpPr txBox="1"/>
          <p:nvPr/>
        </p:nvSpPr>
        <p:spPr>
          <a:xfrm>
            <a:off x="758952"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3" name="card"/>
          <p:cNvSpPr/>
          <p:nvPr/>
        </p:nvSpPr>
        <p:spPr>
          <a:xfrm>
            <a:off x="2825496" y="4023360"/>
            <a:ext cx="2194560" cy="1691640"/>
          </a:xfrm>
          <a:prstGeom prst="roundRect">
            <a:avLst>
              <a:gd name="adj" fmla="val 10811"/>
            </a:avLst>
          </a:prstGeom>
          <a:solidFill>
            <a:srgbClr val="D4FC00"/>
          </a:solidFill>
          <a:ln w="6350">
            <a:solidFill>
              <a:srgbClr val="D4FC00"/>
            </a:solidFill>
            <a:prstDash val="solid"/>
          </a:ln>
        </p:spPr>
      </p:sp>
      <p:sp>
        <p:nvSpPr>
          <p:cNvPr id="14" name="text"/>
          <p:cNvSpPr txBox="1"/>
          <p:nvPr/>
        </p:nvSpPr>
        <p:spPr>
          <a:xfrm>
            <a:off x="3081528"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5" name="text"/>
          <p:cNvSpPr txBox="1"/>
          <p:nvPr/>
        </p:nvSpPr>
        <p:spPr>
          <a:xfrm>
            <a:off x="3081528"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6" name="card"/>
          <p:cNvSpPr/>
          <p:nvPr/>
        </p:nvSpPr>
        <p:spPr>
          <a:xfrm>
            <a:off x="5148072" y="4023360"/>
            <a:ext cx="2194560" cy="1691640"/>
          </a:xfrm>
          <a:prstGeom prst="roundRect">
            <a:avLst>
              <a:gd name="adj" fmla="val 10811"/>
            </a:avLst>
          </a:prstGeom>
          <a:solidFill>
            <a:srgbClr val="141417"/>
          </a:solidFill>
          <a:ln w="6350">
            <a:solidFill>
              <a:srgbClr val="141417"/>
            </a:solidFill>
            <a:prstDash val="solid"/>
          </a:ln>
        </p:spPr>
      </p:sp>
      <p:sp>
        <p:nvSpPr>
          <p:cNvPr id="17" name="text"/>
          <p:cNvSpPr txBox="1"/>
          <p:nvPr/>
        </p:nvSpPr>
        <p:spPr>
          <a:xfrm>
            <a:off x="5404104"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18" name="text"/>
          <p:cNvSpPr txBox="1"/>
          <p:nvPr/>
        </p:nvSpPr>
        <p:spPr>
          <a:xfrm>
            <a:off x="5404104"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19" name="text"/>
          <p:cNvSpPr txBox="1"/>
          <p:nvPr/>
        </p:nvSpPr>
        <p:spPr>
          <a:xfrm>
            <a:off x="502920" y="576072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0"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CAPABILITY TUMBUH BERTAHAP</a:t>
            </a:r>
            <a:endParaRPr lang="en-US" sz="3800" dirty="0"/>
          </a:p>
        </p:txBody>
      </p:sp>
      <p:sp>
        <p:nvSpPr>
          <p:cNvPr id="8"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9"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0"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1" name="text"/>
          <p:cNvSpPr txBox="1"/>
          <p:nvPr/>
        </p:nvSpPr>
        <p:spPr>
          <a:xfrm>
            <a:off x="822960" y="3794760"/>
            <a:ext cx="3566160" cy="1357884"/>
          </a:xfrm>
          <a:prstGeom prst="rect">
            <a:avLst/>
          </a:prstGeom>
          <a:noFill/>
          <a:ln/>
        </p:spPr>
        <p:txBody>
          <a:bodyPr wrap="square" lIns="0" tIns="0" rIns="0" bIns="0" rtlCol="0" anchor="ctr"/>
          <a:lstStyle/>
          <a:p>
            <a:pPr algn="l" indent="0" marL="0">
              <a:lnSpc>
                <a:spcPct val="122000"/>
              </a:lnSpc>
              <a:buNone/>
            </a:pPr>
            <a:r>
              <a:rPr lang="en-US" sz="440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2"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3" name="track"/>
          <p:cNvSpPr/>
          <p:nvPr/>
        </p:nvSpPr>
        <p:spPr>
          <a:xfrm>
            <a:off x="6035040" y="3154680"/>
            <a:ext cx="384048" cy="1920240"/>
          </a:xfrm>
          <a:prstGeom prst="roundRect">
            <a:avLst>
              <a:gd name="adj" fmla="val 119048"/>
            </a:avLst>
          </a:prstGeom>
          <a:solidFill>
            <a:srgbClr val="E8E8E8"/>
          </a:solidFill>
          <a:ln w="6350">
            <a:solidFill>
              <a:srgbClr val="E8E8E8"/>
            </a:solidFill>
            <a:prstDash val="solid"/>
          </a:ln>
        </p:spPr>
      </p:sp>
      <p:sp>
        <p:nvSpPr>
          <p:cNvPr id="14" name="bar"/>
          <p:cNvSpPr/>
          <p:nvPr/>
        </p:nvSpPr>
        <p:spPr>
          <a:xfrm>
            <a:off x="6035040" y="4402836"/>
            <a:ext cx="384048" cy="672084"/>
          </a:xfrm>
          <a:prstGeom prst="roundRect">
            <a:avLst>
              <a:gd name="adj" fmla="val 119048"/>
            </a:avLst>
          </a:prstGeom>
          <a:solidFill>
            <a:srgbClr val="D4FC00"/>
          </a:solidFill>
          <a:ln w="6350">
            <a:solidFill>
              <a:srgbClr val="D4FC00"/>
            </a:solidFill>
            <a:prstDash val="solid"/>
          </a:ln>
        </p:spPr>
      </p:sp>
      <p:sp>
        <p:nvSpPr>
          <p:cNvPr id="15" name="text"/>
          <p:cNvSpPr txBox="1"/>
          <p:nvPr/>
        </p:nvSpPr>
        <p:spPr>
          <a:xfrm>
            <a:off x="6583680" y="4402836"/>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6" name="text"/>
          <p:cNvSpPr txBox="1"/>
          <p:nvPr/>
        </p:nvSpPr>
        <p:spPr>
          <a:xfrm>
            <a:off x="6583680" y="4768596"/>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7" name="track"/>
          <p:cNvSpPr/>
          <p:nvPr/>
        </p:nvSpPr>
        <p:spPr>
          <a:xfrm>
            <a:off x="8101584" y="3154680"/>
            <a:ext cx="384048" cy="1920240"/>
          </a:xfrm>
          <a:prstGeom prst="roundRect">
            <a:avLst>
              <a:gd name="adj" fmla="val 119048"/>
            </a:avLst>
          </a:prstGeom>
          <a:solidFill>
            <a:srgbClr val="E8E8E8"/>
          </a:solidFill>
          <a:ln w="6350">
            <a:solidFill>
              <a:srgbClr val="E8E8E8"/>
            </a:solidFill>
            <a:prstDash val="solid"/>
          </a:ln>
        </p:spPr>
      </p:sp>
      <p:sp>
        <p:nvSpPr>
          <p:cNvPr id="18" name="bar"/>
          <p:cNvSpPr/>
          <p:nvPr/>
        </p:nvSpPr>
        <p:spPr>
          <a:xfrm>
            <a:off x="8101584" y="3826764"/>
            <a:ext cx="384048" cy="1248156"/>
          </a:xfrm>
          <a:prstGeom prst="roundRect">
            <a:avLst>
              <a:gd name="adj" fmla="val 119048"/>
            </a:avLst>
          </a:prstGeom>
          <a:solidFill>
            <a:srgbClr val="D4FC00"/>
          </a:solidFill>
          <a:ln w="6350">
            <a:solidFill>
              <a:srgbClr val="D4FC00"/>
            </a:solidFill>
            <a:prstDash val="solid"/>
          </a:ln>
        </p:spPr>
      </p:sp>
      <p:sp>
        <p:nvSpPr>
          <p:cNvPr id="19" name="text"/>
          <p:cNvSpPr txBox="1"/>
          <p:nvPr/>
        </p:nvSpPr>
        <p:spPr>
          <a:xfrm>
            <a:off x="8650224" y="3826764"/>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0" name="text"/>
          <p:cNvSpPr txBox="1"/>
          <p:nvPr/>
        </p:nvSpPr>
        <p:spPr>
          <a:xfrm>
            <a:off x="8650224" y="4192524"/>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1" name="track"/>
          <p:cNvSpPr/>
          <p:nvPr/>
        </p:nvSpPr>
        <p:spPr>
          <a:xfrm>
            <a:off x="10168128" y="3154680"/>
            <a:ext cx="384048" cy="1920240"/>
          </a:xfrm>
          <a:prstGeom prst="roundRect">
            <a:avLst>
              <a:gd name="adj" fmla="val 119048"/>
            </a:avLst>
          </a:prstGeom>
          <a:solidFill>
            <a:srgbClr val="E8E8E8"/>
          </a:solidFill>
          <a:ln w="6350">
            <a:solidFill>
              <a:srgbClr val="E8E8E8"/>
            </a:solidFill>
            <a:prstDash val="solid"/>
          </a:ln>
        </p:spPr>
      </p:sp>
      <p:sp>
        <p:nvSpPr>
          <p:cNvPr id="22" name="bar"/>
          <p:cNvSpPr/>
          <p:nvPr/>
        </p:nvSpPr>
        <p:spPr>
          <a:xfrm>
            <a:off x="10168128" y="3250692"/>
            <a:ext cx="384048" cy="1824228"/>
          </a:xfrm>
          <a:prstGeom prst="roundRect">
            <a:avLst>
              <a:gd name="adj" fmla="val 119048"/>
            </a:avLst>
          </a:prstGeom>
          <a:solidFill>
            <a:srgbClr val="D4FC00"/>
          </a:solidFill>
          <a:ln w="6350">
            <a:solidFill>
              <a:srgbClr val="D4FC00"/>
            </a:solidFill>
            <a:prstDash val="solid"/>
          </a:ln>
        </p:spPr>
      </p:sp>
      <p:sp>
        <p:nvSpPr>
          <p:cNvPr id="23" name="text"/>
          <p:cNvSpPr txBox="1"/>
          <p:nvPr/>
        </p:nvSpPr>
        <p:spPr>
          <a:xfrm>
            <a:off x="10716768" y="3250692"/>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4" name="text"/>
          <p:cNvSpPr txBox="1"/>
          <p:nvPr/>
        </p:nvSpPr>
        <p:spPr>
          <a:xfrm>
            <a:off x="10716768" y="3616452"/>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5"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AKUISISI DAN KEMITRAAN MEMBELI WAKTU, BUKAN INTEGRASI</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2"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YANG UNGGUL ADALAH KEUNGGULAN ITU SENDIRI</a:t>
            </a:r>
            <a:endParaRPr lang="en-US" sz="3200" dirty="0"/>
          </a:p>
        </p:txBody>
      </p:sp>
      <p:sp>
        <p:nvSpPr>
          <p:cNvPr id="13" name="card"/>
          <p:cNvSpPr/>
          <p:nvPr/>
        </p:nvSpPr>
        <p:spPr>
          <a:xfrm>
            <a:off x="502920" y="4023360"/>
            <a:ext cx="4023360" cy="1600200"/>
          </a:xfrm>
          <a:prstGeom prst="roundRect">
            <a:avLst>
              <a:gd name="adj" fmla="val 11429"/>
            </a:avLst>
          </a:prstGeom>
          <a:solidFill>
            <a:srgbClr val="D4FC00"/>
          </a:solidFill>
          <a:ln w="6350">
            <a:solidFill>
              <a:srgbClr val="D4FC00"/>
            </a:solidFill>
            <a:prstDash val="solid"/>
          </a:ln>
        </p:spPr>
      </p:sp>
      <p:sp>
        <p:nvSpPr>
          <p:cNvPr id="14" name="text"/>
          <p:cNvSpPr txBox="1"/>
          <p:nvPr/>
        </p:nvSpPr>
        <p:spPr>
          <a:xfrm>
            <a:off x="731520" y="4023360"/>
            <a:ext cx="2103120" cy="1600200"/>
          </a:xfrm>
          <a:prstGeom prst="rect">
            <a:avLst/>
          </a:prstGeom>
          <a:noFill/>
          <a:ln/>
        </p:spPr>
        <p:txBody>
          <a:bodyPr wrap="square" lIns="0" tIns="0" rIns="0" bIns="0" rtlCol="0" anchor="ctr"/>
          <a:lstStyle/>
          <a:p>
            <a:pPr algn="l" indent="0" marL="0">
              <a:lnSpc>
                <a:spcPct val="122000"/>
              </a:lnSpc>
              <a:buNone/>
            </a:pPr>
            <a:r>
              <a:rPr lang="en-US" sz="3400" dirty="0">
                <a:solidFill>
                  <a:srgbClr val="141417"/>
                </a:solidFill>
                <a:latin typeface="Outfit Medium" pitchFamily="34" charset="0"/>
                <a:ea typeface="Outfit Medium" pitchFamily="34" charset="-122"/>
                <a:cs typeface="Outfit Medium" pitchFamily="34" charset="-120"/>
              </a:rPr>
              <a:t>4 minggu</a:t>
            </a:r>
            <a:endParaRPr lang="en-US" sz="3400" dirty="0"/>
          </a:p>
        </p:txBody>
      </p:sp>
      <p:sp>
        <p:nvSpPr>
          <p:cNvPr id="15" name="text"/>
          <p:cNvSpPr txBox="1"/>
          <p:nvPr/>
        </p:nvSpPr>
        <p:spPr>
          <a:xfrm>
            <a:off x="2926080" y="4023360"/>
            <a:ext cx="1463040" cy="160020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peritel lain 6 bulan</a:t>
            </a:r>
            <a:endParaRPr lang="en-US" sz="1400" dirty="0"/>
          </a:p>
        </p:txBody>
      </p:sp>
      <p:sp>
        <p:nvSpPr>
          <p:cNvPr id="16" name="card"/>
          <p:cNvSpPr/>
          <p:nvPr/>
        </p:nvSpPr>
        <p:spPr>
          <a:xfrm>
            <a:off x="4663440" y="4023360"/>
            <a:ext cx="5166360" cy="1600200"/>
          </a:xfrm>
          <a:prstGeom prst="roundRect">
            <a:avLst>
              <a:gd name="adj" fmla="val 11429"/>
            </a:avLst>
          </a:prstGeom>
          <a:solidFill>
            <a:srgbClr val="E8E8E8"/>
          </a:solidFill>
          <a:ln w="6350">
            <a:solidFill>
              <a:srgbClr val="E8E8E8"/>
            </a:solidFill>
            <a:prstDash val="solid"/>
          </a:ln>
        </p:spPr>
      </p:sp>
      <p:sp>
        <p:nvSpPr>
          <p:cNvPr id="17" name="card"/>
          <p:cNvSpPr/>
          <p:nvPr/>
        </p:nvSpPr>
        <p:spPr>
          <a:xfrm>
            <a:off x="4663440" y="4023360"/>
            <a:ext cx="2560320" cy="1600200"/>
          </a:xfrm>
          <a:prstGeom prst="roundRect">
            <a:avLst>
              <a:gd name="adj" fmla="val 11429"/>
            </a:avLst>
          </a:prstGeom>
          <a:solidFill>
            <a:srgbClr val="E8E8E8"/>
          </a:solidFill>
          <a:ln w="6350">
            <a:solidFill>
              <a:srgbClr val="E8E8E8"/>
            </a:solidFill>
            <a:prstDash val="solid"/>
          </a:ln>
        </p:spPr>
      </p:sp>
      <p:sp>
        <p:nvSpPr>
          <p:cNvPr id="18" name="text"/>
          <p:cNvSpPr txBox="1"/>
          <p:nvPr/>
        </p:nvSpPr>
        <p:spPr>
          <a:xfrm>
            <a:off x="491947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19" name="text"/>
          <p:cNvSpPr txBox="1"/>
          <p:nvPr/>
        </p:nvSpPr>
        <p:spPr>
          <a:xfrm>
            <a:off x="491947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20" name="card"/>
          <p:cNvSpPr/>
          <p:nvPr/>
        </p:nvSpPr>
        <p:spPr>
          <a:xfrm>
            <a:off x="7269480" y="4023360"/>
            <a:ext cx="2560320" cy="1600200"/>
          </a:xfrm>
          <a:prstGeom prst="roundRect">
            <a:avLst>
              <a:gd name="adj" fmla="val 11429"/>
            </a:avLst>
          </a:prstGeom>
          <a:solidFill>
            <a:srgbClr val="E8E8E8"/>
          </a:solidFill>
          <a:ln w="6350">
            <a:solidFill>
              <a:srgbClr val="E8E8E8"/>
            </a:solidFill>
            <a:prstDash val="solid"/>
          </a:ln>
        </p:spPr>
      </p:sp>
      <p:sp>
        <p:nvSpPr>
          <p:cNvPr id="21" name="text"/>
          <p:cNvSpPr txBox="1"/>
          <p:nvPr/>
        </p:nvSpPr>
        <p:spPr>
          <a:xfrm>
            <a:off x="752551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2" name="text"/>
          <p:cNvSpPr txBox="1"/>
          <p:nvPr/>
        </p:nvSpPr>
        <p:spPr>
          <a:xfrm>
            <a:off x="752551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3" name="card"/>
          <p:cNvSpPr/>
          <p:nvPr/>
        </p:nvSpPr>
        <p:spPr>
          <a:xfrm>
            <a:off x="9966960" y="4023360"/>
            <a:ext cx="1721815" cy="1600200"/>
          </a:xfrm>
          <a:prstGeom prst="roundRect">
            <a:avLst>
              <a:gd name="adj" fmla="val 11429"/>
            </a:avLst>
          </a:prstGeom>
          <a:solidFill>
            <a:srgbClr val="141417"/>
          </a:solidFill>
          <a:ln w="6350">
            <a:solidFill>
              <a:srgbClr val="141417"/>
            </a:solidFill>
            <a:prstDash val="solid"/>
          </a:ln>
        </p:spPr>
      </p:sp>
      <p:sp>
        <p:nvSpPr>
          <p:cNvPr id="24" name="text"/>
          <p:cNvSpPr txBox="1"/>
          <p:nvPr/>
        </p:nvSpPr>
        <p:spPr>
          <a:xfrm>
            <a:off x="10222992" y="4206240"/>
            <a:ext cx="1209751"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5" name="text"/>
          <p:cNvSpPr txBox="1"/>
          <p:nvPr/>
        </p:nvSpPr>
        <p:spPr>
          <a:xfrm>
            <a:off x="10222992" y="4809744"/>
            <a:ext cx="1209751" cy="73152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6" name="text"/>
          <p:cNvSpPr txBox="1"/>
          <p:nvPr/>
        </p:nvSpPr>
        <p:spPr>
          <a:xfrm>
            <a:off x="502920" y="576072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8"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01 OUTSOURCING</a:t>
            </a:r>
            <a:endParaRPr lang="en-US" sz="1400" dirty="0"/>
          </a:p>
        </p:txBody>
      </p:sp>
      <p:sp>
        <p:nvSpPr>
          <p:cNvPr id="9"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0"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2"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3"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02 TIPE STRUKTUR</a:t>
            </a:r>
            <a:endParaRPr lang="en-US" sz="1400" dirty="0"/>
          </a:p>
        </p:txBody>
      </p:sp>
      <p:sp>
        <p:nvSpPr>
          <p:cNvPr id="14"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5"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7"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18"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03 DELEGASI</a:t>
            </a:r>
            <a:endParaRPr lang="en-US" sz="1400" dirty="0"/>
          </a:p>
        </p:txBody>
      </p:sp>
      <p:sp>
        <p:nvSpPr>
          <p:cNvPr id="19"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0"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2"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3"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04 KOORDINASI</a:t>
            </a:r>
            <a:endParaRPr lang="en-US" sz="1400" dirty="0"/>
          </a:p>
        </p:txBody>
      </p:sp>
      <p:sp>
        <p:nvSpPr>
          <p:cNvPr id="24"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5"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6"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7"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28"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05 MITRA EKSTERNAL</a:t>
            </a:r>
            <a:endParaRPr lang="en-US" sz="1400" dirty="0"/>
          </a:p>
        </p:txBody>
      </p:sp>
      <p:sp>
        <p:nvSpPr>
          <p:cNvPr id="29"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0"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1"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2"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3"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STRUKTUR MENGIKUTI STRATEGI</a:t>
            </a:r>
            <a:endParaRPr lang="en-US" sz="3400" dirty="0"/>
          </a:p>
        </p:txBody>
      </p:sp>
      <p:sp>
        <p:nvSpPr>
          <p:cNvPr id="34"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DIKERJAKAN SENDIRI ATAU DI-OUTSOURCE</a:t>
            </a:r>
            <a:endParaRPr lang="en-US" sz="3800" dirty="0"/>
          </a:p>
        </p:txBody>
      </p:sp>
      <p:sp>
        <p:nvSpPr>
          <p:cNvPr id="14"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5"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16"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17" name="text"/>
          <p:cNvSpPr txBox="1"/>
          <p:nvPr/>
        </p:nvSpPr>
        <p:spPr>
          <a:xfrm>
            <a:off x="502920" y="3657600"/>
            <a:ext cx="5212080" cy="155448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18" name="Bekerja di laptop" descr="preencoded.png">    </p:cNvPr>
          <p:cNvPicPr>
            <a:picLocks noChangeAspect="1"/>
          </p:cNvPicPr>
          <p:nvPr/>
        </p:nvPicPr>
        <p:blipFill>
          <a:blip r:embed="rId2"/>
          <a:stretch>
            <a:fillRect/>
          </a:stretch>
        </p:blipFill>
        <p:spPr>
          <a:xfrm>
            <a:off x="502920" y="5212080"/>
            <a:ext cx="2377440" cy="1463040"/>
          </a:xfrm>
          <a:prstGeom prst="rect">
            <a:avLst/>
          </a:prstGeom>
        </p:spPr>
      </p:pic>
      <p:sp>
        <p:nvSpPr>
          <p:cNvPr id="19" name="badge"/>
          <p:cNvSpPr/>
          <p:nvPr/>
        </p:nvSpPr>
        <p:spPr>
          <a:xfrm>
            <a:off x="2514600" y="5349240"/>
            <a:ext cx="256032" cy="256032"/>
          </a:xfrm>
          <a:prstGeom prst="ellipse">
            <a:avLst/>
          </a:prstGeom>
          <a:solidFill>
            <a:srgbClr val="D4FC00"/>
          </a:solidFill>
          <a:ln w="6350">
            <a:solidFill>
              <a:srgbClr val="D4FC00"/>
            </a:solidFill>
            <a:prstDash val="solid"/>
          </a:ln>
        </p:spPr>
      </p:sp>
      <p:pic>
        <p:nvPicPr>
          <p:cNvPr id="20"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1"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2"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3" name="pill"/>
          <p:cNvSpPr/>
          <p:nvPr/>
        </p:nvSpPr>
        <p:spPr>
          <a:xfrm>
            <a:off x="9006840" y="4526280"/>
            <a:ext cx="278892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9116568" y="452628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FOKUS LEBIH TAJAM</a:t>
            </a:r>
            <a:endParaRPr lang="en-US" sz="1200" dirty="0"/>
          </a:p>
        </p:txBody>
      </p:sp>
      <p:sp>
        <p:nvSpPr>
          <p:cNvPr id="25" name="pill"/>
          <p:cNvSpPr/>
          <p:nvPr/>
        </p:nvSpPr>
        <p:spPr>
          <a:xfrm>
            <a:off x="9006840" y="5056632"/>
            <a:ext cx="2788920" cy="420624"/>
          </a:xfrm>
          <a:prstGeom prst="roundRect">
            <a:avLst>
              <a:gd name="adj" fmla="val 108696"/>
            </a:avLst>
          </a:prstGeom>
          <a:solidFill>
            <a:srgbClr val="D4FC00"/>
          </a:solidFill>
          <a:ln w="9525">
            <a:solidFill>
              <a:srgbClr val="141417"/>
            </a:solidFill>
            <a:prstDash val="solid"/>
          </a:ln>
        </p:spPr>
      </p:sp>
      <p:sp>
        <p:nvSpPr>
          <p:cNvPr id="26" name="text"/>
          <p:cNvSpPr txBox="1"/>
          <p:nvPr/>
        </p:nvSpPr>
        <p:spPr>
          <a:xfrm>
            <a:off x="9116568" y="5056632"/>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ORGANISASI LEBIH RAMPING</a:t>
            </a:r>
            <a:endParaRPr lang="en-US" sz="1200" dirty="0"/>
          </a:p>
        </p:txBody>
      </p:sp>
      <p:sp>
        <p:nvSpPr>
          <p:cNvPr id="27" name="pill"/>
          <p:cNvSpPr/>
          <p:nvPr/>
        </p:nvSpPr>
        <p:spPr>
          <a:xfrm>
            <a:off x="9006840" y="5586984"/>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558698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EMPAT TIPE STRUKTUR, SATU PRINSIP</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813816"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SIMPLE</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49142"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FUNCTIONAL</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84468"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MULTIDIVISIONAL</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19793"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MATRIX</a:t>
            </a:r>
            <a:endParaRPr lang="en-US" sz="1400" dirty="0"/>
          </a:p>
        </p:txBody>
      </p:sp>
      <p:sp>
        <p:nvSpPr>
          <p:cNvPr id="27" name="text"/>
          <p:cNvSpPr txBox="1"/>
          <p:nvPr/>
        </p:nvSpPr>
        <p:spPr>
          <a:xfrm>
            <a:off x="502920" y="5696712"/>
            <a:ext cx="7315200"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AKTIVITAS KRITIS MENJADI BUILDING BLOCKS STRUKTUR</a:t>
            </a:r>
            <a:endParaRPr lang="en-US" sz="15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SIMPLE → FUNCTIONAL → MULTIDIVISIONAL → MATRIX</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315200" cy="146304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MEMUSATKAN ATAU MENDELEGASIKAN KEPUTUSAN</a:t>
            </a:r>
            <a:endParaRPr lang="en-US" sz="3400" dirty="0"/>
          </a:p>
        </p:txBody>
      </p:sp>
      <p:sp>
        <p:nvSpPr>
          <p:cNvPr id="8" name="card"/>
          <p:cNvSpPr/>
          <p:nvPr/>
        </p:nvSpPr>
        <p:spPr>
          <a:xfrm>
            <a:off x="502920" y="2834640"/>
            <a:ext cx="3429000" cy="3383280"/>
          </a:xfrm>
          <a:prstGeom prst="roundRect">
            <a:avLst>
              <a:gd name="adj" fmla="val 5405"/>
            </a:avLst>
          </a:prstGeom>
          <a:solidFill>
            <a:srgbClr val="141417"/>
          </a:solidFill>
          <a:ln w="6350">
            <a:solidFill>
              <a:srgbClr val="141417"/>
            </a:solidFill>
            <a:prstDash val="solid"/>
          </a:ln>
        </p:spPr>
      </p:sp>
      <p:sp>
        <p:nvSpPr>
          <p:cNvPr id="9" name="text"/>
          <p:cNvSpPr txBox="1"/>
          <p:nvPr/>
        </p:nvSpPr>
        <p:spPr>
          <a:xfrm>
            <a:off x="795528" y="31272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0" name="text"/>
          <p:cNvSpPr txBox="1"/>
          <p:nvPr/>
        </p:nvSpPr>
        <p:spPr>
          <a:xfrm>
            <a:off x="795528" y="3429000"/>
            <a:ext cx="2843784" cy="2194560"/>
          </a:xfrm>
          <a:prstGeom prst="rect">
            <a:avLst/>
          </a:prstGeom>
          <a:noFill/>
          <a:ln/>
        </p:spPr>
        <p:txBody>
          <a:bodyPr wrap="square" lIns="0" tIns="0" rIns="0" bIns="0" rtlCol="0" anchor="b"/>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yang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Akuntabilitas jelas,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1" name="text"/>
          <p:cNvSpPr txBox="1"/>
          <p:nvPr/>
        </p:nvSpPr>
        <p:spPr>
          <a:xfrm>
            <a:off x="777240" y="576072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a:t>
            </a:r>
            <a:endParaRPr lang="en-US" sz="1400" dirty="0"/>
          </a:p>
        </p:txBody>
      </p:sp>
      <p:sp>
        <p:nvSpPr>
          <p:cNvPr id="12" name="card"/>
          <p:cNvSpPr/>
          <p:nvPr/>
        </p:nvSpPr>
        <p:spPr>
          <a:xfrm>
            <a:off x="4087368" y="2834640"/>
            <a:ext cx="3429000" cy="3383280"/>
          </a:xfrm>
          <a:prstGeom prst="roundRect">
            <a:avLst>
              <a:gd name="adj" fmla="val 5405"/>
            </a:avLst>
          </a:prstGeom>
          <a:solidFill>
            <a:srgbClr val="D4FC00"/>
          </a:solidFill>
          <a:ln w="6350">
            <a:solidFill>
              <a:srgbClr val="D4FC00"/>
            </a:solidFill>
            <a:prstDash val="solid"/>
          </a:ln>
        </p:spPr>
      </p:sp>
      <p:sp>
        <p:nvSpPr>
          <p:cNvPr id="13" name="text"/>
          <p:cNvSpPr txBox="1"/>
          <p:nvPr/>
        </p:nvSpPr>
        <p:spPr>
          <a:xfrm>
            <a:off x="4379976" y="31272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4" name="text"/>
          <p:cNvSpPr txBox="1"/>
          <p:nvPr/>
        </p:nvSpPr>
        <p:spPr>
          <a:xfrm>
            <a:off x="4379976" y="3429000"/>
            <a:ext cx="2843784" cy="2194560"/>
          </a:xfrm>
          <a:prstGeom prst="rect">
            <a:avLst/>
          </a:prstGeom>
          <a:noFill/>
          <a:ln/>
        </p:spPr>
        <p:txBody>
          <a:bodyPr wrap="square" lIns="0" tIns="0" rIns="0" bIns="0" rtlCol="0" anchor="b"/>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yang terdekat situasi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ide baru,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5" name="text"/>
          <p:cNvSpPr txBox="1"/>
          <p:nvPr/>
        </p:nvSpPr>
        <p:spPr>
          <a:xfrm>
            <a:off x="4361688" y="576072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DECENTRALIZED</a:t>
            </a:r>
            <a:endParaRPr lang="en-US" sz="1400" dirty="0"/>
          </a:p>
        </p:txBody>
      </p:sp>
      <p:pic>
        <p:nvPicPr>
          <p:cNvPr id="16"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7" name="text"/>
          <p:cNvSpPr txBox="1"/>
          <p:nvPr/>
        </p:nvSpPr>
        <p:spPr>
          <a:xfrm>
            <a:off x="502920" y="19202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KOORDINASI KE DALAM DAN KE LUAR</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ORGANISASI YANG MAMPU MENGEKSEKUSI</a:t>
            </a:r>
            <a:endParaRPr lang="en-US" sz="3800" dirty="0"/>
          </a:p>
        </p:txBody>
      </p:sp>
      <p:sp>
        <p:nvSpPr>
          <p:cNvPr id="8" name="card"/>
          <p:cNvSpPr/>
          <p:nvPr/>
        </p:nvSpPr>
        <p:spPr>
          <a:xfrm>
            <a:off x="502920" y="4023360"/>
            <a:ext cx="2194560" cy="1691640"/>
          </a:xfrm>
          <a:prstGeom prst="roundRect">
            <a:avLst>
              <a:gd name="adj" fmla="val 10811"/>
            </a:avLst>
          </a:prstGeom>
          <a:solidFill>
            <a:srgbClr val="E8E8E8"/>
          </a:solidFill>
          <a:ln w="6350">
            <a:solidFill>
              <a:srgbClr val="E8E8E8"/>
            </a:solidFill>
            <a:prstDash val="solid"/>
          </a:ln>
        </p:spPr>
      </p:sp>
      <p:sp>
        <p:nvSpPr>
          <p:cNvPr id="9" name="text"/>
          <p:cNvSpPr txBox="1"/>
          <p:nvPr/>
        </p:nvSpPr>
        <p:spPr>
          <a:xfrm>
            <a:off x="758952"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0" name="text"/>
          <p:cNvSpPr txBox="1"/>
          <p:nvPr/>
        </p:nvSpPr>
        <p:spPr>
          <a:xfrm>
            <a:off x="758952"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Tim manajemen dan karyawan yang tepat</a:t>
            </a:r>
            <a:endParaRPr lang="en-US" sz="1400" dirty="0"/>
          </a:p>
        </p:txBody>
      </p:sp>
      <p:sp>
        <p:nvSpPr>
          <p:cNvPr id="11" name="card"/>
          <p:cNvSpPr/>
          <p:nvPr/>
        </p:nvSpPr>
        <p:spPr>
          <a:xfrm>
            <a:off x="2825496" y="4023360"/>
            <a:ext cx="2194560" cy="1691640"/>
          </a:xfrm>
          <a:prstGeom prst="roundRect">
            <a:avLst>
              <a:gd name="adj" fmla="val 10811"/>
            </a:avLst>
          </a:prstGeom>
          <a:solidFill>
            <a:srgbClr val="D4FC00"/>
          </a:solidFill>
          <a:ln w="6350">
            <a:solidFill>
              <a:srgbClr val="D4FC00"/>
            </a:solidFill>
            <a:prstDash val="solid"/>
          </a:ln>
        </p:spPr>
      </p:sp>
      <p:sp>
        <p:nvSpPr>
          <p:cNvPr id="12" name="text"/>
          <p:cNvSpPr txBox="1"/>
          <p:nvPr/>
        </p:nvSpPr>
        <p:spPr>
          <a:xfrm>
            <a:off x="3081528"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3" name="text"/>
          <p:cNvSpPr txBox="1"/>
          <p:nvPr/>
        </p:nvSpPr>
        <p:spPr>
          <a:xfrm>
            <a:off x="3081528"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4" name="card"/>
          <p:cNvSpPr/>
          <p:nvPr/>
        </p:nvSpPr>
        <p:spPr>
          <a:xfrm>
            <a:off x="5148072" y="4023360"/>
            <a:ext cx="2194560" cy="1691640"/>
          </a:xfrm>
          <a:prstGeom prst="roundRect">
            <a:avLst>
              <a:gd name="adj" fmla="val 10811"/>
            </a:avLst>
          </a:prstGeom>
          <a:solidFill>
            <a:srgbClr val="141417"/>
          </a:solidFill>
          <a:ln w="6350">
            <a:solidFill>
              <a:srgbClr val="141417"/>
            </a:solidFill>
            <a:prstDash val="solid"/>
          </a:ln>
        </p:spPr>
      </p:sp>
      <p:sp>
        <p:nvSpPr>
          <p:cNvPr id="15" name="text"/>
          <p:cNvSpPr txBox="1"/>
          <p:nvPr/>
        </p:nvSpPr>
        <p:spPr>
          <a:xfrm>
            <a:off x="5404104"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6" name="text"/>
          <p:cNvSpPr txBox="1"/>
          <p:nvPr/>
        </p:nvSpPr>
        <p:spPr>
          <a:xfrm>
            <a:off x="5404104"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Lima keputusan menata pekerjaan</a:t>
            </a:r>
            <a:endParaRPr lang="en-US" sz="1400" dirty="0"/>
          </a:p>
        </p:txBody>
      </p:sp>
      <p:sp>
        <p:nvSpPr>
          <p:cNvPr id="17"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8" name="pill"/>
          <p:cNvSpPr/>
          <p:nvPr/>
        </p:nvSpPr>
        <p:spPr>
          <a:xfrm>
            <a:off x="502920" y="5943600"/>
            <a:ext cx="2212848" cy="402336"/>
          </a:xfrm>
          <a:prstGeom prst="roundRect">
            <a:avLst>
              <a:gd name="adj" fmla="val 113636"/>
            </a:avLst>
          </a:prstGeom>
          <a:solidFill>
            <a:srgbClr val="F4F4F4"/>
          </a:solidFill>
          <a:ln w="9525">
            <a:solidFill>
              <a:srgbClr val="141417"/>
            </a:solidFill>
            <a:prstDash val="solid"/>
          </a:ln>
        </p:spPr>
      </p:sp>
      <p:sp>
        <p:nvSpPr>
          <p:cNvPr id="19" name="text"/>
          <p:cNvSpPr txBox="1"/>
          <p:nvPr/>
        </p:nvSpPr>
        <p:spPr>
          <a:xfrm>
            <a:off x="61264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MENGGERAKKAN</a:t>
            </a:r>
            <a:endParaRPr lang="en-US" sz="1200" dirty="0"/>
          </a:p>
        </p:txBody>
      </p:sp>
      <p:sp>
        <p:nvSpPr>
          <p:cNvPr id="20" name="pill"/>
          <p:cNvSpPr/>
          <p:nvPr/>
        </p:nvSpPr>
        <p:spPr>
          <a:xfrm>
            <a:off x="2834640" y="5943600"/>
            <a:ext cx="2212848" cy="402336"/>
          </a:xfrm>
          <a:prstGeom prst="roundRect">
            <a:avLst>
              <a:gd name="adj" fmla="val 113636"/>
            </a:avLst>
          </a:prstGeom>
          <a:solidFill>
            <a:srgbClr val="F4F4F4"/>
          </a:solidFill>
          <a:ln w="9525">
            <a:solidFill>
              <a:srgbClr val="141417"/>
            </a:solidFill>
            <a:prstDash val="solid"/>
          </a:ln>
        </p:spPr>
      </p:sp>
      <p:sp>
        <p:nvSpPr>
          <p:cNvPr id="21" name="text"/>
          <p:cNvSpPr txBox="1"/>
          <p:nvPr/>
        </p:nvSpPr>
        <p:spPr>
          <a:xfrm>
            <a:off x="294436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MENOPANG</a:t>
            </a:r>
            <a:endParaRPr lang="en-US" sz="1200" dirty="0"/>
          </a:p>
        </p:txBody>
      </p:sp>
      <p:sp>
        <p:nvSpPr>
          <p:cNvPr id="22" name="pill"/>
          <p:cNvSpPr/>
          <p:nvPr/>
        </p:nvSpPr>
        <p:spPr>
          <a:xfrm>
            <a:off x="5166360" y="5943600"/>
            <a:ext cx="2212848" cy="402336"/>
          </a:xfrm>
          <a:prstGeom prst="roundRect">
            <a:avLst>
              <a:gd name="adj" fmla="val 113636"/>
            </a:avLst>
          </a:prstGeom>
          <a:solidFill>
            <a:srgbClr val="D4FC00"/>
          </a:solidFill>
          <a:ln w="9525">
            <a:solidFill>
              <a:srgbClr val="141417"/>
            </a:solidFill>
            <a:prstDash val="solid"/>
          </a:ln>
        </p:spPr>
      </p:sp>
      <p:sp>
        <p:nvSpPr>
          <p:cNvPr id="23" name="text"/>
          <p:cNvSpPr txBox="1"/>
          <p:nvPr/>
        </p:nvSpPr>
        <p:spPr>
          <a:xfrm>
            <a:off x="527608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4DX · DISIPLIN EKSEKUSI</a:t>
            </a:r>
            <a:endParaRPr lang="en-US" sz="1200" dirty="0"/>
          </a:p>
        </p:txBody>
      </p:sp>
      <p:pic>
        <p:nvPicPr>
          <p:cNvPr id="24"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100000"/>
              </a:lnSpc>
              <a:buNone/>
            </a:pPr>
            <a:r>
              <a:rPr lang="en-US" sz="4000" dirty="0">
                <a:solidFill>
                  <a:srgbClr val="141417"/>
                </a:solidFill>
                <a:latin typeface="Outfit SemiBold" pitchFamily="34" charset="0"/>
                <a:ea typeface="Outfit SemiBold" pitchFamily="34" charset="-122"/>
                <a:cs typeface="Outfit SemiBold"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2026-10-31T05:35:21Z</dcterms:created>
  <dcterms:modified xsi:type="dcterms:W3CDTF">2026-10-31T05:35:21Z</dcterms:modified>
</cp:coreProperties>
</file>