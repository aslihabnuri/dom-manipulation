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08f7eb2e-16a7-bb6a-5f63-25a16b1a7beb}">
          <p14:sldIdLst>
            <p14:sldId id="256"/>
            <p14:sldId id="257"/>
            <p14:sldId id="258"/>
          </p14:sldIdLst>
        </p14:section>
        <p14:section name="01 Landasan" id="{6d557d93-bd64-01ea-e705-0b58c71c3e4a}">
          <p14:sldIdLst>
            <p14:sldId id="259"/>
            <p14:sldId id="260"/>
            <p14:sldId id="261"/>
            <p14:sldId id="262"/>
          </p14:sldIdLst>
        </p14:section>
        <p14:section name="02 Staffing" id="{9d868e23-62d5-0730-1f0d-e364d5ca7b0b}">
          <p14:sldIdLst>
            <p14:sldId id="263"/>
            <p14:sldId id="264"/>
          </p14:sldIdLst>
        </p14:section>
        <p14:section name="03 Capabilities" id="{79cfe0f4-c0ca-2707-6cd6-e2cd54bc97ed}">
          <p14:sldIdLst>
            <p14:sldId id="265"/>
            <p14:sldId id="266"/>
            <p14:sldId id="267"/>
            <p14:sldId id="268"/>
          </p14:sldIdLst>
        </p14:section>
        <p14:section name="04 Structure" id="{e309636d-91aa-2100-b43d-17c7ae5f62b5}">
          <p14:sldIdLst>
            <p14:sldId id="269"/>
            <p14:sldId id="270"/>
            <p14:sldId id="271"/>
            <p14:sldId id="272"/>
            <p14:sldId id="273"/>
          </p14:sldIdLst>
        </p14:section>
        <p14:section name="05 Sintesis" id="{f51b9ee7-23d6-b42e-4f9e-2d015b271670}">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Perkenalkan kelompok dan topik: Bab 10, bab pertama dari tiga bab tentang eksekusi strategi (Bab 10 sampai 12). Satu kalimat pengantar, lalu ke alur pembahasan.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alur dan tegaskan keterkaitannya: tiap bagian adalah prasyarat bagian berikutnya. Pembagian pembicara: Aslih (slide 1 sampai 7 dan 19 sampai 20), Tifani (8 sampai 9), Happy (10 sampai 13), Dara (14 sampai 18). Sekitar 15 menit. Bila waktu dipotong, lewati slide 5 dan 11; slide 6 dan 7 dapat digabung menjadi satu penjelasan. Slide 19 adalah titik lompat bila diminta langsung ke kesimpulan.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Peta kerangka bab, sesuai kebiasaan Pak Rangga yang meminta kerangka dibahas lebih dulu. Figure 10.1 di slide 6, Figure 10.2 di slide 7, Figure 10.3 di slide 14, Table 10.1 di slide 17. Tiga jalan capability di slide 10, empat tipe struktur di slide 16, tiga jalur kemitraan di slide 12, dua tanda eksekusi di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dengan sesi sebelumnya lewat analogi kapal Pak Rangga. Merumuskan bersifat analitis; mengeksekusi bersifat operasional dan menyangkut orang. Dalam proses lima tahap Bab 2, eksekusi adalah tahap keempat dan menuntut keterampilan manajerial yang berbeda. Kutipan Lecuona menjadi tesis presentasi.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Alasan eksekusi lebih sulit: banyak orang dan aktivitas yang saling bergantung, tidak ada resep tunggal, dan ada resistensi yang menuntut kepemimpinan. Dua tanda eksekusi yang baik menjadi alat diagnosis.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10.1 digambar ulang mengikuti bentuk buku: heksagon pusat dikelilingi sepuluh tugas. Jangan membaca sepuluh tugas satu per satu. Sebutkan tiga yang berwarna lime, lalu katakan tujuh sisanya dibahas Kelompok 4 (Bab 11) dan Kelompok 5 (Bab 12). Interpretasi penyaji atas urutan ini: sistem insentif hanya berguna bila orangnya sudah tepat.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10.2 adalah peta Bab 10. Mengapa ketiganya didahulukan: eksekusi yang mahir bergantung pertama-tama pada organisasi yang mampu, dan strategic assets terdepresiasi sehingga pembaruan diperlukan bahkan saat strategi tidak berubah.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1 bagian pertama. Mengapa penting: tanpa tim yang kapabel dan berorientasi hasil, tenggat meleset, upaya salah arah, dan mutu kerja di bawah eksekutif yang lemah ikut merosot. Tujuan akhir bukan satu bintang, melainkan critical mass manajer yang saling memperkuat (Collins, Good to Great). Contoh IC 10.1: Mary Barra, Satya Nadella, Rosalind Brewer.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Delapan praktik buku dipadatkan menjadi empat pasang. Deloitte (IC 10.2): jalur jelas menuju partner, milestone school, dan sponsorship. Pelatihan adalah bagian eksekusi strategi; bila strategi menuntut skill baru, pelatihan harus didanai memadai.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2. Tiga pendekatan buku dibedakan lewat kecepatan, kendali, dan risiko; pembacaan itu adalah cara baca penyaji. Analogi buku: mempelajari Shaun White tidak membuat seseorang juara halfpipe. Dua slide berikutnya memperdalam jalur internal dan eksternal.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Buku menamai dua tahap: ability lalu tried-and-true competence; tahap ketiga pada grafik adalah penjagaan dan pembaruan (dynamic capability, Helfat &amp; Peteraf, 2003). Jalur evolusioner menjelaskan mengapa capability tidak bisa dibeli semalam. Dua bentuk tindakan manajerial: memperkuat basis skill dan pengetahuan (semua level), dan mengoordinasikan kelompok kerja lintas unit (eksekutif senior yang punya wibawa). Williams-Sonoma mencatat pendapatan US$8,7 miliar pada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jalur eksternal. Paradoks akuisisi: yang dibeli adalah rutinitas yang tacit, sehingga integrasi menjadi titik rawan. Pilih mitra dari gaya manajemen dan budaya, bukan hanya aset; pembelajaran sepihak merusak kepercayaan. Kemitraan lintas industri lebih aman: produsen mobil dengan Waymo, Nvidia, Mobileye; Nike dengan Bluesign. Capability yang dibeli tetap harus ditanam ke rutinitas sendiri.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Kapsul 10.3. Semua angka diberi pembanding agar tidak menjadi klaim kosong. Produksi lot kecil dekat kantor pusat, rantai pasok terintegrasi tanpa gudang, nol iklan tetapi lokasi premium, pengiriman hingga dua kali seminggu. Tantangan: H&amp;M, Uniqlo, Shein, belanja daring. Tautkan ke empat uji resource Bab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3 dipecah menjadi lima keputusan. Struktur adalah pengaturan formal dan informal atas tugas, tanggung jawab, garis wewenang, dan pelaporan (buku merujuk Chandler, 1962, untuk definisi ini). Struktur yang tidak cocok menaikkan biaya birokrasi dan merusak koordinasi; desain yang baik menurunkan biaya dan mempercepat pembangunan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1. Tiga manfaat eksekusi dari outsourcing (pil di panel lime) dan satu batasnya (Bab 6). Pertanyaannya bukan bisakah di-outsource, melainkan apakah ini inti strategi kami. Contoh lain: 83 persen dari sepuluh farmasi terbesar meng-outsource pengelolaan data klinis; Nike; Broadcom.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2. Empat tipe dibaca sebagai spektrum evolusi. Catatan buku: tipe struktur bergantung pada ukuran dan kompleksitas, bukan pada generic strategy yang dipilih. Contoh: GM kini satu struktur fungsional untuk semua merek; Texas Instruments, Caterpillar, Philips memakai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3. Pilihan bergantung pada letak pengetahuan dan kebutuhan kecepatan. Contoh: karyawan Starbucks membagikan kopi gratis saat kasir offline; buyer TJX memangkas anggarannya sendiri. Untuk cross-business strategic fit, fungsi yang menuntut koordinasi erat disentralisasi. Tren: struktur makin datar karena aset paling bernilai adalah intellectual capital karyawan.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4 dan 5 menutup aksi 3. Hambatan: dalam struktur terdesentralisasi, kepala departemen cenderung mendahulukan unitnya. Membangun organisasi berarti merajut upaya orang dan kelompok secara sadar; ini tugas manajemen senior.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sintesis; bila waktu habis, lompat ke sini. Tautkan ke narasi Pak Rangga: pergeseran dari resource-based ke knowledge-based, dan dari competitive advantage ke collaborative advantage; bab menyediakan kaitnya lewat tacit knowledge, socially complex capabilities, intellectual capital karyawan, serta network dan ecosystem (Kanter, 1994, dikutip bab sebagai endnote 27). Jembatan: Bab 11 menggerakkan organisasi (tugas 4 sampai 8), Bab 12 menopangnya dengan budaya dan kepemimpinan (tugas 9 dan 10), dan 4DX memberi disiplin eksekusi di tingkat tim (fokus pada yang terpenting, lead measures, scoreboard, akuntabilitas berkala), yang akan dibahas Kelompok 3 pada presentasi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4F4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4F4F4"/>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2.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7"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8" name="toggle"/>
          <p:cNvSpPr/>
          <p:nvPr/>
        </p:nvSpPr>
        <p:spPr>
          <a:xfrm>
            <a:off x="502920" y="530352"/>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804672" y="566928"/>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1"/>
          <a:stretch>
            <a:fillRect/>
          </a:stretch>
        </p:blipFill>
        <p:spPr>
          <a:xfrm>
            <a:off x="845820" y="608076"/>
            <a:ext cx="118872" cy="118872"/>
          </a:xfrm>
          <a:prstGeom prst="rect">
            <a:avLst/>
          </a:prstGeom>
        </p:spPr>
      </p:pic>
      <p:sp>
        <p:nvSpPr>
          <p:cNvPr id="11" name="text"/>
          <p:cNvSpPr txBox="1"/>
          <p:nvPr/>
        </p:nvSpPr>
        <p:spPr>
          <a:xfrm>
            <a:off x="502920" y="914400"/>
            <a:ext cx="6400800" cy="173736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BUILDING AN ORGANIZATION CAPABLE OF GOOD STRATEGY EXECUTION</a:t>
            </a:r>
            <a:endParaRPr lang="en-US" sz="3400" dirty="0"/>
          </a:p>
        </p:txBody>
      </p:sp>
      <p:sp>
        <p:nvSpPr>
          <p:cNvPr id="12" name="pill"/>
          <p:cNvSpPr/>
          <p:nvPr/>
        </p:nvSpPr>
        <p:spPr>
          <a:xfrm>
            <a:off x="502920" y="2743200"/>
            <a:ext cx="4023360" cy="402336"/>
          </a:xfrm>
          <a:prstGeom prst="roundRect">
            <a:avLst>
              <a:gd name="adj" fmla="val 113636"/>
            </a:avLst>
          </a:prstGeom>
          <a:solidFill>
            <a:srgbClr val="F4F4F4"/>
          </a:solidFill>
          <a:ln w="9525">
            <a:solidFill>
              <a:srgbClr val="141417"/>
            </a:solidFill>
            <a:prstDash val="solid"/>
          </a:ln>
        </p:spPr>
      </p:sp>
      <p:sp>
        <p:nvSpPr>
          <p:cNvPr id="13" name="text"/>
          <p:cNvSpPr txBox="1"/>
          <p:nvPr/>
        </p:nvSpPr>
        <p:spPr>
          <a:xfrm>
            <a:off x="612648" y="2743200"/>
            <a:ext cx="3803904" cy="402336"/>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PEOPLE, CAPABILITIES, AND STRUCTURE</a:t>
            </a:r>
            <a:endParaRPr lang="en-US" sz="1300" dirty="0"/>
          </a:p>
        </p:txBody>
      </p:sp>
      <p:sp>
        <p:nvSpPr>
          <p:cNvPr id="14" name="text"/>
          <p:cNvSpPr txBox="1"/>
          <p:nvPr/>
        </p:nvSpPr>
        <p:spPr>
          <a:xfrm>
            <a:off x="502920" y="3703320"/>
            <a:ext cx="3657600"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5A5A5F"/>
                </a:solidFill>
                <a:latin typeface="Outfit Medium" pitchFamily="34" charset="0"/>
                <a:ea typeface="Outfit Medium" pitchFamily="34" charset="-122"/>
                <a:cs typeface="Outfit Medium" pitchFamily="34" charset="-120"/>
              </a:rPr>
              <a:t>KELOMPOK 3</a:t>
            </a:r>
            <a:endParaRPr lang="en-US" sz="1400" dirty="0"/>
          </a:p>
        </p:txBody>
      </p:sp>
      <p:sp>
        <p:nvSpPr>
          <p:cNvPr id="15" name="text"/>
          <p:cNvSpPr txBox="1"/>
          <p:nvPr/>
        </p:nvSpPr>
        <p:spPr>
          <a:xfrm>
            <a:off x="502920" y="4114800"/>
            <a:ext cx="3291840" cy="329184"/>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Aslih Abnuri</a:t>
            </a:r>
            <a:endParaRPr lang="en-US" sz="1600" dirty="0"/>
          </a:p>
        </p:txBody>
      </p:sp>
      <p:sp>
        <p:nvSpPr>
          <p:cNvPr id="16" name="text"/>
          <p:cNvSpPr txBox="1"/>
          <p:nvPr/>
        </p:nvSpPr>
        <p:spPr>
          <a:xfrm>
            <a:off x="502920" y="4480560"/>
            <a:ext cx="3291840" cy="292608"/>
          </a:xfrm>
          <a:prstGeom prst="rect">
            <a:avLst/>
          </a:prstGeom>
          <a:noFill/>
          <a:ln/>
        </p:spPr>
        <p:txBody>
          <a:bodyPr wrap="square" lIns="0" tIns="0" rIns="0" bIns="0" rtlCol="0" anchor="t"/>
          <a:lstStyle/>
          <a:p>
            <a:pPr algn="l" indent="0" marL="0">
              <a:lnSpc>
                <a:spcPct val="122000"/>
              </a:lnSpc>
              <a:buNone/>
            </a:pPr>
            <a:r>
              <a:rPr lang="en-US" sz="1400" dirty="0">
                <a:solidFill>
                  <a:srgbClr val="5A5A5F"/>
                </a:solidFill>
                <a:latin typeface="Outfit" pitchFamily="34" charset="0"/>
                <a:ea typeface="Outfit" pitchFamily="34" charset="-122"/>
                <a:cs typeface="Outfit" pitchFamily="34" charset="-120"/>
              </a:rPr>
              <a:t>25/574338/PEK/31801</a:t>
            </a:r>
            <a:endParaRPr lang="en-US" sz="1400" dirty="0"/>
          </a:p>
        </p:txBody>
      </p:sp>
      <p:sp>
        <p:nvSpPr>
          <p:cNvPr id="17" name="text"/>
          <p:cNvSpPr txBox="1"/>
          <p:nvPr/>
        </p:nvSpPr>
        <p:spPr>
          <a:xfrm>
            <a:off x="4023360" y="4114800"/>
            <a:ext cx="3291840" cy="329184"/>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Tifani Puspita</a:t>
            </a:r>
            <a:endParaRPr lang="en-US" sz="1600" dirty="0"/>
          </a:p>
        </p:txBody>
      </p:sp>
      <p:sp>
        <p:nvSpPr>
          <p:cNvPr id="18" name="text"/>
          <p:cNvSpPr txBox="1"/>
          <p:nvPr/>
        </p:nvSpPr>
        <p:spPr>
          <a:xfrm>
            <a:off x="4023360" y="4480560"/>
            <a:ext cx="3291840" cy="292608"/>
          </a:xfrm>
          <a:prstGeom prst="rect">
            <a:avLst/>
          </a:prstGeom>
          <a:noFill/>
          <a:ln/>
        </p:spPr>
        <p:txBody>
          <a:bodyPr wrap="square" lIns="0" tIns="0" rIns="0" bIns="0" rtlCol="0" anchor="t"/>
          <a:lstStyle/>
          <a:p>
            <a:pPr algn="l" indent="0" marL="0">
              <a:lnSpc>
                <a:spcPct val="122000"/>
              </a:lnSpc>
              <a:buNone/>
            </a:pPr>
            <a:r>
              <a:rPr lang="en-US" sz="1400" dirty="0">
                <a:solidFill>
                  <a:srgbClr val="5A5A5F"/>
                </a:solidFill>
                <a:latin typeface="Outfit" pitchFamily="34" charset="0"/>
                <a:ea typeface="Outfit" pitchFamily="34" charset="-122"/>
                <a:cs typeface="Outfit" pitchFamily="34" charset="-120"/>
              </a:rPr>
              <a:t>25/574443/PEK/31851</a:t>
            </a:r>
            <a:endParaRPr lang="en-US" sz="1400" dirty="0"/>
          </a:p>
        </p:txBody>
      </p:sp>
      <p:sp>
        <p:nvSpPr>
          <p:cNvPr id="19" name="text"/>
          <p:cNvSpPr txBox="1"/>
          <p:nvPr/>
        </p:nvSpPr>
        <p:spPr>
          <a:xfrm>
            <a:off x="502920" y="5029200"/>
            <a:ext cx="3291840" cy="329184"/>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Happy Dinithasari</a:t>
            </a:r>
            <a:endParaRPr lang="en-US" sz="1600" dirty="0"/>
          </a:p>
        </p:txBody>
      </p:sp>
      <p:sp>
        <p:nvSpPr>
          <p:cNvPr id="20" name="text"/>
          <p:cNvSpPr txBox="1"/>
          <p:nvPr/>
        </p:nvSpPr>
        <p:spPr>
          <a:xfrm>
            <a:off x="502920" y="5394960"/>
            <a:ext cx="3291840" cy="292608"/>
          </a:xfrm>
          <a:prstGeom prst="rect">
            <a:avLst/>
          </a:prstGeom>
          <a:noFill/>
          <a:ln/>
        </p:spPr>
        <p:txBody>
          <a:bodyPr wrap="square" lIns="0" tIns="0" rIns="0" bIns="0" rtlCol="0" anchor="t"/>
          <a:lstStyle/>
          <a:p>
            <a:pPr algn="l" indent="0" marL="0">
              <a:lnSpc>
                <a:spcPct val="122000"/>
              </a:lnSpc>
              <a:buNone/>
            </a:pPr>
            <a:r>
              <a:rPr lang="en-US" sz="1400" dirty="0">
                <a:solidFill>
                  <a:srgbClr val="5A5A5F"/>
                </a:solidFill>
                <a:latin typeface="Outfit" pitchFamily="34" charset="0"/>
                <a:ea typeface="Outfit" pitchFamily="34" charset="-122"/>
                <a:cs typeface="Outfit" pitchFamily="34" charset="-120"/>
              </a:rPr>
              <a:t>25/574400/PEK/31831</a:t>
            </a:r>
            <a:endParaRPr lang="en-US" sz="1400" dirty="0"/>
          </a:p>
        </p:txBody>
      </p:sp>
      <p:sp>
        <p:nvSpPr>
          <p:cNvPr id="21" name="text"/>
          <p:cNvSpPr txBox="1"/>
          <p:nvPr/>
        </p:nvSpPr>
        <p:spPr>
          <a:xfrm>
            <a:off x="4023360" y="5029200"/>
            <a:ext cx="3291840" cy="329184"/>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Dara Astrini Rahayu K</a:t>
            </a:r>
            <a:endParaRPr lang="en-US" sz="1600" dirty="0"/>
          </a:p>
        </p:txBody>
      </p:sp>
      <p:sp>
        <p:nvSpPr>
          <p:cNvPr id="22" name="text"/>
          <p:cNvSpPr txBox="1"/>
          <p:nvPr/>
        </p:nvSpPr>
        <p:spPr>
          <a:xfrm>
            <a:off x="4023360" y="5394960"/>
            <a:ext cx="3291840" cy="292608"/>
          </a:xfrm>
          <a:prstGeom prst="rect">
            <a:avLst/>
          </a:prstGeom>
          <a:noFill/>
          <a:ln/>
        </p:spPr>
        <p:txBody>
          <a:bodyPr wrap="square" lIns="0" tIns="0" rIns="0" bIns="0" rtlCol="0" anchor="t"/>
          <a:lstStyle/>
          <a:p>
            <a:pPr algn="l" indent="0" marL="0">
              <a:lnSpc>
                <a:spcPct val="122000"/>
              </a:lnSpc>
              <a:buNone/>
            </a:pPr>
            <a:r>
              <a:rPr lang="en-US" sz="1400" dirty="0">
                <a:solidFill>
                  <a:srgbClr val="5A5A5F"/>
                </a:solidFill>
                <a:latin typeface="Outfit" pitchFamily="34" charset="0"/>
                <a:ea typeface="Outfit" pitchFamily="34" charset="-122"/>
                <a:cs typeface="Outfit" pitchFamily="34" charset="-120"/>
              </a:rPr>
              <a:t>25/574437/PEK/31847</a:t>
            </a:r>
            <a:endParaRPr lang="en-US" sz="1400" dirty="0"/>
          </a:p>
        </p:txBody>
      </p:sp>
      <p:pic>
        <p:nvPicPr>
          <p:cNvPr id="23" name="Tekstur marmer putih" descr="preencoded.png">    </p:cNvPr>
          <p:cNvPicPr>
            <a:picLocks noChangeAspect="1"/>
          </p:cNvPicPr>
          <p:nvPr/>
        </p:nvPicPr>
        <p:blipFill>
          <a:blip r:embed="rId2"/>
          <a:stretch>
            <a:fillRect/>
          </a:stretch>
        </p:blipFill>
        <p:spPr>
          <a:xfrm>
            <a:off x="7589520" y="658368"/>
            <a:ext cx="4099255" cy="647395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7"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8" name="text"/>
          <p:cNvSpPr txBox="1"/>
          <p:nvPr/>
        </p:nvSpPr>
        <p:spPr>
          <a:xfrm>
            <a:off x="502920" y="868680"/>
            <a:ext cx="7772400" cy="91440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ALUR PEMBAHASAN</a:t>
            </a:r>
            <a:endParaRPr lang="en-US" sz="3800" dirty="0"/>
          </a:p>
        </p:txBody>
      </p:sp>
      <p:sp>
        <p:nvSpPr>
          <p:cNvPr id="9" name="toggle"/>
          <p:cNvSpPr/>
          <p:nvPr/>
        </p:nvSpPr>
        <p:spPr>
          <a:xfrm>
            <a:off x="8778240" y="1051560"/>
            <a:ext cx="566928" cy="274320"/>
          </a:xfrm>
          <a:prstGeom prst="roundRect">
            <a:avLst>
              <a:gd name="adj" fmla="val 166667"/>
            </a:avLst>
          </a:prstGeom>
          <a:solidFill>
            <a:srgbClr val="F4F4F4"/>
          </a:solidFill>
          <a:ln w="9525">
            <a:solidFill>
              <a:srgbClr val="141417"/>
            </a:solidFill>
            <a:prstDash val="solid"/>
          </a:ln>
        </p:spPr>
      </p:sp>
      <p:sp>
        <p:nvSpPr>
          <p:cNvPr id="10" name="toggle-dot"/>
          <p:cNvSpPr/>
          <p:nvPr/>
        </p:nvSpPr>
        <p:spPr>
          <a:xfrm>
            <a:off x="9079992" y="1088136"/>
            <a:ext cx="201168" cy="201168"/>
          </a:xfrm>
          <a:prstGeom prst="ellipse">
            <a:avLst/>
          </a:prstGeom>
          <a:solidFill>
            <a:srgbClr val="D4FC00"/>
          </a:solidFill>
          <a:ln w="6350">
            <a:solidFill>
              <a:srgbClr val="D4FC00"/>
            </a:solidFill>
            <a:prstDash val="solid"/>
          </a:ln>
        </p:spPr>
      </p:sp>
      <p:pic>
        <p:nvPicPr>
          <p:cNvPr id="11" name="toggle-star" descr="preencoded.png">    </p:cNvPr>
          <p:cNvPicPr>
            <a:picLocks noChangeAspect="1"/>
          </p:cNvPicPr>
          <p:nvPr/>
        </p:nvPicPr>
        <p:blipFill>
          <a:blip r:embed="rId1"/>
          <a:stretch>
            <a:fillRect/>
          </a:stretch>
        </p:blipFill>
        <p:spPr>
          <a:xfrm>
            <a:off x="9121140" y="1129284"/>
            <a:ext cx="118872" cy="118872"/>
          </a:xfrm>
          <a:prstGeom prst="rect">
            <a:avLst/>
          </a:prstGeom>
        </p:spPr>
      </p:pic>
      <p:sp>
        <p:nvSpPr>
          <p:cNvPr id="12" name="card"/>
          <p:cNvSpPr/>
          <p:nvPr/>
        </p:nvSpPr>
        <p:spPr>
          <a:xfrm>
            <a:off x="502920" y="2057400"/>
            <a:ext cx="2659304" cy="3291840"/>
          </a:xfrm>
          <a:prstGeom prst="roundRect">
            <a:avLst>
              <a:gd name="adj" fmla="val 6877"/>
            </a:avLst>
          </a:prstGeom>
          <a:solidFill>
            <a:srgbClr val="E8E8E8"/>
          </a:solidFill>
          <a:ln w="6350">
            <a:solidFill>
              <a:srgbClr val="E8E8E8"/>
            </a:solidFill>
            <a:prstDash val="solid"/>
          </a:ln>
        </p:spPr>
      </p:sp>
      <p:sp>
        <p:nvSpPr>
          <p:cNvPr id="13" name="text"/>
          <p:cNvSpPr txBox="1"/>
          <p:nvPr/>
        </p:nvSpPr>
        <p:spPr>
          <a:xfrm>
            <a:off x="813816"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01</a:t>
            </a:r>
            <a:endParaRPr lang="en-US" sz="1600" dirty="0"/>
          </a:p>
        </p:txBody>
      </p:sp>
      <p:sp>
        <p:nvSpPr>
          <p:cNvPr id="14" name="text"/>
          <p:cNvSpPr txBox="1"/>
          <p:nvPr/>
        </p:nvSpPr>
        <p:spPr>
          <a:xfrm>
            <a:off x="795528"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Mengapa eksekusi berbeda; sepuluh tugas; tiga aksi kunci.</a:t>
            </a:r>
            <a:endParaRPr lang="en-US" sz="1800" dirty="0"/>
          </a:p>
        </p:txBody>
      </p:sp>
      <p:sp>
        <p:nvSpPr>
          <p:cNvPr id="15" name="text"/>
          <p:cNvSpPr txBox="1"/>
          <p:nvPr/>
        </p:nvSpPr>
        <p:spPr>
          <a:xfrm>
            <a:off x="795528"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FOUNDATION</a:t>
            </a:r>
            <a:endParaRPr lang="en-US" sz="1400" dirty="0"/>
          </a:p>
        </p:txBody>
      </p:sp>
      <p:sp>
        <p:nvSpPr>
          <p:cNvPr id="16" name="card"/>
          <p:cNvSpPr/>
          <p:nvPr/>
        </p:nvSpPr>
        <p:spPr>
          <a:xfrm>
            <a:off x="3345104" y="2057400"/>
            <a:ext cx="2659304" cy="3291840"/>
          </a:xfrm>
          <a:prstGeom prst="roundRect">
            <a:avLst>
              <a:gd name="adj" fmla="val 6877"/>
            </a:avLst>
          </a:prstGeom>
          <a:solidFill>
            <a:srgbClr val="D4FC00"/>
          </a:solidFill>
          <a:ln w="6350">
            <a:solidFill>
              <a:srgbClr val="D4FC00"/>
            </a:solidFill>
            <a:prstDash val="solid"/>
          </a:ln>
        </p:spPr>
      </p:sp>
      <p:sp>
        <p:nvSpPr>
          <p:cNvPr id="17" name="text"/>
          <p:cNvSpPr txBox="1"/>
          <p:nvPr/>
        </p:nvSpPr>
        <p:spPr>
          <a:xfrm>
            <a:off x="3656000"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02</a:t>
            </a:r>
            <a:endParaRPr lang="en-US" sz="1600" dirty="0"/>
          </a:p>
        </p:txBody>
      </p:sp>
      <p:sp>
        <p:nvSpPr>
          <p:cNvPr id="18" name="text"/>
          <p:cNvSpPr txBox="1"/>
          <p:nvPr/>
        </p:nvSpPr>
        <p:spPr>
          <a:xfrm>
            <a:off x="3637712"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Tim manajemen yang kuat dan karyawan yang tepat.</a:t>
            </a:r>
            <a:endParaRPr lang="en-US" sz="1800" dirty="0"/>
          </a:p>
        </p:txBody>
      </p:sp>
      <p:sp>
        <p:nvSpPr>
          <p:cNvPr id="19" name="text"/>
          <p:cNvSpPr txBox="1"/>
          <p:nvPr/>
        </p:nvSpPr>
        <p:spPr>
          <a:xfrm>
            <a:off x="3637712"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STAFFING</a:t>
            </a:r>
            <a:endParaRPr lang="en-US" sz="1400" dirty="0"/>
          </a:p>
        </p:txBody>
      </p:sp>
      <p:sp>
        <p:nvSpPr>
          <p:cNvPr id="20" name="card"/>
          <p:cNvSpPr/>
          <p:nvPr/>
        </p:nvSpPr>
        <p:spPr>
          <a:xfrm>
            <a:off x="6187288" y="2057400"/>
            <a:ext cx="2659304" cy="3291840"/>
          </a:xfrm>
          <a:prstGeom prst="roundRect">
            <a:avLst>
              <a:gd name="adj" fmla="val 6877"/>
            </a:avLst>
          </a:prstGeom>
          <a:solidFill>
            <a:srgbClr val="E8E8E8"/>
          </a:solidFill>
          <a:ln w="6350">
            <a:solidFill>
              <a:srgbClr val="E8E8E8"/>
            </a:solidFill>
            <a:prstDash val="solid"/>
          </a:ln>
        </p:spPr>
      </p:sp>
      <p:sp>
        <p:nvSpPr>
          <p:cNvPr id="21" name="text"/>
          <p:cNvSpPr txBox="1"/>
          <p:nvPr/>
        </p:nvSpPr>
        <p:spPr>
          <a:xfrm>
            <a:off x="6498184"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03</a:t>
            </a:r>
            <a:endParaRPr lang="en-US" sz="1600" dirty="0"/>
          </a:p>
        </p:txBody>
      </p:sp>
      <p:sp>
        <p:nvSpPr>
          <p:cNvPr id="22" name="text"/>
          <p:cNvSpPr txBox="1"/>
          <p:nvPr/>
        </p:nvSpPr>
        <p:spPr>
          <a:xfrm>
            <a:off x="6479896"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Tiga jalan membangun capability.</a:t>
            </a:r>
            <a:endParaRPr lang="en-US" sz="1800" dirty="0"/>
          </a:p>
        </p:txBody>
      </p:sp>
      <p:sp>
        <p:nvSpPr>
          <p:cNvPr id="23" name="text"/>
          <p:cNvSpPr txBox="1"/>
          <p:nvPr/>
        </p:nvSpPr>
        <p:spPr>
          <a:xfrm>
            <a:off x="6479896"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CAPABILITIES</a:t>
            </a:r>
            <a:endParaRPr lang="en-US" sz="1400" dirty="0"/>
          </a:p>
        </p:txBody>
      </p:sp>
      <p:sp>
        <p:nvSpPr>
          <p:cNvPr id="24" name="card"/>
          <p:cNvSpPr/>
          <p:nvPr/>
        </p:nvSpPr>
        <p:spPr>
          <a:xfrm>
            <a:off x="9029471" y="2057400"/>
            <a:ext cx="2659304" cy="3291840"/>
          </a:xfrm>
          <a:prstGeom prst="roundRect">
            <a:avLst>
              <a:gd name="adj" fmla="val 6877"/>
            </a:avLst>
          </a:prstGeom>
          <a:solidFill>
            <a:srgbClr val="141417"/>
          </a:solidFill>
          <a:ln w="6350">
            <a:solidFill>
              <a:srgbClr val="141417"/>
            </a:solidFill>
            <a:prstDash val="solid"/>
          </a:ln>
        </p:spPr>
      </p:sp>
      <p:sp>
        <p:nvSpPr>
          <p:cNvPr id="25" name="text"/>
          <p:cNvSpPr txBox="1"/>
          <p:nvPr/>
        </p:nvSpPr>
        <p:spPr>
          <a:xfrm>
            <a:off x="9340367"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04</a:t>
            </a:r>
            <a:endParaRPr lang="en-US" sz="1600" dirty="0"/>
          </a:p>
        </p:txBody>
      </p:sp>
      <p:sp>
        <p:nvSpPr>
          <p:cNvPr id="26" name="text"/>
          <p:cNvSpPr txBox="1"/>
          <p:nvPr/>
        </p:nvSpPr>
        <p:spPr>
          <a:xfrm>
            <a:off x="9322079"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Lima keputusan menata organisasi dan pekerjaan.</a:t>
            </a:r>
            <a:endParaRPr lang="en-US" sz="1800" dirty="0"/>
          </a:p>
        </p:txBody>
      </p:sp>
      <p:sp>
        <p:nvSpPr>
          <p:cNvPr id="27" name="text"/>
          <p:cNvSpPr txBox="1"/>
          <p:nvPr/>
        </p:nvSpPr>
        <p:spPr>
          <a:xfrm>
            <a:off x="9322079"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STRUCTURE</a:t>
            </a:r>
            <a:endParaRPr lang="en-US" sz="1400" dirty="0"/>
          </a:p>
        </p:txBody>
      </p:sp>
      <p:sp>
        <p:nvSpPr>
          <p:cNvPr id="28" name="text"/>
          <p:cNvSpPr txBox="1"/>
          <p:nvPr/>
        </p:nvSpPr>
        <p:spPr>
          <a:xfrm>
            <a:off x="502920" y="5696712"/>
            <a:ext cx="7162495" cy="502920"/>
          </a:xfrm>
          <a:prstGeom prst="rect">
            <a:avLst/>
          </a:prstGeom>
          <a:noFill/>
          <a:ln/>
        </p:spPr>
        <p:txBody>
          <a:bodyPr wrap="square" lIns="0" tIns="0" rIns="0" bIns="0" rtlCol="0" anchor="ctr"/>
          <a:lstStyle/>
          <a:p>
            <a:pPr algn="l" indent="0" marL="0">
              <a:lnSpc>
                <a:spcPct val="122000"/>
              </a:lnSpc>
              <a:buNone/>
            </a:pPr>
            <a:r>
              <a:rPr lang="en-US" sz="1500" spc="50" kern="0" dirty="0">
                <a:solidFill>
                  <a:srgbClr val="1A1A1C"/>
                </a:solidFill>
                <a:latin typeface="Outfit Medium" pitchFamily="34" charset="0"/>
                <a:ea typeface="Outfit Medium" pitchFamily="34" charset="-122"/>
                <a:cs typeface="Outfit Medium" pitchFamily="34" charset="-120"/>
              </a:rPr>
              <a:t>ORANG, CAPABILITY, STRUKTUR: SATU RANGKAIAN</a:t>
            </a:r>
            <a:endParaRPr lang="en-US" sz="1500" dirty="0"/>
          </a:p>
        </p:txBody>
      </p:sp>
      <p:sp>
        <p:nvSpPr>
          <p:cNvPr id="29" name="pill"/>
          <p:cNvSpPr/>
          <p:nvPr/>
        </p:nvSpPr>
        <p:spPr>
          <a:xfrm>
            <a:off x="8031175" y="5715000"/>
            <a:ext cx="3657600" cy="420624"/>
          </a:xfrm>
          <a:prstGeom prst="roundRect">
            <a:avLst>
              <a:gd name="adj" fmla="val 108696"/>
            </a:avLst>
          </a:prstGeom>
          <a:solidFill>
            <a:srgbClr val="F4F4F4"/>
          </a:solidFill>
          <a:ln w="9525">
            <a:solidFill>
              <a:srgbClr val="141417"/>
            </a:solidFill>
            <a:prstDash val="solid"/>
          </a:ln>
        </p:spPr>
      </p:sp>
      <p:sp>
        <p:nvSpPr>
          <p:cNvPr id="30" name="text"/>
          <p:cNvSpPr txBox="1"/>
          <p:nvPr/>
        </p:nvSpPr>
        <p:spPr>
          <a:xfrm>
            <a:off x="8140903" y="5715000"/>
            <a:ext cx="34381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05 · SINTESIS</a:t>
            </a:r>
            <a:endParaRPr lang="en-US" sz="1200" dirty="0"/>
          </a:p>
        </p:txBody>
      </p:sp>
      <p:sp>
        <p:nvSpPr>
          <p:cNvPr id="31"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7"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8" name="text"/>
          <p:cNvSpPr txBox="1"/>
          <p:nvPr/>
        </p:nvSpPr>
        <p:spPr>
          <a:xfrm>
            <a:off x="502920" y="868680"/>
            <a:ext cx="7772400" cy="91440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KERANGKA YANG DIPAKAI BAB 10</a:t>
            </a:r>
            <a:endParaRPr lang="en-US" sz="3800" dirty="0"/>
          </a:p>
        </p:txBody>
      </p:sp>
      <p:sp>
        <p:nvSpPr>
          <p:cNvPr id="9" name="toggle"/>
          <p:cNvSpPr/>
          <p:nvPr/>
        </p:nvSpPr>
        <p:spPr>
          <a:xfrm>
            <a:off x="8778240" y="1051560"/>
            <a:ext cx="566928" cy="274320"/>
          </a:xfrm>
          <a:prstGeom prst="roundRect">
            <a:avLst>
              <a:gd name="adj" fmla="val 166667"/>
            </a:avLst>
          </a:prstGeom>
          <a:solidFill>
            <a:srgbClr val="F4F4F4"/>
          </a:solidFill>
          <a:ln w="9525">
            <a:solidFill>
              <a:srgbClr val="141417"/>
            </a:solidFill>
            <a:prstDash val="solid"/>
          </a:ln>
        </p:spPr>
      </p:sp>
      <p:sp>
        <p:nvSpPr>
          <p:cNvPr id="10" name="toggle-dot"/>
          <p:cNvSpPr/>
          <p:nvPr/>
        </p:nvSpPr>
        <p:spPr>
          <a:xfrm>
            <a:off x="9079992" y="1088136"/>
            <a:ext cx="201168" cy="201168"/>
          </a:xfrm>
          <a:prstGeom prst="ellipse">
            <a:avLst/>
          </a:prstGeom>
          <a:solidFill>
            <a:srgbClr val="D4FC00"/>
          </a:solidFill>
          <a:ln w="6350">
            <a:solidFill>
              <a:srgbClr val="D4FC00"/>
            </a:solidFill>
            <a:prstDash val="solid"/>
          </a:ln>
        </p:spPr>
      </p:sp>
      <p:pic>
        <p:nvPicPr>
          <p:cNvPr id="11" name="toggle-star" descr="preencoded.png">    </p:cNvPr>
          <p:cNvPicPr>
            <a:picLocks noChangeAspect="1"/>
          </p:cNvPicPr>
          <p:nvPr/>
        </p:nvPicPr>
        <p:blipFill>
          <a:blip r:embed="rId1"/>
          <a:stretch>
            <a:fillRect/>
          </a:stretch>
        </p:blipFill>
        <p:spPr>
          <a:xfrm>
            <a:off x="9121140" y="1129284"/>
            <a:ext cx="118872" cy="118872"/>
          </a:xfrm>
          <a:prstGeom prst="rect">
            <a:avLst/>
          </a:prstGeom>
        </p:spPr>
      </p:pic>
      <p:sp>
        <p:nvSpPr>
          <p:cNvPr id="12" name="card"/>
          <p:cNvSpPr/>
          <p:nvPr/>
        </p:nvSpPr>
        <p:spPr>
          <a:xfrm>
            <a:off x="502920" y="2057400"/>
            <a:ext cx="2659304" cy="3291840"/>
          </a:xfrm>
          <a:prstGeom prst="roundRect">
            <a:avLst>
              <a:gd name="adj" fmla="val 6877"/>
            </a:avLst>
          </a:prstGeom>
          <a:solidFill>
            <a:srgbClr val="E8E8E8"/>
          </a:solidFill>
          <a:ln w="6350">
            <a:solidFill>
              <a:srgbClr val="E8E8E8"/>
            </a:solidFill>
            <a:prstDash val="solid"/>
          </a:ln>
        </p:spPr>
      </p:sp>
      <p:sp>
        <p:nvSpPr>
          <p:cNvPr id="13" name="text"/>
          <p:cNvSpPr txBox="1"/>
          <p:nvPr/>
        </p:nvSpPr>
        <p:spPr>
          <a:xfrm>
            <a:off x="813816"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Figure 10.1</a:t>
            </a:r>
            <a:endParaRPr lang="en-US" sz="1600" dirty="0"/>
          </a:p>
        </p:txBody>
      </p:sp>
      <p:sp>
        <p:nvSpPr>
          <p:cNvPr id="14" name="text"/>
          <p:cNvSpPr txBox="1"/>
          <p:nvPr/>
        </p:nvSpPr>
        <p:spPr>
          <a:xfrm>
            <a:off x="795528"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The action agenda for executing strategy.</a:t>
            </a:r>
            <a:endParaRPr lang="en-US" sz="1800" dirty="0"/>
          </a:p>
        </p:txBody>
      </p:sp>
      <p:sp>
        <p:nvSpPr>
          <p:cNvPr id="15" name="text"/>
          <p:cNvSpPr txBox="1"/>
          <p:nvPr/>
        </p:nvSpPr>
        <p:spPr>
          <a:xfrm>
            <a:off x="795528"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SEPULUH TUGAS</a:t>
            </a:r>
            <a:endParaRPr lang="en-US" sz="1400" dirty="0"/>
          </a:p>
        </p:txBody>
      </p:sp>
      <p:sp>
        <p:nvSpPr>
          <p:cNvPr id="16" name="card"/>
          <p:cNvSpPr/>
          <p:nvPr/>
        </p:nvSpPr>
        <p:spPr>
          <a:xfrm>
            <a:off x="3345104" y="2057400"/>
            <a:ext cx="2659304" cy="3291840"/>
          </a:xfrm>
          <a:prstGeom prst="roundRect">
            <a:avLst>
              <a:gd name="adj" fmla="val 6877"/>
            </a:avLst>
          </a:prstGeom>
          <a:solidFill>
            <a:srgbClr val="D4FC00"/>
          </a:solidFill>
          <a:ln w="6350">
            <a:solidFill>
              <a:srgbClr val="D4FC00"/>
            </a:solidFill>
            <a:prstDash val="solid"/>
          </a:ln>
        </p:spPr>
      </p:sp>
      <p:sp>
        <p:nvSpPr>
          <p:cNvPr id="17" name="text"/>
          <p:cNvSpPr txBox="1"/>
          <p:nvPr/>
        </p:nvSpPr>
        <p:spPr>
          <a:xfrm>
            <a:off x="3656000"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Figure 10.2</a:t>
            </a:r>
            <a:endParaRPr lang="en-US" sz="1600" dirty="0"/>
          </a:p>
        </p:txBody>
      </p:sp>
      <p:sp>
        <p:nvSpPr>
          <p:cNvPr id="18" name="text"/>
          <p:cNvSpPr txBox="1"/>
          <p:nvPr/>
        </p:nvSpPr>
        <p:spPr>
          <a:xfrm>
            <a:off x="3637712"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Staffing, capabilities, structure.</a:t>
            </a:r>
            <a:endParaRPr lang="en-US" sz="1800" dirty="0"/>
          </a:p>
        </p:txBody>
      </p:sp>
      <p:sp>
        <p:nvSpPr>
          <p:cNvPr id="19" name="text"/>
          <p:cNvSpPr txBox="1"/>
          <p:nvPr/>
        </p:nvSpPr>
        <p:spPr>
          <a:xfrm>
            <a:off x="3637712"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TIGA AKSI KUNCI</a:t>
            </a:r>
            <a:endParaRPr lang="en-US" sz="1400" dirty="0"/>
          </a:p>
        </p:txBody>
      </p:sp>
      <p:sp>
        <p:nvSpPr>
          <p:cNvPr id="20" name="card"/>
          <p:cNvSpPr/>
          <p:nvPr/>
        </p:nvSpPr>
        <p:spPr>
          <a:xfrm>
            <a:off x="6187288" y="2057400"/>
            <a:ext cx="2659304" cy="3291840"/>
          </a:xfrm>
          <a:prstGeom prst="roundRect">
            <a:avLst>
              <a:gd name="adj" fmla="val 6877"/>
            </a:avLst>
          </a:prstGeom>
          <a:solidFill>
            <a:srgbClr val="E8E8E8"/>
          </a:solidFill>
          <a:ln w="6350">
            <a:solidFill>
              <a:srgbClr val="E8E8E8"/>
            </a:solidFill>
            <a:prstDash val="solid"/>
          </a:ln>
        </p:spPr>
      </p:sp>
      <p:sp>
        <p:nvSpPr>
          <p:cNvPr id="21" name="text"/>
          <p:cNvSpPr txBox="1"/>
          <p:nvPr/>
        </p:nvSpPr>
        <p:spPr>
          <a:xfrm>
            <a:off x="6498184"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Figure 10.3</a:t>
            </a:r>
            <a:endParaRPr lang="en-US" sz="1600" dirty="0"/>
          </a:p>
        </p:txBody>
      </p:sp>
      <p:sp>
        <p:nvSpPr>
          <p:cNvPr id="22" name="text"/>
          <p:cNvSpPr txBox="1"/>
          <p:nvPr/>
        </p:nvSpPr>
        <p:spPr>
          <a:xfrm>
            <a:off x="6479896"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Outsourcing, tipe, delegasi, koordinasi, mitra.</a:t>
            </a:r>
            <a:endParaRPr lang="en-US" sz="1800" dirty="0"/>
          </a:p>
        </p:txBody>
      </p:sp>
      <p:sp>
        <p:nvSpPr>
          <p:cNvPr id="23" name="text"/>
          <p:cNvSpPr txBox="1"/>
          <p:nvPr/>
        </p:nvSpPr>
        <p:spPr>
          <a:xfrm>
            <a:off x="6479896"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LIMA KEPUTUSAN</a:t>
            </a:r>
            <a:endParaRPr lang="en-US" sz="1400" dirty="0"/>
          </a:p>
        </p:txBody>
      </p:sp>
      <p:sp>
        <p:nvSpPr>
          <p:cNvPr id="24" name="card"/>
          <p:cNvSpPr/>
          <p:nvPr/>
        </p:nvSpPr>
        <p:spPr>
          <a:xfrm>
            <a:off x="9029471" y="2057400"/>
            <a:ext cx="2659304" cy="3291840"/>
          </a:xfrm>
          <a:prstGeom prst="roundRect">
            <a:avLst>
              <a:gd name="adj" fmla="val 6877"/>
            </a:avLst>
          </a:prstGeom>
          <a:solidFill>
            <a:srgbClr val="141417"/>
          </a:solidFill>
          <a:ln w="6350">
            <a:solidFill>
              <a:srgbClr val="141417"/>
            </a:solidFill>
            <a:prstDash val="solid"/>
          </a:ln>
        </p:spPr>
      </p:sp>
      <p:sp>
        <p:nvSpPr>
          <p:cNvPr id="25" name="text"/>
          <p:cNvSpPr txBox="1"/>
          <p:nvPr/>
        </p:nvSpPr>
        <p:spPr>
          <a:xfrm>
            <a:off x="9340367"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Table 10.1</a:t>
            </a:r>
            <a:endParaRPr lang="en-US" sz="1600" dirty="0"/>
          </a:p>
        </p:txBody>
      </p:sp>
      <p:sp>
        <p:nvSpPr>
          <p:cNvPr id="26" name="text"/>
          <p:cNvSpPr txBox="1"/>
          <p:nvPr/>
        </p:nvSpPr>
        <p:spPr>
          <a:xfrm>
            <a:off x="9322079"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Centralized vs decentralized: asumsi, untung, rugi.</a:t>
            </a:r>
            <a:endParaRPr lang="en-US" sz="1800" dirty="0"/>
          </a:p>
        </p:txBody>
      </p:sp>
      <p:sp>
        <p:nvSpPr>
          <p:cNvPr id="27" name="text"/>
          <p:cNvSpPr txBox="1"/>
          <p:nvPr/>
        </p:nvSpPr>
        <p:spPr>
          <a:xfrm>
            <a:off x="9322079"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DELEGASI WEWENANG</a:t>
            </a:r>
            <a:endParaRPr lang="en-US" sz="1400" dirty="0"/>
          </a:p>
        </p:txBody>
      </p:sp>
      <p:sp>
        <p:nvSpPr>
          <p:cNvPr id="28" name="pill"/>
          <p:cNvSpPr/>
          <p:nvPr/>
        </p:nvSpPr>
        <p:spPr>
          <a:xfrm>
            <a:off x="502920" y="5715000"/>
            <a:ext cx="2659304" cy="420624"/>
          </a:xfrm>
          <a:prstGeom prst="roundRect">
            <a:avLst>
              <a:gd name="adj" fmla="val 108696"/>
            </a:avLst>
          </a:prstGeom>
          <a:solidFill>
            <a:srgbClr val="F4F4F4"/>
          </a:solidFill>
          <a:ln w="9525">
            <a:solidFill>
              <a:srgbClr val="141417"/>
            </a:solidFill>
            <a:prstDash val="solid"/>
          </a:ln>
        </p:spPr>
      </p:sp>
      <p:sp>
        <p:nvSpPr>
          <p:cNvPr id="29" name="text"/>
          <p:cNvSpPr txBox="1"/>
          <p:nvPr/>
        </p:nvSpPr>
        <p:spPr>
          <a:xfrm>
            <a:off x="612648" y="5715000"/>
            <a:ext cx="2439848" cy="420624"/>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3 JALAN CAPABILITY</a:t>
            </a:r>
            <a:endParaRPr lang="en-US" sz="1300" dirty="0"/>
          </a:p>
        </p:txBody>
      </p:sp>
      <p:sp>
        <p:nvSpPr>
          <p:cNvPr id="30" name="pill"/>
          <p:cNvSpPr/>
          <p:nvPr/>
        </p:nvSpPr>
        <p:spPr>
          <a:xfrm>
            <a:off x="3345104" y="5715000"/>
            <a:ext cx="2659304" cy="420624"/>
          </a:xfrm>
          <a:prstGeom prst="roundRect">
            <a:avLst>
              <a:gd name="adj" fmla="val 108696"/>
            </a:avLst>
          </a:prstGeom>
          <a:solidFill>
            <a:srgbClr val="F4F4F4"/>
          </a:solidFill>
          <a:ln w="9525">
            <a:solidFill>
              <a:srgbClr val="141417"/>
            </a:solidFill>
            <a:prstDash val="solid"/>
          </a:ln>
        </p:spPr>
      </p:sp>
      <p:sp>
        <p:nvSpPr>
          <p:cNvPr id="31" name="text"/>
          <p:cNvSpPr txBox="1"/>
          <p:nvPr/>
        </p:nvSpPr>
        <p:spPr>
          <a:xfrm>
            <a:off x="3454832" y="5715000"/>
            <a:ext cx="2439848" cy="420624"/>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4 TIPE STRUKTUR</a:t>
            </a:r>
            <a:endParaRPr lang="en-US" sz="1300" dirty="0"/>
          </a:p>
        </p:txBody>
      </p:sp>
      <p:sp>
        <p:nvSpPr>
          <p:cNvPr id="32" name="pill"/>
          <p:cNvSpPr/>
          <p:nvPr/>
        </p:nvSpPr>
        <p:spPr>
          <a:xfrm>
            <a:off x="6187288" y="5715000"/>
            <a:ext cx="2659304" cy="420624"/>
          </a:xfrm>
          <a:prstGeom prst="roundRect">
            <a:avLst>
              <a:gd name="adj" fmla="val 108696"/>
            </a:avLst>
          </a:prstGeom>
          <a:solidFill>
            <a:srgbClr val="F4F4F4"/>
          </a:solidFill>
          <a:ln w="9525">
            <a:solidFill>
              <a:srgbClr val="141417"/>
            </a:solidFill>
            <a:prstDash val="solid"/>
          </a:ln>
        </p:spPr>
      </p:sp>
      <p:sp>
        <p:nvSpPr>
          <p:cNvPr id="33" name="text"/>
          <p:cNvSpPr txBox="1"/>
          <p:nvPr/>
        </p:nvSpPr>
        <p:spPr>
          <a:xfrm>
            <a:off x="6297016" y="5715000"/>
            <a:ext cx="2439848" cy="420624"/>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3 JALUR KEMITRAAN</a:t>
            </a:r>
            <a:endParaRPr lang="en-US" sz="1300" dirty="0"/>
          </a:p>
        </p:txBody>
      </p:sp>
      <p:sp>
        <p:nvSpPr>
          <p:cNvPr id="34" name="pill"/>
          <p:cNvSpPr/>
          <p:nvPr/>
        </p:nvSpPr>
        <p:spPr>
          <a:xfrm>
            <a:off x="9029471" y="5715000"/>
            <a:ext cx="2659304" cy="420624"/>
          </a:xfrm>
          <a:prstGeom prst="roundRect">
            <a:avLst>
              <a:gd name="adj" fmla="val 108696"/>
            </a:avLst>
          </a:prstGeom>
          <a:solidFill>
            <a:srgbClr val="F4F4F4"/>
          </a:solidFill>
          <a:ln w="9525">
            <a:solidFill>
              <a:srgbClr val="141417"/>
            </a:solidFill>
            <a:prstDash val="solid"/>
          </a:ln>
        </p:spPr>
      </p:sp>
      <p:sp>
        <p:nvSpPr>
          <p:cNvPr id="35" name="text"/>
          <p:cNvSpPr txBox="1"/>
          <p:nvPr/>
        </p:nvSpPr>
        <p:spPr>
          <a:xfrm>
            <a:off x="9139199" y="5715000"/>
            <a:ext cx="2439848" cy="420624"/>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2 TANDA EKSEKUSI</a:t>
            </a:r>
            <a:endParaRPr lang="en-US" sz="1300" dirty="0"/>
          </a:p>
        </p:txBody>
      </p:sp>
      <p:sp>
        <p:nvSpPr>
          <p:cNvPr id="3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card"/>
          <p:cNvSpPr/>
          <p:nvPr/>
        </p:nvSpPr>
        <p:spPr>
          <a:xfrm>
            <a:off x="4050792" y="173736"/>
            <a:ext cx="1408176" cy="329184"/>
          </a:xfrm>
          <a:prstGeom prst="roundRect">
            <a:avLst>
              <a:gd name="adj" fmla="val 138889"/>
            </a:avLst>
          </a:prstGeom>
          <a:solidFill>
            <a:srgbClr val="D4FC00"/>
          </a:solidFill>
          <a:ln w="6350">
            <a:solidFill>
              <a:srgbClr val="D4FC00"/>
            </a:solidFill>
            <a:prstDash val="solid"/>
          </a:ln>
        </p:spPr>
      </p:sp>
      <p:sp>
        <p:nvSpPr>
          <p:cNvPr id="4"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Foundation</a:t>
            </a:r>
            <a:endParaRPr lang="en-US" sz="1050" dirty="0"/>
          </a:p>
        </p:txBody>
      </p:sp>
      <p:sp>
        <p:nvSpPr>
          <p:cNvPr id="5"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pic>
        <p:nvPicPr>
          <p:cNvPr id="9" name="Perahu layar putih di laut tenang" descr="preencoded.png">    </p:cNvPr>
          <p:cNvPicPr>
            <a:picLocks noChangeAspect="1"/>
          </p:cNvPicPr>
          <p:nvPr/>
        </p:nvPicPr>
        <p:blipFill>
          <a:blip r:embed="rId1"/>
          <a:stretch>
            <a:fillRect/>
          </a:stretch>
        </p:blipFill>
        <p:spPr>
          <a:xfrm>
            <a:off x="502920" y="658368"/>
            <a:ext cx="11185855" cy="3246120"/>
          </a:xfrm>
          <a:prstGeom prst="rect">
            <a:avLst/>
          </a:prstGeom>
        </p:spPr>
      </p:pic>
      <p:sp>
        <p:nvSpPr>
          <p:cNvPr id="10" name="toggle"/>
          <p:cNvSpPr/>
          <p:nvPr/>
        </p:nvSpPr>
        <p:spPr>
          <a:xfrm>
            <a:off x="10911535" y="868680"/>
            <a:ext cx="566928" cy="274320"/>
          </a:xfrm>
          <a:prstGeom prst="roundRect">
            <a:avLst>
              <a:gd name="adj" fmla="val 166667"/>
            </a:avLst>
          </a:prstGeom>
          <a:solidFill>
            <a:srgbClr val="F4F4F4"/>
          </a:solidFill>
          <a:ln w="9525">
            <a:solidFill>
              <a:srgbClr val="141417"/>
            </a:solidFill>
            <a:prstDash val="solid"/>
          </a:ln>
        </p:spPr>
      </p:sp>
      <p:sp>
        <p:nvSpPr>
          <p:cNvPr id="11" name="toggle-dot"/>
          <p:cNvSpPr/>
          <p:nvPr/>
        </p:nvSpPr>
        <p:spPr>
          <a:xfrm>
            <a:off x="11213287" y="905256"/>
            <a:ext cx="201168" cy="201168"/>
          </a:xfrm>
          <a:prstGeom prst="ellipse">
            <a:avLst/>
          </a:prstGeom>
          <a:solidFill>
            <a:srgbClr val="D4FC00"/>
          </a:solidFill>
          <a:ln w="6350">
            <a:solidFill>
              <a:srgbClr val="D4FC00"/>
            </a:solidFill>
            <a:prstDash val="solid"/>
          </a:ln>
        </p:spPr>
      </p:sp>
      <p:pic>
        <p:nvPicPr>
          <p:cNvPr id="12" name="toggle-star" descr="preencoded.png">    </p:cNvPr>
          <p:cNvPicPr>
            <a:picLocks noChangeAspect="1"/>
          </p:cNvPicPr>
          <p:nvPr/>
        </p:nvPicPr>
        <p:blipFill>
          <a:blip r:embed="rId2"/>
          <a:stretch>
            <a:fillRect/>
          </a:stretch>
        </p:blipFill>
        <p:spPr>
          <a:xfrm>
            <a:off x="11254435" y="946404"/>
            <a:ext cx="118872" cy="118872"/>
          </a:xfrm>
          <a:prstGeom prst="rect">
            <a:avLst/>
          </a:prstGeom>
        </p:spPr>
      </p:pic>
      <p:sp>
        <p:nvSpPr>
          <p:cNvPr id="13" name="card"/>
          <p:cNvSpPr/>
          <p:nvPr/>
        </p:nvSpPr>
        <p:spPr>
          <a:xfrm>
            <a:off x="731520" y="2423160"/>
            <a:ext cx="5852160" cy="1325880"/>
          </a:xfrm>
          <a:prstGeom prst="roundRect">
            <a:avLst>
              <a:gd name="adj" fmla="val 9655"/>
            </a:avLst>
          </a:prstGeom>
          <a:solidFill>
            <a:srgbClr val="F4F4F4"/>
          </a:solidFill>
          <a:ln w="6350">
            <a:solidFill>
              <a:srgbClr val="F4F4F4"/>
            </a:solidFill>
            <a:prstDash val="solid"/>
          </a:ln>
        </p:spPr>
      </p:sp>
      <p:sp>
        <p:nvSpPr>
          <p:cNvPr id="14" name="text"/>
          <p:cNvSpPr txBox="1"/>
          <p:nvPr/>
        </p:nvSpPr>
        <p:spPr>
          <a:xfrm>
            <a:off x="914400" y="2468880"/>
            <a:ext cx="5577840" cy="1234440"/>
          </a:xfrm>
          <a:prstGeom prst="rect">
            <a:avLst/>
          </a:prstGeom>
          <a:noFill/>
          <a:ln/>
        </p:spPr>
        <p:txBody>
          <a:bodyPr wrap="square" lIns="0" tIns="0" rIns="0" bIns="0" rtlCol="0" anchor="ctr"/>
          <a:lstStyle/>
          <a:p>
            <a:pPr algn="l" indent="0" marL="0">
              <a:lnSpc>
                <a:spcPct val="100000"/>
              </a:lnSpc>
              <a:buNone/>
            </a:pPr>
            <a:r>
              <a:rPr lang="en-US" sz="3200" dirty="0">
                <a:solidFill>
                  <a:srgbClr val="141417"/>
                </a:solidFill>
                <a:latin typeface="Outfit SemiBold" pitchFamily="34" charset="0"/>
                <a:ea typeface="Outfit SemiBold" pitchFamily="34" charset="-122"/>
                <a:cs typeface="Outfit SemiBold" pitchFamily="34" charset="-120"/>
              </a:rPr>
              <a:t>DARI MERUMUSKAN KE MENGEKSEKUSI STRATEGI</a:t>
            </a:r>
            <a:endParaRPr lang="en-US" sz="3200" dirty="0"/>
          </a:p>
        </p:txBody>
      </p:sp>
      <p:sp>
        <p:nvSpPr>
          <p:cNvPr id="15" name="card"/>
          <p:cNvSpPr/>
          <p:nvPr/>
        </p:nvSpPr>
        <p:spPr>
          <a:xfrm>
            <a:off x="502920" y="4023360"/>
            <a:ext cx="3931920" cy="1508760"/>
          </a:xfrm>
          <a:prstGeom prst="roundRect">
            <a:avLst>
              <a:gd name="adj" fmla="val 12121"/>
            </a:avLst>
          </a:prstGeom>
          <a:solidFill>
            <a:srgbClr val="D4FC00"/>
          </a:solidFill>
          <a:ln w="6350">
            <a:solidFill>
              <a:srgbClr val="D4FC00"/>
            </a:solidFill>
            <a:prstDash val="solid"/>
          </a:ln>
        </p:spPr>
      </p:sp>
      <p:sp>
        <p:nvSpPr>
          <p:cNvPr id="16" name="text"/>
          <p:cNvSpPr txBox="1"/>
          <p:nvPr/>
        </p:nvSpPr>
        <p:spPr>
          <a:xfrm>
            <a:off x="731520" y="4023360"/>
            <a:ext cx="1188720" cy="1508760"/>
          </a:xfrm>
          <a:prstGeom prst="rect">
            <a:avLst/>
          </a:prstGeom>
          <a:noFill/>
          <a:ln/>
        </p:spPr>
        <p:txBody>
          <a:bodyPr wrap="square" lIns="0" tIns="0" rIns="0" bIns="0" rtlCol="0" anchor="ctr"/>
          <a:lstStyle/>
          <a:p>
            <a:pPr algn="l" indent="0" marL="0">
              <a:lnSpc>
                <a:spcPct val="122000"/>
              </a:lnSpc>
              <a:buNone/>
            </a:pPr>
            <a:r>
              <a:rPr lang="en-US" sz="3000" dirty="0">
                <a:solidFill>
                  <a:srgbClr val="141417"/>
                </a:solidFill>
                <a:latin typeface="Outfit Medium" pitchFamily="34" charset="0"/>
                <a:ea typeface="Outfit Medium" pitchFamily="34" charset="-122"/>
                <a:cs typeface="Outfit Medium" pitchFamily="34" charset="-120"/>
              </a:rPr>
              <a:t>1/2</a:t>
            </a:r>
            <a:endParaRPr lang="en-US" sz="3000" dirty="0"/>
          </a:p>
        </p:txBody>
      </p:sp>
      <p:sp>
        <p:nvSpPr>
          <p:cNvPr id="17" name="text"/>
          <p:cNvSpPr txBox="1"/>
          <p:nvPr/>
        </p:nvSpPr>
        <p:spPr>
          <a:xfrm>
            <a:off x="2011680" y="4023360"/>
            <a:ext cx="2148840" cy="1508760"/>
          </a:xfrm>
          <a:prstGeom prst="rect">
            <a:avLst/>
          </a:prstGeom>
          <a:noFill/>
          <a:ln/>
        </p:spPr>
        <p:txBody>
          <a:bodyPr wrap="square" lIns="0" tIns="0" rIns="0" bIns="0" rtlCol="0" anchor="ctr"/>
          <a:lstStyle/>
          <a:p>
            <a:pPr algn="l" indent="0" marL="0">
              <a:lnSpc>
                <a:spcPct val="118000"/>
              </a:lnSpc>
              <a:buNone/>
            </a:pPr>
            <a:r>
              <a:rPr lang="en-US" sz="1400" dirty="0">
                <a:solidFill>
                  <a:srgbClr val="1A1A1C"/>
                </a:solidFill>
                <a:latin typeface="Outfit" pitchFamily="34" charset="0"/>
                <a:ea typeface="Outfit" pitchFamily="34" charset="-122"/>
                <a:cs typeface="Outfit" pitchFamily="34" charset="-120"/>
              </a:rPr>
              <a:t>pekerjaan selesai saat strategi dirumuskan (Lecuona)</a:t>
            </a:r>
            <a:endParaRPr lang="en-US" sz="1400" dirty="0"/>
          </a:p>
        </p:txBody>
      </p:sp>
      <p:sp>
        <p:nvSpPr>
          <p:cNvPr id="18" name="card"/>
          <p:cNvSpPr/>
          <p:nvPr/>
        </p:nvSpPr>
        <p:spPr>
          <a:xfrm>
            <a:off x="4617720" y="4023360"/>
            <a:ext cx="2514600" cy="1508760"/>
          </a:xfrm>
          <a:prstGeom prst="roundRect">
            <a:avLst>
              <a:gd name="adj" fmla="val 12121"/>
            </a:avLst>
          </a:prstGeom>
          <a:solidFill>
            <a:srgbClr val="E8E8E8"/>
          </a:solidFill>
          <a:ln w="6350">
            <a:solidFill>
              <a:srgbClr val="E8E8E8"/>
            </a:solidFill>
            <a:prstDash val="solid"/>
          </a:ln>
        </p:spPr>
      </p:sp>
      <p:sp>
        <p:nvSpPr>
          <p:cNvPr id="19" name="text"/>
          <p:cNvSpPr txBox="1"/>
          <p:nvPr/>
        </p:nvSpPr>
        <p:spPr>
          <a:xfrm>
            <a:off x="4873752" y="4206240"/>
            <a:ext cx="200253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Analitis</a:t>
            </a:r>
            <a:endParaRPr lang="en-US" sz="2400" dirty="0"/>
          </a:p>
        </p:txBody>
      </p:sp>
      <p:sp>
        <p:nvSpPr>
          <p:cNvPr id="20" name="text"/>
          <p:cNvSpPr txBox="1"/>
          <p:nvPr/>
        </p:nvSpPr>
        <p:spPr>
          <a:xfrm>
            <a:off x="4873752" y="4809744"/>
            <a:ext cx="2002536" cy="64008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Merumuskan strategi, Bab 1 sampai 9</a:t>
            </a:r>
            <a:endParaRPr lang="en-US" sz="1400" dirty="0"/>
          </a:p>
        </p:txBody>
      </p:sp>
      <p:sp>
        <p:nvSpPr>
          <p:cNvPr id="21" name="card"/>
          <p:cNvSpPr/>
          <p:nvPr/>
        </p:nvSpPr>
        <p:spPr>
          <a:xfrm>
            <a:off x="7315200" y="4023360"/>
            <a:ext cx="2514600" cy="1508760"/>
          </a:xfrm>
          <a:prstGeom prst="roundRect">
            <a:avLst>
              <a:gd name="adj" fmla="val 12121"/>
            </a:avLst>
          </a:prstGeom>
          <a:solidFill>
            <a:srgbClr val="E8E8E8"/>
          </a:solidFill>
          <a:ln w="6350">
            <a:solidFill>
              <a:srgbClr val="E8E8E8"/>
            </a:solidFill>
            <a:prstDash val="solid"/>
          </a:ln>
        </p:spPr>
      </p:sp>
      <p:sp>
        <p:nvSpPr>
          <p:cNvPr id="22" name="text"/>
          <p:cNvSpPr txBox="1"/>
          <p:nvPr/>
        </p:nvSpPr>
        <p:spPr>
          <a:xfrm>
            <a:off x="7571232" y="4206240"/>
            <a:ext cx="200253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Operasional</a:t>
            </a:r>
            <a:endParaRPr lang="en-US" sz="2400" dirty="0"/>
          </a:p>
        </p:txBody>
      </p:sp>
      <p:sp>
        <p:nvSpPr>
          <p:cNvPr id="23" name="text"/>
          <p:cNvSpPr txBox="1"/>
          <p:nvPr/>
        </p:nvSpPr>
        <p:spPr>
          <a:xfrm>
            <a:off x="7571232" y="4809744"/>
            <a:ext cx="2002536" cy="64008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Mengeksekusi strategi, Bab 10 sampai 12</a:t>
            </a:r>
            <a:endParaRPr lang="en-US" sz="1400" dirty="0"/>
          </a:p>
        </p:txBody>
      </p:sp>
      <p:sp>
        <p:nvSpPr>
          <p:cNvPr id="24" name="card"/>
          <p:cNvSpPr/>
          <p:nvPr/>
        </p:nvSpPr>
        <p:spPr>
          <a:xfrm>
            <a:off x="10012680" y="4023360"/>
            <a:ext cx="1508760" cy="1508760"/>
          </a:xfrm>
          <a:prstGeom prst="roundRect">
            <a:avLst>
              <a:gd name="adj" fmla="val 9697"/>
            </a:avLst>
          </a:prstGeom>
          <a:solidFill>
            <a:srgbClr val="141417"/>
          </a:solidFill>
          <a:ln w="6350">
            <a:solidFill>
              <a:srgbClr val="141417"/>
            </a:solidFill>
            <a:prstDash val="solid"/>
          </a:ln>
        </p:spPr>
      </p:sp>
      <p:pic>
        <p:nvPicPr>
          <p:cNvPr id="25" name="star" descr="preencoded.png">    </p:cNvPr>
          <p:cNvPicPr>
            <a:picLocks noChangeAspect="1"/>
          </p:cNvPicPr>
          <p:nvPr/>
        </p:nvPicPr>
        <p:blipFill>
          <a:blip r:embed="rId3"/>
          <a:stretch>
            <a:fillRect/>
          </a:stretch>
        </p:blipFill>
        <p:spPr>
          <a:xfrm>
            <a:off x="10389870" y="4400550"/>
            <a:ext cx="754380" cy="754380"/>
          </a:xfrm>
          <a:prstGeom prst="rect">
            <a:avLst/>
          </a:prstGeom>
        </p:spPr>
      </p:pic>
      <p:sp>
        <p:nvSpPr>
          <p:cNvPr id="26" name="text"/>
          <p:cNvSpPr txBox="1"/>
          <p:nvPr/>
        </p:nvSpPr>
        <p:spPr>
          <a:xfrm>
            <a:off x="502920" y="5669280"/>
            <a:ext cx="11155680" cy="640080"/>
          </a:xfrm>
          <a:prstGeom prst="rect">
            <a:avLst/>
          </a:prstGeom>
          <a:noFill/>
          <a:ln/>
        </p:spPr>
        <p:txBody>
          <a:bodyPr wrap="square" lIns="0" tIns="0" rIns="0" bIns="0" rtlCol="0" anchor="t"/>
          <a:lstStyle/>
          <a:p>
            <a:pPr algn="l" indent="0" marL="0">
              <a:lnSpc>
                <a:spcPct val="115000"/>
              </a:lnSpc>
              <a:buNone/>
            </a:pPr>
            <a:r>
              <a:rPr lang="en-US" sz="1800" dirty="0">
                <a:solidFill>
                  <a:srgbClr val="1A1A1C"/>
                </a:solidFill>
                <a:latin typeface="Outfit" pitchFamily="34" charset="0"/>
                <a:ea typeface="Outfit" pitchFamily="34" charset="-122"/>
                <a:cs typeface="Outfit" pitchFamily="34" charset="-120"/>
              </a:rPr>
              <a:t>Analogi kapal: visi adalah bintang, lingkungan adalah angin, capability adalah layar. Bab 10 bertanya siapa awaknya.</a:t>
            </a:r>
            <a:endParaRPr lang="en-US" sz="1800" dirty="0"/>
          </a:p>
        </p:txBody>
      </p:sp>
      <p:sp>
        <p:nvSpPr>
          <p:cNvPr id="27"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card"/>
          <p:cNvSpPr/>
          <p:nvPr/>
        </p:nvSpPr>
        <p:spPr>
          <a:xfrm>
            <a:off x="4050792" y="173736"/>
            <a:ext cx="1408176" cy="329184"/>
          </a:xfrm>
          <a:prstGeom prst="roundRect">
            <a:avLst>
              <a:gd name="adj" fmla="val 138889"/>
            </a:avLst>
          </a:prstGeom>
          <a:solidFill>
            <a:srgbClr val="D4FC00"/>
          </a:solidFill>
          <a:ln w="6350">
            <a:solidFill>
              <a:srgbClr val="D4FC00"/>
            </a:solidFill>
            <a:prstDash val="solid"/>
          </a:ln>
        </p:spPr>
      </p:sp>
      <p:sp>
        <p:nvSpPr>
          <p:cNvPr id="4"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Foundation</a:t>
            </a:r>
            <a:endParaRPr lang="en-US" sz="1050" dirty="0"/>
          </a:p>
        </p:txBody>
      </p:sp>
      <p:sp>
        <p:nvSpPr>
          <p:cNvPr id="5"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card"/>
          <p:cNvSpPr/>
          <p:nvPr/>
        </p:nvSpPr>
        <p:spPr>
          <a:xfrm>
            <a:off x="502920" y="658368"/>
            <a:ext cx="6675120" cy="1289304"/>
          </a:xfrm>
          <a:prstGeom prst="roundRect">
            <a:avLst>
              <a:gd name="adj" fmla="val 14184"/>
            </a:avLst>
          </a:prstGeom>
          <a:solidFill>
            <a:srgbClr val="D4FC00"/>
          </a:solidFill>
          <a:ln w="6350">
            <a:solidFill>
              <a:srgbClr val="D4FC00"/>
            </a:solidFill>
            <a:prstDash val="solid"/>
          </a:ln>
        </p:spPr>
      </p:sp>
      <p:sp>
        <p:nvSpPr>
          <p:cNvPr id="10" name="text"/>
          <p:cNvSpPr txBox="1"/>
          <p:nvPr/>
        </p:nvSpPr>
        <p:spPr>
          <a:xfrm>
            <a:off x="822960" y="932688"/>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TANTANGAN NOMOR SATU</a:t>
            </a:r>
            <a:endParaRPr lang="en-US" sz="1400" dirty="0"/>
          </a:p>
        </p:txBody>
      </p:sp>
      <p:sp>
        <p:nvSpPr>
          <p:cNvPr id="11" name="text"/>
          <p:cNvSpPr txBox="1"/>
          <p:nvPr/>
        </p:nvSpPr>
        <p:spPr>
          <a:xfrm>
            <a:off x="2788920" y="896112"/>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Survei 400 CEO: executional excellence (Sull dkk., 2015).</a:t>
            </a:r>
            <a:endParaRPr lang="en-US" sz="1800" dirty="0"/>
          </a:p>
        </p:txBody>
      </p:sp>
      <p:sp>
        <p:nvSpPr>
          <p:cNvPr id="12" name="dot"/>
          <p:cNvSpPr/>
          <p:nvPr/>
        </p:nvSpPr>
        <p:spPr>
          <a:xfrm>
            <a:off x="6611112" y="1165860"/>
            <a:ext cx="274320" cy="274320"/>
          </a:xfrm>
          <a:prstGeom prst="ellipse">
            <a:avLst/>
          </a:prstGeom>
          <a:solidFill>
            <a:srgbClr val="141417"/>
          </a:solidFill>
          <a:ln w="6350">
            <a:solidFill>
              <a:srgbClr val="141417"/>
            </a:solidFill>
            <a:prstDash val="solid"/>
          </a:ln>
        </p:spPr>
      </p:sp>
      <p:pic>
        <p:nvPicPr>
          <p:cNvPr id="13" name="dot-icon" descr="preencoded.png">    </p:cNvPr>
          <p:cNvPicPr>
            <a:picLocks noChangeAspect="1"/>
          </p:cNvPicPr>
          <p:nvPr/>
        </p:nvPicPr>
        <p:blipFill>
          <a:blip r:embed="rId1"/>
          <a:stretch>
            <a:fillRect/>
          </a:stretch>
        </p:blipFill>
        <p:spPr>
          <a:xfrm>
            <a:off x="6671462" y="1226210"/>
            <a:ext cx="153619" cy="153619"/>
          </a:xfrm>
          <a:prstGeom prst="rect">
            <a:avLst/>
          </a:prstGeom>
        </p:spPr>
      </p:pic>
      <p:sp>
        <p:nvSpPr>
          <p:cNvPr id="14" name="card"/>
          <p:cNvSpPr/>
          <p:nvPr/>
        </p:nvSpPr>
        <p:spPr>
          <a:xfrm>
            <a:off x="502920" y="2148840"/>
            <a:ext cx="6675120" cy="1289304"/>
          </a:xfrm>
          <a:prstGeom prst="roundRect">
            <a:avLst>
              <a:gd name="adj" fmla="val 14184"/>
            </a:avLst>
          </a:prstGeom>
          <a:solidFill>
            <a:srgbClr val="E8E8E8"/>
          </a:solidFill>
          <a:ln w="6350">
            <a:solidFill>
              <a:srgbClr val="E8E8E8"/>
            </a:solidFill>
            <a:prstDash val="solid"/>
          </a:ln>
        </p:spPr>
      </p:sp>
      <p:sp>
        <p:nvSpPr>
          <p:cNvPr id="15" name="text"/>
          <p:cNvSpPr txBox="1"/>
          <p:nvPr/>
        </p:nvSpPr>
        <p:spPr>
          <a:xfrm>
            <a:off x="822960" y="2423160"/>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SALING BERGANTUNG</a:t>
            </a:r>
            <a:endParaRPr lang="en-US" sz="1400" dirty="0"/>
          </a:p>
        </p:txBody>
      </p:sp>
      <p:sp>
        <p:nvSpPr>
          <p:cNvPr id="16" name="text"/>
          <p:cNvSpPr txBox="1"/>
          <p:nvPr/>
        </p:nvSpPr>
        <p:spPr>
          <a:xfrm>
            <a:off x="2788920" y="2386584"/>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Seluruh rantai nilai terlibat; butuh bulan sampai tahun.</a:t>
            </a:r>
            <a:endParaRPr lang="en-US" sz="1800" dirty="0"/>
          </a:p>
        </p:txBody>
      </p:sp>
      <p:sp>
        <p:nvSpPr>
          <p:cNvPr id="17" name="dot"/>
          <p:cNvSpPr/>
          <p:nvPr/>
        </p:nvSpPr>
        <p:spPr>
          <a:xfrm>
            <a:off x="6611112" y="2656332"/>
            <a:ext cx="274320" cy="274320"/>
          </a:xfrm>
          <a:prstGeom prst="ellipse">
            <a:avLst/>
          </a:prstGeom>
          <a:solidFill>
            <a:srgbClr val="141417"/>
          </a:solidFill>
          <a:ln w="6350">
            <a:solidFill>
              <a:srgbClr val="141417"/>
            </a:solidFill>
            <a:prstDash val="solid"/>
          </a:ln>
        </p:spPr>
      </p:sp>
      <p:pic>
        <p:nvPicPr>
          <p:cNvPr id="18" name="dot-icon" descr="preencoded.png">    </p:cNvPr>
          <p:cNvPicPr>
            <a:picLocks noChangeAspect="1"/>
          </p:cNvPicPr>
          <p:nvPr/>
        </p:nvPicPr>
        <p:blipFill>
          <a:blip r:embed="rId2"/>
          <a:stretch>
            <a:fillRect/>
          </a:stretch>
        </p:blipFill>
        <p:spPr>
          <a:xfrm>
            <a:off x="6671462" y="2716682"/>
            <a:ext cx="153619" cy="153619"/>
          </a:xfrm>
          <a:prstGeom prst="rect">
            <a:avLst/>
          </a:prstGeom>
        </p:spPr>
      </p:pic>
      <p:sp>
        <p:nvSpPr>
          <p:cNvPr id="19" name="card"/>
          <p:cNvSpPr/>
          <p:nvPr/>
        </p:nvSpPr>
        <p:spPr>
          <a:xfrm>
            <a:off x="502920" y="3639312"/>
            <a:ext cx="6675120" cy="1289304"/>
          </a:xfrm>
          <a:prstGeom prst="roundRect">
            <a:avLst>
              <a:gd name="adj" fmla="val 14184"/>
            </a:avLst>
          </a:prstGeom>
          <a:solidFill>
            <a:srgbClr val="D4FC00"/>
          </a:solidFill>
          <a:ln w="6350">
            <a:solidFill>
              <a:srgbClr val="D4FC00"/>
            </a:solidFill>
            <a:prstDash val="solid"/>
          </a:ln>
        </p:spPr>
      </p:sp>
      <p:sp>
        <p:nvSpPr>
          <p:cNvPr id="20" name="text"/>
          <p:cNvSpPr txBox="1"/>
          <p:nvPr/>
        </p:nvSpPr>
        <p:spPr>
          <a:xfrm>
            <a:off x="822960" y="3913632"/>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TIDAK ADA RESEP TUNGGAL</a:t>
            </a:r>
            <a:endParaRPr lang="en-US" sz="1400" dirty="0"/>
          </a:p>
        </p:txBody>
      </p:sp>
      <p:sp>
        <p:nvSpPr>
          <p:cNvPr id="21" name="text"/>
          <p:cNvSpPr txBox="1"/>
          <p:nvPr/>
        </p:nvSpPr>
        <p:spPr>
          <a:xfrm>
            <a:off x="2788920" y="3877056"/>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Agenda tindakan mengikuti situasi perusahaan.</a:t>
            </a:r>
            <a:endParaRPr lang="en-US" sz="1800" dirty="0"/>
          </a:p>
        </p:txBody>
      </p:sp>
      <p:sp>
        <p:nvSpPr>
          <p:cNvPr id="22" name="dot"/>
          <p:cNvSpPr/>
          <p:nvPr/>
        </p:nvSpPr>
        <p:spPr>
          <a:xfrm>
            <a:off x="6611112" y="4146804"/>
            <a:ext cx="274320" cy="274320"/>
          </a:xfrm>
          <a:prstGeom prst="ellipse">
            <a:avLst/>
          </a:prstGeom>
          <a:solidFill>
            <a:srgbClr val="141417"/>
          </a:solidFill>
          <a:ln w="6350">
            <a:solidFill>
              <a:srgbClr val="141417"/>
            </a:solidFill>
            <a:prstDash val="solid"/>
          </a:ln>
        </p:spPr>
      </p:sp>
      <p:pic>
        <p:nvPicPr>
          <p:cNvPr id="23" name="dot-icon" descr="preencoded.png">    </p:cNvPr>
          <p:cNvPicPr>
            <a:picLocks noChangeAspect="1"/>
          </p:cNvPicPr>
          <p:nvPr/>
        </p:nvPicPr>
        <p:blipFill>
          <a:blip r:embed="rId3"/>
          <a:stretch>
            <a:fillRect/>
          </a:stretch>
        </p:blipFill>
        <p:spPr>
          <a:xfrm>
            <a:off x="6671462" y="4207154"/>
            <a:ext cx="153619" cy="153619"/>
          </a:xfrm>
          <a:prstGeom prst="rect">
            <a:avLst/>
          </a:prstGeom>
        </p:spPr>
      </p:pic>
      <p:sp>
        <p:nvSpPr>
          <p:cNvPr id="24" name="card"/>
          <p:cNvSpPr/>
          <p:nvPr/>
        </p:nvSpPr>
        <p:spPr>
          <a:xfrm>
            <a:off x="502920" y="5129784"/>
            <a:ext cx="6675120" cy="1289304"/>
          </a:xfrm>
          <a:prstGeom prst="roundRect">
            <a:avLst>
              <a:gd name="adj" fmla="val 14184"/>
            </a:avLst>
          </a:prstGeom>
          <a:solidFill>
            <a:srgbClr val="141417"/>
          </a:solidFill>
          <a:ln w="6350">
            <a:solidFill>
              <a:srgbClr val="141417"/>
            </a:solidFill>
            <a:prstDash val="solid"/>
          </a:ln>
        </p:spPr>
      </p:sp>
      <p:sp>
        <p:nvSpPr>
          <p:cNvPr id="25" name="text"/>
          <p:cNvSpPr txBox="1"/>
          <p:nvPr/>
        </p:nvSpPr>
        <p:spPr>
          <a:xfrm>
            <a:off x="822960" y="5404104"/>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DUA TANDA EKSEKUSI BAIK</a:t>
            </a:r>
            <a:endParaRPr lang="en-US" sz="1400" dirty="0"/>
          </a:p>
        </p:txBody>
      </p:sp>
      <p:sp>
        <p:nvSpPr>
          <p:cNvPr id="26" name="text"/>
          <p:cNvSpPr txBox="1"/>
          <p:nvPr/>
        </p:nvSpPr>
        <p:spPr>
          <a:xfrm>
            <a:off x="2788920" y="5367528"/>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Target tercapai; aktivitas kritis dijalankan mahir.</a:t>
            </a:r>
            <a:endParaRPr lang="en-US" sz="1800" dirty="0"/>
          </a:p>
        </p:txBody>
      </p:sp>
      <p:sp>
        <p:nvSpPr>
          <p:cNvPr id="27" name="dot"/>
          <p:cNvSpPr/>
          <p:nvPr/>
        </p:nvSpPr>
        <p:spPr>
          <a:xfrm>
            <a:off x="6611112" y="5637276"/>
            <a:ext cx="274320" cy="274320"/>
          </a:xfrm>
          <a:prstGeom prst="ellipse">
            <a:avLst/>
          </a:prstGeom>
          <a:solidFill>
            <a:srgbClr val="D4FC00"/>
          </a:solidFill>
          <a:ln w="6350">
            <a:solidFill>
              <a:srgbClr val="D4FC00"/>
            </a:solidFill>
            <a:prstDash val="solid"/>
          </a:ln>
        </p:spPr>
      </p:sp>
      <p:pic>
        <p:nvPicPr>
          <p:cNvPr id="28" name="dot-icon" descr="preencoded.png">    </p:cNvPr>
          <p:cNvPicPr>
            <a:picLocks noChangeAspect="1"/>
          </p:cNvPicPr>
          <p:nvPr/>
        </p:nvPicPr>
        <p:blipFill>
          <a:blip r:embed="rId4"/>
          <a:stretch>
            <a:fillRect/>
          </a:stretch>
        </p:blipFill>
        <p:spPr>
          <a:xfrm>
            <a:off x="6671462" y="5697626"/>
            <a:ext cx="153619" cy="153619"/>
          </a:xfrm>
          <a:prstGeom prst="rect">
            <a:avLst/>
          </a:prstGeom>
        </p:spPr>
      </p:pic>
      <p:pic>
        <p:nvPicPr>
          <p:cNvPr id="29" name="Meja kerja putih dengan laptop dan buku catatan" descr="preencoded.png">    </p:cNvPr>
          <p:cNvPicPr>
            <a:picLocks noChangeAspect="1"/>
          </p:cNvPicPr>
          <p:nvPr/>
        </p:nvPicPr>
        <p:blipFill>
          <a:blip r:embed="rId5"/>
          <a:stretch>
            <a:fillRect/>
          </a:stretch>
        </p:blipFill>
        <p:spPr>
          <a:xfrm>
            <a:off x="7635240" y="658368"/>
            <a:ext cx="4053535" cy="2103120"/>
          </a:xfrm>
          <a:prstGeom prst="rect">
            <a:avLst/>
          </a:prstGeom>
        </p:spPr>
      </p:pic>
      <p:sp>
        <p:nvSpPr>
          <p:cNvPr id="30" name="text"/>
          <p:cNvSpPr txBox="1"/>
          <p:nvPr/>
        </p:nvSpPr>
        <p:spPr>
          <a:xfrm>
            <a:off x="7635240" y="2971800"/>
            <a:ext cx="4053535" cy="2286000"/>
          </a:xfrm>
          <a:prstGeom prst="rect">
            <a:avLst/>
          </a:prstGeom>
          <a:noFill/>
          <a:ln/>
        </p:spPr>
        <p:txBody>
          <a:bodyPr wrap="square" lIns="0" tIns="0" rIns="0" bIns="0" rtlCol="0" anchor="t"/>
          <a:lstStyle/>
          <a:p>
            <a:pPr algn="l" indent="0" marL="0">
              <a:lnSpc>
                <a:spcPct val="100000"/>
              </a:lnSpc>
              <a:buNone/>
            </a:pPr>
            <a:r>
              <a:rPr lang="en-US" sz="3200" dirty="0">
                <a:solidFill>
                  <a:srgbClr val="141417"/>
                </a:solidFill>
                <a:latin typeface="Outfit SemiBold" pitchFamily="34" charset="0"/>
                <a:ea typeface="Outfit SemiBold" pitchFamily="34" charset="-122"/>
                <a:cs typeface="Outfit SemiBold" pitchFamily="34" charset="-120"/>
              </a:rPr>
              <a:t>EKSEKUSI ADALAH UJIAN YANG SESUNGGUHNYA</a:t>
            </a:r>
            <a:endParaRPr lang="en-US" sz="3200" dirty="0"/>
          </a:p>
        </p:txBody>
      </p:sp>
      <p:sp>
        <p:nvSpPr>
          <p:cNvPr id="31" name="text"/>
          <p:cNvSpPr txBox="1"/>
          <p:nvPr/>
        </p:nvSpPr>
        <p:spPr>
          <a:xfrm>
            <a:off x="7635240" y="5257800"/>
            <a:ext cx="4053535" cy="114300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Eksekusi adalah team effort: setiap manajer bertanggung jawab di areanya.</a:t>
            </a:r>
            <a:endParaRPr lang="en-US" sz="1600" dirty="0"/>
          </a:p>
        </p:txBody>
      </p:sp>
      <p:sp>
        <p:nvSpPr>
          <p:cNvPr id="32"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card"/>
          <p:cNvSpPr/>
          <p:nvPr/>
        </p:nvSpPr>
        <p:spPr>
          <a:xfrm>
            <a:off x="4050792" y="173736"/>
            <a:ext cx="1408176" cy="329184"/>
          </a:xfrm>
          <a:prstGeom prst="roundRect">
            <a:avLst>
              <a:gd name="adj" fmla="val 138889"/>
            </a:avLst>
          </a:prstGeom>
          <a:solidFill>
            <a:srgbClr val="D4FC00"/>
          </a:solidFill>
          <a:ln w="6350">
            <a:solidFill>
              <a:srgbClr val="D4FC00"/>
            </a:solidFill>
            <a:prstDash val="solid"/>
          </a:ln>
        </p:spPr>
      </p:sp>
      <p:sp>
        <p:nvSpPr>
          <p:cNvPr id="4"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Foundation</a:t>
            </a:r>
            <a:endParaRPr lang="en-US" sz="1050" dirty="0"/>
          </a:p>
        </p:txBody>
      </p:sp>
      <p:sp>
        <p:nvSpPr>
          <p:cNvPr id="5"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card"/>
          <p:cNvSpPr/>
          <p:nvPr/>
        </p:nvSpPr>
        <p:spPr>
          <a:xfrm>
            <a:off x="7863840" y="-274320"/>
            <a:ext cx="3017520" cy="7406640"/>
          </a:xfrm>
          <a:prstGeom prst="roundRect">
            <a:avLst>
              <a:gd name="adj" fmla="val 10606"/>
            </a:avLst>
          </a:prstGeom>
          <a:solidFill>
            <a:srgbClr val="D4FC00"/>
          </a:solidFill>
          <a:ln w="6350">
            <a:solidFill>
              <a:srgbClr val="D4FC00"/>
            </a:solidFill>
            <a:prstDash val="solid"/>
          </a:ln>
        </p:spPr>
      </p:sp>
      <p:sp>
        <p:nvSpPr>
          <p:cNvPr id="10"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11" name="card"/>
          <p:cNvSpPr/>
          <p:nvPr/>
        </p:nvSpPr>
        <p:spPr>
          <a:xfrm>
            <a:off x="4050792" y="173736"/>
            <a:ext cx="1408176" cy="329184"/>
          </a:xfrm>
          <a:prstGeom prst="roundRect">
            <a:avLst>
              <a:gd name="adj" fmla="val 138889"/>
            </a:avLst>
          </a:prstGeom>
          <a:solidFill>
            <a:srgbClr val="D4FC00"/>
          </a:solidFill>
          <a:ln w="6350">
            <a:solidFill>
              <a:srgbClr val="D4FC00"/>
            </a:solidFill>
            <a:prstDash val="solid"/>
          </a:ln>
        </p:spPr>
      </p:sp>
      <p:sp>
        <p:nvSpPr>
          <p:cNvPr id="12"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Foundation</a:t>
            </a:r>
            <a:endParaRPr lang="en-US" sz="1050" dirty="0"/>
          </a:p>
        </p:txBody>
      </p:sp>
      <p:sp>
        <p:nvSpPr>
          <p:cNvPr id="13"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14"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15"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16"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17" name="text"/>
          <p:cNvSpPr txBox="1"/>
          <p:nvPr/>
        </p:nvSpPr>
        <p:spPr>
          <a:xfrm>
            <a:off x="502920" y="868680"/>
            <a:ext cx="5943600" cy="73152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SEPULUH TUGAS EKSEKUSI</a:t>
            </a:r>
            <a:endParaRPr lang="en-US" sz="3400" dirty="0"/>
          </a:p>
        </p:txBody>
      </p:sp>
      <p:sp>
        <p:nvSpPr>
          <p:cNvPr id="18" name="text"/>
          <p:cNvSpPr txBox="1"/>
          <p:nvPr/>
        </p:nvSpPr>
        <p:spPr>
          <a:xfrm>
            <a:off x="502920" y="1572768"/>
            <a:ext cx="6035040" cy="77724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Figure 10.1, digambar ulang. Tiga tugas pertama membangun organisasi yang mampu; tujuh berikutnya menggerakkannya.</a:t>
            </a:r>
            <a:endParaRPr lang="en-US" sz="1600" dirty="0"/>
          </a:p>
        </p:txBody>
      </p:sp>
      <p:sp>
        <p:nvSpPr>
          <p:cNvPr id="19" name="connector"/>
          <p:cNvSpPr/>
          <p:nvPr/>
        </p:nvSpPr>
        <p:spPr>
          <a:xfrm flipH="1">
            <a:off x="3749040" y="2739030"/>
            <a:ext cx="777054" cy="1695810"/>
          </a:xfrm>
          <a:prstGeom prst="line">
            <a:avLst/>
          </a:prstGeom>
          <a:noFill/>
          <a:ln w="12700">
            <a:solidFill>
              <a:srgbClr val="C9C9CC"/>
            </a:solidFill>
            <a:prstDash val="solid"/>
          </a:ln>
        </p:spPr>
      </p:sp>
      <p:sp>
        <p:nvSpPr>
          <p:cNvPr id="20" name="connector"/>
          <p:cNvSpPr/>
          <p:nvPr/>
        </p:nvSpPr>
        <p:spPr>
          <a:xfrm flipH="1">
            <a:off x="3749040" y="3386772"/>
            <a:ext cx="2034354" cy="1048068"/>
          </a:xfrm>
          <a:prstGeom prst="line">
            <a:avLst/>
          </a:prstGeom>
          <a:noFill/>
          <a:ln w="12700">
            <a:solidFill>
              <a:srgbClr val="C9C9CC"/>
            </a:solidFill>
            <a:prstDash val="solid"/>
          </a:ln>
        </p:spPr>
      </p:sp>
      <p:sp>
        <p:nvSpPr>
          <p:cNvPr id="21" name="connector"/>
          <p:cNvSpPr/>
          <p:nvPr/>
        </p:nvSpPr>
        <p:spPr>
          <a:xfrm>
            <a:off x="3749040" y="4434840"/>
            <a:ext cx="2514600" cy="0"/>
          </a:xfrm>
          <a:prstGeom prst="line">
            <a:avLst/>
          </a:prstGeom>
          <a:noFill/>
          <a:ln w="12700">
            <a:solidFill>
              <a:srgbClr val="C9C9CC"/>
            </a:solidFill>
            <a:prstDash val="solid"/>
          </a:ln>
        </p:spPr>
      </p:sp>
      <p:sp>
        <p:nvSpPr>
          <p:cNvPr id="22" name="connector"/>
          <p:cNvSpPr/>
          <p:nvPr/>
        </p:nvSpPr>
        <p:spPr>
          <a:xfrm>
            <a:off x="3749040" y="4434840"/>
            <a:ext cx="2034354" cy="1048068"/>
          </a:xfrm>
          <a:prstGeom prst="line">
            <a:avLst/>
          </a:prstGeom>
          <a:noFill/>
          <a:ln w="12700">
            <a:solidFill>
              <a:srgbClr val="C9C9CC"/>
            </a:solidFill>
            <a:prstDash val="solid"/>
          </a:ln>
        </p:spPr>
      </p:sp>
      <p:sp>
        <p:nvSpPr>
          <p:cNvPr id="23" name="connector"/>
          <p:cNvSpPr/>
          <p:nvPr/>
        </p:nvSpPr>
        <p:spPr>
          <a:xfrm>
            <a:off x="3749040" y="4434840"/>
            <a:ext cx="777054" cy="1695810"/>
          </a:xfrm>
          <a:prstGeom prst="line">
            <a:avLst/>
          </a:prstGeom>
          <a:noFill/>
          <a:ln w="12700">
            <a:solidFill>
              <a:srgbClr val="C9C9CC"/>
            </a:solidFill>
            <a:prstDash val="solid"/>
          </a:ln>
        </p:spPr>
      </p:sp>
      <p:sp>
        <p:nvSpPr>
          <p:cNvPr id="24" name="connector"/>
          <p:cNvSpPr/>
          <p:nvPr/>
        </p:nvSpPr>
        <p:spPr>
          <a:xfrm flipH="1">
            <a:off x="2971986" y="4434840"/>
            <a:ext cx="777054" cy="1695810"/>
          </a:xfrm>
          <a:prstGeom prst="line">
            <a:avLst/>
          </a:prstGeom>
          <a:noFill/>
          <a:ln w="12700">
            <a:solidFill>
              <a:srgbClr val="C9C9CC"/>
            </a:solidFill>
            <a:prstDash val="solid"/>
          </a:ln>
        </p:spPr>
      </p:sp>
      <p:sp>
        <p:nvSpPr>
          <p:cNvPr id="25" name="connector"/>
          <p:cNvSpPr/>
          <p:nvPr/>
        </p:nvSpPr>
        <p:spPr>
          <a:xfrm flipH="1">
            <a:off x="1714686" y="4434840"/>
            <a:ext cx="2034354" cy="1048068"/>
          </a:xfrm>
          <a:prstGeom prst="line">
            <a:avLst/>
          </a:prstGeom>
          <a:noFill/>
          <a:ln w="12700">
            <a:solidFill>
              <a:srgbClr val="C9C9CC"/>
            </a:solidFill>
            <a:prstDash val="solid"/>
          </a:ln>
        </p:spPr>
      </p:sp>
      <p:sp>
        <p:nvSpPr>
          <p:cNvPr id="26" name="connector"/>
          <p:cNvSpPr/>
          <p:nvPr/>
        </p:nvSpPr>
        <p:spPr>
          <a:xfrm flipH="1">
            <a:off x="1234440" y="4434840"/>
            <a:ext cx="2514600" cy="0"/>
          </a:xfrm>
          <a:prstGeom prst="line">
            <a:avLst/>
          </a:prstGeom>
          <a:noFill/>
          <a:ln w="12700">
            <a:solidFill>
              <a:srgbClr val="C9C9CC"/>
            </a:solidFill>
            <a:prstDash val="solid"/>
          </a:ln>
        </p:spPr>
      </p:sp>
      <p:sp>
        <p:nvSpPr>
          <p:cNvPr id="27" name="connector"/>
          <p:cNvSpPr/>
          <p:nvPr/>
        </p:nvSpPr>
        <p:spPr>
          <a:xfrm>
            <a:off x="1714686" y="3386772"/>
            <a:ext cx="2034354" cy="1048068"/>
          </a:xfrm>
          <a:prstGeom prst="line">
            <a:avLst/>
          </a:prstGeom>
          <a:noFill/>
          <a:ln w="12700">
            <a:solidFill>
              <a:srgbClr val="C9C9CC"/>
            </a:solidFill>
            <a:prstDash val="solid"/>
          </a:ln>
        </p:spPr>
      </p:sp>
      <p:sp>
        <p:nvSpPr>
          <p:cNvPr id="28" name="connector"/>
          <p:cNvSpPr/>
          <p:nvPr/>
        </p:nvSpPr>
        <p:spPr>
          <a:xfrm>
            <a:off x="2971986" y="2739030"/>
            <a:ext cx="777054" cy="1695810"/>
          </a:xfrm>
          <a:prstGeom prst="line">
            <a:avLst/>
          </a:prstGeom>
          <a:noFill/>
          <a:ln w="12700">
            <a:solidFill>
              <a:srgbClr val="C9C9CC"/>
            </a:solidFill>
            <a:prstDash val="solid"/>
          </a:ln>
        </p:spPr>
      </p:sp>
      <p:sp>
        <p:nvSpPr>
          <p:cNvPr id="29" name="pusat"/>
          <p:cNvSpPr/>
          <p:nvPr/>
        </p:nvSpPr>
        <p:spPr>
          <a:xfrm>
            <a:off x="2880360" y="3657600"/>
            <a:ext cx="1737360" cy="1554480"/>
          </a:xfrm>
          <a:prstGeom prst="hexagon">
            <a:avLst/>
          </a:prstGeom>
          <a:solidFill>
            <a:srgbClr val="141417"/>
          </a:solidFill>
          <a:ln w="6350">
            <a:solidFill>
              <a:srgbClr val="141417"/>
            </a:solidFill>
            <a:prstDash val="solid"/>
          </a:ln>
        </p:spPr>
      </p:sp>
      <p:sp>
        <p:nvSpPr>
          <p:cNvPr id="30" name="text"/>
          <p:cNvSpPr txBox="1"/>
          <p:nvPr/>
        </p:nvSpPr>
        <p:spPr>
          <a:xfrm>
            <a:off x="3072384" y="3904488"/>
            <a:ext cx="1353312" cy="1060704"/>
          </a:xfrm>
          <a:prstGeom prst="rect">
            <a:avLst/>
          </a:prstGeom>
          <a:noFill/>
          <a:ln/>
        </p:spPr>
        <p:txBody>
          <a:bodyPr wrap="square" lIns="0" tIns="0" rIns="0" bIns="0" rtlCol="0" anchor="ctr"/>
          <a:lstStyle/>
          <a:p>
            <a:pPr algn="ctr" indent="0" marL="0">
              <a:lnSpc>
                <a:spcPct val="122000"/>
              </a:lnSpc>
              <a:buNone/>
            </a:pPr>
            <a:r>
              <a:rPr lang="en-US" sz="1200" dirty="0">
                <a:solidFill>
                  <a:srgbClr val="D4FC00"/>
                </a:solidFill>
                <a:latin typeface="Outfit Medium" pitchFamily="34" charset="0"/>
                <a:ea typeface="Outfit Medium" pitchFamily="34" charset="-122"/>
                <a:cs typeface="Outfit Medium" pitchFamily="34" charset="-120"/>
              </a:rPr>
              <a:t>The Action Agenda for Executing Strategy</a:t>
            </a:r>
            <a:endParaRPr lang="en-US" sz="1200" dirty="0"/>
          </a:p>
        </p:txBody>
      </p:sp>
      <p:sp>
        <p:nvSpPr>
          <p:cNvPr id="31" name="card"/>
          <p:cNvSpPr/>
          <p:nvPr/>
        </p:nvSpPr>
        <p:spPr>
          <a:xfrm>
            <a:off x="3840294" y="2418990"/>
            <a:ext cx="1371600" cy="640080"/>
          </a:xfrm>
          <a:prstGeom prst="roundRect">
            <a:avLst>
              <a:gd name="adj" fmla="val 17143"/>
            </a:avLst>
          </a:prstGeom>
          <a:solidFill>
            <a:srgbClr val="D4FC00"/>
          </a:solidFill>
          <a:ln w="6350">
            <a:solidFill>
              <a:srgbClr val="D4FC00"/>
            </a:solidFill>
            <a:prstDash val="solid"/>
          </a:ln>
        </p:spPr>
      </p:sp>
      <p:sp>
        <p:nvSpPr>
          <p:cNvPr id="32" name="text"/>
          <p:cNvSpPr txBox="1"/>
          <p:nvPr/>
        </p:nvSpPr>
        <p:spPr>
          <a:xfrm>
            <a:off x="3950022" y="241899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1</a:t>
            </a:r>
            <a:endParaRPr lang="en-US" sz="1300" dirty="0"/>
          </a:p>
        </p:txBody>
      </p:sp>
      <p:sp>
        <p:nvSpPr>
          <p:cNvPr id="33" name="text"/>
          <p:cNvSpPr txBox="1"/>
          <p:nvPr/>
        </p:nvSpPr>
        <p:spPr>
          <a:xfrm>
            <a:off x="4242630" y="241899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Staffing</a:t>
            </a:r>
            <a:endParaRPr lang="en-US" sz="1200" dirty="0"/>
          </a:p>
        </p:txBody>
      </p:sp>
      <p:sp>
        <p:nvSpPr>
          <p:cNvPr id="34" name="card"/>
          <p:cNvSpPr/>
          <p:nvPr/>
        </p:nvSpPr>
        <p:spPr>
          <a:xfrm>
            <a:off x="5097594" y="3066732"/>
            <a:ext cx="1371600" cy="640080"/>
          </a:xfrm>
          <a:prstGeom prst="roundRect">
            <a:avLst>
              <a:gd name="adj" fmla="val 17143"/>
            </a:avLst>
          </a:prstGeom>
          <a:solidFill>
            <a:srgbClr val="D4FC00"/>
          </a:solidFill>
          <a:ln w="6350">
            <a:solidFill>
              <a:srgbClr val="D4FC00"/>
            </a:solidFill>
            <a:prstDash val="solid"/>
          </a:ln>
        </p:spPr>
      </p:sp>
      <p:sp>
        <p:nvSpPr>
          <p:cNvPr id="35" name="text"/>
          <p:cNvSpPr txBox="1"/>
          <p:nvPr/>
        </p:nvSpPr>
        <p:spPr>
          <a:xfrm>
            <a:off x="5207322" y="3066732"/>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2</a:t>
            </a:r>
            <a:endParaRPr lang="en-US" sz="1300" dirty="0"/>
          </a:p>
        </p:txBody>
      </p:sp>
      <p:sp>
        <p:nvSpPr>
          <p:cNvPr id="36" name="text"/>
          <p:cNvSpPr txBox="1"/>
          <p:nvPr/>
        </p:nvSpPr>
        <p:spPr>
          <a:xfrm>
            <a:off x="5499930" y="3066732"/>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Capabilities</a:t>
            </a:r>
            <a:endParaRPr lang="en-US" sz="1200" dirty="0"/>
          </a:p>
        </p:txBody>
      </p:sp>
      <p:sp>
        <p:nvSpPr>
          <p:cNvPr id="37" name="card"/>
          <p:cNvSpPr/>
          <p:nvPr/>
        </p:nvSpPr>
        <p:spPr>
          <a:xfrm>
            <a:off x="5577840" y="4114800"/>
            <a:ext cx="1371600" cy="640080"/>
          </a:xfrm>
          <a:prstGeom prst="roundRect">
            <a:avLst>
              <a:gd name="adj" fmla="val 17143"/>
            </a:avLst>
          </a:prstGeom>
          <a:solidFill>
            <a:srgbClr val="D4FC00"/>
          </a:solidFill>
          <a:ln w="6350">
            <a:solidFill>
              <a:srgbClr val="D4FC00"/>
            </a:solidFill>
            <a:prstDash val="solid"/>
          </a:ln>
        </p:spPr>
      </p:sp>
      <p:sp>
        <p:nvSpPr>
          <p:cNvPr id="38" name="text"/>
          <p:cNvSpPr txBox="1"/>
          <p:nvPr/>
        </p:nvSpPr>
        <p:spPr>
          <a:xfrm>
            <a:off x="5687568" y="411480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3</a:t>
            </a:r>
            <a:endParaRPr lang="en-US" sz="1300" dirty="0"/>
          </a:p>
        </p:txBody>
      </p:sp>
      <p:sp>
        <p:nvSpPr>
          <p:cNvPr id="39" name="text"/>
          <p:cNvSpPr txBox="1"/>
          <p:nvPr/>
        </p:nvSpPr>
        <p:spPr>
          <a:xfrm>
            <a:off x="5980176" y="411480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Structure</a:t>
            </a:r>
            <a:endParaRPr lang="en-US" sz="1200" dirty="0"/>
          </a:p>
        </p:txBody>
      </p:sp>
      <p:sp>
        <p:nvSpPr>
          <p:cNvPr id="40" name="card"/>
          <p:cNvSpPr/>
          <p:nvPr/>
        </p:nvSpPr>
        <p:spPr>
          <a:xfrm>
            <a:off x="5097594" y="5162868"/>
            <a:ext cx="1371600" cy="640080"/>
          </a:xfrm>
          <a:prstGeom prst="roundRect">
            <a:avLst>
              <a:gd name="adj" fmla="val 17143"/>
            </a:avLst>
          </a:prstGeom>
          <a:solidFill>
            <a:srgbClr val="E8E8E8"/>
          </a:solidFill>
          <a:ln w="6350">
            <a:solidFill>
              <a:srgbClr val="E8E8E8"/>
            </a:solidFill>
            <a:prstDash val="solid"/>
          </a:ln>
        </p:spPr>
      </p:sp>
      <p:sp>
        <p:nvSpPr>
          <p:cNvPr id="41" name="text"/>
          <p:cNvSpPr txBox="1"/>
          <p:nvPr/>
        </p:nvSpPr>
        <p:spPr>
          <a:xfrm>
            <a:off x="5207322" y="5162868"/>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4</a:t>
            </a:r>
            <a:endParaRPr lang="en-US" sz="1300" dirty="0"/>
          </a:p>
        </p:txBody>
      </p:sp>
      <p:sp>
        <p:nvSpPr>
          <p:cNvPr id="42" name="text"/>
          <p:cNvSpPr txBox="1"/>
          <p:nvPr/>
        </p:nvSpPr>
        <p:spPr>
          <a:xfrm>
            <a:off x="5499930" y="5162868"/>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Resources</a:t>
            </a:r>
            <a:endParaRPr lang="en-US" sz="1200" dirty="0"/>
          </a:p>
        </p:txBody>
      </p:sp>
      <p:sp>
        <p:nvSpPr>
          <p:cNvPr id="43" name="card"/>
          <p:cNvSpPr/>
          <p:nvPr/>
        </p:nvSpPr>
        <p:spPr>
          <a:xfrm>
            <a:off x="3840294" y="5810610"/>
            <a:ext cx="1371600" cy="640080"/>
          </a:xfrm>
          <a:prstGeom prst="roundRect">
            <a:avLst>
              <a:gd name="adj" fmla="val 17143"/>
            </a:avLst>
          </a:prstGeom>
          <a:solidFill>
            <a:srgbClr val="E8E8E8"/>
          </a:solidFill>
          <a:ln w="6350">
            <a:solidFill>
              <a:srgbClr val="E8E8E8"/>
            </a:solidFill>
            <a:prstDash val="solid"/>
          </a:ln>
        </p:spPr>
      </p:sp>
      <p:sp>
        <p:nvSpPr>
          <p:cNvPr id="44" name="text"/>
          <p:cNvSpPr txBox="1"/>
          <p:nvPr/>
        </p:nvSpPr>
        <p:spPr>
          <a:xfrm>
            <a:off x="3950022" y="581061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5</a:t>
            </a:r>
            <a:endParaRPr lang="en-US" sz="1300" dirty="0"/>
          </a:p>
        </p:txBody>
      </p:sp>
      <p:sp>
        <p:nvSpPr>
          <p:cNvPr id="45" name="text"/>
          <p:cNvSpPr txBox="1"/>
          <p:nvPr/>
        </p:nvSpPr>
        <p:spPr>
          <a:xfrm>
            <a:off x="4242630" y="581061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Policies</a:t>
            </a:r>
            <a:endParaRPr lang="en-US" sz="1200" dirty="0"/>
          </a:p>
        </p:txBody>
      </p:sp>
      <p:sp>
        <p:nvSpPr>
          <p:cNvPr id="46" name="card"/>
          <p:cNvSpPr/>
          <p:nvPr/>
        </p:nvSpPr>
        <p:spPr>
          <a:xfrm>
            <a:off x="2286186" y="5810610"/>
            <a:ext cx="1371600" cy="640080"/>
          </a:xfrm>
          <a:prstGeom prst="roundRect">
            <a:avLst>
              <a:gd name="adj" fmla="val 17143"/>
            </a:avLst>
          </a:prstGeom>
          <a:solidFill>
            <a:srgbClr val="E8E8E8"/>
          </a:solidFill>
          <a:ln w="6350">
            <a:solidFill>
              <a:srgbClr val="E8E8E8"/>
            </a:solidFill>
            <a:prstDash val="solid"/>
          </a:ln>
        </p:spPr>
      </p:sp>
      <p:sp>
        <p:nvSpPr>
          <p:cNvPr id="47" name="text"/>
          <p:cNvSpPr txBox="1"/>
          <p:nvPr/>
        </p:nvSpPr>
        <p:spPr>
          <a:xfrm>
            <a:off x="2395914" y="581061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6</a:t>
            </a:r>
            <a:endParaRPr lang="en-US" sz="1300" dirty="0"/>
          </a:p>
        </p:txBody>
      </p:sp>
      <p:sp>
        <p:nvSpPr>
          <p:cNvPr id="48" name="text"/>
          <p:cNvSpPr txBox="1"/>
          <p:nvPr/>
        </p:nvSpPr>
        <p:spPr>
          <a:xfrm>
            <a:off x="2688522" y="581061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Process improvement</a:t>
            </a:r>
            <a:endParaRPr lang="en-US" sz="1200" dirty="0"/>
          </a:p>
        </p:txBody>
      </p:sp>
      <p:sp>
        <p:nvSpPr>
          <p:cNvPr id="49" name="card"/>
          <p:cNvSpPr/>
          <p:nvPr/>
        </p:nvSpPr>
        <p:spPr>
          <a:xfrm>
            <a:off x="1028886" y="5162868"/>
            <a:ext cx="1371600" cy="640080"/>
          </a:xfrm>
          <a:prstGeom prst="roundRect">
            <a:avLst>
              <a:gd name="adj" fmla="val 17143"/>
            </a:avLst>
          </a:prstGeom>
          <a:solidFill>
            <a:srgbClr val="E8E8E8"/>
          </a:solidFill>
          <a:ln w="6350">
            <a:solidFill>
              <a:srgbClr val="E8E8E8"/>
            </a:solidFill>
            <a:prstDash val="solid"/>
          </a:ln>
        </p:spPr>
      </p:sp>
      <p:sp>
        <p:nvSpPr>
          <p:cNvPr id="50" name="text"/>
          <p:cNvSpPr txBox="1"/>
          <p:nvPr/>
        </p:nvSpPr>
        <p:spPr>
          <a:xfrm>
            <a:off x="1138614" y="5162868"/>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7</a:t>
            </a:r>
            <a:endParaRPr lang="en-US" sz="1300" dirty="0"/>
          </a:p>
        </p:txBody>
      </p:sp>
      <p:sp>
        <p:nvSpPr>
          <p:cNvPr id="51" name="text"/>
          <p:cNvSpPr txBox="1"/>
          <p:nvPr/>
        </p:nvSpPr>
        <p:spPr>
          <a:xfrm>
            <a:off x="1431222" y="5162868"/>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Information systems</a:t>
            </a:r>
            <a:endParaRPr lang="en-US" sz="1200" dirty="0"/>
          </a:p>
        </p:txBody>
      </p:sp>
      <p:sp>
        <p:nvSpPr>
          <p:cNvPr id="52" name="card"/>
          <p:cNvSpPr/>
          <p:nvPr/>
        </p:nvSpPr>
        <p:spPr>
          <a:xfrm>
            <a:off x="548640" y="4114800"/>
            <a:ext cx="1371600" cy="640080"/>
          </a:xfrm>
          <a:prstGeom prst="roundRect">
            <a:avLst>
              <a:gd name="adj" fmla="val 17143"/>
            </a:avLst>
          </a:prstGeom>
          <a:solidFill>
            <a:srgbClr val="E8E8E8"/>
          </a:solidFill>
          <a:ln w="6350">
            <a:solidFill>
              <a:srgbClr val="E8E8E8"/>
            </a:solidFill>
            <a:prstDash val="solid"/>
          </a:ln>
        </p:spPr>
      </p:sp>
      <p:sp>
        <p:nvSpPr>
          <p:cNvPr id="53" name="text"/>
          <p:cNvSpPr txBox="1"/>
          <p:nvPr/>
        </p:nvSpPr>
        <p:spPr>
          <a:xfrm>
            <a:off x="658368" y="411480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8</a:t>
            </a:r>
            <a:endParaRPr lang="en-US" sz="1300" dirty="0"/>
          </a:p>
        </p:txBody>
      </p:sp>
      <p:sp>
        <p:nvSpPr>
          <p:cNvPr id="54" name="text"/>
          <p:cNvSpPr txBox="1"/>
          <p:nvPr/>
        </p:nvSpPr>
        <p:spPr>
          <a:xfrm>
            <a:off x="950976" y="411480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Rewards</a:t>
            </a:r>
            <a:endParaRPr lang="en-US" sz="1200" dirty="0"/>
          </a:p>
        </p:txBody>
      </p:sp>
      <p:sp>
        <p:nvSpPr>
          <p:cNvPr id="55" name="card"/>
          <p:cNvSpPr/>
          <p:nvPr/>
        </p:nvSpPr>
        <p:spPr>
          <a:xfrm>
            <a:off x="1028886" y="3066732"/>
            <a:ext cx="1371600" cy="640080"/>
          </a:xfrm>
          <a:prstGeom prst="roundRect">
            <a:avLst>
              <a:gd name="adj" fmla="val 17143"/>
            </a:avLst>
          </a:prstGeom>
          <a:solidFill>
            <a:srgbClr val="141417"/>
          </a:solidFill>
          <a:ln w="6350">
            <a:solidFill>
              <a:srgbClr val="141417"/>
            </a:solidFill>
            <a:prstDash val="solid"/>
          </a:ln>
        </p:spPr>
      </p:sp>
      <p:sp>
        <p:nvSpPr>
          <p:cNvPr id="56" name="text"/>
          <p:cNvSpPr txBox="1"/>
          <p:nvPr/>
        </p:nvSpPr>
        <p:spPr>
          <a:xfrm>
            <a:off x="1138614" y="3066732"/>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D4FC00"/>
                </a:solidFill>
                <a:latin typeface="Outfit Medium" pitchFamily="34" charset="0"/>
                <a:ea typeface="Outfit Medium" pitchFamily="34" charset="-122"/>
                <a:cs typeface="Outfit Medium" pitchFamily="34" charset="-120"/>
              </a:rPr>
              <a:t>9</a:t>
            </a:r>
            <a:endParaRPr lang="en-US" sz="1300" dirty="0"/>
          </a:p>
        </p:txBody>
      </p:sp>
      <p:sp>
        <p:nvSpPr>
          <p:cNvPr id="57" name="text"/>
          <p:cNvSpPr txBox="1"/>
          <p:nvPr/>
        </p:nvSpPr>
        <p:spPr>
          <a:xfrm>
            <a:off x="1431222" y="3066732"/>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FFFFFF"/>
                </a:solidFill>
                <a:latin typeface="Outfit" pitchFamily="34" charset="0"/>
                <a:ea typeface="Outfit" pitchFamily="34" charset="-122"/>
                <a:cs typeface="Outfit" pitchFamily="34" charset="-120"/>
              </a:rPr>
              <a:t>Culture</a:t>
            </a:r>
            <a:endParaRPr lang="en-US" sz="1200" dirty="0"/>
          </a:p>
        </p:txBody>
      </p:sp>
      <p:sp>
        <p:nvSpPr>
          <p:cNvPr id="58" name="card"/>
          <p:cNvSpPr/>
          <p:nvPr/>
        </p:nvSpPr>
        <p:spPr>
          <a:xfrm>
            <a:off x="2286186" y="2418990"/>
            <a:ext cx="1371600" cy="640080"/>
          </a:xfrm>
          <a:prstGeom prst="roundRect">
            <a:avLst>
              <a:gd name="adj" fmla="val 17143"/>
            </a:avLst>
          </a:prstGeom>
          <a:solidFill>
            <a:srgbClr val="141417"/>
          </a:solidFill>
          <a:ln w="6350">
            <a:solidFill>
              <a:srgbClr val="141417"/>
            </a:solidFill>
            <a:prstDash val="solid"/>
          </a:ln>
        </p:spPr>
      </p:sp>
      <p:sp>
        <p:nvSpPr>
          <p:cNvPr id="59" name="text"/>
          <p:cNvSpPr txBox="1"/>
          <p:nvPr/>
        </p:nvSpPr>
        <p:spPr>
          <a:xfrm>
            <a:off x="2395914" y="241899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D4FC00"/>
                </a:solidFill>
                <a:latin typeface="Outfit Medium" pitchFamily="34" charset="0"/>
                <a:ea typeface="Outfit Medium" pitchFamily="34" charset="-122"/>
                <a:cs typeface="Outfit Medium" pitchFamily="34" charset="-120"/>
              </a:rPr>
              <a:t>10</a:t>
            </a:r>
            <a:endParaRPr lang="en-US" sz="1300" dirty="0"/>
          </a:p>
        </p:txBody>
      </p:sp>
      <p:sp>
        <p:nvSpPr>
          <p:cNvPr id="60" name="text"/>
          <p:cNvSpPr txBox="1"/>
          <p:nvPr/>
        </p:nvSpPr>
        <p:spPr>
          <a:xfrm>
            <a:off x="2688522" y="241899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FFFFFF"/>
                </a:solidFill>
                <a:latin typeface="Outfit" pitchFamily="34" charset="0"/>
                <a:ea typeface="Outfit" pitchFamily="34" charset="-122"/>
                <a:cs typeface="Outfit" pitchFamily="34" charset="-120"/>
              </a:rPr>
              <a:t>Leadership</a:t>
            </a:r>
            <a:endParaRPr lang="en-US" sz="1200" dirty="0"/>
          </a:p>
        </p:txBody>
      </p:sp>
      <p:pic>
        <p:nvPicPr>
          <p:cNvPr id="61" name="Tangan menata kartu kertas" descr="preencoded.png">    </p:cNvPr>
          <p:cNvPicPr>
            <a:picLocks noChangeAspect="1"/>
          </p:cNvPicPr>
          <p:nvPr/>
        </p:nvPicPr>
        <p:blipFill>
          <a:blip r:embed="rId1"/>
          <a:stretch>
            <a:fillRect/>
          </a:stretch>
        </p:blipFill>
        <p:spPr>
          <a:xfrm>
            <a:off x="7178040" y="914400"/>
            <a:ext cx="2331720" cy="6217920"/>
          </a:xfrm>
          <a:prstGeom prst="rect">
            <a:avLst/>
          </a:prstGeom>
        </p:spPr>
      </p:pic>
      <p:sp>
        <p:nvSpPr>
          <p:cNvPr id="62" name="card"/>
          <p:cNvSpPr/>
          <p:nvPr/>
        </p:nvSpPr>
        <p:spPr>
          <a:xfrm>
            <a:off x="9692640" y="1051560"/>
            <a:ext cx="731520" cy="731520"/>
          </a:xfrm>
          <a:prstGeom prst="roundRect">
            <a:avLst>
              <a:gd name="adj" fmla="val 20000"/>
            </a:avLst>
          </a:prstGeom>
          <a:solidFill>
            <a:srgbClr val="141417"/>
          </a:solidFill>
          <a:ln w="6350">
            <a:solidFill>
              <a:srgbClr val="141417"/>
            </a:solidFill>
            <a:prstDash val="solid"/>
          </a:ln>
        </p:spPr>
      </p:sp>
      <p:pic>
        <p:nvPicPr>
          <p:cNvPr id="63" name="star" descr="preencoded.png">    </p:cNvPr>
          <p:cNvPicPr>
            <a:picLocks noChangeAspect="1"/>
          </p:cNvPicPr>
          <p:nvPr/>
        </p:nvPicPr>
        <p:blipFill>
          <a:blip r:embed="rId2"/>
          <a:stretch>
            <a:fillRect/>
          </a:stretch>
        </p:blipFill>
        <p:spPr>
          <a:xfrm>
            <a:off x="9875520" y="1234440"/>
            <a:ext cx="365760" cy="365760"/>
          </a:xfrm>
          <a:prstGeom prst="rect">
            <a:avLst/>
          </a:prstGeom>
        </p:spPr>
      </p:pic>
      <p:sp>
        <p:nvSpPr>
          <p:cNvPr id="64" name="pill"/>
          <p:cNvSpPr/>
          <p:nvPr/>
        </p:nvSpPr>
        <p:spPr>
          <a:xfrm>
            <a:off x="9418320" y="3611880"/>
            <a:ext cx="2286000" cy="420624"/>
          </a:xfrm>
          <a:prstGeom prst="roundRect">
            <a:avLst>
              <a:gd name="adj" fmla="val 108696"/>
            </a:avLst>
          </a:prstGeom>
          <a:solidFill>
            <a:srgbClr val="141417"/>
          </a:solidFill>
          <a:ln w="9525">
            <a:solidFill>
              <a:srgbClr val="141417"/>
            </a:solidFill>
            <a:prstDash val="solid"/>
          </a:ln>
        </p:spPr>
      </p:sp>
      <p:sp>
        <p:nvSpPr>
          <p:cNvPr id="65" name="text"/>
          <p:cNvSpPr txBox="1"/>
          <p:nvPr/>
        </p:nvSpPr>
        <p:spPr>
          <a:xfrm>
            <a:off x="9528048" y="3611880"/>
            <a:ext cx="20665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D4FC00"/>
                </a:solidFill>
                <a:latin typeface="Outfit Medium" pitchFamily="34" charset="0"/>
                <a:ea typeface="Outfit Medium" pitchFamily="34" charset="-122"/>
                <a:cs typeface="Outfit Medium" pitchFamily="34" charset="-120"/>
              </a:rPr>
              <a:t>BAB 10 · TUGAS 1 SAMPAI 3</a:t>
            </a:r>
            <a:endParaRPr lang="en-US" sz="1200" dirty="0"/>
          </a:p>
        </p:txBody>
      </p:sp>
      <p:sp>
        <p:nvSpPr>
          <p:cNvPr id="66" name="pill"/>
          <p:cNvSpPr/>
          <p:nvPr/>
        </p:nvSpPr>
        <p:spPr>
          <a:xfrm>
            <a:off x="9418320" y="4215384"/>
            <a:ext cx="2286000" cy="420624"/>
          </a:xfrm>
          <a:prstGeom prst="roundRect">
            <a:avLst>
              <a:gd name="adj" fmla="val 108696"/>
            </a:avLst>
          </a:prstGeom>
          <a:solidFill>
            <a:srgbClr val="D4FC00"/>
          </a:solidFill>
          <a:ln w="9525">
            <a:solidFill>
              <a:srgbClr val="141417"/>
            </a:solidFill>
            <a:prstDash val="solid"/>
          </a:ln>
        </p:spPr>
      </p:sp>
      <p:sp>
        <p:nvSpPr>
          <p:cNvPr id="67" name="text"/>
          <p:cNvSpPr txBox="1"/>
          <p:nvPr/>
        </p:nvSpPr>
        <p:spPr>
          <a:xfrm>
            <a:off x="9528048" y="4215384"/>
            <a:ext cx="20665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BAB 11 · TUGAS 4 SAMPAI 8</a:t>
            </a:r>
            <a:endParaRPr lang="en-US" sz="1200" dirty="0"/>
          </a:p>
        </p:txBody>
      </p:sp>
      <p:sp>
        <p:nvSpPr>
          <p:cNvPr id="68" name="pill"/>
          <p:cNvSpPr/>
          <p:nvPr/>
        </p:nvSpPr>
        <p:spPr>
          <a:xfrm>
            <a:off x="9418320" y="4818888"/>
            <a:ext cx="2286000" cy="420624"/>
          </a:xfrm>
          <a:prstGeom prst="roundRect">
            <a:avLst>
              <a:gd name="adj" fmla="val 108696"/>
            </a:avLst>
          </a:prstGeom>
          <a:solidFill>
            <a:srgbClr val="D4FC00"/>
          </a:solidFill>
          <a:ln w="9525">
            <a:solidFill>
              <a:srgbClr val="141417"/>
            </a:solidFill>
            <a:prstDash val="solid"/>
          </a:ln>
        </p:spPr>
      </p:sp>
      <p:sp>
        <p:nvSpPr>
          <p:cNvPr id="69" name="text"/>
          <p:cNvSpPr txBox="1"/>
          <p:nvPr/>
        </p:nvSpPr>
        <p:spPr>
          <a:xfrm>
            <a:off x="9528048" y="4818888"/>
            <a:ext cx="20665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BAB 12 · TUGAS 9 DAN 10</a:t>
            </a:r>
            <a:endParaRPr lang="en-US" sz="12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card"/>
          <p:cNvSpPr/>
          <p:nvPr/>
        </p:nvSpPr>
        <p:spPr>
          <a:xfrm>
            <a:off x="4050792" y="173736"/>
            <a:ext cx="1408176" cy="329184"/>
          </a:xfrm>
          <a:prstGeom prst="roundRect">
            <a:avLst>
              <a:gd name="adj" fmla="val 138889"/>
            </a:avLst>
          </a:prstGeom>
          <a:solidFill>
            <a:srgbClr val="D4FC00"/>
          </a:solidFill>
          <a:ln w="6350">
            <a:solidFill>
              <a:srgbClr val="D4FC00"/>
            </a:solidFill>
            <a:prstDash val="solid"/>
          </a:ln>
        </p:spPr>
      </p:sp>
      <p:sp>
        <p:nvSpPr>
          <p:cNvPr id="4"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Foundation</a:t>
            </a:r>
            <a:endParaRPr lang="en-US" sz="1050" dirty="0"/>
          </a:p>
        </p:txBody>
      </p:sp>
      <p:sp>
        <p:nvSpPr>
          <p:cNvPr id="5"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text"/>
          <p:cNvSpPr txBox="1"/>
          <p:nvPr/>
        </p:nvSpPr>
        <p:spPr>
          <a:xfrm>
            <a:off x="502920" y="868680"/>
            <a:ext cx="6766560" cy="155448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TIGA AKSI KUNCI MEMBANGUN ORGANISASI YANG MAMPU</a:t>
            </a:r>
            <a:endParaRPr lang="en-US" sz="3400" dirty="0"/>
          </a:p>
        </p:txBody>
      </p:sp>
      <p:sp>
        <p:nvSpPr>
          <p:cNvPr id="10" name="text"/>
          <p:cNvSpPr txBox="1"/>
          <p:nvPr/>
        </p:nvSpPr>
        <p:spPr>
          <a:xfrm>
            <a:off x="7772400" y="868680"/>
            <a:ext cx="3931920" cy="155448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Figure 10.2, digambar ulang. Aksi 1 dan 2 menghasilkan capability, aksi 3 menghasilkan struktur; keduanya saling menopang.</a:t>
            </a:r>
            <a:endParaRPr lang="en-US" sz="1600" dirty="0"/>
          </a:p>
        </p:txBody>
      </p:sp>
      <p:sp>
        <p:nvSpPr>
          <p:cNvPr id="11" name="card"/>
          <p:cNvSpPr/>
          <p:nvPr/>
        </p:nvSpPr>
        <p:spPr>
          <a:xfrm>
            <a:off x="502920" y="2560320"/>
            <a:ext cx="6766560" cy="1143000"/>
          </a:xfrm>
          <a:prstGeom prst="roundRect">
            <a:avLst>
              <a:gd name="adj" fmla="val 16000"/>
            </a:avLst>
          </a:prstGeom>
          <a:solidFill>
            <a:srgbClr val="D4FC00"/>
          </a:solidFill>
          <a:ln w="6350">
            <a:solidFill>
              <a:srgbClr val="D4FC00"/>
            </a:solidFill>
            <a:prstDash val="solid"/>
          </a:ln>
        </p:spPr>
      </p:sp>
      <p:sp>
        <p:nvSpPr>
          <p:cNvPr id="12" name="text"/>
          <p:cNvSpPr txBox="1"/>
          <p:nvPr/>
        </p:nvSpPr>
        <p:spPr>
          <a:xfrm>
            <a:off x="777240" y="2788920"/>
            <a:ext cx="365760" cy="320040"/>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1</a:t>
            </a:r>
            <a:endParaRPr lang="en-US" sz="1800" dirty="0"/>
          </a:p>
        </p:txBody>
      </p:sp>
      <p:sp>
        <p:nvSpPr>
          <p:cNvPr id="13" name="text"/>
          <p:cNvSpPr txBox="1"/>
          <p:nvPr/>
        </p:nvSpPr>
        <p:spPr>
          <a:xfrm>
            <a:off x="1188720" y="2816352"/>
            <a:ext cx="2240280" cy="73152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STAFFING THE ORGANIZATION</a:t>
            </a:r>
            <a:endParaRPr lang="en-US" sz="1400" dirty="0"/>
          </a:p>
        </p:txBody>
      </p:sp>
      <p:sp>
        <p:nvSpPr>
          <p:cNvPr id="14" name="text"/>
          <p:cNvSpPr txBox="1"/>
          <p:nvPr/>
        </p:nvSpPr>
        <p:spPr>
          <a:xfrm>
            <a:off x="3611880" y="2779776"/>
            <a:ext cx="2971800" cy="813816"/>
          </a:xfrm>
          <a:prstGeom prst="rect">
            <a:avLst/>
          </a:prstGeom>
          <a:noFill/>
          <a:ln/>
        </p:spPr>
        <p:txBody>
          <a:bodyPr wrap="square" lIns="0" tIns="0" rIns="0" bIns="0" rtlCol="0" anchor="t"/>
          <a:lstStyle/>
          <a:p>
            <a:pPr algn="l" indent="0" marL="0">
              <a:lnSpc>
                <a:spcPct val="106000"/>
              </a:lnSpc>
              <a:buNone/>
            </a:pPr>
            <a:r>
              <a:rPr lang="en-US" sz="1700" dirty="0">
                <a:solidFill>
                  <a:srgbClr val="1A1A1C"/>
                </a:solidFill>
                <a:latin typeface="Outfit" pitchFamily="34" charset="0"/>
                <a:ea typeface="Outfit" pitchFamily="34" charset="-122"/>
                <a:cs typeface="Outfit" pitchFamily="34" charset="-120"/>
              </a:rPr>
              <a:t>Tim manajemen yang kuat; karyawan yang tepat.</a:t>
            </a:r>
            <a:endParaRPr lang="en-US" sz="1700" dirty="0"/>
          </a:p>
        </p:txBody>
      </p:sp>
      <p:sp>
        <p:nvSpPr>
          <p:cNvPr id="15" name="dot"/>
          <p:cNvSpPr/>
          <p:nvPr/>
        </p:nvSpPr>
        <p:spPr>
          <a:xfrm>
            <a:off x="6702552" y="2994660"/>
            <a:ext cx="274320" cy="274320"/>
          </a:xfrm>
          <a:prstGeom prst="ellipse">
            <a:avLst/>
          </a:prstGeom>
          <a:solidFill>
            <a:srgbClr val="141417"/>
          </a:solidFill>
          <a:ln w="6350">
            <a:solidFill>
              <a:srgbClr val="141417"/>
            </a:solidFill>
            <a:prstDash val="solid"/>
          </a:ln>
        </p:spPr>
      </p:sp>
      <p:pic>
        <p:nvPicPr>
          <p:cNvPr id="16" name="dot-icon" descr="preencoded.png">    </p:cNvPr>
          <p:cNvPicPr>
            <a:picLocks noChangeAspect="1"/>
          </p:cNvPicPr>
          <p:nvPr/>
        </p:nvPicPr>
        <p:blipFill>
          <a:blip r:embed="rId1"/>
          <a:stretch>
            <a:fillRect/>
          </a:stretch>
        </p:blipFill>
        <p:spPr>
          <a:xfrm>
            <a:off x="6762902" y="3055010"/>
            <a:ext cx="153619" cy="153619"/>
          </a:xfrm>
          <a:prstGeom prst="rect">
            <a:avLst/>
          </a:prstGeom>
        </p:spPr>
      </p:pic>
      <p:sp>
        <p:nvSpPr>
          <p:cNvPr id="17" name="card"/>
          <p:cNvSpPr/>
          <p:nvPr/>
        </p:nvSpPr>
        <p:spPr>
          <a:xfrm>
            <a:off x="502920" y="3886200"/>
            <a:ext cx="6766560" cy="1143000"/>
          </a:xfrm>
          <a:prstGeom prst="roundRect">
            <a:avLst>
              <a:gd name="adj" fmla="val 16000"/>
            </a:avLst>
          </a:prstGeom>
          <a:solidFill>
            <a:srgbClr val="E8E8E8"/>
          </a:solidFill>
          <a:ln w="6350">
            <a:solidFill>
              <a:srgbClr val="E8E8E8"/>
            </a:solidFill>
            <a:prstDash val="solid"/>
          </a:ln>
        </p:spPr>
      </p:sp>
      <p:sp>
        <p:nvSpPr>
          <p:cNvPr id="18" name="text"/>
          <p:cNvSpPr txBox="1"/>
          <p:nvPr/>
        </p:nvSpPr>
        <p:spPr>
          <a:xfrm>
            <a:off x="777240" y="4114800"/>
            <a:ext cx="365760" cy="320040"/>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2</a:t>
            </a:r>
            <a:endParaRPr lang="en-US" sz="1800" dirty="0"/>
          </a:p>
        </p:txBody>
      </p:sp>
      <p:sp>
        <p:nvSpPr>
          <p:cNvPr id="19" name="text"/>
          <p:cNvSpPr txBox="1"/>
          <p:nvPr/>
        </p:nvSpPr>
        <p:spPr>
          <a:xfrm>
            <a:off x="1188720" y="4142232"/>
            <a:ext cx="2240280" cy="73152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DEVELOPING CAPABILITIES</a:t>
            </a:r>
            <a:endParaRPr lang="en-US" sz="1400" dirty="0"/>
          </a:p>
        </p:txBody>
      </p:sp>
      <p:sp>
        <p:nvSpPr>
          <p:cNvPr id="20" name="text"/>
          <p:cNvSpPr txBox="1"/>
          <p:nvPr/>
        </p:nvSpPr>
        <p:spPr>
          <a:xfrm>
            <a:off x="3611880" y="4105656"/>
            <a:ext cx="2971800" cy="813816"/>
          </a:xfrm>
          <a:prstGeom prst="rect">
            <a:avLst/>
          </a:prstGeom>
          <a:noFill/>
          <a:ln/>
        </p:spPr>
        <p:txBody>
          <a:bodyPr wrap="square" lIns="0" tIns="0" rIns="0" bIns="0" rtlCol="0" anchor="t"/>
          <a:lstStyle/>
          <a:p>
            <a:pPr algn="l" indent="0" marL="0">
              <a:lnSpc>
                <a:spcPct val="106000"/>
              </a:lnSpc>
              <a:buNone/>
            </a:pPr>
            <a:r>
              <a:rPr lang="en-US" sz="1700" dirty="0">
                <a:solidFill>
                  <a:srgbClr val="1A1A1C"/>
                </a:solidFill>
                <a:latin typeface="Outfit" pitchFamily="34" charset="0"/>
                <a:ea typeface="Outfit" pitchFamily="34" charset="-122"/>
                <a:cs typeface="Outfit" pitchFamily="34" charset="-120"/>
              </a:rPr>
              <a:t>Membangun dan memperbarui capability sesuai strategi.</a:t>
            </a:r>
            <a:endParaRPr lang="en-US" sz="1700" dirty="0"/>
          </a:p>
        </p:txBody>
      </p:sp>
      <p:sp>
        <p:nvSpPr>
          <p:cNvPr id="21" name="dot"/>
          <p:cNvSpPr/>
          <p:nvPr/>
        </p:nvSpPr>
        <p:spPr>
          <a:xfrm>
            <a:off x="6702552" y="4320540"/>
            <a:ext cx="274320" cy="274320"/>
          </a:xfrm>
          <a:prstGeom prst="ellipse">
            <a:avLst/>
          </a:prstGeom>
          <a:solidFill>
            <a:srgbClr val="141417"/>
          </a:solidFill>
          <a:ln w="6350">
            <a:solidFill>
              <a:srgbClr val="141417"/>
            </a:solidFill>
            <a:prstDash val="solid"/>
          </a:ln>
        </p:spPr>
      </p:sp>
      <p:pic>
        <p:nvPicPr>
          <p:cNvPr id="22" name="dot-icon" descr="preencoded.png">    </p:cNvPr>
          <p:cNvPicPr>
            <a:picLocks noChangeAspect="1"/>
          </p:cNvPicPr>
          <p:nvPr/>
        </p:nvPicPr>
        <p:blipFill>
          <a:blip r:embed="rId2"/>
          <a:stretch>
            <a:fillRect/>
          </a:stretch>
        </p:blipFill>
        <p:spPr>
          <a:xfrm>
            <a:off x="6762902" y="4380890"/>
            <a:ext cx="153619" cy="153619"/>
          </a:xfrm>
          <a:prstGeom prst="rect">
            <a:avLst/>
          </a:prstGeom>
        </p:spPr>
      </p:pic>
      <p:sp>
        <p:nvSpPr>
          <p:cNvPr id="23" name="card"/>
          <p:cNvSpPr/>
          <p:nvPr/>
        </p:nvSpPr>
        <p:spPr>
          <a:xfrm>
            <a:off x="502920" y="5212080"/>
            <a:ext cx="6766560" cy="1143000"/>
          </a:xfrm>
          <a:prstGeom prst="roundRect">
            <a:avLst>
              <a:gd name="adj" fmla="val 16000"/>
            </a:avLst>
          </a:prstGeom>
          <a:solidFill>
            <a:srgbClr val="141417"/>
          </a:solidFill>
          <a:ln w="6350">
            <a:solidFill>
              <a:srgbClr val="141417"/>
            </a:solidFill>
            <a:prstDash val="solid"/>
          </a:ln>
        </p:spPr>
      </p:sp>
      <p:sp>
        <p:nvSpPr>
          <p:cNvPr id="24" name="text"/>
          <p:cNvSpPr txBox="1"/>
          <p:nvPr/>
        </p:nvSpPr>
        <p:spPr>
          <a:xfrm>
            <a:off x="777240" y="5440680"/>
            <a:ext cx="365760" cy="320040"/>
          </a:xfrm>
          <a:prstGeom prst="rect">
            <a:avLst/>
          </a:prstGeom>
          <a:noFill/>
          <a:ln/>
        </p:spPr>
        <p:txBody>
          <a:bodyPr wrap="square" lIns="0" tIns="0" rIns="0" bIns="0" rtlCol="0" anchor="t"/>
          <a:lstStyle/>
          <a:p>
            <a:pPr algn="l" indent="0" marL="0">
              <a:lnSpc>
                <a:spcPct val="122000"/>
              </a:lnSpc>
              <a:buNone/>
            </a:pPr>
            <a:r>
              <a:rPr lang="en-US" sz="1800" dirty="0">
                <a:solidFill>
                  <a:srgbClr val="D4FC00"/>
                </a:solidFill>
                <a:latin typeface="Outfit Medium" pitchFamily="34" charset="0"/>
                <a:ea typeface="Outfit Medium" pitchFamily="34" charset="-122"/>
                <a:cs typeface="Outfit Medium" pitchFamily="34" charset="-120"/>
              </a:rPr>
              <a:t>3</a:t>
            </a:r>
            <a:endParaRPr lang="en-US" sz="1800" dirty="0"/>
          </a:p>
        </p:txBody>
      </p:sp>
      <p:sp>
        <p:nvSpPr>
          <p:cNvPr id="25" name="text"/>
          <p:cNvSpPr txBox="1"/>
          <p:nvPr/>
        </p:nvSpPr>
        <p:spPr>
          <a:xfrm>
            <a:off x="1188720" y="5468112"/>
            <a:ext cx="2240280" cy="731520"/>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STRUCTURING THE ORGANIZATION</a:t>
            </a:r>
            <a:endParaRPr lang="en-US" sz="1400" dirty="0"/>
          </a:p>
        </p:txBody>
      </p:sp>
      <p:sp>
        <p:nvSpPr>
          <p:cNvPr id="26" name="text"/>
          <p:cNvSpPr txBox="1"/>
          <p:nvPr/>
        </p:nvSpPr>
        <p:spPr>
          <a:xfrm>
            <a:off x="3611880" y="5431536"/>
            <a:ext cx="2971800" cy="813816"/>
          </a:xfrm>
          <a:prstGeom prst="rect">
            <a:avLst/>
          </a:prstGeom>
          <a:noFill/>
          <a:ln/>
        </p:spPr>
        <p:txBody>
          <a:bodyPr wrap="square" lIns="0" tIns="0" rIns="0" bIns="0" rtlCol="0" anchor="t"/>
          <a:lstStyle/>
          <a:p>
            <a:pPr algn="l" indent="0" marL="0">
              <a:lnSpc>
                <a:spcPct val="106000"/>
              </a:lnSpc>
              <a:buNone/>
            </a:pPr>
            <a:r>
              <a:rPr lang="en-US" sz="1700" dirty="0">
                <a:solidFill>
                  <a:srgbClr val="E4E4E7"/>
                </a:solidFill>
                <a:latin typeface="Outfit" pitchFamily="34" charset="0"/>
                <a:ea typeface="Outfit" pitchFamily="34" charset="-122"/>
                <a:cs typeface="Outfit" pitchFamily="34" charset="-120"/>
              </a:rPr>
              <a:t>Pengaturan organisasi, garis wewenang, derajat delegasi.</a:t>
            </a:r>
            <a:endParaRPr lang="en-US" sz="1700" dirty="0"/>
          </a:p>
        </p:txBody>
      </p:sp>
      <p:sp>
        <p:nvSpPr>
          <p:cNvPr id="27" name="dot"/>
          <p:cNvSpPr/>
          <p:nvPr/>
        </p:nvSpPr>
        <p:spPr>
          <a:xfrm>
            <a:off x="6702552" y="5646420"/>
            <a:ext cx="274320" cy="274320"/>
          </a:xfrm>
          <a:prstGeom prst="ellipse">
            <a:avLst/>
          </a:prstGeom>
          <a:solidFill>
            <a:srgbClr val="D4FC00"/>
          </a:solidFill>
          <a:ln w="6350">
            <a:solidFill>
              <a:srgbClr val="D4FC00"/>
            </a:solidFill>
            <a:prstDash val="solid"/>
          </a:ln>
        </p:spPr>
      </p:sp>
      <p:pic>
        <p:nvPicPr>
          <p:cNvPr id="28" name="dot-icon" descr="preencoded.png">    </p:cNvPr>
          <p:cNvPicPr>
            <a:picLocks noChangeAspect="1"/>
          </p:cNvPicPr>
          <p:nvPr/>
        </p:nvPicPr>
        <p:blipFill>
          <a:blip r:embed="rId3"/>
          <a:stretch>
            <a:fillRect/>
          </a:stretch>
        </p:blipFill>
        <p:spPr>
          <a:xfrm>
            <a:off x="6762902" y="5706770"/>
            <a:ext cx="153619" cy="153619"/>
          </a:xfrm>
          <a:prstGeom prst="rect">
            <a:avLst/>
          </a:prstGeom>
        </p:spPr>
      </p:pic>
      <p:sp>
        <p:nvSpPr>
          <p:cNvPr id="29" name="card"/>
          <p:cNvSpPr/>
          <p:nvPr/>
        </p:nvSpPr>
        <p:spPr>
          <a:xfrm>
            <a:off x="7726680" y="2560320"/>
            <a:ext cx="3962095" cy="2130552"/>
          </a:xfrm>
          <a:prstGeom prst="roundRect">
            <a:avLst>
              <a:gd name="adj" fmla="val 8584"/>
            </a:avLst>
          </a:prstGeom>
          <a:solidFill>
            <a:srgbClr val="D4FC00"/>
          </a:solidFill>
          <a:ln w="6350">
            <a:solidFill>
              <a:srgbClr val="D4FC00"/>
            </a:solidFill>
            <a:prstDash val="solid"/>
          </a:ln>
        </p:spPr>
      </p:sp>
      <p:sp>
        <p:nvSpPr>
          <p:cNvPr id="30" name="text"/>
          <p:cNvSpPr txBox="1"/>
          <p:nvPr/>
        </p:nvSpPr>
        <p:spPr>
          <a:xfrm>
            <a:off x="8001000" y="2834640"/>
            <a:ext cx="3413455"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HASIL AKSI 1 DAN 2</a:t>
            </a:r>
            <a:endParaRPr lang="en-US" sz="1400" dirty="0"/>
          </a:p>
        </p:txBody>
      </p:sp>
      <p:sp>
        <p:nvSpPr>
          <p:cNvPr id="31" name="text"/>
          <p:cNvSpPr txBox="1"/>
          <p:nvPr/>
        </p:nvSpPr>
        <p:spPr>
          <a:xfrm>
            <a:off x="8001000" y="3200400"/>
            <a:ext cx="3413455" cy="1353312"/>
          </a:xfrm>
          <a:prstGeom prst="rect">
            <a:avLst/>
          </a:prstGeom>
          <a:noFill/>
          <a:ln/>
        </p:spPr>
        <p:txBody>
          <a:bodyPr wrap="square" lIns="0" tIns="0" rIns="0" bIns="0" rtlCol="0" anchor="t"/>
          <a:lstStyle/>
          <a:p>
            <a:pPr algn="l" indent="0" marL="0">
              <a:lnSpc>
                <a:spcPct val="110000"/>
              </a:lnSpc>
              <a:buNone/>
            </a:pPr>
            <a:r>
              <a:rPr lang="en-US" sz="2000" dirty="0">
                <a:solidFill>
                  <a:srgbClr val="141417"/>
                </a:solidFill>
                <a:latin typeface="Outfit Medium" pitchFamily="34" charset="0"/>
                <a:ea typeface="Outfit Medium" pitchFamily="34" charset="-122"/>
                <a:cs typeface="Outfit Medium" pitchFamily="34" charset="-120"/>
              </a:rPr>
              <a:t>Strategy-supportive resources and organizational capabilities</a:t>
            </a:r>
            <a:endParaRPr lang="en-US" sz="2000" dirty="0"/>
          </a:p>
        </p:txBody>
      </p:sp>
      <p:sp>
        <p:nvSpPr>
          <p:cNvPr id="32" name="card"/>
          <p:cNvSpPr/>
          <p:nvPr/>
        </p:nvSpPr>
        <p:spPr>
          <a:xfrm>
            <a:off x="7726680" y="5148072"/>
            <a:ext cx="3962095" cy="1207008"/>
          </a:xfrm>
          <a:prstGeom prst="roundRect">
            <a:avLst>
              <a:gd name="adj" fmla="val 15152"/>
            </a:avLst>
          </a:prstGeom>
          <a:solidFill>
            <a:srgbClr val="141417"/>
          </a:solidFill>
          <a:ln w="6350">
            <a:solidFill>
              <a:srgbClr val="141417"/>
            </a:solidFill>
            <a:prstDash val="solid"/>
          </a:ln>
        </p:spPr>
      </p:sp>
      <p:sp>
        <p:nvSpPr>
          <p:cNvPr id="33" name="text"/>
          <p:cNvSpPr txBox="1"/>
          <p:nvPr/>
        </p:nvSpPr>
        <p:spPr>
          <a:xfrm>
            <a:off x="8001000" y="5330952"/>
            <a:ext cx="3413455"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HASIL AKSI 3</a:t>
            </a:r>
            <a:endParaRPr lang="en-US" sz="1400" dirty="0"/>
          </a:p>
        </p:txBody>
      </p:sp>
      <p:sp>
        <p:nvSpPr>
          <p:cNvPr id="34" name="text"/>
          <p:cNvSpPr txBox="1"/>
          <p:nvPr/>
        </p:nvSpPr>
        <p:spPr>
          <a:xfrm>
            <a:off x="8001000" y="5605272"/>
            <a:ext cx="3413455" cy="594360"/>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Outfit Medium" pitchFamily="34" charset="0"/>
                <a:ea typeface="Outfit Medium" pitchFamily="34" charset="-122"/>
                <a:cs typeface="Outfit Medium" pitchFamily="34" charset="-120"/>
              </a:rPr>
              <a:t>Strategy-supportive organizational structure</a:t>
            </a:r>
            <a:endParaRPr lang="en-US" sz="1600" dirty="0"/>
          </a:p>
        </p:txBody>
      </p:sp>
      <p:sp>
        <p:nvSpPr>
          <p:cNvPr id="35" name="saling menopang"/>
          <p:cNvSpPr/>
          <p:nvPr/>
        </p:nvSpPr>
        <p:spPr>
          <a:xfrm>
            <a:off x="9570568" y="4791456"/>
            <a:ext cx="274320" cy="256032"/>
          </a:xfrm>
          <a:prstGeom prst="upDownArrow">
            <a:avLst/>
          </a:prstGeom>
          <a:solidFill>
            <a:srgbClr val="141417"/>
          </a:solidFill>
          <a:ln w="6350">
            <a:solidFill>
              <a:srgbClr val="141417"/>
            </a:solidFill>
            <a:prstDash val="solid"/>
          </a:ln>
        </p:spPr>
      </p:sp>
      <p:sp>
        <p:nvSpPr>
          <p:cNvPr id="3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card"/>
          <p:cNvSpPr/>
          <p:nvPr/>
        </p:nvSpPr>
        <p:spPr>
          <a:xfrm>
            <a:off x="5376672" y="173736"/>
            <a:ext cx="1179576" cy="329184"/>
          </a:xfrm>
          <a:prstGeom prst="roundRect">
            <a:avLst>
              <a:gd name="adj" fmla="val 138889"/>
            </a:avLst>
          </a:prstGeom>
          <a:solidFill>
            <a:srgbClr val="D4FC00"/>
          </a:solidFill>
          <a:ln w="6350">
            <a:solidFill>
              <a:srgbClr val="D4FC00"/>
            </a:solidFill>
            <a:prstDash val="solid"/>
          </a:ln>
        </p:spPr>
      </p:sp>
      <p:sp>
        <p:nvSpPr>
          <p:cNvPr id="5"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Staffing</a:t>
            </a:r>
            <a:endParaRPr lang="en-US" sz="1050" dirty="0"/>
          </a:p>
        </p:txBody>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text"/>
          <p:cNvSpPr txBox="1"/>
          <p:nvPr/>
        </p:nvSpPr>
        <p:spPr>
          <a:xfrm>
            <a:off x="502920" y="868680"/>
            <a:ext cx="11185855" cy="731520"/>
          </a:xfrm>
          <a:prstGeom prst="rect">
            <a:avLst/>
          </a:prstGeom>
          <a:noFill/>
          <a:ln/>
        </p:spPr>
        <p:txBody>
          <a:bodyPr wrap="square" lIns="0" tIns="0" rIns="0" bIns="0" rtlCol="0" anchor="t"/>
          <a:lstStyle/>
          <a:p>
            <a:pPr algn="ctr" indent="0" marL="0">
              <a:lnSpc>
                <a:spcPct val="100000"/>
              </a:lnSpc>
              <a:buNone/>
            </a:pPr>
            <a:r>
              <a:rPr lang="en-US" sz="3600" dirty="0">
                <a:solidFill>
                  <a:srgbClr val="141417"/>
                </a:solidFill>
                <a:latin typeface="Outfit SemiBold" pitchFamily="34" charset="0"/>
                <a:ea typeface="Outfit SemiBold" pitchFamily="34" charset="-122"/>
                <a:cs typeface="Outfit SemiBold" pitchFamily="34" charset="-120"/>
              </a:rPr>
              <a:t>MENYUSUN TIM MANAJEMEN YANG KUAT</a:t>
            </a:r>
            <a:endParaRPr lang="en-US" sz="3600" dirty="0"/>
          </a:p>
        </p:txBody>
      </p:sp>
      <p:sp>
        <p:nvSpPr>
          <p:cNvPr id="10" name="toggle"/>
          <p:cNvSpPr/>
          <p:nvPr/>
        </p:nvSpPr>
        <p:spPr>
          <a:xfrm>
            <a:off x="10911535" y="1051560"/>
            <a:ext cx="566928" cy="274320"/>
          </a:xfrm>
          <a:prstGeom prst="roundRect">
            <a:avLst>
              <a:gd name="adj" fmla="val 166667"/>
            </a:avLst>
          </a:prstGeom>
          <a:solidFill>
            <a:srgbClr val="F4F4F4"/>
          </a:solidFill>
          <a:ln w="9525">
            <a:solidFill>
              <a:srgbClr val="141417"/>
            </a:solidFill>
            <a:prstDash val="solid"/>
          </a:ln>
        </p:spPr>
      </p:sp>
      <p:sp>
        <p:nvSpPr>
          <p:cNvPr id="11" name="toggle-dot"/>
          <p:cNvSpPr/>
          <p:nvPr/>
        </p:nvSpPr>
        <p:spPr>
          <a:xfrm>
            <a:off x="11213287" y="1088136"/>
            <a:ext cx="201168" cy="201168"/>
          </a:xfrm>
          <a:prstGeom prst="ellipse">
            <a:avLst/>
          </a:prstGeom>
          <a:solidFill>
            <a:srgbClr val="D4FC00"/>
          </a:solidFill>
          <a:ln w="6350">
            <a:solidFill>
              <a:srgbClr val="D4FC00"/>
            </a:solidFill>
            <a:prstDash val="solid"/>
          </a:ln>
        </p:spPr>
      </p:sp>
      <p:pic>
        <p:nvPicPr>
          <p:cNvPr id="12" name="toggle-star" descr="preencoded.png">    </p:cNvPr>
          <p:cNvPicPr>
            <a:picLocks noChangeAspect="1"/>
          </p:cNvPicPr>
          <p:nvPr/>
        </p:nvPicPr>
        <p:blipFill>
          <a:blip r:embed="rId1"/>
          <a:stretch>
            <a:fillRect/>
          </a:stretch>
        </p:blipFill>
        <p:spPr>
          <a:xfrm>
            <a:off x="11254435" y="1129284"/>
            <a:ext cx="118872" cy="118872"/>
          </a:xfrm>
          <a:prstGeom prst="rect">
            <a:avLst/>
          </a:prstGeom>
        </p:spPr>
      </p:pic>
      <p:pic>
        <p:nvPicPr>
          <p:cNvPr id="13" name="Dua eksekutif berbincang di koridor" descr="preencoded.png">    </p:cNvPr>
          <p:cNvPicPr>
            <a:picLocks noChangeAspect="1"/>
          </p:cNvPicPr>
          <p:nvPr/>
        </p:nvPicPr>
        <p:blipFill>
          <a:blip r:embed="rId2"/>
          <a:stretch>
            <a:fillRect/>
          </a:stretch>
        </p:blipFill>
        <p:spPr>
          <a:xfrm>
            <a:off x="502920" y="1783080"/>
            <a:ext cx="3570122" cy="1737360"/>
          </a:xfrm>
          <a:prstGeom prst="rect">
            <a:avLst/>
          </a:prstGeom>
        </p:spPr>
      </p:pic>
      <p:sp>
        <p:nvSpPr>
          <p:cNvPr id="14" name="card"/>
          <p:cNvSpPr/>
          <p:nvPr/>
        </p:nvSpPr>
        <p:spPr>
          <a:xfrm>
            <a:off x="502920" y="3703320"/>
            <a:ext cx="3570122" cy="2606040"/>
          </a:xfrm>
          <a:prstGeom prst="roundRect">
            <a:avLst>
              <a:gd name="adj" fmla="val 7018"/>
            </a:avLst>
          </a:prstGeom>
          <a:solidFill>
            <a:srgbClr val="141417"/>
          </a:solidFill>
          <a:ln w="6350">
            <a:solidFill>
              <a:srgbClr val="141417"/>
            </a:solidFill>
            <a:prstDash val="solid"/>
          </a:ln>
        </p:spPr>
      </p:sp>
      <p:sp>
        <p:nvSpPr>
          <p:cNvPr id="15" name="text"/>
          <p:cNvSpPr txBox="1"/>
          <p:nvPr/>
        </p:nvSpPr>
        <p:spPr>
          <a:xfrm>
            <a:off x="777240" y="3977640"/>
            <a:ext cx="302148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PROFIL YANG DICARI</a:t>
            </a:r>
            <a:endParaRPr lang="en-US" sz="1400" dirty="0"/>
          </a:p>
        </p:txBody>
      </p:sp>
      <p:sp>
        <p:nvSpPr>
          <p:cNvPr id="16" name="text"/>
          <p:cNvSpPr txBox="1"/>
          <p:nvPr/>
        </p:nvSpPr>
        <p:spPr>
          <a:xfrm>
            <a:off x="795528" y="4361688"/>
            <a:ext cx="2984906" cy="1828800"/>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Berpikir jernih, mahir mengelola orang, paham bisnis, terbukti menyelesaikan pekerjaan.</a:t>
            </a:r>
            <a:endParaRPr lang="en-US" sz="1800" dirty="0"/>
          </a:p>
        </p:txBody>
      </p:sp>
      <p:pic>
        <p:nvPicPr>
          <p:cNvPr id="17" name="Orang bekerja di laptop" descr="preencoded.png">    </p:cNvPr>
          <p:cNvPicPr>
            <a:picLocks noChangeAspect="1"/>
          </p:cNvPicPr>
          <p:nvPr/>
        </p:nvPicPr>
        <p:blipFill>
          <a:blip r:embed="rId3"/>
          <a:stretch>
            <a:fillRect/>
          </a:stretch>
        </p:blipFill>
        <p:spPr>
          <a:xfrm>
            <a:off x="4310786" y="1783080"/>
            <a:ext cx="3570122" cy="1737360"/>
          </a:xfrm>
          <a:prstGeom prst="rect">
            <a:avLst/>
          </a:prstGeom>
        </p:spPr>
      </p:pic>
      <p:sp>
        <p:nvSpPr>
          <p:cNvPr id="18" name="card"/>
          <p:cNvSpPr/>
          <p:nvPr/>
        </p:nvSpPr>
        <p:spPr>
          <a:xfrm>
            <a:off x="4310786" y="3703320"/>
            <a:ext cx="3570122" cy="2606040"/>
          </a:xfrm>
          <a:prstGeom prst="roundRect">
            <a:avLst>
              <a:gd name="adj" fmla="val 7018"/>
            </a:avLst>
          </a:prstGeom>
          <a:solidFill>
            <a:srgbClr val="D4FC00"/>
          </a:solidFill>
          <a:ln w="6350">
            <a:solidFill>
              <a:srgbClr val="D4FC00"/>
            </a:solidFill>
            <a:prstDash val="solid"/>
          </a:ln>
        </p:spPr>
      </p:sp>
      <p:sp>
        <p:nvSpPr>
          <p:cNvPr id="19" name="text"/>
          <p:cNvSpPr txBox="1"/>
          <p:nvPr/>
        </p:nvSpPr>
        <p:spPr>
          <a:xfrm>
            <a:off x="4585106" y="3977640"/>
            <a:ext cx="302148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CARA MEMPERKUAT TIM</a:t>
            </a:r>
            <a:endParaRPr lang="en-US" sz="1400" dirty="0"/>
          </a:p>
        </p:txBody>
      </p:sp>
      <p:sp>
        <p:nvSpPr>
          <p:cNvPr id="20" name="text"/>
          <p:cNvSpPr txBox="1"/>
          <p:nvPr/>
        </p:nvSpPr>
        <p:spPr>
          <a:xfrm>
            <a:off x="4603394" y="4361688"/>
            <a:ext cx="2984906" cy="182880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Promosi dari dalam atau rekrut dari luar, terutama saat turnaround. Yang tak mampu berubah diganti.</a:t>
            </a:r>
            <a:endParaRPr lang="en-US" sz="1800" dirty="0"/>
          </a:p>
        </p:txBody>
      </p:sp>
      <p:pic>
        <p:nvPicPr>
          <p:cNvPr id="21" name="Tiga kolega berdiskusi" descr="preencoded.png">    </p:cNvPr>
          <p:cNvPicPr>
            <a:picLocks noChangeAspect="1"/>
          </p:cNvPicPr>
          <p:nvPr/>
        </p:nvPicPr>
        <p:blipFill>
          <a:blip r:embed="rId4"/>
          <a:stretch>
            <a:fillRect/>
          </a:stretch>
        </p:blipFill>
        <p:spPr>
          <a:xfrm>
            <a:off x="8118653" y="1783080"/>
            <a:ext cx="3570122" cy="1737360"/>
          </a:xfrm>
          <a:prstGeom prst="rect">
            <a:avLst/>
          </a:prstGeom>
        </p:spPr>
      </p:pic>
      <p:sp>
        <p:nvSpPr>
          <p:cNvPr id="22" name="card"/>
          <p:cNvSpPr/>
          <p:nvPr/>
        </p:nvSpPr>
        <p:spPr>
          <a:xfrm>
            <a:off x="8118653" y="3703320"/>
            <a:ext cx="3570122" cy="2606040"/>
          </a:xfrm>
          <a:prstGeom prst="roundRect">
            <a:avLst>
              <a:gd name="adj" fmla="val 7018"/>
            </a:avLst>
          </a:prstGeom>
          <a:solidFill>
            <a:srgbClr val="E8E8E8"/>
          </a:solidFill>
          <a:ln w="6350">
            <a:solidFill>
              <a:srgbClr val="E8E8E8"/>
            </a:solidFill>
            <a:prstDash val="solid"/>
          </a:ln>
        </p:spPr>
      </p:sp>
      <p:sp>
        <p:nvSpPr>
          <p:cNvPr id="23" name="text"/>
          <p:cNvSpPr txBox="1"/>
          <p:nvPr/>
        </p:nvSpPr>
        <p:spPr>
          <a:xfrm>
            <a:off x="8392973" y="3977640"/>
            <a:ext cx="302148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TUJUANNYA</a:t>
            </a:r>
            <a:endParaRPr lang="en-US" sz="1400" dirty="0"/>
          </a:p>
        </p:txBody>
      </p:sp>
      <p:sp>
        <p:nvSpPr>
          <p:cNvPr id="24" name="text"/>
          <p:cNvSpPr txBox="1"/>
          <p:nvPr/>
        </p:nvSpPr>
        <p:spPr>
          <a:xfrm>
            <a:off x="8411261" y="4361688"/>
            <a:ext cx="2984906" cy="182880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Critical mass manajer berbakat sebagai agents of change; tim puncak yang beragam (IC 10.1).</a:t>
            </a:r>
            <a:endParaRPr lang="en-US" sz="1800" dirty="0"/>
          </a:p>
        </p:txBody>
      </p:sp>
      <p:sp>
        <p:nvSpPr>
          <p:cNvPr id="25"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card"/>
          <p:cNvSpPr/>
          <p:nvPr/>
        </p:nvSpPr>
        <p:spPr>
          <a:xfrm>
            <a:off x="5376672" y="173736"/>
            <a:ext cx="1179576" cy="329184"/>
          </a:xfrm>
          <a:prstGeom prst="roundRect">
            <a:avLst>
              <a:gd name="adj" fmla="val 138889"/>
            </a:avLst>
          </a:prstGeom>
          <a:solidFill>
            <a:srgbClr val="D4FC00"/>
          </a:solidFill>
          <a:ln w="6350">
            <a:solidFill>
              <a:srgbClr val="D4FC00"/>
            </a:solidFill>
            <a:prstDash val="solid"/>
          </a:ln>
        </p:spPr>
      </p:sp>
      <p:sp>
        <p:nvSpPr>
          <p:cNvPr id="5"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Staffing</a:t>
            </a:r>
            <a:endParaRPr lang="en-US" sz="1050" dirty="0"/>
          </a:p>
        </p:txBody>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card"/>
          <p:cNvSpPr/>
          <p:nvPr/>
        </p:nvSpPr>
        <p:spPr>
          <a:xfrm>
            <a:off x="502920" y="658368"/>
            <a:ext cx="6675120" cy="1289304"/>
          </a:xfrm>
          <a:prstGeom prst="roundRect">
            <a:avLst>
              <a:gd name="adj" fmla="val 14184"/>
            </a:avLst>
          </a:prstGeom>
          <a:solidFill>
            <a:srgbClr val="D4FC00"/>
          </a:solidFill>
          <a:ln w="6350">
            <a:solidFill>
              <a:srgbClr val="D4FC00"/>
            </a:solidFill>
            <a:prstDash val="solid"/>
          </a:ln>
        </p:spPr>
      </p:sp>
      <p:sp>
        <p:nvSpPr>
          <p:cNvPr id="10" name="text"/>
          <p:cNvSpPr txBox="1"/>
          <p:nvPr/>
        </p:nvSpPr>
        <p:spPr>
          <a:xfrm>
            <a:off x="822960" y="932688"/>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SELEKSI DAN PENUGASAN</a:t>
            </a:r>
            <a:endParaRPr lang="en-US" sz="1400" dirty="0"/>
          </a:p>
        </p:txBody>
      </p:sp>
      <p:sp>
        <p:nvSpPr>
          <p:cNvPr id="11" name="text"/>
          <p:cNvSpPr txBox="1"/>
          <p:nvPr/>
        </p:nvSpPr>
        <p:spPr>
          <a:xfrm>
            <a:off x="2788920" y="896112"/>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Saring ketat; Southwest menerima sekitar 3% pelamar.</a:t>
            </a:r>
            <a:endParaRPr lang="en-US" sz="1800" dirty="0"/>
          </a:p>
        </p:txBody>
      </p:sp>
      <p:sp>
        <p:nvSpPr>
          <p:cNvPr id="12" name="dot"/>
          <p:cNvSpPr/>
          <p:nvPr/>
        </p:nvSpPr>
        <p:spPr>
          <a:xfrm>
            <a:off x="6611112" y="1165860"/>
            <a:ext cx="274320" cy="274320"/>
          </a:xfrm>
          <a:prstGeom prst="ellipse">
            <a:avLst/>
          </a:prstGeom>
          <a:solidFill>
            <a:srgbClr val="141417"/>
          </a:solidFill>
          <a:ln w="6350">
            <a:solidFill>
              <a:srgbClr val="141417"/>
            </a:solidFill>
            <a:prstDash val="solid"/>
          </a:ln>
        </p:spPr>
      </p:sp>
      <p:pic>
        <p:nvPicPr>
          <p:cNvPr id="13" name="dot-icon" descr="preencoded.png">    </p:cNvPr>
          <p:cNvPicPr>
            <a:picLocks noChangeAspect="1"/>
          </p:cNvPicPr>
          <p:nvPr/>
        </p:nvPicPr>
        <p:blipFill>
          <a:blip r:embed="rId1"/>
          <a:stretch>
            <a:fillRect/>
          </a:stretch>
        </p:blipFill>
        <p:spPr>
          <a:xfrm>
            <a:off x="6671462" y="1226210"/>
            <a:ext cx="153619" cy="153619"/>
          </a:xfrm>
          <a:prstGeom prst="rect">
            <a:avLst/>
          </a:prstGeom>
        </p:spPr>
      </p:pic>
      <p:sp>
        <p:nvSpPr>
          <p:cNvPr id="14" name="card"/>
          <p:cNvSpPr/>
          <p:nvPr/>
        </p:nvSpPr>
        <p:spPr>
          <a:xfrm>
            <a:off x="502920" y="2148840"/>
            <a:ext cx="6675120" cy="1289304"/>
          </a:xfrm>
          <a:prstGeom prst="roundRect">
            <a:avLst>
              <a:gd name="adj" fmla="val 14184"/>
            </a:avLst>
          </a:prstGeom>
          <a:solidFill>
            <a:srgbClr val="E8E8E8"/>
          </a:solidFill>
          <a:ln w="6350">
            <a:solidFill>
              <a:srgbClr val="E8E8E8"/>
            </a:solidFill>
            <a:prstDash val="solid"/>
          </a:ln>
        </p:spPr>
      </p:sp>
      <p:sp>
        <p:nvSpPr>
          <p:cNvPr id="15" name="text"/>
          <p:cNvSpPr txBox="1"/>
          <p:nvPr/>
        </p:nvSpPr>
        <p:spPr>
          <a:xfrm>
            <a:off x="822960" y="2423160"/>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PELATIHAN DAN ROTASI</a:t>
            </a:r>
            <a:endParaRPr lang="en-US" sz="1400" dirty="0"/>
          </a:p>
        </p:txBody>
      </p:sp>
      <p:sp>
        <p:nvSpPr>
          <p:cNvPr id="16" name="text"/>
          <p:cNvSpPr txBox="1"/>
          <p:nvPr/>
        </p:nvSpPr>
        <p:spPr>
          <a:xfrm>
            <a:off x="2788920" y="2386584"/>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Pelatihan naik ke puncak agenda bila strategi menuntut skill baru.</a:t>
            </a:r>
            <a:endParaRPr lang="en-US" sz="1800" dirty="0"/>
          </a:p>
        </p:txBody>
      </p:sp>
      <p:sp>
        <p:nvSpPr>
          <p:cNvPr id="17" name="dot"/>
          <p:cNvSpPr/>
          <p:nvPr/>
        </p:nvSpPr>
        <p:spPr>
          <a:xfrm>
            <a:off x="6611112" y="2656332"/>
            <a:ext cx="274320" cy="274320"/>
          </a:xfrm>
          <a:prstGeom prst="ellipse">
            <a:avLst/>
          </a:prstGeom>
          <a:solidFill>
            <a:srgbClr val="141417"/>
          </a:solidFill>
          <a:ln w="6350">
            <a:solidFill>
              <a:srgbClr val="141417"/>
            </a:solidFill>
            <a:prstDash val="solid"/>
          </a:ln>
        </p:spPr>
      </p:sp>
      <p:pic>
        <p:nvPicPr>
          <p:cNvPr id="18" name="dot-icon" descr="preencoded.png">    </p:cNvPr>
          <p:cNvPicPr>
            <a:picLocks noChangeAspect="1"/>
          </p:cNvPicPr>
          <p:nvPr/>
        </p:nvPicPr>
        <p:blipFill>
          <a:blip r:embed="rId2"/>
          <a:stretch>
            <a:fillRect/>
          </a:stretch>
        </p:blipFill>
        <p:spPr>
          <a:xfrm>
            <a:off x="6671462" y="2716682"/>
            <a:ext cx="153619" cy="153619"/>
          </a:xfrm>
          <a:prstGeom prst="rect">
            <a:avLst/>
          </a:prstGeom>
        </p:spPr>
      </p:pic>
      <p:sp>
        <p:nvSpPr>
          <p:cNvPr id="19" name="card"/>
          <p:cNvSpPr/>
          <p:nvPr/>
        </p:nvSpPr>
        <p:spPr>
          <a:xfrm>
            <a:off x="502920" y="3639312"/>
            <a:ext cx="6675120" cy="1289304"/>
          </a:xfrm>
          <a:prstGeom prst="roundRect">
            <a:avLst>
              <a:gd name="adj" fmla="val 14184"/>
            </a:avLst>
          </a:prstGeom>
          <a:solidFill>
            <a:srgbClr val="D4FC00"/>
          </a:solidFill>
          <a:ln w="6350">
            <a:solidFill>
              <a:srgbClr val="D4FC00"/>
            </a:solidFill>
            <a:prstDash val="solid"/>
          </a:ln>
        </p:spPr>
      </p:sp>
      <p:sp>
        <p:nvSpPr>
          <p:cNvPr id="20" name="text"/>
          <p:cNvSpPr txBox="1"/>
          <p:nvPr/>
        </p:nvSpPr>
        <p:spPr>
          <a:xfrm>
            <a:off x="822960" y="3913632"/>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LINGKUNGAN DAN SUARA</a:t>
            </a:r>
            <a:endParaRPr lang="en-US" sz="1400" dirty="0"/>
          </a:p>
        </p:txBody>
      </p:sp>
      <p:sp>
        <p:nvSpPr>
          <p:cNvPr id="21" name="text"/>
          <p:cNvSpPr txBox="1"/>
          <p:nvPr/>
        </p:nvSpPr>
        <p:spPr>
          <a:xfrm>
            <a:off x="2788920" y="3877056"/>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Tempat kerja yang menstimulasi; ide karyawan dihargai.</a:t>
            </a:r>
            <a:endParaRPr lang="en-US" sz="1800" dirty="0"/>
          </a:p>
        </p:txBody>
      </p:sp>
      <p:sp>
        <p:nvSpPr>
          <p:cNvPr id="22" name="dot"/>
          <p:cNvSpPr/>
          <p:nvPr/>
        </p:nvSpPr>
        <p:spPr>
          <a:xfrm>
            <a:off x="6611112" y="4146804"/>
            <a:ext cx="274320" cy="274320"/>
          </a:xfrm>
          <a:prstGeom prst="ellipse">
            <a:avLst/>
          </a:prstGeom>
          <a:solidFill>
            <a:srgbClr val="141417"/>
          </a:solidFill>
          <a:ln w="6350">
            <a:solidFill>
              <a:srgbClr val="141417"/>
            </a:solidFill>
            <a:prstDash val="solid"/>
          </a:ln>
        </p:spPr>
      </p:sp>
      <p:pic>
        <p:nvPicPr>
          <p:cNvPr id="23" name="dot-icon" descr="preencoded.png">    </p:cNvPr>
          <p:cNvPicPr>
            <a:picLocks noChangeAspect="1"/>
          </p:cNvPicPr>
          <p:nvPr/>
        </p:nvPicPr>
        <p:blipFill>
          <a:blip r:embed="rId3"/>
          <a:stretch>
            <a:fillRect/>
          </a:stretch>
        </p:blipFill>
        <p:spPr>
          <a:xfrm>
            <a:off x="6671462" y="4207154"/>
            <a:ext cx="153619" cy="153619"/>
          </a:xfrm>
          <a:prstGeom prst="rect">
            <a:avLst/>
          </a:prstGeom>
        </p:spPr>
      </p:pic>
      <p:sp>
        <p:nvSpPr>
          <p:cNvPr id="24" name="card"/>
          <p:cNvSpPr/>
          <p:nvPr/>
        </p:nvSpPr>
        <p:spPr>
          <a:xfrm>
            <a:off x="502920" y="5129784"/>
            <a:ext cx="6675120" cy="1289304"/>
          </a:xfrm>
          <a:prstGeom prst="roundRect">
            <a:avLst>
              <a:gd name="adj" fmla="val 14184"/>
            </a:avLst>
          </a:prstGeom>
          <a:solidFill>
            <a:srgbClr val="141417"/>
          </a:solidFill>
          <a:ln w="6350">
            <a:solidFill>
              <a:srgbClr val="141417"/>
            </a:solidFill>
            <a:prstDash val="solid"/>
          </a:ln>
        </p:spPr>
      </p:sp>
      <p:sp>
        <p:nvSpPr>
          <p:cNvPr id="25" name="text"/>
          <p:cNvSpPr txBox="1"/>
          <p:nvPr/>
        </p:nvSpPr>
        <p:spPr>
          <a:xfrm>
            <a:off x="822960" y="5404104"/>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RETENSI DAN PEMBINAAN</a:t>
            </a:r>
            <a:endParaRPr lang="en-US" sz="1400" dirty="0"/>
          </a:p>
        </p:txBody>
      </p:sp>
      <p:sp>
        <p:nvSpPr>
          <p:cNvPr id="26" name="text"/>
          <p:cNvSpPr txBox="1"/>
          <p:nvPr/>
        </p:nvSpPr>
        <p:spPr>
          <a:xfrm>
            <a:off x="2788920" y="5367528"/>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Promosi, bonus, equity; bina yang rata-rata.</a:t>
            </a:r>
            <a:endParaRPr lang="en-US" sz="1800" dirty="0"/>
          </a:p>
        </p:txBody>
      </p:sp>
      <p:sp>
        <p:nvSpPr>
          <p:cNvPr id="27" name="dot"/>
          <p:cNvSpPr/>
          <p:nvPr/>
        </p:nvSpPr>
        <p:spPr>
          <a:xfrm>
            <a:off x="6611112" y="5637276"/>
            <a:ext cx="274320" cy="274320"/>
          </a:xfrm>
          <a:prstGeom prst="ellipse">
            <a:avLst/>
          </a:prstGeom>
          <a:solidFill>
            <a:srgbClr val="D4FC00"/>
          </a:solidFill>
          <a:ln w="6350">
            <a:solidFill>
              <a:srgbClr val="D4FC00"/>
            </a:solidFill>
            <a:prstDash val="solid"/>
          </a:ln>
        </p:spPr>
      </p:sp>
      <p:pic>
        <p:nvPicPr>
          <p:cNvPr id="28" name="dot-icon" descr="preencoded.png">    </p:cNvPr>
          <p:cNvPicPr>
            <a:picLocks noChangeAspect="1"/>
          </p:cNvPicPr>
          <p:nvPr/>
        </p:nvPicPr>
        <p:blipFill>
          <a:blip r:embed="rId4"/>
          <a:stretch>
            <a:fillRect/>
          </a:stretch>
        </p:blipFill>
        <p:spPr>
          <a:xfrm>
            <a:off x="6671462" y="5697626"/>
            <a:ext cx="153619" cy="153619"/>
          </a:xfrm>
          <a:prstGeom prst="rect">
            <a:avLst/>
          </a:prstGeom>
        </p:spPr>
      </p:pic>
      <p:pic>
        <p:nvPicPr>
          <p:cNvPr id="29" name="Sesi pelatihan di ruang putih" descr="preencoded.png">    </p:cNvPr>
          <p:cNvPicPr>
            <a:picLocks noChangeAspect="1"/>
          </p:cNvPicPr>
          <p:nvPr/>
        </p:nvPicPr>
        <p:blipFill>
          <a:blip r:embed="rId5"/>
          <a:stretch>
            <a:fillRect/>
          </a:stretch>
        </p:blipFill>
        <p:spPr>
          <a:xfrm>
            <a:off x="7635240" y="658368"/>
            <a:ext cx="4053535" cy="2103120"/>
          </a:xfrm>
          <a:prstGeom prst="rect">
            <a:avLst/>
          </a:prstGeom>
        </p:spPr>
      </p:pic>
      <p:sp>
        <p:nvSpPr>
          <p:cNvPr id="30" name="text"/>
          <p:cNvSpPr txBox="1"/>
          <p:nvPr/>
        </p:nvSpPr>
        <p:spPr>
          <a:xfrm>
            <a:off x="7635240" y="2971800"/>
            <a:ext cx="4053535" cy="2286000"/>
          </a:xfrm>
          <a:prstGeom prst="rect">
            <a:avLst/>
          </a:prstGeom>
          <a:noFill/>
          <a:ln/>
        </p:spPr>
        <p:txBody>
          <a:bodyPr wrap="square" lIns="0" tIns="0" rIns="0" bIns="0" rtlCol="0" anchor="t"/>
          <a:lstStyle/>
          <a:p>
            <a:pPr algn="l" indent="0" marL="0">
              <a:lnSpc>
                <a:spcPct val="100000"/>
              </a:lnSpc>
              <a:buNone/>
            </a:pPr>
            <a:r>
              <a:rPr lang="en-US" sz="2800" dirty="0">
                <a:solidFill>
                  <a:srgbClr val="141417"/>
                </a:solidFill>
                <a:latin typeface="Outfit SemiBold" pitchFamily="34" charset="0"/>
                <a:ea typeface="Outfit SemiBold" pitchFamily="34" charset="-122"/>
                <a:cs typeface="Outfit SemiBold" pitchFamily="34" charset="-120"/>
              </a:rPr>
              <a:t>MEREKRUT, MELATIH, DAN MEMPERTAHANKAN KARYAWAN</a:t>
            </a:r>
            <a:endParaRPr lang="en-US" sz="2800" dirty="0"/>
          </a:p>
        </p:txBody>
      </p:sp>
      <p:sp>
        <p:nvSpPr>
          <p:cNvPr id="31" name="text"/>
          <p:cNvSpPr txBox="1"/>
          <p:nvPr/>
        </p:nvSpPr>
        <p:spPr>
          <a:xfrm>
            <a:off x="7635240" y="5257800"/>
            <a:ext cx="4053535" cy="114300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Deloitte (IC 10.2): jalur jelas menuju partner, milestone school, sponsorship.</a:t>
            </a:r>
            <a:endParaRPr lang="en-US" sz="1600" dirty="0"/>
          </a:p>
        </p:txBody>
      </p:sp>
      <p:sp>
        <p:nvSpPr>
          <p:cNvPr id="32"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card"/>
          <p:cNvSpPr/>
          <p:nvPr/>
        </p:nvSpPr>
        <p:spPr>
          <a:xfrm>
            <a:off x="6473952" y="173736"/>
            <a:ext cx="1499616" cy="329184"/>
          </a:xfrm>
          <a:prstGeom prst="roundRect">
            <a:avLst>
              <a:gd name="adj" fmla="val 138889"/>
            </a:avLst>
          </a:prstGeom>
          <a:solidFill>
            <a:srgbClr val="D4FC00"/>
          </a:solidFill>
          <a:ln w="6350">
            <a:solidFill>
              <a:srgbClr val="D4FC00"/>
            </a:solidFill>
            <a:prstDash val="solid"/>
          </a:ln>
        </p:spPr>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text"/>
          <p:cNvSpPr txBox="1"/>
          <p:nvPr/>
        </p:nvSpPr>
        <p:spPr>
          <a:xfrm>
            <a:off x="502920" y="914400"/>
            <a:ext cx="6400800" cy="265176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TIGA JALAN MEMBANGUN ORGANIZATIONAL CAPABILITIES</a:t>
            </a:r>
            <a:endParaRPr lang="en-US" sz="3800" dirty="0"/>
          </a:p>
        </p:txBody>
      </p:sp>
      <p:sp>
        <p:nvSpPr>
          <p:cNvPr id="10" name="pill"/>
          <p:cNvSpPr/>
          <p:nvPr/>
        </p:nvSpPr>
        <p:spPr>
          <a:xfrm>
            <a:off x="502920" y="3429000"/>
            <a:ext cx="4023360" cy="402336"/>
          </a:xfrm>
          <a:prstGeom prst="roundRect">
            <a:avLst>
              <a:gd name="adj" fmla="val 113636"/>
            </a:avLst>
          </a:prstGeom>
          <a:solidFill>
            <a:srgbClr val="F4F4F4"/>
          </a:solidFill>
          <a:ln w="9525">
            <a:solidFill>
              <a:srgbClr val="141417"/>
            </a:solidFill>
            <a:prstDash val="solid"/>
          </a:ln>
        </p:spPr>
      </p:sp>
      <p:sp>
        <p:nvSpPr>
          <p:cNvPr id="11" name="text"/>
          <p:cNvSpPr txBox="1"/>
          <p:nvPr/>
        </p:nvSpPr>
        <p:spPr>
          <a:xfrm>
            <a:off x="612648" y="3429000"/>
            <a:ext cx="3803904" cy="402336"/>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BAB 4: VRIN DAN DYNAMIC CAPABILITIES</a:t>
            </a:r>
            <a:endParaRPr lang="en-US" sz="1300" dirty="0"/>
          </a:p>
        </p:txBody>
      </p:sp>
      <p:sp>
        <p:nvSpPr>
          <p:cNvPr id="12" name="card"/>
          <p:cNvSpPr/>
          <p:nvPr/>
        </p:nvSpPr>
        <p:spPr>
          <a:xfrm>
            <a:off x="502920" y="4023360"/>
            <a:ext cx="2148840" cy="1554480"/>
          </a:xfrm>
          <a:prstGeom prst="roundRect">
            <a:avLst>
              <a:gd name="adj" fmla="val 11765"/>
            </a:avLst>
          </a:prstGeom>
          <a:solidFill>
            <a:srgbClr val="E8E8E8"/>
          </a:solidFill>
          <a:ln w="6350">
            <a:solidFill>
              <a:srgbClr val="E8E8E8"/>
            </a:solidFill>
            <a:prstDash val="solid"/>
          </a:ln>
        </p:spPr>
      </p:sp>
      <p:sp>
        <p:nvSpPr>
          <p:cNvPr id="13" name="text"/>
          <p:cNvSpPr txBox="1"/>
          <p:nvPr/>
        </p:nvSpPr>
        <p:spPr>
          <a:xfrm>
            <a:off x="75895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Internal</a:t>
            </a:r>
            <a:endParaRPr lang="en-US" sz="2400" dirty="0"/>
          </a:p>
        </p:txBody>
      </p:sp>
      <p:sp>
        <p:nvSpPr>
          <p:cNvPr id="14" name="text"/>
          <p:cNvSpPr txBox="1"/>
          <p:nvPr/>
        </p:nvSpPr>
        <p:spPr>
          <a:xfrm>
            <a:off x="75895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Bertahap; kendali penuh.</a:t>
            </a:r>
            <a:endParaRPr lang="en-US" sz="1400" dirty="0"/>
          </a:p>
        </p:txBody>
      </p:sp>
      <p:sp>
        <p:nvSpPr>
          <p:cNvPr id="15" name="card"/>
          <p:cNvSpPr/>
          <p:nvPr/>
        </p:nvSpPr>
        <p:spPr>
          <a:xfrm>
            <a:off x="2834640" y="4023360"/>
            <a:ext cx="2148840" cy="1554480"/>
          </a:xfrm>
          <a:prstGeom prst="roundRect">
            <a:avLst>
              <a:gd name="adj" fmla="val 11765"/>
            </a:avLst>
          </a:prstGeom>
          <a:solidFill>
            <a:srgbClr val="D4FC00"/>
          </a:solidFill>
          <a:ln w="6350">
            <a:solidFill>
              <a:srgbClr val="D4FC00"/>
            </a:solidFill>
            <a:prstDash val="solid"/>
          </a:ln>
        </p:spPr>
      </p:sp>
      <p:sp>
        <p:nvSpPr>
          <p:cNvPr id="16" name="text"/>
          <p:cNvSpPr txBox="1"/>
          <p:nvPr/>
        </p:nvSpPr>
        <p:spPr>
          <a:xfrm>
            <a:off x="309067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Akuisisi</a:t>
            </a:r>
            <a:endParaRPr lang="en-US" sz="2400" dirty="0"/>
          </a:p>
        </p:txBody>
      </p:sp>
      <p:sp>
        <p:nvSpPr>
          <p:cNvPr id="17" name="text"/>
          <p:cNvSpPr txBox="1"/>
          <p:nvPr/>
        </p:nvSpPr>
        <p:spPr>
          <a:xfrm>
            <a:off x="309067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1A1A1C"/>
                </a:solidFill>
                <a:latin typeface="Outfit" pitchFamily="34" charset="0"/>
                <a:ea typeface="Outfit" pitchFamily="34" charset="-122"/>
                <a:cs typeface="Outfit" pitchFamily="34" charset="-120"/>
              </a:rPr>
              <a:t>Cepat; risiko integrasi.</a:t>
            </a:r>
            <a:endParaRPr lang="en-US" sz="1400" dirty="0"/>
          </a:p>
        </p:txBody>
      </p:sp>
      <p:sp>
        <p:nvSpPr>
          <p:cNvPr id="18" name="card"/>
          <p:cNvSpPr/>
          <p:nvPr/>
        </p:nvSpPr>
        <p:spPr>
          <a:xfrm>
            <a:off x="5166360" y="4023360"/>
            <a:ext cx="2148840" cy="1554480"/>
          </a:xfrm>
          <a:prstGeom prst="roundRect">
            <a:avLst>
              <a:gd name="adj" fmla="val 11765"/>
            </a:avLst>
          </a:prstGeom>
          <a:solidFill>
            <a:srgbClr val="141417"/>
          </a:solidFill>
          <a:ln w="6350">
            <a:solidFill>
              <a:srgbClr val="141417"/>
            </a:solidFill>
            <a:prstDash val="solid"/>
          </a:ln>
        </p:spPr>
      </p:sp>
      <p:sp>
        <p:nvSpPr>
          <p:cNvPr id="19" name="text"/>
          <p:cNvSpPr txBox="1"/>
          <p:nvPr/>
        </p:nvSpPr>
        <p:spPr>
          <a:xfrm>
            <a:off x="542239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FFFFFF"/>
                </a:solidFill>
                <a:latin typeface="Outfit Medium" pitchFamily="34" charset="0"/>
                <a:ea typeface="Outfit Medium" pitchFamily="34" charset="-122"/>
                <a:cs typeface="Outfit Medium" pitchFamily="34" charset="-120"/>
              </a:rPr>
              <a:t>Kemitraan</a:t>
            </a:r>
            <a:endParaRPr lang="en-US" sz="2400" dirty="0"/>
          </a:p>
        </p:txBody>
      </p:sp>
      <p:sp>
        <p:nvSpPr>
          <p:cNvPr id="20" name="text"/>
          <p:cNvSpPr txBox="1"/>
          <p:nvPr/>
        </p:nvSpPr>
        <p:spPr>
          <a:xfrm>
            <a:off x="542239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BDBDC2"/>
                </a:solidFill>
                <a:latin typeface="Outfit" pitchFamily="34" charset="0"/>
                <a:ea typeface="Outfit" pitchFamily="34" charset="-122"/>
                <a:cs typeface="Outfit" pitchFamily="34" charset="-120"/>
              </a:rPr>
              <a:t>Outsourcing, aliansi, belajar.</a:t>
            </a:r>
            <a:endParaRPr lang="en-US" sz="1400" dirty="0"/>
          </a:p>
        </p:txBody>
      </p:sp>
      <p:sp>
        <p:nvSpPr>
          <p:cNvPr id="21" name="text"/>
          <p:cNvSpPr txBox="1"/>
          <p:nvPr/>
        </p:nvSpPr>
        <p:spPr>
          <a:xfrm>
            <a:off x="502920" y="5806440"/>
            <a:ext cx="6858000" cy="640080"/>
          </a:xfrm>
          <a:prstGeom prst="rect">
            <a:avLst/>
          </a:prstGeom>
          <a:noFill/>
          <a:ln/>
        </p:spPr>
        <p:txBody>
          <a:bodyPr wrap="square" lIns="0" tIns="0" rIns="0" bIns="0" rtlCol="0" anchor="t"/>
          <a:lstStyle/>
          <a:p>
            <a:pPr algn="l" indent="0" marL="0">
              <a:lnSpc>
                <a:spcPct val="115000"/>
              </a:lnSpc>
              <a:buNone/>
            </a:pPr>
            <a:r>
              <a:rPr lang="en-US" sz="1700" dirty="0">
                <a:solidFill>
                  <a:srgbClr val="1A1A1C"/>
                </a:solidFill>
                <a:latin typeface="Outfit" pitchFamily="34" charset="0"/>
                <a:ea typeface="Outfit" pitchFamily="34" charset="-122"/>
                <a:cs typeface="Outfit" pitchFamily="34" charset="-120"/>
              </a:rPr>
              <a:t>Merumuskan berarti mengidentifikasi capability; mengeksekusi berarti memperoleh dan menyegarkannya.</a:t>
            </a:r>
            <a:endParaRPr lang="en-US" sz="1700" dirty="0"/>
          </a:p>
        </p:txBody>
      </p:sp>
      <p:pic>
        <p:nvPicPr>
          <p:cNvPr id="22" name="Teknisi mengajari pemagang" descr="preencoded.png">    </p:cNvPr>
          <p:cNvPicPr>
            <a:picLocks noChangeAspect="1"/>
          </p:cNvPicPr>
          <p:nvPr/>
        </p:nvPicPr>
        <p:blipFill>
          <a:blip r:embed="rId1"/>
          <a:stretch>
            <a:fillRect/>
          </a:stretch>
        </p:blipFill>
        <p:spPr>
          <a:xfrm>
            <a:off x="7589520" y="658368"/>
            <a:ext cx="4099255" cy="6473952"/>
          </a:xfrm>
          <a:prstGeom prst="rect">
            <a:avLst/>
          </a:prstGeom>
        </p:spPr>
      </p:pic>
      <p:sp>
        <p:nvSpPr>
          <p:cNvPr id="23"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card"/>
          <p:cNvSpPr/>
          <p:nvPr/>
        </p:nvSpPr>
        <p:spPr>
          <a:xfrm>
            <a:off x="6473952" y="173736"/>
            <a:ext cx="1499616" cy="329184"/>
          </a:xfrm>
          <a:prstGeom prst="roundRect">
            <a:avLst>
              <a:gd name="adj" fmla="val 138889"/>
            </a:avLst>
          </a:prstGeom>
          <a:solidFill>
            <a:srgbClr val="D4FC00"/>
          </a:solidFill>
          <a:ln w="6350">
            <a:solidFill>
              <a:srgbClr val="D4FC00"/>
            </a:solidFill>
            <a:prstDash val="solid"/>
          </a:ln>
        </p:spPr>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text"/>
          <p:cNvSpPr txBox="1"/>
          <p:nvPr/>
        </p:nvSpPr>
        <p:spPr>
          <a:xfrm>
            <a:off x="502920" y="868680"/>
            <a:ext cx="5303520" cy="182880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CAPABILITY TUMBUH BERTAHAP</a:t>
            </a:r>
            <a:endParaRPr lang="en-US" sz="3800" dirty="0"/>
          </a:p>
        </p:txBody>
      </p:sp>
      <p:sp>
        <p:nvSpPr>
          <p:cNvPr id="10" name="text"/>
          <p:cNvSpPr txBox="1"/>
          <p:nvPr/>
        </p:nvSpPr>
        <p:spPr>
          <a:xfrm>
            <a:off x="6400800" y="868680"/>
            <a:ext cx="5257800" cy="219456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Ability yang belum sempurna menjadi tried-and-true competence lewat pengulangan, lalu dijaga sebagai dynamic capability. Pembelajaran dan insentif mempercepatnya.</a:t>
            </a:r>
            <a:endParaRPr lang="en-US" sz="1800" dirty="0"/>
          </a:p>
        </p:txBody>
      </p:sp>
      <p:sp>
        <p:nvSpPr>
          <p:cNvPr id="11" name="card"/>
          <p:cNvSpPr/>
          <p:nvPr/>
        </p:nvSpPr>
        <p:spPr>
          <a:xfrm>
            <a:off x="502920" y="3154680"/>
            <a:ext cx="4206240" cy="3017520"/>
          </a:xfrm>
          <a:prstGeom prst="roundRect">
            <a:avLst>
              <a:gd name="adj" fmla="val 6061"/>
            </a:avLst>
          </a:prstGeom>
          <a:solidFill>
            <a:srgbClr val="141417"/>
          </a:solidFill>
          <a:ln w="6350">
            <a:solidFill>
              <a:srgbClr val="141417"/>
            </a:solidFill>
            <a:prstDash val="solid"/>
          </a:ln>
        </p:spPr>
      </p:sp>
      <p:sp>
        <p:nvSpPr>
          <p:cNvPr id="12" name="text"/>
          <p:cNvSpPr txBox="1"/>
          <p:nvPr/>
        </p:nvSpPr>
        <p:spPr>
          <a:xfrm>
            <a:off x="822960" y="3429000"/>
            <a:ext cx="3566160" cy="320040"/>
          </a:xfrm>
          <a:prstGeom prst="rect">
            <a:avLst/>
          </a:prstGeom>
          <a:noFill/>
          <a:ln/>
        </p:spPr>
        <p:txBody>
          <a:bodyPr wrap="square" lIns="0" tIns="0" rIns="0" bIns="0" rtlCol="0" anchor="t"/>
          <a:lstStyle/>
          <a:p>
            <a:pPr algn="l" indent="0" marL="0">
              <a:lnSpc>
                <a:spcPct val="122000"/>
              </a:lnSpc>
              <a:buNone/>
            </a:pPr>
            <a:r>
              <a:rPr lang="en-US" sz="1400" spc="50" kern="0" dirty="0">
                <a:solidFill>
                  <a:srgbClr val="BDBDC2"/>
                </a:solidFill>
                <a:latin typeface="Outfit" pitchFamily="34" charset="0"/>
                <a:ea typeface="Outfit" pitchFamily="34" charset="-122"/>
                <a:cs typeface="Outfit" pitchFamily="34" charset="-120"/>
              </a:rPr>
              <a:t>Dua tahap di buku, lalu dijaga</a:t>
            </a:r>
            <a:endParaRPr lang="en-US" sz="1400" dirty="0"/>
          </a:p>
        </p:txBody>
      </p:sp>
      <p:sp>
        <p:nvSpPr>
          <p:cNvPr id="13" name="text"/>
          <p:cNvSpPr txBox="1"/>
          <p:nvPr/>
        </p:nvSpPr>
        <p:spPr>
          <a:xfrm>
            <a:off x="822960" y="3794760"/>
            <a:ext cx="3566160" cy="1146658"/>
          </a:xfrm>
          <a:prstGeom prst="rect">
            <a:avLst/>
          </a:prstGeom>
          <a:noFill/>
          <a:ln/>
        </p:spPr>
        <p:txBody>
          <a:bodyPr wrap="square" lIns="0" tIns="0" rIns="0" bIns="0" rtlCol="0" anchor="ctr"/>
          <a:lstStyle/>
          <a:p>
            <a:pPr algn="l" indent="0" marL="0">
              <a:lnSpc>
                <a:spcPct val="122000"/>
              </a:lnSpc>
              <a:buNone/>
            </a:pPr>
            <a:r>
              <a:rPr lang="en-US" sz="4400" dirty="0">
                <a:solidFill>
                  <a:srgbClr val="FFFFFF"/>
                </a:solidFill>
                <a:latin typeface="Outfit Medium" pitchFamily="34" charset="0"/>
                <a:ea typeface="Outfit Medium" pitchFamily="34" charset="-122"/>
                <a:cs typeface="Outfit Medium" pitchFamily="34" charset="-120"/>
              </a:rPr>
              <a:t>2</a:t>
            </a:r>
            <a:endParaRPr lang="en-US" sz="4400" dirty="0"/>
          </a:p>
        </p:txBody>
      </p:sp>
      <p:sp>
        <p:nvSpPr>
          <p:cNvPr id="14" name="text"/>
          <p:cNvSpPr txBox="1"/>
          <p:nvPr/>
        </p:nvSpPr>
        <p:spPr>
          <a:xfrm>
            <a:off x="822960" y="4846320"/>
            <a:ext cx="3566160" cy="1143000"/>
          </a:xfrm>
          <a:prstGeom prst="rect">
            <a:avLst/>
          </a:prstGeom>
          <a:noFill/>
          <a:ln/>
        </p:spPr>
        <p:txBody>
          <a:bodyPr wrap="square" lIns="0" tIns="0" rIns="0" bIns="0" rtlCol="0" anchor="t"/>
          <a:lstStyle/>
          <a:p>
            <a:pPr algn="l" indent="0" marL="0">
              <a:lnSpc>
                <a:spcPct val="112000"/>
              </a:lnSpc>
              <a:buNone/>
            </a:pPr>
            <a:r>
              <a:rPr lang="en-US" sz="1600" dirty="0">
                <a:solidFill>
                  <a:srgbClr val="BDBDC2"/>
                </a:solidFill>
                <a:latin typeface="Outfit" pitchFamily="34" charset="0"/>
                <a:ea typeface="Outfit" pitchFamily="34" charset="-122"/>
                <a:cs typeface="Outfit" pitchFamily="34" charset="-120"/>
              </a:rPr>
              <a:t>Merekombinasi yang ada lebih mudah daripada membangun dari nol.</a:t>
            </a:r>
            <a:endParaRPr lang="en-US" sz="1600" dirty="0"/>
          </a:p>
        </p:txBody>
      </p:sp>
      <p:sp>
        <p:nvSpPr>
          <p:cNvPr id="15" name="track"/>
          <p:cNvSpPr/>
          <p:nvPr/>
        </p:nvSpPr>
        <p:spPr>
          <a:xfrm>
            <a:off x="5806440" y="3154680"/>
            <a:ext cx="384048" cy="1920240"/>
          </a:xfrm>
          <a:prstGeom prst="roundRect">
            <a:avLst>
              <a:gd name="adj" fmla="val 119048"/>
            </a:avLst>
          </a:prstGeom>
          <a:solidFill>
            <a:srgbClr val="E8E8E8"/>
          </a:solidFill>
          <a:ln w="6350">
            <a:solidFill>
              <a:srgbClr val="E8E8E8"/>
            </a:solidFill>
            <a:prstDash val="solid"/>
          </a:ln>
        </p:spPr>
      </p:sp>
      <p:sp>
        <p:nvSpPr>
          <p:cNvPr id="16" name="bar"/>
          <p:cNvSpPr/>
          <p:nvPr/>
        </p:nvSpPr>
        <p:spPr>
          <a:xfrm>
            <a:off x="5806440" y="4402836"/>
            <a:ext cx="384048" cy="672084"/>
          </a:xfrm>
          <a:prstGeom prst="roundRect">
            <a:avLst>
              <a:gd name="adj" fmla="val 119048"/>
            </a:avLst>
          </a:prstGeom>
          <a:solidFill>
            <a:srgbClr val="D4FC00"/>
          </a:solidFill>
          <a:ln w="6350">
            <a:solidFill>
              <a:srgbClr val="D4FC00"/>
            </a:solidFill>
            <a:prstDash val="solid"/>
          </a:ln>
        </p:spPr>
      </p:sp>
      <p:sp>
        <p:nvSpPr>
          <p:cNvPr id="17" name="text"/>
          <p:cNvSpPr txBox="1"/>
          <p:nvPr/>
        </p:nvSpPr>
        <p:spPr>
          <a:xfrm>
            <a:off x="6355080" y="4402836"/>
            <a:ext cx="1325880" cy="347472"/>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Ability</a:t>
            </a:r>
            <a:endParaRPr lang="en-US" sz="1800" dirty="0"/>
          </a:p>
        </p:txBody>
      </p:sp>
      <p:sp>
        <p:nvSpPr>
          <p:cNvPr id="18" name="text"/>
          <p:cNvSpPr txBox="1"/>
          <p:nvPr/>
        </p:nvSpPr>
        <p:spPr>
          <a:xfrm>
            <a:off x="6355080" y="4768596"/>
            <a:ext cx="1325880" cy="731520"/>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pitchFamily="34" charset="0"/>
                <a:ea typeface="Outfit" pitchFamily="34" charset="-122"/>
                <a:cs typeface="Outfit" pitchFamily="34" charset="-120"/>
              </a:rPr>
              <a:t>bereksperimen</a:t>
            </a:r>
            <a:endParaRPr lang="en-US" sz="1400" dirty="0"/>
          </a:p>
        </p:txBody>
      </p:sp>
      <p:sp>
        <p:nvSpPr>
          <p:cNvPr id="19" name="track"/>
          <p:cNvSpPr/>
          <p:nvPr/>
        </p:nvSpPr>
        <p:spPr>
          <a:xfrm>
            <a:off x="7726680" y="3154680"/>
            <a:ext cx="384048" cy="1920240"/>
          </a:xfrm>
          <a:prstGeom prst="roundRect">
            <a:avLst>
              <a:gd name="adj" fmla="val 119048"/>
            </a:avLst>
          </a:prstGeom>
          <a:solidFill>
            <a:srgbClr val="E8E8E8"/>
          </a:solidFill>
          <a:ln w="6350">
            <a:solidFill>
              <a:srgbClr val="E8E8E8"/>
            </a:solidFill>
            <a:prstDash val="solid"/>
          </a:ln>
        </p:spPr>
      </p:sp>
      <p:sp>
        <p:nvSpPr>
          <p:cNvPr id="20" name="bar"/>
          <p:cNvSpPr/>
          <p:nvPr/>
        </p:nvSpPr>
        <p:spPr>
          <a:xfrm>
            <a:off x="7726680" y="3826764"/>
            <a:ext cx="384048" cy="1248156"/>
          </a:xfrm>
          <a:prstGeom prst="roundRect">
            <a:avLst>
              <a:gd name="adj" fmla="val 119048"/>
            </a:avLst>
          </a:prstGeom>
          <a:solidFill>
            <a:srgbClr val="D4FC00"/>
          </a:solidFill>
          <a:ln w="6350">
            <a:solidFill>
              <a:srgbClr val="D4FC00"/>
            </a:solidFill>
            <a:prstDash val="solid"/>
          </a:ln>
        </p:spPr>
      </p:sp>
      <p:sp>
        <p:nvSpPr>
          <p:cNvPr id="21" name="text"/>
          <p:cNvSpPr txBox="1"/>
          <p:nvPr/>
        </p:nvSpPr>
        <p:spPr>
          <a:xfrm>
            <a:off x="8275320" y="3826764"/>
            <a:ext cx="1325880" cy="347472"/>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Competence</a:t>
            </a:r>
            <a:endParaRPr lang="en-US" sz="1800" dirty="0"/>
          </a:p>
        </p:txBody>
      </p:sp>
      <p:sp>
        <p:nvSpPr>
          <p:cNvPr id="22" name="text"/>
          <p:cNvSpPr txBox="1"/>
          <p:nvPr/>
        </p:nvSpPr>
        <p:spPr>
          <a:xfrm>
            <a:off x="8275320" y="4192524"/>
            <a:ext cx="1325880" cy="731520"/>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pitchFamily="34" charset="0"/>
                <a:ea typeface="Outfit" pitchFamily="34" charset="-122"/>
                <a:cs typeface="Outfit" pitchFamily="34" charset="-120"/>
              </a:rPr>
              <a:t>konsisten</a:t>
            </a:r>
            <a:endParaRPr lang="en-US" sz="1400" dirty="0"/>
          </a:p>
        </p:txBody>
      </p:sp>
      <p:sp>
        <p:nvSpPr>
          <p:cNvPr id="23" name="track"/>
          <p:cNvSpPr/>
          <p:nvPr/>
        </p:nvSpPr>
        <p:spPr>
          <a:xfrm>
            <a:off x="9646920" y="3154680"/>
            <a:ext cx="384048" cy="1920240"/>
          </a:xfrm>
          <a:prstGeom prst="roundRect">
            <a:avLst>
              <a:gd name="adj" fmla="val 119048"/>
            </a:avLst>
          </a:prstGeom>
          <a:solidFill>
            <a:srgbClr val="E8E8E8"/>
          </a:solidFill>
          <a:ln w="6350">
            <a:solidFill>
              <a:srgbClr val="E8E8E8"/>
            </a:solidFill>
            <a:prstDash val="solid"/>
          </a:ln>
        </p:spPr>
      </p:sp>
      <p:sp>
        <p:nvSpPr>
          <p:cNvPr id="24" name="bar"/>
          <p:cNvSpPr/>
          <p:nvPr/>
        </p:nvSpPr>
        <p:spPr>
          <a:xfrm>
            <a:off x="9646920" y="3250692"/>
            <a:ext cx="384048" cy="1824228"/>
          </a:xfrm>
          <a:prstGeom prst="roundRect">
            <a:avLst>
              <a:gd name="adj" fmla="val 119048"/>
            </a:avLst>
          </a:prstGeom>
          <a:solidFill>
            <a:srgbClr val="D4FC00"/>
          </a:solidFill>
          <a:ln w="6350">
            <a:solidFill>
              <a:srgbClr val="D4FC00"/>
            </a:solidFill>
            <a:prstDash val="solid"/>
          </a:ln>
        </p:spPr>
      </p:sp>
      <p:sp>
        <p:nvSpPr>
          <p:cNvPr id="25" name="text"/>
          <p:cNvSpPr txBox="1"/>
          <p:nvPr/>
        </p:nvSpPr>
        <p:spPr>
          <a:xfrm>
            <a:off x="10195560" y="3250692"/>
            <a:ext cx="1325880" cy="347472"/>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Diperbarui</a:t>
            </a:r>
            <a:endParaRPr lang="en-US" sz="1800" dirty="0"/>
          </a:p>
        </p:txBody>
      </p:sp>
      <p:sp>
        <p:nvSpPr>
          <p:cNvPr id="26" name="text"/>
          <p:cNvSpPr txBox="1"/>
          <p:nvPr/>
        </p:nvSpPr>
        <p:spPr>
          <a:xfrm>
            <a:off x="10195560" y="3616452"/>
            <a:ext cx="1325880" cy="731520"/>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pitchFamily="34" charset="0"/>
                <a:ea typeface="Outfit" pitchFamily="34" charset="-122"/>
                <a:cs typeface="Outfit" pitchFamily="34" charset="-120"/>
              </a:rPr>
              <a:t>dynamic capability</a:t>
            </a:r>
            <a:endParaRPr lang="en-US" sz="1400" dirty="0"/>
          </a:p>
        </p:txBody>
      </p:sp>
      <p:sp>
        <p:nvSpPr>
          <p:cNvPr id="27" name="text"/>
          <p:cNvSpPr txBox="1"/>
          <p:nvPr/>
        </p:nvSpPr>
        <p:spPr>
          <a:xfrm>
            <a:off x="6035040" y="5577840"/>
            <a:ext cx="5559552" cy="548640"/>
          </a:xfrm>
          <a:prstGeom prst="rect">
            <a:avLst/>
          </a:prstGeom>
          <a:noFill/>
          <a:ln/>
        </p:spPr>
        <p:txBody>
          <a:bodyPr wrap="square" lIns="0" tIns="0" rIns="0" bIns="0" rtlCol="0" anchor="t"/>
          <a:lstStyle/>
          <a:p>
            <a:pPr algn="l" indent="0" marL="0">
              <a:lnSpc>
                <a:spcPct val="115000"/>
              </a:lnSpc>
              <a:buNone/>
            </a:pPr>
            <a:r>
              <a:rPr lang="en-US" sz="1500" dirty="0">
                <a:solidFill>
                  <a:srgbClr val="1A1A1C"/>
                </a:solidFill>
                <a:latin typeface="Outfit" pitchFamily="34" charset="0"/>
                <a:ea typeface="Outfit" pitchFamily="34" charset="-122"/>
                <a:cs typeface="Outfit" pitchFamily="34" charset="-120"/>
              </a:rPr>
              <a:t>Contoh: Williams-Sonoma (katalog ke e-commerce), Toyota (TPS).</a:t>
            </a:r>
            <a:endParaRPr lang="en-US" sz="1500" dirty="0"/>
          </a:p>
        </p:txBody>
      </p:sp>
      <p:sp>
        <p:nvSpPr>
          <p:cNvPr id="28"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card"/>
          <p:cNvSpPr/>
          <p:nvPr/>
        </p:nvSpPr>
        <p:spPr>
          <a:xfrm>
            <a:off x="6473952" y="173736"/>
            <a:ext cx="1499616" cy="329184"/>
          </a:xfrm>
          <a:prstGeom prst="roundRect">
            <a:avLst>
              <a:gd name="adj" fmla="val 138889"/>
            </a:avLst>
          </a:prstGeom>
          <a:solidFill>
            <a:srgbClr val="D4FC00"/>
          </a:solidFill>
          <a:ln w="6350">
            <a:solidFill>
              <a:srgbClr val="D4FC00"/>
            </a:solidFill>
            <a:prstDash val="solid"/>
          </a:ln>
        </p:spPr>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pic>
        <p:nvPicPr>
          <p:cNvPr id="9" name="Menempel catatan di dinding putih" descr="preencoded.png">    </p:cNvPr>
          <p:cNvPicPr>
            <a:picLocks noChangeAspect="1"/>
          </p:cNvPicPr>
          <p:nvPr/>
        </p:nvPicPr>
        <p:blipFill>
          <a:blip r:embed="rId1"/>
          <a:stretch>
            <a:fillRect/>
          </a:stretch>
        </p:blipFill>
        <p:spPr>
          <a:xfrm>
            <a:off x="6172200" y="658368"/>
            <a:ext cx="2880360" cy="2743200"/>
          </a:xfrm>
          <a:prstGeom prst="rect">
            <a:avLst/>
          </a:prstGeom>
        </p:spPr>
      </p:pic>
      <p:sp>
        <p:nvSpPr>
          <p:cNvPr id="10" name="card"/>
          <p:cNvSpPr/>
          <p:nvPr/>
        </p:nvSpPr>
        <p:spPr>
          <a:xfrm>
            <a:off x="5897880" y="1234440"/>
            <a:ext cx="685800" cy="685800"/>
          </a:xfrm>
          <a:prstGeom prst="roundRect">
            <a:avLst>
              <a:gd name="adj" fmla="val 21333"/>
            </a:avLst>
          </a:prstGeom>
          <a:solidFill>
            <a:srgbClr val="141417"/>
          </a:solidFill>
          <a:ln w="6350">
            <a:solidFill>
              <a:srgbClr val="141417"/>
            </a:solidFill>
            <a:prstDash val="solid"/>
          </a:ln>
        </p:spPr>
      </p:sp>
      <p:pic>
        <p:nvPicPr>
          <p:cNvPr id="11" name="star" descr="preencoded.png">    </p:cNvPr>
          <p:cNvPicPr>
            <a:picLocks noChangeAspect="1"/>
          </p:cNvPicPr>
          <p:nvPr/>
        </p:nvPicPr>
        <p:blipFill>
          <a:blip r:embed="rId2"/>
          <a:stretch>
            <a:fillRect/>
          </a:stretch>
        </p:blipFill>
        <p:spPr>
          <a:xfrm>
            <a:off x="6069330" y="1405890"/>
            <a:ext cx="342900" cy="342900"/>
          </a:xfrm>
          <a:prstGeom prst="rect">
            <a:avLst/>
          </a:prstGeom>
        </p:spPr>
      </p:pic>
      <p:pic>
        <p:nvPicPr>
          <p:cNvPr id="12" name="Rapat di ruang putih" descr="preencoded.png">    </p:cNvPr>
          <p:cNvPicPr>
            <a:picLocks noChangeAspect="1"/>
          </p:cNvPicPr>
          <p:nvPr/>
        </p:nvPicPr>
        <p:blipFill>
          <a:blip r:embed="rId3"/>
          <a:stretch>
            <a:fillRect/>
          </a:stretch>
        </p:blipFill>
        <p:spPr>
          <a:xfrm>
            <a:off x="9235440" y="658368"/>
            <a:ext cx="2453335" cy="5120640"/>
          </a:xfrm>
          <a:prstGeom prst="rect">
            <a:avLst/>
          </a:prstGeom>
        </p:spPr>
      </p:pic>
      <p:sp>
        <p:nvSpPr>
          <p:cNvPr id="13" name="card"/>
          <p:cNvSpPr/>
          <p:nvPr/>
        </p:nvSpPr>
        <p:spPr>
          <a:xfrm>
            <a:off x="9921240" y="4297680"/>
            <a:ext cx="1767535" cy="1645920"/>
          </a:xfrm>
          <a:prstGeom prst="roundRect">
            <a:avLst>
              <a:gd name="adj" fmla="val 11111"/>
            </a:avLst>
          </a:prstGeom>
          <a:solidFill>
            <a:srgbClr val="D4FC00"/>
          </a:solidFill>
          <a:ln w="6350">
            <a:solidFill>
              <a:srgbClr val="D4FC00"/>
            </a:solidFill>
            <a:prstDash val="solid"/>
          </a:ln>
        </p:spPr>
      </p:sp>
      <p:sp>
        <p:nvSpPr>
          <p:cNvPr id="14" name="text"/>
          <p:cNvSpPr txBox="1"/>
          <p:nvPr/>
        </p:nvSpPr>
        <p:spPr>
          <a:xfrm>
            <a:off x="10104120" y="4389120"/>
            <a:ext cx="1508760" cy="731520"/>
          </a:xfrm>
          <a:prstGeom prst="rect">
            <a:avLst/>
          </a:prstGeom>
          <a:noFill/>
          <a:ln/>
        </p:spPr>
        <p:txBody>
          <a:bodyPr wrap="square" lIns="0" tIns="0" rIns="0" bIns="0" rtlCol="0" anchor="ctr"/>
          <a:lstStyle/>
          <a:p>
            <a:pPr algn="l" indent="0" marL="0">
              <a:lnSpc>
                <a:spcPct val="100000"/>
              </a:lnSpc>
              <a:buNone/>
            </a:pPr>
            <a:r>
              <a:rPr lang="en-US" sz="2000" dirty="0">
                <a:solidFill>
                  <a:srgbClr val="141417"/>
                </a:solidFill>
                <a:latin typeface="Outfit Medium" pitchFamily="34" charset="0"/>
                <a:ea typeface="Outfit Medium" pitchFamily="34" charset="-122"/>
                <a:cs typeface="Outfit Medium" pitchFamily="34" charset="-120"/>
              </a:rPr>
              <a:t>&gt; US$25 miliar</a:t>
            </a:r>
            <a:endParaRPr lang="en-US" sz="2000" dirty="0"/>
          </a:p>
        </p:txBody>
      </p:sp>
      <p:sp>
        <p:nvSpPr>
          <p:cNvPr id="15" name="text"/>
          <p:cNvSpPr txBox="1"/>
          <p:nvPr/>
        </p:nvSpPr>
        <p:spPr>
          <a:xfrm>
            <a:off x="10104120" y="5138928"/>
            <a:ext cx="1508760" cy="777240"/>
          </a:xfrm>
          <a:prstGeom prst="rect">
            <a:avLst/>
          </a:prstGeom>
          <a:noFill/>
          <a:ln/>
        </p:spPr>
        <p:txBody>
          <a:bodyPr wrap="square" lIns="0" tIns="0" rIns="0" bIns="0" rtlCol="0" anchor="t"/>
          <a:lstStyle/>
          <a:p>
            <a:pPr algn="l" indent="0" marL="0">
              <a:lnSpc>
                <a:spcPct val="115000"/>
              </a:lnSpc>
              <a:buNone/>
            </a:pPr>
            <a:r>
              <a:rPr lang="en-US" sz="1300" dirty="0">
                <a:solidFill>
                  <a:srgbClr val="1A1A1C"/>
                </a:solidFill>
                <a:latin typeface="Outfit" pitchFamily="34" charset="0"/>
                <a:ea typeface="Outfit" pitchFamily="34" charset="-122"/>
                <a:cs typeface="Outfit" pitchFamily="34" charset="-120"/>
              </a:rPr>
              <a:t>akuisisi teknologi Meta</a:t>
            </a:r>
            <a:endParaRPr lang="en-US" sz="1300" dirty="0"/>
          </a:p>
        </p:txBody>
      </p:sp>
      <p:sp>
        <p:nvSpPr>
          <p:cNvPr id="16" name="text"/>
          <p:cNvSpPr txBox="1"/>
          <p:nvPr/>
        </p:nvSpPr>
        <p:spPr>
          <a:xfrm>
            <a:off x="502920" y="2377440"/>
            <a:ext cx="5394960" cy="201168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AKUISISI DAN KEMITRAAN MEMBELI WAKTU, BUKAN INTEGRASI</a:t>
            </a:r>
            <a:endParaRPr lang="en-US" sz="3400" dirty="0"/>
          </a:p>
        </p:txBody>
      </p:sp>
      <p:sp>
        <p:nvSpPr>
          <p:cNvPr id="17" name="text"/>
          <p:cNvSpPr txBox="1"/>
          <p:nvPr/>
        </p:nvSpPr>
        <p:spPr>
          <a:xfrm>
            <a:off x="502920" y="4434840"/>
            <a:ext cx="5349240" cy="192024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Akuisisi tepat bila capability jauh dari basis yang ada atau waktu mendesak, tetapi tacit knowledge sulit dipindahkan. Tiga jalur kemitraan: outsource, aliansi, belajar dari mitra.</a:t>
            </a:r>
            <a:endParaRPr lang="en-US" sz="1800" dirty="0"/>
          </a:p>
        </p:txBody>
      </p:sp>
      <p:sp>
        <p:nvSpPr>
          <p:cNvPr id="18"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card"/>
          <p:cNvSpPr/>
          <p:nvPr/>
        </p:nvSpPr>
        <p:spPr>
          <a:xfrm>
            <a:off x="6473952" y="173736"/>
            <a:ext cx="1499616" cy="329184"/>
          </a:xfrm>
          <a:prstGeom prst="roundRect">
            <a:avLst>
              <a:gd name="adj" fmla="val 138889"/>
            </a:avLst>
          </a:prstGeom>
          <a:solidFill>
            <a:srgbClr val="D4FC00"/>
          </a:solidFill>
          <a:ln w="6350">
            <a:solidFill>
              <a:srgbClr val="D4FC00"/>
            </a:solidFill>
            <a:prstDash val="solid"/>
          </a:ln>
        </p:spPr>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pic>
        <p:nvPicPr>
          <p:cNvPr id="9" name="Atelier busana putih" descr="preencoded.png">    </p:cNvPr>
          <p:cNvPicPr>
            <a:picLocks noChangeAspect="1"/>
          </p:cNvPicPr>
          <p:nvPr/>
        </p:nvPicPr>
        <p:blipFill>
          <a:blip r:embed="rId1"/>
          <a:stretch>
            <a:fillRect/>
          </a:stretch>
        </p:blipFill>
        <p:spPr>
          <a:xfrm>
            <a:off x="502920" y="658368"/>
            <a:ext cx="11185855" cy="3246120"/>
          </a:xfrm>
          <a:prstGeom prst="rect">
            <a:avLst/>
          </a:prstGeom>
        </p:spPr>
      </p:pic>
      <p:sp>
        <p:nvSpPr>
          <p:cNvPr id="10" name="toggle"/>
          <p:cNvSpPr/>
          <p:nvPr/>
        </p:nvSpPr>
        <p:spPr>
          <a:xfrm>
            <a:off x="10911535" y="868680"/>
            <a:ext cx="566928" cy="274320"/>
          </a:xfrm>
          <a:prstGeom prst="roundRect">
            <a:avLst>
              <a:gd name="adj" fmla="val 166667"/>
            </a:avLst>
          </a:prstGeom>
          <a:solidFill>
            <a:srgbClr val="F4F4F4"/>
          </a:solidFill>
          <a:ln w="9525">
            <a:solidFill>
              <a:srgbClr val="141417"/>
            </a:solidFill>
            <a:prstDash val="solid"/>
          </a:ln>
        </p:spPr>
      </p:sp>
      <p:sp>
        <p:nvSpPr>
          <p:cNvPr id="11" name="toggle-dot"/>
          <p:cNvSpPr/>
          <p:nvPr/>
        </p:nvSpPr>
        <p:spPr>
          <a:xfrm>
            <a:off x="11213287" y="905256"/>
            <a:ext cx="201168" cy="201168"/>
          </a:xfrm>
          <a:prstGeom prst="ellipse">
            <a:avLst/>
          </a:prstGeom>
          <a:solidFill>
            <a:srgbClr val="D4FC00"/>
          </a:solidFill>
          <a:ln w="6350">
            <a:solidFill>
              <a:srgbClr val="D4FC00"/>
            </a:solidFill>
            <a:prstDash val="solid"/>
          </a:ln>
        </p:spPr>
      </p:sp>
      <p:pic>
        <p:nvPicPr>
          <p:cNvPr id="12" name="toggle-star" descr="preencoded.png">    </p:cNvPr>
          <p:cNvPicPr>
            <a:picLocks noChangeAspect="1"/>
          </p:cNvPicPr>
          <p:nvPr/>
        </p:nvPicPr>
        <p:blipFill>
          <a:blip r:embed="rId2"/>
          <a:stretch>
            <a:fillRect/>
          </a:stretch>
        </p:blipFill>
        <p:spPr>
          <a:xfrm>
            <a:off x="11254435" y="946404"/>
            <a:ext cx="118872" cy="118872"/>
          </a:xfrm>
          <a:prstGeom prst="rect">
            <a:avLst/>
          </a:prstGeom>
        </p:spPr>
      </p:pic>
      <p:sp>
        <p:nvSpPr>
          <p:cNvPr id="13" name="card"/>
          <p:cNvSpPr/>
          <p:nvPr/>
        </p:nvSpPr>
        <p:spPr>
          <a:xfrm>
            <a:off x="731520" y="1965960"/>
            <a:ext cx="5852160" cy="1783080"/>
          </a:xfrm>
          <a:prstGeom prst="roundRect">
            <a:avLst>
              <a:gd name="adj" fmla="val 7179"/>
            </a:avLst>
          </a:prstGeom>
          <a:solidFill>
            <a:srgbClr val="F4F4F4"/>
          </a:solidFill>
          <a:ln w="6350">
            <a:solidFill>
              <a:srgbClr val="F4F4F4"/>
            </a:solidFill>
            <a:prstDash val="solid"/>
          </a:ln>
        </p:spPr>
      </p:sp>
      <p:sp>
        <p:nvSpPr>
          <p:cNvPr id="14" name="text"/>
          <p:cNvSpPr txBox="1"/>
          <p:nvPr/>
        </p:nvSpPr>
        <p:spPr>
          <a:xfrm>
            <a:off x="914400" y="2011680"/>
            <a:ext cx="5577840" cy="1691640"/>
          </a:xfrm>
          <a:prstGeom prst="rect">
            <a:avLst/>
          </a:prstGeom>
          <a:noFill/>
          <a:ln/>
        </p:spPr>
        <p:txBody>
          <a:bodyPr wrap="square" lIns="0" tIns="0" rIns="0" bIns="0" rtlCol="0" anchor="ctr"/>
          <a:lstStyle/>
          <a:p>
            <a:pPr algn="l" indent="0" marL="0">
              <a:lnSpc>
                <a:spcPct val="100000"/>
              </a:lnSpc>
              <a:buNone/>
            </a:pPr>
            <a:r>
              <a:rPr lang="en-US" sz="3200" dirty="0">
                <a:solidFill>
                  <a:srgbClr val="141417"/>
                </a:solidFill>
                <a:latin typeface="Outfit SemiBold" pitchFamily="34" charset="0"/>
                <a:ea typeface="Outfit SemiBold" pitchFamily="34" charset="-122"/>
                <a:cs typeface="Outfit SemiBold" pitchFamily="34" charset="-120"/>
              </a:rPr>
              <a:t>EKSEKUSI YANG UNGGUL ADALAH KEUNGGULAN ITU SENDIRI</a:t>
            </a:r>
            <a:endParaRPr lang="en-US" sz="3200" dirty="0"/>
          </a:p>
        </p:txBody>
      </p:sp>
      <p:sp>
        <p:nvSpPr>
          <p:cNvPr id="15" name="card"/>
          <p:cNvSpPr/>
          <p:nvPr/>
        </p:nvSpPr>
        <p:spPr>
          <a:xfrm>
            <a:off x="502920" y="4023360"/>
            <a:ext cx="3931920" cy="1508760"/>
          </a:xfrm>
          <a:prstGeom prst="roundRect">
            <a:avLst>
              <a:gd name="adj" fmla="val 12121"/>
            </a:avLst>
          </a:prstGeom>
          <a:solidFill>
            <a:srgbClr val="D4FC00"/>
          </a:solidFill>
          <a:ln w="6350">
            <a:solidFill>
              <a:srgbClr val="D4FC00"/>
            </a:solidFill>
            <a:prstDash val="solid"/>
          </a:ln>
        </p:spPr>
      </p:sp>
      <p:sp>
        <p:nvSpPr>
          <p:cNvPr id="16" name="text"/>
          <p:cNvSpPr txBox="1"/>
          <p:nvPr/>
        </p:nvSpPr>
        <p:spPr>
          <a:xfrm>
            <a:off x="731520" y="4023360"/>
            <a:ext cx="1874520" cy="1508760"/>
          </a:xfrm>
          <a:prstGeom prst="rect">
            <a:avLst/>
          </a:prstGeom>
          <a:noFill/>
          <a:ln/>
        </p:spPr>
        <p:txBody>
          <a:bodyPr wrap="square" lIns="0" tIns="0" rIns="0" bIns="0" rtlCol="0" anchor="ctr"/>
          <a:lstStyle/>
          <a:p>
            <a:pPr algn="l" indent="0" marL="0">
              <a:lnSpc>
                <a:spcPct val="122000"/>
              </a:lnSpc>
              <a:buNone/>
            </a:pPr>
            <a:r>
              <a:rPr lang="en-US" sz="3000" dirty="0">
                <a:solidFill>
                  <a:srgbClr val="141417"/>
                </a:solidFill>
                <a:latin typeface="Outfit Medium" pitchFamily="34" charset="0"/>
                <a:ea typeface="Outfit Medium" pitchFamily="34" charset="-122"/>
                <a:cs typeface="Outfit Medium" pitchFamily="34" charset="-120"/>
              </a:rPr>
              <a:t>4 minggu</a:t>
            </a:r>
            <a:endParaRPr lang="en-US" sz="3000" dirty="0"/>
          </a:p>
        </p:txBody>
      </p:sp>
      <p:sp>
        <p:nvSpPr>
          <p:cNvPr id="17" name="text"/>
          <p:cNvSpPr txBox="1"/>
          <p:nvPr/>
        </p:nvSpPr>
        <p:spPr>
          <a:xfrm>
            <a:off x="2697480" y="4023360"/>
            <a:ext cx="1463040" cy="1508760"/>
          </a:xfrm>
          <a:prstGeom prst="rect">
            <a:avLst/>
          </a:prstGeom>
          <a:noFill/>
          <a:ln/>
        </p:spPr>
        <p:txBody>
          <a:bodyPr wrap="square" lIns="0" tIns="0" rIns="0" bIns="0" rtlCol="0" anchor="ctr"/>
          <a:lstStyle/>
          <a:p>
            <a:pPr algn="l" indent="0" marL="0">
              <a:lnSpc>
                <a:spcPct val="118000"/>
              </a:lnSpc>
              <a:buNone/>
            </a:pPr>
            <a:r>
              <a:rPr lang="en-US" sz="1400" dirty="0">
                <a:solidFill>
                  <a:srgbClr val="1A1A1C"/>
                </a:solidFill>
                <a:latin typeface="Outfit" pitchFamily="34" charset="0"/>
                <a:ea typeface="Outfit" pitchFamily="34" charset="-122"/>
                <a:cs typeface="Outfit" pitchFamily="34" charset="-120"/>
              </a:rPr>
              <a:t>desain sampai rak toko; pesaing 6 bulan</a:t>
            </a:r>
            <a:endParaRPr lang="en-US" sz="1400" dirty="0"/>
          </a:p>
        </p:txBody>
      </p:sp>
      <p:sp>
        <p:nvSpPr>
          <p:cNvPr id="18" name="card"/>
          <p:cNvSpPr/>
          <p:nvPr/>
        </p:nvSpPr>
        <p:spPr>
          <a:xfrm>
            <a:off x="4617720" y="4023360"/>
            <a:ext cx="2514600" cy="1508760"/>
          </a:xfrm>
          <a:prstGeom prst="roundRect">
            <a:avLst>
              <a:gd name="adj" fmla="val 12121"/>
            </a:avLst>
          </a:prstGeom>
          <a:solidFill>
            <a:srgbClr val="E8E8E8"/>
          </a:solidFill>
          <a:ln w="6350">
            <a:solidFill>
              <a:srgbClr val="E8E8E8"/>
            </a:solidFill>
            <a:prstDash val="solid"/>
          </a:ln>
        </p:spPr>
      </p:sp>
      <p:sp>
        <p:nvSpPr>
          <p:cNvPr id="19" name="text"/>
          <p:cNvSpPr txBox="1"/>
          <p:nvPr/>
        </p:nvSpPr>
        <p:spPr>
          <a:xfrm>
            <a:off x="4873752" y="4206240"/>
            <a:ext cx="200253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12.000</a:t>
            </a:r>
            <a:endParaRPr lang="en-US" sz="2400" dirty="0"/>
          </a:p>
        </p:txBody>
      </p:sp>
      <p:sp>
        <p:nvSpPr>
          <p:cNvPr id="20" name="text"/>
          <p:cNvSpPr txBox="1"/>
          <p:nvPr/>
        </p:nvSpPr>
        <p:spPr>
          <a:xfrm>
            <a:off x="4873752" y="4809744"/>
            <a:ext cx="2002536" cy="64008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model per tahun; industri 3.000</a:t>
            </a:r>
            <a:endParaRPr lang="en-US" sz="1400" dirty="0"/>
          </a:p>
        </p:txBody>
      </p:sp>
      <p:sp>
        <p:nvSpPr>
          <p:cNvPr id="21" name="card"/>
          <p:cNvSpPr/>
          <p:nvPr/>
        </p:nvSpPr>
        <p:spPr>
          <a:xfrm>
            <a:off x="7315200" y="4023360"/>
            <a:ext cx="2514600" cy="1508760"/>
          </a:xfrm>
          <a:prstGeom prst="roundRect">
            <a:avLst>
              <a:gd name="adj" fmla="val 12121"/>
            </a:avLst>
          </a:prstGeom>
          <a:solidFill>
            <a:srgbClr val="E8E8E8"/>
          </a:solidFill>
          <a:ln w="6350">
            <a:solidFill>
              <a:srgbClr val="E8E8E8"/>
            </a:solidFill>
            <a:prstDash val="solid"/>
          </a:ln>
        </p:spPr>
      </p:sp>
      <p:sp>
        <p:nvSpPr>
          <p:cNvPr id="22" name="text"/>
          <p:cNvSpPr txBox="1"/>
          <p:nvPr/>
        </p:nvSpPr>
        <p:spPr>
          <a:xfrm>
            <a:off x="7571232" y="4206240"/>
            <a:ext cx="200253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17 kali</a:t>
            </a:r>
            <a:endParaRPr lang="en-US" sz="2400" dirty="0"/>
          </a:p>
        </p:txBody>
      </p:sp>
      <p:sp>
        <p:nvSpPr>
          <p:cNvPr id="23" name="text"/>
          <p:cNvSpPr txBox="1"/>
          <p:nvPr/>
        </p:nvSpPr>
        <p:spPr>
          <a:xfrm>
            <a:off x="7571232" y="4809744"/>
            <a:ext cx="2002536" cy="64008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kunjungan per tahun; pesaing 2 kali</a:t>
            </a:r>
            <a:endParaRPr lang="en-US" sz="1400" dirty="0"/>
          </a:p>
        </p:txBody>
      </p:sp>
      <p:sp>
        <p:nvSpPr>
          <p:cNvPr id="24" name="card"/>
          <p:cNvSpPr/>
          <p:nvPr/>
        </p:nvSpPr>
        <p:spPr>
          <a:xfrm>
            <a:off x="10012680" y="4023360"/>
            <a:ext cx="1676095" cy="1508760"/>
          </a:xfrm>
          <a:prstGeom prst="roundRect">
            <a:avLst>
              <a:gd name="adj" fmla="val 12121"/>
            </a:avLst>
          </a:prstGeom>
          <a:solidFill>
            <a:srgbClr val="141417"/>
          </a:solidFill>
          <a:ln w="6350">
            <a:solidFill>
              <a:srgbClr val="141417"/>
            </a:solidFill>
            <a:prstDash val="solid"/>
          </a:ln>
        </p:spPr>
      </p:sp>
      <p:sp>
        <p:nvSpPr>
          <p:cNvPr id="25" name="text"/>
          <p:cNvSpPr txBox="1"/>
          <p:nvPr/>
        </p:nvSpPr>
        <p:spPr>
          <a:xfrm>
            <a:off x="10268712" y="4206240"/>
            <a:ext cx="1164031" cy="502920"/>
          </a:xfrm>
          <a:prstGeom prst="rect">
            <a:avLst/>
          </a:prstGeom>
          <a:noFill/>
          <a:ln/>
        </p:spPr>
        <p:txBody>
          <a:bodyPr wrap="square" lIns="0" tIns="0" rIns="0" bIns="0" rtlCol="0" anchor="ctr"/>
          <a:lstStyle/>
          <a:p>
            <a:pPr algn="l" indent="0" marL="0">
              <a:lnSpc>
                <a:spcPct val="122000"/>
              </a:lnSpc>
              <a:buNone/>
            </a:pPr>
            <a:r>
              <a:rPr lang="en-US" sz="2400" dirty="0">
                <a:solidFill>
                  <a:srgbClr val="FFFFFF"/>
                </a:solidFill>
                <a:latin typeface="Outfit Medium" pitchFamily="34" charset="0"/>
                <a:ea typeface="Outfit Medium" pitchFamily="34" charset="-122"/>
                <a:cs typeface="Outfit Medium" pitchFamily="34" charset="-120"/>
              </a:rPr>
              <a:t>11 hari</a:t>
            </a:r>
            <a:endParaRPr lang="en-US" sz="2400" dirty="0"/>
          </a:p>
        </p:txBody>
      </p:sp>
      <p:sp>
        <p:nvSpPr>
          <p:cNvPr id="26" name="text"/>
          <p:cNvSpPr txBox="1"/>
          <p:nvPr/>
        </p:nvSpPr>
        <p:spPr>
          <a:xfrm>
            <a:off x="10268712" y="4809744"/>
            <a:ext cx="1164031" cy="640080"/>
          </a:xfrm>
          <a:prstGeom prst="rect">
            <a:avLst/>
          </a:prstGeom>
          <a:noFill/>
          <a:ln/>
        </p:spPr>
        <p:txBody>
          <a:bodyPr wrap="square" lIns="0" tIns="0" rIns="0" bIns="0" rtlCol="0" anchor="t"/>
          <a:lstStyle/>
          <a:p>
            <a:pPr algn="l" indent="0" marL="0">
              <a:lnSpc>
                <a:spcPct val="120000"/>
              </a:lnSpc>
              <a:buNone/>
            </a:pPr>
            <a:r>
              <a:rPr lang="en-US" sz="1400" dirty="0">
                <a:solidFill>
                  <a:srgbClr val="BDBDC2"/>
                </a:solidFill>
                <a:latin typeface="Outfit" pitchFamily="34" charset="0"/>
                <a:ea typeface="Outfit" pitchFamily="34" charset="-122"/>
                <a:cs typeface="Outfit" pitchFamily="34" charset="-120"/>
              </a:rPr>
              <a:t>umur item di toko</a:t>
            </a:r>
            <a:endParaRPr lang="en-US" sz="1400" dirty="0"/>
          </a:p>
        </p:txBody>
      </p:sp>
      <p:sp>
        <p:nvSpPr>
          <p:cNvPr id="27" name="text"/>
          <p:cNvSpPr txBox="1"/>
          <p:nvPr/>
        </p:nvSpPr>
        <p:spPr>
          <a:xfrm>
            <a:off x="502920" y="5669280"/>
            <a:ext cx="11155680" cy="640080"/>
          </a:xfrm>
          <a:prstGeom prst="rect">
            <a:avLst/>
          </a:prstGeom>
          <a:noFill/>
          <a:ln/>
        </p:spPr>
        <p:txBody>
          <a:bodyPr wrap="square" lIns="0" tIns="0" rIns="0" bIns="0" rtlCol="0" anchor="t"/>
          <a:lstStyle/>
          <a:p>
            <a:pPr algn="l" indent="0" marL="0">
              <a:lnSpc>
                <a:spcPct val="115000"/>
              </a:lnSpc>
              <a:buNone/>
            </a:pPr>
            <a:r>
              <a:rPr lang="en-US" sz="1800" dirty="0">
                <a:solidFill>
                  <a:srgbClr val="1A1A1C"/>
                </a:solidFill>
                <a:latin typeface="Outfit" pitchFamily="34" charset="0"/>
                <a:ea typeface="Outfit" pitchFamily="34" charset="-122"/>
                <a:cs typeface="Outfit" pitchFamily="34" charset="-120"/>
              </a:rPr>
              <a:t>Strategi Zara tidak unik; keunggulannya pada eksekusi yang sulit ditiru. Bila strategi mudah ditiru, jalannya adalah out-execute.</a:t>
            </a:r>
            <a:endParaRPr lang="en-US" sz="1800" dirty="0"/>
          </a:p>
        </p:txBody>
      </p:sp>
      <p:sp>
        <p:nvSpPr>
          <p:cNvPr id="28"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card"/>
          <p:cNvSpPr/>
          <p:nvPr/>
        </p:nvSpPr>
        <p:spPr>
          <a:xfrm>
            <a:off x="7891272" y="173736"/>
            <a:ext cx="1271016" cy="329184"/>
          </a:xfrm>
          <a:prstGeom prst="roundRect">
            <a:avLst>
              <a:gd name="adj" fmla="val 138889"/>
            </a:avLst>
          </a:prstGeom>
          <a:solidFill>
            <a:srgbClr val="D4FC00"/>
          </a:solidFill>
          <a:ln w="6350">
            <a:solidFill>
              <a:srgbClr val="D4FC00"/>
            </a:solidFill>
            <a:prstDash val="solid"/>
          </a:ln>
        </p:spPr>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card"/>
          <p:cNvSpPr/>
          <p:nvPr/>
        </p:nvSpPr>
        <p:spPr>
          <a:xfrm>
            <a:off x="502920" y="658368"/>
            <a:ext cx="6675120" cy="991210"/>
          </a:xfrm>
          <a:prstGeom prst="roundRect">
            <a:avLst>
              <a:gd name="adj" fmla="val 18450"/>
            </a:avLst>
          </a:prstGeom>
          <a:solidFill>
            <a:srgbClr val="D4FC00"/>
          </a:solidFill>
          <a:ln w="6350">
            <a:solidFill>
              <a:srgbClr val="D4FC00"/>
            </a:solidFill>
            <a:prstDash val="solid"/>
          </a:ln>
        </p:spPr>
      </p:sp>
      <p:sp>
        <p:nvSpPr>
          <p:cNvPr id="10" name="text"/>
          <p:cNvSpPr txBox="1"/>
          <p:nvPr/>
        </p:nvSpPr>
        <p:spPr>
          <a:xfrm>
            <a:off x="822960" y="932688"/>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01 OUTSOURCING</a:t>
            </a:r>
            <a:endParaRPr lang="en-US" sz="1400" dirty="0"/>
          </a:p>
        </p:txBody>
      </p:sp>
      <p:sp>
        <p:nvSpPr>
          <p:cNvPr id="11" name="text"/>
          <p:cNvSpPr txBox="1"/>
          <p:nvPr/>
        </p:nvSpPr>
        <p:spPr>
          <a:xfrm>
            <a:off x="2788920" y="896112"/>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Dikerjakan sendiri atau diserahkan.</a:t>
            </a:r>
            <a:endParaRPr lang="en-US" sz="1800" dirty="0"/>
          </a:p>
        </p:txBody>
      </p:sp>
      <p:sp>
        <p:nvSpPr>
          <p:cNvPr id="12" name="dot"/>
          <p:cNvSpPr/>
          <p:nvPr/>
        </p:nvSpPr>
        <p:spPr>
          <a:xfrm>
            <a:off x="6611112" y="1016813"/>
            <a:ext cx="274320" cy="274320"/>
          </a:xfrm>
          <a:prstGeom prst="ellipse">
            <a:avLst/>
          </a:prstGeom>
          <a:solidFill>
            <a:srgbClr val="141417"/>
          </a:solidFill>
          <a:ln w="6350">
            <a:solidFill>
              <a:srgbClr val="141417"/>
            </a:solidFill>
            <a:prstDash val="solid"/>
          </a:ln>
        </p:spPr>
      </p:sp>
      <p:pic>
        <p:nvPicPr>
          <p:cNvPr id="13" name="dot-icon" descr="preencoded.png">    </p:cNvPr>
          <p:cNvPicPr>
            <a:picLocks noChangeAspect="1"/>
          </p:cNvPicPr>
          <p:nvPr/>
        </p:nvPicPr>
        <p:blipFill>
          <a:blip r:embed="rId1"/>
          <a:stretch>
            <a:fillRect/>
          </a:stretch>
        </p:blipFill>
        <p:spPr>
          <a:xfrm>
            <a:off x="6671462" y="1077163"/>
            <a:ext cx="153619" cy="153619"/>
          </a:xfrm>
          <a:prstGeom prst="rect">
            <a:avLst/>
          </a:prstGeom>
        </p:spPr>
      </p:pic>
      <p:sp>
        <p:nvSpPr>
          <p:cNvPr id="14" name="card"/>
          <p:cNvSpPr/>
          <p:nvPr/>
        </p:nvSpPr>
        <p:spPr>
          <a:xfrm>
            <a:off x="502920" y="1850746"/>
            <a:ext cx="6675120" cy="991210"/>
          </a:xfrm>
          <a:prstGeom prst="roundRect">
            <a:avLst>
              <a:gd name="adj" fmla="val 18450"/>
            </a:avLst>
          </a:prstGeom>
          <a:solidFill>
            <a:srgbClr val="E8E8E8"/>
          </a:solidFill>
          <a:ln w="6350">
            <a:solidFill>
              <a:srgbClr val="E8E8E8"/>
            </a:solidFill>
            <a:prstDash val="solid"/>
          </a:ln>
        </p:spPr>
      </p:sp>
      <p:sp>
        <p:nvSpPr>
          <p:cNvPr id="15" name="text"/>
          <p:cNvSpPr txBox="1"/>
          <p:nvPr/>
        </p:nvSpPr>
        <p:spPr>
          <a:xfrm>
            <a:off x="822960" y="2125066"/>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02 TIPE STRUKTUR</a:t>
            </a:r>
            <a:endParaRPr lang="en-US" sz="1400" dirty="0"/>
          </a:p>
        </p:txBody>
      </p:sp>
      <p:sp>
        <p:nvSpPr>
          <p:cNvPr id="16" name="text"/>
          <p:cNvSpPr txBox="1"/>
          <p:nvPr/>
        </p:nvSpPr>
        <p:spPr>
          <a:xfrm>
            <a:off x="2788920" y="2088490"/>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Bentuk organisasi selaras strategi.</a:t>
            </a:r>
            <a:endParaRPr lang="en-US" sz="1800" dirty="0"/>
          </a:p>
        </p:txBody>
      </p:sp>
      <p:sp>
        <p:nvSpPr>
          <p:cNvPr id="17" name="dot"/>
          <p:cNvSpPr/>
          <p:nvPr/>
        </p:nvSpPr>
        <p:spPr>
          <a:xfrm>
            <a:off x="6611112" y="2209190"/>
            <a:ext cx="274320" cy="274320"/>
          </a:xfrm>
          <a:prstGeom prst="ellipse">
            <a:avLst/>
          </a:prstGeom>
          <a:solidFill>
            <a:srgbClr val="141417"/>
          </a:solidFill>
          <a:ln w="6350">
            <a:solidFill>
              <a:srgbClr val="141417"/>
            </a:solidFill>
            <a:prstDash val="solid"/>
          </a:ln>
        </p:spPr>
      </p:sp>
      <p:pic>
        <p:nvPicPr>
          <p:cNvPr id="18" name="dot-icon" descr="preencoded.png">    </p:cNvPr>
          <p:cNvPicPr>
            <a:picLocks noChangeAspect="1"/>
          </p:cNvPicPr>
          <p:nvPr/>
        </p:nvPicPr>
        <p:blipFill>
          <a:blip r:embed="rId2"/>
          <a:stretch>
            <a:fillRect/>
          </a:stretch>
        </p:blipFill>
        <p:spPr>
          <a:xfrm>
            <a:off x="6671462" y="2269541"/>
            <a:ext cx="153619" cy="153619"/>
          </a:xfrm>
          <a:prstGeom prst="rect">
            <a:avLst/>
          </a:prstGeom>
        </p:spPr>
      </p:pic>
      <p:sp>
        <p:nvSpPr>
          <p:cNvPr id="19" name="card"/>
          <p:cNvSpPr/>
          <p:nvPr/>
        </p:nvSpPr>
        <p:spPr>
          <a:xfrm>
            <a:off x="502920" y="3043123"/>
            <a:ext cx="6675120" cy="991210"/>
          </a:xfrm>
          <a:prstGeom prst="roundRect">
            <a:avLst>
              <a:gd name="adj" fmla="val 18450"/>
            </a:avLst>
          </a:prstGeom>
          <a:solidFill>
            <a:srgbClr val="D4FC00"/>
          </a:solidFill>
          <a:ln w="6350">
            <a:solidFill>
              <a:srgbClr val="D4FC00"/>
            </a:solidFill>
            <a:prstDash val="solid"/>
          </a:ln>
        </p:spPr>
      </p:sp>
      <p:sp>
        <p:nvSpPr>
          <p:cNvPr id="20" name="text"/>
          <p:cNvSpPr txBox="1"/>
          <p:nvPr/>
        </p:nvSpPr>
        <p:spPr>
          <a:xfrm>
            <a:off x="822960" y="3317443"/>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03 DELEGASI</a:t>
            </a:r>
            <a:endParaRPr lang="en-US" sz="1400" dirty="0"/>
          </a:p>
        </p:txBody>
      </p:sp>
      <p:sp>
        <p:nvSpPr>
          <p:cNvPr id="21" name="text"/>
          <p:cNvSpPr txBox="1"/>
          <p:nvPr/>
        </p:nvSpPr>
        <p:spPr>
          <a:xfrm>
            <a:off x="2788920" y="3280867"/>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Dipusatkan atau didelegasikan.</a:t>
            </a:r>
            <a:endParaRPr lang="en-US" sz="1800" dirty="0"/>
          </a:p>
        </p:txBody>
      </p:sp>
      <p:sp>
        <p:nvSpPr>
          <p:cNvPr id="22" name="dot"/>
          <p:cNvSpPr/>
          <p:nvPr/>
        </p:nvSpPr>
        <p:spPr>
          <a:xfrm>
            <a:off x="6611112" y="3401568"/>
            <a:ext cx="274320" cy="274320"/>
          </a:xfrm>
          <a:prstGeom prst="ellipse">
            <a:avLst/>
          </a:prstGeom>
          <a:solidFill>
            <a:srgbClr val="141417"/>
          </a:solidFill>
          <a:ln w="6350">
            <a:solidFill>
              <a:srgbClr val="141417"/>
            </a:solidFill>
            <a:prstDash val="solid"/>
          </a:ln>
        </p:spPr>
      </p:sp>
      <p:pic>
        <p:nvPicPr>
          <p:cNvPr id="23" name="dot-icon" descr="preencoded.png">    </p:cNvPr>
          <p:cNvPicPr>
            <a:picLocks noChangeAspect="1"/>
          </p:cNvPicPr>
          <p:nvPr/>
        </p:nvPicPr>
        <p:blipFill>
          <a:blip r:embed="rId3"/>
          <a:stretch>
            <a:fillRect/>
          </a:stretch>
        </p:blipFill>
        <p:spPr>
          <a:xfrm>
            <a:off x="6671462" y="3461918"/>
            <a:ext cx="153619" cy="153619"/>
          </a:xfrm>
          <a:prstGeom prst="rect">
            <a:avLst/>
          </a:prstGeom>
        </p:spPr>
      </p:pic>
      <p:sp>
        <p:nvSpPr>
          <p:cNvPr id="24" name="card"/>
          <p:cNvSpPr/>
          <p:nvPr/>
        </p:nvSpPr>
        <p:spPr>
          <a:xfrm>
            <a:off x="502920" y="4235501"/>
            <a:ext cx="6675120" cy="991210"/>
          </a:xfrm>
          <a:prstGeom prst="roundRect">
            <a:avLst>
              <a:gd name="adj" fmla="val 18450"/>
            </a:avLst>
          </a:prstGeom>
          <a:solidFill>
            <a:srgbClr val="E8E8E8"/>
          </a:solidFill>
          <a:ln w="6350">
            <a:solidFill>
              <a:srgbClr val="E8E8E8"/>
            </a:solidFill>
            <a:prstDash val="solid"/>
          </a:ln>
        </p:spPr>
      </p:sp>
      <p:sp>
        <p:nvSpPr>
          <p:cNvPr id="25" name="text"/>
          <p:cNvSpPr txBox="1"/>
          <p:nvPr/>
        </p:nvSpPr>
        <p:spPr>
          <a:xfrm>
            <a:off x="822960" y="4509821"/>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04 KOORDINASI</a:t>
            </a:r>
            <a:endParaRPr lang="en-US" sz="1400" dirty="0"/>
          </a:p>
        </p:txBody>
      </p:sp>
      <p:sp>
        <p:nvSpPr>
          <p:cNvPr id="26" name="text"/>
          <p:cNvSpPr txBox="1"/>
          <p:nvPr/>
        </p:nvSpPr>
        <p:spPr>
          <a:xfrm>
            <a:off x="2788920" y="4473245"/>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Kerja sama lintas unit.</a:t>
            </a:r>
            <a:endParaRPr lang="en-US" sz="1800" dirty="0"/>
          </a:p>
        </p:txBody>
      </p:sp>
      <p:sp>
        <p:nvSpPr>
          <p:cNvPr id="27" name="dot"/>
          <p:cNvSpPr/>
          <p:nvPr/>
        </p:nvSpPr>
        <p:spPr>
          <a:xfrm>
            <a:off x="6611112" y="4593946"/>
            <a:ext cx="274320" cy="274320"/>
          </a:xfrm>
          <a:prstGeom prst="ellipse">
            <a:avLst/>
          </a:prstGeom>
          <a:solidFill>
            <a:srgbClr val="141417"/>
          </a:solidFill>
          <a:ln w="6350">
            <a:solidFill>
              <a:srgbClr val="141417"/>
            </a:solidFill>
            <a:prstDash val="solid"/>
          </a:ln>
        </p:spPr>
      </p:sp>
      <p:pic>
        <p:nvPicPr>
          <p:cNvPr id="28" name="dot-icon" descr="preencoded.png">    </p:cNvPr>
          <p:cNvPicPr>
            <a:picLocks noChangeAspect="1"/>
          </p:cNvPicPr>
          <p:nvPr/>
        </p:nvPicPr>
        <p:blipFill>
          <a:blip r:embed="rId4"/>
          <a:stretch>
            <a:fillRect/>
          </a:stretch>
        </p:blipFill>
        <p:spPr>
          <a:xfrm>
            <a:off x="6671462" y="4654296"/>
            <a:ext cx="153619" cy="153619"/>
          </a:xfrm>
          <a:prstGeom prst="rect">
            <a:avLst/>
          </a:prstGeom>
        </p:spPr>
      </p:pic>
      <p:sp>
        <p:nvSpPr>
          <p:cNvPr id="29" name="card"/>
          <p:cNvSpPr/>
          <p:nvPr/>
        </p:nvSpPr>
        <p:spPr>
          <a:xfrm>
            <a:off x="502920" y="5427878"/>
            <a:ext cx="6675120" cy="991210"/>
          </a:xfrm>
          <a:prstGeom prst="roundRect">
            <a:avLst>
              <a:gd name="adj" fmla="val 18450"/>
            </a:avLst>
          </a:prstGeom>
          <a:solidFill>
            <a:srgbClr val="141417"/>
          </a:solidFill>
          <a:ln w="6350">
            <a:solidFill>
              <a:srgbClr val="141417"/>
            </a:solidFill>
            <a:prstDash val="solid"/>
          </a:ln>
        </p:spPr>
      </p:sp>
      <p:sp>
        <p:nvSpPr>
          <p:cNvPr id="30" name="text"/>
          <p:cNvSpPr txBox="1"/>
          <p:nvPr/>
        </p:nvSpPr>
        <p:spPr>
          <a:xfrm>
            <a:off x="822960" y="5702198"/>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05 MITRA EKSTERNAL</a:t>
            </a:r>
            <a:endParaRPr lang="en-US" sz="1400" dirty="0"/>
          </a:p>
        </p:txBody>
      </p:sp>
      <p:sp>
        <p:nvSpPr>
          <p:cNvPr id="31" name="text"/>
          <p:cNvSpPr txBox="1"/>
          <p:nvPr/>
        </p:nvSpPr>
        <p:spPr>
          <a:xfrm>
            <a:off x="2788920" y="5665622"/>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Pemasok, aliansi, jaringan.</a:t>
            </a:r>
            <a:endParaRPr lang="en-US" sz="1800" dirty="0"/>
          </a:p>
        </p:txBody>
      </p:sp>
      <p:sp>
        <p:nvSpPr>
          <p:cNvPr id="32" name="dot"/>
          <p:cNvSpPr/>
          <p:nvPr/>
        </p:nvSpPr>
        <p:spPr>
          <a:xfrm>
            <a:off x="6611112" y="5786323"/>
            <a:ext cx="274320" cy="274320"/>
          </a:xfrm>
          <a:prstGeom prst="ellipse">
            <a:avLst/>
          </a:prstGeom>
          <a:solidFill>
            <a:srgbClr val="D4FC00"/>
          </a:solidFill>
          <a:ln w="6350">
            <a:solidFill>
              <a:srgbClr val="D4FC00"/>
            </a:solidFill>
            <a:prstDash val="solid"/>
          </a:ln>
        </p:spPr>
      </p:sp>
      <p:pic>
        <p:nvPicPr>
          <p:cNvPr id="33" name="dot-icon" descr="preencoded.png">    </p:cNvPr>
          <p:cNvPicPr>
            <a:picLocks noChangeAspect="1"/>
          </p:cNvPicPr>
          <p:nvPr/>
        </p:nvPicPr>
        <p:blipFill>
          <a:blip r:embed="rId5"/>
          <a:stretch>
            <a:fillRect/>
          </a:stretch>
        </p:blipFill>
        <p:spPr>
          <a:xfrm>
            <a:off x="6671462" y="5846674"/>
            <a:ext cx="153619" cy="153619"/>
          </a:xfrm>
          <a:prstGeom prst="rect">
            <a:avLst/>
          </a:prstGeom>
        </p:spPr>
      </p:pic>
      <p:pic>
        <p:nvPicPr>
          <p:cNvPr id="34" name="Interior putih dengan tangga melengkung" descr="preencoded.png">    </p:cNvPr>
          <p:cNvPicPr>
            <a:picLocks noChangeAspect="1"/>
          </p:cNvPicPr>
          <p:nvPr/>
        </p:nvPicPr>
        <p:blipFill>
          <a:blip r:embed="rId6"/>
          <a:stretch>
            <a:fillRect/>
          </a:stretch>
        </p:blipFill>
        <p:spPr>
          <a:xfrm>
            <a:off x="7635240" y="658368"/>
            <a:ext cx="4053535" cy="2103120"/>
          </a:xfrm>
          <a:prstGeom prst="rect">
            <a:avLst/>
          </a:prstGeom>
        </p:spPr>
      </p:pic>
      <p:sp>
        <p:nvSpPr>
          <p:cNvPr id="35" name="text"/>
          <p:cNvSpPr txBox="1"/>
          <p:nvPr/>
        </p:nvSpPr>
        <p:spPr>
          <a:xfrm>
            <a:off x="7635240" y="2971800"/>
            <a:ext cx="4053535" cy="228600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STRUKTUR MENGIKUTI STRATEGI</a:t>
            </a:r>
            <a:endParaRPr lang="en-US" sz="3400" dirty="0"/>
          </a:p>
        </p:txBody>
      </p:sp>
      <p:sp>
        <p:nvSpPr>
          <p:cNvPr id="36" name="text"/>
          <p:cNvSpPr txBox="1"/>
          <p:nvPr/>
        </p:nvSpPr>
        <p:spPr>
          <a:xfrm>
            <a:off x="7635240" y="5257800"/>
            <a:ext cx="4053535" cy="114300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Figure 10.3, digambar ulang. Lima keputusan bermuara pada struktur yang cocok dengan kebutuhan eksekusi.</a:t>
            </a:r>
            <a:endParaRPr lang="en-US" sz="1600" dirty="0"/>
          </a:p>
        </p:txBody>
      </p:sp>
      <p:sp>
        <p:nvSpPr>
          <p:cNvPr id="37"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card"/>
          <p:cNvSpPr/>
          <p:nvPr/>
        </p:nvSpPr>
        <p:spPr>
          <a:xfrm>
            <a:off x="7891272" y="173736"/>
            <a:ext cx="1271016" cy="329184"/>
          </a:xfrm>
          <a:prstGeom prst="roundRect">
            <a:avLst>
              <a:gd name="adj" fmla="val 138889"/>
            </a:avLst>
          </a:prstGeom>
          <a:solidFill>
            <a:srgbClr val="D4FC00"/>
          </a:solidFill>
          <a:ln w="6350">
            <a:solidFill>
              <a:srgbClr val="D4FC00"/>
            </a:solidFill>
            <a:prstDash val="solid"/>
          </a:ln>
        </p:spPr>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card"/>
          <p:cNvSpPr/>
          <p:nvPr/>
        </p:nvSpPr>
        <p:spPr>
          <a:xfrm>
            <a:off x="7452360" y="-274320"/>
            <a:ext cx="3429000" cy="7406640"/>
          </a:xfrm>
          <a:prstGeom prst="roundRect">
            <a:avLst>
              <a:gd name="adj" fmla="val 9333"/>
            </a:avLst>
          </a:prstGeom>
          <a:solidFill>
            <a:srgbClr val="D4FC00"/>
          </a:solidFill>
          <a:ln w="6350">
            <a:solidFill>
              <a:srgbClr val="D4FC00"/>
            </a:solidFill>
            <a:prstDash val="solid"/>
          </a:ln>
        </p:spPr>
      </p:sp>
      <p:sp>
        <p:nvSpPr>
          <p:cNvPr id="10"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11"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12"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13"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14" name="card"/>
          <p:cNvSpPr/>
          <p:nvPr/>
        </p:nvSpPr>
        <p:spPr>
          <a:xfrm>
            <a:off x="7891272" y="173736"/>
            <a:ext cx="1271016" cy="329184"/>
          </a:xfrm>
          <a:prstGeom prst="roundRect">
            <a:avLst>
              <a:gd name="adj" fmla="val 138889"/>
            </a:avLst>
          </a:prstGeom>
          <a:solidFill>
            <a:srgbClr val="141417"/>
          </a:solidFill>
          <a:ln w="6350">
            <a:solidFill>
              <a:srgbClr val="141417"/>
            </a:solidFill>
            <a:prstDash val="solid"/>
          </a:ln>
        </p:spPr>
      </p:sp>
      <p:sp>
        <p:nvSpPr>
          <p:cNvPr id="15"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D4FC00"/>
                </a:solidFill>
                <a:latin typeface="Outfit SemiBold" pitchFamily="34" charset="0"/>
                <a:ea typeface="Outfit SemiBold" pitchFamily="34" charset="-122"/>
                <a:cs typeface="Outfit SemiBold" pitchFamily="34" charset="-120"/>
              </a:rPr>
              <a:t>Structure</a:t>
            </a:r>
            <a:endParaRPr lang="en-US" sz="1050" dirty="0"/>
          </a:p>
        </p:txBody>
      </p:sp>
      <p:sp>
        <p:nvSpPr>
          <p:cNvPr id="16"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17" name="text"/>
          <p:cNvSpPr txBox="1"/>
          <p:nvPr/>
        </p:nvSpPr>
        <p:spPr>
          <a:xfrm>
            <a:off x="502920" y="960120"/>
            <a:ext cx="5394960" cy="265176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DIKERJAKAN SENDIRI ATAU DI-OUTSOURCE</a:t>
            </a:r>
            <a:endParaRPr lang="en-US" sz="3800" dirty="0"/>
          </a:p>
        </p:txBody>
      </p:sp>
      <p:sp>
        <p:nvSpPr>
          <p:cNvPr id="18" name="toggle"/>
          <p:cNvSpPr/>
          <p:nvPr/>
        </p:nvSpPr>
        <p:spPr>
          <a:xfrm>
            <a:off x="502920" y="3310128"/>
            <a:ext cx="566928" cy="274320"/>
          </a:xfrm>
          <a:prstGeom prst="roundRect">
            <a:avLst>
              <a:gd name="adj" fmla="val 166667"/>
            </a:avLst>
          </a:prstGeom>
          <a:solidFill>
            <a:srgbClr val="F4F4F4"/>
          </a:solidFill>
          <a:ln w="9525">
            <a:solidFill>
              <a:srgbClr val="141417"/>
            </a:solidFill>
            <a:prstDash val="solid"/>
          </a:ln>
        </p:spPr>
      </p:sp>
      <p:sp>
        <p:nvSpPr>
          <p:cNvPr id="19" name="toggle-dot"/>
          <p:cNvSpPr/>
          <p:nvPr/>
        </p:nvSpPr>
        <p:spPr>
          <a:xfrm>
            <a:off x="804672" y="3346704"/>
            <a:ext cx="201168" cy="201168"/>
          </a:xfrm>
          <a:prstGeom prst="ellipse">
            <a:avLst/>
          </a:prstGeom>
          <a:solidFill>
            <a:srgbClr val="D4FC00"/>
          </a:solidFill>
          <a:ln w="6350">
            <a:solidFill>
              <a:srgbClr val="D4FC00"/>
            </a:solidFill>
            <a:prstDash val="solid"/>
          </a:ln>
        </p:spPr>
      </p:sp>
      <p:pic>
        <p:nvPicPr>
          <p:cNvPr id="20" name="toggle-star" descr="preencoded.png">    </p:cNvPr>
          <p:cNvPicPr>
            <a:picLocks noChangeAspect="1"/>
          </p:cNvPicPr>
          <p:nvPr/>
        </p:nvPicPr>
        <p:blipFill>
          <a:blip r:embed="rId1"/>
          <a:stretch>
            <a:fillRect/>
          </a:stretch>
        </p:blipFill>
        <p:spPr>
          <a:xfrm>
            <a:off x="845820" y="3387852"/>
            <a:ext cx="118872" cy="118872"/>
          </a:xfrm>
          <a:prstGeom prst="rect">
            <a:avLst/>
          </a:prstGeom>
        </p:spPr>
      </p:pic>
      <p:sp>
        <p:nvSpPr>
          <p:cNvPr id="21" name="text"/>
          <p:cNvSpPr txBox="1"/>
          <p:nvPr/>
        </p:nvSpPr>
        <p:spPr>
          <a:xfrm>
            <a:off x="502920" y="3611880"/>
            <a:ext cx="5212080" cy="128016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Apple memegang desain dan pengembangan produk, menyerahkan manufaktur ke Foxconn. Harganya: kendali berkurang. Batasnya: jangan lepaskan aktivitas inti strategi.</a:t>
            </a:r>
            <a:endParaRPr lang="en-US" sz="1800" dirty="0"/>
          </a:p>
        </p:txBody>
      </p:sp>
      <p:pic>
        <p:nvPicPr>
          <p:cNvPr id="22" name="Bekerja di laptop" descr="preencoded.png">    </p:cNvPr>
          <p:cNvPicPr>
            <a:picLocks noChangeAspect="1"/>
          </p:cNvPicPr>
          <p:nvPr/>
        </p:nvPicPr>
        <p:blipFill>
          <a:blip r:embed="rId2"/>
          <a:stretch>
            <a:fillRect/>
          </a:stretch>
        </p:blipFill>
        <p:spPr>
          <a:xfrm>
            <a:off x="502920" y="5029200"/>
            <a:ext cx="2377440" cy="1371600"/>
          </a:xfrm>
          <a:prstGeom prst="rect">
            <a:avLst/>
          </a:prstGeom>
        </p:spPr>
      </p:pic>
      <p:sp>
        <p:nvSpPr>
          <p:cNvPr id="23" name="badge"/>
          <p:cNvSpPr/>
          <p:nvPr/>
        </p:nvSpPr>
        <p:spPr>
          <a:xfrm>
            <a:off x="2514600" y="5166360"/>
            <a:ext cx="256032" cy="256032"/>
          </a:xfrm>
          <a:prstGeom prst="ellipse">
            <a:avLst/>
          </a:prstGeom>
          <a:solidFill>
            <a:srgbClr val="D4FC00"/>
          </a:solidFill>
          <a:ln w="6350">
            <a:solidFill>
              <a:srgbClr val="D4FC00"/>
            </a:solidFill>
            <a:prstDash val="solid"/>
          </a:ln>
        </p:spPr>
      </p:sp>
      <p:pic>
        <p:nvPicPr>
          <p:cNvPr id="24" name="Ruang perakitan elektronik putih" descr="preencoded.png">    </p:cNvPr>
          <p:cNvPicPr>
            <a:picLocks noChangeAspect="1"/>
          </p:cNvPicPr>
          <p:nvPr/>
        </p:nvPicPr>
        <p:blipFill>
          <a:blip r:embed="rId3"/>
          <a:stretch>
            <a:fillRect/>
          </a:stretch>
        </p:blipFill>
        <p:spPr>
          <a:xfrm>
            <a:off x="5989320" y="914400"/>
            <a:ext cx="2926080" cy="6217920"/>
          </a:xfrm>
          <a:prstGeom prst="rect">
            <a:avLst/>
          </a:prstGeom>
        </p:spPr>
      </p:pic>
      <p:sp>
        <p:nvSpPr>
          <p:cNvPr id="25" name="card"/>
          <p:cNvSpPr/>
          <p:nvPr/>
        </p:nvSpPr>
        <p:spPr>
          <a:xfrm>
            <a:off x="9738360" y="1965960"/>
            <a:ext cx="777240" cy="777240"/>
          </a:xfrm>
          <a:prstGeom prst="roundRect">
            <a:avLst>
              <a:gd name="adj" fmla="val 18824"/>
            </a:avLst>
          </a:prstGeom>
          <a:solidFill>
            <a:srgbClr val="141417"/>
          </a:solidFill>
          <a:ln w="6350">
            <a:solidFill>
              <a:srgbClr val="141417"/>
            </a:solidFill>
            <a:prstDash val="solid"/>
          </a:ln>
        </p:spPr>
      </p:sp>
      <p:pic>
        <p:nvPicPr>
          <p:cNvPr id="26" name="star" descr="preencoded.png">    </p:cNvPr>
          <p:cNvPicPr>
            <a:picLocks noChangeAspect="1"/>
          </p:cNvPicPr>
          <p:nvPr/>
        </p:nvPicPr>
        <p:blipFill>
          <a:blip r:embed="rId4"/>
          <a:stretch>
            <a:fillRect/>
          </a:stretch>
        </p:blipFill>
        <p:spPr>
          <a:xfrm>
            <a:off x="9932670" y="2160270"/>
            <a:ext cx="388620" cy="388620"/>
          </a:xfrm>
          <a:prstGeom prst="rect">
            <a:avLst/>
          </a:prstGeom>
        </p:spPr>
      </p:pic>
      <p:sp>
        <p:nvSpPr>
          <p:cNvPr id="27" name="pill"/>
          <p:cNvSpPr/>
          <p:nvPr/>
        </p:nvSpPr>
        <p:spPr>
          <a:xfrm>
            <a:off x="9006840" y="4434840"/>
            <a:ext cx="2788920" cy="420624"/>
          </a:xfrm>
          <a:prstGeom prst="roundRect">
            <a:avLst>
              <a:gd name="adj" fmla="val 108696"/>
            </a:avLst>
          </a:prstGeom>
          <a:solidFill>
            <a:srgbClr val="D4FC00"/>
          </a:solidFill>
          <a:ln w="9525">
            <a:solidFill>
              <a:srgbClr val="141417"/>
            </a:solidFill>
            <a:prstDash val="solid"/>
          </a:ln>
        </p:spPr>
      </p:sp>
      <p:sp>
        <p:nvSpPr>
          <p:cNvPr id="28" name="text"/>
          <p:cNvSpPr txBox="1"/>
          <p:nvPr/>
        </p:nvSpPr>
        <p:spPr>
          <a:xfrm>
            <a:off x="9116568" y="4434840"/>
            <a:ext cx="256946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FOKUS LEBIH TAJAM</a:t>
            </a:r>
            <a:endParaRPr lang="en-US" sz="1200" dirty="0"/>
          </a:p>
        </p:txBody>
      </p:sp>
      <p:sp>
        <p:nvSpPr>
          <p:cNvPr id="29" name="pill"/>
          <p:cNvSpPr/>
          <p:nvPr/>
        </p:nvSpPr>
        <p:spPr>
          <a:xfrm>
            <a:off x="9006840" y="5038344"/>
            <a:ext cx="2788920" cy="420624"/>
          </a:xfrm>
          <a:prstGeom prst="roundRect">
            <a:avLst>
              <a:gd name="adj" fmla="val 108696"/>
            </a:avLst>
          </a:prstGeom>
          <a:solidFill>
            <a:srgbClr val="D4FC00"/>
          </a:solidFill>
          <a:ln w="9525">
            <a:solidFill>
              <a:srgbClr val="141417"/>
            </a:solidFill>
            <a:prstDash val="solid"/>
          </a:ln>
        </p:spPr>
      </p:sp>
      <p:sp>
        <p:nvSpPr>
          <p:cNvPr id="30" name="text"/>
          <p:cNvSpPr txBox="1"/>
          <p:nvPr/>
        </p:nvSpPr>
        <p:spPr>
          <a:xfrm>
            <a:off x="9116568" y="5038344"/>
            <a:ext cx="256946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ORGANISASI LEBIH RAMPING</a:t>
            </a:r>
            <a:endParaRPr lang="en-US" sz="1200" dirty="0"/>
          </a:p>
        </p:txBody>
      </p:sp>
      <p:sp>
        <p:nvSpPr>
          <p:cNvPr id="31" name="pill"/>
          <p:cNvSpPr/>
          <p:nvPr/>
        </p:nvSpPr>
        <p:spPr>
          <a:xfrm>
            <a:off x="9006840" y="5641848"/>
            <a:ext cx="2788920" cy="420624"/>
          </a:xfrm>
          <a:prstGeom prst="roundRect">
            <a:avLst>
              <a:gd name="adj" fmla="val 108696"/>
            </a:avLst>
          </a:prstGeom>
          <a:solidFill>
            <a:srgbClr val="D4FC00"/>
          </a:solidFill>
          <a:ln w="9525">
            <a:solidFill>
              <a:srgbClr val="141417"/>
            </a:solidFill>
            <a:prstDash val="solid"/>
          </a:ln>
        </p:spPr>
      </p:sp>
      <p:sp>
        <p:nvSpPr>
          <p:cNvPr id="32" name="text"/>
          <p:cNvSpPr txBox="1"/>
          <p:nvPr/>
        </p:nvSpPr>
        <p:spPr>
          <a:xfrm>
            <a:off x="9116568" y="5641848"/>
            <a:ext cx="256946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CAPABILITY MITRA TERPAKAI</a:t>
            </a:r>
            <a:endParaRPr lang="en-US" sz="12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card"/>
          <p:cNvSpPr/>
          <p:nvPr/>
        </p:nvSpPr>
        <p:spPr>
          <a:xfrm>
            <a:off x="7891272" y="173736"/>
            <a:ext cx="1271016" cy="329184"/>
          </a:xfrm>
          <a:prstGeom prst="roundRect">
            <a:avLst>
              <a:gd name="adj" fmla="val 138889"/>
            </a:avLst>
          </a:prstGeom>
          <a:solidFill>
            <a:srgbClr val="D4FC00"/>
          </a:solidFill>
          <a:ln w="6350">
            <a:solidFill>
              <a:srgbClr val="D4FC00"/>
            </a:solidFill>
            <a:prstDash val="solid"/>
          </a:ln>
        </p:spPr>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text"/>
          <p:cNvSpPr txBox="1"/>
          <p:nvPr/>
        </p:nvSpPr>
        <p:spPr>
          <a:xfrm>
            <a:off x="502920" y="868680"/>
            <a:ext cx="7772400" cy="91440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EMPAT TIPE STRUKTUR</a:t>
            </a:r>
            <a:endParaRPr lang="en-US" sz="3800" dirty="0"/>
          </a:p>
        </p:txBody>
      </p:sp>
      <p:sp>
        <p:nvSpPr>
          <p:cNvPr id="10" name="toggle"/>
          <p:cNvSpPr/>
          <p:nvPr/>
        </p:nvSpPr>
        <p:spPr>
          <a:xfrm>
            <a:off x="8778240" y="1051560"/>
            <a:ext cx="566928" cy="274320"/>
          </a:xfrm>
          <a:prstGeom prst="roundRect">
            <a:avLst>
              <a:gd name="adj" fmla="val 166667"/>
            </a:avLst>
          </a:prstGeom>
          <a:solidFill>
            <a:srgbClr val="F4F4F4"/>
          </a:solidFill>
          <a:ln w="9525">
            <a:solidFill>
              <a:srgbClr val="141417"/>
            </a:solidFill>
            <a:prstDash val="solid"/>
          </a:ln>
        </p:spPr>
      </p:sp>
      <p:sp>
        <p:nvSpPr>
          <p:cNvPr id="11" name="toggle-dot"/>
          <p:cNvSpPr/>
          <p:nvPr/>
        </p:nvSpPr>
        <p:spPr>
          <a:xfrm>
            <a:off x="9079992" y="1088136"/>
            <a:ext cx="201168" cy="201168"/>
          </a:xfrm>
          <a:prstGeom prst="ellipse">
            <a:avLst/>
          </a:prstGeom>
          <a:solidFill>
            <a:srgbClr val="D4FC00"/>
          </a:solidFill>
          <a:ln w="6350">
            <a:solidFill>
              <a:srgbClr val="D4FC00"/>
            </a:solidFill>
            <a:prstDash val="solid"/>
          </a:ln>
        </p:spPr>
      </p:sp>
      <p:pic>
        <p:nvPicPr>
          <p:cNvPr id="12" name="toggle-star" descr="preencoded.png">    </p:cNvPr>
          <p:cNvPicPr>
            <a:picLocks noChangeAspect="1"/>
          </p:cNvPicPr>
          <p:nvPr/>
        </p:nvPicPr>
        <p:blipFill>
          <a:blip r:embed="rId1"/>
          <a:stretch>
            <a:fillRect/>
          </a:stretch>
        </p:blipFill>
        <p:spPr>
          <a:xfrm>
            <a:off x="9121140" y="1129284"/>
            <a:ext cx="118872" cy="118872"/>
          </a:xfrm>
          <a:prstGeom prst="rect">
            <a:avLst/>
          </a:prstGeom>
        </p:spPr>
      </p:pic>
      <p:sp>
        <p:nvSpPr>
          <p:cNvPr id="13" name="card"/>
          <p:cNvSpPr/>
          <p:nvPr/>
        </p:nvSpPr>
        <p:spPr>
          <a:xfrm>
            <a:off x="502920" y="2057400"/>
            <a:ext cx="2659304" cy="3291840"/>
          </a:xfrm>
          <a:prstGeom prst="roundRect">
            <a:avLst>
              <a:gd name="adj" fmla="val 6877"/>
            </a:avLst>
          </a:prstGeom>
          <a:solidFill>
            <a:srgbClr val="E8E8E8"/>
          </a:solidFill>
          <a:ln w="6350">
            <a:solidFill>
              <a:srgbClr val="E8E8E8"/>
            </a:solidFill>
            <a:prstDash val="solid"/>
          </a:ln>
        </p:spPr>
      </p:sp>
      <p:sp>
        <p:nvSpPr>
          <p:cNvPr id="14" name="text"/>
          <p:cNvSpPr txBox="1"/>
          <p:nvPr/>
        </p:nvSpPr>
        <p:spPr>
          <a:xfrm>
            <a:off x="813816"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01 · line-and-staff</a:t>
            </a:r>
            <a:endParaRPr lang="en-US" sz="1600" dirty="0"/>
          </a:p>
        </p:txBody>
      </p:sp>
      <p:sp>
        <p:nvSpPr>
          <p:cNvPr id="15" name="text"/>
          <p:cNvSpPr txBox="1"/>
          <p:nvPr/>
        </p:nvSpPr>
        <p:spPr>
          <a:xfrm>
            <a:off x="795528"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Eksekutif pusat, staf kecil. Lentur, tak memadai saat tumbuh.</a:t>
            </a:r>
            <a:endParaRPr lang="en-US" sz="1800" dirty="0"/>
          </a:p>
        </p:txBody>
      </p:sp>
      <p:sp>
        <p:nvSpPr>
          <p:cNvPr id="16" name="text"/>
          <p:cNvSpPr txBox="1"/>
          <p:nvPr/>
        </p:nvSpPr>
        <p:spPr>
          <a:xfrm>
            <a:off x="795528"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SIMPLE</a:t>
            </a:r>
            <a:endParaRPr lang="en-US" sz="1400" dirty="0"/>
          </a:p>
        </p:txBody>
      </p:sp>
      <p:sp>
        <p:nvSpPr>
          <p:cNvPr id="17" name="card"/>
          <p:cNvSpPr/>
          <p:nvPr/>
        </p:nvSpPr>
        <p:spPr>
          <a:xfrm>
            <a:off x="3345104" y="2057400"/>
            <a:ext cx="2659304" cy="3291840"/>
          </a:xfrm>
          <a:prstGeom prst="roundRect">
            <a:avLst>
              <a:gd name="adj" fmla="val 6877"/>
            </a:avLst>
          </a:prstGeom>
          <a:solidFill>
            <a:srgbClr val="D4FC00"/>
          </a:solidFill>
          <a:ln w="6350">
            <a:solidFill>
              <a:srgbClr val="D4FC00"/>
            </a:solidFill>
            <a:prstDash val="solid"/>
          </a:ln>
        </p:spPr>
      </p:sp>
      <p:sp>
        <p:nvSpPr>
          <p:cNvPr id="18" name="text"/>
          <p:cNvSpPr txBox="1"/>
          <p:nvPr/>
        </p:nvSpPr>
        <p:spPr>
          <a:xfrm>
            <a:off x="3656000"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02 · U-form</a:t>
            </a:r>
            <a:endParaRPr lang="en-US" sz="1600" dirty="0"/>
          </a:p>
        </p:txBody>
      </p:sp>
      <p:sp>
        <p:nvSpPr>
          <p:cNvPr id="19" name="text"/>
          <p:cNvSpPr txBox="1"/>
          <p:nvPr/>
        </p:nvSpPr>
        <p:spPr>
          <a:xfrm>
            <a:off x="3637712"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Departemen per fungsi untuk satu bisnis. Bersekat.</a:t>
            </a:r>
            <a:endParaRPr lang="en-US" sz="1800" dirty="0"/>
          </a:p>
        </p:txBody>
      </p:sp>
      <p:sp>
        <p:nvSpPr>
          <p:cNvPr id="20" name="text"/>
          <p:cNvSpPr txBox="1"/>
          <p:nvPr/>
        </p:nvSpPr>
        <p:spPr>
          <a:xfrm>
            <a:off x="3637712"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FUNCTIONAL</a:t>
            </a:r>
            <a:endParaRPr lang="en-US" sz="1400" dirty="0"/>
          </a:p>
        </p:txBody>
      </p:sp>
      <p:sp>
        <p:nvSpPr>
          <p:cNvPr id="21" name="card"/>
          <p:cNvSpPr/>
          <p:nvPr/>
        </p:nvSpPr>
        <p:spPr>
          <a:xfrm>
            <a:off x="6187288" y="2057400"/>
            <a:ext cx="2659304" cy="3291840"/>
          </a:xfrm>
          <a:prstGeom prst="roundRect">
            <a:avLst>
              <a:gd name="adj" fmla="val 6877"/>
            </a:avLst>
          </a:prstGeom>
          <a:solidFill>
            <a:srgbClr val="E8E8E8"/>
          </a:solidFill>
          <a:ln w="6350">
            <a:solidFill>
              <a:srgbClr val="E8E8E8"/>
            </a:solidFill>
            <a:prstDash val="solid"/>
          </a:ln>
        </p:spPr>
      </p:sp>
      <p:sp>
        <p:nvSpPr>
          <p:cNvPr id="22" name="text"/>
          <p:cNvSpPr txBox="1"/>
          <p:nvPr/>
        </p:nvSpPr>
        <p:spPr>
          <a:xfrm>
            <a:off x="6498184"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03 · M-form</a:t>
            </a:r>
            <a:endParaRPr lang="en-US" sz="1600" dirty="0"/>
          </a:p>
        </p:txBody>
      </p:sp>
      <p:sp>
        <p:nvSpPr>
          <p:cNvPr id="23" name="text"/>
          <p:cNvSpPr txBox="1"/>
          <p:nvPr/>
        </p:nvSpPr>
        <p:spPr>
          <a:xfrm>
            <a:off x="6479896"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Divisi sebagai profit center. Sinergi lintas bisnis sulit.</a:t>
            </a:r>
            <a:endParaRPr lang="en-US" sz="1800" dirty="0"/>
          </a:p>
        </p:txBody>
      </p:sp>
      <p:sp>
        <p:nvSpPr>
          <p:cNvPr id="24" name="text"/>
          <p:cNvSpPr txBox="1"/>
          <p:nvPr/>
        </p:nvSpPr>
        <p:spPr>
          <a:xfrm>
            <a:off x="6479896"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MULTIDIVISIONAL</a:t>
            </a:r>
            <a:endParaRPr lang="en-US" sz="1400" dirty="0"/>
          </a:p>
        </p:txBody>
      </p:sp>
      <p:sp>
        <p:nvSpPr>
          <p:cNvPr id="25" name="card"/>
          <p:cNvSpPr/>
          <p:nvPr/>
        </p:nvSpPr>
        <p:spPr>
          <a:xfrm>
            <a:off x="9029471" y="2057400"/>
            <a:ext cx="2659304" cy="3291840"/>
          </a:xfrm>
          <a:prstGeom prst="roundRect">
            <a:avLst>
              <a:gd name="adj" fmla="val 6877"/>
            </a:avLst>
          </a:prstGeom>
          <a:solidFill>
            <a:srgbClr val="141417"/>
          </a:solidFill>
          <a:ln w="6350">
            <a:solidFill>
              <a:srgbClr val="141417"/>
            </a:solidFill>
            <a:prstDash val="solid"/>
          </a:ln>
        </p:spPr>
      </p:sp>
      <p:sp>
        <p:nvSpPr>
          <p:cNvPr id="26" name="text"/>
          <p:cNvSpPr txBox="1"/>
          <p:nvPr/>
        </p:nvSpPr>
        <p:spPr>
          <a:xfrm>
            <a:off x="9340367"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04 · composite</a:t>
            </a:r>
            <a:endParaRPr lang="en-US" sz="1600" dirty="0"/>
          </a:p>
        </p:txBody>
      </p:sp>
      <p:sp>
        <p:nvSpPr>
          <p:cNvPr id="27" name="text"/>
          <p:cNvSpPr txBox="1"/>
          <p:nvPr/>
        </p:nvSpPr>
        <p:spPr>
          <a:xfrm>
            <a:off x="9322079"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Dua dimensi atau lebih, beberapa atasan.</a:t>
            </a:r>
            <a:endParaRPr lang="en-US" sz="1800" dirty="0"/>
          </a:p>
        </p:txBody>
      </p:sp>
      <p:sp>
        <p:nvSpPr>
          <p:cNvPr id="28" name="text"/>
          <p:cNvSpPr txBox="1"/>
          <p:nvPr/>
        </p:nvSpPr>
        <p:spPr>
          <a:xfrm>
            <a:off x="9322079"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MATRIX</a:t>
            </a:r>
            <a:endParaRPr lang="en-US" sz="1400" dirty="0"/>
          </a:p>
        </p:txBody>
      </p:sp>
      <p:sp>
        <p:nvSpPr>
          <p:cNvPr id="29" name="text"/>
          <p:cNvSpPr txBox="1"/>
          <p:nvPr/>
        </p:nvSpPr>
        <p:spPr>
          <a:xfrm>
            <a:off x="502920" y="5696712"/>
            <a:ext cx="5699455" cy="502920"/>
          </a:xfrm>
          <a:prstGeom prst="rect">
            <a:avLst/>
          </a:prstGeom>
          <a:noFill/>
          <a:ln/>
        </p:spPr>
        <p:txBody>
          <a:bodyPr wrap="square" lIns="0" tIns="0" rIns="0" bIns="0" rtlCol="0" anchor="ctr"/>
          <a:lstStyle/>
          <a:p>
            <a:pPr algn="l" indent="0" marL="0">
              <a:lnSpc>
                <a:spcPct val="122000"/>
              </a:lnSpc>
              <a:buNone/>
            </a:pPr>
            <a:r>
              <a:rPr lang="en-US" sz="1500" spc="50" kern="0" dirty="0">
                <a:solidFill>
                  <a:srgbClr val="1A1A1C"/>
                </a:solidFill>
                <a:latin typeface="Outfit Medium" pitchFamily="34" charset="0"/>
                <a:ea typeface="Outfit Medium" pitchFamily="34" charset="-122"/>
                <a:cs typeface="Outfit Medium" pitchFamily="34" charset="-120"/>
              </a:rPr>
              <a:t>SATU PRINSIP: AKTIVITAS KRITIS MENJADI BUILDING BLOCKS</a:t>
            </a:r>
            <a:endParaRPr lang="en-US" sz="1500" dirty="0"/>
          </a:p>
        </p:txBody>
      </p:sp>
      <p:sp>
        <p:nvSpPr>
          <p:cNvPr id="30" name="pill"/>
          <p:cNvSpPr/>
          <p:nvPr/>
        </p:nvSpPr>
        <p:spPr>
          <a:xfrm>
            <a:off x="6568135" y="5715000"/>
            <a:ext cx="5120640" cy="420624"/>
          </a:xfrm>
          <a:prstGeom prst="roundRect">
            <a:avLst>
              <a:gd name="adj" fmla="val 108696"/>
            </a:avLst>
          </a:prstGeom>
          <a:solidFill>
            <a:srgbClr val="F4F4F4"/>
          </a:solidFill>
          <a:ln w="9525">
            <a:solidFill>
              <a:srgbClr val="141417"/>
            </a:solidFill>
            <a:prstDash val="solid"/>
          </a:ln>
        </p:spPr>
      </p:sp>
      <p:sp>
        <p:nvSpPr>
          <p:cNvPr id="31" name="text"/>
          <p:cNvSpPr txBox="1"/>
          <p:nvPr/>
        </p:nvSpPr>
        <p:spPr>
          <a:xfrm>
            <a:off x="6677863" y="5715000"/>
            <a:ext cx="490118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SIMPLE → FUNCTIONAL → MULTIDIVISIONAL → MATRIX</a:t>
            </a:r>
            <a:endParaRPr lang="en-US" sz="1200" dirty="0"/>
          </a:p>
        </p:txBody>
      </p:sp>
      <p:sp>
        <p:nvSpPr>
          <p:cNvPr id="32"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card"/>
          <p:cNvSpPr/>
          <p:nvPr/>
        </p:nvSpPr>
        <p:spPr>
          <a:xfrm>
            <a:off x="7891272" y="173736"/>
            <a:ext cx="1271016" cy="329184"/>
          </a:xfrm>
          <a:prstGeom prst="roundRect">
            <a:avLst>
              <a:gd name="adj" fmla="val 138889"/>
            </a:avLst>
          </a:prstGeom>
          <a:solidFill>
            <a:srgbClr val="D4FC00"/>
          </a:solidFill>
          <a:ln w="6350">
            <a:solidFill>
              <a:srgbClr val="D4FC00"/>
            </a:solidFill>
            <a:prstDash val="solid"/>
          </a:ln>
        </p:spPr>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text"/>
          <p:cNvSpPr txBox="1"/>
          <p:nvPr/>
        </p:nvSpPr>
        <p:spPr>
          <a:xfrm>
            <a:off x="502920" y="868680"/>
            <a:ext cx="7315200" cy="118872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MEMUSATKAN ATAU MENDELEGASIKAN KEPUTUSAN</a:t>
            </a:r>
            <a:endParaRPr lang="en-US" sz="3400" dirty="0"/>
          </a:p>
        </p:txBody>
      </p:sp>
      <p:sp>
        <p:nvSpPr>
          <p:cNvPr id="10" name="card"/>
          <p:cNvSpPr/>
          <p:nvPr/>
        </p:nvSpPr>
        <p:spPr>
          <a:xfrm>
            <a:off x="502920" y="3063240"/>
            <a:ext cx="3429000" cy="3246120"/>
          </a:xfrm>
          <a:prstGeom prst="roundRect">
            <a:avLst>
              <a:gd name="adj" fmla="val 5634"/>
            </a:avLst>
          </a:prstGeom>
          <a:solidFill>
            <a:srgbClr val="141417"/>
          </a:solidFill>
          <a:ln w="6350">
            <a:solidFill>
              <a:srgbClr val="141417"/>
            </a:solidFill>
            <a:prstDash val="solid"/>
          </a:ln>
        </p:spPr>
      </p:sp>
      <p:sp>
        <p:nvSpPr>
          <p:cNvPr id="11" name="text"/>
          <p:cNvSpPr txBox="1"/>
          <p:nvPr/>
        </p:nvSpPr>
        <p:spPr>
          <a:xfrm>
            <a:off x="795528" y="3355848"/>
            <a:ext cx="914400"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01</a:t>
            </a:r>
            <a:endParaRPr lang="en-US" sz="1600" dirty="0"/>
          </a:p>
        </p:txBody>
      </p:sp>
      <p:sp>
        <p:nvSpPr>
          <p:cNvPr id="12" name="text"/>
          <p:cNvSpPr txBox="1"/>
          <p:nvPr/>
        </p:nvSpPr>
        <p:spPr>
          <a:xfrm>
            <a:off x="795528" y="3886200"/>
            <a:ext cx="2843784" cy="1783080"/>
          </a:xfrm>
          <a:prstGeom prst="rect">
            <a:avLst/>
          </a:prstGeom>
          <a:noFill/>
          <a:ln/>
        </p:spPr>
        <p:txBody>
          <a:bodyPr wrap="square" lIns="0" tIns="0" rIns="0" bIns="0" rtlCol="0" anchor="t"/>
          <a:lstStyle/>
          <a:p>
            <a:pPr algn="l" marL="177800" indent="-177800">
              <a:lnSpc>
                <a:spcPct val="115000"/>
              </a:lnSpc>
              <a:spcAft>
                <a:spcPts val="1200"/>
              </a:spcAft>
              <a:buSzPct val="100000"/>
              <a:buChar char="•"/>
            </a:pPr>
            <a:r>
              <a:rPr lang="en-US" sz="1700" dirty="0">
                <a:solidFill>
                  <a:srgbClr val="E4E4E7"/>
                </a:solidFill>
                <a:latin typeface="Outfit" pitchFamily="34" charset="0"/>
                <a:ea typeface="Outfit" pitchFamily="34" charset="-122"/>
                <a:cs typeface="Outfit" pitchFamily="34" charset="-120"/>
              </a:rPr>
              <a:t>Asumsi: puncak paling tahu</a:t>
            </a:r>
            <a:endParaRPr lang="en-US" sz="1700" dirty="0"/>
          </a:p>
          <a:p>
            <a:pPr algn="l" marL="177800" indent="-177800">
              <a:lnSpc>
                <a:spcPct val="115000"/>
              </a:lnSpc>
              <a:spcAft>
                <a:spcPts val="1200"/>
              </a:spcAft>
              <a:buSzPct val="100000"/>
              <a:buChar char="•"/>
            </a:pPr>
            <a:r>
              <a:rPr lang="en-US" sz="1700" dirty="0">
                <a:solidFill>
                  <a:srgbClr val="E4E4E7"/>
                </a:solidFill>
                <a:latin typeface="Outfit" pitchFamily="34" charset="0"/>
                <a:ea typeface="Outfit" pitchFamily="34" charset="-122"/>
                <a:cs typeface="Outfit" pitchFamily="34" charset="-120"/>
              </a:rPr>
              <a:t>Akuntabel, tegas saat krisis</a:t>
            </a:r>
            <a:endParaRPr lang="en-US" sz="1700" dirty="0"/>
          </a:p>
          <a:p>
            <a:pPr algn="l" marL="177800" indent="-177800">
              <a:lnSpc>
                <a:spcPct val="115000"/>
              </a:lnSpc>
              <a:spcAft>
                <a:spcPts val="1200"/>
              </a:spcAft>
              <a:buSzPct val="100000"/>
              <a:buChar char="•"/>
            </a:pPr>
            <a:r>
              <a:rPr lang="en-US" sz="1700" dirty="0">
                <a:solidFill>
                  <a:srgbClr val="E4E4E7"/>
                </a:solidFill>
                <a:latin typeface="Outfit" pitchFamily="34" charset="0"/>
                <a:ea typeface="Outfit" pitchFamily="34" charset="-122"/>
                <a:cs typeface="Outfit" pitchFamily="34" charset="-120"/>
              </a:rPr>
              <a:t>Respons lambat, inisiatif mati</a:t>
            </a:r>
            <a:endParaRPr lang="en-US" sz="1700" dirty="0"/>
          </a:p>
        </p:txBody>
      </p:sp>
      <p:sp>
        <p:nvSpPr>
          <p:cNvPr id="13" name="text"/>
          <p:cNvSpPr txBox="1"/>
          <p:nvPr/>
        </p:nvSpPr>
        <p:spPr>
          <a:xfrm>
            <a:off x="777240" y="5852160"/>
            <a:ext cx="2880360"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CENTRALIZED</a:t>
            </a:r>
            <a:endParaRPr lang="en-US" sz="1400" dirty="0"/>
          </a:p>
        </p:txBody>
      </p:sp>
      <p:sp>
        <p:nvSpPr>
          <p:cNvPr id="14" name="card"/>
          <p:cNvSpPr/>
          <p:nvPr/>
        </p:nvSpPr>
        <p:spPr>
          <a:xfrm>
            <a:off x="4087368" y="3063240"/>
            <a:ext cx="3429000" cy="3246120"/>
          </a:xfrm>
          <a:prstGeom prst="roundRect">
            <a:avLst>
              <a:gd name="adj" fmla="val 5634"/>
            </a:avLst>
          </a:prstGeom>
          <a:solidFill>
            <a:srgbClr val="D4FC00"/>
          </a:solidFill>
          <a:ln w="6350">
            <a:solidFill>
              <a:srgbClr val="D4FC00"/>
            </a:solidFill>
            <a:prstDash val="solid"/>
          </a:ln>
        </p:spPr>
      </p:sp>
      <p:sp>
        <p:nvSpPr>
          <p:cNvPr id="15" name="text"/>
          <p:cNvSpPr txBox="1"/>
          <p:nvPr/>
        </p:nvSpPr>
        <p:spPr>
          <a:xfrm>
            <a:off x="4379976" y="3355848"/>
            <a:ext cx="914400"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02</a:t>
            </a:r>
            <a:endParaRPr lang="en-US" sz="1600" dirty="0"/>
          </a:p>
        </p:txBody>
      </p:sp>
      <p:sp>
        <p:nvSpPr>
          <p:cNvPr id="16" name="text"/>
          <p:cNvSpPr txBox="1"/>
          <p:nvPr/>
        </p:nvSpPr>
        <p:spPr>
          <a:xfrm>
            <a:off x="4379976" y="3886200"/>
            <a:ext cx="2843784" cy="1783080"/>
          </a:xfrm>
          <a:prstGeom prst="rect">
            <a:avLst/>
          </a:prstGeom>
          <a:noFill/>
          <a:ln/>
        </p:spPr>
        <p:txBody>
          <a:bodyPr wrap="square" lIns="0" tIns="0" rIns="0" bIns="0" rtlCol="0" anchor="t"/>
          <a:lstStyle/>
          <a:p>
            <a:pPr algn="l" marL="177800" indent="-177800">
              <a:lnSpc>
                <a:spcPct val="115000"/>
              </a:lnSpc>
              <a:spcAft>
                <a:spcPts val="1200"/>
              </a:spcAft>
              <a:buSzPct val="100000"/>
              <a:buChar char="•"/>
            </a:pPr>
            <a:r>
              <a:rPr lang="en-US" sz="1700" dirty="0">
                <a:solidFill>
                  <a:srgbClr val="1A1A1C"/>
                </a:solidFill>
                <a:latin typeface="Outfit" pitchFamily="34" charset="0"/>
                <a:ea typeface="Outfit" pitchFamily="34" charset="-122"/>
                <a:cs typeface="Outfit" pitchFamily="34" charset="-120"/>
              </a:rPr>
              <a:t>Asumsi: lini depan paling tahu</a:t>
            </a:r>
            <a:endParaRPr lang="en-US" sz="1700" dirty="0"/>
          </a:p>
          <a:p>
            <a:pPr algn="l" marL="177800" indent="-177800">
              <a:lnSpc>
                <a:spcPct val="115000"/>
              </a:lnSpc>
              <a:spcAft>
                <a:spcPts val="1200"/>
              </a:spcAft>
              <a:buSzPct val="100000"/>
              <a:buChar char="•"/>
            </a:pPr>
            <a:r>
              <a:rPr lang="en-US" sz="1700" dirty="0">
                <a:solidFill>
                  <a:srgbClr val="1A1A1C"/>
                </a:solidFill>
                <a:latin typeface="Outfit" pitchFamily="34" charset="0"/>
                <a:ea typeface="Outfit" pitchFamily="34" charset="-122"/>
                <a:cs typeface="Outfit" pitchFamily="34" charset="-120"/>
              </a:rPr>
              <a:t>Inisiatif dan respons cepat</a:t>
            </a:r>
            <a:endParaRPr lang="en-US" sz="1700" dirty="0"/>
          </a:p>
          <a:p>
            <a:pPr algn="l" marL="177800" indent="-177800">
              <a:lnSpc>
                <a:spcPct val="115000"/>
              </a:lnSpc>
              <a:spcAft>
                <a:spcPts val="1200"/>
              </a:spcAft>
              <a:buSzPct val="100000"/>
              <a:buChar char="•"/>
            </a:pPr>
            <a:r>
              <a:rPr lang="en-US" sz="1700" dirty="0">
                <a:solidFill>
                  <a:srgbClr val="1A1A1C"/>
                </a:solidFill>
                <a:latin typeface="Outfit" pitchFamily="34" charset="0"/>
                <a:ea typeface="Outfit" pitchFamily="34" charset="-122"/>
                <a:cs typeface="Outfit" pitchFamily="34" charset="-120"/>
              </a:rPr>
              <a:t>Risiko koordinasi lemah</a:t>
            </a:r>
            <a:endParaRPr lang="en-US" sz="1700" dirty="0"/>
          </a:p>
        </p:txBody>
      </p:sp>
      <p:sp>
        <p:nvSpPr>
          <p:cNvPr id="17" name="text"/>
          <p:cNvSpPr txBox="1"/>
          <p:nvPr/>
        </p:nvSpPr>
        <p:spPr>
          <a:xfrm>
            <a:off x="4361688" y="5852160"/>
            <a:ext cx="2880360"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DECENTRALIZED</a:t>
            </a:r>
            <a:endParaRPr lang="en-US" sz="1400" dirty="0"/>
          </a:p>
        </p:txBody>
      </p:sp>
      <p:pic>
        <p:nvPicPr>
          <p:cNvPr id="18" name="Barista di kafe putih" descr="preencoded.png">    </p:cNvPr>
          <p:cNvPicPr>
            <a:picLocks noChangeAspect="1"/>
          </p:cNvPicPr>
          <p:nvPr/>
        </p:nvPicPr>
        <p:blipFill>
          <a:blip r:embed="rId1"/>
          <a:stretch>
            <a:fillRect/>
          </a:stretch>
        </p:blipFill>
        <p:spPr>
          <a:xfrm>
            <a:off x="7726680" y="658368"/>
            <a:ext cx="3962095" cy="5559552"/>
          </a:xfrm>
          <a:prstGeom prst="rect">
            <a:avLst/>
          </a:prstGeom>
        </p:spPr>
      </p:pic>
      <p:sp>
        <p:nvSpPr>
          <p:cNvPr id="19" name="text"/>
          <p:cNvSpPr txBox="1"/>
          <p:nvPr/>
        </p:nvSpPr>
        <p:spPr>
          <a:xfrm>
            <a:off x="502920" y="2148840"/>
            <a:ext cx="7040880" cy="868680"/>
          </a:xfrm>
          <a:prstGeom prst="rect">
            <a:avLst/>
          </a:prstGeom>
          <a:noFill/>
          <a:ln/>
        </p:spPr>
        <p:txBody>
          <a:bodyPr wrap="square" lIns="0" tIns="0" rIns="0" bIns="0" rtlCol="0" anchor="t"/>
          <a:lstStyle/>
          <a:p>
            <a:pPr algn="l" indent="0" marL="0">
              <a:lnSpc>
                <a:spcPct val="115000"/>
              </a:lnSpc>
              <a:buNone/>
            </a:pPr>
            <a:r>
              <a:rPr lang="en-US" sz="1600" dirty="0">
                <a:solidFill>
                  <a:srgbClr val="1A1A1C"/>
                </a:solidFill>
                <a:latin typeface="Outfit" pitchFamily="34" charset="0"/>
                <a:ea typeface="Outfit" pitchFamily="34" charset="-122"/>
                <a:cs typeface="Outfit" pitchFamily="34" charset="-120"/>
              </a:rPr>
              <a:t>Table 10.1, dipadatkan. Delegasi tetap dikendalikan lewat batas wewenang, control systems, insentif, dan budaya; sinergi lintas bisnis dipusatkan.</a:t>
            </a:r>
            <a:endParaRPr lang="en-US" sz="1600" dirty="0"/>
          </a:p>
        </p:txBody>
      </p:sp>
      <p:sp>
        <p:nvSpPr>
          <p:cNvPr id="20"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card"/>
          <p:cNvSpPr/>
          <p:nvPr/>
        </p:nvSpPr>
        <p:spPr>
          <a:xfrm>
            <a:off x="7891272" y="173736"/>
            <a:ext cx="1271016" cy="329184"/>
          </a:xfrm>
          <a:prstGeom prst="roundRect">
            <a:avLst>
              <a:gd name="adj" fmla="val 138889"/>
            </a:avLst>
          </a:prstGeom>
          <a:solidFill>
            <a:srgbClr val="D4FC00"/>
          </a:solidFill>
          <a:ln w="6350">
            <a:solidFill>
              <a:srgbClr val="D4FC00"/>
            </a:solidFill>
            <a:prstDash val="solid"/>
          </a:ln>
        </p:spPr>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pic>
        <p:nvPicPr>
          <p:cNvPr id="9" name="Tim gudang memeriksa tablet" descr="preencoded.png">    </p:cNvPr>
          <p:cNvPicPr>
            <a:picLocks noChangeAspect="1"/>
          </p:cNvPicPr>
          <p:nvPr/>
        </p:nvPicPr>
        <p:blipFill>
          <a:blip r:embed="rId1"/>
          <a:stretch>
            <a:fillRect/>
          </a:stretch>
        </p:blipFill>
        <p:spPr>
          <a:xfrm>
            <a:off x="6172200" y="658368"/>
            <a:ext cx="2880360" cy="2743200"/>
          </a:xfrm>
          <a:prstGeom prst="rect">
            <a:avLst/>
          </a:prstGeom>
        </p:spPr>
      </p:pic>
      <p:sp>
        <p:nvSpPr>
          <p:cNvPr id="10" name="card"/>
          <p:cNvSpPr/>
          <p:nvPr/>
        </p:nvSpPr>
        <p:spPr>
          <a:xfrm>
            <a:off x="5897880" y="1234440"/>
            <a:ext cx="685800" cy="685800"/>
          </a:xfrm>
          <a:prstGeom prst="roundRect">
            <a:avLst>
              <a:gd name="adj" fmla="val 21333"/>
            </a:avLst>
          </a:prstGeom>
          <a:solidFill>
            <a:srgbClr val="141417"/>
          </a:solidFill>
          <a:ln w="6350">
            <a:solidFill>
              <a:srgbClr val="141417"/>
            </a:solidFill>
            <a:prstDash val="solid"/>
          </a:ln>
        </p:spPr>
      </p:sp>
      <p:pic>
        <p:nvPicPr>
          <p:cNvPr id="11" name="star" descr="preencoded.png">    </p:cNvPr>
          <p:cNvPicPr>
            <a:picLocks noChangeAspect="1"/>
          </p:cNvPicPr>
          <p:nvPr/>
        </p:nvPicPr>
        <p:blipFill>
          <a:blip r:embed="rId2"/>
          <a:stretch>
            <a:fillRect/>
          </a:stretch>
        </p:blipFill>
        <p:spPr>
          <a:xfrm>
            <a:off x="6069330" y="1405890"/>
            <a:ext cx="342900" cy="342900"/>
          </a:xfrm>
          <a:prstGeom prst="rect">
            <a:avLst/>
          </a:prstGeom>
        </p:spPr>
      </p:pic>
      <p:pic>
        <p:nvPicPr>
          <p:cNvPr id="12" name="Tiga kolega berdiskusi" descr="preencoded.png">    </p:cNvPr>
          <p:cNvPicPr>
            <a:picLocks noChangeAspect="1"/>
          </p:cNvPicPr>
          <p:nvPr/>
        </p:nvPicPr>
        <p:blipFill>
          <a:blip r:embed="rId3"/>
          <a:stretch>
            <a:fillRect/>
          </a:stretch>
        </p:blipFill>
        <p:spPr>
          <a:xfrm>
            <a:off x="9235440" y="658368"/>
            <a:ext cx="2453335" cy="5120640"/>
          </a:xfrm>
          <a:prstGeom prst="rect">
            <a:avLst/>
          </a:prstGeom>
        </p:spPr>
      </p:pic>
      <p:sp>
        <p:nvSpPr>
          <p:cNvPr id="13" name="card"/>
          <p:cNvSpPr/>
          <p:nvPr/>
        </p:nvSpPr>
        <p:spPr>
          <a:xfrm>
            <a:off x="9921240" y="4297680"/>
            <a:ext cx="1767535" cy="1645920"/>
          </a:xfrm>
          <a:prstGeom prst="roundRect">
            <a:avLst>
              <a:gd name="adj" fmla="val 11111"/>
            </a:avLst>
          </a:prstGeom>
          <a:solidFill>
            <a:srgbClr val="D4FC00"/>
          </a:solidFill>
          <a:ln w="6350">
            <a:solidFill>
              <a:srgbClr val="D4FC00"/>
            </a:solidFill>
            <a:prstDash val="solid"/>
          </a:ln>
        </p:spPr>
      </p:sp>
      <p:sp>
        <p:nvSpPr>
          <p:cNvPr id="14" name="text"/>
          <p:cNvSpPr txBox="1"/>
          <p:nvPr/>
        </p:nvSpPr>
        <p:spPr>
          <a:xfrm>
            <a:off x="10104120" y="4389120"/>
            <a:ext cx="1508760" cy="731520"/>
          </a:xfrm>
          <a:prstGeom prst="rect">
            <a:avLst/>
          </a:prstGeom>
          <a:noFill/>
          <a:ln/>
        </p:spPr>
        <p:txBody>
          <a:bodyPr wrap="square" lIns="0" tIns="0" rIns="0" bIns="0" rtlCol="0" anchor="ctr"/>
          <a:lstStyle/>
          <a:p>
            <a:pPr algn="l" indent="0" marL="0">
              <a:lnSpc>
                <a:spcPct val="100000"/>
              </a:lnSpc>
              <a:buNone/>
            </a:pPr>
            <a:r>
              <a:rPr lang="en-US" sz="2000" dirty="0">
                <a:solidFill>
                  <a:srgbClr val="141417"/>
                </a:solidFill>
                <a:latin typeface="Outfit Medium" pitchFamily="34" charset="0"/>
                <a:ea typeface="Outfit Medium" pitchFamily="34" charset="-122"/>
                <a:cs typeface="Outfit Medium" pitchFamily="34" charset="-120"/>
              </a:rPr>
              <a:t>2 bentuk</a:t>
            </a:r>
            <a:endParaRPr lang="en-US" sz="2000" dirty="0"/>
          </a:p>
        </p:txBody>
      </p:sp>
      <p:sp>
        <p:nvSpPr>
          <p:cNvPr id="15" name="text"/>
          <p:cNvSpPr txBox="1"/>
          <p:nvPr/>
        </p:nvSpPr>
        <p:spPr>
          <a:xfrm>
            <a:off x="10104120" y="5138928"/>
            <a:ext cx="1508760" cy="777240"/>
          </a:xfrm>
          <a:prstGeom prst="rect">
            <a:avLst/>
          </a:prstGeom>
          <a:noFill/>
          <a:ln/>
        </p:spPr>
        <p:txBody>
          <a:bodyPr wrap="square" lIns="0" tIns="0" rIns="0" bIns="0" rtlCol="0" anchor="t"/>
          <a:lstStyle/>
          <a:p>
            <a:pPr algn="l" indent="0" marL="0">
              <a:lnSpc>
                <a:spcPct val="115000"/>
              </a:lnSpc>
              <a:buNone/>
            </a:pPr>
            <a:r>
              <a:rPr lang="en-US" sz="1300" dirty="0">
                <a:solidFill>
                  <a:srgbClr val="1A1A1C"/>
                </a:solidFill>
                <a:latin typeface="Outfit" pitchFamily="34" charset="0"/>
                <a:ea typeface="Outfit" pitchFamily="34" charset="-122"/>
                <a:cs typeface="Outfit" pitchFamily="34" charset="-120"/>
              </a:rPr>
              <a:t>network dan ecosystem</a:t>
            </a:r>
            <a:endParaRPr lang="en-US" sz="1300" dirty="0"/>
          </a:p>
        </p:txBody>
      </p:sp>
      <p:sp>
        <p:nvSpPr>
          <p:cNvPr id="16" name="text"/>
          <p:cNvSpPr txBox="1"/>
          <p:nvPr/>
        </p:nvSpPr>
        <p:spPr>
          <a:xfrm>
            <a:off x="502920" y="2377440"/>
            <a:ext cx="5394960" cy="201168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KOORDINASI KE DALAM DAN KE LUAR</a:t>
            </a:r>
            <a:endParaRPr lang="en-US" sz="3400" dirty="0"/>
          </a:p>
        </p:txBody>
      </p:sp>
      <p:sp>
        <p:nvSpPr>
          <p:cNvPr id="17" name="text"/>
          <p:cNvSpPr txBox="1"/>
          <p:nvPr/>
        </p:nvSpPr>
        <p:spPr>
          <a:xfrm>
            <a:off x="502920" y="4434840"/>
            <a:ext cx="5349240" cy="192024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Capability seperti speed-to-market melintasi banyak unit, sehingga kerja sama harus dirancang: tim lintas fungsi, project management office, dan kompensasi berbasis kinerja kelompok. Ke luar, kemitraan butuh relationship managers.</a:t>
            </a:r>
            <a:endParaRPr lang="en-US" sz="1800" dirty="0"/>
          </a:p>
        </p:txBody>
      </p:sp>
      <p:sp>
        <p:nvSpPr>
          <p:cNvPr id="18"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7"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8" name="text"/>
          <p:cNvSpPr txBox="1"/>
          <p:nvPr/>
        </p:nvSpPr>
        <p:spPr>
          <a:xfrm>
            <a:off x="502920" y="914400"/>
            <a:ext cx="6400800" cy="265176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ORGANISASI YANG MAMPU MENGEKSEKUSI</a:t>
            </a:r>
            <a:endParaRPr lang="en-US" sz="3800" dirty="0"/>
          </a:p>
        </p:txBody>
      </p:sp>
      <p:sp>
        <p:nvSpPr>
          <p:cNvPr id="9" name="card"/>
          <p:cNvSpPr/>
          <p:nvPr/>
        </p:nvSpPr>
        <p:spPr>
          <a:xfrm>
            <a:off x="502920" y="4023360"/>
            <a:ext cx="2148840" cy="1554480"/>
          </a:xfrm>
          <a:prstGeom prst="roundRect">
            <a:avLst>
              <a:gd name="adj" fmla="val 11765"/>
            </a:avLst>
          </a:prstGeom>
          <a:solidFill>
            <a:srgbClr val="E8E8E8"/>
          </a:solidFill>
          <a:ln w="6350">
            <a:solidFill>
              <a:srgbClr val="E8E8E8"/>
            </a:solidFill>
            <a:prstDash val="solid"/>
          </a:ln>
        </p:spPr>
      </p:sp>
      <p:sp>
        <p:nvSpPr>
          <p:cNvPr id="10" name="text"/>
          <p:cNvSpPr txBox="1"/>
          <p:nvPr/>
        </p:nvSpPr>
        <p:spPr>
          <a:xfrm>
            <a:off x="75895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Orang</a:t>
            </a:r>
            <a:endParaRPr lang="en-US" sz="2400" dirty="0"/>
          </a:p>
        </p:txBody>
      </p:sp>
      <p:sp>
        <p:nvSpPr>
          <p:cNvPr id="11" name="text"/>
          <p:cNvSpPr txBox="1"/>
          <p:nvPr/>
        </p:nvSpPr>
        <p:spPr>
          <a:xfrm>
            <a:off x="75895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Manajer dan karyawan yang tepat</a:t>
            </a:r>
            <a:endParaRPr lang="en-US" sz="1400" dirty="0"/>
          </a:p>
        </p:txBody>
      </p:sp>
      <p:sp>
        <p:nvSpPr>
          <p:cNvPr id="12" name="card"/>
          <p:cNvSpPr/>
          <p:nvPr/>
        </p:nvSpPr>
        <p:spPr>
          <a:xfrm>
            <a:off x="2834640" y="4023360"/>
            <a:ext cx="2148840" cy="1554480"/>
          </a:xfrm>
          <a:prstGeom prst="roundRect">
            <a:avLst>
              <a:gd name="adj" fmla="val 11765"/>
            </a:avLst>
          </a:prstGeom>
          <a:solidFill>
            <a:srgbClr val="D4FC00"/>
          </a:solidFill>
          <a:ln w="6350">
            <a:solidFill>
              <a:srgbClr val="D4FC00"/>
            </a:solidFill>
            <a:prstDash val="solid"/>
          </a:ln>
        </p:spPr>
      </p:sp>
      <p:sp>
        <p:nvSpPr>
          <p:cNvPr id="13" name="text"/>
          <p:cNvSpPr txBox="1"/>
          <p:nvPr/>
        </p:nvSpPr>
        <p:spPr>
          <a:xfrm>
            <a:off x="309067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Capability</a:t>
            </a:r>
            <a:endParaRPr lang="en-US" sz="2400" dirty="0"/>
          </a:p>
        </p:txBody>
      </p:sp>
      <p:sp>
        <p:nvSpPr>
          <p:cNvPr id="14" name="text"/>
          <p:cNvSpPr txBox="1"/>
          <p:nvPr/>
        </p:nvSpPr>
        <p:spPr>
          <a:xfrm>
            <a:off x="309067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1A1A1C"/>
                </a:solidFill>
                <a:latin typeface="Outfit" pitchFamily="34" charset="0"/>
                <a:ea typeface="Outfit" pitchFamily="34" charset="-122"/>
                <a:cs typeface="Outfit" pitchFamily="34" charset="-120"/>
              </a:rPr>
              <a:t>Dibangun, dibeli, atau diakses</a:t>
            </a:r>
            <a:endParaRPr lang="en-US" sz="1400" dirty="0"/>
          </a:p>
        </p:txBody>
      </p:sp>
      <p:sp>
        <p:nvSpPr>
          <p:cNvPr id="15" name="card"/>
          <p:cNvSpPr/>
          <p:nvPr/>
        </p:nvSpPr>
        <p:spPr>
          <a:xfrm>
            <a:off x="5166360" y="4023360"/>
            <a:ext cx="2148840" cy="1554480"/>
          </a:xfrm>
          <a:prstGeom prst="roundRect">
            <a:avLst>
              <a:gd name="adj" fmla="val 11765"/>
            </a:avLst>
          </a:prstGeom>
          <a:solidFill>
            <a:srgbClr val="141417"/>
          </a:solidFill>
          <a:ln w="6350">
            <a:solidFill>
              <a:srgbClr val="141417"/>
            </a:solidFill>
            <a:prstDash val="solid"/>
          </a:ln>
        </p:spPr>
      </p:sp>
      <p:sp>
        <p:nvSpPr>
          <p:cNvPr id="16" name="text"/>
          <p:cNvSpPr txBox="1"/>
          <p:nvPr/>
        </p:nvSpPr>
        <p:spPr>
          <a:xfrm>
            <a:off x="542239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FFFFFF"/>
                </a:solidFill>
                <a:latin typeface="Outfit Medium" pitchFamily="34" charset="0"/>
                <a:ea typeface="Outfit Medium" pitchFamily="34" charset="-122"/>
                <a:cs typeface="Outfit Medium" pitchFamily="34" charset="-120"/>
              </a:rPr>
              <a:t>Struktur</a:t>
            </a:r>
            <a:endParaRPr lang="en-US" sz="2400" dirty="0"/>
          </a:p>
        </p:txBody>
      </p:sp>
      <p:sp>
        <p:nvSpPr>
          <p:cNvPr id="17" name="text"/>
          <p:cNvSpPr txBox="1"/>
          <p:nvPr/>
        </p:nvSpPr>
        <p:spPr>
          <a:xfrm>
            <a:off x="542239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BDBDC2"/>
                </a:solidFill>
                <a:latin typeface="Outfit" pitchFamily="34" charset="0"/>
                <a:ea typeface="Outfit" pitchFamily="34" charset="-122"/>
                <a:cs typeface="Outfit" pitchFamily="34" charset="-120"/>
              </a:rPr>
              <a:t>Lima keputusan menata kerja</a:t>
            </a:r>
            <a:endParaRPr lang="en-US" sz="1400" dirty="0"/>
          </a:p>
        </p:txBody>
      </p:sp>
      <p:sp>
        <p:nvSpPr>
          <p:cNvPr id="18" name="text"/>
          <p:cNvSpPr txBox="1"/>
          <p:nvPr/>
        </p:nvSpPr>
        <p:spPr>
          <a:xfrm>
            <a:off x="502920" y="2880360"/>
            <a:ext cx="6766560" cy="1005840"/>
          </a:xfrm>
          <a:prstGeom prst="rect">
            <a:avLst/>
          </a:prstGeom>
          <a:noFill/>
          <a:ln/>
        </p:spPr>
        <p:txBody>
          <a:bodyPr wrap="square" lIns="0" tIns="0" rIns="0" bIns="0" rtlCol="0" anchor="t"/>
          <a:lstStyle/>
          <a:p>
            <a:pPr algn="l" indent="0" marL="0">
              <a:lnSpc>
                <a:spcPct val="120000"/>
              </a:lnSpc>
              <a:buNone/>
            </a:pPr>
            <a:r>
              <a:rPr lang="en-US" sz="1600" dirty="0">
                <a:solidFill>
                  <a:srgbClr val="1A1A1C"/>
                </a:solidFill>
                <a:latin typeface="Outfit" pitchFamily="34" charset="0"/>
                <a:ea typeface="Outfit" pitchFamily="34" charset="-122"/>
                <a:cs typeface="Outfit" pitchFamily="34" charset="-120"/>
              </a:rPr>
              <a:t>Capability yang tacit adalah pengetahuan yang sulit ditiru; network dan ecosystem menggeser competitive advantage menuju collaborative advantage (Kanter, 1994).</a:t>
            </a:r>
            <a:endParaRPr lang="en-US" sz="1600" dirty="0"/>
          </a:p>
        </p:txBody>
      </p:sp>
      <p:sp>
        <p:nvSpPr>
          <p:cNvPr id="19" name="pill"/>
          <p:cNvSpPr/>
          <p:nvPr/>
        </p:nvSpPr>
        <p:spPr>
          <a:xfrm>
            <a:off x="502920" y="5897880"/>
            <a:ext cx="2194560" cy="420624"/>
          </a:xfrm>
          <a:prstGeom prst="roundRect">
            <a:avLst>
              <a:gd name="adj" fmla="val 108696"/>
            </a:avLst>
          </a:prstGeom>
          <a:solidFill>
            <a:srgbClr val="F4F4F4"/>
          </a:solidFill>
          <a:ln w="9525">
            <a:solidFill>
              <a:srgbClr val="141417"/>
            </a:solidFill>
            <a:prstDash val="solid"/>
          </a:ln>
        </p:spPr>
      </p:sp>
      <p:sp>
        <p:nvSpPr>
          <p:cNvPr id="20" name="text"/>
          <p:cNvSpPr txBox="1"/>
          <p:nvPr/>
        </p:nvSpPr>
        <p:spPr>
          <a:xfrm>
            <a:off x="612648" y="5897880"/>
            <a:ext cx="197510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BAB 11 · MENGGERAKKAN</a:t>
            </a:r>
            <a:endParaRPr lang="en-US" sz="1200" dirty="0"/>
          </a:p>
        </p:txBody>
      </p:sp>
      <p:sp>
        <p:nvSpPr>
          <p:cNvPr id="21" name="pill"/>
          <p:cNvSpPr/>
          <p:nvPr/>
        </p:nvSpPr>
        <p:spPr>
          <a:xfrm>
            <a:off x="2880360" y="5897880"/>
            <a:ext cx="2194560" cy="420624"/>
          </a:xfrm>
          <a:prstGeom prst="roundRect">
            <a:avLst>
              <a:gd name="adj" fmla="val 108696"/>
            </a:avLst>
          </a:prstGeom>
          <a:solidFill>
            <a:srgbClr val="F4F4F4"/>
          </a:solidFill>
          <a:ln w="9525">
            <a:solidFill>
              <a:srgbClr val="141417"/>
            </a:solidFill>
            <a:prstDash val="solid"/>
          </a:ln>
        </p:spPr>
      </p:sp>
      <p:sp>
        <p:nvSpPr>
          <p:cNvPr id="22" name="text"/>
          <p:cNvSpPr txBox="1"/>
          <p:nvPr/>
        </p:nvSpPr>
        <p:spPr>
          <a:xfrm>
            <a:off x="2990088" y="5897880"/>
            <a:ext cx="197510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BAB 12 · MENOPANG</a:t>
            </a:r>
            <a:endParaRPr lang="en-US" sz="1200" dirty="0"/>
          </a:p>
        </p:txBody>
      </p:sp>
      <p:sp>
        <p:nvSpPr>
          <p:cNvPr id="23" name="pill"/>
          <p:cNvSpPr/>
          <p:nvPr/>
        </p:nvSpPr>
        <p:spPr>
          <a:xfrm>
            <a:off x="5257800" y="5897880"/>
            <a:ext cx="2194560" cy="420624"/>
          </a:xfrm>
          <a:prstGeom prst="roundRect">
            <a:avLst>
              <a:gd name="adj" fmla="val 108696"/>
            </a:avLst>
          </a:prstGeom>
          <a:solidFill>
            <a:srgbClr val="D4FC00"/>
          </a:solidFill>
          <a:ln w="9525">
            <a:solidFill>
              <a:srgbClr val="141417"/>
            </a:solidFill>
            <a:prstDash val="solid"/>
          </a:ln>
        </p:spPr>
      </p:sp>
      <p:sp>
        <p:nvSpPr>
          <p:cNvPr id="24" name="text"/>
          <p:cNvSpPr txBox="1"/>
          <p:nvPr/>
        </p:nvSpPr>
        <p:spPr>
          <a:xfrm>
            <a:off x="5367528" y="5897880"/>
            <a:ext cx="197510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4DX · DISIPLIN EKSEKUSI</a:t>
            </a:r>
            <a:endParaRPr lang="en-US" sz="1200" dirty="0"/>
          </a:p>
        </p:txBody>
      </p:sp>
      <p:pic>
        <p:nvPicPr>
          <p:cNvPr id="25" name="Bidak catur putih" descr="preencoded.png">    </p:cNvPr>
          <p:cNvPicPr>
            <a:picLocks noChangeAspect="1"/>
          </p:cNvPicPr>
          <p:nvPr/>
        </p:nvPicPr>
        <p:blipFill>
          <a:blip r:embed="rId1"/>
          <a:stretch>
            <a:fillRect/>
          </a:stretch>
        </p:blipFill>
        <p:spPr>
          <a:xfrm>
            <a:off x="7589520" y="658368"/>
            <a:ext cx="4099255" cy="6473952"/>
          </a:xfrm>
          <a:prstGeom prst="rect">
            <a:avLst/>
          </a:prstGeom>
        </p:spPr>
      </p:pic>
      <p:sp>
        <p:nvSpPr>
          <p:cNvPr id="2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Ruang rapat terang" descr="preencoded.png">    </p:cNvPr>
          <p:cNvPicPr>
            <a:picLocks noChangeAspect="1"/>
          </p:cNvPicPr>
          <p:nvPr/>
        </p:nvPicPr>
        <p:blipFill>
          <a:blip r:embed="rId1"/>
          <a:stretch>
            <a:fillRect/>
          </a:stretch>
        </p:blipFill>
        <p:spPr>
          <a:xfrm>
            <a:off x="502920" y="502920"/>
            <a:ext cx="11185855" cy="5852160"/>
          </a:xfrm>
          <a:prstGeom prst="rect">
            <a:avLst/>
          </a:prstGeom>
        </p:spPr>
      </p:pic>
      <p:sp>
        <p:nvSpPr>
          <p:cNvPr id="3" name="card"/>
          <p:cNvSpPr/>
          <p:nvPr/>
        </p:nvSpPr>
        <p:spPr>
          <a:xfrm>
            <a:off x="914400" y="4206240"/>
            <a:ext cx="4754880" cy="1188720"/>
          </a:xfrm>
          <a:prstGeom prst="roundRect">
            <a:avLst>
              <a:gd name="adj" fmla="val 10769"/>
            </a:avLst>
          </a:prstGeom>
          <a:solidFill>
            <a:srgbClr val="F4F4F4"/>
          </a:solidFill>
          <a:ln w="6350">
            <a:solidFill>
              <a:srgbClr val="F4F4F4"/>
            </a:solidFill>
            <a:prstDash val="solid"/>
          </a:ln>
        </p:spPr>
      </p:sp>
      <p:sp>
        <p:nvSpPr>
          <p:cNvPr id="4" name="text"/>
          <p:cNvSpPr txBox="1"/>
          <p:nvPr/>
        </p:nvSpPr>
        <p:spPr>
          <a:xfrm>
            <a:off x="1097280" y="4224528"/>
            <a:ext cx="4572000" cy="1152144"/>
          </a:xfrm>
          <a:prstGeom prst="rect">
            <a:avLst/>
          </a:prstGeom>
          <a:noFill/>
          <a:ln/>
        </p:spPr>
        <p:txBody>
          <a:bodyPr wrap="square" lIns="0" tIns="0" rIns="0" bIns="0" rtlCol="0" anchor="ctr"/>
          <a:lstStyle/>
          <a:p>
            <a:pPr algn="l" indent="0" marL="0">
              <a:lnSpc>
                <a:spcPct val="100000"/>
              </a:lnSpc>
              <a:buNone/>
            </a:pPr>
            <a:r>
              <a:rPr lang="en-US" sz="4000" dirty="0">
                <a:solidFill>
                  <a:srgbClr val="141417"/>
                </a:solidFill>
                <a:latin typeface="Outfit SemiBold" pitchFamily="34" charset="0"/>
                <a:ea typeface="Outfit SemiBold" pitchFamily="34" charset="-122"/>
                <a:cs typeface="Outfit SemiBold" pitchFamily="34" charset="-120"/>
              </a:rPr>
              <a:t>TERIMA KASIH</a:t>
            </a:r>
            <a:endParaRPr lang="en-US" sz="4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Outfit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utfi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an Organization Capable of Good Strategy Execution</dc:title>
  <dc:subject>PptxGenJS Presentation</dc:subject>
  <dc:creator>Kelompok 3</dc:creator>
  <cp:lastModifiedBy>Kelompok 3</cp:lastModifiedBy>
  <cp:revision>1</cp:revision>
  <dcterms:created xsi:type="dcterms:W3CDTF">2026-10-31T06:31:25Z</dcterms:created>
  <dcterms:modified xsi:type="dcterms:W3CDTF">2026-10-31T06:31:25Z</dcterms:modified>
</cp:coreProperties>
</file>