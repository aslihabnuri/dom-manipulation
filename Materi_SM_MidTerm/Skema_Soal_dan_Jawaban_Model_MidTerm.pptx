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37c19324-df67-d0fb-a66c-297d93fcf056}">
          <p14:sldIdLst>
            <p14:sldId id="256"/>
          </p14:sldIdLst>
        </p14:section>
        <p14:section name="Bagian 1: Bentuk Ujian yang Kemungkinan Keluar" id="{7040230f-671a-490f-3aad-3f5910e4a4bc}">
          <p14:sldIdLst>
            <p14:sldId id="257"/>
            <p14:sldId id="258"/>
            <p14:sldId id="259"/>
            <p14:sldId id="260"/>
          </p14:sldIdLst>
        </p14:section>
        <p14:section name="Bagian 2: Tipe A, Soal Perbandingan Konsep" id="{b74ce44f-bda7-063a-d459-80a3b282be26}">
          <p14:sldIdLst>
            <p14:sldId id="261"/>
            <p14:sldId id="262"/>
            <p14:sldId id="263"/>
            <p14:sldId id="264"/>
            <p14:sldId id="265"/>
            <p14:sldId id="266"/>
            <p14:sldId id="267"/>
          </p14:sldIdLst>
        </p14:section>
        <p14:section name="Bagian 3: Tipe B dan C, Penerapan Kasus dan Penilaian" id="{6afedcfd-efce-10ff-6965-404a5a1ebb34}">
          <p14:sldIdLst>
            <p14:sldId id="268"/>
            <p14:sldId id="269"/>
            <p14:sldId id="270"/>
            <p14:sldId id="271"/>
            <p14:sldId id="272"/>
            <p14:sldId id="273"/>
            <p14:sldId id="274"/>
          </p14:sldIdLst>
        </p14:section>
        <p14:section name="Bagian 4: Tipe D, Soal Gabungan &quot;Jika Anda CEO&quot;" id="{70a8f9c6-c15f-de88-17b0-04ea4c8e93ef}">
          <p14:sldIdLst>
            <p14:sldId id="275"/>
            <p14:sldId id="276"/>
            <p14:sldId id="277"/>
            <p14:sldId id="278"/>
            <p14:sldId id="279"/>
            <p14:sldId id="280"/>
          </p14:sldIdLst>
        </p14:section>
        <p14:section name="Bagian 5: Cara Berlatih dengan Dokumen Ini" id="{377e4633-fb5e-8e2e-e896-c4acb64751b2}">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3840480"/>
            <a:ext cx="11091672"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4" name="Text 0"/>
          <p:cNvSpPr/>
          <p:nvPr/>
        </p:nvSpPr>
        <p:spPr>
          <a:xfrm>
            <a:off x="548640" y="6400800"/>
            <a:ext cx="10177272" cy="274320"/>
          </a:xfrm>
          <a:prstGeom prst="rect">
            <a:avLst/>
          </a:prstGeom>
          <a:noFill/>
          <a:ln/>
        </p:spPr>
        <p:txBody>
          <a:bodyPr wrap="square" lIns="0" tIns="0" rIns="0" bIns="0" rtlCol="0" anchor="ctr"/>
          <a:lstStyle/>
          <a:p>
            <a:pPr indent="0" marL="0">
              <a:buNone/>
            </a:pPr>
            <a:r>
              <a:rPr lang="en-US" sz="1000" dirty="0">
                <a:solidFill>
                  <a:schemeClr val="accent3"/>
                </a:solidFill>
              </a:rPr>
              <a:t>MAN 5422 Strategic Management | Skema soal mid-term, versi slide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46520"/>
            <a:ext cx="10177272" cy="274320"/>
          </a:xfrm>
          <a:prstGeom prst="rect">
            <a:avLst/>
          </a:prstGeom>
          <a:noFill/>
          <a:ln/>
        </p:spPr>
        <p:txBody>
          <a:bodyPr wrap="square" lIns="0" tIns="0" rIns="0" bIns="0" rtlCol="0" anchor="ctr"/>
          <a:lstStyle/>
          <a:p>
            <a:pPr indent="0" marL="0">
              <a:buNone/>
            </a:pPr>
            <a:r>
              <a:rPr lang="en-US" sz="1000" dirty="0">
                <a:solidFill>
                  <a:schemeClr val="accent3"/>
                </a:solidFill>
              </a:rPr>
              <a:t>MAN 5422 Strategic Management | Skema soal mid-term, versi slide</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Skema Soal Mid-term dan Jawaban Model (versi slide)</a:t>
            </a:r>
            <a:endParaRPr lang="en-US" sz="3600" dirty="0"/>
          </a:p>
        </p:txBody>
      </p:sp>
      <p:sp>
        <p:nvSpPr>
          <p:cNvPr id="3"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r>
              <a:rPr lang="en-US" sz="1800" dirty="0">
                <a:solidFill>
                  <a:schemeClr val="bg2"/>
                </a:solidFill>
              </a:rPr>
              <a:t>Empat tipe soal dengan jawaban model yang mengikuti urutan berpikir dosen: posisi, alat, bukti, trade-off, keputusan, logika ekonomi, rencana. Disusun untuk belajar bersama Kelompok 3, MM UGM Jakarta.</a:t>
            </a:r>
            <a:endParaRPr lang="en-US" sz="1800" dirty="0"/>
          </a:p>
        </p:txBody>
      </p:sp>
      <p:sp>
        <p:nvSpPr>
          <p:cNvPr id="4" name="mark"/>
          <p:cNvSpPr/>
          <p:nvPr/>
        </p:nvSpPr>
        <p:spPr>
          <a:xfrm>
            <a:off x="548640" y="1828800"/>
            <a:ext cx="822960" cy="109728"/>
          </a:xfrm>
          <a:prstGeom prst="rect">
            <a:avLst/>
          </a:prstGeom>
          <a:solidFill>
            <a:srgbClr val="B08D2F"/>
          </a:solidFill>
          <a:ln w="12700">
            <a:solidFill>
              <a:srgbClr val="B08D2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Bagian 1: Bentuk Ujian yang Kemungkinan Keluar</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Apa yang pasti, apa yang kemungkinan besar, apa yang tebakan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sebelum masuk ke soal, kita perlu jujur tentang apa yang pasti dan apa yang tebakan, supaya kita tidak belajar untuk ujian yang salah.</a:t>
            </a:r>
            <a:endParaRPr lang="en-US" sz="1800" dirty="0"/>
          </a:p>
          <a:p>
            <a:pPr algn="l" indent="0" marL="0">
              <a:spcAft>
                <a:spcPts val="1000"/>
              </a:spcAft>
              <a:buNone/>
            </a:pPr>
            <a:r>
              <a:rPr lang="en-US" sz="1800" dirty="0">
                <a:solidFill>
                  <a:srgbClr val="1A1A1A"/>
                </a:solidFill>
              </a:rPr>
              <a:t>Yang pasti, dari silabus: ujian tengah semester berbobot 40 persen; cakupannya sesi 1 sampai 6, yaitu Bab 1 sampai Bab 5 buku Thompson dan kawan-kawan, kasus AirAsia dan Manchester United, serta framework yang dipresentasikan kelompok (Eisenhower Matrix, SCP, Benchmarking); dan laporan kasus kelompok dalam bentuk cetak dikumpulkan pada hari ujian.</a:t>
            </a:r>
            <a:endParaRPr lang="en-US" sz="1800" dirty="0"/>
          </a:p>
          <a:p>
            <a:pPr algn="l" indent="0" marL="0">
              <a:spcAft>
                <a:spcPts val="1000"/>
              </a:spcAft>
              <a:buNone/>
            </a:pPr>
            <a:r>
              <a:rPr lang="en-US" sz="1800" dirty="0">
                <a:solidFill>
                  <a:srgbClr val="1A1A1A"/>
                </a:solidFill>
              </a:rPr>
              <a:t>Yang kemungkinan besar, dari pola kelas: bentuknya esai analitis berbasis kasus atau mini-kasus, bukan pilihan ganda. Alasannya, silabus menilai "clarity and persuasiveness", kejelasan dan daya yakin, dan beliau berulang kali mengatakan bahwa pertanyaannya tidak punya jawaban benar atau salah; yang dinilai alur logika, dan wajib memakai framework. Kemungkinan besar pula ada soal yang memakai perusahaan Indonesia yang sering beliau contohkan: Garuda dan Citilink, Bluebird dan Gojek, BCA, AQUA, Honda dan Yamaha, Citibank dan CIMB, Ford Indonesia. Dan ada soal berbunyi "jika Anda CEO" yang menuntut rekomendasi yang bisa dijalankan dengan logika ekonomi.</a:t>
            </a:r>
            <a:endParaRPr lang="en-US" sz="1800" dirty="0"/>
          </a:p>
          <a:p>
            <a:pPr algn="l" indent="0" marL="0">
              <a:spcAft>
                <a:spcPts val="1000"/>
              </a:spcAft>
              <a:buNone/>
            </a:pPr>
            <a:r>
              <a:rPr lang="en-US" sz="1800" dirty="0">
                <a:solidFill>
                  <a:srgbClr val="1A1A1A"/>
                </a:solidFill>
              </a:rPr>
              <a:t>Yang tebakan: jumlah soal empat sampai enam esai dengan waktu dua sampai tiga jam. Tidak ada informasi format di silabus maupun rekaman, jadi jangan pegang angka ini terlalu erat.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Empat tipe soal dan pola jawabannya</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Dari pola beliau, soal bisa kita kelompokkan ke empat tipe. Mari kita kenali satu per satu, karena tiap tipe punya pola jawaban yang berbeda.</a:t>
            </a:r>
            <a:endParaRPr lang="en-US" sz="1600" dirty="0"/>
          </a:p>
          <a:p>
            <a:pPr algn="l" indent="0" marL="0">
              <a:spcAft>
                <a:spcPts val="1000"/>
              </a:spcAft>
              <a:buNone/>
            </a:pPr>
            <a:r>
              <a:rPr lang="en-US" sz="1600" dirty="0">
                <a:solidFill>
                  <a:srgbClr val="1A1A1A"/>
                </a:solidFill>
              </a:rPr>
              <a:t>Tipe A adalah soal perbandingan konsep: mengapa dua perusahaan di industri yang sama memilih strategi berbeda, apa beda visi, misi, dan objektif, mengapa financial objective saja tidak cukup. Pola jawaban yang bernilai tinggi: definisi singkat tiap konsep, framework yang menjelaskan perbedaannya, contoh, trade-off kedua pilihan, dan kesimpulan bahwa jawabannya bergantung pada positioning dan visi.</a:t>
            </a:r>
            <a:endParaRPr lang="en-US" sz="1600" dirty="0"/>
          </a:p>
          <a:p>
            <a:pPr algn="l" indent="0" marL="0">
              <a:spcAft>
                <a:spcPts val="1000"/>
              </a:spcAft>
              <a:buNone/>
            </a:pPr>
            <a:r>
              <a:rPr lang="en-US" sz="1600" dirty="0">
                <a:solidFill>
                  <a:srgbClr val="1A1A1A"/>
                </a:solidFill>
              </a:rPr>
              <a:t>Tipe B adalah penerapan framework pada kasus: analisis lingkungan luar dengan PESTEL dan Five Forces lalu simpulkan daya tariknya, atau jalankan VRIN pada resource tertentu. Pola jawabannya: jelaskan alat dan tujuannya, terapkan berlapis dari makro ke industri ke perusahaan dengan data, simpulkan, dan tarik akibatnya bagi strategi.</a:t>
            </a:r>
            <a:endParaRPr lang="en-US" sz="1600" dirty="0"/>
          </a:p>
          <a:p>
            <a:pPr algn="l" indent="0" marL="0">
              <a:spcAft>
                <a:spcPts val="1000"/>
              </a:spcAft>
              <a:buNone/>
            </a:pPr>
            <a:r>
              <a:rPr lang="en-US" sz="1600" dirty="0">
                <a:solidFill>
                  <a:srgbClr val="1A1A1A"/>
                </a:solidFill>
              </a:rPr>
              <a:t>Tipe C adalah penilaian setuju atau tidak setuju: tentang keputusan Tony Fernandes membuka rute London, atau tentang merger Garuda dan Citilink. Pola jawabannya: nyatakan posisi di kalimat pertama, tampilkan dua sisi dengan framework dan data, sebutkan risiko pilihan kita, lalu syarat agar keputusan berhasil.</a:t>
            </a:r>
            <a:endParaRPr lang="en-US" sz="1600" dirty="0"/>
          </a:p>
          <a:p>
            <a:pPr algn="l" indent="0" marL="0">
              <a:spcAft>
                <a:spcPts val="1000"/>
              </a:spcAft>
              <a:buNone/>
            </a:pPr>
            <a:r>
              <a:rPr lang="en-US" sz="1600" dirty="0">
                <a:solidFill>
                  <a:srgbClr val="1A1A1A"/>
                </a:solidFill>
              </a:rPr>
              <a:t>Tipe D adalah soal gabungan "jika Anda CEO": rekomendasikan strategi untuk perusahaan yang menghadapi gangguan besar. Pola jawabannya: driving force, posisi dan visi, dua sampai tiga alternatif dengan penilaian, pilihan dengan logika ekonomi, dan rencana aksi dengan langkah, ukuran, waktu, penanggung jawab, dan risiko.</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Enam pemeriksaan sebelum mengumpulkan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Sebelum mengumpulkan jawaban, biasakan memeriksa enam hal: apakah setiap framework sudah disebut dan didefinisikan sebelum dipakai; apakah luar dan dalam sudah dibedakan dengan benar; apakah dua sisi sudah ditampilkan sebelum memutuskan; apakah rekomendasi konsisten dengan positioning dan visi; apakah sudah ditutup dengan logika ekonomi dan langkah yang bisa dijalankan; dan apakah sudah memakai angka dari kasus, bukan hanya pendapat.</a:t>
            </a:r>
            <a:endParaRPr lang="en-US" sz="1800" dirty="0"/>
          </a:p>
          <a:p>
            <a:pPr algn="l" indent="0" marL="0">
              <a:spcAft>
                <a:spcPts val="1000"/>
              </a:spcAft>
              <a:buNone/>
            </a:pPr>
            <a:r>
              <a:rPr lang="en-US" sz="1800" dirty="0">
                <a:solidFill>
                  <a:srgbClr val="1A1A1A"/>
                </a:solidFill>
              </a:rPr>
              <a:t>Cara memakai dokumen ini: tiap soal diikuti jawaban model, lalu catatan kecil tentang apa yang dinilai. Jangan dihafal kata per kata. Yang perlu dihafal adalah urutannya dan angka-angka kuncinya. Kalau belajar berkelompok, satu orang membaca soal, yang lain mencoba menjawab lisan, baru dibandingkan dengan jawaban model.</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Bagian 2: Tipe A, Soal Perbandingan Konsep</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A1</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Jelaskan perbedaan misi, visi, dan objektif. Mana yang harus disusun lebih dulu, dan mengapa? Berikan contoh.</a:t>
            </a:r>
            <a:endParaRPr lang="en-US" sz="1200" dirty="0"/>
          </a:p>
          <a:p>
            <a:pPr algn="l" indent="0" marL="0">
              <a:spcAft>
                <a:spcPts val="1000"/>
              </a:spcAft>
              <a:buNone/>
            </a:pPr>
            <a:r>
              <a:rPr lang="en-US" sz="1200" dirty="0">
                <a:solidFill>
                  <a:srgbClr val="1A1A1A"/>
                </a:solidFill>
              </a:rPr>
              <a:t>Jawaban model. Teman-teman, ketiga kata ini sering diterjemahkan menjadi "tujuan" dalam bahasa Indonesia, padahal artinya sangat berbeda, dan justru di situlah kekeliruan biasanya dimulai. Misi menjawab mengapa organisasi ada. Ia berbicara tentang masa kini: siapa kita, apa yang kita lakukan, untuk siapa, dan apa yang membuat kita unik. Buku memberi contoh St. Jude, sebuah rumah sakit: yang dilakukan adalah penelitian dan pengobatan, untuk penyakit berat pada anak, dengan keunikan berupa penyembuhan dan pencegahan yang paling maju. Visi menjawab ke mana organisasi menuju. Ia berbicara tentang masa depan: kondisi ideal dua sampai sepuluh tahun lagi, yang menurut buku harus khas, spesifik, menatap ke depan, memandu keputusan, dan menginspirasi, dan menurut dosen harus ambisius serta sengaja tidak mudah dicapai, seperti kata "leading" dalam visi MM UGM. Contohnya Google: mengorganisasi informasi dunia agar bisa diakses dan berguna bagi semua orang. Objektif adalah ukuran kemajuan menuju visi yang dibuat SMART: spesifik, terukur, berbatas waktu, menantang, dan dapat dicapai, dengan kriteria buku "beyond immediate reach", sedikit di luar jangkauan langsung. Contohnya Lululemon: pendapatan 12,5 miliar dolar pada 2026 dan jumlah toko di China dari 95 menjadi 220.</a:t>
            </a:r>
            <a:endParaRPr lang="en-US" sz="1200" dirty="0"/>
          </a:p>
          <a:p>
            <a:pPr algn="l" indent="0" marL="0">
              <a:spcAft>
                <a:spcPts val="1000"/>
              </a:spcAft>
              <a:buNone/>
            </a:pPr>
            <a:r>
              <a:rPr lang="en-US" sz="1200" dirty="0">
                <a:solidFill>
                  <a:srgbClr val="1A1A1A"/>
                </a:solidFill>
              </a:rPr>
              <a:t>Urutan yang benar adalah misi, lalu visi, lalu objektif. Alasannya ada pada fungsi masing-masing. Misi adalah niat, dan niat adalah sumber tenaga; dosen memakai perumpamaan bensin yang membakar kita untuk sampai ke tujuan, dan merujuk semangat Imam Al-Ghazali bahwa niat harus diluruskan lebih dulu. Visi adalah tujuan perjalanan; perumpamaannya bintang di langit yang memotivasi dan menggerakkan, bukan untuk dicapai seketika. Objektif adalah tonggak di sepanjang jalan. Kalau visi ditetapkan tanpa misi, organisasi bisa mencapai posisi tinggi tetapi kehilangan makna, seperti seseorang yang ingin menjadi dosen dalam lima tahun tanpa pernah menjawab mengapa ia ingin menjadi dosen. Karena itu, ketika bagian-bagian di perusahaan berdebat apakah laba, pelanggan, atau karyawan yang harus didahulukan, jawaban CEO menurut beliau adalah "mission first", karena misi mempersatukan semua pihak.</a:t>
            </a:r>
            <a:endParaRPr lang="en-US" sz="1200" dirty="0"/>
          </a:p>
          <a:p>
            <a:pPr algn="l" indent="0" marL="0">
              <a:spcAft>
                <a:spcPts val="1000"/>
              </a:spcAft>
              <a:buNone/>
            </a:pPr>
            <a:r>
              <a:rPr lang="en-US" sz="1200" dirty="0">
                <a:solidFill>
                  <a:srgbClr val="1A1A1A"/>
                </a:solidFill>
              </a:rPr>
              <a:t>Trade-off yang perlu disebut supaya jawaban tidak satu sisi: visi yang terlalu mudah dicapai tidak memotivasi, tetapi visi yang terlalu jauh dianggap tidak masuk akal; objektif yang menantang bisa menurunkan semangat bila tidak dapat dicapai, sehingga buku memakai konsep stretch objective untuk menyeimbangkan keduanya, dengan contoh SpaceX dan Alibaba. Dan secara praktis, misi, visi, dan objektif adalah lapisan yang paling sulit diubah dalam urutan perubahan; yang mudah diubah adalah prosedur, lalu anggaran, lalu program.</a:t>
            </a:r>
            <a:endParaRPr lang="en-US" sz="1200" dirty="0"/>
          </a:p>
          <a:p>
            <a:pPr algn="l" indent="0" marL="0">
              <a:spcAft>
                <a:spcPts val="1000"/>
              </a:spcAft>
              <a:buNone/>
            </a:pPr>
            <a:r>
              <a:rPr lang="en-US" sz="1200" dirty="0">
                <a:solidFill>
                  <a:srgbClr val="1A1A1A"/>
                </a:solidFill>
              </a:rPr>
              <a:t>Apa yang dinilai: definisi yang tajam untuk tiga kata, urutan beserta alasannya, satu contoh per kata, dan trade-off. Jawaban yang hanya mendefinisikan tanpa menjelaskan urutan akan kehilangan sebagian besar nilai.</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A2</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300" dirty="0">
                <a:solidFill>
                  <a:srgbClr val="1A1A1A"/>
                </a:solidFill>
              </a:rPr>
              <a:t>Jika setiap keputusan strategis mempunyai logika ekonomi, mengapa perusahaan masih memerlukan strategic objective di samping financial objective? Jelaskan dengan Balanced Scorecard dan Strategy Map.</a:t>
            </a:r>
            <a:endParaRPr lang="en-US" sz="1300" dirty="0"/>
          </a:p>
          <a:p>
            <a:pPr algn="l" indent="0" marL="0">
              <a:spcAft>
                <a:spcPts val="1000"/>
              </a:spcAft>
              <a:buNone/>
            </a:pPr>
            <a:r>
              <a:rPr lang="en-US" sz="1300" dirty="0">
                <a:solidFill>
                  <a:srgbClr val="1A1A1A"/>
                </a:solidFill>
              </a:rPr>
              <a:t>Jawaban model. Pertanyaan ini diajukan sendiri oleh dosen di kelas, jadi jawabannya harus lengkap. Financial objective mengukur hasil ekonomi: pendapatan, laba, return on equity, arus kas. Strategic objective mengukur posisi bersaing di masa depan: pangsa pasar, mutu produk, kekuatan merek, kapabilitas teknologi, jumlah toko. Keduanya dibedakan buku dalam Table 2.3, dan contoh Lululemon menunjukkan bahwa hubungannya bukan sejajar melainkan berurutan: pendapatan 12,5 miliar dolar adalah hasil dari 220 toko di China yang berhasil dibuka, bukan target yang berdiri sendiri.</a:t>
            </a:r>
            <a:endParaRPr lang="en-US" sz="1300" dirty="0"/>
          </a:p>
          <a:p>
            <a:pPr algn="l" indent="0" marL="0">
              <a:spcAft>
                <a:spcPts val="1000"/>
              </a:spcAft>
              <a:buNone/>
            </a:pPr>
            <a:r>
              <a:rPr lang="en-US" sz="1300" dirty="0">
                <a:solidFill>
                  <a:srgbClr val="1A1A1A"/>
                </a:solidFill>
              </a:rPr>
              <a:t>Alasan pertama mengapa strategic objective diperlukan adalah soal waktu bertindak. Financial objective adalah lagging indicator: ia mencerminkan hasil yang sudah terjadi dan tidak bisa diperbaiki lagi, seperti kaca spion. Strategic objective adalah leading indicator: ia mencerminkan proses yang masih berjalan dan masih bisa diperbaiki, seperti kaca depan. CEO menekankan strategic objective bukan karena lebih penting, melainkan karena di situlah masih ada ruang bertindak. Alasan kedua adalah bias bagian. Orang keuangan akan berkata laba dulu, orang pemasaran pelanggan dulu, orang HR karyawan dulu; semuanya benar di bagiannya dan semuanya bias. Sudut pandang strategis memberi helicopter view, pandangan dari atas, yang menunjukkan bahwa semua bagian saling bergantung, dan itulah alasan alat yang dipakai disebut Balanced Scorecard, kartu nilai yang seimbang. Alat ini memandang perusahaan dari empat sudut: keuangan, pelanggan, proses internal, dan pembelajaran, yang mewakili empat fungsi utama perusahaan. Bobotnya tidak harus sama; ia bergantung pada strategi dan tingkat jabatan, misalnya 60 persen keuangan di tingkat unit besar dan bobot pelanggan yang lebih besar di tingkat relationship manager, tetapi keempatnya harus saling terhubung dan sudut keuangan harus tetap ada.</a:t>
            </a:r>
            <a:endParaRPr lang="en-US" sz="1300" dirty="0"/>
          </a:p>
          <a:p>
            <a:pPr algn="l" indent="0" marL="0">
              <a:spcAft>
                <a:spcPts val="1000"/>
              </a:spcAft>
              <a:buNone/>
            </a:pPr>
            <a:r>
              <a:rPr lang="en-US" sz="1300" dirty="0">
                <a:solidFill>
                  <a:srgbClr val="1A1A1A"/>
                </a:solidFill>
              </a:rPr>
              <a:t>Strategy Map menjelaskan hubungan sebab-akibatnya dari bawah ke atas: pembelajaran dan pertumbuhan menghasilkan proses internal yang baik, proses internal menghasilkan pelanggan yang puas, pelanggan yang puas menghasilkan hasil keuangan. Rantai itu, menurut dosen, bahkan melingkar: laba membiayai insentif, insentif membangun kesetiaan karyawan, karyawan menjalankan operasi, operasi menghasilkan layanan, layanan menghasilkan pelanggan setia, pelanggan menghasilkan penjualan, penjualan menghasilkan laba. Karena itu pembahasan pencapaian harus dimulai dari pondasi, bukan dari angka keuangan.</a:t>
            </a:r>
            <a:endParaRPr lang="en-US" sz="13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A2 (lanjutan)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Bukti dari kelas adalah AQUA saat pandemi. Danone punya kekuatan keuangan untuk menurunkan harga di bawah pesaing dan mengejar target pendapatan kuartalan. Tetapi positioning AQUA sebagai merek premium menuntut harga tetap 105 persen dari pesaing terdekat; menurunkan harga akan merusak posisi strategisnya. Danone memilih tidak mengorbankan strategic objective demi financial objective jangka pendek. Kesimpulannya: keduanya tidak bisa dipisahkan. Keuangan tanpa strategis membuat perusahaan mengorbankan masa depan demi hasil hari ini; strategis tanpa keuangan tidak bisa dibiayai.</a:t>
            </a:r>
            <a:endParaRPr lang="en-US" sz="1800" dirty="0"/>
          </a:p>
          <a:p>
            <a:pPr algn="l" indent="0" marL="0">
              <a:spcAft>
                <a:spcPts val="1000"/>
              </a:spcAft>
              <a:buNone/>
            </a:pPr>
            <a:r>
              <a:rPr lang="en-US" sz="1800" dirty="0">
                <a:solidFill>
                  <a:srgbClr val="1A1A1A"/>
                </a:solidFill>
              </a:rPr>
              <a:t>Apa yang dinilai: perumpamaan kaca spion dan kaca depan, empat sudut Balanced Scorecard beserta alasan bobotnya, arah sebab-akibat Strategy Map dari bawah ke atas, dan contoh AQUA. Jawaban yang menempatkan keuangan di dasar peta, bukan di puncak, akan langsung terbaca keliru.</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A3</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Mengapa Honda tetap fokus sementara Yamaha berdiversifikasi, dan mengapa Citibank membangun bank dari nol sementara CIMB mengakuisisi bank lokal, padahal masing-masing pasangan berada di industri yang sama? Framework apa yang menjelaskannya?</a:t>
            </a:r>
            <a:endParaRPr lang="en-US" sz="1200" dirty="0"/>
          </a:p>
          <a:p>
            <a:pPr algn="l" indent="0" marL="0">
              <a:spcAft>
                <a:spcPts val="1000"/>
              </a:spcAft>
              <a:buNone/>
            </a:pPr>
            <a:r>
              <a:rPr lang="en-US" sz="1200" dirty="0">
                <a:solidFill>
                  <a:srgbClr val="1A1A1A"/>
                </a:solidFill>
              </a:rPr>
              <a:t>Jawaban model. Framework yang menjelaskannya ada dua, dan keduanya dari kelas: kerangka ABC, yang menyatakan bahwa pilihan strategis adalah fungsi dari positioning dan visi, dan Strategy Diamond dari Hambrick dan Fredrickson, yang memecah strategi menjadi arena (di mana bermain), vehicle (cara masuk), differentiator (pembeda), staging (urutan dan kecepatan), dan economic logic (logika ekonomi).</a:t>
            </a:r>
            <a:endParaRPr lang="en-US" sz="1200" dirty="0"/>
          </a:p>
          <a:p>
            <a:pPr algn="l" indent="0" marL="0">
              <a:spcAft>
                <a:spcPts val="1000"/>
              </a:spcAft>
              <a:buNone/>
            </a:pPr>
            <a:r>
              <a:rPr lang="en-US" sz="1200" dirty="0">
                <a:solidFill>
                  <a:srgbClr val="1A1A1A"/>
                </a:solidFill>
              </a:rPr>
              <a:t>Honda dan Yamaha adalah keputusan arena, tentang seberapa luas produk. Logika ekonomi keduanya berbeda. Fokus seperti Honda mengejar economies of scale: makin besar volume satu jenis produk, makin rendah biaya per unit karena biaya tetap disebar ke lebih banyak unit; contoh ekstremnya Coca-Cola yang bisa menjual minuman bersoda seharga air mineral dan menjadikan skalanya sebagai hambatan masuk bagi RC Cola dan Pepsi. Diversifikasi seperti Yamaha mengejar economies of scope: berbagai lini produk, dari alat musik sampai motor dan jet ski, berbagi riset, distribusi, merek, dan pemasaran, dan portofolio yang luas menjadi penyebar risiko. Trade-off-nya nyata dan harus disebut. Perusahaan fokus punya kesadaran merek yang lebih kuat, tetapi rentan bila lingkungan berubah; jangan menaruh semua telur di satu keranjang. Perusahaan terdiversifikasi lebih aman, tetapi identitas mereknya terpecah dan ia menanggung biaya pabrik yang berbeda-beda; economies of scope hanya bernilai bila benar-benar ada kegiatan yang dibagi bersama, kalau tidak justru merugikan.</a:t>
            </a:r>
            <a:endParaRPr lang="en-US" sz="1200" dirty="0"/>
          </a:p>
          <a:p>
            <a:pPr algn="l" indent="0" marL="0">
              <a:spcAft>
                <a:spcPts val="1000"/>
              </a:spcAft>
              <a:buNone/>
            </a:pPr>
            <a:r>
              <a:rPr lang="en-US" sz="1200" dirty="0">
                <a:solidFill>
                  <a:srgbClr val="1A1A1A"/>
                </a:solidFill>
              </a:rPr>
              <a:t>Citibank dan CIMB adalah keputusan vehicle, cara masuk. Citibank memposisikan diri di corporate banking dengan sasaran perusahaan-perusahaan Amerika yang beroperasi di Indonesia; ia tidak butuh nasabah perorangan lokal, sehingga membangun sendiri atau greenfield adalah kendaraan yang tepat. CIMB memposisikan diri di retail; ia butuh basis nasabah yang sudah ada, sehingga akuisisi atau brownfield lebih masuk akal, sama seperti Danone yang membeli AQUA terutama untuk jaringan distribusinya. Trade-off-nya: membangun sendiri lebih murah dan lebih terkendali tetapi lambat; mengakuisisi lebih cepat tetapi mahal dan berisiko saat menyatukan.</a:t>
            </a:r>
            <a:endParaRPr lang="en-US" sz="1200" dirty="0"/>
          </a:p>
          <a:p>
            <a:pPr algn="l" indent="0" marL="0">
              <a:spcAft>
                <a:spcPts val="1000"/>
              </a:spcAft>
              <a:buNone/>
            </a:pPr>
            <a:r>
              <a:rPr lang="en-US" sz="1200" dirty="0">
                <a:solidFill>
                  <a:srgbClr val="1A1A1A"/>
                </a:solidFill>
              </a:rPr>
              <a:t>Kedua pasangan menunjukkan satu pelajaran yang sama: perusahaan dalam industri yang sama bisa berperilaku sangat berbeda karena positioning dan visinya berbeda, dan karena sudut pandang CEO-nya berbeda, sebagaimana P kelima (perspective) dalam 5P Mintzberg. Jawaban yang menyatakan salah satu pilihan "lebih benar" akan dinilai dangkal; yang dinilai adalah konsistensi pilihan dengan posisi dan visi, serta kejelasan logika ekonominya.</a:t>
            </a:r>
            <a:endParaRPr lang="en-US" sz="1200" dirty="0"/>
          </a:p>
          <a:p>
            <a:pPr algn="l" indent="0" marL="0">
              <a:spcAft>
                <a:spcPts val="1000"/>
              </a:spcAft>
              <a:buNone/>
            </a:pPr>
            <a:r>
              <a:rPr lang="en-US" sz="1200" dirty="0">
                <a:solidFill>
                  <a:srgbClr val="1A1A1A"/>
                </a:solidFill>
              </a:rPr>
              <a:t>Apa yang dinilai: menyebut ABC dan Strategy Diamond, memetakan tiap pasangan ke unsur yang tepat (arena dan vehicle), menjelaskan scale melawan scope, dan menolak menjawab "mana yang lebih benar".</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A4</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Jelaskan mengapa PESTEL tidak langsung memengaruhi perusahaan, dan bagaimana hubungannya dengan Porter's Five Forces. Gunakan industri penerbangan sebagai contoh.</a:t>
            </a:r>
            <a:endParaRPr lang="en-US" sz="1200" dirty="0"/>
          </a:p>
          <a:p>
            <a:pPr algn="l" indent="0" marL="0">
              <a:spcAft>
                <a:spcPts val="1000"/>
              </a:spcAft>
              <a:buNone/>
            </a:pPr>
            <a:r>
              <a:rPr lang="en-US" sz="1200" dirty="0">
                <a:solidFill>
                  <a:srgbClr val="1A1A1A"/>
                </a:solidFill>
              </a:rPr>
              <a:t>Jawaban model. PESTEL adalah alat untuk memetakan lingkungan makro: faktor politik, ekonomi, sosial budaya, teknologi, lingkungan, dan hukum. Tujuannya menemukan faktor makro yang benar-benar relevan bagi perusahaan. Tetapi dampak faktor makro berjenjang. Dosen menggambarnya sebagai tiga lingkaran bertingkat: lingkungan makro di luar, industri di tengah, perusahaan di dalam. Faktor makro memengaruhi industri lebih dulu, mengubah struktur dan kerasnya persaingan, dan baru lewat industri itulah ia memengaruhi perusahaan. Five Forces adalah alat untuk membaca lapisan tengah itu: ia menilai seberapa menarik sebuah industri lewat lima kekuatan, dan ukuran daya tarik industri adalah profitabilitas.</a:t>
            </a:r>
            <a:endParaRPr lang="en-US" sz="1200" dirty="0"/>
          </a:p>
          <a:p>
            <a:pPr algn="l" indent="0" marL="0">
              <a:spcAft>
                <a:spcPts val="1000"/>
              </a:spcAft>
              <a:buNone/>
            </a:pPr>
            <a:r>
              <a:rPr lang="en-US" sz="1200" dirty="0">
                <a:solidFill>
                  <a:srgbClr val="1A1A1A"/>
                </a:solidFill>
              </a:rPr>
              <a:t>Contoh penerbangan menunjukkan rantainya dengan jelas. Faktor makro yang menjadi driving force adalah deregulasi, perubahan di aspek hukum: di Amerika pada akhir 1970-an di bawah Alfred Kahn setelah kajian Stephen Breyer, di Indonesia lewat Open Sky Policy 1998. Sebelum deregulasi, Civil Aeronautics Board mengatur rute, tarif, bahkan ukuran roti lapis, dan aturan itu melindungi pemain besar seperti Pan Am; aturan berfungsi sebagai hambatan masuk. Deregulasi meruntuhkan hambatan itu. Dampaknya ke industri terbaca lewat lima kekuatan: ancaman pendatang baru naik karena izin mudah dan pesawat bisa disewa; persaingan naik karena pemain bertambah dan produk serupa; kekuatan pembeli naik karena penumpang bisa pindah tanpa biaya dan aplikasi pemesanan membuat harga terbuka; kekuatan pemasok tetap tinggi karena pesawat hanya dari Boeing dan Airbus, avtur mengikuti harga minyak, bandara tidak bisa ditawar, dan pilot mahal; dan kursi yang hangus begitu pesawat lepas landas memaksa setiap maskapai menjual dengan harga berapa pun daripada kosong. Hasilnya, harga turun sementara biaya naik, margin tertekan, dan laba industri rendah secara struktural. Baru di tahap terakhir dampaknya sampai ke perusahaan: Garuda jarang untung berkelanjutan, Pan Am tumbang, dan pada 2008 hampir semua maskapai di dunia rugi. Pembandingnya adalah farmasi yang labanya tinggi secara struktural karena lima kekuatannya jauh lebih ramah.</a:t>
            </a:r>
            <a:endParaRPr lang="en-US" sz="1200" dirty="0"/>
          </a:p>
          <a:p>
            <a:pPr algn="l" indent="0" marL="0">
              <a:spcAft>
                <a:spcPts val="1000"/>
              </a:spcAft>
              <a:buNone/>
            </a:pPr>
            <a:r>
              <a:rPr lang="en-US" sz="1200" dirty="0">
                <a:solidFill>
                  <a:srgbClr val="1A1A1A"/>
                </a:solidFill>
              </a:rPr>
              <a:t>Akibatnya bagi perusahaan: dalam industri yang tidak menarik, laba hanya datang dari posisi yang jelas, biaya rendah atau diferensiasi, seperti AirAsia dengan 11,66 sen per kursi per kilometer melawan 22,80 sen di Malaysia Airlines. Dan kesalahan yang harus dihindari adalah melompat dari PESTEL langsung ke strategi perusahaan tanpa membaca lapisan industri, sebagaimana dikoreksi dosen ketika seorang mahasiswa memetakan strategi rantai pasok AirAsia langsung dari PESTEL.</a:t>
            </a:r>
            <a:endParaRPr lang="en-US" sz="1200" dirty="0"/>
          </a:p>
          <a:p>
            <a:pPr algn="l" indent="0" marL="0">
              <a:spcAft>
                <a:spcPts val="1000"/>
              </a:spcAft>
              <a:buNone/>
            </a:pPr>
            <a:r>
              <a:rPr lang="en-US" sz="1200" dirty="0">
                <a:solidFill>
                  <a:srgbClr val="1A1A1A"/>
                </a:solidFill>
              </a:rPr>
              <a:t>Apa yang dinilai: tiga lingkaran, satu driving force yang jelas, lima kekuatan yang masing-masing dijelaskan arahnya, kesimpulan profitabilitas, dan baru kemudian akibat bagi perusahaan. Urutannya adalah nilainya.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A5</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Apa perbedaan competence, distinctive competence, dan core competence? Mengapa resource yang lolos uji VRIN masih bisa kehilangan keunggulannya?</a:t>
            </a:r>
            <a:endParaRPr lang="en-US" sz="1200" dirty="0"/>
          </a:p>
          <a:p>
            <a:pPr algn="l" indent="0" marL="0">
              <a:spcAft>
                <a:spcPts val="1000"/>
              </a:spcAft>
              <a:buNone/>
            </a:pPr>
            <a:r>
              <a:rPr lang="en-US" sz="1200" dirty="0">
                <a:solidFill>
                  <a:srgbClr val="1A1A1A"/>
                </a:solidFill>
              </a:rPr>
              <a:t>Jawaban model. Competence adalah kegiatan yang sudah dikuasai perusahaan dan dikerjakan secara ajek dengan biaya wajar; hampir semua produsen sereal punya kemampuan pemasaran yang memadai. Distinctive competence adalah kemampuan mengerjakan kegiatan itu lebih baik dari pesaing. Core competence adalah kegiatan yang dikerjakan dengan cakap dan berada di jantung strategi perusahaan serta menjadi mesin pertumbuhannya: Procter and Gamble di pengelolaan merek, Nike di desain dan pemasaran, Kellogg di sereal. VRIN adalah empat uji untuk menentukan apakah sebuah resource atau kapabilitas bisa menjadi sumber keunggulan yang tahan lama: valuable (bernilai) dan rare (langka) menentukan apakah ia menciptakan keunggulan; inimitable (sulit ditiru) dan nonsubstitutable (tidak tergantikan) menentukan apakah keunggulan itu bisa dipertahankan terhadap pesaing. Sumber kesulitan meniru ada empat: keunikan fisik, path dependency (jalan panjang yang tidak bisa dipercepat), causal ambiguity (pesaing tidak tahu persis sebabnya), dan social complexity (budaya dan hubungan yang rumit).</a:t>
            </a:r>
            <a:endParaRPr lang="en-US" sz="1200" dirty="0"/>
          </a:p>
          <a:p>
            <a:pPr algn="l" indent="0" marL="0">
              <a:spcAft>
                <a:spcPts val="1000"/>
              </a:spcAft>
              <a:buNone/>
            </a:pPr>
            <a:r>
              <a:rPr lang="en-US" sz="1200" dirty="0">
                <a:solidFill>
                  <a:srgbClr val="1A1A1A"/>
                </a:solidFill>
              </a:rPr>
              <a:t>Resource yang lolos VRIN tetap bisa kehilangan keunggulannya karena VRIN menguji satu jenis ancaman saja: serangan pesaing. Ia tidak menguji risiko dari dalam dan dari waktu: orang kunci pensiun, teknologi usang, selera pelanggan bergeser. Buku menyebutnya "from diamonds to rust", dari berlian menjadi karat, dan jawabannya adalah dynamic capability, kemampuan terus-menerus mengubah, memperdalam, dan menambah resource, seperti perbaikan kecil berkelanjutan Toyota atau kerja sama GM dengan LG. Contoh kasus yang paling jelas adalah Manchester United. "Sistem Ferguson" lolos keempat uji: bernilai karena menghasilkan hat-trick liga, langka karena tidak ada manajer dengan masa jabatan sebanding, sulit ditiru karena penentu performa tim "defies analysis" dan tertanam dalam budaya 23 tahun, dan tidak tergantikan karena jalan pintas pesaing, membeli bintang dengan uang seperti Real Madrid dan Chelsea, gagal mencapai kebesaran. Tetapi resource itu melekat pada satu orang berusia 68 tahun yang akan pensiun, dan preseden pasca-Busby, delapan belas tahun tanpa gelar liga, menunjukkan apa yang terjadi bila kapabilitas tidak dipindahkan dari orang ke organisasi. Catatan dosen harus dipegang: dynamic capability "bagus tapi tidak operasional" kalau berhenti sebagai nama; ia harus diterjemahkan menjadi tindakan, misalnya melembagakan sistem scouting, akademi, dan rotasi menjadi rutinitas klub sebelum Ferguson pergi.</a:t>
            </a:r>
            <a:endParaRPr lang="en-US" sz="1200" dirty="0"/>
          </a:p>
          <a:p>
            <a:pPr algn="l" indent="0" marL="0">
              <a:spcAft>
                <a:spcPts val="1000"/>
              </a:spcAft>
              <a:buNone/>
            </a:pPr>
            <a:r>
              <a:rPr lang="en-US" sz="1200" dirty="0">
                <a:solidFill>
                  <a:srgbClr val="1A1A1A"/>
                </a:solidFill>
              </a:rPr>
              <a:t>Apa yang dinilai: tiga tingkat competence dengan contoh, empat uji VRIN dengan pembagian fungsinya (dua pertama menciptakan, dua terakhir mempertahankan), batas VRIN, dan dynamic capability yang dibuat nyata dengan contoh MU.</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Bagian 3: Tipe B dan C, Penerapan Kasus dan Penilaian</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B1</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Dengan framework Bab 3, nilailah apakah keunggulan biaya AirAsia dapat dipindahkan ke rute jarak jauh melalui AirAsia X. Apa yang menentukan transferability?</a:t>
            </a:r>
            <a:endParaRPr lang="en-US" sz="1200" dirty="0"/>
          </a:p>
          <a:p>
            <a:pPr algn="l" indent="0" marL="0">
              <a:spcAft>
                <a:spcPts val="1000"/>
              </a:spcAft>
              <a:buNone/>
            </a:pPr>
            <a:r>
              <a:rPr lang="en-US" sz="1200" dirty="0">
                <a:solidFill>
                  <a:srgbClr val="1A1A1A"/>
                </a:solidFill>
              </a:rPr>
              <a:t>Jawaban model. Kalimat pembukanya harus mengikuti koreksi dosen: transferability, yaitu kemampuan memindahkan keunggulan ke tempat baru, dalam kerangka Bab 3 ditentukan oleh lingkungan luar rute baru, bukan oleh resource di dalam. Contoh beliau adalah Ford yang sukses di Amerika, gagal di Indonesia, dan pindah ke Thailand; yang berbeda adalah lingkungannya, bukan resource-nya.</a:t>
            </a:r>
            <a:endParaRPr lang="en-US" sz="1200" dirty="0"/>
          </a:p>
          <a:p>
            <a:pPr algn="l" indent="0" marL="0">
              <a:spcAft>
                <a:spcPts val="1000"/>
              </a:spcAft>
              <a:buNone/>
            </a:pPr>
            <a:r>
              <a:rPr lang="en-US" sz="1200" dirty="0">
                <a:solidFill>
                  <a:srgbClr val="1A1A1A"/>
                </a:solidFill>
              </a:rPr>
              <a:t>Langkah pertama, lapisan makro rute jauh. Secara hukum, rute internasional bergantung pada perjanjian antarnegara dan kepemilikan asing dibatasi. Secara ekonomi, avtur memakan 47 persen biaya dan A340 ke London boros. Secara sosial, penumpang rute jauh menuntut kursi yang lebih nyaman dan makanan, berbeda dari penumpang tiga jam. Langkah kedua, lapisan industri rute jauh dengan Five Forces. Pesaingnya bukan lagi sesama maskapai murah, melainkan network carriers seperti Emirates, British Airways, dan Malaysia Airlines internasional, yang punya jaringan pengumpan, tiket terusan, dan bisa menurunkan tarif ekonomi tanpa kehilangan laba total karena ditopang kelas premium. Pembeli di rute London bukan pasar baru yang diciptakan, melainkan penumpang maskapai mapan yang harus direbut. Pemasok tetap kuat. Satu-satunya kekuatan yang ramah adalah substitusi, karena tidak ada pengganti untuk penerbangan antarbenua. Langkah ketiga, strategic group: AirAsia X pindah dari kelompok maskapai murah regional ke kelompok maskapai murah jarak jauh yang hampir kosong, dan pindah kelompok berarti melawan model laba yang berbeda. Langkah keempat, key success factors rute jauh berbeda: penumpang transit, kursi premium, biaya kru dan katering yang membesar.</a:t>
            </a:r>
            <a:endParaRPr lang="en-US" sz="1200" dirty="0"/>
          </a:p>
          <a:p>
            <a:pPr algn="l" indent="0" marL="0">
              <a:spcAft>
                <a:spcPts val="1000"/>
              </a:spcAft>
              <a:buNone/>
            </a:pPr>
            <a:r>
              <a:rPr lang="en-US" sz="1200" dirty="0">
                <a:solidFill>
                  <a:srgbClr val="1A1A1A"/>
                </a:solidFill>
              </a:rPr>
              <a:t>Hasil ujinya: yang bisa dipindahkan bersifat organisasional, yaitu merek dan reputasi, distribusi langsung dan teknologi informasi, orang dan budaya hemat, bandara sekunder seperti Stansted, dan perawatan yang diserahkan ke pihak luar. Yang tidak bisa dipindahkan justru inti model maskapai murah: satu tipe pesawat, putar balik 25 menit, satu kelas tanpa layanan, dan jaringan titik ke titik. Datanya menunjukkan keunggulan masih ada tetapi lebih tipis: tiket Kuala Lumpur ke London 36,5 persen lebih murah dengan kursi terisi lebih dari 90 persen, namun tabel biaya belum memuat gaji kru, perawatan, dan katering. Kesimpulannya, keunggulan biaya bisa dipindahkan sebagian, dan karena itu harus bertahap: jalankan opsi 30 persen, batasi rute pada empat sampai delapan jam, dan merger hanya setelah empat kuartal laba. Logika ekonominya: menjaga biaya per kursi tetap rendah sambil membuka sumber pendapatan baru tanpa membebani neraca yang kasnya hanya 153,8 juta ringgit dengan utang 6,69 miliar ringgit.</a:t>
            </a:r>
            <a:endParaRPr lang="en-US" sz="1200" dirty="0"/>
          </a:p>
          <a:p>
            <a:pPr algn="l" indent="0" marL="0">
              <a:spcAft>
                <a:spcPts val="1000"/>
              </a:spcAft>
              <a:buNone/>
            </a:pPr>
            <a:r>
              <a:rPr lang="en-US" sz="1200" dirty="0">
                <a:solidFill>
                  <a:srgbClr val="1A1A1A"/>
                </a:solidFill>
              </a:rPr>
              <a:t>Apa yang dinilai: kalimat pembuka yang benar tentang transferability, empat lapis Bab 3 yang dijalankan berurutan, pemisahan "bisa dipindah" dan "tidak bisa dipindah", dan keputusan bertahap dengan angka.</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B2</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200" dirty="0">
                <a:solidFill>
                  <a:srgbClr val="1A1A1A"/>
                </a:solidFill>
              </a:rPr>
              <a:t>Lakukan analisis internal Manchester United pada Juli 2009 dengan enam pertanyaan Bab 4 dan susun daftar prioritas untuk David Gill.</a:t>
            </a:r>
            <a:endParaRPr lang="en-US" sz="1200" dirty="0"/>
          </a:p>
          <a:p>
            <a:pPr algn="l" indent="0" marL="0">
              <a:spcAft>
                <a:spcPts val="1000"/>
              </a:spcAft>
              <a:buNone/>
            </a:pPr>
            <a:r>
              <a:rPr lang="en-US" sz="1200" dirty="0">
                <a:solidFill>
                  <a:srgbClr val="1A1A1A"/>
                </a:solidFill>
              </a:rPr>
              <a:t>Jawaban model. Pertanyaan pertama, kinerja strategi: sangat baik di industri yang enam dari sepuluh klub besarnya rugi. Buktinya hat-trick liga 2007 sampai 2009, Piala Eropa 2008, peringkat pertama poin performa Eropa dengan 1.460 poin, return on sales 12,6 persen yang tertinggi, EBITDA 101,9 juta euro yang tertinggi, dan pendapatan yang naik 53 persen dari 2006 ke 2008. Pertanyaan kedua, SWOT: kekuatan pada merek global dengan 80 juta pendukung Asia, akademi dan scouting, serta disiplin transfer dengan belanja bersih hanya 100 juta pound; kelemahan pada ketergantungan terhadap satu orang berusia 68 tahun tanpa rencana pengganti, kepergian Ronaldo, dan utang 616 juta pound; peluang pada Asia dan hak siar yang naik 43 persen; ancaman pada pemilik miliarder dan inflasi transfer dengan Manchester City membelanjakan 185 juta pound. Kesimpulan yang harus ditarik: kekuatan cukup untuk peluang komersial, tetapi kelemahan utama menyerang syarat mengalirnya pendapatan komersial, yaitu menang di lapangan. Pertanyaan ketiga, resource dan kapabilitas: core competence MU adalah mengembangkan bakat dan memadukannya dengan pemain matang, rotasi skuad, dan mengubah merek menjadi uang; sistem Ferguson lolos keempat uji VRIN tetapi melekat pada satu orang, sehingga masalahnya ada di luar VRIN dan membutuhkan dynamic capability yang bisa dijalankan. Pertanyaan keempat, rantai nilai: keunggulan biaya MU ada di hulu, karena akademi menghasilkan pemain tanpa biaya transfer dan pemain yang dijual bernilai tinggi, sehingga gaji hanya sekitar 50 persen pendapatan dibanding 62 persen liga dan 81 persen Chelsea; benchmarking model menunjukkan bahwa memadukan pengembangan dan pembelian menghasilkan laba tertinggi dibanding membeli bintang atau mengembangkan saja. Pertanyaan kelima, competitive strength: MU 8,65 melawan Barcelona 8,40, dan skor jatuh ke 7,90 bila rating manajer turun dari 10 ke 5; baris paling rapuh adalah kemampuan manajer. Pertanyaan keenam, daftar prioritas dalam bentuk pertanyaan: bagaimana mengganti Ferguson tanpa merusak sistemnya; apakah perlu director of football; bagaimana bersaing di bursa transfer tanpa dana pemilik; bagaimana menambal skuad setelah Ronaldo; bagaimana menjaga pendapatan komersial bila prestasi turun; apakah pemilik tetap pasif. Dua yang pertama serius dan butuh strategi baru. Rekomendasinya: lembagakan sistem sebelum Ferguson pergi, pilih penerus dari dalam dengan masa transisi, tolak opsi membongkar total, lindungi mesin komersial Asia; ukur dengan lolos Liga Champions tiap musim dan rasio gaji terhadap pendapatan paling tinggi 55 persen.</a:t>
            </a:r>
            <a:endParaRPr lang="en-US" sz="1200" dirty="0"/>
          </a:p>
          <a:p>
            <a:pPr algn="l" indent="0" marL="0">
              <a:spcAft>
                <a:spcPts val="1000"/>
              </a:spcAft>
              <a:buNone/>
            </a:pPr>
            <a:r>
              <a:rPr lang="en-US" sz="1200" dirty="0">
                <a:solidFill>
                  <a:srgbClr val="1A1A1A"/>
                </a:solidFill>
              </a:rPr>
              <a:t>Apa yang dinilai: enam pertanyaan dijalankan berurutan dan masing-masing ada angkanya, kesimpulan SWOT yang menghubungkan kekuatan dengan kelemahan, batas VRIN, dan daftar prioritas yang ditulis sebagai pertanyaan lalu dipilah mana yang serius.</a:t>
            </a:r>
            <a:endParaRPr lang="en-US" sz="12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B3</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500" dirty="0">
                <a:solidFill>
                  <a:srgbClr val="1A1A1A"/>
                </a:solidFill>
              </a:rPr>
              <a:t>Kenali strategi generik Garuda Indonesia dan Citilink, lalu jelaskan dengan rantai nilai mengapa keduanya dikelola sebagai entitas terpisah. Apakah keduanya sebaiknya merger?</a:t>
            </a:r>
            <a:endParaRPr lang="en-US" sz="1500" dirty="0"/>
          </a:p>
          <a:p>
            <a:pPr algn="l" indent="0" marL="0">
              <a:spcAft>
                <a:spcPts val="1000"/>
              </a:spcAft>
              <a:buNone/>
            </a:pPr>
            <a:r>
              <a:rPr lang="en-US" sz="1500" dirty="0">
                <a:solidFill>
                  <a:srgbClr val="1A1A1A"/>
                </a:solidFill>
              </a:rPr>
              <a:t>Jawaban model. Garuda memakai broad differentiation: layanan penuh, fasilitas lengkap, harga yang hampir selalu tertinggi di aplikasi pemesanan, dengan dominant logic premium service. Citilink memakai low-cost provider: tanpa makanan ringan atau makanan ringan yang dipesan massal, tanpa hiburan dalam pesawat, tanpa iklan besar, dengan dominant logic serba hemat. Rantai nilai keduanya berbeda dari hulu ke hilir: pengadaan dan susunan kursi pesawat, putar balik dan layanan kabin, saluran penjualan, pemasaran merek, dan layanan purna jual. Setiap kegiatan harus konsisten dengan satu nilai yang dipilih, dan dua dominant logic tidak bisa hidup dalam satu rangkaian kegiatan. Menggabungkannya menghasilkan posisi tanggung, stuck in the middle, nasib yang menimpa Mandala, Batavia Air, Merpati, dan Sempati. Jadi alasan pemisahan bukan sekadar beda segmen pasar, melainkan beda susunan kegiatan dan cara mengelola, persis seperti yang dijelaskan dosen.</a:t>
            </a:r>
            <a:endParaRPr lang="en-US" sz="1500" dirty="0"/>
          </a:p>
          <a:p>
            <a:pPr algn="l" indent="0" marL="0">
              <a:spcAft>
                <a:spcPts val="1000"/>
              </a:spcAft>
              <a:buNone/>
            </a:pPr>
            <a:r>
              <a:rPr lang="en-US" sz="1500" dirty="0">
                <a:solidFill>
                  <a:srgbClr val="1A1A1A"/>
                </a:solidFill>
              </a:rPr>
              <a:t>Apakah sebaiknya merger? Tidak untuk operasi dan merek. Yang masuk akal adalah berbagi kegiatan pendukung yang netral terhadap dominant logic: pengadaan avtur, perawatan, teknologi informasi, dan pengelolaan kas, untuk memperoleh economies of scope tanpa merusak positioning, di bawah satu induk yang mengendalikan keduanya, sejalan dengan rekomendasi penggabungan bertahap untuk AirAsia dan AirAsia X. Trade-off-nya harus disebut: pemisahan mengorbankan sebagian economies of scale, penggabungan mengorbankan kejelasan positioning. Logika ekonominya: berbagi di belakang layar menurunkan biaya, positioning yang terpisah di depan pelanggan memaksimalkan pendapatan dari dua segmen yang berbeda.</a:t>
            </a:r>
            <a:endParaRPr lang="en-US" sz="1500" dirty="0"/>
          </a:p>
          <a:p>
            <a:pPr algn="l" indent="0" marL="0">
              <a:spcAft>
                <a:spcPts val="1000"/>
              </a:spcAft>
              <a:buNone/>
            </a:pPr>
            <a:r>
              <a:rPr lang="en-US" sz="1500" dirty="0">
                <a:solidFill>
                  <a:srgbClr val="1A1A1A"/>
                </a:solidFill>
              </a:rPr>
              <a:t>Apa yang dinilai: dua strategi generik yang disebut dengan bukti, rantai nilai sebagai alasan pemisahan (bukan sekadar segmen), jawaban merger yang bersyarat, dan trade-off.</a:t>
            </a:r>
            <a:endParaRPr lang="en-US" sz="15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C1</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Setujukah Anda dengan keputusan Tony Fernandes membuka rute jarak jauh ke London? Gunakan framework Bab 3.</a:t>
            </a:r>
            <a:endParaRPr lang="en-US" sz="1600" dirty="0"/>
          </a:p>
          <a:p>
            <a:pPr algn="l" indent="0" marL="0">
              <a:spcAft>
                <a:spcPts val="1000"/>
              </a:spcAft>
              <a:buNone/>
            </a:pPr>
            <a:r>
              <a:rPr lang="en-US" sz="1600" dirty="0">
                <a:solidFill>
                  <a:srgbClr val="1A1A1A"/>
                </a:solidFill>
              </a:rPr>
              <a:t>Jawaban model, dengan posisi setuju bersyarat. Alasan setuju: visi AirAsia adalah menjadi maskapai internasional, bukan regional; Fernandes terinspirasi Freddie Laker dan sejak awal mengincar rute jauh; ada permintaan nyata dari perantau Malaysia dan Asia ke Inggris; harga 36,5 persen lebih murah dengan kursi terisi lebih dari 90 persen membuktikan pasarnya ada; dan driving forces berupa deregulasi, distribusi langsung, serta kelas menengah Asia yang tumbuh mendukung. Alasan tidak setuju tanpa syarat: lapisan industri rute London jauh lebih keras, karena lawannya network carriers dengan subsidi silang dari kelas premium, slot Heathrow mahal, dan pembelinya sudah dilayani maskapai mapan; inti model maskapai murah tidak bisa dipindahkan; A340 boros bahan bakar; neraca 2008 lemah dengan kas 153,8 juta ringgit; dan AirAsia hanya memegang 16 persen saham AirAsia X sehingga tata kelolanya tidak selaras. Syarat yang membuat keputusan itu bisa dibenarkan adalah soal staging, urutan dan kecepatan: pakai bandara sekunder seperti Stansted, mulai dengan rute empat sampai delapan jam ber-A330 sebelum Eropa, pasang lindung nilai bahan bakar dengan mandat dewan, bangun jaringan pengumpan di Kuala Lumpur dengan transit di atas 25 persen, dan evaluasi berbasis bukti empat kuartal. Logika ekonominya: membuka sumber pendapatan baru hanya bila biaya per kursi rute jauh tetap di bawah pesaing; bila tidak, kembali fokus regional.</a:t>
            </a:r>
            <a:endParaRPr lang="en-US" sz="1600" dirty="0"/>
          </a:p>
          <a:p>
            <a:pPr algn="l" indent="0" marL="0">
              <a:spcAft>
                <a:spcPts val="1000"/>
              </a:spcAft>
              <a:buNone/>
            </a:pPr>
            <a:r>
              <a:rPr lang="en-US" sz="1600" dirty="0">
                <a:solidFill>
                  <a:srgbClr val="1A1A1A"/>
                </a:solidFill>
              </a:rPr>
              <a:t>Apa yang dinilai: posisi di kalimat pertama, dua sisi yang sama kuatnya, syarat yang konkret, dan logika ekonomi. Jawaban "setuju" atau "tidak setuju" tanpa syarat sama-sama dianggap satu sisi.</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C2</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Tagline "Now Everyone Can Fly" terdengar untuk semua orang, tetapi strategi AirAsia adalah cost advantage untuk segmen menengah bawah. Perlukah AirAsia membuka kelas bisnis? Adakah yang tidak konsisten?</a:t>
            </a:r>
            <a:endParaRPr lang="en-US" sz="1700" dirty="0"/>
          </a:p>
          <a:p>
            <a:pPr algn="l" indent="0" marL="0">
              <a:spcAft>
                <a:spcPts val="1000"/>
              </a:spcAft>
              <a:buNone/>
            </a:pPr>
            <a:r>
              <a:rPr lang="en-US" sz="1700" dirty="0">
                <a:solidFill>
                  <a:srgbClr val="1A1A1A"/>
                </a:solidFill>
              </a:rPr>
              <a:t>Jawaban model, dengan posisi tidak untuk AirAsia rute pendek dan ya secara terbatas untuk AirAsia X. Tidak ada yang tidak konsisten, karena tagline menggambarkan misi memperluas pasar kepada segmen yang selama ini kurang terlayani, bukan janji melayani semua segmen dengan layanan penuh. Membuka kelas bisnis di A320 mengurangi jumlah kursi, sebagaimana 148 kursi satu kelas melawan 132 kursi dua kelas pada pesawat lama, menambah kerumitan layanan, memperlambat putar balik 25 menit, dan mengaburkan positioning biaya rendah; risikonya stuck in the middle. Untuk rute jauh, kebutuhan pembeli berbeda karena kenyamanan dua belas jam terbang, sehingga AirAsia X memakai premium seat dan makanan pesan di muka; itu bukan pelanggaran strategi generik melainkan model bisnis lain dalam strategic group lain, dan justru alasan mengapa AirAsia X perlu entitas terpisah, sama seperti Garuda dan Citilink. Trade-off-nya: premium seat menambah pendapatan per kursi tetapi menaikkan biaya dan berisiko mengaburkan identitas merek. Keputusan: pertahankan satu kelas di AirAsia, izinkan premium terbatas di AirAsia X dengan hitungan ekonomi yang terpisah dan diukur lewat pendapatan dan biaya per kursi per kilometer.</a:t>
            </a:r>
            <a:endParaRPr lang="en-US" sz="1700" dirty="0"/>
          </a:p>
          <a:p>
            <a:pPr algn="l" indent="0" marL="0">
              <a:spcAft>
                <a:spcPts val="1000"/>
              </a:spcAft>
              <a:buNone/>
            </a:pPr>
            <a:r>
              <a:rPr lang="en-US" sz="1700" dirty="0">
                <a:solidFill>
                  <a:srgbClr val="1A1A1A"/>
                </a:solidFill>
              </a:rPr>
              <a:t>Apa yang dinilai: membedakan misi dari positioning, akibat operasional kelas bisnis pada rantai nilai, dan membedakan AirAsia dari AirAsia X sebagai dua strategic group.</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C3</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AirAsia berinvestasi pada sistem tiket sendiri dan sempat menarik diri dari aplikasi pemesanan seperti Traveloka, lalu kembali. Sebaiknya membangun sistem sendiri atau cukup bekerja sama dengan aplikasi pemesanan?</a:t>
            </a:r>
            <a:endParaRPr lang="en-US" sz="1600" dirty="0"/>
          </a:p>
          <a:p>
            <a:pPr algn="l" indent="0" marL="0">
              <a:spcAft>
                <a:spcPts val="1000"/>
              </a:spcAft>
              <a:buNone/>
            </a:pPr>
            <a:r>
              <a:rPr lang="en-US" sz="1600" dirty="0">
                <a:solidFill>
                  <a:srgbClr val="1A1A1A"/>
                </a:solidFill>
              </a:rPr>
              <a:t>Jawaban model, dengan posisi keduanya dalam peran yang berbeda. Framework yang relevan: Value Net, yang melihat aplikasi pemesanan sebagai complementor (pelengkap yang menaikkan nilai) sekaligus penekan margin; Five Forces, karena aplikasi pemesanan menaikkan kekuatan pembeli dengan membuat harga terbuka dan biaya berpindah nol; cost drivers, karena distribusi langsung yang menghapus komisi agen serta sistem Navitaire dan yield management adalah sumber keunggulan biaya; dan Strategy Diamond pada unsur vehicle, membangun sendiri atau bermitra. Sistem sendiri tetap wajib karena ia inti keunggulan biaya dan pintu data pelanggan untuk pendapatan tambahan serta ekosistem Tune. Tetapi menarik diri dari aplikasi pemesanan mengorbankan jangkauan ke pembeli yang membandingkan harga di satu layar, dan terbukti keliru. Keputusannya: sistem sendiri sebagai saluran utama dengan harga termurah sebagai pemikat pemesanan langsung, aplikasi pemesanan sebagai saluran pelengkap dengan komisi yang dirundingkan dan jatah kursi promo yang dibatasi. Trade-off-nya komisi melawan volume, dan kendali data melawan jangkauan. Logika ekonominya: menjaga biaya distribusi rendah sambil memaksimalkan kursi terisi, karena kursi kosong hangus.</a:t>
            </a:r>
            <a:endParaRPr lang="en-US" sz="1600" dirty="0"/>
          </a:p>
          <a:p>
            <a:pPr algn="l" indent="0" marL="0">
              <a:spcAft>
                <a:spcPts val="1000"/>
              </a:spcAft>
              <a:buNone/>
            </a:pPr>
            <a:r>
              <a:rPr lang="en-US" sz="1600" dirty="0">
                <a:solidFill>
                  <a:srgbClr val="1A1A1A"/>
                </a:solidFill>
              </a:rPr>
              <a:t>Apa yang dinilai: memakai lebih dari satu framework dengan tepat, menolak jawaban "salah satu saja", dan trade-off yang jelas.</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Bagian 4: Tipe D, Soal Gabungan "Jika Anda CEO"</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D1</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400" dirty="0">
                <a:solidFill>
                  <a:srgbClr val="1A1A1A"/>
                </a:solidFill>
              </a:rPr>
              <a:t>Anda CEO Bluebird saat Gojek dan Grab masuk. Kenali driving force-nya, lalu rekomendasikan strategi dengan framework Bab 1 sampai 5.</a:t>
            </a:r>
            <a:endParaRPr lang="en-US" sz="1400" dirty="0"/>
          </a:p>
          <a:p>
            <a:pPr algn="l" indent="0" marL="0">
              <a:spcAft>
                <a:spcPts val="1000"/>
              </a:spcAft>
              <a:buNone/>
            </a:pPr>
            <a:r>
              <a:rPr lang="en-US" sz="1400" dirty="0">
                <a:solidFill>
                  <a:srgbClr val="1A1A1A"/>
                </a:solidFill>
              </a:rPr>
              <a:t>Jawaban model. Driving force utamanya adalah teknologi: aplikasi pesan-antar mengubah model bisnis dari penumpang yang mendatangi pengemudi menjadi pengemudi yang mendatangi penumpang; ia diperkuat faktor sosial berupa kebiasaan konsumen yang berubah dan faktor hukum berupa aturan transportasi daring yang belum mapan. Dampaknya ke industri dalam Five Forces: hambatan masuk runtuh karena siapa pun bisa menjadi pengemudi, kekuatan pembeli naik, pengganti menguat, dan laba taksi biasa tertekan. Positioning Bluebird adalah taksi yang aman, terpercaya, dengan armada dan pengemudi terstandar; visinya tetap menjadi penyedia transportasi yang paling dipercaya, bukan yang termurah. Alternatif pertama, perang harga meniru Gojek, menyalahi positioning dan tidak mungkin dimenangkan di sisi biaya; itu red ocean. Alternatif kedua, mengabaikan, berarti menunggu gangguan itu menghajar. Alternatif ketiga, berinvestasi pada sumber gangguan: membangun aplikasi sendiri sekaligus bermitra dengan platform, vehicle berupa bangun dan bermitra, sambil mempertahankan diferensiasi pada keandalan dan keamanan lewat value drivers berupa pengendalian mutu, pelatihan pengemudi, dan armada, dan menjadikan konsumen yang lelah dengan mutu layanan ojek daring sebagai segmen sasaran. Pilihannya alternatif ketiga, yang memang dilakukan Bluebird dan membuatnya bertahan, bahkan merebut kembali pangsa pasar. Logika ekonominya: mempertahankan harga sedikit lebih tinggi untuk pendapatan sambil menaikkan pemakaian armada lewat aplikasi untuk menurunkan biaya per kilometer. Rencananya: peluncuran aplikasi dan penggabungan ke platform dalam dua kuartal, ukuran berupa pemakaian armada, nilai layanan, dan pangsa segmen perusahaan, dan risiko tarif saling memakan yang diatasi dengan pemisahan segmen.</a:t>
            </a:r>
            <a:endParaRPr lang="en-US" sz="1400" dirty="0"/>
          </a:p>
          <a:p>
            <a:pPr algn="l" indent="0" marL="0">
              <a:spcAft>
                <a:spcPts val="1000"/>
              </a:spcAft>
              <a:buNone/>
            </a:pPr>
            <a:r>
              <a:rPr lang="en-US" sz="1400" dirty="0">
                <a:solidFill>
                  <a:srgbClr val="1A1A1A"/>
                </a:solidFill>
              </a:rPr>
              <a:t>Apa yang dinilai: driving force yang dinamai dengan jelas, akibatnya ke industri sebelum ke perusahaan, tiga alternatif yang dinilai, pilihan yang konsisten dengan positioning, dan rencana dengan ukuran.</a:t>
            </a:r>
            <a:endParaRPr lang="en-US" sz="14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D2</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500" dirty="0">
                <a:solidFill>
                  <a:srgbClr val="1A1A1A"/>
                </a:solidFill>
              </a:rPr>
              <a:t>Anda CEO Honda atau Yamaha menghadapi kendaraan listrik dari BYD dan merek China yang jauh lebih murah. Haruskah masuk kendaraan listrik dengan merek yang sama, mengakuisisi merek baru, atau tidak masuk?</a:t>
            </a:r>
            <a:endParaRPr lang="en-US" sz="1500" dirty="0"/>
          </a:p>
          <a:p>
            <a:pPr algn="l" indent="0" marL="0">
              <a:spcAft>
                <a:spcPts val="1000"/>
              </a:spcAft>
              <a:buNone/>
            </a:pPr>
            <a:r>
              <a:rPr lang="en-US" sz="1500" dirty="0">
                <a:solidFill>
                  <a:srgbClr val="1A1A1A"/>
                </a:solidFill>
              </a:rPr>
              <a:t>Jawaban model. Driving force-nya teknologi dan aturan: inti bisnis kendaraan listrik adalah baterai, bukan kendaraannya, dan BYD unggul karena berawal sebagai perusahaan baterai; aturan emisi dan subsidi mempercepat pergeseran. Posisi Honda dan Yamaha kuat di kapabilitas mesin bakar dan tertinggal di baterai. Prinsip dosen: tidak perlu mengganti positioning; yang diubah adalah visi strategis dan pilihan strategis. Alternatif pertama, kendaraan listrik dengan merek yang sama, memanfaatkan merek dan jaringan dealer sebagai economies of scope tetapi bertarung langsung di biaya dengan BYD yang menang di baterai. Alternatif kedua, akuisisi atau usaha patungan di baterai, adalah vehicle brownfield yang cepat memperoleh kapabilitas yang tidak dimiliki, dengan risiko penyatuan dan harga mahal. Alternatif ketiga, teknologi lain seperti hidrogen, konsisten dengan kapabilitas mesin dan berpotensi blue ocean, tetapi prasarananya belum ada. Rekomendasinya menggabungkan alternatif kedua untuk baterai, dengan staging yang cepat karena sebagai late mover waktunya sudah tipis, dan alternatif ketiga sebagai pembeda jangka panjang; alternatif pertama secara murni dihindari karena gagal fit test, tidak ada core competence baterai. Logika ekonominya: usaha patungan menurunkan biaya baterai, hidrogen membuka sumber pendapatan yang belum dikuasai pesaing China. Rencananya: usaha patungan baterai dalam dua belas sampai delapan belas bulan, model listrik pertama di segmen yang tidak dilayani BYD, dan riset hidrogen dengan tonggak yang terukur.</a:t>
            </a:r>
            <a:endParaRPr lang="en-US" sz="1500" dirty="0"/>
          </a:p>
          <a:p>
            <a:pPr algn="l" indent="0" marL="0">
              <a:spcAft>
                <a:spcPts val="1000"/>
              </a:spcAft>
              <a:buNone/>
            </a:pPr>
            <a:r>
              <a:rPr lang="en-US" sz="1500" dirty="0">
                <a:solidFill>
                  <a:srgbClr val="1A1A1A"/>
                </a:solidFill>
              </a:rPr>
              <a:t>Apa yang dinilai: menemukan bahwa inti kendaraan listrik adalah baterai, memakai fit test untuk menolak alternatif, dan staging yang sadar bahwa waktunya tipis.</a:t>
            </a:r>
            <a:endParaRPr lang="en-US" sz="15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D3</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Anda CEO stasiun televisi lokal atau radio yang penontonnya pindah ke YouTube, Netflix, dan Spotify. Apa yang Anda lakukan?</a:t>
            </a:r>
            <a:endParaRPr lang="en-US" sz="1700" dirty="0"/>
          </a:p>
          <a:p>
            <a:pPr algn="l" indent="0" marL="0">
              <a:spcAft>
                <a:spcPts val="1000"/>
              </a:spcAft>
              <a:buNone/>
            </a:pPr>
            <a:r>
              <a:rPr lang="en-US" sz="1700" dirty="0">
                <a:solidFill>
                  <a:srgbClr val="1A1A1A"/>
                </a:solidFill>
              </a:rPr>
              <a:t>Jawaban model. Pertama, tentukan apakah penurunan bersifat sementara atau permanen; driving force teknologi dan sosial telah mengubah cara orang menikmati media secara permanen. Dalam Five Forces, pengganti sangat kuat dan kekuatan pembeli dari pengiklan naik karena platform digital menawarkan pengukuran yang lebih baik; laba industri turun untuk semua pemain. Alternatif pertama, bertahan dengan penghematan, hanya menunda. Alternatif kedua, berubah menjadi pembuat konten untuk platform digital dengan memakai kapabilitas produksi, bakat lokal, dan hubungan dengan pengiklan daerah sebagai focused differentiation di konten lokal. Alternatif ketiga, menjual lebih cepat selagi aset masih bernilai, keputusan yang diambil dosen sendiri saat menjadi direktur utama televisi lokal Yogyakarta. Pilihannya bergantung pada posisi dan visi pemilik: bila tidak ada resource untuk berubah, fit test gagal dan menjual adalah pilihan yang masuk akal; bila ada, berubah ke konten lokal lintas platform. Logika ekonominya: menghentikan struktur biaya siaran yang mahal untuk pemancar dan lisensi, dan memindahkan pendapatan ke model yang bisa diperbesar. Poin beliau: tugas CEO adalah mengenali sumber gangguan lebih dulu dan bertindak cepat, bukan menunggu.</a:t>
            </a:r>
            <a:endParaRPr lang="en-US" sz="1700" dirty="0"/>
          </a:p>
          <a:p>
            <a:pPr algn="l" indent="0" marL="0">
              <a:spcAft>
                <a:spcPts val="1000"/>
              </a:spcAft>
              <a:buNone/>
            </a:pPr>
            <a:r>
              <a:rPr lang="en-US" sz="1700" dirty="0">
                <a:solidFill>
                  <a:srgbClr val="1A1A1A"/>
                </a:solidFill>
              </a:rPr>
              <a:t>Apa yang dinilai: membedakan penurunan sementara dari permanen, keberanian menyebut menjual sebagai pilihan yang sah, dan syarat yang membuat tiap pilihan masuk akal.</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D4</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600" dirty="0">
                <a:solidFill>
                  <a:srgbClr val="1A1A1A"/>
                </a:solidFill>
              </a:rPr>
              <a:t>Perusahaan Anda gagal mencapai target. Bagaimana membedakan apakah targetnya yang salah atau pelaksanaannya yang gagal, dan apa tindakan Anda?</a:t>
            </a:r>
            <a:endParaRPr lang="en-US" sz="1600" dirty="0"/>
          </a:p>
          <a:p>
            <a:pPr algn="l" indent="0" marL="0">
              <a:spcAft>
                <a:spcPts val="1000"/>
              </a:spcAft>
              <a:buNone/>
            </a:pPr>
            <a:r>
              <a:rPr lang="en-US" sz="1600" dirty="0">
                <a:solidFill>
                  <a:srgbClr val="1A1A1A"/>
                </a:solidFill>
              </a:rPr>
              <a:t>Jawaban model. Pakai tiga uji strategi pemenang. Fit test: apakah target dan strateginya sesuai dengan kondisi luar, yaitu industri dan driving force, dan dengan kondisi dalam, yaitu resource dan kapabilitas, serta dengan waktunya; bila tidak, targetnya yang salah, misalnya diversifikasi tanpa kompetensi. Competitive advantage test: apakah strategi menghasilkan keunggulan dibanding pesaing; bila pesaing dengan strategi serupa berhasil, masalahnya pelaksanaan. Performance test: periksa leading indicator, yaitu strategic objective dan proses internal, sebelum lagging indicator keuangan; bila ukuran proses tercapai tetapi keuangan tidak, anggapan sebab-akibat dalam Strategy Map yang keliru dan itu masalah target; bila ukuran proses tidak tercapai, masalahnya pelaksanaan. Periksa juga selisih rencana dan kenyataan di tingkat program, anggaran, dan prosedur: prosedur paling mudah diubah dan menjadi alat perbaikan pertama, lalu anggaran, lalu program; misi, visi, dan objektif hanya diubah bila fit test gagal. Tindakannya: perbaiki prosedur dalam siklus pendek, kaji ulang sepuluh aspek pelaksanaan dari struktur sampai kepemimpinan, dan baru setelah itu merevisi objektif. Catatan kelas yang perlu disebut: pelaksanaan sering menjadi akar masalah kinerja, karena strategi tanpa pelaksanaan adalah strategi tanpa napas.</a:t>
            </a:r>
            <a:endParaRPr lang="en-US" sz="1600" dirty="0"/>
          </a:p>
          <a:p>
            <a:pPr algn="l" indent="0" marL="0">
              <a:spcAft>
                <a:spcPts val="1000"/>
              </a:spcAft>
              <a:buNone/>
            </a:pPr>
            <a:r>
              <a:rPr lang="en-US" sz="1600" dirty="0">
                <a:solidFill>
                  <a:srgbClr val="1A1A1A"/>
                </a:solidFill>
              </a:rPr>
              <a:t>Apa yang dinilai: tiga uji dipakai sebagai alat diagnosis, leading sebelum lagging, dan urutan perubahan dari yang paling mudah (prosedur) ke yang paling sulit (misi).</a:t>
            </a:r>
            <a:endParaRPr lang="en-US" sz="16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Soal D5</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700" dirty="0">
                <a:solidFill>
                  <a:srgbClr val="1A1A1A"/>
                </a:solidFill>
              </a:rPr>
              <a:t>Ford dipaksa bersaing dengan GM, produsen Jepang, dan kini mobil listrik. Apa yang harus dilakukan Ford?</a:t>
            </a:r>
            <a:endParaRPr lang="en-US" sz="1700" dirty="0"/>
          </a:p>
          <a:p>
            <a:pPr algn="l" indent="0" marL="0">
              <a:spcAft>
                <a:spcPts val="1000"/>
              </a:spcAft>
              <a:buNone/>
            </a:pPr>
            <a:r>
              <a:rPr lang="en-US" sz="1700" dirty="0">
                <a:solidFill>
                  <a:srgbClr val="1A1A1A"/>
                </a:solidFill>
              </a:rPr>
              <a:t>Jawaban model. Jangan meniru GM, karena strategi adalah seni yang bernilai karena langka. Mulai dari positioning: DNA Ford adalah performa, dari Mustang dan Shelby sampai Le Mans dan GT40, dan keunggulan sejarahnya adalah standardisasi serta economies of scale. Arahkan ulang visi: dari keterjangkauan ke performa dan premium, dan dari nomor satu di Amerika yang sudah jenuh menjadi perusahaan global, karena skala menuntut pasar yang lebih luas. Pilihannya: fokus pada segmen yang dicintai konsumen Amerika, muscle car yang dikemas masa depan dan ramah lingkungan seperti Mustang Mach-E dan EcoBoost; mass customization di atas platform massal; dan blue ocean di segmen yang kurang digarap seperti truk atau bus daripada red ocean berhadapan langsung. Masuk ke negara lain harus lolos uji lingkungan luar per negara, karena Ford Indonesia ditutup dan dipindah ke Thailand bukan karena resource melainkan karena lingkungan. Trade-off-nya: naik kelas ke premium mengorbankan volume, dan menjadi global menambah risiko luar. Logika ekonominya: diferensiasi menaikkan margin per unit, skala global menekan biaya per unit. Rencananya: lini kendaraan listrik berperforma tinggi, platform bersama, pemilihan negara dengan Five Forces yang mendukung, dan ukuran berupa margin per unit serta pangsa segmen performa.</a:t>
            </a:r>
            <a:endParaRPr lang="en-US" sz="1700" dirty="0"/>
          </a:p>
          <a:p>
            <a:pPr algn="l" indent="0" marL="0">
              <a:spcAft>
                <a:spcPts val="1000"/>
              </a:spcAft>
              <a:buNone/>
            </a:pPr>
            <a:r>
              <a:rPr lang="en-US" sz="1700" dirty="0">
                <a:solidFill>
                  <a:srgbClr val="1A1A1A"/>
                </a:solidFill>
              </a:rPr>
              <a:t>Apa yang dinilai: menolak meniru, berangkat dari positioning, visi yang diarahkan ulang, pilihan yang dibingkai blue ocean, dan uji per negara untuk ekspansi.</a:t>
            </a:r>
            <a:endParaRPr lang="en-US" sz="17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645920"/>
          </a:xfrm>
          <a:prstGeom prst="rect">
            <a:avLst/>
          </a:prstGeom>
          <a:noFill/>
          <a:ln/>
        </p:spPr>
        <p:txBody>
          <a:bodyPr wrap="square" lIns="0" tIns="0" rIns="0" bIns="0" rtlCol="0" anchor="b"/>
          <a:lstStyle/>
          <a:p>
            <a:pPr algn="l" indent="0" marL="0">
              <a:buNone/>
            </a:pPr>
            <a:r>
              <a:rPr lang="en-US" sz="3600" b="1" dirty="0">
                <a:solidFill>
                  <a:schemeClr val="bg1"/>
                </a:solidFill>
              </a:rPr>
              <a:t>Bagian 5: Cara Berlatih dengan Dokumen Ini</a:t>
            </a:r>
            <a:endParaRPr lang="en-US" sz="3600" dirty="0"/>
          </a:p>
        </p:txBody>
      </p:sp>
      <p:sp>
        <p:nvSpPr>
          <p:cNvPr id="3" name="mark"/>
          <p:cNvSpPr/>
          <p:nvPr/>
        </p:nvSpPr>
        <p:spPr>
          <a:xfrm>
            <a:off x="548640" y="1828800"/>
            <a:ext cx="822960" cy="109728"/>
          </a:xfrm>
          <a:prstGeom prst="rect">
            <a:avLst/>
          </a:prstGeom>
          <a:solidFill>
            <a:srgbClr val="B08D2F"/>
          </a:solidFill>
          <a:ln w="12700">
            <a:solidFill>
              <a:srgbClr val="B08D2F"/>
            </a:solidFill>
            <a:prstDash val="solid"/>
          </a:ln>
        </p:spPr>
      </p:sp>
      <p:sp>
        <p:nvSpPr>
          <p:cNvPr id="4" name="Text 0"/>
          <p:cNvSpPr/>
          <p:nvPr>
            <p:ph idx="101" type="body" hasCustomPrompt="1"/>
          </p:nvPr>
        </p:nvSpPr>
        <p:spPr>
          <a:xfrm>
            <a:off x="548640" y="3840480"/>
            <a:ext cx="11091672" cy="146304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2600" b="1" dirty="0">
                <a:solidFill>
                  <a:schemeClr val="tx2"/>
                </a:solidFill>
              </a:rPr>
              <a:t>Latihan yang saya sarankan</a:t>
            </a:r>
            <a:endParaRPr lang="en-US" sz="2600" dirty="0"/>
          </a:p>
        </p:txBody>
      </p:sp>
      <p:sp>
        <p:nvSpPr>
          <p:cNvPr id="3" name="body"/>
          <p:cNvSpPr txBox="1"/>
          <p:nvPr/>
        </p:nvSpPr>
        <p:spPr>
          <a:xfrm>
            <a:off x="548640" y="1280160"/>
            <a:ext cx="11091672" cy="4846320"/>
          </a:xfrm>
          <a:prstGeom prst="rect">
            <a:avLst/>
          </a:prstGeom>
          <a:noFill/>
          <a:ln/>
        </p:spPr>
        <p:txBody>
          <a:bodyPr wrap="square" lIns="0" tIns="0" rIns="0" bIns="0" rtlCol="0" anchor="t"/>
          <a:lstStyle/>
          <a:p>
            <a:pPr algn="l" indent="0" marL="0">
              <a:spcAft>
                <a:spcPts val="1000"/>
              </a:spcAft>
              <a:buNone/>
            </a:pPr>
            <a:r>
              <a:rPr lang="en-US" sz="1800" dirty="0">
                <a:solidFill>
                  <a:srgbClr val="1A1A1A"/>
                </a:solidFill>
              </a:rPr>
              <a:t>Teman-teman, dokumen ini paling berguna kalau dipakai untuk berlatih, bukan dihafal. Tiga cara yang bisa kita coba bersama.</a:t>
            </a:r>
            <a:endParaRPr lang="en-US" sz="1800" dirty="0"/>
          </a:p>
          <a:p>
            <a:pPr algn="l" indent="0" marL="0">
              <a:spcAft>
                <a:spcPts val="1000"/>
              </a:spcAft>
              <a:buNone/>
            </a:pPr>
            <a:r>
              <a:rPr lang="en-US" sz="1800" dirty="0">
                <a:solidFill>
                  <a:srgbClr val="1A1A1A"/>
                </a:solidFill>
              </a:rPr>
              <a:t>Pertama, latihan kerangka. Ambil satu soal, tutup jawaban modelnya, lalu tulis kerangka jawaban dalam tujuh baris: masalah, posisi dan visi, framework, penerapan luar ke dalam, alternatif dan trade-off, keputusan, logika ekonomi dan rencana. Baru bandingkan dengan jawaban model. Yang dicari bukan kesamaan kata, melainkan kesamaan urutan.</a:t>
            </a:r>
            <a:endParaRPr lang="en-US" sz="1800" dirty="0"/>
          </a:p>
          <a:p>
            <a:pPr algn="l" indent="0" marL="0">
              <a:spcAft>
                <a:spcPts val="1000"/>
              </a:spcAft>
              <a:buNone/>
            </a:pPr>
            <a:r>
              <a:rPr lang="en-US" sz="1800" dirty="0">
                <a:solidFill>
                  <a:srgbClr val="1A1A1A"/>
                </a:solidFill>
              </a:rPr>
              <a:t>Kedua, latihan ganti perusahaan. Ambil soal D1 tentang Bluebird, lalu ganti dengan perusahaan lain yang menghadapi gangguan serupa, misalnya bank yang menghadapi dompet digital. Kalau kerangka jawabannya tetap jalan, berarti kita sudah menguasai alatnya, bukan sekadar contohnya.</a:t>
            </a:r>
            <a:endParaRPr lang="en-US" sz="1800" dirty="0"/>
          </a:p>
          <a:p>
            <a:pPr algn="l" indent="0" marL="0">
              <a:spcAft>
                <a:spcPts val="1000"/>
              </a:spcAft>
              <a:buNone/>
            </a:pPr>
            <a:r>
              <a:rPr lang="en-US" sz="1800" dirty="0">
                <a:solidFill>
                  <a:srgbClr val="1A1A1A"/>
                </a:solidFill>
              </a:rPr>
              <a:t>Ketiga, latihan angka. Dari dua kasus, hafalkan sepuluh angka saja: 11,66 sen melawan 22,80 sen; 36,5 persen lebih murah; kas 153,8 juta ringgit; utang 6,69 miliar ringgit; belanja bersih MU 100 juta pound melawan Real 438 dan Chelsea 430; gaji 50 persen melawan 62 dan 81 persen; margin EBITDA 31,4 persen; utang 616 juta pound; skor 8,65 melawan 8,40; delapan belas tahun tanpa gelar. Angka adalah bukti, dan bukti adalah yang membedakan analisis dari pendapat.</a:t>
            </a:r>
            <a:endParaRPr lang="en-US" sz="1800" dirty="0"/>
          </a:p>
        </p:txBody>
      </p:sp>
      <p:sp>
        <p:nvSpPr>
          <p:cNvPr id="4" name="dot"/>
          <p:cNvSpPr/>
          <p:nvPr/>
        </p:nvSpPr>
        <p:spPr>
          <a:xfrm>
            <a:off x="11439144" y="548640"/>
            <a:ext cx="201168" cy="201168"/>
          </a:xfrm>
          <a:prstGeom prst="ellipse">
            <a:avLst/>
          </a:prstGeom>
          <a:solidFill>
            <a:srgbClr val="B08D2F"/>
          </a:solidFill>
          <a:ln w="12700">
            <a:solidFill>
              <a:srgbClr val="B08D2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l"/>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SM Navy Gold">
  <a:themeElements>
    <a:clrScheme name="SM Navy Gold">
      <a:dk1>
        <a:srgbClr val="1A1A1A"/>
      </a:dk1>
      <a:lt1>
        <a:srgbClr val="FFFFFF"/>
      </a:lt1>
      <a:dk2>
        <a:srgbClr val="1F2A44"/>
      </a:dk2>
      <a:lt2>
        <a:srgbClr val="F3F1EA"/>
      </a:lt2>
      <a:accent1>
        <a:srgbClr val="B08D2F"/>
      </a:accent1>
      <a:accent2>
        <a:srgbClr val="3E5C8A"/>
      </a:accent2>
      <a:accent3>
        <a:srgbClr val="7A8B99"/>
      </a:accent3>
      <a:accent4>
        <a:srgbClr val="C96A3C"/>
      </a:accent4>
      <a:accent5>
        <a:srgbClr val="5B8C5A"/>
      </a:accent5>
      <a:accent6>
        <a:srgbClr val="8A6FB0"/>
      </a:accent6>
      <a:hlink>
        <a:srgbClr val="3E5C8A"/>
      </a:hlink>
      <a:folHlink>
        <a:srgbClr val="8A6FB0"/>
      </a:folHlink>
    </a:clrScheme>
    <a:fontScheme name="SM Navy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Skema Soal Mid-term dan Jawaban Model (versi slide)</dc:title>
  <dc:subject>PptxGenJS Presentation</dc:subject>
  <dc:creator>Aslih Abnuri</dc:creator>
  <cp:lastModifiedBy>Aslih Abnuri</cp:lastModifiedBy>
  <cp:revision>1</cp:revision>
  <dcterms:created xsi:type="dcterms:W3CDTF">2026-10-11T13:14:11Z</dcterms:created>
  <dcterms:modified xsi:type="dcterms:W3CDTF">2026-10-11T13:14:11Z</dcterms:modified>
</cp:coreProperties>
</file>