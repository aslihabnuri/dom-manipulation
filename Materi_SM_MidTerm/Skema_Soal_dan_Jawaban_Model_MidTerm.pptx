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a3492130-83d7-0f51-dab0-6135f9f7efba}">
          <p14:sldIdLst>
            <p14:sldId id="256"/>
          </p14:sldIdLst>
        </p14:section>
        <p14:section name="Bagian 1: Bentuk Ujian yang Kemungkinan Keluar" id="{616670d9-1019-d217-b641-7e211e0d785d}">
          <p14:sldIdLst>
            <p14:sldId id="257"/>
            <p14:sldId id="258"/>
          </p14:sldIdLst>
        </p14:section>
        <p14:section name="Bagian 2: Tipe A, Soal Komparatif-Konseptual" id="{eed5aebd-ed0b-c269-148f-1fed1e8594a1}">
          <p14:sldIdLst>
            <p14:sldId id="259"/>
            <p14:sldId id="260"/>
            <p14:sldId id="261"/>
            <p14:sldId id="262"/>
            <p14:sldId id="263"/>
            <p14:sldId id="264"/>
            <p14:sldId id="265"/>
          </p14:sldIdLst>
        </p14:section>
        <p14:section name="Bagian 3: Tipe B dan C, Aplikasi Kasus dan Penilaian" id="{d61e52ae-41a0-113d-31f5-bd5c4ba4f074}">
          <p14:sldIdLst>
            <p14:sldId id="266"/>
            <p14:sldId id="267"/>
            <p14:sldId id="268"/>
            <p14:sldId id="269"/>
            <p14:sldId id="270"/>
            <p14:sldId id="271"/>
            <p14:sldId id="272"/>
          </p14:sldIdLst>
        </p14:section>
        <p14:section name="Bagian 4: Tipe D, Soal Integratif &quot;Jika Anda CEO&quot;" id="{bfe3bdab-307b-ad98-62be-70941985fb1e}">
          <p14:sldIdLst>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3840480"/>
            <a:ext cx="11091672"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4" name="Text 0"/>
          <p:cNvSpPr/>
          <p:nvPr/>
        </p:nvSpPr>
        <p:spPr>
          <a:xfrm>
            <a:off x="548640" y="6400800"/>
            <a:ext cx="10177272" cy="274320"/>
          </a:xfrm>
          <a:prstGeom prst="rect">
            <a:avLst/>
          </a:prstGeom>
          <a:noFill/>
          <a:ln/>
        </p:spPr>
        <p:txBody>
          <a:bodyPr wrap="square" lIns="0" tIns="0" rIns="0" bIns="0" rtlCol="0" anchor="ctr"/>
          <a:lstStyle/>
          <a:p>
            <a:pPr indent="0" marL="0">
              <a:buNone/>
            </a:pPr>
            <a:r>
              <a:rPr lang="en-US" sz="1000" dirty="0">
                <a:solidFill>
                  <a:schemeClr val="accent3"/>
                </a:solidFill>
              </a:rPr>
              <a:t>MAN 5422 Strategic Management | Skema soal mid-term, versi slide</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p:nvPr/>
        </p:nvSpPr>
        <p:spPr>
          <a:xfrm>
            <a:off x="548640" y="6446520"/>
            <a:ext cx="10177272" cy="274320"/>
          </a:xfrm>
          <a:prstGeom prst="rect">
            <a:avLst/>
          </a:prstGeom>
          <a:noFill/>
          <a:ln/>
        </p:spPr>
        <p:txBody>
          <a:bodyPr wrap="square" lIns="0" tIns="0" rIns="0" bIns="0" rtlCol="0" anchor="ctr"/>
          <a:lstStyle/>
          <a:p>
            <a:pPr indent="0" marL="0">
              <a:buNone/>
            </a:pPr>
            <a:r>
              <a:rPr lang="en-US" sz="1000" dirty="0">
                <a:solidFill>
                  <a:schemeClr val="accent3"/>
                </a:solidFill>
              </a:rPr>
              <a:t>MAN 5422 Strategic Management | Skema soal mid-term, versi slide</a:t>
            </a:r>
            <a:endParaRPr lang="en-US" sz="1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Skema Soal Mid-term dan Jawaban Model (versi slide)</a:t>
            </a:r>
            <a:endParaRPr lang="en-US" sz="3600" dirty="0"/>
          </a:p>
        </p:txBody>
      </p:sp>
      <p:sp>
        <p:nvSpPr>
          <p:cNvPr id="3"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r>
              <a:rPr lang="en-US" sz="1800" dirty="0">
                <a:solidFill>
                  <a:schemeClr val="bg2"/>
                </a:solidFill>
              </a:rPr>
              <a:t>Empat tipe soal dengan jawaban model yang mengikuti urutan berpikir dosen: posisi, alat, bukti, trade-off, keputusan, logika ekonomi, rencana. Disusun untuk Aslih Abnuri, Kelompok 3, MM UGM Jakarta.</a:t>
            </a:r>
            <a:endParaRPr lang="en-US" sz="1800" dirty="0"/>
          </a:p>
        </p:txBody>
      </p:sp>
      <p:sp>
        <p:nvSpPr>
          <p:cNvPr id="4" name="mark"/>
          <p:cNvSpPr/>
          <p:nvPr/>
        </p:nvSpPr>
        <p:spPr>
          <a:xfrm>
            <a:off x="548640" y="1828800"/>
            <a:ext cx="822960" cy="109728"/>
          </a:xfrm>
          <a:prstGeom prst="rect">
            <a:avLst/>
          </a:prstGeom>
          <a:solidFill>
            <a:srgbClr val="B08D2F"/>
          </a:solidFill>
          <a:ln w="12700">
            <a:solidFill>
              <a:srgbClr val="B08D2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Bagian 1: Bentuk Ujian yang Kemungkinan Keluar</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Bagian 1: Bentuk Ujian yang Kemungkinan Keluar</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Sebelum masuk ke soal, perlu jujur tentang apa yang pasti dan apa yang tebakan. Yang pasti, dari silabus: ujian tengah semester berbobot 40 persen; cakupannya adalah sesi 1 sampai 6, yaitu Bab 1 sampai Bab 5 buku Thompson dan kawan-kawan, kasus AirAsia dan Manchester United, serta framework yang dipresentasikan kelompok (Eisenhower Matrix, SCP, Benchmarking); dan hardcopy laporan kasus kelompok dikumpulkan pada hari ujian. Yang kemungkinan besar, dari pola kelas: bentuknya esai analitis berbasis kasus atau mini-kasus, bukan pilihan ganda, karena silabus menilai "clarity and persuasiveness" dan beliau berulang kali mengatakan bahwa pertanyaannya tidak punya jawaban benar atau salah, yang dinilai alur logika, dan wajib memakai framework. Kemungkinan besar pula ada soal yang memakai perusahaan Indonesia yang sering beliau contohkan: Garuda dan Citilink, Bluebird dan Gojek, BCA, AQUA, Honda dan Yamaha, Citibank dan CIMB, Ford Indonesia; dan ada soal berbunyi "jika Anda CEO" yang menuntut rekomendasi yang bisa dijalankan dengan logika ekonomi. Yang tebakan: jumlah soal empat sampai enam esai dengan waktu dua sampai tiga jam, karena tidak ada informasi format di silabus maupun rekaman.</a:t>
            </a:r>
            <a:endParaRPr lang="en-US" sz="1200" dirty="0"/>
          </a:p>
          <a:p>
            <a:pPr algn="l" indent="0" marL="0">
              <a:spcAft>
                <a:spcPts val="1000"/>
              </a:spcAft>
              <a:buNone/>
            </a:pPr>
            <a:r>
              <a:rPr lang="en-US" sz="1200" dirty="0">
                <a:solidFill>
                  <a:srgbClr val="1A1A1A"/>
                </a:solidFill>
              </a:rPr>
              <a:t>Dari pola beliau, soal bisa dikelompokkan ke empat tipe. Tipe A adalah soal komparatif-konseptual: mengapa dua perusahaan di industri yang sama memilih strategi berbeda, apa beda visi, misi, dan objektif, mengapa financial objective saja tidak cukup. Pola jawaban yang bernilai tinggi: definisi singkat tiap konsep, framework yang menjelaskan perbedaannya, contoh, trade-off kedua pilihan, dan kesimpulan bahwa jawabannya bergantung pada positioning dan visi. Tipe B adalah aplikasi framework pada kasus: analisis lingkungan eksternal dengan PESTEL dan Five Forces lalu simpulkan daya tariknya, atau lakukan VRIN pada resource tertentu. Pola jawabannya: jelaskan alat dan tujuannya, terapkan berlapis dari makro ke industri ke perusahaan dengan data, simpulkan, dan tarik implikasi strategi. Tipe C adalah penilaian setuju atau tidak setuju: tentang keputusan Tony Fernandes membuka rute London, atau tentang merger Garuda dan Citilink. Pola jawabannya: nyatakan posisi di kalimat pertama, tampilkan dua sisi dengan framework dan data, sebutkan risiko pilihan Anda, lalu syarat agar keputusan berhasil. Tipe D adalah soal integratif "jika Anda CEO": rekomendasikan strategi untuk perusahaan yang menghadapi disrupsi. Pola jawabannya: driving force, posisi dan visi, dua sampai tiga alternatif dengan penilaian, pilihan dengan logika ekonomi, dan rencana aksi dengan langkah, ukuran, waktu, penanggung jawab, dan risiko.</a:t>
            </a:r>
            <a:endParaRPr lang="en-US" sz="1200" dirty="0"/>
          </a:p>
          <a:p>
            <a:pPr algn="l" indent="0" marL="0">
              <a:spcAft>
                <a:spcPts val="1000"/>
              </a:spcAft>
              <a:buNone/>
            </a:pPr>
            <a:r>
              <a:rPr lang="en-US" sz="1200" dirty="0">
                <a:solidFill>
                  <a:srgbClr val="1A1A1A"/>
                </a:solidFill>
              </a:rPr>
              <a:t>Sebelum mengumpulkan jawaban, periksa enam hal: apakah setiap framework sudah disebut dan didefinisikan sebelum dipakai; apakah eksternal dan internal sudah dibedakan dengan benar; apakah dua sisi sudah ditampilkan sebelum memutuskan; apakah rekomendasi konsisten dengan positioning dan visi; apakah sudah ditutup dengan logika ekonomi dan langkah yang bisa dijalankan; dan apakah sudah memakai angka dari kasus, bukan hanya opini.</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Bagian 2: Tipe A, Soal Komparatif-Konseptual</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A1</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Jelaskan perbedaan misi, visi, dan objektif. Mana yang harus disusun lebih dulu, dan mengapa? Berikan contoh.</a:t>
            </a:r>
            <a:endParaRPr lang="en-US" sz="1300" dirty="0"/>
          </a:p>
          <a:p>
            <a:pPr algn="l" indent="0" marL="0">
              <a:spcAft>
                <a:spcPts val="1000"/>
              </a:spcAft>
              <a:buNone/>
            </a:pPr>
            <a:r>
              <a:rPr lang="en-US" sz="1300" dirty="0">
                <a:solidFill>
                  <a:srgbClr val="1A1A1A"/>
                </a:solidFill>
              </a:rPr>
              <a:t>Jawaban model. Ketiga kata ini sering diterjemahkan menjadi "tujuan" dalam bahasa Indonesia, padahal artinya sangat berbeda, dan justru di situlah kekeliruan biasanya dimulai. Misi menjawab mengapa organisasi ada. Ia berbicara tentang masa kini: siapa kita, apa yang kita lakukan, untuk siapa, dan apa yang membuat kita unik. Buku memberi contoh St. Jude, sebuah rumah sakit: yang dilakukan adalah penelitian dan pengobatan, untuk penyakit katastrofik pada anak, dengan keunikan berupa penyembuhan dan pencegahan yang paling maju. Visi menjawab ke mana organisasi menuju. Ia berbicara tentang masa depan: kondisi ideal dua sampai sepuluh tahun lagi, yang menurut buku harus khas, spesifik, berorientasi masa depan, memandu keputusan, dan menginspirasi, dan menurut dosen harus ambisius serta sengaja tidak mudah dicapai, seperti kata "leading" dalam visi MM UGM. Contohnya Google: mengorganisasi informasi dunia agar bisa diakses dan berguna bagi semua orang. Objektif adalah ukuran kemajuan menuju visi yang dibuat SMART: spesifik, terukur, berbatas waktu, menantang, dan dapat dicapai, dengan kriteria buku "beyond immediate reach," sedikit di luar jangkauan langsung. Contohnya Lululemon: pendapatan 12,5 miliar dolar pada 2026 dan jumlah toko di China dari 95 menjadi 220.</a:t>
            </a:r>
            <a:endParaRPr lang="en-US" sz="1300" dirty="0"/>
          </a:p>
          <a:p>
            <a:pPr algn="l" indent="0" marL="0">
              <a:spcAft>
                <a:spcPts val="1000"/>
              </a:spcAft>
              <a:buNone/>
            </a:pPr>
            <a:r>
              <a:rPr lang="en-US" sz="1300" dirty="0">
                <a:solidFill>
                  <a:srgbClr val="1A1A1A"/>
                </a:solidFill>
              </a:rPr>
              <a:t>Urutan yang benar adalah misi, lalu visi, lalu objektif. Alasannya ada pada fungsi masing-masing. Misi adalah niat, dan niat adalah sumber energi; dosen memakai analogi bensin yang membakar kita untuk sampai ke tujuan, dan merujuk semangat Imam Al-Ghazali bahwa niat harus diluruskan lebih dulu. Visi adalah destinasi; analoginya bintang di langit yang memotivasi dan menggerakkan, bukan untuk dicapai secara instan. Objektif adalah milestone di sepanjang jalan. Kalau visi ditetapkan tanpa misi, organisasi bisa mencapai posisi tinggi tetapi kehilangan makna, seperti seseorang yang ingin menjadi dosen dalam lima tahun tanpa pernah menjawab mengapa ia ingin menjadi dosen. Karena itu, ketika fungsi-fungsi di perusahaan berdebat apakah profit, pelanggan, atau karyawan yang harus didahulukan, jawaban CEO menurut beliau adalah "mission first," karena misi mempersatukan semua pihak.</a:t>
            </a:r>
            <a:endParaRPr lang="en-US" sz="1300" dirty="0"/>
          </a:p>
          <a:p>
            <a:pPr algn="l" indent="0" marL="0">
              <a:spcAft>
                <a:spcPts val="1000"/>
              </a:spcAft>
              <a:buNone/>
            </a:pPr>
            <a:r>
              <a:rPr lang="en-US" sz="1300" dirty="0">
                <a:solidFill>
                  <a:srgbClr val="1A1A1A"/>
                </a:solidFill>
              </a:rPr>
              <a:t>Trade-off yang perlu disebut supaya jawaban tidak satu sisi: visi yang terlalu mudah dicapai tidak memotivasi, tetapi visi yang terlalu jauh dianggap tidak kredibel; objektif yang menantang bisa menurunkan motivasi bila tidak dapat dicapai, sehingga buku memakai konsep stretch objective untuk menyeimbangkan keduanya, dengan contoh SpaceX dan Alibaba. Dan secara praktis, misi, visi, dan objektif adalah lapisan yang paling sulit diubah dalam hierarki perubahan; yang mudah diubah adalah prosedur, lalu anggaran, lalu program.</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A2</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Jika setiap keputusan strategis mempunyai logika ekonomi, mengapa perusahaan masih memerlukan strategic objective di samping financial objective? Jelaskan dengan Balanced Scorecard dan Strategy Map.</a:t>
            </a:r>
            <a:endParaRPr lang="en-US" sz="1300" dirty="0"/>
          </a:p>
          <a:p>
            <a:pPr algn="l" indent="0" marL="0">
              <a:spcAft>
                <a:spcPts val="1000"/>
              </a:spcAft>
              <a:buNone/>
            </a:pPr>
            <a:r>
              <a:rPr lang="en-US" sz="1300" dirty="0">
                <a:solidFill>
                  <a:srgbClr val="1A1A1A"/>
                </a:solidFill>
              </a:rPr>
              <a:t>Jawaban model. Pertanyaan ini diajukan sendiri oleh dosen di kelas, jadi jawabannya harus lengkap. Financial objective mengukur hasil ekonomi: pendapatan, laba, return on equity, arus kas. Strategic objective mengukur posisi bersaing di masa depan: pangsa pasar, kualitas produk, kekuatan merek, kapabilitas teknologi, jumlah toko. Keduanya dibedakan buku dalam Table 2.3, dan contoh Lululemon menunjukkan bahwa hubungannya bukan sejajar melainkan berurutan: pendapatan 12,5 miliar dolar adalah hasil dari 220 toko di China yang berhasil dibuka, bukan target yang berdiri sendiri.</a:t>
            </a:r>
            <a:endParaRPr lang="en-US" sz="1300" dirty="0"/>
          </a:p>
          <a:p>
            <a:pPr algn="l" indent="0" marL="0">
              <a:spcAft>
                <a:spcPts val="1000"/>
              </a:spcAft>
              <a:buNone/>
            </a:pPr>
            <a:r>
              <a:rPr lang="en-US" sz="1300" dirty="0">
                <a:solidFill>
                  <a:srgbClr val="1A1A1A"/>
                </a:solidFill>
              </a:rPr>
              <a:t>Alasan pertama mengapa strategic objective diperlukan adalah soal waktu intervensi. Financial objective adalah lagging indicator: ia mencerminkan hasil yang sudah terjadi dan tidak bisa diintervensi lagi, seperti kaca spion. Strategic objective adalah leading indicator: ia mencerminkan proses yang masih berjalan dan masih bisa diintervensi, seperti kaca depan. CEO menekankan strategic objective bukan karena lebih penting, melainkan karena di situlah masih ada ruang bertindak. Alasan kedua adalah bias fungsional. Orang keuangan akan berkata profit first, orang pemasaran customer first, orang HR people first; semuanya benar di fungsinya dan semuanya bias. Perspektif strategis memberi helicopter view yang menunjukkan bahwa semua fungsi saling bergantung, dan itulah alasan alat yang dipakai disebut Balanced Scorecard. Alat ini memandang perusahaan dari empat perspektif, keuangan, pelanggan, proses internal, dan pembelajaran, yang mewakili empat fungsi utama perusahaan. Bobotnya tidak harus sama; ia bergantung pada strategi dan level jabatan, misalnya 60 persen finansial di level unit besar dan bobot pelanggan yang lebih besar di level relationship manager, tetapi keempatnya harus saling terhubung dan perspektif finansial harus tetap ada.</a:t>
            </a:r>
            <a:endParaRPr lang="en-US" sz="1300" dirty="0"/>
          </a:p>
          <a:p>
            <a:pPr algn="l" indent="0" marL="0">
              <a:spcAft>
                <a:spcPts val="1000"/>
              </a:spcAft>
              <a:buNone/>
            </a:pPr>
            <a:r>
              <a:rPr lang="en-US" sz="1300" dirty="0">
                <a:solidFill>
                  <a:srgbClr val="1A1A1A"/>
                </a:solidFill>
              </a:rPr>
              <a:t>Strategy Map menjelaskan hubungan sebab-akibatnya dari bawah ke atas: pembelajaran dan pertumbuhan menghasilkan proses internal yang baik, proses internal menghasilkan pelanggan yang puas, pelanggan yang puas menghasilkan hasil finansial. Rantai itu, menurut dosen, bahkan melingkar: laba membiayai insentif, insentif membangun loyalitas karyawan, karyawan menjalankan operasi, operasi menghasilkan layanan, layanan menghasilkan pelanggan loyal, pelanggan menghasilkan penjualan, penjualan menghasilkan laba. Karena itu pembahasan pencapaian harus dimulai dari fondasi, bukan dari angka finansial.</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A2 (lanjutan)</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Bukti dari kelas adalah AQUA saat pandemi. Danone punya kekuatan finansial untuk menurunkan harga di bawah pesaing dan mengejar target pendapatan kuartalan. Tetapi positioning AQUA sebagai merek premium menuntut price index tetap 105 persen dari pesaing terdekat; menurunkan harga akan merusak relevansi strategisnya. Danone memilih tidak mengorbankan strategic objective demi financial objective jangka pendek. Kesimpulannya: keduanya tidak bisa dipisahkan. Financial tanpa strategic membuat perusahaan mengorbankan masa depan demi hasil hari ini; strategic tanpa financial tidak bisa dibiayai.</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A3</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Mengapa Honda tetap fokus sementara Yamaha berdiversifikasi, dan mengapa Citibank membangun bank dari nol sementara CIMB mengakuisisi bank lokal, padahal masing-masing pasangan berada di industri yang sama? Framework apa yang menjelaskannya?</a:t>
            </a:r>
            <a:endParaRPr lang="en-US" sz="1200" dirty="0"/>
          </a:p>
          <a:p>
            <a:pPr algn="l" indent="0" marL="0">
              <a:spcAft>
                <a:spcPts val="1000"/>
              </a:spcAft>
              <a:buNone/>
            </a:pPr>
            <a:r>
              <a:rPr lang="en-US" sz="1200" dirty="0">
                <a:solidFill>
                  <a:srgbClr val="1A1A1A"/>
                </a:solidFill>
              </a:rPr>
              <a:t>Jawaban model. Framework yang menjelaskannya ada dua, dan keduanya dari kelas: kerangka ABC, yang menyatakan bahwa pilihan strategis adalah fungsi dari positioning dan visi, dan Strategy Diamond dari Hambrick dan Fredrickson, yang memecah strategi menjadi arena, vehicle, differentiator, staging, dan economic logic.</a:t>
            </a:r>
            <a:endParaRPr lang="en-US" sz="1200" dirty="0"/>
          </a:p>
          <a:p>
            <a:pPr algn="l" indent="0" marL="0">
              <a:spcAft>
                <a:spcPts val="1000"/>
              </a:spcAft>
              <a:buNone/>
            </a:pPr>
            <a:r>
              <a:rPr lang="en-US" sz="1200" dirty="0">
                <a:solidFill>
                  <a:srgbClr val="1A1A1A"/>
                </a:solidFill>
              </a:rPr>
              <a:t>Honda dan Yamaha adalah keputusan arena, tentang product scope. Logika ekonomi keduanya berbeda. Fokus seperti Honda mengejar economies of scale: makin besar volume satu jenis produk, makin rendah biaya per unit karena biaya tetap disebar ke lebih banyak unit; contoh ekstremnya Coca-Cola yang bisa menjual minuman bersoda seharga air mineral dan menjadikan skalanya sebagai hambatan masuk bagi RC Cola dan Pepsi. Diversifikasi seperti Yamaha mengejar economies of scope: berbagai lini produk, dari alat musik sampai motor dan jet ski, berbagi riset, distribusi, merek, dan pemasaran, dan portofolio yang luas menjadi mitigasi risiko. Trade-off-nya nyata dan harus disebut. Perusahaan fokus punya brand awareness yang lebih kuat, tetapi rentan bila lingkungan berubah; jangan menaruh semua telur di satu keranjang. Perusahaan terdiversifikasi lebih aman, tetapi identitas mereknya terpecah dan ia menanggung biaya pabrik yang berbeda-beda; economies of scope hanya bernilai bila benar-benar ada shared activities, kalau tidak justru merugikan.</a:t>
            </a:r>
            <a:endParaRPr lang="en-US" sz="1200" dirty="0"/>
          </a:p>
          <a:p>
            <a:pPr algn="l" indent="0" marL="0">
              <a:spcAft>
                <a:spcPts val="1000"/>
              </a:spcAft>
              <a:buNone/>
            </a:pPr>
            <a:r>
              <a:rPr lang="en-US" sz="1200" dirty="0">
                <a:solidFill>
                  <a:srgbClr val="1A1A1A"/>
                </a:solidFill>
              </a:rPr>
              <a:t>Citibank dan CIMB adalah keputusan vehicle. Citibank memposisikan diri di corporate banking dengan target perusahaan-perusahaan Amerika yang beroperasi di Indonesia; ia tidak butuh basis nasabah retail lokal, sehingga internal development atau greenfield adalah kendaraan yang tepat. CIMB memposisikan diri di retail; ia butuh basis nasabah yang sudah mapan, sehingga akuisisi atau brownfield lebih masuk akal, sama seperti Danone yang membeli Aqua terutama untuk jaringan distribusinya. Trade-off-nya: membangun sendiri lebih murah dan lebih terkendali tetapi lambat; mengakuisisi lebih cepat tetapi mahal dan berisiko integrasi.</a:t>
            </a:r>
            <a:endParaRPr lang="en-US" sz="1200" dirty="0"/>
          </a:p>
          <a:p>
            <a:pPr algn="l" indent="0" marL="0">
              <a:spcAft>
                <a:spcPts val="1000"/>
              </a:spcAft>
              <a:buNone/>
            </a:pPr>
            <a:r>
              <a:rPr lang="en-US" sz="1200" dirty="0">
                <a:solidFill>
                  <a:srgbClr val="1A1A1A"/>
                </a:solidFill>
              </a:rPr>
              <a:t>Kedua pasangan menunjukkan satu insight yang sama: perusahaan dalam industri yang sama bisa berperilaku strategis sangat berbeda karena positioning dan visinya berbeda, dan karena perspektif CEO-nya berbeda, sebagaimana P kelima dalam 5P Mintzberg. Jawaban yang menyatakan salah satu pilihan "lebih benar" akan dinilai dangkal; yang dinilai adalah konsistensi pilihan dengan posisi dan visi, serta kejelasan logika ekonominya.</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A4</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Jelaskan mengapa PESTEL tidak langsung memengaruhi perusahaan, dan bagaimana hubungannya dengan Porter's Five Forces. Gunakan industri penerbangan sebagai contoh.</a:t>
            </a:r>
            <a:endParaRPr lang="en-US" sz="1200" dirty="0"/>
          </a:p>
          <a:p>
            <a:pPr algn="l" indent="0" marL="0">
              <a:spcAft>
                <a:spcPts val="1000"/>
              </a:spcAft>
              <a:buNone/>
            </a:pPr>
            <a:r>
              <a:rPr lang="en-US" sz="1200" dirty="0">
                <a:solidFill>
                  <a:srgbClr val="1A1A1A"/>
                </a:solidFill>
              </a:rPr>
              <a:t>Jawaban model. PESTEL adalah alat untuk memetakan lingkungan makro: faktor politik, ekonomi, sosial budaya, teknologi, lingkungan, dan hukum. Tujuannya adalah menemukan faktor makro yang strategically relevant bagi perusahaan. Tetapi dampak faktor makro berjenjang. Dosen menggambarnya sebagai tiga lingkaran konsentris: lingkungan makro di luar, industri di tengah, perusahaan di dalam. Faktor makro memengaruhi industri lebih dulu, mengubah struktur dan intensitas persaingannya, dan baru lewat industri itulah ia memengaruhi perusahaan. Five Forces adalah alat untuk membaca lapisan tengah itu: ia menilai seberapa menarik sebuah industri lewat lima kekuatan, dan indikator daya tarik industri adalah profitabilitas.</a:t>
            </a:r>
            <a:endParaRPr lang="en-US" sz="1200" dirty="0"/>
          </a:p>
          <a:p>
            <a:pPr algn="l" indent="0" marL="0">
              <a:spcAft>
                <a:spcPts val="1000"/>
              </a:spcAft>
              <a:buNone/>
            </a:pPr>
            <a:r>
              <a:rPr lang="en-US" sz="1200" dirty="0">
                <a:solidFill>
                  <a:srgbClr val="1A1A1A"/>
                </a:solidFill>
              </a:rPr>
              <a:t>Contoh penerbangan menunjukkan rantainya dengan jelas. Faktor makro yang menjadi driving force adalah deregulasi, perubahan di aspek hukum: di Amerika pada akhir 1970-an di bawah Alfred Kahn setelah kajian Stephen Breyer, di Indonesia lewat Open Sky Policy 1998. Sebelum deregulasi, Civil Aeronautics Board mengatur rute, tarif, bahkan ukuran sandwich, dan regulasi itu melindungi pemain besar seperti Pan Am; regulasi berfungsi sebagai barrier to entry. Deregulasi meruntuhkan hambatan itu. Dampaknya ke industri terbaca lewat lima kekuatan: ancaman pendatang baru naik karena izin mudah dan pesawat bisa disewa; rivalry naik karena pemain bertambah dan produk serupa; buyer power naik karena penumpang bisa pindah tanpa biaya dan aplikasi pemesanan membuat harga transparan; supplier power tetap tinggi karena pesawat hanya dari Boeing dan Airbus, avtur mengikuti harga minyak, bandara tidak bisa ditawar, dan pilot mahal; dan kursi yang hangus begitu pesawat lepas landas memaksa setiap maskapai menjual dengan harga berapa pun daripada kosong. Hasilnya, harga turun sementara biaya naik, margin tertekan, dan profitabilitas industri rendah secara struktural. Baru di tahap terakhir dampaknya sampai ke perusahaan: Garuda jarang untung berkelanjutan, Pan Am tumbang, dan pada 2008 hampir semua maskapai di dunia rugi. Pembandingnya adalah farmasi yang profitnya tinggi secara struktural karena lima kekuatannya jauh lebih ramah.</a:t>
            </a:r>
            <a:endParaRPr lang="en-US" sz="1200" dirty="0"/>
          </a:p>
          <a:p>
            <a:pPr algn="l" indent="0" marL="0">
              <a:spcAft>
                <a:spcPts val="1000"/>
              </a:spcAft>
              <a:buNone/>
            </a:pPr>
            <a:r>
              <a:rPr lang="en-US" sz="1200" dirty="0">
                <a:solidFill>
                  <a:srgbClr val="1A1A1A"/>
                </a:solidFill>
              </a:rPr>
              <a:t>Implikasi bagi perusahaan: dalam industri yang tidak atraktif, laba hanya datang dari posisi yang jelas, biaya rendah atau diferensiasi, seperti AirAsia dengan 11,66 sen per kursi per kilometer melawan 22,80 sen di Malaysia Airlines. Dan kesalahan yang harus dihindari adalah melompat dari PESTEL langsung ke strategi perusahaan tanpa membaca lapisan industri, sebagaimana dikoreksi dosen ketika seorang mahasiswa memetakan strategi rantai pasok AirAsia langsung dari PESTEL.</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A5</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Apa perbedaan competence, distinctive competence, dan core competence? Mengapa resource yang lolos uji VRIN masih bisa kehilangan keunggulannya?</a:t>
            </a:r>
            <a:endParaRPr lang="en-US" sz="1300" dirty="0"/>
          </a:p>
          <a:p>
            <a:pPr algn="l" indent="0" marL="0">
              <a:spcAft>
                <a:spcPts val="1000"/>
              </a:spcAft>
              <a:buNone/>
            </a:pPr>
            <a:r>
              <a:rPr lang="en-US" sz="1300" dirty="0">
                <a:solidFill>
                  <a:srgbClr val="1A1A1A"/>
                </a:solidFill>
              </a:rPr>
              <a:t>Jawaban model. Competence adalah aktivitas yang sudah dikuasai perusahaan dan dikerjakan secara konsisten dengan biaya wajar; hampir semua produsen sereal punya kemampuan pemasaran yang memadai. Distinctive competence adalah kemampuan mengerjakan aktivitas itu lebih baik dari pesaing. Core competence adalah aktivitas yang dikerjakan dengan cakap dan berada di jantung strategi perusahaan serta menjadi mesin pertumbuhannya; Procter and Gamble di manajemen merek, Nike di desain dan pemasaran, Kellogg di sereal. VRIN adalah empat uji untuk menentukan apakah sebuah resource atau kapabilitas bisa menjadi sumber keunggulan yang tahan lama: valuable dan rare menentukan apakah ia menciptakan keunggulan; inimitable dan nonsubstitutable menentukan apakah keunggulan itu bisa dipertahankan terhadap pesaing. Sumber kesulitan meniru adalah keunikan fisik, path dependency, causal ambiguity, dan social complexity.</a:t>
            </a:r>
            <a:endParaRPr lang="en-US" sz="1300" dirty="0"/>
          </a:p>
          <a:p>
            <a:pPr algn="l" indent="0" marL="0">
              <a:spcAft>
                <a:spcPts val="1000"/>
              </a:spcAft>
              <a:buNone/>
            </a:pPr>
            <a:r>
              <a:rPr lang="en-US" sz="1300" dirty="0">
                <a:solidFill>
                  <a:srgbClr val="1A1A1A"/>
                </a:solidFill>
              </a:rPr>
              <a:t>Resource yang lolos VRIN tetap bisa kehilangan keunggulannya karena VRIN menguji satu jenis ancaman saja: serangan pesaing. Ia tidak menguji risiko dari dalam dan dari waktu: orang kunci pensiun, teknologi usang, selera pelanggan bergeser. Buku menyebutnya "from diamonds to rust," dan jawabannya adalah dynamic capability, kemampuan berkelanjutan memodifikasi, memperdalam, dan menambah resource, seperti perbaikan inkremental Toyota atau aliansi GM dengan LG. Contoh kasus yang paling jelas adalah Manchester United. "Sistem Ferguson" lolos keempat uji: bernilai karena menghasilkan hat-trick liga, langka karena tidak ada manajer dengan masa jabatan sebanding, sulit ditiru karena penentu performa tim "defies analysis" dan tertanam dalam budaya 23 tahun, dan tidak tergantikan karena jalan pintas pesaing, membeli bintang dengan uang seperti Real Madrid dan Chelsea, gagal mencapai kebesaran. Tetapi resource itu melekat pada satu orang berusia 68 tahun yang akan pensiun, dan preseden pasca-Busby, delapan belas tahun tanpa gelar liga, menunjukkan apa yang terjadi bila kapabilitas tidak dipindahkan dari orang ke organisasi. Catatan dosen harus dipegang: dynamic capability "bagus tapi tidak operasional" kalau berhenti sebagai nama; ia harus diterjemahkan menjadi tindakan, misalnya melembagakan sistem scouting, akademi, dan rotasi menjadi rutinitas klub sebelum Ferguson pergi.</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Bagian 3: Tipe B dan C, Aplikasi Kasus dan Penilaian</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B1</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200" dirty="0">
                <a:solidFill>
                  <a:srgbClr val="1A1A1A"/>
                </a:solidFill>
              </a:rPr>
              <a:t>Dengan framework Bab 3, nilailah apakah keunggulan biaya AirAsia dapat ditransfer ke rute jarak jauh melalui AirAsia X. Apa yang menentukan transferability?</a:t>
            </a:r>
            <a:endParaRPr lang="en-US" sz="1200" dirty="0"/>
          </a:p>
          <a:p>
            <a:pPr algn="l" indent="0" marL="0">
              <a:spcAft>
                <a:spcPts val="1000"/>
              </a:spcAft>
              <a:buNone/>
            </a:pPr>
            <a:r>
              <a:rPr lang="en-US" sz="1200" dirty="0">
                <a:solidFill>
                  <a:srgbClr val="1A1A1A"/>
                </a:solidFill>
              </a:rPr>
              <a:t>Jawaban model. Kalimat pembukanya harus mengikuti koreksi dosen: transferability dalam kerangka Bab 3 ditentukan oleh lingkungan eksternal rute baru, bukan oleh resource internal. Contoh beliau adalah Ford yang sukses di Amerika, gagal di Indonesia, dan pindah ke Thailand; yang berbeda adalah lingkungannya, bukan resource-nya.</a:t>
            </a:r>
            <a:endParaRPr lang="en-US" sz="1200" dirty="0"/>
          </a:p>
          <a:p>
            <a:pPr algn="l" indent="0" marL="0">
              <a:spcAft>
                <a:spcPts val="1000"/>
              </a:spcAft>
              <a:buNone/>
            </a:pPr>
            <a:r>
              <a:rPr lang="en-US" sz="1200" dirty="0">
                <a:solidFill>
                  <a:srgbClr val="1A1A1A"/>
                </a:solidFill>
              </a:rPr>
              <a:t>Langkah pertama, lapisan makro rute jauh. Secara hukum, rute internasional bergantung pada perjanjian bilateral dan kepemilikan asing dibatasi. Secara ekonomi, avtur memakan 47 persen biaya dan A340 ke London boros. Secara sosial, penumpang rute jauh menuntut kursi yang lebih nyaman dan makanan, berbeda dari penumpang tiga jam. Langkah kedua, lapisan industri rute jauh dengan Five Forces. Pesaingnya bukan lagi sesama maskapai murah, melainkan network carriers seperti Emirates, British Airways, dan Malaysia Airlines internasional, yang punya feeder network, tiket terusan, dan bisa menurunkan tarif ekonomi tanpa kehilangan laba total karena ditopang kelas premium. Pembeli di rute London bukan pasar baru yang diciptakan, melainkan penumpang maskapai mapan yang harus direbut. Pemasok tetap kuat. Satu-satunya kekuatan yang ramah adalah substitusi, karena tidak ada pengganti untuk penerbangan antarbenua. Langkah ketiga, strategic group: AirAsia X pindah dari kelompok maskapai murah regional ke kelompok maskapai murah jarak jauh yang hampir kosong, dan pindah kelompok berarti melawan model laba yang berbeda. Langkah keempat, key success factors rute jauh berbeda: penumpang transit, kursi premium, biaya kru dan katering yang membesar.</a:t>
            </a:r>
            <a:endParaRPr lang="en-US" sz="1200" dirty="0"/>
          </a:p>
          <a:p>
            <a:pPr algn="l" indent="0" marL="0">
              <a:spcAft>
                <a:spcPts val="1000"/>
              </a:spcAft>
              <a:buNone/>
            </a:pPr>
            <a:r>
              <a:rPr lang="en-US" sz="1200" dirty="0">
                <a:solidFill>
                  <a:srgbClr val="1A1A1A"/>
                </a:solidFill>
              </a:rPr>
              <a:t>Hasil ujinya: yang bisa ditransfer bersifat organisasional, yaitu merek dan reputasi, distribusi langsung dan teknologi informasi, orang dan budaya biaya, bandara sekunder seperti Stansted, dan outsourcing perawatan. Yang tidak bisa ditransfer justru inti model maskapai murah: satu tipe pesawat, turnaround 25 menit, satu kelas tanpa layanan, dan jaringan titik ke titik. Datanya menunjukkan keunggulan masih ada tetapi lebih tipis: tiket Kuala Lumpur ke London 36,5 persen lebih murah dengan kursi terisi lebih dari 90 persen, namun tabel biaya belum memuat gaji kru, perawatan, dan katering. Kesimpulannya, keunggulan biaya bisa ditransfer sebagian, dan karena itu harus bertahap: eksekusi opsi 30 persen, batasi rute pada empat sampai delapan jam, dan merger hanya setelah empat kuartal laba. Logika ekonominya: menjaga biaya per kursi tetap rendah sambil membuka sumber pendapatan baru tanpa membebani neraca yang kasnya hanya 153,8 juta ringgit dengan utang 6,69 miliar ringgit.</a:t>
            </a:r>
            <a:endParaRPr lang="en-US" sz="12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B2</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300" dirty="0">
                <a:solidFill>
                  <a:srgbClr val="1A1A1A"/>
                </a:solidFill>
              </a:rPr>
              <a:t>Lakukan analisis internal Manchester United pada Juli 2009 dengan enam pertanyaan Bab 4 dan susun priority list untuk David Gill.</a:t>
            </a:r>
            <a:endParaRPr lang="en-US" sz="1300" dirty="0"/>
          </a:p>
          <a:p>
            <a:pPr algn="l" indent="0" marL="0">
              <a:spcAft>
                <a:spcPts val="1000"/>
              </a:spcAft>
              <a:buNone/>
            </a:pPr>
            <a:r>
              <a:rPr lang="en-US" sz="1300" dirty="0">
                <a:solidFill>
                  <a:srgbClr val="1A1A1A"/>
                </a:solidFill>
              </a:rPr>
              <a:t>Jawaban model. Pertanyaan pertama, kinerja strategi: sangat baik di industri yang enam dari sepuluh klub besarnya rugi. Buktinya hat-trick liga 2007 sampai 2009, Piala Eropa 2008, peringkat pertama poin performa Eropa dengan 1.460 poin, return on sales 12,6 persen yang tertinggi, EBITDA 101,9 juta euro yang tertinggi, dan pendapatan yang naik 53 persen dari 2006 ke 2008. Pertanyaan kedua, SWOT: kekuatan pada merek global dengan 80 juta pendukung Asia, akademi dan scouting, serta disiplin transfer dengan belanja bersih hanya 100 juta pound; kelemahan pada ketergantungan terhadap satu orang berusia 68 tahun tanpa rencana suksesi, kepergian Ronaldo, dan utang 616 juta pound; peluang pada Asia dan hak siar yang naik 43 persen; ancaman pada pemilik miliarder dan inflasi transfer dengan Manchester City membelanjakan 185 juta pound. Kesimpulan yang harus ditarik: kekuatan cukup untuk peluang komersial, tetapi kelemahan utama menyerang syarat mengalirnya pendapatan komersial, yaitu menang di lapangan. Pertanyaan ketiga, resource dan kapabilitas: core competence MU adalah mengembangkan talenta dan memadukannya dengan pemain matang, rotasi skuad, dan monetisasi merek; sistem Ferguson lolos keempat uji VRIN tetapi melekat pada satu orang, sehingga masalahnya ada di luar VRIN dan membutuhkan dynamic capability yang operasional. Pertanyaan keempat, rantai nilai: keunggulan biaya MU ada di hulu, karena akademi menghasilkan pemain tanpa biaya transfer dan pemain yang dijual bernilai tinggi, sehingga gaji hanya sekitar 50 persen pendapatan dibanding 62 persen liga dan 81 persen Chelsea; benchmarking model menunjukkan bahwa memadukan pengembangan dan pembelian menghasilkan laba tertinggi dibanding membeli bintang atau mengembangkan saja. Pertanyaan kelima, competitive strength: MU 8,65 melawan Barcelona 8,40, dan skor jatuh ke 7,90 bila rating manajer turun dari 10 ke 5; baris paling rapuh adalah kemampuan manajer. Pertanyaan keenam, priority list dalam bentuk pertanyaan: bagaimana mengganti Ferguson tanpa merusak sistemnya; apakah perlu director of football; bagaimana bersaing di bursa transfer tanpa dana pemilik; bagaimana menambal skuad setelah Ronaldo; bagaimana menjaga pendapatan komersial bila prestasi turun; apakah pemilik tetap pasif. Dua yang pertama serius dan butuh strategi baru. Rekomendasinya: lembagakan sistem sebelum Ferguson pergi, pilih penerus dari dalam dengan masa transisi, tolak opsi revolusi, lindungi mesin komersial Asia; ukur dengan kualifikasi Liga Champions tiap musim dan rasio gaji terhadap pendapatan maksimal 55 persen.</a:t>
            </a:r>
            <a:endParaRPr lang="en-US" sz="13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B3</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600" dirty="0">
                <a:solidFill>
                  <a:srgbClr val="1A1A1A"/>
                </a:solidFill>
              </a:rPr>
              <a:t>Identifikasi strategi generik Garuda Indonesia dan Citilink, lalu jelaskan dengan rantai nilai mengapa keduanya dikelola sebagai entitas terpisah. Apakah keduanya sebaiknya merger?</a:t>
            </a:r>
            <a:endParaRPr lang="en-US" sz="1600" dirty="0"/>
          </a:p>
          <a:p>
            <a:pPr algn="l" indent="0" marL="0">
              <a:spcAft>
                <a:spcPts val="1000"/>
              </a:spcAft>
              <a:buNone/>
            </a:pPr>
            <a:r>
              <a:rPr lang="en-US" sz="1600" dirty="0">
                <a:solidFill>
                  <a:srgbClr val="1A1A1A"/>
                </a:solidFill>
              </a:rPr>
              <a:t>Jawaban model. Garuda memakai broad differentiation: layanan penuh, fasilitas lengkap, harga yang hampir selalu tertinggi di aplikasi pemesanan, dengan dominant logic premium service. Citilink memakai low-cost provider: tanpa snack atau snack yang dipesan massal, tanpa hiburan dalam pesawat, tanpa iklan besar, dengan dominant logic cost effectiveness. Rantai nilai keduanya berbeda dari hulu ke hilir: pengadaan dan konfigurasi pesawat, turnaround dan layanan kabin, saluran penjualan, pemasaran merek, dan layanan purna jual. Setiap aktivitas harus konsisten dengan satu value yang dipilih, dan dua dominant logic tidak bisa hidup dalam satu rangkaian aktivitas. Menggabungkannya menghasilkan posisi tanggung, stuck in the middle, nasib yang menimpa Mandala, Batavia Air, Merpati, dan Sempati. Jadi alasan pemisahan bukan sekadar segmentasi pasar, melainkan konfigurasi aktivitas dan manajemen yang berbeda, persis seperti yang dijelaskan dosen.</a:t>
            </a:r>
            <a:endParaRPr lang="en-US" sz="1600" dirty="0"/>
          </a:p>
          <a:p>
            <a:pPr algn="l" indent="0" marL="0">
              <a:spcAft>
                <a:spcPts val="1000"/>
              </a:spcAft>
              <a:buNone/>
            </a:pPr>
            <a:r>
              <a:rPr lang="en-US" sz="1600" dirty="0">
                <a:solidFill>
                  <a:srgbClr val="1A1A1A"/>
                </a:solidFill>
              </a:rPr>
              <a:t>Apakah sebaiknya merger? Tidak untuk operasi dan merek. Yang masuk akal adalah berbagi aktivitas pendukung yang netral terhadap dominant logic: pengadaan avtur, perawatan, teknologi informasi, dan treasury, untuk memperoleh economies of scope tanpa merusak positioning, di bawah tata kelola holding yang mengendalikan keduanya, sejalan dengan rekomendasi integrasi bertahap untuk AirAsia dan AirAsia X. Trade-off-nya harus disebut: pemisahan mengorbankan sebagian economies of scale, penggabungan mengorbankan kejelasan positioning. Logika ekonominya: scope di back-office menurunkan biaya, positioning yang terpisah di front-office memaksimalkan pendapatan dari dua segmen yang berbeda.</a:t>
            </a:r>
            <a:endParaRPr lang="en-US" sz="16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C1</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700" dirty="0">
                <a:solidFill>
                  <a:srgbClr val="1A1A1A"/>
                </a:solidFill>
              </a:rPr>
              <a:t>Setujukah Anda dengan keputusan Tony Fernandes membuka rute jarak jauh ke London? Gunakan framework Bab 3.</a:t>
            </a:r>
            <a:endParaRPr lang="en-US" sz="1700" dirty="0"/>
          </a:p>
          <a:p>
            <a:pPr algn="l" indent="0" marL="0">
              <a:spcAft>
                <a:spcPts val="1000"/>
              </a:spcAft>
              <a:buNone/>
            </a:pPr>
            <a:r>
              <a:rPr lang="en-US" sz="1700" dirty="0">
                <a:solidFill>
                  <a:srgbClr val="1A1A1A"/>
                </a:solidFill>
              </a:rPr>
              <a:t>Jawaban model, dengan posisi setuju bersyarat. Alasan setuju: visi AirAsia adalah menjadi maskapai internasional, bukan regional; Fernandes terinspirasi Freddie Laker dan sejak awal mengincar rute jauh; ada permintaan nyata dari diaspora Malaysia dan Asia ke Inggris; harga 36,5 persen lebih murah dengan kursi terisi lebih dari 90 persen membuktikan pasarnya ada; dan driving forces berupa deregulasi, distribusi langsung, serta kelas menengah Asia yang tumbuh mendukung. Alasan tidak setuju tanpa syarat: lapisan industri rute London jauh lebih keras, karena lawannya network carriers dengan subsidi silang dari kelas premium, slot Heathrow mahal, dan pembelinya sudah dilayani maskapai mapan; inti model maskapai murah tidak bisa ditransfer; A340 boros bahan bakar; neraca 2008 lemah dengan kas 153,8 juta ringgit; dan AirAsia hanya memegang 16 persen saham AirAsia X sehingga tata kelolanya tidak selaras. Syarat yang membuat keputusan itu bisa dibenarkan adalah soal staging: pakai bandara sekunder seperti Stansted, mulai dengan rute empat sampai delapan jam ber-A330 sebelum Eropa, pasang lindung nilai bahan bakar dengan mandat dewan, bangun feeder di Kuala Lumpur dengan transit di atas 25 persen, dan evaluasi berbasis bukti empat kuartal. Logika ekonominya: membuka sumber pendapatan baru hanya bila biaya per kursi rute jauh tetap di bawah pesaing; bila tidak, kembali fokus regional.</a:t>
            </a:r>
            <a:endParaRPr lang="en-US" sz="17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C2</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Tagline "Now Everyone Can Fly" menyiratkan pasar universal, tetapi strategi AirAsia adalah cost advantage untuk segmen menengah bawah. Perlukah AirAsia membuka kelas bisnis? Adakah inkonsistensi?</a:t>
            </a:r>
            <a:endParaRPr lang="en-US" sz="1800" dirty="0"/>
          </a:p>
          <a:p>
            <a:pPr algn="l" indent="0" marL="0">
              <a:spcAft>
                <a:spcPts val="1000"/>
              </a:spcAft>
              <a:buNone/>
            </a:pPr>
            <a:r>
              <a:rPr lang="en-US" sz="1800" dirty="0">
                <a:solidFill>
                  <a:srgbClr val="1A1A1A"/>
                </a:solidFill>
              </a:rPr>
              <a:t>Jawaban model, dengan posisi tidak untuk AirAsia rute pendek dan ya secara terbatas untuk AirAsia X. Tidak ada inkonsistensi, karena tagline menggambarkan misi memperluas pasar kepada segmen yang historis kurang terlayani, bukan janji melayani semua segmen dengan layanan penuh. Membuka kelas bisnis di A320 mengurangi jumlah kursi, sebagaimana 148 kursi satu kelas melawan 132 kursi dua kelas pada pesawat lama, menambah kompleksitas layanan, memperlambat turnaround 25 menit, dan mengaburkan positioning biaya rendah; risikonya stuck in the middle. Untuk rute jauh, kebutuhan pembeli berbeda karena kenyamanan dua belas jam terbang, sehingga AirAsia X memakai premium seat dan makanan pesan di muka; itu bukan pelanggaran strategi generik melainkan model bisnis lain dalam strategic group lain, dan justru alasan mengapa AirAsia X perlu entitas terpisah, sama seperti Garuda dan Citilink. Trade-off-nya: premium seat menambah pendapatan per kursi tetapi menaikkan biaya dan membawa risiko kanibalisasi identitas merek. Keputusan: pertahankan satu kelas di AirAsia, izinkan premium terbatas di AirAsia X dengan unit ekonomi yang terpisah dan diukur lewat pendapatan dan biaya per kursi per kilometer.</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C3</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AirAsia berinvestasi pada sistem tiket sendiri dan sempat menarik diri dari aplikasi pemesanan seperti Traveloka, lalu kembali. Sebaiknya membangun sistem sendiri atau cukup bekerja sama dengan aplikasi pemesanan?</a:t>
            </a:r>
            <a:endParaRPr lang="en-US" sz="1800" dirty="0"/>
          </a:p>
          <a:p>
            <a:pPr algn="l" indent="0" marL="0">
              <a:spcAft>
                <a:spcPts val="1000"/>
              </a:spcAft>
              <a:buNone/>
            </a:pPr>
            <a:r>
              <a:rPr lang="en-US" sz="1800" dirty="0">
                <a:solidFill>
                  <a:srgbClr val="1A1A1A"/>
                </a:solidFill>
              </a:rPr>
              <a:t>Jawaban model, dengan posisi keduanya dalam peran yang berbeda. Framework yang relevan: Value Net, yang melihat aplikasi pemesanan sebagai complementor sekaligus penekan margin; Five Forces, karena aplikasi pemesanan menaikkan buyer power dengan membuat harga transparan dan biaya berpindah nol; cost drivers, karena distribusi langsung yang menghapus komisi agen serta sistem Navitaire dan yield management adalah sumber keunggulan biaya; dan Strategy Diamond pada elemen vehicle, membangun sendiri atau bermitra. Sistem sendiri tetap wajib karena ia inti keunggulan biaya dan pintu data pelanggan untuk pendapatan tambahan serta ekosistem Tune. Tetapi menarik diri dari aplikasi pemesanan mengorbankan jangkauan ke pembeli yang membandingkan harga di satu layar, dan terbukti blunder. Keputusannya: sistem sendiri sebagai saluran utama dengan harga termurah sebagai insentif pemesanan langsung, aplikasi pemesanan sebagai saluran pelengkap dengan komisi yang dinegosiasikan dan inventori promo yang dibatasi. Trade-off-nya komisi melawan volume, dan kontrol data melawan jangkauan. Logika ekonominya: menjaga biaya distribusi rendah sambil memaksimalkan kursi terisi, karena kursi kosong hangus.</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645920"/>
          </a:xfrm>
          <a:prstGeom prst="rect">
            <a:avLst/>
          </a:prstGeom>
          <a:noFill/>
          <a:ln/>
        </p:spPr>
        <p:txBody>
          <a:bodyPr wrap="square" lIns="0" tIns="0" rIns="0" bIns="0" rtlCol="0" anchor="b"/>
          <a:lstStyle/>
          <a:p>
            <a:pPr algn="l" indent="0" marL="0">
              <a:buNone/>
            </a:pPr>
            <a:r>
              <a:rPr lang="en-US" sz="3600" b="1" dirty="0">
                <a:solidFill>
                  <a:schemeClr val="bg1"/>
                </a:solidFill>
              </a:rPr>
              <a:t>Bagian 4: Tipe D, Soal Integratif "Jika Anda CEO"</a:t>
            </a:r>
            <a:endParaRPr lang="en-US" sz="3600" dirty="0"/>
          </a:p>
        </p:txBody>
      </p:sp>
      <p:sp>
        <p:nvSpPr>
          <p:cNvPr id="3" name="mark"/>
          <p:cNvSpPr/>
          <p:nvPr/>
        </p:nvSpPr>
        <p:spPr>
          <a:xfrm>
            <a:off x="548640" y="1828800"/>
            <a:ext cx="822960" cy="109728"/>
          </a:xfrm>
          <a:prstGeom prst="rect">
            <a:avLst/>
          </a:prstGeom>
          <a:solidFill>
            <a:srgbClr val="B08D2F"/>
          </a:solidFill>
          <a:ln w="12700">
            <a:solidFill>
              <a:srgbClr val="B08D2F"/>
            </a:solidFill>
            <a:prstDash val="solid"/>
          </a:ln>
        </p:spPr>
      </p:sp>
      <p:sp>
        <p:nvSpPr>
          <p:cNvPr id="4" name="Text 0"/>
          <p:cNvSpPr/>
          <p:nvPr>
            <p:ph idx="101" type="body" hasCustomPrompt="1"/>
          </p:nvPr>
        </p:nvSpPr>
        <p:spPr>
          <a:xfrm>
            <a:off x="548640" y="3840480"/>
            <a:ext cx="11091672" cy="146304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D1</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500" dirty="0">
                <a:solidFill>
                  <a:srgbClr val="1A1A1A"/>
                </a:solidFill>
              </a:rPr>
              <a:t>Anda CEO Bluebird saat Gojek dan Grab masuk. Identifikasi driving force-nya, lalu rekomendasikan strategi dengan framework Bab 1 sampai 5.</a:t>
            </a:r>
            <a:endParaRPr lang="en-US" sz="1500" dirty="0"/>
          </a:p>
          <a:p>
            <a:pPr algn="l" indent="0" marL="0">
              <a:spcAft>
                <a:spcPts val="1000"/>
              </a:spcAft>
              <a:buNone/>
            </a:pPr>
            <a:r>
              <a:rPr lang="en-US" sz="1500" dirty="0">
                <a:solidFill>
                  <a:srgbClr val="1A1A1A"/>
                </a:solidFill>
              </a:rPr>
              <a:t>Jawaban model. Driving force utamanya adalah teknologi: aplikasi on-demand mengubah model bisnis dari penumpang yang mendatangi pengemudi menjadi pengemudi yang mendatangi penumpang; ia diperkuat faktor sosial berupa kebiasaan konsumen yang berubah dan faktor hukum berupa regulasi transportasi daring yang belum mapan. Dampaknya ke industri dalam Five Forces: hambatan masuk runtuh karena siapa pun bisa menjadi pengemudi, buyer power naik, substitusi menguat, dan profitabilitas taksi konvensional tertekan. Positioning Bluebird adalah taksi yang aman, terpercaya, dengan armada dan pengemudi terstandar; visinya tetap menjadi penyedia transportasi yang paling dipercaya, bukan yang termurah. Alternatif pertama, perang harga meniru Gojek, menyalahi positioning dan tidak mungkin dimenangkan di sisi biaya; itu red ocean. Alternatif kedua, mengabaikan, berarti menunggu disrupsi menghajar. Alternatif ketiga, berinvestasi pada sumber disrupsi: membangun aplikasi sendiri sekaligus bermitra dengan platform, vehicle berupa build dan partner, sambil mempertahankan diferensiasi pada keandalan dan keamanan lewat value drivers berupa kualitas kontrol, pelatihan pengemudi, dan armada, dan menjadikan konsumen yang lelah dengan kualitas layanan ojek daring sebagai segmen sasaran. Pilihannya alternatif ketiga, yang memang dilakukan Bluebird dan membuatnya bertahan, bahkan merebut kembali pangsa pasar. Logika ekonominya: mempertahankan harga premium moderat untuk pendapatan sambil menaikkan utilisasi armada lewat aplikasi untuk menurunkan biaya per kilometer. Rencananya: peluncuran aplikasi dan integrasi ke platform dalam dua kuartal, ukuran berupa utilisasi armada, rating layanan, dan pangsa segmen korporat, dan risiko kanibalisasi tarif yang diatasi dengan segmentasi.</a:t>
            </a:r>
            <a:endParaRPr lang="en-US" sz="15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D2</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600" dirty="0">
                <a:solidFill>
                  <a:srgbClr val="1A1A1A"/>
                </a:solidFill>
              </a:rPr>
              <a:t>Anda CEO Honda atau Yamaha menghadapi kendaraan listrik dari BYD dan merek China yang jauh lebih murah. Haruskah masuk kendaraan listrik dengan merek yang sama, mengakuisisi merek baru, atau tidak masuk?</a:t>
            </a:r>
            <a:endParaRPr lang="en-US" sz="1600" dirty="0"/>
          </a:p>
          <a:p>
            <a:pPr algn="l" indent="0" marL="0">
              <a:spcAft>
                <a:spcPts val="1000"/>
              </a:spcAft>
              <a:buNone/>
            </a:pPr>
            <a:r>
              <a:rPr lang="en-US" sz="1600" dirty="0">
                <a:solidFill>
                  <a:srgbClr val="1A1A1A"/>
                </a:solidFill>
              </a:rPr>
              <a:t>Jawaban model. Driving force-nya teknologi dan regulasi: core business kendaraan listrik adalah baterai, bukan kendaraannya, dan BYD unggul karena berawal sebagai perusahaan baterai; regulasi emisi dan subsidi mempercepat pergeseran. Posisi Honda dan Yamaha kuat di kapabilitas mesin pembakaran dan tertinggal di baterai. Prinsip dosen: tidak perlu mengganti positioning; yang diubah adalah strategic vision dan strategic choice. Alternatif pertama, kendaraan listrik dengan merek yang sama, memanfaatkan merek dan jaringan dealer sebagai economies of scope tetapi bertarung head-to-head di biaya dengan BYD yang menang di baterai. Alternatif kedua, akuisisi atau usaha patungan di baterai, adalah vehicle brownfield yang cepat memperoleh kapabilitas yang tidak dimiliki, dengan risiko integrasi dan harga mahal. Alternatif ketiga, teknologi alternatif seperti hidrogen, konsisten dengan kapabilitas mesin dan berpotensi blue ocean, tetapi infrastrukturnya belum ada. Rekomendasinya menggabungkan alternatif kedua untuk baterai, dengan staging yang cepat karena sebagai late mover waktunya sudah tipis, dan alternatif ketiga sebagai diferensiasi jangka panjang; alternatif pertama secara murni dihindari karena gagal fit test, tidak ada core competence baterai. Logika ekonominya: usaha patungan menurunkan biaya baterai, hidrogen membuka sumber pendapatan yang belum dikuasai pesaing China. Rencananya: usaha patungan baterai dalam dua belas sampai delapan belas bulan, model listrik pertama di segmen yang tidak dilayani BYD, dan riset hidrogen dengan tonggak yang terukur.</a:t>
            </a:r>
            <a:endParaRPr lang="en-US" sz="16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D3</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Anda CEO stasiun televisi lokal atau radio yang penontonnya pindah ke YouTube, Netflix, dan Spotify. Apa yang Anda lakukan?</a:t>
            </a:r>
            <a:endParaRPr lang="en-US" sz="1800" dirty="0"/>
          </a:p>
          <a:p>
            <a:pPr algn="l" indent="0" marL="0">
              <a:spcAft>
                <a:spcPts val="1000"/>
              </a:spcAft>
              <a:buNone/>
            </a:pPr>
            <a:r>
              <a:rPr lang="en-US" sz="1800" dirty="0">
                <a:solidFill>
                  <a:srgbClr val="1A1A1A"/>
                </a:solidFill>
              </a:rPr>
              <a:t>Jawaban model. Pertama, tentukan apakah penurunan bersifat siklikal atau struktural dan permanen; driving force teknologi dan sosial telah mengubah perilaku konsumsi media secara permanen. Dalam Five Forces, substitusi sangat kuat dan buyer power dari pengiklan naik karena platform digital menawarkan pengukuran yang lebih baik; profitabilitas industri turun untuk semua pemain. Alternatif pertama, bertahan dengan efisiensi, hanya menunda. Alternatif kedua, pivot menjadi produsen konten untuk platform digital dengan memakai kapabilitas produksi, talenta lokal, dan relasi dengan pengiklan daerah sebagai focused differentiation di konten lokal. Alternatif ketiga, divestasi lebih cepat selagi aset masih bernilai, keputusan yang diambil dosen sendiri saat menjadi direktur utama televisi lokal Yogyakarta. Pilihannya bergantung pada posisi dan visi pemilik: bila tidak ada resource untuk pivot, fit test gagal dan divestasi adalah pilihan rasional; bila ada, pivot ke konten lokal multi-platform. Logika ekonominya: menghentikan struktur biaya siaran yang mahal untuk transmisi dan lisensi, dan memindahkan pendapatan ke model yang bisa diskalakan. Poin beliau: tugas CEO adalah mengidentifikasi sumber disrupsi lebih dulu dan bertindak cepat, bukan menunggu.</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D4</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Perusahaan Anda gagal mencapai target. Bagaimana membedakan apakah targetnya yang salah atau eksekusinya yang gagal, dan apa tindakan Anda?</a:t>
            </a:r>
            <a:endParaRPr lang="en-US" sz="1800" dirty="0"/>
          </a:p>
          <a:p>
            <a:pPr algn="l" indent="0" marL="0">
              <a:spcAft>
                <a:spcPts val="1000"/>
              </a:spcAft>
              <a:buNone/>
            </a:pPr>
            <a:r>
              <a:rPr lang="en-US" sz="1800" dirty="0">
                <a:solidFill>
                  <a:srgbClr val="1A1A1A"/>
                </a:solidFill>
              </a:rPr>
              <a:t>Jawaban model. Pakai tiga uji strategi pemenang. Fit test: apakah target dan strateginya sesuai dengan kondisi eksternal, yaitu industri dan driving force, dan dengan kondisi internal, yaitu resource dan kapabilitas, serta dengan waktunya; bila tidak, targetnya yang salah, misalnya diversifikasi tanpa kompetensi. Competitive advantage test: apakah strategi menghasilkan keunggulan relatif; bila pesaing dengan strategi serupa berhasil, masalahnya eksekusi. Performance test: periksa leading indicator, yaitu strategic objective dan proses internal, sebelum lagging indicator finansial; bila indikator proses tercapai tetapi finansial tidak, asumsi sebab-akibat dalam Strategy Map yang keliru dan itu masalah target; bila indikator proses tidak tercapai, masalahnya eksekusi. Periksa juga diskrepansi rencana dan realisasi di level program, anggaran, dan prosedur: prosedur paling mudah diubah dan menjadi instrumen intervensi pertama, lalu anggaran, lalu program; misi, visi, dan objektif hanya diubah bila fit test gagal. Tindakannya: koreksi prosedur dalam siklus pendek, kaji ulang sepuluh aspek eksekusi dari struktur sampai kepemimpinan, dan baru setelah itu merevisi objektif. Catatan kelas yang perlu disebut: eksekusi sering menjadi akar masalah kinerja, karena strategi tanpa eksekusi adalah strategi tanpa nafas.</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en-US" sz="2600" b="1" dirty="0">
                <a:solidFill>
                  <a:schemeClr val="tx2"/>
                </a:solidFill>
              </a:rPr>
              <a:t>Soal D5</a:t>
            </a:r>
            <a:endParaRPr lang="en-US" sz="2600" dirty="0"/>
          </a:p>
        </p:txBody>
      </p:sp>
      <p:sp>
        <p:nvSpPr>
          <p:cNvPr id="3" name="body"/>
          <p:cNvSpPr txBox="1"/>
          <p:nvPr/>
        </p:nvSpPr>
        <p:spPr>
          <a:xfrm>
            <a:off x="548640" y="1280160"/>
            <a:ext cx="11091672" cy="4846320"/>
          </a:xfrm>
          <a:prstGeom prst="rect">
            <a:avLst/>
          </a:prstGeom>
          <a:noFill/>
          <a:ln/>
        </p:spPr>
        <p:txBody>
          <a:bodyPr wrap="square" lIns="0" tIns="0" rIns="0" bIns="0" rtlCol="0" anchor="t"/>
          <a:lstStyle/>
          <a:p>
            <a:pPr algn="l" indent="0" marL="0">
              <a:spcAft>
                <a:spcPts val="1000"/>
              </a:spcAft>
              <a:buNone/>
            </a:pPr>
            <a:r>
              <a:rPr lang="en-US" sz="1800" dirty="0">
                <a:solidFill>
                  <a:srgbClr val="1A1A1A"/>
                </a:solidFill>
              </a:rPr>
              <a:t>Ford dipaksa bersaing dengan GM, produsen Jepang, dan kini mobil listrik. Apa yang harus dilakukan Ford?</a:t>
            </a:r>
            <a:endParaRPr lang="en-US" sz="1800" dirty="0"/>
          </a:p>
          <a:p>
            <a:pPr algn="l" indent="0" marL="0">
              <a:spcAft>
                <a:spcPts val="1000"/>
              </a:spcAft>
              <a:buNone/>
            </a:pPr>
            <a:r>
              <a:rPr lang="en-US" sz="1800" dirty="0">
                <a:solidFill>
                  <a:srgbClr val="1A1A1A"/>
                </a:solidFill>
              </a:rPr>
              <a:t>Jawaban model. Jangan meniru GM, karena strategi adalah seni yang bernilai karena langka. Mulai dari positioning: DNA Ford adalah performance-oriented, dari Mustang dan Shelby sampai Le Mans dan GT40, dan keunggulan historisnya adalah standardisasi serta economies of scale. Reorientasi visi: dari affordability ke performance dan premium, dan dari nomor satu di Amerika yang jenuh menjadi perusahaan global, karena skala menuntut pasar yang lebih luas. Pilihannya: fokus pada segmen yang dicintai konsumen Amerika, muscle car yang dikemas futuristik dan berkelanjutan seperti Mustang Mach-E dan EcoBoost; mass customization di atas platform massal; dan blue ocean di segmen yang kurang digarap seperti truk atau bus daripada red ocean head-to-head. Internasionalisasi harus lolos uji eksternal per negara, karena Ford Indonesia ditutup dan dipindah ke Thailand bukan karena resource melainkan karena lingkungan. Trade-off-nya: naik kelas ke premium mengorbankan volume, dan menjadi global menambah risiko eksternal. Logika ekonominya: diferensiasi menaikkan margin per unit, skala global menekan biaya per unit. Rencananya: lini kendaraan listrik berperforma tinggi, platform bersama, pemilihan negara dengan Five Forces yang mendukung, dan ukuran berupa margin per unit serta pangsa segmen performa.</a:t>
            </a:r>
            <a:endParaRPr lang="en-US" sz="1800" dirty="0"/>
          </a:p>
        </p:txBody>
      </p:sp>
      <p:sp>
        <p:nvSpPr>
          <p:cNvPr id="4" name="dot"/>
          <p:cNvSpPr/>
          <p:nvPr/>
        </p:nvSpPr>
        <p:spPr>
          <a:xfrm>
            <a:off x="11439144" y="548640"/>
            <a:ext cx="201168" cy="201168"/>
          </a:xfrm>
          <a:prstGeom prst="ellipse">
            <a:avLst/>
          </a:prstGeom>
          <a:solidFill>
            <a:srgbClr val="B08D2F"/>
          </a:solidFill>
          <a:ln w="12700">
            <a:solidFill>
              <a:srgbClr val="B08D2F"/>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l"/>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SM Navy Gold">
  <a:themeElements>
    <a:clrScheme name="SM Navy Gold">
      <a:dk1>
        <a:srgbClr val="1A1A1A"/>
      </a:dk1>
      <a:lt1>
        <a:srgbClr val="FFFFFF"/>
      </a:lt1>
      <a:dk2>
        <a:srgbClr val="1F2A44"/>
      </a:dk2>
      <a:lt2>
        <a:srgbClr val="F3F1EA"/>
      </a:lt2>
      <a:accent1>
        <a:srgbClr val="B08D2F"/>
      </a:accent1>
      <a:accent2>
        <a:srgbClr val="3E5C8A"/>
      </a:accent2>
      <a:accent3>
        <a:srgbClr val="7A8B99"/>
      </a:accent3>
      <a:accent4>
        <a:srgbClr val="C96A3C"/>
      </a:accent4>
      <a:accent5>
        <a:srgbClr val="5B8C5A"/>
      </a:accent5>
      <a:accent6>
        <a:srgbClr val="8A6FB0"/>
      </a:accent6>
      <a:hlink>
        <a:srgbClr val="3E5C8A"/>
      </a:hlink>
      <a:folHlink>
        <a:srgbClr val="8A6FB0"/>
      </a:folHlink>
    </a:clrScheme>
    <a:fontScheme name="SM Navy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Skema Soal Mid-term dan Jawaban Model (versi slide)</dc:title>
  <dc:subject>PptxGenJS Presentation</dc:subject>
  <dc:creator>Aslih Abnuri</dc:creator>
  <cp:lastModifiedBy>Aslih Abnuri</cp:lastModifiedBy>
  <cp:revision>1</cp:revision>
  <dcterms:created xsi:type="dcterms:W3CDTF">2026-10-11T11:27:57Z</dcterms:created>
  <dcterms:modified xsi:type="dcterms:W3CDTF">2026-10-11T11:27:57Z</dcterms:modified>
</cp:coreProperties>
</file>