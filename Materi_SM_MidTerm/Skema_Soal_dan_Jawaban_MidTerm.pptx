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74d06de8-c289-d48b-d2a2-e5569be23262}">
          <p14:sldIdLst>
            <p14:sldId id="256"/>
          </p14:sldIdLst>
        </p14:section>
        <p14:section name="Skema Soal yang Kemungkinan Keluar (Mid-term, 40%)" id="{81ccde8f-40a9-7a7e-6e63-469046444659}">
          <p14:sldIdLst>
            <p14:sldId id="257"/>
            <p14:sldId id="258"/>
            <p14:sldId id="259"/>
            <p14:sldId id="260"/>
            <p14:sldId id="261"/>
          </p14:sldIdLst>
        </p14:section>
        <p14:section name="Tipe A: Soal Komparatif-Konseptual dan Jawaban Model" id="{01e689e4-1d6f-3b47-a1cb-f8af2f2ce8c9}">
          <p14:sldIdLst>
            <p14:sldId id="262"/>
            <p14:sldId id="263"/>
            <p14:sldId id="264"/>
            <p14:sldId id="265"/>
            <p14:sldId id="266"/>
            <p14:sldId id="267"/>
          </p14:sldIdLst>
        </p14:section>
        <p14:section name="Tipe B dan C: Aplikasi Kasus dan Penilaian" id="{0e925a41-f66a-9112-4b2c-aac28cd50ede}">
          <p14:sldIdLst>
            <p14:sldId id="268"/>
            <p14:sldId id="269"/>
            <p14:sldId id="270"/>
            <p14:sldId id="271"/>
            <p14:sldId id="272"/>
            <p14:sldId id="273"/>
            <p14:sldId id="274"/>
          </p14:sldIdLst>
        </p14:section>
        <p14:section name="Tipe D: Soal Integratif &quot;Jika Anda CEO&quot; dan Jawaban Model" id="{dc22aada-ca11-77e4-aa51-247f97912375}">
          <p14:sldIdLst>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4" name="Text 0"/>
          <p:cNvSpPr/>
          <p:nvPr/>
        </p:nvSpPr>
        <p:spPr>
          <a:xfrm>
            <a:off x="548640" y="640080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Skema Soal Mid-term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4652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Skema Soal Mid-term</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Strategic Management: Skema Soal Mid-term dan Jawaban</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Prediksi bentuk soal, pola jawaban yang dinilai tinggi, dan jawaban model. Disusun untuk Aslih Abnuri, Kelompok 3, MM UGM Jakarta.</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Skema Soal yang Kemungkinan Keluar (Mid-term, 40%)</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Bagian pengantar</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1. Tingkat keyakinan prediksi</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Klaim</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Keyakinan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Dasar</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Cakupan: Bab 1–5 buku Thompson dkk. + kasus AirAsia dan Manchester United + framework kelompok (Eisenhower, SCP, Benchmarking)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[Pasti]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Jadwal silabus: mid-term setelah sesi 6 (Ch. 05); sesi 7 ke atas belum diajarkan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Bentuk: esai analitis berbasis kasus/mini-kasus, bukan pilihan ganda; dinilai dari alur logika dan penggunaan framework yang tepat</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[Kemungkinan Besar]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Silabus: "clarity and persuasiveness"; kelas: "tidak ada jawaban benar/salah, yang dinilai alur logika dan argumentasi, wajib pakai framework Bab 3"; empat pertanyaan reflektif AirAsia diberikan sebagai bahan learning diary</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1. Tingkat keyakinan prediksi (lanjutan)</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Klaim</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Keyakinan</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Dasar</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Ada soal yang memakai perusahaan Indonesia yang sering dicontohkan beliau (Garuda/Citilink, Bluebird vs Gojek, BCA, AQUA, Honda/Yamaha, Citibank/CIMB, Ford Indonesia)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[Kemungkinan Besar]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Hampir semua ilustrasi kelas memakai perusahaan ini; beliau menanyakan "mengapa X berbeda dari Y" berulang kali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Ada pertanyaan "jika Anda CEO ..." yang menuntut rekomendasi actionable dengan economic logic</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[Kemungkinan Besar]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Pola tanggapan beliau terhadap jawaban mahasiswa (dynamic capability "tidak operasional"; Mercedes vs Wuling)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Jumlah soal 4–6 esai, 2–3 jam</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[Menebak]</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Tidak ada informasi format di silabus maupun rekaman; prediksi dari pola ujian MM pada umumnya</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Hardcopy laporan kasus kelompok dikumpulkan pada hari ujian</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[Pasti]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Silabus: "Hardcopy of these case reports have to be handed on the exam date"</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2. Empat tipe soal dan pola jawaban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441448"/>
                <a:gridCol w="4325112"/>
                <a:gridCol w="432511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Tipe</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Ciri soal</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Pola jawaban yang mendapat nilai A</a:t>
                      </a:r>
                      <a:endParaRPr lang="en-US" sz="1400" dirty="0">
                        <a:latin typeface="Calibri" charset="0"/>
                        <a:ea typeface="Calibri" charset="0"/>
                        <a:cs typeface="Calibri" charset="0"/>
                      </a:endParaRPr>
                    </a:p>
                  </a:txBody>
                  <a:tcPr marL="54864" marR="54864" marT="54864" marB="54864" anchor="ctr">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1F2A44"/>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 Komparatif-konseptual</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"Mengapa perusahaan X dan Y di industri yang sama memilih strategi berbeda?" "Apa beda visi, misi, objektif?" "Mengapa financial objective saja tidak cukup?"</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Definisi singkat tiap konsep lalu framework yang menjelaskan perbedaan (ABC, Strategy Diamond, economies of scale/scope) lalu contoh lalu trade-off kedua pilihan lalu kesimpulan "tergantung positioning dan visi".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 Aplikasi framework pada kasus</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"Analisis lingkungan eksternal industri X dengan PESTEL dan Five Forces lalu simpulkan daya tariknya." "Lakukan VRIN pada resource Y."</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Jelaskan tool dan tujuannya lalu terapkan berlapis (makro lalu industri lalu perusahaan) dengan data lalu simpulkan (profitabilitas/sustainability) lalu implikasi strategi.</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 Penilaian (setuju/tidak setuju)</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"Setujukah Anda dengan keputusan Tony Fernandes membuka rute London?" "Perlukah Garuda dan Citilink merger?"</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Nyatakan posisi di kalimat pertama lalu dua sisi argumen dengan framework lalu data lalu risiko pilihan Anda lalu syarat/kondisi agar keputusan berhasil (staging).</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D. Integratif "jika Anda CEO"</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"Rekomendasikan strategi untuk perusahaan X yang menghadapi disrupsi Y."</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Driving force lalu positioning (A) dan visi (B) lalu alternatif (2–3) + scorecard lalu pilihan + economic logic lalu rencana aksi (langkah, KPI, waktu, owner, risiko).</a:t>
                      </a:r>
                      <a:endParaRPr lang="en-US" sz="1400" dirty="0">
                        <a:latin typeface="Calibri" charset="0"/>
                        <a:ea typeface="Calibri" charset="0"/>
                        <a:cs typeface="Calibri" charset="0"/>
                      </a:endParaRPr>
                    </a:p>
                  </a:txBody>
                  <a:tcPr marL="54864" marR="54864" marT="54864" marB="54864" anchor="t">
                    <a:lnL w="9525" cap="flat" cmpd="sng" algn="ctr">
                      <a:solidFill>
                        <a:srgbClr val="D9D4C5"/>
                      </a:solidFill>
                      <a:prstDash val="solid"/>
                      <a:round/>
                      <a:headEnd type="none" w="med" len="med"/>
                      <a:tailEnd type="none" w="med" len="med"/>
                    </a:lnL>
                    <a:lnR w="9525" cap="flat" cmpd="sng" algn="ctr">
                      <a:solidFill>
                        <a:srgbClr val="D9D4C5"/>
                      </a:solidFill>
                      <a:prstDash val="solid"/>
                      <a:round/>
                      <a:headEnd type="none" w="med" len="med"/>
                      <a:tailEnd type="none" w="med" len="med"/>
                    </a:lnR>
                    <a:lnT w="9525" cap="flat" cmpd="sng" algn="ctr">
                      <a:solidFill>
                        <a:srgbClr val="D9D4C5"/>
                      </a:solidFill>
                      <a:prstDash val="solid"/>
                      <a:round/>
                      <a:headEnd type="none" w="med" len="med"/>
                      <a:tailEnd type="none" w="med" len="med"/>
                    </a:lnT>
                    <a:lnB w="9525" cap="flat" cmpd="sng" algn="ctr">
                      <a:solidFill>
                        <a:srgbClr val="D9D4C5"/>
                      </a:solidFill>
                      <a:prstDash val="solid"/>
                      <a:round/>
                      <a:headEnd type="none" w="med" len="med"/>
                      <a:tailEnd type="none" w="med" len="med"/>
                    </a:lnB>
                    <a:solidFill>
                      <a:srgbClr val="F3F1EA"/>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3. Daftar periksa sebelum mengumpulkan jawaban</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A1A"/>
                </a:solidFill>
              </a:rPr>
              <a:t>1. Sudah menyebut dan mendefinisikan framework sebelum memakainya?</a:t>
            </a:r>
            <a:endParaRPr lang="en-US" sz="2000" dirty="0"/>
          </a:p>
          <a:p>
            <a:pPr indent="0" marL="0">
              <a:spcAft>
                <a:spcPts val="800"/>
              </a:spcAft>
              <a:buNone/>
            </a:pPr>
            <a:r>
              <a:rPr lang="en-US" sz="2000" dirty="0">
                <a:solidFill>
                  <a:srgbClr val="1A1A1A"/>
                </a:solidFill>
              </a:rPr>
              <a:t>2. Sudah membedakan eksternal (Bab 3) dan internal (Bab 4) dengan benar?</a:t>
            </a:r>
            <a:endParaRPr lang="en-US" sz="2000" dirty="0"/>
          </a:p>
          <a:p>
            <a:pPr indent="0" marL="0">
              <a:spcAft>
                <a:spcPts val="800"/>
              </a:spcAft>
              <a:buNone/>
            </a:pPr>
            <a:r>
              <a:rPr lang="en-US" sz="2000" dirty="0">
                <a:solidFill>
                  <a:srgbClr val="1A1A1A"/>
                </a:solidFill>
              </a:rPr>
              <a:t>3. Sudah menampilkan trade-off (dua sisi) sebelum memutuskan?</a:t>
            </a:r>
            <a:endParaRPr lang="en-US" sz="2000" dirty="0"/>
          </a:p>
          <a:p>
            <a:pPr indent="0" marL="0">
              <a:spcAft>
                <a:spcPts val="800"/>
              </a:spcAft>
              <a:buNone/>
            </a:pPr>
            <a:r>
              <a:rPr lang="en-US" sz="2000" dirty="0">
                <a:solidFill>
                  <a:srgbClr val="1A1A1A"/>
                </a:solidFill>
              </a:rPr>
              <a:t>4. Rekomendasi sudah konsisten dengan positioning dan visi (ABC)?</a:t>
            </a:r>
            <a:endParaRPr lang="en-US" sz="2000" dirty="0"/>
          </a:p>
          <a:p>
            <a:pPr indent="0" marL="0">
              <a:spcAft>
                <a:spcPts val="800"/>
              </a:spcAft>
              <a:buNone/>
            </a:pPr>
            <a:r>
              <a:rPr lang="en-US" sz="2000" dirty="0">
                <a:solidFill>
                  <a:srgbClr val="1A1A1A"/>
                </a:solidFill>
              </a:rPr>
              <a:t>5. Sudah menutup dengan economic logic (revenue/cost) dan langkah yang actionable?</a:t>
            </a:r>
            <a:endParaRPr lang="en-US" sz="2000" dirty="0"/>
          </a:p>
          <a:p>
            <a:pPr indent="0" marL="0">
              <a:spcAft>
                <a:spcPts val="800"/>
              </a:spcAft>
              <a:buNone/>
            </a:pPr>
            <a:r>
              <a:rPr lang="en-US" sz="2000" dirty="0">
                <a:solidFill>
                  <a:srgbClr val="1A1A1A"/>
                </a:solidFill>
              </a:rPr>
              <a:t>6. Sudah memakai angka dari kasus, bukan hanya opini?</a:t>
            </a:r>
            <a:endParaRPr lang="en-US" sz="20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Tipe A: Soal Komparatif-Konseptual dan Jawaban Model</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Bagian pengantar</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A1</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Jelaskan perbedaan misi, visi, dan objektif. Mana yang harus disusun lebih dulu dan mengapa? Berikan contoh.</a:t>
            </a:r>
            <a:endParaRPr lang="en-US" sz="1800" dirty="0"/>
          </a:p>
          <a:p>
            <a:pPr indent="0" marL="0">
              <a:spcAft>
                <a:spcPts val="800"/>
              </a:spcAft>
              <a:buNone/>
            </a:pPr>
            <a:r>
              <a:rPr lang="en-US" sz="1800" dirty="0">
                <a:solidFill>
                  <a:srgbClr val="1A1A1A"/>
                </a:solidFill>
              </a:rPr>
              <a:t>Jawaban model. Misi menjawab mengapa organisasi ada: siapa kita, apa yang kita lakukan, untuk siapa, apa keunikan kita; berorientasi masa kini (St. Jude: research and treatment, for pediatric catastrophic disease, advanced cure and prevention). Visi menjawab ke mana organisasi menuju: kondisi ideal 2–10 tahun ke depan yang ambisius, distinctive, forward-looking, dan memotivasi (Google: organize the world's information). Objektif adalah ukuran kemajuan menuju visi yang SMART dan "beyond immediate reach" (Lululemon: revenue $12,5 miliar 2026, toko China 95 menjadi 220). Urutan yang benar: misi lalu visi lalu objektif. Alasannya: misi adalah niat dan sumber energi (analogi bensin), visi adalah destinasi (bintang), objektif adalah milestone. Visi tanpa misi membuat organisasi mengejar posisi tanpa makna. Jawaban CEO terhadap konflik fungsi ("profit first vs customer first vs people first") adalah "mission first". Trade-off yang perlu disebut: visi yang terlalu mudah dicapai tidak memotivasi, yang terlalu jauh dianggap tidak kredibel; objektif yang challenging bisa menurunkan motivasi bila tidak achievable, sehingga buku memakai konsep stretch objective.</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A2</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600" b="1" dirty="0">
                <a:solidFill>
                  <a:srgbClr val="1F2A44"/>
                </a:solidFill>
              </a:rPr>
              <a:t>Jika setiap keputusan strategis punya economic logic, mengapa perusahaan masih memerlukan strategic objective di samping financial objective? Jelaskan dengan Balanced Scorecard dan Strategy Map.</a:t>
            </a:r>
            <a:endParaRPr lang="en-US" sz="1600" dirty="0"/>
          </a:p>
          <a:p>
            <a:pPr indent="0" marL="0">
              <a:spcAft>
                <a:spcPts val="800"/>
              </a:spcAft>
              <a:buNone/>
            </a:pPr>
            <a:r>
              <a:rPr lang="en-US" sz="1600" dirty="0">
                <a:solidFill>
                  <a:srgbClr val="1A1A1A"/>
                </a:solidFill>
              </a:rPr>
              <a:t>Jawaban model. Financial objective (revenue, profit, ROE, cash flow) mengukur hasil ekonomi; strategic objective (market share, kualitas produk, kapabilitas teknologi, brand, jumlah toko) mengukur posisi bersaing masa depan. Financial objective adalah lagging indicator: outcome yang sudah terjadi dan tidak bisa diintervensi lagi (kaca spion). Strategic objective adalah leading indicator: proses yang masih bisa diintervensi (kaca depan). Hubungannya sequential dalam Strategy Map: Learning &amp; Growth lalu Internal Process lalu Customer lalu Financial; revenue $12,5 miliar adalah hasil dari 220 toko di China, bukan target yang sejajar. Balanced Scorecard menyeimbangkan keempat perspektif karena setiap fungsi punya bias (finance profit first, marketing customer first, HR people first); CEO membutuhkan helicopter view. Bobot tidak harus sama dan bisa berbeda per level jabatan (unit besar 60% finansial; RM bobot customer lebih besar). Bukti kelas: AQUA mempertahankan price index 105% saat pandemi; mengejar financial objective kuartalan dengan menurunkan harga akan merusak positioning premium (strategic objective). Kesimpulan: keduanya tidak dipisahkan; financial tanpa strategic membuat perusahaan mengorbankan masa depan, strategic tanpa financial tidak bisa dibiayai.</a:t>
            </a:r>
            <a:endParaRPr lang="en-US" sz="16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A3</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600" b="1" dirty="0">
                <a:solidFill>
                  <a:srgbClr val="1F2A44"/>
                </a:solidFill>
              </a:rPr>
              <a:t>Mengapa Honda tetap fokus sementara Yamaha berdiversifikasi, dan mengapa Citibank membangun bank dari nol sementara CIMB mengakuisisi bank lokal, padahal berada di industri yang sama? Framework apa yang menjelaskannya?</a:t>
            </a:r>
            <a:endParaRPr lang="en-US" sz="1600" dirty="0"/>
          </a:p>
          <a:p>
            <a:pPr indent="0" marL="0">
              <a:spcAft>
                <a:spcPts val="800"/>
              </a:spcAft>
              <a:buNone/>
            </a:pPr>
            <a:r>
              <a:rPr lang="en-US" sz="1600" dirty="0">
                <a:solidFill>
                  <a:srgbClr val="1A1A1A"/>
                </a:solidFill>
              </a:rPr>
              <a:t>Jawaban model. Framework: ABC (choice adalah fungsi dari positioning dan visi) dan Strategy Diamond (Hambrick &amp; Fredrickson). Honda vs Yamaha adalah keputusan Arena (product scope) dengan dua logika ekonomi berbeda: fokus mengejar economies of scale (volume besar menurunkan fixed cost per unit; brand awareness kuat; contoh ekstrem Coca-Cola) sedangkan diversifikasi mengejar economies of scope (berbagi R&amp;D, distribusi, brand, marketing antar lini; mitigasi risiko "don't put all your eggs in one basket"). Trade-off: fokus rentan bila lingkungan berubah; diversifikasi memecah identitas brand dan menimbulkan cost bila tidak ada shared activities. Citibank vs CIMB adalah keputusan Vehicle: Citibank memposisikan diri di corporate banking sehingga tidak butuh basis nasabah retail lokal, sehingga memilih internal development/greenfield; CIMB memposisikan diri di retail sehingga butuh basis nasabah mapan, sehingga memilih acquisition/brownfield (analog Danone membeli Aqua untuk jaringan distribusinya). Kedua kasus menunjukkan: perusahaan dalam industri yang sama dapat berperilaku strategis sangat berbeda karena positioning (A) dan visi (B) berbeda, dan karena perspective (5P Mintzberg) CEO berbeda. Jawaban yang menyatakan salah satu "lebih benar" akan dinilai dangkal; yang dinilai adalah konsistensi pilihan dengan A dan B serta economic logic-nya (maximizing revenue atau reducing cost).</a:t>
            </a:r>
            <a:endParaRPr lang="en-US" sz="16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A4</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Jelaskan mengapa PESTEL tidak langsung memengaruhi perusahaan, dan bagaimana hubungannya dengan Porter's Five Forces. Gunakan industri penerbangan sebagai contoh.</a:t>
            </a:r>
            <a:endParaRPr lang="en-US" sz="1800" dirty="0"/>
          </a:p>
          <a:p>
            <a:pPr indent="0" marL="0">
              <a:spcAft>
                <a:spcPts val="800"/>
              </a:spcAft>
              <a:buNone/>
            </a:pPr>
            <a:r>
              <a:rPr lang="en-US" sz="1800" dirty="0">
                <a:solidFill>
                  <a:srgbClr val="1A1A1A"/>
                </a:solidFill>
              </a:rPr>
              <a:t>Jawaban model. PESTEL memetakan lingkungan makro (political, economic, sociocultural, technological, environmental, legal); dampaknya berjenjang: makro lalu industri lalu perusahaan (lingkaran konsentris Figure 3.2). Five Forces menganalisis lapisan industri untuk menilai daya tariknya, yang indikatornya adalah profitabilitas. Contoh: deregulasi penerbangan (aspek Legal; AS era Alfred Kahn, Indonesia Open Sky Policy 1998) adalah driving force yang mengubah struktur industri: barrier to entry turun lalu pendatang baru masuk lalu rivalry naik lalu perang harga; pembeli kuat karena switching cost nol dan OTA membuat harga transparan; supplier kuat (duopoli Boeing-Airbus, avtur, bandara, pilot); kursi perishable memperkuat tekanan menjual murah. Harga turun sementara biaya naik, sehingga margin tertekan dan profitabilitas industri rendah secara struktural (Garuda jarang untung berkelanjutan, Pan Am tumbang), berbeda dari pharma yang profitnya tinggi. Implikasi perusahaan: dalam industri yang tidak atraktif, laba hanya datang dari posisi biaya atau diferensiasi yang jelas (AirAsia 11,66 vs MAS 22,80 sen per ASK). Kesalahan yang harus dihindari: melompat dari PESTEL langsung ke strategi perusahaan tanpa membaca layer industri.</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A5</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Apa perbedaan competence, distinctive competence, dan core competence? Mengapa resource yang lolos VRIN masih bisa kehilangan keunggulannya?</a:t>
            </a:r>
            <a:endParaRPr lang="en-US" sz="1800" dirty="0"/>
          </a:p>
          <a:p>
            <a:pPr indent="0" marL="0">
              <a:spcAft>
                <a:spcPts val="800"/>
              </a:spcAft>
              <a:buNone/>
            </a:pPr>
            <a:r>
              <a:rPr lang="en-US" sz="1800" dirty="0">
                <a:solidFill>
                  <a:srgbClr val="1A1A1A"/>
                </a:solidFill>
              </a:rPr>
              <a:t>Jawaban model. Competence: aktivitas yang sudah dikuasai dengan cakap (hampir semua produsen sereal punya pemasaran memadai). Distinctive competence: dikerjakan lebih baik dari pesaing. Core competence: dikerjakan cakap DAN berada di jantung strategi serta mesin pertumbuhan (P&amp;G manajemen merek; Nike desain dan pemasaran; Kellogg sereal). VRIN (valuable, rare, inimitable, nonsubstitutable) menguji apakah resource menciptakan (V, R) dan mempertahankan (I, N) keunggulan terhadap serangan pesaing. Namun VRIN tidak menguji risiko dari dalam: resource bisa hilang (orang kunci pensiun, teknologi usang, selera berubah): "from diamonds to rust". Karena itu buku menuntut dynamic capability: kemampuan berkelanjutan memodifikasi, memperdalam, dan menambah resource (Toyota, GM–LG, Bristol-Myers string of pearls). Contoh kasus: "sistem Ferguson" lolos VRIN (causal ambiguity, social complexity, path dependency 23 tahun; uang Real/Chelsea gagal menjadi substitute), tetapi MU tetap rentan karena resource melekat pada satu orang berusia 68 tahun; preseden pasca-Busby: 18 tahun tanpa gelar. Catatan dosen: dynamic capability harus diterjemahkan ke tindakan konkret (melembagakan sistem scouting-akademi-rotasi menjadi rutinitas klub), bukan sekadar disebut.</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Tipe B dan C: Aplikasi Kasus dan Penilaian</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Bagian pengantar</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B1</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600" b="1" dirty="0">
                <a:solidFill>
                  <a:srgbClr val="1F2A44"/>
                </a:solidFill>
              </a:rPr>
              <a:t>Dengan framework Bab 3, nilailah apakah keunggulan biaya AirAsia dapat ditransfer ke rute jarak jauh melalui AirAsia X. Apa yang menentukan transferability?</a:t>
            </a:r>
            <a:endParaRPr lang="en-US" sz="1600" dirty="0"/>
          </a:p>
          <a:p>
            <a:pPr indent="0" marL="0">
              <a:spcAft>
                <a:spcPts val="800"/>
              </a:spcAft>
              <a:buNone/>
            </a:pPr>
            <a:r>
              <a:rPr lang="en-US" sz="1600" dirty="0">
                <a:solidFill>
                  <a:srgbClr val="1A1A1A"/>
                </a:solidFill>
              </a:rPr>
              <a:t>Jawaban model. Pembuka wajib: transferability dalam Bab 3 ditentukan oleh lingkungan eksternal rute baru, bukan oleh resource internal (koreksi dosen; contoh Ford sukses di AS, gagal di Indonesia, pindah ke Thailand). Langkah: (1) PESTEL rute jauh: regulasi bilateral dan kepemilikan asing, avtur 47% biaya, A340 boros, penumpang jauh menuntut layanan. (2) Five Forces rute long-haul: pesaing adalah network carrier (Emirates, BA, MAS) dengan feeder network dan subsidi silang dari kelas premium sehingga bisa menurunkan tarif ekonomi; pembeli di rute London bukan pasar baru tetapi penumpang maskapai mapan; substitusi tidak ada (menguntungkan); supplier tetap kuat. (3) Strategic group: AirAsia X pindah kelompok dari LCC regional ke LCC long-haul yang hampir kosong; "pindah kelompok berarti melawan model laba yang berbeda". (4) KSF rute jauh berbeda: connecting traffic, premium seat, kru dan katering. Hasil uji: yang transferable bersifat organisasional (merek, IT/distribusi langsung, orang, bandara sekunder, outsourcing); yang tidak transferable adalah inti model LCC (single fleet, turnaround 25 menit, single class, point-to-point). Data: harga KL–London 36,5% lebih murah dengan load factor lebih dari 90%, tetapi margin lebih tipis karena pos biaya kru/perawatan/katering belum lengkap. Kesimpulan: dapat ditransfer sebagian, sehingga harus bertahap (opsi 30%, rute 4–8 jam, merger hanya setelah 4 kuartal laba). Economic logic: menjaga cost per ASK sambil membuka revenue pool baru tanpa membebani neraca (kas RM153,8 juta, utang RM6,69 miliar).</a:t>
            </a:r>
            <a:endParaRPr lang="en-US" sz="16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B2</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500" b="1" dirty="0">
                <a:solidFill>
                  <a:srgbClr val="1F2A44"/>
                </a:solidFill>
              </a:rPr>
              <a:t>Lakukan analisis internal Manchester United (Juli 2009) dengan enam pertanyaan Bab 4 dan susun priority list untuk David Gill.</a:t>
            </a:r>
            <a:endParaRPr lang="en-US" sz="1500" dirty="0"/>
          </a:p>
          <a:p>
            <a:pPr indent="0" marL="0">
              <a:spcAft>
                <a:spcPts val="800"/>
              </a:spcAft>
              <a:buNone/>
            </a:pPr>
            <a:r>
              <a:rPr lang="en-US" sz="1500" dirty="0">
                <a:solidFill>
                  <a:srgbClr val="1A1A1A"/>
                </a:solidFill>
              </a:rPr>
              <a:t>Jawaban model (ringkas; gunakan tabel di Bab 4 materi). Q1: strategi bekerja sangat baik (hat-trick liga, UCL 2008, poin Eropa #1 1.460, RoS 12,6% tertinggi, EBITDA €101,9 juta, turnover +53% 2006–08) di industri yang 6 dari 10 klubnya rugi. Q2 SWOT: kekuatan brand global dan akademi; kelemahan ketergantungan pada Ferguson, kepergian Ronaldo, utang £616 juta; peluang Asia dan broadcasting +43%; ancaman pemilik miliarder dan inflasi transfer (City £185 juta). Kesimpulan SWOT: kekuatan cukup untuk peluang komersial, tetapi kelemahan menyerang syarat utama pendapatan komersial, yaitu menang di lapangan. Q3: core competence = mengembangkan talenta dan memadukannya dengan pemain matang, rotasi skuad, monetisasi merek; VRIN "sistem Ferguson" lolos keempatnya tetapi melekat pada orang. Q4: value chain sepakbola; keunggulan biaya di hulu (gaji 50% vs 62% liga vs 81% Chelsea; net transfer £100 juta vs Real £438 juta); benchmarking model beli bintang vs kembangkan sendiri menunjukkan MU paling profitable. Q5: competitive strength MU 8,65 vs Barcelona 8,40; skor jatuh ke 7,90 bila rating manajer turun ke 5. Q6 priority list (sebagai pertanyaan): bagaimana mengganti Ferguson tanpa merusak sistem; perlukah director of football; bagaimana bersaing di bursa tanpa dana pemilik; bagaimana menambal skuad pasca-Ronaldo; bagaimana menjaga pendapatan komersial bila prestasi turun; apakah pemilik tetap pasif. Dua pertama serius sehingga butuh strategi baru. Rekomendasi: lembagakan sistem sebelum Ferguson pergi, penerus insider dengan transisi, tolak revolusi Mourinho, lindungi mesin komersial Asia; KPI kualifikasi UCL tiap musim dan gaji/pendapatan maksimal 55%.</a:t>
            </a:r>
            <a:endParaRPr lang="en-US" sz="15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B3</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600" b="1" dirty="0">
                <a:solidFill>
                  <a:srgbClr val="1F2A44"/>
                </a:solidFill>
              </a:rPr>
              <a:t>Identifikasi strategi generik Garuda Indonesia dan Citilink, lalu jelaskan dengan value chain mengapa keduanya dikelola sebagai entitas terpisah. Apakah keduanya sebaiknya merger?</a:t>
            </a:r>
            <a:endParaRPr lang="en-US" sz="1600" dirty="0"/>
          </a:p>
          <a:p>
            <a:pPr indent="0" marL="0">
              <a:spcAft>
                <a:spcPts val="800"/>
              </a:spcAft>
              <a:buNone/>
            </a:pPr>
            <a:r>
              <a:rPr lang="en-US" sz="1600" dirty="0">
                <a:solidFill>
                  <a:srgbClr val="1A1A1A"/>
                </a:solidFill>
              </a:rPr>
              <a:t>Jawaban model. Garuda: broad differentiation (full service, harga tertinggi di OTA, dominant logic premium service). Citilink: low-cost provider (tanpa snack dan in-flight entertainment, tanpa iklan besar, dominant logic cost effectiveness). Value chain keduanya berbeda 180 derajat dari hulu ke hilir: pengadaan (jenis pesawat dan konfigurasi kursi), operasi (turnaround, layanan kabin), distribusi (OTA vs penjualan langsung), pemasaran (brand premium vs harga), service. Dua dominant logic tidak bisa hidup dalam satu rantai aktivitas karena setiap aktivitas harus konsisten dengan value yang dipilih; menggabungkannya menghasilkan posisi "stuck in the middle" seperti Mandala, Batavia, Merpati, Sempati yang mati. Alasannya bukan sekadar segmentasi pasar, melainkan konfigurasi aktivitas dan manajemen yang berbeda. Maka merger operasional tidak disarankan; yang masuk akal adalah berbagi aktivitas pendukung yang netral terhadap dominant logic (pengadaan avtur, maintenance, IT, treasury) untuk economies of scope tanpa merusak positioning, ditambah tata kelola holding yang mengendalikan keduanya (analog rekomendasi integrasi bertahap AirAsia–AirAsia X). Trade-off: pemisahan mengorbankan sebagian economies of scale; penggabungan mengorbankan kejelasan positioning. Economic logic: scope di back-office (reducing cost), positioning terpisah di front-office (maximizing revenue dari dua segmen).</a:t>
            </a:r>
            <a:endParaRPr lang="en-US" sz="16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C1</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Setujukah Anda dengan keputusan Tony Fernandes membuka rute long-haul ke London? Gunakan framework Bab 3.</a:t>
            </a:r>
            <a:endParaRPr lang="en-US" sz="1800" dirty="0"/>
          </a:p>
          <a:p>
            <a:pPr indent="0" marL="0">
              <a:spcAft>
                <a:spcPts val="800"/>
              </a:spcAft>
              <a:buNone/>
            </a:pPr>
            <a:r>
              <a:rPr lang="en-US" sz="1800" dirty="0">
                <a:solidFill>
                  <a:srgbClr val="1A1A1A"/>
                </a:solidFill>
              </a:rPr>
              <a:t>Jawaban model (posisi: setuju bersyarat). Setuju karena: visi (B) AirAsia menjadi maskapai internasional, bukan regional; Fernandes terinspirasi Freddie Laker dan ada permintaan nyata (diaspora Malaysia/Asia ke Inggris); harga 36,5% lebih murah dengan load factor lebih dari 90% menunjukkan pasar ada; driving forces (deregulasi, distribusi langsung, kelas menengah Asia) mendukung. Tidak setuju tanpa syarat karena: Five Forces rute London jauh lebih keras (network carrier dengan subsidi silang kelas premium; slot Heathrow; pembeli yang sudah dilayani maskapai mapan); inti model LCC tidak transferable; A340 boros (aspek Environmental dan Economic); neraca 2008 lemah (kas RM153,8 juta); AirAsia hanya memegang 16% saham AirAsia X sehingga tata kelola tidak selaras. Syarat (staging): pakai bandara sekunder (Stansted), mulai dengan rute 4–8 jam ber-A330 sebelum Eropa, fuel hedging dengan mandat dewan, feeder di KL (transit lebih dari 25%), evaluasi berbasis bukti 4 kuartal. Economic logic: membuka revenue pool baru hanya bila cost per ASK rute jauh tetap di bawah pesaing; bila tidak, kembali fokus regional.</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C2</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Tagline "Now Everyone Can Fly" menyiratkan pasar universal, tetapi strategi AirAsia adalah cost advantage untuk segmen menengah bawah. Perlukah AirAsia membuka kelas bisnis? Adakah inkonsistensi?</a:t>
            </a:r>
            <a:endParaRPr lang="en-US" sz="1800" dirty="0"/>
          </a:p>
          <a:p>
            <a:pPr indent="0" marL="0">
              <a:spcAft>
                <a:spcPts val="800"/>
              </a:spcAft>
              <a:buNone/>
            </a:pPr>
            <a:r>
              <a:rPr lang="en-US" sz="1800" dirty="0">
                <a:solidFill>
                  <a:srgbClr val="1A1A1A"/>
                </a:solidFill>
              </a:rPr>
              <a:t>Jawaban model (posisi: tidak untuk AirAsia rute pendek; ya terbatas untuk AirAsia X). Tidak ada inkonsistensi: tagline menggambarkan misi memperluas pasar (segmen yang historis kurang terlayani), bukan janji melayani semua segmen dengan layanan penuh. Membuka kelas bisnis di A320 menurunkan jumlah kursi (148 vs 132 pada dua kelas), menambah kompleksitas layanan, memperlambat turnaround 25 menit, dan mengaburkan positioning low-cost; risikonya stuck in the middle. Untuk rute jauh, kebutuhan pembeli berbeda (kenyamanan 12 jam), sehingga AirAsia X memakai premium (XL) seat dan pre-ordered meals; ini bukan pelanggaran strategi generik melainkan model bisnis lain dalam strategic group lain, dan justru alasan mengapa AirAsia X perlu entitas terpisah (sama dengan Garuda–Citilink). Trade-off: premium seat menambah revenue per ASK tetapi menaikkan cost dan risiko kanibalisasi identitas merek. Keputusan: pertahankan single class di AirAsia; izinkan premium terbatas di AirAsia X dengan unit ekonomi yang terpisah dan diukur (revenue per ASK vs cost per ASK).</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C3</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AirAsia berinvestasi pada sistem ticketing sendiri dan sempat menarik diri dari OTA (Traveloka), lalu kembali. Sebaiknya membangun sistem sendiri atau cukup bekerja sama dengan OTA?</a:t>
            </a:r>
            <a:endParaRPr lang="en-US" sz="1800" dirty="0"/>
          </a:p>
          <a:p>
            <a:pPr indent="0" marL="0">
              <a:spcAft>
                <a:spcPts val="800"/>
              </a:spcAft>
              <a:buNone/>
            </a:pPr>
            <a:r>
              <a:rPr lang="en-US" sz="1800" dirty="0">
                <a:solidFill>
                  <a:srgbClr val="1A1A1A"/>
                </a:solidFill>
              </a:rPr>
              <a:t>Jawaban model (posisi: keduanya, dengan peran berbeda). Framework: Value Net (OTA sebagai complementor sekaligus penekan margin), Five Forces (buyer power naik karena OTA membuat harga transparan dan switching cost nol), cost drivers (distribusi langsung menghapus komisi agen; sistem Navitaire dan yield management adalah sumber keunggulan biaya), Strategy Diamond (vehicle: build vs partner). Sistem sendiri tetap wajib karena ia inti cost advantage dan data pelanggan (ancillary revenue, Tune ecosystem). Namun menarik diri dari OTA mengorbankan reach ke pembeli yang membandingkan harga di satu layar, dan terbukti blunder. Keputusan: sistem sendiri sebagai saluran utama dengan harga termurah (insentif direct booking), OTA sebagai saluran pelengkap dengan negosiasi komisi dan pembatasan inventori promo. Trade-off: komisi OTA vs volume; kontrol data vs jangkauan. Economic logic: menjaga biaya distribusi rendah sambil memaksimalkan load factor (kursi kosong hangus).</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chemeClr val="bg1"/>
                </a:solidFill>
              </a:rPr>
              <a:t>Tipe D: Soal Integratif "Jika Anda CEO" dan Jawaban Model</a:t>
            </a:r>
            <a:endParaRPr lang="en-US" sz="4000" dirty="0"/>
          </a:p>
        </p:txBody>
      </p:sp>
      <p:sp>
        <p:nvSpPr>
          <p:cNvPr id="3" name="Text 0"/>
          <p:cNvSpPr/>
          <p:nvPr>
            <p:ph idx="101" type="body" hasCustomPrompt="1"/>
          </p:nvPr>
        </p:nvSpPr>
        <p:spPr>
          <a:xfrm>
            <a:off x="548640" y="3657600"/>
            <a:ext cx="11091672" cy="1371600"/>
          </a:xfrm>
          <a:prstGeom prst="rect">
            <a:avLst/>
          </a:prstGeom>
          <a:noFill/>
          <a:ln/>
        </p:spPr>
        <p:txBody>
          <a:bodyPr wrap="square" lIns="0" tIns="0" rIns="0" bIns="0" rtlCol="0" anchor="t"/>
          <a:lstStyle/>
          <a:p>
            <a:pPr algn="l" indent="0" marL="0">
              <a:buNone/>
            </a:pPr>
            <a:r>
              <a:rPr lang="en-US" sz="2000" dirty="0">
                <a:solidFill>
                  <a:schemeClr val="bg2"/>
                </a:solidFill>
              </a:rPr>
              <a:t>Bagian pengantar</a:t>
            </a:r>
            <a:endParaRPr lang="en-US" sz="20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D1</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600" b="1" dirty="0">
                <a:solidFill>
                  <a:srgbClr val="1F2A44"/>
                </a:solidFill>
              </a:rPr>
              <a:t>Anda CEO Bluebird saat Gojek dan Grab masuk. Identifikasi driving force-nya, lalu rekomendasikan strategi dengan framework Bab 1–5.</a:t>
            </a:r>
            <a:endParaRPr lang="en-US" sz="1600" dirty="0"/>
          </a:p>
          <a:p>
            <a:pPr indent="0" marL="0">
              <a:spcAft>
                <a:spcPts val="800"/>
              </a:spcAft>
              <a:buNone/>
            </a:pPr>
            <a:r>
              <a:rPr lang="en-US" sz="1600" dirty="0">
                <a:solidFill>
                  <a:srgbClr val="1A1A1A"/>
                </a:solidFill>
              </a:rPr>
              <a:t>Jawaban model. Driving force: teknologi (aplikasi on-demand mengubah model bisnis dari "mendatangi driver" menjadi "driver mendatangi"), diperkuat sosial (kebiasaan konsumen) dan legal (regulasi transportasi online). Dampak ke industri (Five Forces): barrier to entry runtuh (siapa pun bisa jadi driver), buyer power naik, substitusi kuat; profitabilitas taksi konvensional tertekan. Positioning (A): Bluebird dikenal aman, terpercaya, armada terstandar; visi (B) tetap menjadi penyedia transportasi terpercaya, bukan platform termurah. Alternatif: (1) perang harga meniru Gojek: menyalahi positioning dan tidak bisa menang di cost (red ocean); (2) mengabaikan: menunggu disrupsi "menghajar"; (3) berinvestasi pada sumber disrupsi: aplikasi sendiri sekaligus bermitra dengan platform (vehicle: build + partner), mempertahankan differentiation pada keandalan dan keamanan (value drivers: kualitas kontrol, pelatihan pengemudi, armada), menjadikan konsumen yang lelah dengan kualitas layanan ojol sebagai segmen. Pilihan: (3), yang memang dilakukan Bluebird dan membuatnya survive. Economic logic: mempertahankan harga premium moderat (revenue) sambil menaikkan utilisasi armada lewat aplikasi (cost per km turun). Rencana: peluncuran aplikasi dan integrasi ke platform (Q1–Q2), KPI utilisasi armada, rating layanan, pangsa segmen korporat; risiko kanibalisasi tarif diatasi dengan segmentasi.</a:t>
            </a:r>
            <a:endParaRPr lang="en-US" sz="16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D2</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Anda CEO Honda/Yamaha menghadapi EV dari BYD dan merek China yang jauh lebih murah. Haruskah masuk EV dengan brand yang sama, mengakuisisi brand EV baru, atau tidak masuk?</a:t>
            </a:r>
            <a:endParaRPr lang="en-US" sz="1800" dirty="0"/>
          </a:p>
          <a:p>
            <a:pPr indent="0" marL="0">
              <a:spcAft>
                <a:spcPts val="800"/>
              </a:spcAft>
              <a:buNone/>
            </a:pPr>
            <a:r>
              <a:rPr lang="en-US" sz="1800" dirty="0">
                <a:solidFill>
                  <a:srgbClr val="1A1A1A"/>
                </a:solidFill>
              </a:rPr>
              <a:t>Jawaban model. Driving force: teknologi (core business EV adalah baterai, bukan kendaraan; BYD unggul karena berawal dari perusahaan baterai) dan legal/politik (regulasi emisi, subsidi). Posisi (A): kuat di engine-based capability, tertinggal di baterai. Prinsip dosen: tidak perlu mengganti positioning; yang diubah adalah strategic vision dan strategic choice. Alternatif: (1) EV dengan brand sama: memanfaatkan brand dan dealer (economies of scope) tetapi head-to-head di cost dengan BYD (kalah di baterai); (2) akuisisi brand/pabrik baterai: brownfield cepat memperoleh capability yang tidak dimiliki (vehicle), risiko integrasi dan harga mahal; (3) teknologi alternatif (hidrogen) yang konsisten dengan engine-based capability: blue ocean, risiko infrastruktur belum ada. Rekomendasi: kombinasi (2) untuk baterai (JV/akuisisi, staging cepat karena late mover sudah terlambat) dan (3) sebagai diferensiasi jangka panjang; hindari (1) secara murni karena fit test gagal (tidak ada core competence baterai). Economic logic: JV menurunkan biaya baterai (cost) sementara hidrogen membuka revenue pool yang belum dikuasai pesaing China. Rencana: JV baterai 12–18 bulan, model EV pertama di segmen yang tidak dilayani BYD, R&amp;D hidrogen dengan milestone.</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D3</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Anda CEO stasiun TV lokal atau radio yang penontonnya pindah ke YouTube, Netflix, dan Spotify. Apa yang Anda lakukan?</a:t>
            </a:r>
            <a:endParaRPr lang="en-US" sz="1800" dirty="0"/>
          </a:p>
          <a:p>
            <a:pPr indent="0" marL="0">
              <a:spcAft>
                <a:spcPts val="800"/>
              </a:spcAft>
              <a:buNone/>
            </a:pPr>
            <a:r>
              <a:rPr lang="en-US" sz="1800" dirty="0">
                <a:solidFill>
                  <a:srgbClr val="1A1A1A"/>
                </a:solidFill>
              </a:rPr>
              <a:t>Jawaban model. Pertama tentukan apakah penurunan bersifat siklikal atau struktural permanen (driving force teknologi dan sosial mengubah perilaku konsumsi media). Five Forces: substitusi sangat kuat dan buyer power (pengiklan) naik karena digital menawarkan pengukuran lebih baik; profitabilitas industri turun untuk semua pemain. Alternatif: (1) bertahan dan efisiensi (menunda, bukan menyelesaikan); (2) pivot ke produksi konten untuk platform digital dengan memakai capability (produksi, talenta lokal, relasi pengiklan daerah) sebagai focused differentiation di konten lokal; (3) divestasi lebih cepat selagi aset masih bernilai (keputusan dosen sebagai Dirut TV lokal Yogyakarta). Pilihan tergantung A dan B pemilik: bila tidak ada resource untuk pivot (fit test gagal), divestasi adalah pilihan rasional; bila ada, pivot ke konten lokal multi-platform. Economic logic: menghentikan cost structure siaran yang mahal (transmisi, lisensi) dan memindahkan revenue ke model yang skalabel. Poin dosen: tugas CEO adalah mengidentifikasi sumber disrupsi lebih dulu dan bertindak cepat, bukan menunggu.</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D4</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Perusahaan Anda gagal mencapai target. Bagaimana membedakan apakah target yang salah atau eksekusinya yang gagal, dan apa tindakan Anda?</a:t>
            </a:r>
            <a:endParaRPr lang="en-US" sz="1800" dirty="0"/>
          </a:p>
          <a:p>
            <a:pPr indent="0" marL="0">
              <a:spcAft>
                <a:spcPts val="800"/>
              </a:spcAft>
              <a:buNone/>
            </a:pPr>
            <a:r>
              <a:rPr lang="en-US" sz="1800" dirty="0">
                <a:solidFill>
                  <a:srgbClr val="1A1A1A"/>
                </a:solidFill>
              </a:rPr>
              <a:t>Jawaban model. Gunakan tiga uji strategi pemenang. Fit test: apakah target/strategi sesuai dengan kondisi eksternal (industri, driving force) dan internal (resource, capability) serta timingnya; bila tidak, targetnya yang salah (misal diversifikasi tanpa kompetensi). Competitive advantage test: apakah strategi menghasilkan keunggulan relatif; bila pesaing dengan strategi serupa berhasil, masalahnya eksekusi. Performance test: periksa leading indicator (strategic objective, proses internal) sebelum lagging (finansial); bila leading indicator tercapai tetapi finansial tidak, asumsi hubungan sebab-akibat di Strategy Map yang salah (target); bila leading indicator tidak tercapai, eksekusi yang gagal. Periksa juga diskrepansi plan vs realize di level program, anggaran, dan prosedur: prosedur paling mudah diubah dan menjadi instrumen intervensi pertama, lalu anggaran, lalu program; misi/visi/objektif hanya diubah bila fit test gagal. Tindakan: koreksi prosedur (purchasing, sales) dalam siklus pendek, kaji ulang sepuluh aspek eksekusi (structure, people, resources, process, policy, work organization, system, motivation, culture, leadership), dan hanya setelah itu merevisi objektif. Catatan kelas: eksekusi sering menjadi akar masalah kinerja ("strategi tanpa eksekusi = tanpa nafas").</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800" b="1" dirty="0">
                <a:solidFill>
                  <a:schemeClr val="tx2"/>
                </a:solidFill>
              </a:rPr>
              <a:t>Soal D5</a:t>
            </a:r>
            <a:endParaRPr lang="en-US" sz="2800" dirty="0"/>
          </a:p>
        </p:txBody>
      </p:sp>
      <p:sp>
        <p:nvSpPr>
          <p:cNvPr id="3" name="body"/>
          <p:cNvSpPr txBox="1"/>
          <p:nvPr/>
        </p:nvSpPr>
        <p:spPr>
          <a:xfrm>
            <a:off x="548640" y="1280160"/>
            <a:ext cx="11091672" cy="4754880"/>
          </a:xfrm>
          <a:prstGeom prst="rect">
            <a:avLst/>
          </a:prstGeom>
          <a:noFill/>
          <a:ln/>
        </p:spPr>
        <p:txBody>
          <a:bodyPr wrap="square" lIns="0" tIns="0" rIns="0" bIns="0" rtlCol="0" anchor="t"/>
          <a:lstStyle/>
          <a:p>
            <a:pPr indent="0" marL="0">
              <a:spcAft>
                <a:spcPts val="1400"/>
              </a:spcAft>
              <a:buNone/>
            </a:pPr>
            <a:r>
              <a:rPr lang="en-US" sz="1800" b="1" dirty="0">
                <a:solidFill>
                  <a:srgbClr val="1F2A44"/>
                </a:solidFill>
              </a:rPr>
              <a:t>Ford dipaksa bersaing dengan GM, produsen Jepang, dan kini mobil listrik. Apa yang harus dilakukan Ford? (Kasus pemantik kelas)</a:t>
            </a:r>
            <a:endParaRPr lang="en-US" sz="1800" dirty="0"/>
          </a:p>
          <a:p>
            <a:pPr indent="0" marL="0">
              <a:spcAft>
                <a:spcPts val="800"/>
              </a:spcAft>
              <a:buNone/>
            </a:pPr>
            <a:r>
              <a:rPr lang="en-US" sz="1800" dirty="0">
                <a:solidFill>
                  <a:srgbClr val="1A1A1A"/>
                </a:solidFill>
              </a:rPr>
              <a:t>Jawaban model. Jangan meniru GM (strategi sebagai seni: langka dan unik). Mulai dari positioning (A): DNA Ford performance-oriented (Mustang, Shelby, Le Mans/GT40) dan keunggulan historis standardisasi serta economies of scale. Visi (B) direorientasi: dari affordability ke performance/premium, dan dari nomor satu di Amerika yang jenuh menjadi perusahaan global (scale menuntut pasar lebih luas). Choice (C): fokus segmen yang dicintai konsumen Amerika (muscle car) dikemas futuristik dan berkelanjutan (Mustang Mach-E, EcoBoost), mass customization pada platform massal, dan blue ocean di segmen yang kurang digarap (truk/bus) daripada red ocean head-to-head. Internasionalisasi harus lolos uji eksternal per negara (Ford Indonesia ditutup, pindah ke Thailand: lingkungan, bukan resource). Trade-off: naik kelas ke premium mengorbankan volume; global menambah risiko eksternal. Economic logic: differentiation menaikkan margin per unit, scale global menekan biaya per unit. Rencana: lini EV performance, platform bersama, pilih negara dengan Five Forces yang mendukung, KPI margin per unit dan pangsa segmen performance.</a:t>
            </a:r>
            <a:endParaRPr lang="en-US" sz="1800" dirty="0"/>
          </a:p>
        </p:txBody>
      </p:sp>
      <p:sp>
        <p:nvSpPr>
          <p:cNvPr id="4" name="dot"/>
          <p:cNvSpPr/>
          <p:nvPr/>
        </p:nvSpPr>
        <p:spPr>
          <a:xfrm>
            <a:off x="11411712" y="502920"/>
            <a:ext cx="228600" cy="228600"/>
          </a:xfrm>
          <a:prstGeom prst="ellipse">
            <a:avLst/>
          </a:prstGeom>
          <a:solidFill>
            <a:srgbClr val="B08D2F"/>
          </a:solidFill>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M Navy Gold">
  <a:themeElements>
    <a:clrScheme name="SM Navy Gold">
      <a:dk1>
        <a:srgbClr val="1A1A1A"/>
      </a:dk1>
      <a:lt1>
        <a:srgbClr val="FFFFFF"/>
      </a:lt1>
      <a:dk2>
        <a:srgbClr val="1F2A44"/>
      </a:dk2>
      <a:lt2>
        <a:srgbClr val="F3F1EA"/>
      </a:lt2>
      <a:accent1>
        <a:srgbClr val="B08D2F"/>
      </a:accent1>
      <a:accent2>
        <a:srgbClr val="3E5C8A"/>
      </a:accent2>
      <a:accent3>
        <a:srgbClr val="7A8B99"/>
      </a:accent3>
      <a:accent4>
        <a:srgbClr val="C96A3C"/>
      </a:accent4>
      <a:accent5>
        <a:srgbClr val="5B8C5A"/>
      </a:accent5>
      <a:accent6>
        <a:srgbClr val="8A6FB0"/>
      </a:accent6>
      <a:hlink>
        <a:srgbClr val="3E5C8A"/>
      </a:hlink>
      <a:folHlink>
        <a:srgbClr val="8A6FB0"/>
      </a:folHlink>
    </a:clrScheme>
    <a:fontScheme name="SM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 Skema Soal Mid-term</dc:title>
  <dc:subject>PptxGenJS Presentation</dc:subject>
  <dc:creator>Aslih Abnuri</dc:creator>
  <cp:lastModifiedBy>Aslih Abnuri</cp:lastModifiedBy>
  <cp:revision>1</cp:revision>
  <dcterms:created xsi:type="dcterms:W3CDTF">2026-10-11T10:35:40Z</dcterms:created>
  <dcterms:modified xsi:type="dcterms:W3CDTF">2026-10-11T10:35:40Z</dcterms:modified>
</cp:coreProperties>
</file>